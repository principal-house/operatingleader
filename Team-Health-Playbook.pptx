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Lst>
  <p:sldSz cx="7562088"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1371600"/>
            <a:ext cx="6281927" cy="1371600"/>
          </a:xfrm>
          <a:prstGeom prst="rect">
            <a:avLst/>
          </a:prstGeom>
          <a:noFill/>
        </p:spPr>
        <p:txBody>
          <a:bodyPr wrap="square">
            <a:spAutoFit/>
          </a:bodyPr>
          <a:lstStyle/>
          <a:p>
            <a:pPr algn="ctr">
              <a:defRPr sz="5400" b="1">
                <a:solidFill>
                  <a:srgbClr val="FFFFFF"/>
                </a:solidFill>
              </a:defRPr>
            </a:pPr>
            <a:r>
              <a:t>The Team Health Playbook</a:t>
            </a:r>
          </a:p>
        </p:txBody>
      </p:sp>
      <p:sp>
        <p:nvSpPr>
          <p:cNvPr id="3" name="TextBox 2"/>
          <p:cNvSpPr txBox="1"/>
          <p:nvPr/>
        </p:nvSpPr>
        <p:spPr>
          <a:xfrm>
            <a:off x="640080" y="2926080"/>
            <a:ext cx="6281927" cy="1097280"/>
          </a:xfrm>
          <a:prstGeom prst="rect">
            <a:avLst/>
          </a:prstGeom>
          <a:noFill/>
        </p:spPr>
        <p:txBody>
          <a:bodyPr wrap="square">
            <a:spAutoFit/>
          </a:bodyPr>
          <a:lstStyle/>
          <a:p>
            <a:pPr algn="ctr">
              <a:defRPr sz="2000">
                <a:solidFill>
                  <a:srgbClr val="E07C3E"/>
                </a:solidFill>
              </a:defRPr>
            </a:pPr>
            <a:r>
              <a:t>How to Diagnose, Fix, and Sustain High-Performing Teams</a:t>
            </a:r>
          </a:p>
        </p:txBody>
      </p:sp>
      <p:sp>
        <p:nvSpPr>
          <p:cNvPr id="4" name="TextBox 3"/>
          <p:cNvSpPr txBox="1"/>
          <p:nvPr/>
        </p:nvSpPr>
        <p:spPr>
          <a:xfrm>
            <a:off x="640080" y="4206240"/>
            <a:ext cx="6281927" cy="548640"/>
          </a:xfrm>
          <a:prstGeom prst="rect">
            <a:avLst/>
          </a:prstGeom>
          <a:noFill/>
        </p:spPr>
        <p:txBody>
          <a:bodyPr wrap="square">
            <a:spAutoFit/>
          </a:bodyPr>
          <a:lstStyle/>
          <a:p>
            <a:pPr algn="ctr">
              <a:defRPr sz="1600">
                <a:solidFill>
                  <a:srgbClr val="FFFFFF"/>
                </a:solidFill>
              </a:defRPr>
            </a:pPr>
            <a:r>
              <a:t>By Janis Rozenblats</a:t>
            </a:r>
          </a:p>
        </p:txBody>
      </p:sp>
      <p:sp>
        <p:nvSpPr>
          <p:cNvPr id="5" name="TextBox 4"/>
          <p:cNvSpPr txBox="1"/>
          <p:nvPr/>
        </p:nvSpPr>
        <p:spPr>
          <a:xfrm>
            <a:off x="640080" y="5303520"/>
            <a:ext cx="6281927" cy="1097280"/>
          </a:xfrm>
          <a:prstGeom prst="rect">
            <a:avLst/>
          </a:prstGeom>
          <a:noFill/>
        </p:spPr>
        <p:txBody>
          <a:bodyPr wrap="square">
            <a:spAutoFit/>
          </a:bodyPr>
          <a:lstStyle/>
          <a:p>
            <a:pPr algn="ctr">
              <a:defRPr sz="1400" i="1">
                <a:solidFill>
                  <a:srgbClr val="E07C3E"/>
                </a:solidFill>
              </a:defRPr>
            </a:pPr>
            <a:r>
              <a:t>The best time to fix a team problem was three months ago. The second best time is today.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3200" b="1">
                <a:solidFill>
                  <a:srgbClr val="FFFFFF"/>
                </a:solidFill>
              </a:defRPr>
            </a:pPr>
            <a:r>
              <a:t>A Note Before We Start</a:t>
            </a:r>
          </a:p>
        </p:txBody>
      </p:sp>
      <p:sp>
        <p:nvSpPr>
          <p:cNvPr id="3" name="TextBox 2"/>
          <p:cNvSpPr txBox="1"/>
          <p:nvPr/>
        </p:nvSpPr>
        <p:spPr>
          <a:xfrm>
            <a:off x="640080" y="1188720"/>
            <a:ext cx="6281927" cy="5212080"/>
          </a:xfrm>
          <a:prstGeom prst="rect">
            <a:avLst/>
          </a:prstGeom>
          <a:noFill/>
        </p:spPr>
        <p:txBody>
          <a:bodyPr wrap="square">
            <a:spAutoFit/>
          </a:bodyPr>
          <a:lstStyle/>
          <a:p>
            <a:pPr>
              <a:spcAft>
                <a:spcPts val="800"/>
              </a:spcAft>
              <a:defRPr sz="1000">
                <a:solidFill>
                  <a:srgbClr val="FFFFFF"/>
                </a:solidFill>
              </a:defRPr>
            </a:pPr>
            <a:r>
              <a:t>I've spent twenty years building and leading teams. I built Mailigen from four people crammed into a 12-square-meter office to forty people and an acquisition in 2020. I served as VP Product at Pipedrive—a company that became a unicorn during my tenure, growing from 700 to over 1,000 people while navigating a private equity transition with Vista Equity Partners. Now I'm leading product transformation at Aerones—a wind turbine robotic maintenance service and digital solutions company, crossing the chasm from scrappy early-stage to disciplined scale.</a:t>
            </a:r>
          </a:p>
          <a:p>
            <a:pPr>
              <a:spcAft>
                <a:spcPts val="800"/>
              </a:spcAft>
              <a:defRPr sz="1000">
                <a:solidFill>
                  <a:srgbClr val="FFFFFF"/>
                </a:solidFill>
              </a:defRPr>
            </a:pPr>
          </a:p>
          <a:p>
            <a:pPr>
              <a:spcAft>
                <a:spcPts val="800"/>
              </a:spcAft>
              <a:defRPr sz="1000">
                <a:solidFill>
                  <a:srgbClr val="FFFFFF"/>
                </a:solidFill>
              </a:defRPr>
            </a:pPr>
            <a:r>
              <a:t>Along the way, I've made every mistake in this playbook. I've watched teams go silent. I've seen talented people burn out on hamster wheels. I've lost great people because I wasn't paying attention.</a:t>
            </a:r>
          </a:p>
          <a:p>
            <a:pPr>
              <a:spcAft>
                <a:spcPts val="800"/>
              </a:spcAft>
              <a:defRPr sz="1000">
                <a:solidFill>
                  <a:srgbClr val="FFFFFF"/>
                </a:solidFill>
              </a:defRPr>
            </a:pPr>
          </a:p>
          <a:p>
            <a:pPr>
              <a:spcAft>
                <a:spcPts val="800"/>
              </a:spcAft>
              <a:defRPr sz="1000">
                <a:solidFill>
                  <a:srgbClr val="FFFFFF"/>
                </a:solidFill>
              </a:defRPr>
            </a:pPr>
            <a:r>
              <a:t>This playbook is what I wish someone had handed me at each of those stages. It's not theory. It's the distilled, practical toolkit I use every single week. Every framework has been tested in real companies, with real teams, under real pressure.</a:t>
            </a:r>
          </a:p>
          <a:p>
            <a:pPr>
              <a:spcAft>
                <a:spcPts val="800"/>
              </a:spcAft>
              <a:defRPr sz="1000">
                <a:solidFill>
                  <a:srgbClr val="FFFFFF"/>
                </a:solidFill>
              </a:defRPr>
            </a:pPr>
          </a:p>
          <a:p>
            <a:pPr>
              <a:spcAft>
                <a:spcPts val="800"/>
              </a:spcAft>
              <a:defRPr sz="1000">
                <a:solidFill>
                  <a:srgbClr val="FFFFFF"/>
                </a:solidFill>
              </a:defRPr>
            </a:pPr>
            <a:r>
              <a:t>Here's my promise: if you spend one hour reading this and one week implementing it, you'll understand your team better than most leaders do after years. And you'll have specific moves to make things better—starting tomorrow morning.</a:t>
            </a:r>
          </a:p>
          <a:p>
            <a:pPr>
              <a:spcAft>
                <a:spcPts val="800"/>
              </a:spcAft>
              <a:defRPr sz="1000">
                <a:solidFill>
                  <a:srgbClr val="FFFFFF"/>
                </a:solidFill>
              </a:defRPr>
            </a:pPr>
          </a:p>
          <a:p>
            <a:pPr>
              <a:spcAft>
                <a:spcPts val="800"/>
              </a:spcAft>
              <a:defRPr sz="1000">
                <a:solidFill>
                  <a:srgbClr val="FFFFFF"/>
                </a:solidFill>
              </a:defRPr>
            </a:pPr>
            <a:r>
              <a:t>Let's get into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2286000"/>
            <a:ext cx="6281927" cy="731520"/>
          </a:xfrm>
          <a:prstGeom prst="rect">
            <a:avLst/>
          </a:prstGeom>
          <a:noFill/>
        </p:spPr>
        <p:txBody>
          <a:bodyPr wrap="square">
            <a:spAutoFit/>
          </a:bodyPr>
          <a:lstStyle/>
          <a:p>
            <a:pPr algn="ctr">
              <a:defRPr sz="1600">
                <a:solidFill>
                  <a:srgbClr val="FFFFFF"/>
                </a:solidFill>
              </a:defRPr>
            </a:pPr>
            <a:r>
              <a:t>Part 1</a:t>
            </a:r>
          </a:p>
        </p:txBody>
      </p:sp>
      <p:sp>
        <p:nvSpPr>
          <p:cNvPr id="3" name="TextBox 2"/>
          <p:cNvSpPr txBox="1"/>
          <p:nvPr/>
        </p:nvSpPr>
        <p:spPr>
          <a:xfrm>
            <a:off x="640080" y="3200400"/>
            <a:ext cx="6281927" cy="1371600"/>
          </a:xfrm>
          <a:prstGeom prst="rect">
            <a:avLst/>
          </a:prstGeom>
          <a:noFill/>
        </p:spPr>
        <p:txBody>
          <a:bodyPr wrap="square">
            <a:spAutoFit/>
          </a:bodyPr>
          <a:lstStyle/>
          <a:p>
            <a:pPr algn="ctr">
              <a:defRPr sz="4400" b="1">
                <a:solidFill>
                  <a:srgbClr val="FFFFFF"/>
                </a:solidFill>
              </a:defRPr>
            </a:pPr>
            <a:r>
              <a:t>The 5 Dimensions of Team Health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731520"/>
          </a:xfrm>
          <a:prstGeom prst="rect">
            <a:avLst/>
          </a:prstGeom>
          <a:noFill/>
        </p:spPr>
        <p:txBody>
          <a:bodyPr wrap="square">
            <a:spAutoFit/>
          </a:bodyPr>
          <a:lstStyle/>
          <a:p>
            <a:pPr algn="l">
              <a:defRPr sz="3200" b="1">
                <a:solidFill>
                  <a:srgbClr val="333333"/>
                </a:solidFill>
              </a:defRPr>
            </a:pPr>
            <a:r>
              <a:t>Why Most Leaders Get Team Health Wrong</a:t>
            </a:r>
          </a:p>
        </p:txBody>
      </p:sp>
      <p:sp>
        <p:nvSpPr>
          <p:cNvPr id="3" name="TextBox 2"/>
          <p:cNvSpPr txBox="1"/>
          <p:nvPr/>
        </p:nvSpPr>
        <p:spPr>
          <a:xfrm>
            <a:off x="640080" y="1005840"/>
            <a:ext cx="6281927" cy="5486400"/>
          </a:xfrm>
          <a:prstGeom prst="rect">
            <a:avLst/>
          </a:prstGeom>
          <a:noFill/>
        </p:spPr>
        <p:txBody>
          <a:bodyPr wrap="square">
            <a:spAutoFit/>
          </a:bodyPr>
          <a:lstStyle/>
          <a:p>
            <a:pPr>
              <a:spcAft>
                <a:spcPts val="600"/>
              </a:spcAft>
              <a:defRPr sz="1000">
                <a:solidFill>
                  <a:srgbClr val="333333"/>
                </a:solidFill>
              </a:defRPr>
            </a:pPr>
            <a:r>
              <a:t>Here's how most leaders think about team health: they wait until something breaks. Someone quits. A project fails. Two people stop speaking to each other. Then they react.</a:t>
            </a:r>
          </a:p>
          <a:p>
            <a:pPr>
              <a:spcAft>
                <a:spcPts val="600"/>
              </a:spcAft>
              <a:defRPr sz="1000">
                <a:solidFill>
                  <a:srgbClr val="333333"/>
                </a:solidFill>
              </a:defRPr>
            </a:pPr>
          </a:p>
          <a:p>
            <a:pPr>
              <a:spcAft>
                <a:spcPts val="600"/>
              </a:spcAft>
              <a:defRPr sz="1000">
                <a:solidFill>
                  <a:srgbClr val="333333"/>
                </a:solidFill>
              </a:defRPr>
            </a:pPr>
            <a:r>
              <a:t>That's not leadership. That's firefighting.</a:t>
            </a:r>
          </a:p>
          <a:p>
            <a:pPr>
              <a:spcAft>
                <a:spcPts val="600"/>
              </a:spcAft>
              <a:defRPr sz="1000">
                <a:solidFill>
                  <a:srgbClr val="333333"/>
                </a:solidFill>
              </a:defRPr>
            </a:pPr>
          </a:p>
          <a:p>
            <a:pPr>
              <a:spcAft>
                <a:spcPts val="600"/>
              </a:spcAft>
              <a:defRPr sz="1000">
                <a:solidFill>
                  <a:srgbClr val="333333"/>
                </a:solidFill>
              </a:defRPr>
            </a:pPr>
            <a:r>
              <a:t>The problem isn't that leaders don't care about their teams—most do, deeply. The problem is they don't have a framework for thinking about team health before things break. They rely on gut feel. And gut feel is unreliable, because by the time your gut tells you something's wrong, it's been wrong for months.</a:t>
            </a:r>
          </a:p>
          <a:p>
            <a:pPr>
              <a:spcAft>
                <a:spcPts val="600"/>
              </a:spcAft>
              <a:defRPr sz="1000">
                <a:solidFill>
                  <a:srgbClr val="333333"/>
                </a:solidFill>
              </a:defRPr>
            </a:pPr>
          </a:p>
          <a:p>
            <a:pPr>
              <a:spcAft>
                <a:spcPts val="600"/>
              </a:spcAft>
              <a:defRPr sz="1000">
                <a:solidFill>
                  <a:srgbClr val="333333"/>
                </a:solidFill>
              </a:defRPr>
            </a:pPr>
            <a:r>
              <a:t>I learned this the hard way at Mailigen. We were fifteen people and things felt great—until suddenly they didn't. Two engineers quit in the same week. I was blindsided. But when I looked back honestly, the signals had been there for months. I just didn't have a system for seeing them.</a:t>
            </a:r>
          </a:p>
          <a:p>
            <a:pPr>
              <a:spcAft>
                <a:spcPts val="600"/>
              </a:spcAft>
              <a:defRPr sz="1000">
                <a:solidFill>
                  <a:srgbClr val="333333"/>
                </a:solidFill>
              </a:defRPr>
            </a:pPr>
          </a:p>
          <a:p>
            <a:pPr>
              <a:spcAft>
                <a:spcPts val="600"/>
              </a:spcAft>
              <a:defRPr sz="1000">
                <a:solidFill>
                  <a:srgbClr val="333333"/>
                </a:solidFill>
              </a:defRPr>
            </a:pPr>
            <a:r>
              <a:t>That's why I developed the CETAG framework. Five dimensions. Every team problem I've ever encountered traces back to one or more of these five things. Once you see through this lens, you can't unsee it.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3200" b="1">
                <a:solidFill>
                  <a:srgbClr val="333333"/>
                </a:solidFill>
              </a:defRPr>
            </a:pPr>
            <a:r>
              <a:t>The CETAG Framework</a:t>
            </a:r>
          </a:p>
        </p:txBody>
      </p:sp>
      <p:sp>
        <p:nvSpPr>
          <p:cNvPr id="3" name="TextBox 2"/>
          <p:cNvSpPr txBox="1"/>
          <p:nvPr/>
        </p:nvSpPr>
        <p:spPr>
          <a:xfrm>
            <a:off x="1371600" y="1371600"/>
            <a:ext cx="548640" cy="548640"/>
          </a:xfrm>
          <a:prstGeom prst="rect">
            <a:avLst/>
          </a:prstGeom>
          <a:solidFill>
            <a:srgbClr val="E07C3E"/>
          </a:solidFill>
        </p:spPr>
        <p:txBody>
          <a:bodyPr wrap="none" anchor="ctr">
            <a:spAutoFit/>
          </a:bodyPr>
          <a:lstStyle/>
          <a:p>
            <a:pPr algn="ctr">
              <a:defRPr sz="2400" b="1">
                <a:solidFill>
                  <a:srgbClr val="FFFFFF"/>
                </a:solidFill>
              </a:defRPr>
            </a:pPr>
            <a:r>
              <a:t>C</a:t>
            </a:r>
          </a:p>
        </p:txBody>
      </p:sp>
      <p:sp>
        <p:nvSpPr>
          <p:cNvPr id="4" name="TextBox 3"/>
          <p:cNvSpPr txBox="1"/>
          <p:nvPr/>
        </p:nvSpPr>
        <p:spPr>
          <a:xfrm>
            <a:off x="2103120" y="1371600"/>
            <a:ext cx="7315200" cy="548640"/>
          </a:xfrm>
          <a:prstGeom prst="rect">
            <a:avLst/>
          </a:prstGeom>
          <a:noFill/>
        </p:spPr>
        <p:txBody>
          <a:bodyPr wrap="none" anchor="ctr">
            <a:spAutoFit/>
          </a:bodyPr>
          <a:lstStyle/>
          <a:p>
            <a:pPr>
              <a:defRPr sz="2000" b="1">
                <a:solidFill>
                  <a:srgbClr val="E07C3E"/>
                </a:solidFill>
              </a:defRPr>
            </a:pPr>
            <a:r>
              <a:t>Clarity</a:t>
            </a:r>
          </a:p>
        </p:txBody>
      </p:sp>
      <p:sp>
        <p:nvSpPr>
          <p:cNvPr id="5" name="TextBox 4"/>
          <p:cNvSpPr txBox="1"/>
          <p:nvPr/>
        </p:nvSpPr>
        <p:spPr>
          <a:xfrm>
            <a:off x="1371600" y="2240280"/>
            <a:ext cx="548640" cy="548640"/>
          </a:xfrm>
          <a:prstGeom prst="rect">
            <a:avLst/>
          </a:prstGeom>
          <a:solidFill>
            <a:srgbClr val="E07C3E"/>
          </a:solidFill>
        </p:spPr>
        <p:txBody>
          <a:bodyPr wrap="none" anchor="ctr">
            <a:spAutoFit/>
          </a:bodyPr>
          <a:lstStyle/>
          <a:p>
            <a:pPr algn="ctr">
              <a:defRPr sz="2400" b="1">
                <a:solidFill>
                  <a:srgbClr val="FFFFFF"/>
                </a:solidFill>
              </a:defRPr>
            </a:pPr>
            <a:r>
              <a:t>E</a:t>
            </a:r>
          </a:p>
        </p:txBody>
      </p:sp>
      <p:sp>
        <p:nvSpPr>
          <p:cNvPr id="6" name="TextBox 5"/>
          <p:cNvSpPr txBox="1"/>
          <p:nvPr/>
        </p:nvSpPr>
        <p:spPr>
          <a:xfrm>
            <a:off x="2103120" y="2240280"/>
            <a:ext cx="7315200" cy="548640"/>
          </a:xfrm>
          <a:prstGeom prst="rect">
            <a:avLst/>
          </a:prstGeom>
          <a:noFill/>
        </p:spPr>
        <p:txBody>
          <a:bodyPr wrap="none" anchor="ctr">
            <a:spAutoFit/>
          </a:bodyPr>
          <a:lstStyle/>
          <a:p>
            <a:pPr>
              <a:defRPr sz="2000" b="1">
                <a:solidFill>
                  <a:srgbClr val="E07C3E"/>
                </a:solidFill>
              </a:defRPr>
            </a:pPr>
            <a:r>
              <a:t>Energy</a:t>
            </a:r>
          </a:p>
        </p:txBody>
      </p:sp>
      <p:sp>
        <p:nvSpPr>
          <p:cNvPr id="7" name="TextBox 6"/>
          <p:cNvSpPr txBox="1"/>
          <p:nvPr/>
        </p:nvSpPr>
        <p:spPr>
          <a:xfrm>
            <a:off x="1371600" y="3108960"/>
            <a:ext cx="548640" cy="548640"/>
          </a:xfrm>
          <a:prstGeom prst="rect">
            <a:avLst/>
          </a:prstGeom>
          <a:solidFill>
            <a:srgbClr val="E07C3E"/>
          </a:solidFill>
        </p:spPr>
        <p:txBody>
          <a:bodyPr wrap="none" anchor="ctr">
            <a:spAutoFit/>
          </a:bodyPr>
          <a:lstStyle/>
          <a:p>
            <a:pPr algn="ctr">
              <a:defRPr sz="2400" b="1">
                <a:solidFill>
                  <a:srgbClr val="FFFFFF"/>
                </a:solidFill>
              </a:defRPr>
            </a:pPr>
            <a:r>
              <a:t>T</a:t>
            </a:r>
          </a:p>
        </p:txBody>
      </p:sp>
      <p:sp>
        <p:nvSpPr>
          <p:cNvPr id="8" name="TextBox 7"/>
          <p:cNvSpPr txBox="1"/>
          <p:nvPr/>
        </p:nvSpPr>
        <p:spPr>
          <a:xfrm>
            <a:off x="2103120" y="3108960"/>
            <a:ext cx="7315200" cy="548640"/>
          </a:xfrm>
          <a:prstGeom prst="rect">
            <a:avLst/>
          </a:prstGeom>
          <a:noFill/>
        </p:spPr>
        <p:txBody>
          <a:bodyPr wrap="none" anchor="ctr">
            <a:spAutoFit/>
          </a:bodyPr>
          <a:lstStyle/>
          <a:p>
            <a:pPr>
              <a:defRPr sz="2000" b="1">
                <a:solidFill>
                  <a:srgbClr val="E07C3E"/>
                </a:solidFill>
              </a:defRPr>
            </a:pPr>
            <a:r>
              <a:t>Trust</a:t>
            </a:r>
          </a:p>
        </p:txBody>
      </p:sp>
      <p:sp>
        <p:nvSpPr>
          <p:cNvPr id="9" name="TextBox 8"/>
          <p:cNvSpPr txBox="1"/>
          <p:nvPr/>
        </p:nvSpPr>
        <p:spPr>
          <a:xfrm>
            <a:off x="1371600" y="3977639"/>
            <a:ext cx="548640" cy="548640"/>
          </a:xfrm>
          <a:prstGeom prst="rect">
            <a:avLst/>
          </a:prstGeom>
          <a:solidFill>
            <a:srgbClr val="E07C3E"/>
          </a:solidFill>
        </p:spPr>
        <p:txBody>
          <a:bodyPr wrap="none" anchor="ctr">
            <a:spAutoFit/>
          </a:bodyPr>
          <a:lstStyle/>
          <a:p>
            <a:pPr algn="ctr">
              <a:defRPr sz="2400" b="1">
                <a:solidFill>
                  <a:srgbClr val="FFFFFF"/>
                </a:solidFill>
              </a:defRPr>
            </a:pPr>
            <a:r>
              <a:t>A</a:t>
            </a:r>
          </a:p>
        </p:txBody>
      </p:sp>
      <p:sp>
        <p:nvSpPr>
          <p:cNvPr id="10" name="TextBox 9"/>
          <p:cNvSpPr txBox="1"/>
          <p:nvPr/>
        </p:nvSpPr>
        <p:spPr>
          <a:xfrm>
            <a:off x="2103120" y="3977639"/>
            <a:ext cx="7315200" cy="548640"/>
          </a:xfrm>
          <a:prstGeom prst="rect">
            <a:avLst/>
          </a:prstGeom>
          <a:noFill/>
        </p:spPr>
        <p:txBody>
          <a:bodyPr wrap="none" anchor="ctr">
            <a:spAutoFit/>
          </a:bodyPr>
          <a:lstStyle/>
          <a:p>
            <a:pPr>
              <a:defRPr sz="2000" b="1">
                <a:solidFill>
                  <a:srgbClr val="E07C3E"/>
                </a:solidFill>
              </a:defRPr>
            </a:pPr>
            <a:r>
              <a:t>Alignment</a:t>
            </a:r>
          </a:p>
        </p:txBody>
      </p:sp>
      <p:sp>
        <p:nvSpPr>
          <p:cNvPr id="11" name="TextBox 10"/>
          <p:cNvSpPr txBox="1"/>
          <p:nvPr/>
        </p:nvSpPr>
        <p:spPr>
          <a:xfrm>
            <a:off x="1371600" y="4846320"/>
            <a:ext cx="548640" cy="548640"/>
          </a:xfrm>
          <a:prstGeom prst="rect">
            <a:avLst/>
          </a:prstGeom>
          <a:solidFill>
            <a:srgbClr val="E07C3E"/>
          </a:solidFill>
        </p:spPr>
        <p:txBody>
          <a:bodyPr wrap="none" anchor="ctr">
            <a:spAutoFit/>
          </a:bodyPr>
          <a:lstStyle/>
          <a:p>
            <a:pPr algn="ctr">
              <a:defRPr sz="2400" b="1">
                <a:solidFill>
                  <a:srgbClr val="FFFFFF"/>
                </a:solidFill>
              </a:defRPr>
            </a:pPr>
            <a:r>
              <a:t>G</a:t>
            </a:r>
          </a:p>
        </p:txBody>
      </p:sp>
      <p:sp>
        <p:nvSpPr>
          <p:cNvPr id="12" name="TextBox 11"/>
          <p:cNvSpPr txBox="1"/>
          <p:nvPr/>
        </p:nvSpPr>
        <p:spPr>
          <a:xfrm>
            <a:off x="2103120" y="4846320"/>
            <a:ext cx="7315200" cy="548640"/>
          </a:xfrm>
          <a:prstGeom prst="rect">
            <a:avLst/>
          </a:prstGeom>
          <a:noFill/>
        </p:spPr>
        <p:txBody>
          <a:bodyPr wrap="none" anchor="ctr">
            <a:spAutoFit/>
          </a:bodyPr>
          <a:lstStyle/>
          <a:p>
            <a:pPr>
              <a:defRPr sz="2000" b="1">
                <a:solidFill>
                  <a:srgbClr val="E07C3E"/>
                </a:solidFill>
              </a:defRPr>
            </a:pPr>
            <a:r>
              <a:t>Growth</a:t>
            </a:r>
          </a:p>
        </p:txBody>
      </p:sp>
      <p:sp>
        <p:nvSpPr>
          <p:cNvPr id="13" name="TextBox 12"/>
          <p:cNvSpPr txBox="1"/>
          <p:nvPr/>
        </p:nvSpPr>
        <p:spPr>
          <a:xfrm>
            <a:off x="640080" y="5669280"/>
            <a:ext cx="6281927" cy="914400"/>
          </a:xfrm>
          <a:prstGeom prst="rect">
            <a:avLst/>
          </a:prstGeom>
          <a:noFill/>
        </p:spPr>
        <p:txBody>
          <a:bodyPr wrap="square">
            <a:spAutoFit/>
          </a:bodyPr>
          <a:lstStyle/>
          <a:p>
            <a:pPr algn="ctr">
              <a:defRPr sz="1200" i="1">
                <a:solidFill>
                  <a:srgbClr val="333333"/>
                </a:solidFill>
              </a:defRPr>
            </a:pPr>
            <a:r>
              <a:t>These aren't abstract values to hang on a wall. They're diagnostic lenses. Think of them like vital signs for your team.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731520"/>
          </a:xfrm>
          <a:prstGeom prst="rect">
            <a:avLst/>
          </a:prstGeom>
          <a:noFill/>
        </p:spPr>
        <p:txBody>
          <a:bodyPr wrap="square">
            <a:spAutoFit/>
          </a:bodyPr>
          <a:lstStyle/>
          <a:p>
            <a:pPr algn="l">
              <a:defRPr sz="2800" b="1">
                <a:solidFill>
                  <a:srgbClr val="E07C3E"/>
                </a:solidFill>
              </a:defRPr>
            </a:pPr>
            <a:r>
              <a:t>Dimension 1: Clarity</a:t>
            </a:r>
          </a:p>
        </p:txBody>
      </p:sp>
      <p:sp>
        <p:nvSpPr>
          <p:cNvPr id="3" name="TextBox 2"/>
          <p:cNvSpPr txBox="1"/>
          <p:nvPr/>
        </p:nvSpPr>
        <p:spPr>
          <a:xfrm>
            <a:off x="640080" y="1280160"/>
            <a:ext cx="6281927" cy="731520"/>
          </a:xfrm>
          <a:prstGeom prst="rect">
            <a:avLst/>
          </a:prstGeom>
          <a:noFill/>
        </p:spPr>
        <p:txBody>
          <a:bodyPr wrap="square">
            <a:spAutoFit/>
          </a:bodyPr>
          <a:lstStyle/>
          <a:p>
            <a:pPr>
              <a:defRPr sz="1200" i="1">
                <a:solidFill>
                  <a:srgbClr val="333333"/>
                </a:solidFill>
              </a:defRPr>
            </a:pPr>
            <a:r>
              <a:t>Does every person on this team know exactly what they should be doing, why it matters, and how success is measured?</a:t>
            </a:r>
          </a:p>
        </p:txBody>
      </p:sp>
      <p:sp>
        <p:nvSpPr>
          <p:cNvPr id="4" name="TextBox 3"/>
          <p:cNvSpPr txBox="1"/>
          <p:nvPr/>
        </p:nvSpPr>
        <p:spPr>
          <a:xfrm>
            <a:off x="640080" y="2011680"/>
            <a:ext cx="2743200" cy="4846320"/>
          </a:xfrm>
          <a:prstGeom prst="rect">
            <a:avLst/>
          </a:prstGeom>
          <a:noFill/>
        </p:spPr>
        <p:txBody>
          <a:bodyPr wrap="square">
            <a:spAutoFit/>
          </a:bodyPr>
          <a:lstStyle/>
          <a:p>
            <a:pPr>
              <a:spcAft>
                <a:spcPts val="800"/>
              </a:spcAft>
              <a:defRPr sz="1400" b="1">
                <a:solidFill>
                  <a:srgbClr val="E07C3E"/>
                </a:solidFill>
              </a:defRPr>
            </a:pPr>
            <a:r>
              <a:t>When Healthy</a:t>
            </a:r>
          </a:p>
          <a:p>
            <a:pPr>
              <a:spcAft>
                <a:spcPts val="600"/>
              </a:spcAft>
              <a:defRPr sz="1100">
                <a:solidFill>
                  <a:srgbClr val="333333"/>
                </a:solidFill>
              </a:defRPr>
            </a:pPr>
            <a:r>
              <a:t>• People make decisions autonomously</a:t>
            </a:r>
          </a:p>
          <a:p>
            <a:pPr>
              <a:spcAft>
                <a:spcPts val="600"/>
              </a:spcAft>
              <a:defRPr sz="1100">
                <a:solidFill>
                  <a:srgbClr val="333333"/>
                </a:solidFill>
              </a:defRPr>
            </a:pPr>
            <a:r>
              <a:t>• New info gets filtered through shared context</a:t>
            </a:r>
          </a:p>
          <a:p>
            <a:pPr>
              <a:spcAft>
                <a:spcPts val="600"/>
              </a:spcAft>
              <a:defRPr sz="1100">
                <a:solidFill>
                  <a:srgbClr val="333333"/>
                </a:solidFill>
              </a:defRPr>
            </a:pPr>
            <a:r>
              <a:t>• Debates about how not what</a:t>
            </a:r>
          </a:p>
          <a:p>
            <a:pPr>
              <a:spcAft>
                <a:spcPts val="600"/>
              </a:spcAft>
              <a:defRPr sz="1100">
                <a:solidFill>
                  <a:srgbClr val="333333"/>
                </a:solidFill>
              </a:defRPr>
            </a:pPr>
            <a:r>
              <a:t>• Plan changes understood quickly</a:t>
            </a:r>
          </a:p>
        </p:txBody>
      </p:sp>
      <p:sp>
        <p:nvSpPr>
          <p:cNvPr id="5" name="TextBox 4"/>
          <p:cNvSpPr txBox="1"/>
          <p:nvPr/>
        </p:nvSpPr>
        <p:spPr>
          <a:xfrm>
            <a:off x="3931920" y="2011680"/>
            <a:ext cx="2990088" cy="4846320"/>
          </a:xfrm>
          <a:prstGeom prst="rect">
            <a:avLst/>
          </a:prstGeom>
          <a:noFill/>
        </p:spPr>
        <p:txBody>
          <a:bodyPr wrap="square">
            <a:spAutoFit/>
          </a:bodyPr>
          <a:lstStyle/>
          <a:p>
            <a:pPr>
              <a:spcAft>
                <a:spcPts val="800"/>
              </a:spcAft>
              <a:defRPr sz="1400" b="1">
                <a:solidFill>
                  <a:srgbClr val="333333"/>
                </a:solidFill>
              </a:defRPr>
            </a:pPr>
            <a:r>
              <a:t>When Decaying</a:t>
            </a:r>
          </a:p>
          <a:p>
            <a:pPr>
              <a:spcAft>
                <a:spcPts val="600"/>
              </a:spcAft>
              <a:defRPr sz="1100">
                <a:solidFill>
                  <a:srgbClr val="333333"/>
                </a:solidFill>
              </a:defRPr>
            </a:pPr>
            <a:r>
              <a:t>• People ask permission for things they should decide</a:t>
            </a:r>
          </a:p>
          <a:p>
            <a:pPr>
              <a:spcAft>
                <a:spcPts val="600"/>
              </a:spcAft>
              <a:defRPr sz="1100">
                <a:solidFill>
                  <a:srgbClr val="333333"/>
                </a:solidFill>
              </a:defRPr>
            </a:pPr>
            <a:r>
              <a:t>• Same questions repeated</a:t>
            </a:r>
          </a:p>
          <a:p>
            <a:pPr>
              <a:spcAft>
                <a:spcPts val="600"/>
              </a:spcAft>
              <a:defRPr sz="1100">
                <a:solidFill>
                  <a:srgbClr val="333333"/>
                </a:solidFill>
              </a:defRPr>
            </a:pPr>
            <a:r>
              <a:t>• Work done nobody asked for</a:t>
            </a:r>
          </a:p>
          <a:p>
            <a:pPr>
              <a:spcAft>
                <a:spcPts val="600"/>
              </a:spcAft>
              <a:defRPr sz="1100">
                <a:solidFill>
                  <a:srgbClr val="333333"/>
                </a:solidFill>
              </a:defRPr>
            </a:pPr>
            <a:r>
              <a:t>• People busy but can't articulate impact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731520"/>
          </a:xfrm>
          <a:prstGeom prst="rect">
            <a:avLst/>
          </a:prstGeom>
          <a:noFill/>
        </p:spPr>
        <p:txBody>
          <a:bodyPr wrap="square">
            <a:spAutoFit/>
          </a:bodyPr>
          <a:lstStyle/>
          <a:p>
            <a:pPr algn="l">
              <a:defRPr sz="2800" b="1">
                <a:solidFill>
                  <a:srgbClr val="E07C3E"/>
                </a:solidFill>
              </a:defRPr>
            </a:pPr>
            <a:r>
              <a:t>The Clarity Cascade</a:t>
            </a:r>
          </a:p>
        </p:txBody>
      </p:sp>
      <p:graphicFrame>
        <p:nvGraphicFramePr>
          <p:cNvPr id="3" name="Table 2"/>
          <p:cNvGraphicFramePr>
            <a:graphicFrameLocks noGrp="1"/>
          </p:cNvGraphicFramePr>
          <p:nvPr/>
        </p:nvGraphicFramePr>
        <p:xfrm>
          <a:off x="640080" y="1280160"/>
          <a:ext cx="6272784" cy="5303520"/>
        </p:xfrm>
        <a:graphic>
          <a:graphicData uri="http://schemas.openxmlformats.org/drawingml/2006/table">
            <a:tbl>
              <a:tblPr firstRow="1" bandRow="1">
                <a:tableStyleId>{5C22544A-7EE6-4342-B048-85BDC9FD1C3A}</a:tableStyleId>
              </a:tblPr>
              <a:tblGrid>
                <a:gridCol w="1417320"/>
                <a:gridCol w="2404872"/>
                <a:gridCol w="2450592"/>
              </a:tblGrid>
              <a:tr h="757645">
                <a:tc>
                  <a:txBody>
                    <a:bodyPr/>
                    <a:lstStyle/>
                    <a:p>
                      <a:r>
                        <a:rPr b="1" sz="1100">
                          <a:solidFill>
                            <a:srgbClr val="FFFFFF"/>
                          </a:solidFill>
                        </a:rPr>
                        <a:t>Level</a:t>
                      </a:r>
                    </a:p>
                  </a:txBody>
                  <a:tcPr>
                    <a:solidFill>
                      <a:srgbClr val="E07C3E"/>
                    </a:solidFill>
                  </a:tcPr>
                </a:tc>
                <a:tc>
                  <a:txBody>
                    <a:bodyPr/>
                    <a:lstStyle/>
                    <a:p>
                      <a:r>
                        <a:rPr b="1" sz="1100">
                          <a:solidFill>
                            <a:srgbClr val="FFFFFF"/>
                          </a:solidFill>
                        </a:rPr>
                        <a:t>Clarity Question</a:t>
                      </a:r>
                    </a:p>
                  </a:txBody>
                  <a:tcPr>
                    <a:solidFill>
                      <a:srgbClr val="E07C3E"/>
                    </a:solidFill>
                  </a:tcPr>
                </a:tc>
                <a:tc>
                  <a:txBody>
                    <a:bodyPr/>
                    <a:lstStyle/>
                    <a:p>
                      <a:r>
                        <a:rPr b="1" sz="1100">
                          <a:solidFill>
                            <a:srgbClr val="FFFFFF"/>
                          </a:solidFill>
                        </a:rPr>
                        <a:t>Common Failure</a:t>
                      </a:r>
                    </a:p>
                  </a:txBody>
                  <a:tcPr>
                    <a:solidFill>
                      <a:srgbClr val="E07C3E"/>
                    </a:solidFill>
                  </a:tcPr>
                </a:tc>
              </a:tr>
              <a:tr h="757645">
                <a:tc>
                  <a:txBody>
                    <a:bodyPr/>
                    <a:lstStyle/>
                    <a:p>
                      <a:r>
                        <a:rPr sz="1000">
                          <a:solidFill>
                            <a:srgbClr val="333333"/>
                          </a:solidFill>
                        </a:rPr>
                        <a:t>Mission</a:t>
                      </a:r>
                    </a:p>
                  </a:txBody>
                  <a:tcPr>
                    <a:solidFill>
                      <a:srgbClr val="FFFFFF"/>
                    </a:solidFill>
                  </a:tcPr>
                </a:tc>
                <a:tc>
                  <a:txBody>
                    <a:bodyPr/>
                    <a:lstStyle/>
                    <a:p>
                      <a:r>
                        <a:rPr sz="1000">
                          <a:solidFill>
                            <a:srgbClr val="333333"/>
                          </a:solidFill>
                        </a:rPr>
                        <a:t>Why do we exist?</a:t>
                      </a:r>
                    </a:p>
                  </a:txBody>
                  <a:tcPr>
                    <a:solidFill>
                      <a:srgbClr val="FFFFFF"/>
                    </a:solidFill>
                  </a:tcPr>
                </a:tc>
                <a:tc>
                  <a:txBody>
                    <a:bodyPr/>
                    <a:lstStyle/>
                    <a:p>
                      <a:r>
                        <a:rPr sz="1000">
                          <a:solidFill>
                            <a:srgbClr val="333333"/>
                          </a:solidFill>
                        </a:rPr>
                        <a:t>No shared sense of purpose</a:t>
                      </a:r>
                    </a:p>
                  </a:txBody>
                  <a:tcPr>
                    <a:solidFill>
                      <a:srgbClr val="FFFFFF"/>
                    </a:solidFill>
                  </a:tcPr>
                </a:tc>
              </a:tr>
              <a:tr h="757645">
                <a:tc>
                  <a:txBody>
                    <a:bodyPr/>
                    <a:lstStyle/>
                    <a:p>
                      <a:r>
                        <a:rPr sz="1000">
                          <a:solidFill>
                            <a:srgbClr val="333333"/>
                          </a:solidFill>
                        </a:rPr>
                        <a:t>Strategy</a:t>
                      </a:r>
                    </a:p>
                  </a:txBody>
                  <a:tcPr>
                    <a:solidFill>
                      <a:srgbClr val="F5F5F5"/>
                    </a:solidFill>
                  </a:tcPr>
                </a:tc>
                <a:tc>
                  <a:txBody>
                    <a:bodyPr/>
                    <a:lstStyle/>
                    <a:p>
                      <a:r>
                        <a:rPr sz="1000">
                          <a:solidFill>
                            <a:srgbClr val="333333"/>
                          </a:solidFill>
                        </a:rPr>
                        <a:t>How do we win?</a:t>
                      </a:r>
                    </a:p>
                  </a:txBody>
                  <a:tcPr>
                    <a:solidFill>
                      <a:srgbClr val="F5F5F5"/>
                    </a:solidFill>
                  </a:tcPr>
                </a:tc>
                <a:tc>
                  <a:txBody>
                    <a:bodyPr/>
                    <a:lstStyle/>
                    <a:p>
                      <a:r>
                        <a:rPr sz="1000">
                          <a:solidFill>
                            <a:srgbClr val="333333"/>
                          </a:solidFill>
                        </a:rPr>
                        <a:t>Can't explain the strategy</a:t>
                      </a:r>
                    </a:p>
                  </a:txBody>
                  <a:tcPr>
                    <a:solidFill>
                      <a:srgbClr val="F5F5F5"/>
                    </a:solidFill>
                  </a:tcPr>
                </a:tc>
              </a:tr>
              <a:tr h="757645">
                <a:tc>
                  <a:txBody>
                    <a:bodyPr/>
                    <a:lstStyle/>
                    <a:p>
                      <a:r>
                        <a:rPr sz="1000">
                          <a:solidFill>
                            <a:srgbClr val="333333"/>
                          </a:solidFill>
                        </a:rPr>
                        <a:t>Priorities</a:t>
                      </a:r>
                    </a:p>
                  </a:txBody>
                  <a:tcPr>
                    <a:solidFill>
                      <a:srgbClr val="FFFFFF"/>
                    </a:solidFill>
                  </a:tcPr>
                </a:tc>
                <a:tc>
                  <a:txBody>
                    <a:bodyPr/>
                    <a:lstStyle/>
                    <a:p>
                      <a:r>
                        <a:rPr sz="1000">
                          <a:solidFill>
                            <a:srgbClr val="333333"/>
                          </a:solidFill>
                        </a:rPr>
                        <a:t>What matters most?</a:t>
                      </a:r>
                    </a:p>
                  </a:txBody>
                  <a:tcPr>
                    <a:solidFill>
                      <a:srgbClr val="FFFFFF"/>
                    </a:solidFill>
                  </a:tcPr>
                </a:tc>
                <a:tc>
                  <a:txBody>
                    <a:bodyPr/>
                    <a:lstStyle/>
                    <a:p>
                      <a:r>
                        <a:rPr sz="1000">
                          <a:solidFill>
                            <a:srgbClr val="333333"/>
                          </a:solidFill>
                        </a:rPr>
                        <a:t>Too many priorities</a:t>
                      </a:r>
                    </a:p>
                  </a:txBody>
                  <a:tcPr>
                    <a:solidFill>
                      <a:srgbClr val="FFFFFF"/>
                    </a:solidFill>
                  </a:tcPr>
                </a:tc>
              </a:tr>
              <a:tr h="757645">
                <a:tc>
                  <a:txBody>
                    <a:bodyPr/>
                    <a:lstStyle/>
                    <a:p>
                      <a:r>
                        <a:rPr sz="1000">
                          <a:solidFill>
                            <a:srgbClr val="333333"/>
                          </a:solidFill>
                        </a:rPr>
                        <a:t>Roles</a:t>
                      </a:r>
                    </a:p>
                  </a:txBody>
                  <a:tcPr>
                    <a:solidFill>
                      <a:srgbClr val="F5F5F5"/>
                    </a:solidFill>
                  </a:tcPr>
                </a:tc>
                <a:tc>
                  <a:txBody>
                    <a:bodyPr/>
                    <a:lstStyle/>
                    <a:p>
                      <a:r>
                        <a:rPr sz="1000">
                          <a:solidFill>
                            <a:srgbClr val="333333"/>
                          </a:solidFill>
                        </a:rPr>
                        <a:t>Who owns what?</a:t>
                      </a:r>
                    </a:p>
                  </a:txBody>
                  <a:tcPr>
                    <a:solidFill>
                      <a:srgbClr val="F5F5F5"/>
                    </a:solidFill>
                  </a:tcPr>
                </a:tc>
                <a:tc>
                  <a:txBody>
                    <a:bodyPr/>
                    <a:lstStyle/>
                    <a:p>
                      <a:r>
                        <a:rPr sz="1000">
                          <a:solidFill>
                            <a:srgbClr val="333333"/>
                          </a:solidFill>
                        </a:rPr>
                        <a:t>Unclear ownership</a:t>
                      </a:r>
                    </a:p>
                  </a:txBody>
                  <a:tcPr>
                    <a:solidFill>
                      <a:srgbClr val="F5F5F5"/>
                    </a:solidFill>
                  </a:tcPr>
                </a:tc>
              </a:tr>
              <a:tr h="757645">
                <a:tc>
                  <a:txBody>
                    <a:bodyPr/>
                    <a:lstStyle/>
                    <a:p>
                      <a:r>
                        <a:rPr sz="1000">
                          <a:solidFill>
                            <a:srgbClr val="333333"/>
                          </a:solidFill>
                        </a:rPr>
                        <a:t>Success metrics</a:t>
                      </a:r>
                    </a:p>
                  </a:txBody>
                  <a:tcPr>
                    <a:solidFill>
                      <a:srgbClr val="FFFFFF"/>
                    </a:solidFill>
                  </a:tcPr>
                </a:tc>
                <a:tc>
                  <a:txBody>
                    <a:bodyPr/>
                    <a:lstStyle/>
                    <a:p>
                      <a:r>
                        <a:rPr sz="1000">
                          <a:solidFill>
                            <a:srgbClr val="333333"/>
                          </a:solidFill>
                        </a:rPr>
                        <a:t>How do we know if we're winning?</a:t>
                      </a:r>
                    </a:p>
                  </a:txBody>
                  <a:tcPr>
                    <a:solidFill>
                      <a:srgbClr val="FFFFFF"/>
                    </a:solidFill>
                  </a:tcPr>
                </a:tc>
                <a:tc>
                  <a:txBody>
                    <a:bodyPr/>
                    <a:lstStyle/>
                    <a:p>
                      <a:r>
                        <a:rPr sz="1000">
                          <a:solidFill>
                            <a:srgbClr val="333333"/>
                          </a:solidFill>
                        </a:rPr>
                        <a:t>No shared definition of success</a:t>
                      </a:r>
                    </a:p>
                  </a:txBody>
                  <a:tcPr>
                    <a:solidFill>
                      <a:srgbClr val="FFFFFF"/>
                    </a:solidFill>
                  </a:tcPr>
                </a:tc>
              </a:tr>
              <a:tr h="757650">
                <a:tc>
                  <a:txBody>
                    <a:bodyPr/>
                    <a:lstStyle/>
                    <a:p>
                      <a:r>
                        <a:rPr sz="1000">
                          <a:solidFill>
                            <a:srgbClr val="333333"/>
                          </a:solidFill>
                        </a:rPr>
                        <a:t>Individual</a:t>
                      </a:r>
                    </a:p>
                  </a:txBody>
                  <a:tcPr>
                    <a:solidFill>
                      <a:srgbClr val="F5F5F5"/>
                    </a:solidFill>
                  </a:tcPr>
                </a:tc>
                <a:tc>
                  <a:txBody>
                    <a:bodyPr/>
                    <a:lstStyle/>
                    <a:p>
                      <a:r>
                        <a:rPr sz="1000">
                          <a:solidFill>
                            <a:srgbClr val="333333"/>
                          </a:solidFill>
                        </a:rPr>
                        <a:t>What's expected of me?</a:t>
                      </a:r>
                    </a:p>
                  </a:txBody>
                  <a:tcPr>
                    <a:solidFill>
                      <a:srgbClr val="F5F5F5"/>
                    </a:solidFill>
                  </a:tcPr>
                </a:tc>
                <a:tc>
                  <a:txBody>
                    <a:bodyPr/>
                    <a:lstStyle/>
                    <a:p>
                      <a:r>
                        <a:rPr sz="1000">
                          <a:solidFill>
                            <a:srgbClr val="333333"/>
                          </a:solidFill>
                        </a:rPr>
                        <a:t>Role confusion</a:t>
                      </a:r>
                    </a:p>
                  </a:txBody>
                  <a:tcPr>
                    <a:solidFill>
                      <a:srgbClr val="F5F5F5"/>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731520"/>
          </a:xfrm>
          <a:prstGeom prst="rect">
            <a:avLst/>
          </a:prstGeom>
          <a:noFill/>
        </p:spPr>
        <p:txBody>
          <a:bodyPr wrap="square">
            <a:spAutoFit/>
          </a:bodyPr>
          <a:lstStyle/>
          <a:p>
            <a:pPr algn="l">
              <a:defRPr sz="2800" b="1">
                <a:solidFill>
                  <a:srgbClr val="E07C3E"/>
                </a:solidFill>
              </a:defRPr>
            </a:pPr>
            <a:r>
              <a:t>Dimension 2: Energy</a:t>
            </a:r>
          </a:p>
        </p:txBody>
      </p:sp>
      <p:sp>
        <p:nvSpPr>
          <p:cNvPr id="3" name="TextBox 2"/>
          <p:cNvSpPr txBox="1"/>
          <p:nvPr/>
        </p:nvSpPr>
        <p:spPr>
          <a:xfrm>
            <a:off x="640080" y="1280160"/>
            <a:ext cx="6281927" cy="731520"/>
          </a:xfrm>
          <a:prstGeom prst="rect">
            <a:avLst/>
          </a:prstGeom>
          <a:noFill/>
        </p:spPr>
        <p:txBody>
          <a:bodyPr wrap="square">
            <a:spAutoFit/>
          </a:bodyPr>
          <a:lstStyle/>
          <a:p>
            <a:pPr>
              <a:defRPr sz="1200" i="1">
                <a:solidFill>
                  <a:srgbClr val="333333"/>
                </a:solidFill>
              </a:defRPr>
            </a:pPr>
            <a:r>
              <a:t>Does this team have fuel for great work?</a:t>
            </a:r>
          </a:p>
        </p:txBody>
      </p:sp>
      <p:sp>
        <p:nvSpPr>
          <p:cNvPr id="4" name="TextBox 3"/>
          <p:cNvSpPr txBox="1"/>
          <p:nvPr/>
        </p:nvSpPr>
        <p:spPr>
          <a:xfrm>
            <a:off x="640080" y="2011680"/>
            <a:ext cx="2743200" cy="4846320"/>
          </a:xfrm>
          <a:prstGeom prst="rect">
            <a:avLst/>
          </a:prstGeom>
          <a:noFill/>
        </p:spPr>
        <p:txBody>
          <a:bodyPr wrap="square">
            <a:spAutoFit/>
          </a:bodyPr>
          <a:lstStyle/>
          <a:p>
            <a:pPr>
              <a:spcAft>
                <a:spcPts val="800"/>
              </a:spcAft>
              <a:defRPr sz="1400" b="1">
                <a:solidFill>
                  <a:srgbClr val="E07C3E"/>
                </a:solidFill>
              </a:defRPr>
            </a:pPr>
            <a:r>
              <a:t>When Healthy</a:t>
            </a:r>
          </a:p>
          <a:p>
            <a:pPr>
              <a:spcAft>
                <a:spcPts val="600"/>
              </a:spcAft>
              <a:defRPr sz="1100">
                <a:solidFill>
                  <a:srgbClr val="333333"/>
                </a:solidFill>
              </a:defRPr>
            </a:pPr>
            <a:r>
              <a:t>• People volunteer for hard problems</a:t>
            </a:r>
          </a:p>
          <a:p>
            <a:pPr>
              <a:spcAft>
                <a:spcPts val="600"/>
              </a:spcAft>
              <a:defRPr sz="1100">
                <a:solidFill>
                  <a:srgbClr val="333333"/>
                </a:solidFill>
              </a:defRPr>
            </a:pPr>
            <a:r>
              <a:t>• Monday mornings have genuine enthusiasm</a:t>
            </a:r>
          </a:p>
          <a:p>
            <a:pPr>
              <a:spcAft>
                <a:spcPts val="600"/>
              </a:spcAft>
              <a:defRPr sz="1100">
                <a:solidFill>
                  <a:srgbClr val="333333"/>
                </a:solidFill>
              </a:defRPr>
            </a:pPr>
            <a:r>
              <a:t>• Quality goes beyond minimum requirements</a:t>
            </a:r>
          </a:p>
          <a:p>
            <a:pPr>
              <a:spcAft>
                <a:spcPts val="600"/>
              </a:spcAft>
              <a:defRPr sz="1100">
                <a:solidFill>
                  <a:srgbClr val="333333"/>
                </a:solidFill>
              </a:defRPr>
            </a:pPr>
            <a:r>
              <a:t>• People protect each other's time and focus</a:t>
            </a:r>
          </a:p>
        </p:txBody>
      </p:sp>
      <p:sp>
        <p:nvSpPr>
          <p:cNvPr id="5" name="TextBox 4"/>
          <p:cNvSpPr txBox="1"/>
          <p:nvPr/>
        </p:nvSpPr>
        <p:spPr>
          <a:xfrm>
            <a:off x="3931920" y="2011680"/>
            <a:ext cx="2990088" cy="4846320"/>
          </a:xfrm>
          <a:prstGeom prst="rect">
            <a:avLst/>
          </a:prstGeom>
          <a:noFill/>
        </p:spPr>
        <p:txBody>
          <a:bodyPr wrap="square">
            <a:spAutoFit/>
          </a:bodyPr>
          <a:lstStyle/>
          <a:p>
            <a:pPr>
              <a:spcAft>
                <a:spcPts val="800"/>
              </a:spcAft>
              <a:defRPr sz="1400" b="1">
                <a:solidFill>
                  <a:srgbClr val="333333"/>
                </a:solidFill>
              </a:defRPr>
            </a:pPr>
            <a:r>
              <a:t>When Decaying</a:t>
            </a:r>
          </a:p>
          <a:p>
            <a:pPr>
              <a:spcAft>
                <a:spcPts val="600"/>
              </a:spcAft>
              <a:defRPr sz="1100">
                <a:solidFill>
                  <a:srgbClr val="333333"/>
                </a:solidFill>
              </a:defRPr>
            </a:pPr>
            <a:r>
              <a:t>• Camera-off culture in meetings</a:t>
            </a:r>
          </a:p>
          <a:p>
            <a:pPr>
              <a:spcAft>
                <a:spcPts val="600"/>
              </a:spcAft>
              <a:defRPr sz="1100">
                <a:solidFill>
                  <a:srgbClr val="333333"/>
                </a:solidFill>
              </a:defRPr>
            </a:pPr>
            <a:r>
              <a:t>• "It is what it is" resignation language</a:t>
            </a:r>
          </a:p>
          <a:p>
            <a:pPr>
              <a:spcAft>
                <a:spcPts val="600"/>
              </a:spcAft>
              <a:defRPr sz="1100">
                <a:solidFill>
                  <a:srgbClr val="333333"/>
                </a:solidFill>
              </a:defRPr>
            </a:pPr>
            <a:r>
              <a:t>• Nobody volunteers, everything assigned</a:t>
            </a:r>
          </a:p>
          <a:p>
            <a:pPr>
              <a:spcAft>
                <a:spcPts val="600"/>
              </a:spcAft>
              <a:defRPr sz="1100">
                <a:solidFill>
                  <a:srgbClr val="333333"/>
                </a:solidFill>
              </a:defRPr>
            </a:pPr>
            <a:r>
              <a:t>• Best people updating LinkedIn profiles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731520"/>
          </a:xfrm>
          <a:prstGeom prst="rect">
            <a:avLst/>
          </a:prstGeom>
          <a:noFill/>
        </p:spPr>
        <p:txBody>
          <a:bodyPr wrap="square">
            <a:spAutoFit/>
          </a:bodyPr>
          <a:lstStyle/>
          <a:p>
            <a:pPr algn="l">
              <a:defRPr sz="2800" b="1">
                <a:solidFill>
                  <a:srgbClr val="E07C3E"/>
                </a:solidFill>
              </a:defRPr>
            </a:pPr>
            <a:r>
              <a:t>Dimension 3: Trust</a:t>
            </a:r>
          </a:p>
        </p:txBody>
      </p:sp>
      <p:sp>
        <p:nvSpPr>
          <p:cNvPr id="3" name="TextBox 2"/>
          <p:cNvSpPr txBox="1"/>
          <p:nvPr/>
        </p:nvSpPr>
        <p:spPr>
          <a:xfrm>
            <a:off x="640080" y="1280160"/>
            <a:ext cx="6281927" cy="731520"/>
          </a:xfrm>
          <a:prstGeom prst="rect">
            <a:avLst/>
          </a:prstGeom>
          <a:noFill/>
        </p:spPr>
        <p:txBody>
          <a:bodyPr wrap="square">
            <a:spAutoFit/>
          </a:bodyPr>
          <a:lstStyle/>
          <a:p>
            <a:pPr>
              <a:defRPr sz="1200" i="1">
                <a:solidFill>
                  <a:srgbClr val="333333"/>
                </a:solidFill>
              </a:defRPr>
            </a:pPr>
            <a:r>
              <a:t>Can people be honest and vulnerable with each other?</a:t>
            </a:r>
          </a:p>
        </p:txBody>
      </p:sp>
      <p:sp>
        <p:nvSpPr>
          <p:cNvPr id="4" name="TextBox 3"/>
          <p:cNvSpPr txBox="1"/>
          <p:nvPr/>
        </p:nvSpPr>
        <p:spPr>
          <a:xfrm>
            <a:off x="640080" y="2011680"/>
            <a:ext cx="2743200" cy="4846320"/>
          </a:xfrm>
          <a:prstGeom prst="rect">
            <a:avLst/>
          </a:prstGeom>
          <a:noFill/>
        </p:spPr>
        <p:txBody>
          <a:bodyPr wrap="square">
            <a:spAutoFit/>
          </a:bodyPr>
          <a:lstStyle/>
          <a:p>
            <a:pPr>
              <a:spcAft>
                <a:spcPts val="800"/>
              </a:spcAft>
              <a:defRPr sz="1400" b="1">
                <a:solidFill>
                  <a:srgbClr val="E07C3E"/>
                </a:solidFill>
              </a:defRPr>
            </a:pPr>
            <a:r>
              <a:t>When Healthy</a:t>
            </a:r>
          </a:p>
          <a:p>
            <a:pPr>
              <a:spcAft>
                <a:spcPts val="600"/>
              </a:spcAft>
              <a:defRPr sz="1100">
                <a:solidFill>
                  <a:srgbClr val="333333"/>
                </a:solidFill>
              </a:defRPr>
            </a:pPr>
            <a:r>
              <a:t>• Disagreements happen openly and productively</a:t>
            </a:r>
          </a:p>
          <a:p>
            <a:pPr>
              <a:spcAft>
                <a:spcPts val="600"/>
              </a:spcAft>
              <a:defRPr sz="1100">
                <a:solidFill>
                  <a:srgbClr val="333333"/>
                </a:solidFill>
              </a:defRPr>
            </a:pPr>
            <a:r>
              <a:t>• Bad news travels fast</a:t>
            </a:r>
          </a:p>
          <a:p>
            <a:pPr>
              <a:spcAft>
                <a:spcPts val="600"/>
              </a:spcAft>
              <a:defRPr sz="1100">
                <a:solidFill>
                  <a:srgbClr val="333333"/>
                </a:solidFill>
              </a:defRPr>
            </a:pPr>
            <a:r>
              <a:t>• People give direct feedback</a:t>
            </a:r>
          </a:p>
          <a:p>
            <a:pPr>
              <a:spcAft>
                <a:spcPts val="600"/>
              </a:spcAft>
              <a:defRPr sz="1100">
                <a:solidFill>
                  <a:srgbClr val="333333"/>
                </a:solidFill>
              </a:defRPr>
            </a:pPr>
            <a:r>
              <a:t>• Mistakes are discussed without blame</a:t>
            </a:r>
          </a:p>
        </p:txBody>
      </p:sp>
      <p:sp>
        <p:nvSpPr>
          <p:cNvPr id="5" name="TextBox 4"/>
          <p:cNvSpPr txBox="1"/>
          <p:nvPr/>
        </p:nvSpPr>
        <p:spPr>
          <a:xfrm>
            <a:off x="3931920" y="2011680"/>
            <a:ext cx="2990088" cy="4846320"/>
          </a:xfrm>
          <a:prstGeom prst="rect">
            <a:avLst/>
          </a:prstGeom>
          <a:noFill/>
        </p:spPr>
        <p:txBody>
          <a:bodyPr wrap="square">
            <a:spAutoFit/>
          </a:bodyPr>
          <a:lstStyle/>
          <a:p>
            <a:pPr>
              <a:spcAft>
                <a:spcPts val="800"/>
              </a:spcAft>
              <a:defRPr sz="1400" b="1">
                <a:solidFill>
                  <a:srgbClr val="333333"/>
                </a:solidFill>
              </a:defRPr>
            </a:pPr>
            <a:r>
              <a:t>When Decaying</a:t>
            </a:r>
          </a:p>
          <a:p>
            <a:pPr>
              <a:spcAft>
                <a:spcPts val="600"/>
              </a:spcAft>
              <a:defRPr sz="1100">
                <a:solidFill>
                  <a:srgbClr val="333333"/>
                </a:solidFill>
              </a:defRPr>
            </a:pPr>
            <a:r>
              <a:t>• Meeting after the meeting</a:t>
            </a:r>
          </a:p>
          <a:p>
            <a:pPr>
              <a:spcAft>
                <a:spcPts val="600"/>
              </a:spcAft>
              <a:defRPr sz="1100">
                <a:solidFill>
                  <a:srgbClr val="333333"/>
                </a:solidFill>
              </a:defRPr>
            </a:pPr>
            <a:r>
              <a:t>• CYA culture for self-protection</a:t>
            </a:r>
          </a:p>
          <a:p>
            <a:pPr>
              <a:spcAft>
                <a:spcPts val="600"/>
              </a:spcAft>
              <a:defRPr sz="1100">
                <a:solidFill>
                  <a:srgbClr val="333333"/>
                </a:solidFill>
              </a:defRPr>
            </a:pPr>
            <a:r>
              <a:t>• Side conversations increase</a:t>
            </a:r>
          </a:p>
          <a:p>
            <a:pPr>
              <a:spcAft>
                <a:spcPts val="600"/>
              </a:spcAft>
              <a:defRPr sz="1100">
                <a:solidFill>
                  <a:srgbClr val="333333"/>
                </a:solidFill>
              </a:defRPr>
            </a:pPr>
            <a:r>
              <a:t>• Nobody pushes back on leader's ideas publicly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731520"/>
          </a:xfrm>
          <a:prstGeom prst="rect">
            <a:avLst/>
          </a:prstGeom>
          <a:noFill/>
        </p:spPr>
        <p:txBody>
          <a:bodyPr wrap="square">
            <a:spAutoFit/>
          </a:bodyPr>
          <a:lstStyle/>
          <a:p>
            <a:pPr algn="l">
              <a:defRPr sz="2800" b="1">
                <a:solidFill>
                  <a:srgbClr val="E07C3E"/>
                </a:solidFill>
              </a:defRPr>
            </a:pPr>
            <a:r>
              <a:t>Dimension 4: Alignment</a:t>
            </a:r>
          </a:p>
        </p:txBody>
      </p:sp>
      <p:sp>
        <p:nvSpPr>
          <p:cNvPr id="3" name="TextBox 2"/>
          <p:cNvSpPr txBox="1"/>
          <p:nvPr/>
        </p:nvSpPr>
        <p:spPr>
          <a:xfrm>
            <a:off x="640080" y="1280160"/>
            <a:ext cx="6281927" cy="731520"/>
          </a:xfrm>
          <a:prstGeom prst="rect">
            <a:avLst/>
          </a:prstGeom>
          <a:noFill/>
        </p:spPr>
        <p:txBody>
          <a:bodyPr wrap="square">
            <a:spAutoFit/>
          </a:bodyPr>
          <a:lstStyle/>
          <a:p>
            <a:pPr>
              <a:defRPr sz="1200" i="1">
                <a:solidFill>
                  <a:srgbClr val="333333"/>
                </a:solidFill>
              </a:defRPr>
            </a:pPr>
            <a:r>
              <a:t>Is everyone pulling in the same direction?</a:t>
            </a:r>
          </a:p>
        </p:txBody>
      </p:sp>
      <p:sp>
        <p:nvSpPr>
          <p:cNvPr id="4" name="TextBox 3"/>
          <p:cNvSpPr txBox="1"/>
          <p:nvPr/>
        </p:nvSpPr>
        <p:spPr>
          <a:xfrm>
            <a:off x="640080" y="2011680"/>
            <a:ext cx="2743200" cy="4846320"/>
          </a:xfrm>
          <a:prstGeom prst="rect">
            <a:avLst/>
          </a:prstGeom>
          <a:noFill/>
        </p:spPr>
        <p:txBody>
          <a:bodyPr wrap="square">
            <a:spAutoFit/>
          </a:bodyPr>
          <a:lstStyle/>
          <a:p>
            <a:pPr>
              <a:spcAft>
                <a:spcPts val="800"/>
              </a:spcAft>
              <a:defRPr sz="1400" b="1">
                <a:solidFill>
                  <a:srgbClr val="E07C3E"/>
                </a:solidFill>
              </a:defRPr>
            </a:pPr>
            <a:r>
              <a:t>When Healthy</a:t>
            </a:r>
          </a:p>
          <a:p>
            <a:pPr>
              <a:spcAft>
                <a:spcPts val="600"/>
              </a:spcAft>
              <a:defRPr sz="1100">
                <a:solidFill>
                  <a:srgbClr val="333333"/>
                </a:solidFill>
              </a:defRPr>
            </a:pPr>
            <a:r>
              <a:t>• Everyone gives same elevator pitch</a:t>
            </a:r>
          </a:p>
          <a:p>
            <a:pPr>
              <a:spcAft>
                <a:spcPts val="600"/>
              </a:spcAft>
              <a:defRPr sz="1100">
                <a:solidFill>
                  <a:srgbClr val="333333"/>
                </a:solidFill>
              </a:defRPr>
            </a:pPr>
            <a:r>
              <a:t>• Trade-offs understood and accepted</a:t>
            </a:r>
          </a:p>
          <a:p>
            <a:pPr>
              <a:spcAft>
                <a:spcPts val="600"/>
              </a:spcAft>
              <a:defRPr sz="1100">
                <a:solidFill>
                  <a:srgbClr val="333333"/>
                </a:solidFill>
              </a:defRPr>
            </a:pPr>
            <a:r>
              <a:t>• Cross-team collaboration feels like partnership</a:t>
            </a:r>
          </a:p>
          <a:p>
            <a:pPr>
              <a:spcAft>
                <a:spcPts val="600"/>
              </a:spcAft>
              <a:defRPr sz="1100">
                <a:solidFill>
                  <a:srgbClr val="333333"/>
                </a:solidFill>
              </a:defRPr>
            </a:pPr>
            <a:r>
              <a:t>• Priorities stable and understood</a:t>
            </a:r>
          </a:p>
        </p:txBody>
      </p:sp>
      <p:sp>
        <p:nvSpPr>
          <p:cNvPr id="5" name="TextBox 4"/>
          <p:cNvSpPr txBox="1"/>
          <p:nvPr/>
        </p:nvSpPr>
        <p:spPr>
          <a:xfrm>
            <a:off x="3931920" y="2011680"/>
            <a:ext cx="2990088" cy="4846320"/>
          </a:xfrm>
          <a:prstGeom prst="rect">
            <a:avLst/>
          </a:prstGeom>
          <a:noFill/>
        </p:spPr>
        <p:txBody>
          <a:bodyPr wrap="square">
            <a:spAutoFit/>
          </a:bodyPr>
          <a:lstStyle/>
          <a:p>
            <a:pPr>
              <a:spcAft>
                <a:spcPts val="800"/>
              </a:spcAft>
              <a:defRPr sz="1400" b="1">
                <a:solidFill>
                  <a:srgbClr val="333333"/>
                </a:solidFill>
              </a:defRPr>
            </a:pPr>
            <a:r>
              <a:t>When Decaying</a:t>
            </a:r>
          </a:p>
          <a:p>
            <a:pPr>
              <a:spcAft>
                <a:spcPts val="600"/>
              </a:spcAft>
              <a:defRPr sz="1100">
                <a:solidFill>
                  <a:srgbClr val="333333"/>
                </a:solidFill>
              </a:defRPr>
            </a:pPr>
            <a:r>
              <a:t>• Different members give different priorities</a:t>
            </a:r>
          </a:p>
          <a:p>
            <a:pPr>
              <a:spcAft>
                <a:spcPts val="600"/>
              </a:spcAft>
              <a:defRPr sz="1100">
                <a:solidFill>
                  <a:srgbClr val="333333"/>
                </a:solidFill>
              </a:defRPr>
            </a:pPr>
            <a:r>
              <a:t>• Priorities shift without explanation</a:t>
            </a:r>
          </a:p>
          <a:p>
            <a:pPr>
              <a:spcAft>
                <a:spcPts val="600"/>
              </a:spcAft>
              <a:defRPr sz="1100">
                <a:solidFill>
                  <a:srgbClr val="333333"/>
                </a:solidFill>
              </a:defRPr>
            </a:pPr>
            <a:r>
              <a:t>• "Alignment meetings" appear on calendar</a:t>
            </a:r>
          </a:p>
          <a:p>
            <a:pPr>
              <a:spcAft>
                <a:spcPts val="600"/>
              </a:spcAft>
              <a:defRPr sz="1100">
                <a:solidFill>
                  <a:srgbClr val="333333"/>
                </a:solidFill>
              </a:defRPr>
            </a:pPr>
            <a:r>
              <a:t>• Departments optimize locally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731520"/>
          </a:xfrm>
          <a:prstGeom prst="rect">
            <a:avLst/>
          </a:prstGeom>
          <a:noFill/>
        </p:spPr>
        <p:txBody>
          <a:bodyPr wrap="square">
            <a:spAutoFit/>
          </a:bodyPr>
          <a:lstStyle/>
          <a:p>
            <a:pPr algn="l">
              <a:defRPr sz="2800" b="1">
                <a:solidFill>
                  <a:srgbClr val="E07C3E"/>
                </a:solidFill>
              </a:defRPr>
            </a:pPr>
            <a:r>
              <a:t>Dimension 5: Growth</a:t>
            </a:r>
          </a:p>
        </p:txBody>
      </p:sp>
      <p:sp>
        <p:nvSpPr>
          <p:cNvPr id="3" name="TextBox 2"/>
          <p:cNvSpPr txBox="1"/>
          <p:nvPr/>
        </p:nvSpPr>
        <p:spPr>
          <a:xfrm>
            <a:off x="640080" y="1280160"/>
            <a:ext cx="6281927" cy="731520"/>
          </a:xfrm>
          <a:prstGeom prst="rect">
            <a:avLst/>
          </a:prstGeom>
          <a:noFill/>
        </p:spPr>
        <p:txBody>
          <a:bodyPr wrap="square">
            <a:spAutoFit/>
          </a:bodyPr>
          <a:lstStyle/>
          <a:p>
            <a:pPr>
              <a:defRPr sz="1200" i="1">
                <a:solidFill>
                  <a:srgbClr val="333333"/>
                </a:solidFill>
              </a:defRPr>
            </a:pPr>
            <a:r>
              <a:t>Are people developing and stretching?</a:t>
            </a:r>
          </a:p>
        </p:txBody>
      </p:sp>
      <p:sp>
        <p:nvSpPr>
          <p:cNvPr id="4" name="TextBox 3"/>
          <p:cNvSpPr txBox="1"/>
          <p:nvPr/>
        </p:nvSpPr>
        <p:spPr>
          <a:xfrm>
            <a:off x="640080" y="2011680"/>
            <a:ext cx="2743200" cy="4846320"/>
          </a:xfrm>
          <a:prstGeom prst="rect">
            <a:avLst/>
          </a:prstGeom>
          <a:noFill/>
        </p:spPr>
        <p:txBody>
          <a:bodyPr wrap="square">
            <a:spAutoFit/>
          </a:bodyPr>
          <a:lstStyle/>
          <a:p>
            <a:pPr>
              <a:spcAft>
                <a:spcPts val="800"/>
              </a:spcAft>
              <a:defRPr sz="1400" b="1">
                <a:solidFill>
                  <a:srgbClr val="E07C3E"/>
                </a:solidFill>
              </a:defRPr>
            </a:pPr>
            <a:r>
              <a:t>When Healthy</a:t>
            </a:r>
          </a:p>
          <a:p>
            <a:pPr>
              <a:spcAft>
                <a:spcPts val="600"/>
              </a:spcAft>
              <a:defRPr sz="1100">
                <a:solidFill>
                  <a:srgbClr val="333333"/>
                </a:solidFill>
              </a:defRPr>
            </a:pPr>
            <a:r>
              <a:t>• People take on challenges beyond comfort zone</a:t>
            </a:r>
          </a:p>
          <a:p>
            <a:pPr>
              <a:spcAft>
                <a:spcPts val="600"/>
              </a:spcAft>
              <a:defRPr sz="1100">
                <a:solidFill>
                  <a:srgbClr val="333333"/>
                </a:solidFill>
              </a:defRPr>
            </a:pPr>
            <a:r>
              <a:t>• Mentorship happens naturally</a:t>
            </a:r>
          </a:p>
          <a:p>
            <a:pPr>
              <a:spcAft>
                <a:spcPts val="600"/>
              </a:spcAft>
              <a:defRPr sz="1100">
                <a:solidFill>
                  <a:srgbClr val="333333"/>
                </a:solidFill>
              </a:defRPr>
            </a:pPr>
            <a:r>
              <a:t>• Skills visibly improving quarter over quarter</a:t>
            </a:r>
          </a:p>
          <a:p>
            <a:pPr>
              <a:spcAft>
                <a:spcPts val="600"/>
              </a:spcAft>
              <a:defRPr sz="1100">
                <a:solidFill>
                  <a:srgbClr val="333333"/>
                </a:solidFill>
              </a:defRPr>
            </a:pPr>
            <a:r>
              <a:t>• People talk about the future with excitement</a:t>
            </a:r>
          </a:p>
        </p:txBody>
      </p:sp>
      <p:sp>
        <p:nvSpPr>
          <p:cNvPr id="5" name="TextBox 4"/>
          <p:cNvSpPr txBox="1"/>
          <p:nvPr/>
        </p:nvSpPr>
        <p:spPr>
          <a:xfrm>
            <a:off x="3931920" y="2011680"/>
            <a:ext cx="2990088" cy="4846320"/>
          </a:xfrm>
          <a:prstGeom prst="rect">
            <a:avLst/>
          </a:prstGeom>
          <a:noFill/>
        </p:spPr>
        <p:txBody>
          <a:bodyPr wrap="square">
            <a:spAutoFit/>
          </a:bodyPr>
          <a:lstStyle/>
          <a:p>
            <a:pPr>
              <a:spcAft>
                <a:spcPts val="800"/>
              </a:spcAft>
              <a:defRPr sz="1400" b="1">
                <a:solidFill>
                  <a:srgbClr val="333333"/>
                </a:solidFill>
              </a:defRPr>
            </a:pPr>
            <a:r>
              <a:t>When Decaying</a:t>
            </a:r>
          </a:p>
          <a:p>
            <a:pPr>
              <a:spcAft>
                <a:spcPts val="600"/>
              </a:spcAft>
              <a:defRPr sz="1100">
                <a:solidFill>
                  <a:srgbClr val="333333"/>
                </a:solidFill>
              </a:defRPr>
            </a:pPr>
            <a:r>
              <a:t>• Best people haven't had new challenges in 6 months</a:t>
            </a:r>
          </a:p>
          <a:p>
            <a:pPr>
              <a:spcAft>
                <a:spcPts val="600"/>
              </a:spcAft>
              <a:defRPr sz="1100">
                <a:solidFill>
                  <a:srgbClr val="333333"/>
                </a:solidFill>
              </a:defRPr>
            </a:pPr>
            <a:r>
              <a:t>• Development only during review cycles</a:t>
            </a:r>
          </a:p>
          <a:p>
            <a:pPr>
              <a:spcAft>
                <a:spcPts val="600"/>
              </a:spcAft>
              <a:defRPr sz="1100">
                <a:solidFill>
                  <a:srgbClr val="333333"/>
                </a:solidFill>
              </a:defRPr>
            </a:pPr>
            <a:r>
              <a:t>• Team becoming homogeneous</a:t>
            </a:r>
          </a:p>
          <a:p>
            <a:pPr>
              <a:spcAft>
                <a:spcPts val="600"/>
              </a:spcAft>
              <a:defRPr sz="1100">
                <a:solidFill>
                  <a:srgbClr val="333333"/>
                </a:solidFill>
              </a:defRPr>
            </a:pPr>
            <a:r>
              <a:t>• Junior people not leveling 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2286000"/>
            <a:ext cx="6281927" cy="731520"/>
          </a:xfrm>
          <a:prstGeom prst="rect">
            <a:avLst/>
          </a:prstGeom>
          <a:noFill/>
        </p:spPr>
        <p:txBody>
          <a:bodyPr wrap="square">
            <a:spAutoFit/>
          </a:bodyPr>
          <a:lstStyle/>
          <a:p>
            <a:pPr algn="ctr">
              <a:defRPr sz="1600">
                <a:solidFill>
                  <a:srgbClr val="FFFFFF"/>
                </a:solidFill>
              </a:defRPr>
            </a:pPr>
            <a:r>
              <a:t>Part 2</a:t>
            </a:r>
          </a:p>
        </p:txBody>
      </p:sp>
      <p:sp>
        <p:nvSpPr>
          <p:cNvPr id="3" name="TextBox 2"/>
          <p:cNvSpPr txBox="1"/>
          <p:nvPr/>
        </p:nvSpPr>
        <p:spPr>
          <a:xfrm>
            <a:off x="640080" y="3200400"/>
            <a:ext cx="6281927" cy="1371600"/>
          </a:xfrm>
          <a:prstGeom prst="rect">
            <a:avLst/>
          </a:prstGeom>
          <a:noFill/>
        </p:spPr>
        <p:txBody>
          <a:bodyPr wrap="square">
            <a:spAutoFit/>
          </a:bodyPr>
          <a:lstStyle/>
          <a:p>
            <a:pPr algn="ctr">
              <a:defRPr sz="4400" b="1">
                <a:solidFill>
                  <a:srgbClr val="FFFFFF"/>
                </a:solidFill>
              </a:defRPr>
            </a:pPr>
            <a:r>
              <a:t>The Diagnostic Conversation Kit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3200" b="1">
                <a:solidFill>
                  <a:srgbClr val="333333"/>
                </a:solidFill>
              </a:defRPr>
            </a:pPr>
            <a:r>
              <a:t>How to Diagnose the Real Problem</a:t>
            </a:r>
          </a:p>
        </p:txBody>
      </p:sp>
      <p:sp>
        <p:nvSpPr>
          <p:cNvPr id="3" name="TextBox 2"/>
          <p:cNvSpPr txBox="1"/>
          <p:nvPr/>
        </p:nvSpPr>
        <p:spPr>
          <a:xfrm>
            <a:off x="640080" y="1188720"/>
            <a:ext cx="6281927" cy="5212080"/>
          </a:xfrm>
          <a:prstGeom prst="rect">
            <a:avLst/>
          </a:prstGeom>
          <a:noFill/>
        </p:spPr>
        <p:txBody>
          <a:bodyPr wrap="square">
            <a:spAutoFit/>
          </a:bodyPr>
          <a:lstStyle/>
          <a:p>
            <a:pPr>
              <a:spcAft>
                <a:spcPts val="400"/>
              </a:spcAft>
              <a:defRPr sz="1200" b="1">
                <a:solidFill>
                  <a:srgbClr val="E07C3E"/>
                </a:solidFill>
              </a:defRPr>
            </a:pPr>
            <a:r>
              <a:t>Rule 1: Don't telegraph what you're looking for</a:t>
            </a:r>
          </a:p>
          <a:p>
            <a:pPr>
              <a:spcAft>
                <a:spcPts val="1000"/>
              </a:spcAft>
              <a:defRPr sz="1100">
                <a:solidFill>
                  <a:srgbClr val="333333"/>
                </a:solidFill>
              </a:defRPr>
            </a:pPr>
            <a:r>
              <a:t>Listen without bias; don't hint at the answer you want</a:t>
            </a:r>
          </a:p>
          <a:p>
            <a:pPr>
              <a:spcAft>
                <a:spcPts val="400"/>
              </a:spcAft>
              <a:defRPr sz="1200" b="1">
                <a:solidFill>
                  <a:srgbClr val="E07C3E"/>
                </a:solidFill>
              </a:defRPr>
            </a:pPr>
            <a:r>
              <a:t>Rule 2: Listen more than you talk (80/20)</a:t>
            </a:r>
          </a:p>
          <a:p>
            <a:pPr>
              <a:spcAft>
                <a:spcPts val="1000"/>
              </a:spcAft>
              <a:defRPr sz="1100">
                <a:solidFill>
                  <a:srgbClr val="333333"/>
                </a:solidFill>
              </a:defRPr>
            </a:pPr>
            <a:r>
              <a:t>Your job is to hear, not to solve</a:t>
            </a:r>
          </a:p>
          <a:p>
            <a:pPr>
              <a:spcAft>
                <a:spcPts val="400"/>
              </a:spcAft>
              <a:defRPr sz="1200" b="1">
                <a:solidFill>
                  <a:srgbClr val="E07C3E"/>
                </a:solidFill>
              </a:defRPr>
            </a:pPr>
            <a:r>
              <a:t>Rule 3: Name patterns, not individuals</a:t>
            </a:r>
          </a:p>
          <a:p>
            <a:pPr>
              <a:spcAft>
                <a:spcPts val="1000"/>
              </a:spcAft>
              <a:defRPr sz="1100">
                <a:solidFill>
                  <a:srgbClr val="333333"/>
                </a:solidFill>
              </a:defRPr>
            </a:pPr>
            <a:r>
              <a:t>Protect people; focus on systemic issues</a:t>
            </a:r>
          </a:p>
          <a:p>
            <a:pPr>
              <a:spcAft>
                <a:spcPts val="400"/>
              </a:spcAft>
              <a:defRPr sz="1200" b="1">
                <a:solidFill>
                  <a:srgbClr val="E07C3E"/>
                </a:solidFill>
              </a:defRPr>
            </a:pPr>
            <a:r>
              <a:t>Rule 4: Assume good intent</a:t>
            </a:r>
          </a:p>
          <a:p>
            <a:pPr>
              <a:spcAft>
                <a:spcPts val="1000"/>
              </a:spcAft>
              <a:defRPr sz="1100">
                <a:solidFill>
                  <a:srgbClr val="333333"/>
                </a:solidFill>
              </a:defRPr>
            </a:pPr>
            <a:r>
              <a:t>People aren't broken; the system might be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731520"/>
          </a:xfrm>
          <a:prstGeom prst="rect">
            <a:avLst/>
          </a:prstGeom>
          <a:noFill/>
        </p:spPr>
        <p:txBody>
          <a:bodyPr wrap="square">
            <a:spAutoFit/>
          </a:bodyPr>
          <a:lstStyle/>
          <a:p>
            <a:pPr algn="ctr">
              <a:defRPr sz="2800" b="1">
                <a:solidFill>
                  <a:srgbClr val="E07C3E"/>
                </a:solidFill>
              </a:defRPr>
            </a:pPr>
            <a:r>
              <a:t>Clarity: 10 Diagnostic Questions</a:t>
            </a:r>
          </a:p>
        </p:txBody>
      </p:sp>
      <p:sp>
        <p:nvSpPr>
          <p:cNvPr id="3" name="TextBox 2"/>
          <p:cNvSpPr txBox="1"/>
          <p:nvPr/>
        </p:nvSpPr>
        <p:spPr>
          <a:xfrm>
            <a:off x="640080" y="1280160"/>
            <a:ext cx="6281927" cy="5760720"/>
          </a:xfrm>
          <a:prstGeom prst="rect">
            <a:avLst/>
          </a:prstGeom>
          <a:noFill/>
        </p:spPr>
        <p:txBody>
          <a:bodyPr wrap="square">
            <a:spAutoFit/>
          </a:bodyPr>
          <a:lstStyle/>
          <a:p>
            <a:pPr>
              <a:spcAft>
                <a:spcPts val="400"/>
              </a:spcAft>
              <a:defRPr sz="1000">
                <a:solidFill>
                  <a:srgbClr val="333333"/>
                </a:solidFill>
              </a:defRPr>
            </a:pPr>
            <a:r>
              <a:t>1. What are the three most important things you're working on?</a:t>
            </a:r>
          </a:p>
          <a:p>
            <a:pPr>
              <a:spcAft>
                <a:spcPts val="400"/>
              </a:spcAft>
              <a:defRPr sz="1000">
                <a:solidFill>
                  <a:srgbClr val="333333"/>
                </a:solidFill>
              </a:defRPr>
            </a:pPr>
            <a:r>
              <a:t>2. Why do those things matter to the team or company?</a:t>
            </a:r>
          </a:p>
          <a:p>
            <a:pPr>
              <a:spcAft>
                <a:spcPts val="400"/>
              </a:spcAft>
              <a:defRPr sz="1000">
                <a:solidFill>
                  <a:srgbClr val="333333"/>
                </a:solidFill>
              </a:defRPr>
            </a:pPr>
            <a:r>
              <a:t>3. How do you know if you're doing a good job?</a:t>
            </a:r>
          </a:p>
          <a:p>
            <a:pPr>
              <a:spcAft>
                <a:spcPts val="400"/>
              </a:spcAft>
              <a:defRPr sz="1000">
                <a:solidFill>
                  <a:srgbClr val="333333"/>
                </a:solidFill>
              </a:defRPr>
            </a:pPr>
            <a:r>
              <a:t>4. What are you NOT working on, and why?</a:t>
            </a:r>
          </a:p>
          <a:p>
            <a:pPr>
              <a:spcAft>
                <a:spcPts val="400"/>
              </a:spcAft>
              <a:defRPr sz="1000">
                <a:solidFill>
                  <a:srgbClr val="333333"/>
                </a:solidFill>
              </a:defRPr>
            </a:pPr>
            <a:r>
              <a:t>5. If our priorities changed tomorrow, how would you know?</a:t>
            </a:r>
          </a:p>
          <a:p>
            <a:pPr>
              <a:spcAft>
                <a:spcPts val="400"/>
              </a:spcAft>
              <a:defRPr sz="1000">
                <a:solidFill>
                  <a:srgbClr val="333333"/>
                </a:solidFill>
              </a:defRPr>
            </a:pPr>
            <a:r>
              <a:t>6. What role do you think I want you to play on this team?</a:t>
            </a:r>
          </a:p>
          <a:p>
            <a:pPr>
              <a:spcAft>
                <a:spcPts val="400"/>
              </a:spcAft>
              <a:defRPr sz="1000">
                <a:solidFill>
                  <a:srgbClr val="333333"/>
                </a:solidFill>
              </a:defRPr>
            </a:pPr>
            <a:r>
              <a:t>7. Are there decisions you think I'm making that you disagree with?</a:t>
            </a:r>
          </a:p>
          <a:p>
            <a:pPr>
              <a:spcAft>
                <a:spcPts val="400"/>
              </a:spcAft>
              <a:defRPr sz="1000">
                <a:solidFill>
                  <a:srgbClr val="333333"/>
                </a:solidFill>
              </a:defRPr>
            </a:pPr>
            <a:r>
              <a:t>8. What's unclear to you right now about what we're doing?</a:t>
            </a:r>
          </a:p>
          <a:p>
            <a:pPr>
              <a:spcAft>
                <a:spcPts val="400"/>
              </a:spcAft>
              <a:defRPr sz="1000">
                <a:solidFill>
                  <a:srgbClr val="333333"/>
                </a:solidFill>
              </a:defRPr>
            </a:pPr>
            <a:r>
              <a:t>9. When I describe our team's priorities, does that match what you experience?</a:t>
            </a:r>
          </a:p>
          <a:p>
            <a:pPr>
              <a:spcAft>
                <a:spcPts val="400"/>
              </a:spcAft>
              <a:defRPr sz="1000">
                <a:solidFill>
                  <a:srgbClr val="333333"/>
                </a:solidFill>
              </a:defRPr>
            </a:pPr>
            <a:r>
              <a:t>10. Tell me one decision we made this quarter that confused you.</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2800" b="1">
                <a:solidFill>
                  <a:srgbClr val="E07C3E"/>
                </a:solidFill>
              </a:defRPr>
            </a:pPr>
            <a:r>
              <a:t>Energy: 9 Diagnostic Questions</a:t>
            </a:r>
          </a:p>
        </p:txBody>
      </p:sp>
      <p:sp>
        <p:nvSpPr>
          <p:cNvPr id="3" name="TextBox 2"/>
          <p:cNvSpPr txBox="1"/>
          <p:nvPr/>
        </p:nvSpPr>
        <p:spPr>
          <a:xfrm>
            <a:off x="640080" y="640080"/>
            <a:ext cx="6281927" cy="5760720"/>
          </a:xfrm>
          <a:prstGeom prst="rect">
            <a:avLst/>
          </a:prstGeom>
          <a:noFill/>
        </p:spPr>
        <p:txBody>
          <a:bodyPr wrap="square">
            <a:spAutoFit/>
          </a:bodyPr>
          <a:lstStyle/>
          <a:p>
            <a:pPr>
              <a:spcAft>
                <a:spcPts val="400"/>
              </a:spcAft>
              <a:defRPr sz="1000">
                <a:solidFill>
                  <a:srgbClr val="333333"/>
                </a:solidFill>
              </a:defRPr>
            </a:pPr>
            <a:r>
              <a:t>11. Rate your energy 1-10. What would make it one point higher?</a:t>
            </a:r>
          </a:p>
          <a:p>
            <a:pPr>
              <a:spcAft>
                <a:spcPts val="400"/>
              </a:spcAft>
              <a:defRPr sz="1000">
                <a:solidFill>
                  <a:srgbClr val="333333"/>
                </a:solidFill>
              </a:defRPr>
            </a:pPr>
            <a:r>
              <a:t>12. What drains you the most?</a:t>
            </a:r>
          </a:p>
          <a:p>
            <a:pPr>
              <a:spcAft>
                <a:spcPts val="400"/>
              </a:spcAft>
              <a:defRPr sz="1000">
                <a:solidFill>
                  <a:srgbClr val="333333"/>
                </a:solidFill>
              </a:defRPr>
            </a:pPr>
            <a:r>
              <a:t>13. When were you last genuinely excited about a piece of work?</a:t>
            </a:r>
          </a:p>
          <a:p>
            <a:pPr>
              <a:spcAft>
                <a:spcPts val="400"/>
              </a:spcAft>
              <a:defRPr sz="1000">
                <a:solidFill>
                  <a:srgbClr val="333333"/>
                </a:solidFill>
              </a:defRPr>
            </a:pPr>
            <a:r>
              <a:t>14. If I could remove one thing from your plate, what?</a:t>
            </a:r>
          </a:p>
          <a:p>
            <a:pPr>
              <a:spcAft>
                <a:spcPts val="400"/>
              </a:spcAft>
              <a:defRPr sz="1000">
                <a:solidFill>
                  <a:srgbClr val="333333"/>
                </a:solidFill>
              </a:defRPr>
            </a:pPr>
            <a:r>
              <a:t>15. How much time on value-creating work vs. work about work?</a:t>
            </a:r>
          </a:p>
          <a:p>
            <a:pPr>
              <a:spcAft>
                <a:spcPts val="400"/>
              </a:spcAft>
              <a:defRPr sz="1000">
                <a:solidFill>
                  <a:srgbClr val="333333"/>
                </a:solidFill>
              </a:defRPr>
            </a:pPr>
            <a:r>
              <a:t>16. Friday: accomplished or just relieved it's over?</a:t>
            </a:r>
          </a:p>
          <a:p>
            <a:pPr>
              <a:spcAft>
                <a:spcPts val="400"/>
              </a:spcAft>
              <a:defRPr sz="1000">
                <a:solidFill>
                  <a:srgbClr val="333333"/>
                </a:solidFill>
              </a:defRPr>
            </a:pPr>
            <a:r>
              <a:t>17. Recurring frustrations you've stopped bringing up?</a:t>
            </a:r>
          </a:p>
          <a:p>
            <a:pPr>
              <a:spcAft>
                <a:spcPts val="400"/>
              </a:spcAft>
              <a:defRPr sz="1000">
                <a:solidFill>
                  <a:srgbClr val="333333"/>
                </a:solidFill>
              </a:defRPr>
            </a:pPr>
            <a:r>
              <a:t>18. List every recurring meeting—what if we stopped each one?</a:t>
            </a:r>
          </a:p>
          <a:p>
            <a:pPr>
              <a:spcAft>
                <a:spcPts val="400"/>
              </a:spcAft>
              <a:defRPr sz="1000">
                <a:solidFill>
                  <a:srgbClr val="333333"/>
                </a:solidFill>
              </a:defRPr>
            </a:pPr>
            <a:r>
              <a:t>19. One process nobody would miss if it disappeared?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2800" b="1">
                <a:solidFill>
                  <a:srgbClr val="E07C3E"/>
                </a:solidFill>
              </a:defRPr>
            </a:pPr>
            <a:r>
              <a:t>Trust: 9 Diagnostic Questions</a:t>
            </a:r>
          </a:p>
        </p:txBody>
      </p:sp>
      <p:sp>
        <p:nvSpPr>
          <p:cNvPr id="3" name="TextBox 2"/>
          <p:cNvSpPr txBox="1"/>
          <p:nvPr/>
        </p:nvSpPr>
        <p:spPr>
          <a:xfrm>
            <a:off x="640080" y="640080"/>
            <a:ext cx="6281927" cy="5760720"/>
          </a:xfrm>
          <a:prstGeom prst="rect">
            <a:avLst/>
          </a:prstGeom>
          <a:noFill/>
        </p:spPr>
        <p:txBody>
          <a:bodyPr wrap="square">
            <a:spAutoFit/>
          </a:bodyPr>
          <a:lstStyle/>
          <a:p>
            <a:pPr>
              <a:spcAft>
                <a:spcPts val="400"/>
              </a:spcAft>
              <a:defRPr sz="1000">
                <a:solidFill>
                  <a:srgbClr val="333333"/>
                </a:solidFill>
              </a:defRPr>
            </a:pPr>
            <a:r>
              <a:t>20. Last time you disagreed openly on the team? How did it go?</a:t>
            </a:r>
          </a:p>
          <a:p>
            <a:pPr>
              <a:spcAft>
                <a:spcPts val="400"/>
              </a:spcAft>
              <a:defRPr sz="1000">
                <a:solidFill>
                  <a:srgbClr val="333333"/>
                </a:solidFill>
              </a:defRPr>
            </a:pPr>
            <a:r>
              <a:t>21. Anything about how the team works that frustrates you but you haven't brought up?</a:t>
            </a:r>
          </a:p>
          <a:p>
            <a:pPr>
              <a:spcAft>
                <a:spcPts val="400"/>
              </a:spcAft>
              <a:defRPr sz="1000">
                <a:solidFill>
                  <a:srgbClr val="333333"/>
                </a:solidFill>
              </a:defRPr>
            </a:pPr>
            <a:r>
              <a:t>22. If you made a significant mistake this week, what would happen?</a:t>
            </a:r>
          </a:p>
          <a:p>
            <a:pPr>
              <a:spcAft>
                <a:spcPts val="400"/>
              </a:spcAft>
              <a:defRPr sz="1000">
                <a:solidFill>
                  <a:srgbClr val="333333"/>
                </a:solidFill>
              </a:defRPr>
            </a:pPr>
            <a:r>
              <a:t>23. Who do you go to when stuck? Who do you avoid?</a:t>
            </a:r>
          </a:p>
          <a:p>
            <a:pPr>
              <a:spcAft>
                <a:spcPts val="400"/>
              </a:spcAft>
              <a:defRPr sz="1000">
                <a:solidFill>
                  <a:srgbClr val="333333"/>
                </a:solidFill>
              </a:defRPr>
            </a:pPr>
            <a:r>
              <a:t>24. One thing I've done recently that wasn't helpful?</a:t>
            </a:r>
          </a:p>
          <a:p>
            <a:pPr>
              <a:spcAft>
                <a:spcPts val="400"/>
              </a:spcAft>
              <a:defRPr sz="1000">
                <a:solidFill>
                  <a:srgbClr val="333333"/>
                </a:solidFill>
              </a:defRPr>
            </a:pPr>
            <a:r>
              <a:t>25. When decisions affect you, is your input genuinely considered?</a:t>
            </a:r>
          </a:p>
          <a:p>
            <a:pPr>
              <a:spcAft>
                <a:spcPts val="400"/>
              </a:spcAft>
              <a:defRPr sz="1000">
                <a:solidFill>
                  <a:srgbClr val="333333"/>
                </a:solidFill>
              </a:defRPr>
            </a:pPr>
            <a:r>
              <a:t>26. Comfortable sharing bad news early, or wait until you have a solution?</a:t>
            </a:r>
          </a:p>
          <a:p>
            <a:pPr>
              <a:spcAft>
                <a:spcPts val="400"/>
              </a:spcAft>
              <a:defRPr sz="1000">
                <a:solidFill>
                  <a:srgbClr val="333333"/>
                </a:solidFill>
              </a:defRPr>
            </a:pPr>
            <a:r>
              <a:t>27. What is our team pretending is not a problem?</a:t>
            </a:r>
          </a:p>
          <a:p>
            <a:pPr>
              <a:spcAft>
                <a:spcPts val="400"/>
              </a:spcAft>
              <a:defRPr sz="1000">
                <a:solidFill>
                  <a:srgbClr val="333333"/>
                </a:solidFill>
              </a:defRPr>
            </a:pPr>
            <a:r>
              <a:t>28. Scale 1-5, how honest are our retrospectives?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2800" b="1">
                <a:solidFill>
                  <a:srgbClr val="E07C3E"/>
                </a:solidFill>
              </a:defRPr>
            </a:pPr>
            <a:r>
              <a:t>Alignment &amp; Growth: 16 Diagnostic Questions</a:t>
            </a:r>
          </a:p>
        </p:txBody>
      </p:sp>
      <p:sp>
        <p:nvSpPr>
          <p:cNvPr id="3" name="TextBox 2"/>
          <p:cNvSpPr txBox="1"/>
          <p:nvPr/>
        </p:nvSpPr>
        <p:spPr>
          <a:xfrm>
            <a:off x="640080" y="640080"/>
            <a:ext cx="2743200" cy="5760720"/>
          </a:xfrm>
          <a:prstGeom prst="rect">
            <a:avLst/>
          </a:prstGeom>
          <a:noFill/>
        </p:spPr>
        <p:txBody>
          <a:bodyPr wrap="square">
            <a:spAutoFit/>
          </a:bodyPr>
          <a:lstStyle/>
          <a:p>
            <a:pPr>
              <a:spcAft>
                <a:spcPts val="600"/>
              </a:spcAft>
              <a:defRPr sz="1200" b="1">
                <a:solidFill>
                  <a:srgbClr val="E07C3E"/>
                </a:solidFill>
              </a:defRPr>
            </a:pPr>
            <a:r>
              <a:t>Alignment (29-35)</a:t>
            </a:r>
          </a:p>
          <a:p>
            <a:pPr>
              <a:spcAft>
                <a:spcPts val="300"/>
              </a:spcAft>
              <a:defRPr sz="900">
                <a:solidFill>
                  <a:srgbClr val="333333"/>
                </a:solidFill>
              </a:defRPr>
            </a:pPr>
            <a:r>
              <a:t>29. What's our biggest bet right now? Is it right?</a:t>
            </a:r>
          </a:p>
          <a:p>
            <a:pPr>
              <a:spcAft>
                <a:spcPts val="300"/>
              </a:spcAft>
              <a:defRPr sz="900">
                <a:solidFill>
                  <a:srgbClr val="333333"/>
                </a:solidFill>
              </a:defRPr>
            </a:pPr>
            <a:r>
              <a:t>30. A project we should stop doing?</a:t>
            </a:r>
          </a:p>
          <a:p>
            <a:pPr>
              <a:spcAft>
                <a:spcPts val="300"/>
              </a:spcAft>
              <a:defRPr sz="900">
                <a:solidFill>
                  <a:srgbClr val="333333"/>
                </a:solidFill>
              </a:defRPr>
            </a:pPr>
            <a:r>
              <a:t>31. Do you understand why other teams make decisions affecting us?</a:t>
            </a:r>
          </a:p>
          <a:p>
            <a:pPr>
              <a:spcAft>
                <a:spcPts val="300"/>
              </a:spcAft>
              <a:defRPr sz="900">
                <a:solidFill>
                  <a:srgbClr val="333333"/>
                </a:solidFill>
              </a:defRPr>
            </a:pPr>
            <a:r>
              <a:t>32. If CEO asked what we're achieving this quarter, what would you say?</a:t>
            </a:r>
          </a:p>
          <a:p>
            <a:pPr>
              <a:spcAft>
                <a:spcPts val="300"/>
              </a:spcAft>
              <a:defRPr sz="900">
                <a:solidFill>
                  <a:srgbClr val="333333"/>
                </a:solidFill>
              </a:defRPr>
            </a:pPr>
            <a:r>
              <a:t>33. A trade-off we made that you disagree with?</a:t>
            </a:r>
          </a:p>
          <a:p>
            <a:pPr>
              <a:spcAft>
                <a:spcPts val="300"/>
              </a:spcAft>
              <a:defRPr sz="900">
                <a:solidFill>
                  <a:srgbClr val="333333"/>
                </a:solidFill>
              </a:defRPr>
            </a:pPr>
            <a:r>
              <a:t>34. Map what each person thinks top priority is vs. actual time spent</a:t>
            </a:r>
          </a:p>
          <a:p>
            <a:pPr>
              <a:spcAft>
                <a:spcPts val="300"/>
              </a:spcAft>
              <a:defRPr sz="900">
                <a:solidFill>
                  <a:srgbClr val="333333"/>
                </a:solidFill>
              </a:defRPr>
            </a:pPr>
            <a:r>
              <a:t>35. Dependencies on other teams—are they working smoothly?</a:t>
            </a:r>
          </a:p>
        </p:txBody>
      </p:sp>
      <p:sp>
        <p:nvSpPr>
          <p:cNvPr id="4" name="TextBox 3"/>
          <p:cNvSpPr txBox="1"/>
          <p:nvPr/>
        </p:nvSpPr>
        <p:spPr>
          <a:xfrm>
            <a:off x="3931920" y="640080"/>
            <a:ext cx="2990088" cy="5760720"/>
          </a:xfrm>
          <a:prstGeom prst="rect">
            <a:avLst/>
          </a:prstGeom>
          <a:noFill/>
        </p:spPr>
        <p:txBody>
          <a:bodyPr wrap="square">
            <a:spAutoFit/>
          </a:bodyPr>
          <a:lstStyle/>
          <a:p>
            <a:pPr>
              <a:spcAft>
                <a:spcPts val="600"/>
              </a:spcAft>
              <a:defRPr sz="1200" b="1">
                <a:solidFill>
                  <a:srgbClr val="E07C3E"/>
                </a:solidFill>
              </a:defRPr>
            </a:pPr>
            <a:r>
              <a:t>Growth (36-44)</a:t>
            </a:r>
          </a:p>
          <a:p>
            <a:pPr>
              <a:spcAft>
                <a:spcPts val="300"/>
              </a:spcAft>
              <a:defRPr sz="900">
                <a:solidFill>
                  <a:srgbClr val="333333"/>
                </a:solidFill>
              </a:defRPr>
            </a:pPr>
            <a:r>
              <a:t>36. One skill developed in the last six months?</a:t>
            </a:r>
          </a:p>
          <a:p>
            <a:pPr>
              <a:spcAft>
                <a:spcPts val="300"/>
              </a:spcAft>
              <a:defRPr sz="900">
                <a:solidFill>
                  <a:srgbClr val="333333"/>
                </a:solidFill>
              </a:defRPr>
            </a:pPr>
            <a:r>
              <a:t>37. Where do you see yourself in two years?</a:t>
            </a:r>
          </a:p>
          <a:p>
            <a:pPr>
              <a:spcAft>
                <a:spcPts val="300"/>
              </a:spcAft>
              <a:defRPr sz="900">
                <a:solidFill>
                  <a:srgbClr val="333333"/>
                </a:solidFill>
              </a:defRPr>
            </a:pPr>
            <a:r>
              <a:t>38. Last thing you failed at? What did you learn?</a:t>
            </a:r>
          </a:p>
          <a:p>
            <a:pPr>
              <a:spcAft>
                <a:spcPts val="300"/>
              </a:spcAft>
              <a:defRPr sz="900">
                <a:solidFill>
                  <a:srgbClr val="333333"/>
                </a:solidFill>
              </a:defRPr>
            </a:pPr>
            <a:r>
              <a:t>39. Someone whose job you'd like to learn more about?</a:t>
            </a:r>
          </a:p>
          <a:p>
            <a:pPr>
              <a:spcAft>
                <a:spcPts val="300"/>
              </a:spcAft>
              <a:defRPr sz="900">
                <a:solidFill>
                  <a:srgbClr val="333333"/>
                </a:solidFill>
              </a:defRPr>
            </a:pPr>
            <a:r>
              <a:t>40. If you could redesign your role—add, remove, change?</a:t>
            </a:r>
          </a:p>
          <a:p>
            <a:pPr>
              <a:spcAft>
                <a:spcPts val="300"/>
              </a:spcAft>
              <a:defRPr sz="900">
                <a:solidFill>
                  <a:srgbClr val="333333"/>
                </a:solidFill>
              </a:defRPr>
            </a:pPr>
            <a:r>
              <a:t>41. Growing faster, slower, or same as six months ago?</a:t>
            </a:r>
          </a:p>
          <a:p>
            <a:pPr>
              <a:spcAft>
                <a:spcPts val="300"/>
              </a:spcAft>
              <a:defRPr sz="900">
                <a:solidFill>
                  <a:srgbClr val="333333"/>
                </a:solidFill>
              </a:defRPr>
            </a:pPr>
            <a:r>
              <a:t>42. One thing I could do to better support your development?</a:t>
            </a:r>
          </a:p>
          <a:p>
            <a:pPr>
              <a:spcAft>
                <a:spcPts val="300"/>
              </a:spcAft>
              <a:defRPr sz="900">
                <a:solidFill>
                  <a:srgbClr val="333333"/>
                </a:solidFill>
              </a:defRPr>
            </a:pPr>
            <a:r>
              <a:t>43. If we could invest in one team-wide capability?</a:t>
            </a:r>
          </a:p>
          <a:p>
            <a:pPr>
              <a:spcAft>
                <a:spcPts val="300"/>
              </a:spcAft>
              <a:defRPr sz="900">
                <a:solidFill>
                  <a:srgbClr val="333333"/>
                </a:solidFill>
              </a:defRPr>
            </a:pPr>
            <a:r>
              <a:t>44. Who has grown the most this quarter? What enabled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2800" b="1">
                <a:solidFill>
                  <a:srgbClr val="E07C3E"/>
                </a:solidFill>
              </a:defRPr>
            </a:pPr>
            <a:r>
              <a:t>Red Flags by Dimension</a:t>
            </a:r>
          </a:p>
        </p:txBody>
      </p:sp>
      <p:sp>
        <p:nvSpPr>
          <p:cNvPr id="3" name="TextBox 2"/>
          <p:cNvSpPr txBox="1"/>
          <p:nvPr/>
        </p:nvSpPr>
        <p:spPr>
          <a:xfrm>
            <a:off x="640080" y="640080"/>
            <a:ext cx="6281927" cy="5760720"/>
          </a:xfrm>
          <a:prstGeom prst="rect">
            <a:avLst/>
          </a:prstGeom>
          <a:noFill/>
        </p:spPr>
        <p:txBody>
          <a:bodyPr wrap="square">
            <a:spAutoFit/>
          </a:bodyPr>
          <a:lstStyle/>
          <a:p>
            <a:pPr>
              <a:spcAft>
                <a:spcPts val="200"/>
              </a:spcAft>
              <a:defRPr sz="1100" b="1">
                <a:solidFill>
                  <a:srgbClr val="E07C3E"/>
                </a:solidFill>
              </a:defRPr>
            </a:pPr>
            <a:r>
              <a:t>Clarity:</a:t>
            </a:r>
          </a:p>
          <a:p>
            <a:pPr>
              <a:spcAft>
                <a:spcPts val="600"/>
              </a:spcAft>
              <a:defRPr sz="1000">
                <a:solidFill>
                  <a:srgbClr val="333333"/>
                </a:solidFill>
              </a:defRPr>
            </a:pPr>
            <a:r>
              <a:t>Can't articulate what they're working on, Same questions asked repeatedly, People asking for permission unnecessarily</a:t>
            </a:r>
          </a:p>
          <a:p>
            <a:pPr>
              <a:spcAft>
                <a:spcPts val="200"/>
              </a:spcAft>
              <a:defRPr sz="1100" b="1">
                <a:solidFill>
                  <a:srgbClr val="E07C3E"/>
                </a:solidFill>
              </a:defRPr>
            </a:pPr>
            <a:r>
              <a:t>Energy:</a:t>
            </a:r>
          </a:p>
          <a:p>
            <a:pPr>
              <a:spcAft>
                <a:spcPts val="600"/>
              </a:spcAft>
              <a:defRPr sz="1000">
                <a:solidFill>
                  <a:srgbClr val="333333"/>
                </a:solidFill>
              </a:defRPr>
            </a:pPr>
            <a:r>
              <a:t>Camera-off culture, LinkedIn updates increasing, 'It is what it is' resignation, Nobody volunteers</a:t>
            </a:r>
          </a:p>
          <a:p>
            <a:pPr>
              <a:spcAft>
                <a:spcPts val="200"/>
              </a:spcAft>
              <a:defRPr sz="1100" b="1">
                <a:solidFill>
                  <a:srgbClr val="E07C3E"/>
                </a:solidFill>
              </a:defRPr>
            </a:pPr>
            <a:r>
              <a:t>Trust:</a:t>
            </a:r>
          </a:p>
          <a:p>
            <a:pPr>
              <a:spcAft>
                <a:spcPts val="600"/>
              </a:spcAft>
              <a:defRPr sz="1000">
                <a:solidFill>
                  <a:srgbClr val="333333"/>
                </a:solidFill>
              </a:defRPr>
            </a:pPr>
            <a:r>
              <a:t>Meeting after the meeting, CYA (Cover Your Ass) behavior: creating paper trails for self-protection, Increased CC culture, Side conversations</a:t>
            </a:r>
          </a:p>
          <a:p>
            <a:pPr>
              <a:spcAft>
                <a:spcPts val="200"/>
              </a:spcAft>
              <a:defRPr sz="1100" b="1">
                <a:solidFill>
                  <a:srgbClr val="E07C3E"/>
                </a:solidFill>
              </a:defRPr>
            </a:pPr>
            <a:r>
              <a:t>Alignment:</a:t>
            </a:r>
          </a:p>
          <a:p>
            <a:pPr>
              <a:spcAft>
                <a:spcPts val="600"/>
              </a:spcAft>
              <a:defRPr sz="1000">
                <a:solidFill>
                  <a:srgbClr val="333333"/>
                </a:solidFill>
              </a:defRPr>
            </a:pPr>
            <a:r>
              <a:t>Different priorities from different people, Calendar fills with 'alignment meetings', Local optimization over global, Priorities shift without explanation</a:t>
            </a:r>
          </a:p>
          <a:p>
            <a:pPr>
              <a:spcAft>
                <a:spcPts val="200"/>
              </a:spcAft>
              <a:defRPr sz="1100" b="1">
                <a:solidFill>
                  <a:srgbClr val="E07C3E"/>
                </a:solidFill>
              </a:defRPr>
            </a:pPr>
            <a:r>
              <a:t>Growth:</a:t>
            </a:r>
          </a:p>
          <a:p>
            <a:pPr>
              <a:spcAft>
                <a:spcPts val="600"/>
              </a:spcAft>
              <a:defRPr sz="1000">
                <a:solidFill>
                  <a:srgbClr val="333333"/>
                </a:solidFill>
              </a:defRPr>
            </a:pPr>
            <a:r>
              <a:t>High performer hasn't taken on new challenge in 6+ months, Development only happens in review cycles, Homogeneous team, Junior people stalled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2800" b="1">
                <a:solidFill>
                  <a:srgbClr val="E07C3E"/>
                </a:solidFill>
              </a:defRPr>
            </a:pPr>
            <a:r>
              <a:t>Red Flag Severity Matrix</a:t>
            </a:r>
          </a:p>
        </p:txBody>
      </p:sp>
      <p:graphicFrame>
        <p:nvGraphicFramePr>
          <p:cNvPr id="3" name="Table 2"/>
          <p:cNvGraphicFramePr>
            <a:graphicFrameLocks noGrp="1"/>
          </p:cNvGraphicFramePr>
          <p:nvPr/>
        </p:nvGraphicFramePr>
        <p:xfrm>
          <a:off x="640080" y="1005840"/>
          <a:ext cx="6272782" cy="5303520"/>
        </p:xfrm>
        <a:graphic>
          <a:graphicData uri="http://schemas.openxmlformats.org/drawingml/2006/table">
            <a:tbl>
              <a:tblPr firstRow="1" bandRow="1">
                <a:tableStyleId>{5C22544A-7EE6-4342-B048-85BDC9FD1C3A}</a:tableStyleId>
              </a:tblPr>
              <a:tblGrid>
                <a:gridCol w="941832"/>
                <a:gridCol w="1655064"/>
                <a:gridCol w="1837943"/>
                <a:gridCol w="1837943"/>
              </a:tblGrid>
              <a:tr h="1060704">
                <a:tc>
                  <a:txBody>
                    <a:bodyPr/>
                    <a:lstStyle/>
                    <a:p>
                      <a:r>
                        <a:rPr b="1" sz="1000">
                          <a:solidFill>
                            <a:srgbClr val="FFFFFF"/>
                          </a:solidFill>
                        </a:rPr>
                        <a:t>Severity</a:t>
                      </a:r>
                    </a:p>
                  </a:txBody>
                  <a:tcPr>
                    <a:solidFill>
                      <a:srgbClr val="E07C3E"/>
                    </a:solidFill>
                  </a:tcPr>
                </a:tc>
                <a:tc>
                  <a:txBody>
                    <a:bodyPr/>
                    <a:lstStyle/>
                    <a:p>
                      <a:r>
                        <a:rPr b="1" sz="1000">
                          <a:solidFill>
                            <a:srgbClr val="FFFFFF"/>
                          </a:solidFill>
                        </a:rPr>
                        <a:t>Description</a:t>
                      </a:r>
                    </a:p>
                  </a:txBody>
                  <a:tcPr>
                    <a:solidFill>
                      <a:srgbClr val="E07C3E"/>
                    </a:solidFill>
                  </a:tcPr>
                </a:tc>
                <a:tc>
                  <a:txBody>
                    <a:bodyPr/>
                    <a:lstStyle/>
                    <a:p>
                      <a:r>
                        <a:rPr b="1" sz="1000">
                          <a:solidFill>
                            <a:srgbClr val="FFFFFF"/>
                          </a:solidFill>
                        </a:rPr>
                        <a:t>Timeline</a:t>
                      </a:r>
                    </a:p>
                  </a:txBody>
                  <a:tcPr>
                    <a:solidFill>
                      <a:srgbClr val="E07C3E"/>
                    </a:solidFill>
                  </a:tcPr>
                </a:tc>
                <a:tc>
                  <a:txBody>
                    <a:bodyPr/>
                    <a:lstStyle/>
                    <a:p>
                      <a:r>
                        <a:rPr b="1" sz="1000">
                          <a:solidFill>
                            <a:srgbClr val="FFFFFF"/>
                          </a:solidFill>
                        </a:rPr>
                        <a:t>Example</a:t>
                      </a:r>
                    </a:p>
                  </a:txBody>
                  <a:tcPr>
                    <a:solidFill>
                      <a:srgbClr val="E07C3E"/>
                    </a:solidFill>
                  </a:tcPr>
                </a:tc>
              </a:tr>
              <a:tr h="1060704">
                <a:tc>
                  <a:txBody>
                    <a:bodyPr/>
                    <a:lstStyle/>
                    <a:p>
                      <a:r>
                        <a:rPr sz="900">
                          <a:solidFill>
                            <a:srgbClr val="333333"/>
                          </a:solidFill>
                        </a:rPr>
                        <a:t>Monitor</a:t>
                      </a:r>
                    </a:p>
                  </a:txBody>
                  <a:tcPr>
                    <a:solidFill>
                      <a:srgbClr val="FFFFFF"/>
                    </a:solidFill>
                  </a:tcPr>
                </a:tc>
                <a:tc>
                  <a:txBody>
                    <a:bodyPr/>
                    <a:lstStyle/>
                    <a:p>
                      <a:r>
                        <a:rPr sz="900">
                          <a:solidFill>
                            <a:srgbClr val="333333"/>
                          </a:solidFill>
                        </a:rPr>
                        <a:t>Early signal</a:t>
                      </a:r>
                    </a:p>
                  </a:txBody>
                  <a:tcPr>
                    <a:solidFill>
                      <a:srgbClr val="FFFFFF"/>
                    </a:solidFill>
                  </a:tcPr>
                </a:tc>
                <a:tc>
                  <a:txBody>
                    <a:bodyPr/>
                    <a:lstStyle/>
                    <a:p>
                      <a:r>
                        <a:rPr sz="900">
                          <a:solidFill>
                            <a:srgbClr val="333333"/>
                          </a:solidFill>
                        </a:rPr>
                        <a:t>30 days</a:t>
                      </a:r>
                    </a:p>
                  </a:txBody>
                  <a:tcPr>
                    <a:solidFill>
                      <a:srgbClr val="FFFFFF"/>
                    </a:solidFill>
                  </a:tcPr>
                </a:tc>
                <a:tc>
                  <a:txBody>
                    <a:bodyPr/>
                    <a:lstStyle/>
                    <a:p>
                      <a:r>
                        <a:rPr sz="900">
                          <a:solidFill>
                            <a:srgbClr val="333333"/>
                          </a:solidFill>
                        </a:rPr>
                        <a:t>Camera-off culture emerging</a:t>
                      </a:r>
                    </a:p>
                  </a:txBody>
                  <a:tcPr>
                    <a:solidFill>
                      <a:srgbClr val="FFFFFF"/>
                    </a:solidFill>
                  </a:tcPr>
                </a:tc>
              </a:tr>
              <a:tr h="1060704">
                <a:tc>
                  <a:txBody>
                    <a:bodyPr/>
                    <a:lstStyle/>
                    <a:p>
                      <a:r>
                        <a:rPr sz="900">
                          <a:solidFill>
                            <a:srgbClr val="333333"/>
                          </a:solidFill>
                        </a:rPr>
                        <a:t>Attention</a:t>
                      </a:r>
                    </a:p>
                  </a:txBody>
                  <a:tcPr>
                    <a:solidFill>
                      <a:srgbClr val="F5F5F5"/>
                    </a:solidFill>
                  </a:tcPr>
                </a:tc>
                <a:tc>
                  <a:txBody>
                    <a:bodyPr/>
                    <a:lstStyle/>
                    <a:p>
                      <a:r>
                        <a:rPr sz="900">
                          <a:solidFill>
                            <a:srgbClr val="333333"/>
                          </a:solidFill>
                        </a:rPr>
                        <a:t>Pattern forming</a:t>
                      </a:r>
                    </a:p>
                  </a:txBody>
                  <a:tcPr>
                    <a:solidFill>
                      <a:srgbClr val="F5F5F5"/>
                    </a:solidFill>
                  </a:tcPr>
                </a:tc>
                <a:tc>
                  <a:txBody>
                    <a:bodyPr/>
                    <a:lstStyle/>
                    <a:p>
                      <a:r>
                        <a:rPr sz="900">
                          <a:solidFill>
                            <a:srgbClr val="333333"/>
                          </a:solidFill>
                        </a:rPr>
                        <a:t>2 weeks</a:t>
                      </a:r>
                    </a:p>
                  </a:txBody>
                  <a:tcPr>
                    <a:solidFill>
                      <a:srgbClr val="F5F5F5"/>
                    </a:solidFill>
                  </a:tcPr>
                </a:tc>
                <a:tc>
                  <a:txBody>
                    <a:bodyPr/>
                    <a:lstStyle/>
                    <a:p>
                      <a:r>
                        <a:rPr sz="900">
                          <a:solidFill>
                            <a:srgbClr val="333333"/>
                          </a:solidFill>
                        </a:rPr>
                        <a:t>Best performer updating LinkedIn</a:t>
                      </a:r>
                    </a:p>
                  </a:txBody>
                  <a:tcPr>
                    <a:solidFill>
                      <a:srgbClr val="F5F5F5"/>
                    </a:solidFill>
                  </a:tcPr>
                </a:tc>
              </a:tr>
              <a:tr h="1060704">
                <a:tc>
                  <a:txBody>
                    <a:bodyPr/>
                    <a:lstStyle/>
                    <a:p>
                      <a:r>
                        <a:rPr sz="900">
                          <a:solidFill>
                            <a:srgbClr val="333333"/>
                          </a:solidFill>
                        </a:rPr>
                        <a:t>Urgent</a:t>
                      </a:r>
                    </a:p>
                  </a:txBody>
                  <a:tcPr>
                    <a:solidFill>
                      <a:srgbClr val="FFFFFF"/>
                    </a:solidFill>
                  </a:tcPr>
                </a:tc>
                <a:tc>
                  <a:txBody>
                    <a:bodyPr/>
                    <a:lstStyle/>
                    <a:p>
                      <a:r>
                        <a:rPr sz="900">
                          <a:solidFill>
                            <a:srgbClr val="333333"/>
                          </a:solidFill>
                        </a:rPr>
                        <a:t>Active degradation</a:t>
                      </a:r>
                    </a:p>
                  </a:txBody>
                  <a:tcPr>
                    <a:solidFill>
                      <a:srgbClr val="FFFFFF"/>
                    </a:solidFill>
                  </a:tcPr>
                </a:tc>
                <a:tc>
                  <a:txBody>
                    <a:bodyPr/>
                    <a:lstStyle/>
                    <a:p>
                      <a:r>
                        <a:rPr sz="900">
                          <a:solidFill>
                            <a:srgbClr val="333333"/>
                          </a:solidFill>
                        </a:rPr>
                        <a:t>1 week</a:t>
                      </a:r>
                    </a:p>
                  </a:txBody>
                  <a:tcPr>
                    <a:solidFill>
                      <a:srgbClr val="FFFFFF"/>
                    </a:solidFill>
                  </a:tcPr>
                </a:tc>
                <a:tc>
                  <a:txBody>
                    <a:bodyPr/>
                    <a:lstStyle/>
                    <a:p>
                      <a:r>
                        <a:rPr sz="900">
                          <a:solidFill>
                            <a:srgbClr val="333333"/>
                          </a:solidFill>
                        </a:rPr>
                        <a:t>Cross-functional collaboration breaking</a:t>
                      </a:r>
                    </a:p>
                  </a:txBody>
                  <a:tcPr>
                    <a:solidFill>
                      <a:srgbClr val="FFFFFF"/>
                    </a:solidFill>
                  </a:tcPr>
                </a:tc>
              </a:tr>
              <a:tr h="1060704">
                <a:tc>
                  <a:txBody>
                    <a:bodyPr/>
                    <a:lstStyle/>
                    <a:p>
                      <a:r>
                        <a:rPr sz="900">
                          <a:solidFill>
                            <a:srgbClr val="333333"/>
                          </a:solidFill>
                        </a:rPr>
                        <a:t>Critical</a:t>
                      </a:r>
                    </a:p>
                  </a:txBody>
                  <a:tcPr>
                    <a:solidFill>
                      <a:srgbClr val="F5F5F5"/>
                    </a:solidFill>
                  </a:tcPr>
                </a:tc>
                <a:tc>
                  <a:txBody>
                    <a:bodyPr/>
                    <a:lstStyle/>
                    <a:p>
                      <a:r>
                        <a:rPr sz="900">
                          <a:solidFill>
                            <a:srgbClr val="333333"/>
                          </a:solidFill>
                        </a:rPr>
                        <a:t>Team dysfunction</a:t>
                      </a:r>
                    </a:p>
                  </a:txBody>
                  <a:tcPr>
                    <a:solidFill>
                      <a:srgbClr val="F5F5F5"/>
                    </a:solidFill>
                  </a:tcPr>
                </a:tc>
                <a:tc>
                  <a:txBody>
                    <a:bodyPr/>
                    <a:lstStyle/>
                    <a:p>
                      <a:r>
                        <a:rPr sz="900">
                          <a:solidFill>
                            <a:srgbClr val="333333"/>
                          </a:solidFill>
                        </a:rPr>
                        <a:t>Immediately</a:t>
                      </a:r>
                    </a:p>
                  </a:txBody>
                  <a:tcPr>
                    <a:solidFill>
                      <a:srgbClr val="F5F5F5"/>
                    </a:solidFill>
                  </a:tcPr>
                </a:tc>
                <a:tc>
                  <a:txBody>
                    <a:bodyPr/>
                    <a:lstStyle/>
                    <a:p>
                      <a:r>
                        <a:rPr sz="900">
                          <a:solidFill>
                            <a:srgbClr val="333333"/>
                          </a:solidFill>
                        </a:rPr>
                        <a:t>Key people threatening to quit</a:t>
                      </a:r>
                    </a:p>
                  </a:txBody>
                  <a:tcPr>
                    <a:solidFill>
                      <a:srgbClr val="F5F5F5"/>
                    </a:solidFill>
                  </a:tcPr>
                </a:tc>
              </a:tr>
            </a:tbl>
          </a:graphicData>
        </a:graphic>
      </p:graphicFrame>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2286000"/>
            <a:ext cx="6281927" cy="731520"/>
          </a:xfrm>
          <a:prstGeom prst="rect">
            <a:avLst/>
          </a:prstGeom>
          <a:noFill/>
        </p:spPr>
        <p:txBody>
          <a:bodyPr wrap="square">
            <a:spAutoFit/>
          </a:bodyPr>
          <a:lstStyle/>
          <a:p>
            <a:pPr algn="ctr">
              <a:defRPr sz="1600">
                <a:solidFill>
                  <a:srgbClr val="FFFFFF"/>
                </a:solidFill>
              </a:defRPr>
            </a:pPr>
            <a:r>
              <a:t>Part 3</a:t>
            </a:r>
          </a:p>
        </p:txBody>
      </p:sp>
      <p:sp>
        <p:nvSpPr>
          <p:cNvPr id="3" name="TextBox 2"/>
          <p:cNvSpPr txBox="1"/>
          <p:nvPr/>
        </p:nvSpPr>
        <p:spPr>
          <a:xfrm>
            <a:off x="640080" y="3200400"/>
            <a:ext cx="6281927" cy="1371600"/>
          </a:xfrm>
          <a:prstGeom prst="rect">
            <a:avLst/>
          </a:prstGeom>
          <a:noFill/>
        </p:spPr>
        <p:txBody>
          <a:bodyPr wrap="square">
            <a:spAutoFit/>
          </a:bodyPr>
          <a:lstStyle/>
          <a:p>
            <a:pPr algn="ctr">
              <a:defRPr sz="4400" b="1">
                <a:solidFill>
                  <a:srgbClr val="FFFFFF"/>
                </a:solidFill>
              </a:defRPr>
            </a:pPr>
            <a:r>
              <a:t>Action Playbooks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3200" b="1">
                <a:solidFill>
                  <a:srgbClr val="E07C3E"/>
                </a:solidFill>
              </a:defRPr>
            </a:pPr>
            <a:r>
              <a:t>Playbook 1: The Silent Team</a:t>
            </a:r>
          </a:p>
        </p:txBody>
      </p:sp>
      <p:sp>
        <p:nvSpPr>
          <p:cNvPr id="3" name="TextBox 2"/>
          <p:cNvSpPr txBox="1"/>
          <p:nvPr/>
        </p:nvSpPr>
        <p:spPr>
          <a:xfrm>
            <a:off x="640080" y="1280160"/>
            <a:ext cx="6281927" cy="5120640"/>
          </a:xfrm>
          <a:prstGeom prst="rect">
            <a:avLst/>
          </a:prstGeom>
          <a:noFill/>
        </p:spPr>
        <p:txBody>
          <a:bodyPr wrap="square">
            <a:spAutoFit/>
          </a:bodyPr>
          <a:lstStyle/>
          <a:p>
            <a:pPr>
              <a:defRPr sz="1200" b="1">
                <a:solidFill>
                  <a:srgbClr val="E07C3E"/>
                </a:solidFill>
              </a:defRPr>
            </a:pPr>
            <a:r>
              <a:t>What it looks like:</a:t>
            </a:r>
          </a:p>
          <a:p>
            <a:pPr>
              <a:spcAft>
                <a:spcPts val="800"/>
              </a:spcAft>
              <a:defRPr sz="1100">
                <a:solidFill>
                  <a:srgbClr val="333333"/>
                </a:solidFill>
              </a:defRPr>
            </a:pPr>
            <a:r>
              <a:t>Team meetings are polite but hollow. People nod in agreement but disagree in the hallway. Feedback is sugar-coated or avoided. Best ideas stay private. Risk-taking is punished implicitly.</a:t>
            </a:r>
          </a:p>
          <a:p>
            <a:pPr>
              <a:defRPr sz="1200" b="1">
                <a:solidFill>
                  <a:srgbClr val="E07C3E"/>
                </a:solidFill>
              </a:defRPr>
            </a:pPr>
            <a:r>
              <a:t>Root cause:</a:t>
            </a:r>
          </a:p>
          <a:p>
            <a:pPr>
              <a:spcAft>
                <a:spcPts val="800"/>
              </a:spcAft>
              <a:defRPr sz="1100">
                <a:solidFill>
                  <a:srgbClr val="333333"/>
                </a:solidFill>
              </a:defRPr>
            </a:pPr>
            <a:r>
              <a:t>Psychological safety has eroded. People believe it's not safe to be honest, ask for help, or admit mistakes. This often stems from a leader who doesn't model vulnerability or who has punished dissent.</a:t>
            </a:r>
          </a:p>
          <a:p>
            <a:pPr>
              <a:defRPr sz="1200" b="1">
                <a:solidFill>
                  <a:srgbClr val="E07C3E"/>
                </a:solidFill>
              </a:defRPr>
            </a:pPr>
            <a:r>
              <a:t>How to confirm diagnosis:</a:t>
            </a:r>
          </a:p>
          <a:p>
            <a:pPr>
              <a:defRPr sz="1100">
                <a:solidFill>
                  <a:srgbClr val="333333"/>
                </a:solidFill>
              </a:defRPr>
            </a:pPr>
            <a:r>
              <a:t>In 1-on-1s, people tell you things they don't say in the group. Trust dimension score is low. When you ask 'Does anyone disagree?', silence.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2800" b="1">
                <a:solidFill>
                  <a:srgbClr val="E07C3E"/>
                </a:solidFill>
              </a:defRPr>
            </a:pPr>
            <a:r>
              <a:t>The Silent Team: 30-Day Fix</a:t>
            </a:r>
          </a:p>
        </p:txBody>
      </p:sp>
      <p:graphicFrame>
        <p:nvGraphicFramePr>
          <p:cNvPr id="3" name="Table 2"/>
          <p:cNvGraphicFramePr>
            <a:graphicFrameLocks noGrp="1"/>
          </p:cNvGraphicFramePr>
          <p:nvPr/>
        </p:nvGraphicFramePr>
        <p:xfrm>
          <a:off x="640080" y="1280160"/>
          <a:ext cx="12191695" cy="5669280"/>
        </p:xfrm>
        <a:graphic>
          <a:graphicData uri="http://schemas.openxmlformats.org/drawingml/2006/table">
            <a:tbl>
              <a:tblPr firstRow="1" bandRow="1">
                <a:tableStyleId>{5C22544A-7EE6-4342-B048-85BDC9FD1C3A}</a:tableStyleId>
              </a:tblPr>
              <a:tblGrid>
                <a:gridCol w="2286000"/>
                <a:gridCol w="9905695"/>
              </a:tblGrid>
              <a:tr h="1133856">
                <a:tc>
                  <a:txBody>
                    <a:bodyPr/>
                    <a:lstStyle/>
                    <a:p>
                      <a:r>
                        <a:rPr b="1">
                          <a:solidFill>
                            <a:srgbClr val="FFFFFF"/>
                          </a:solidFill>
                        </a:rPr>
                        <a:t>Week</a:t>
                      </a:r>
                    </a:p>
                  </a:txBody>
                  <a:tcPr>
                    <a:solidFill>
                      <a:srgbClr val="E07C3E"/>
                    </a:solidFill>
                  </a:tcPr>
                </a:tc>
                <a:tc>
                  <a:txBody>
                    <a:bodyPr/>
                    <a:lstStyle/>
                    <a:p>
                      <a:r>
                        <a:rPr b="1">
                          <a:solidFill>
                            <a:srgbClr val="FFFFFF"/>
                          </a:solidFill>
                        </a:rPr>
                        <a:t>Action</a:t>
                      </a:r>
                    </a:p>
                  </a:txBody>
                  <a:tcPr>
                    <a:solidFill>
                      <a:srgbClr val="E07C3E"/>
                    </a:solidFill>
                  </a:tcPr>
                </a:tc>
              </a:tr>
              <a:tr h="1133856">
                <a:tc>
                  <a:txBody>
                    <a:bodyPr/>
                    <a:lstStyle/>
                    <a:p>
                      <a:r>
                        <a:rPr sz="1000" b="1">
                          <a:solidFill>
                            <a:srgbClr val="333333"/>
                          </a:solidFill>
                        </a:rPr>
                        <a:t>Week 1</a:t>
                      </a:r>
                    </a:p>
                  </a:txBody>
                  <a:tcPr>
                    <a:solidFill>
                      <a:srgbClr val="FFFFFF"/>
                    </a:solidFill>
                  </a:tcPr>
                </a:tc>
                <a:tc>
                  <a:txBody>
                    <a:bodyPr/>
                    <a:lstStyle/>
                    <a:p>
                      <a:r>
                        <a:rPr sz="900">
                          <a:solidFill>
                            <a:srgbClr val="333333"/>
                          </a:solidFill>
                        </a:rPr>
                        <a:t>Create Safety Through Vulnerability: Share a real mistake you made and what you learned. In team meeting, ask directly: 'What am I doing that makes it unsafe to speak up?' Listen without defensiveness.</a:t>
                      </a:r>
                    </a:p>
                  </a:txBody>
                  <a:tcPr>
                    <a:solidFill>
                      <a:srgbClr val="FFFFFF"/>
                    </a:solidFill>
                  </a:tcPr>
                </a:tc>
              </a:tr>
              <a:tr h="1133856">
                <a:tc>
                  <a:txBody>
                    <a:bodyPr/>
                    <a:lstStyle/>
                    <a:p>
                      <a:r>
                        <a:rPr sz="1000" b="1">
                          <a:solidFill>
                            <a:srgbClr val="333333"/>
                          </a:solidFill>
                        </a:rPr>
                        <a:t>Week 2</a:t>
                      </a:r>
                    </a:p>
                  </a:txBody>
                  <a:tcPr>
                    <a:solidFill>
                      <a:srgbClr val="F5F5F5"/>
                    </a:solidFill>
                  </a:tcPr>
                </a:tc>
                <a:tc>
                  <a:txBody>
                    <a:bodyPr/>
                    <a:lstStyle/>
                    <a:p>
                      <a:r>
                        <a:rPr sz="900">
                          <a:solidFill>
                            <a:srgbClr val="333333"/>
                          </a:solidFill>
                        </a:rPr>
                        <a:t>Introduce Structured Dissent: In the next decision, explicitly ask for disagreement. Say 'I want to hear the case against this.' Make it safe to say no. Reward honesty.</a:t>
                      </a:r>
                    </a:p>
                  </a:txBody>
                  <a:tcPr>
                    <a:solidFill>
                      <a:srgbClr val="F5F5F5"/>
                    </a:solidFill>
                  </a:tcPr>
                </a:tc>
              </a:tr>
              <a:tr h="1133856">
                <a:tc>
                  <a:txBody>
                    <a:bodyPr/>
                    <a:lstStyle/>
                    <a:p>
                      <a:r>
                        <a:rPr sz="1000" b="1">
                          <a:solidFill>
                            <a:srgbClr val="333333"/>
                          </a:solidFill>
                        </a:rPr>
                        <a:t>Week 3</a:t>
                      </a:r>
                    </a:p>
                  </a:txBody>
                  <a:tcPr>
                    <a:solidFill>
                      <a:srgbClr val="FFFFFF"/>
                    </a:solidFill>
                  </a:tcPr>
                </a:tc>
                <a:tc>
                  <a:txBody>
                    <a:bodyPr/>
                    <a:lstStyle/>
                    <a:p>
                      <a:r>
                        <a:rPr sz="900">
                          <a:solidFill>
                            <a:srgbClr val="333333"/>
                          </a:solidFill>
                        </a:rPr>
                        <a:t>Build Feedback Habits: Start weekly 5-minute feedback exchanges in small groups. Normalize the discomfort. Model directness. Show that feedback doesn't mean punishment.</a:t>
                      </a:r>
                    </a:p>
                  </a:txBody>
                  <a:tcPr>
                    <a:solidFill>
                      <a:srgbClr val="FFFFFF"/>
                    </a:solidFill>
                  </a:tcPr>
                </a:tc>
              </a:tr>
              <a:tr h="1133856">
                <a:tc>
                  <a:txBody>
                    <a:bodyPr/>
                    <a:lstStyle/>
                    <a:p>
                      <a:r>
                        <a:rPr sz="1000" b="1">
                          <a:solidFill>
                            <a:srgbClr val="333333"/>
                          </a:solidFill>
                        </a:rPr>
                        <a:t>Week 4</a:t>
                      </a:r>
                    </a:p>
                  </a:txBody>
                  <a:tcPr>
                    <a:solidFill>
                      <a:srgbClr val="F5F5F5"/>
                    </a:solidFill>
                  </a:tcPr>
                </a:tc>
                <a:tc>
                  <a:txBody>
                    <a:bodyPr/>
                    <a:lstStyle/>
                    <a:p>
                      <a:r>
                        <a:rPr sz="900">
                          <a:solidFill>
                            <a:srgbClr val="333333"/>
                          </a:solidFill>
                        </a:rPr>
                        <a:t>Lock In the New Normal: Celebrate someone who pushed back. Make it visible that you value candor more than agreement. Establish a norm: 'We disagree out loud here.'</a:t>
                      </a:r>
                    </a:p>
                  </a:txBody>
                  <a:tcPr>
                    <a:solidFill>
                      <a:srgbClr val="F5F5F5"/>
                    </a:solidFill>
                  </a:tcPr>
                </a:tc>
              </a:tr>
            </a:tbl>
          </a:graphicData>
        </a:graphic>
      </p:graphicFrame>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3200" b="1">
                <a:solidFill>
                  <a:srgbClr val="E07C3E"/>
                </a:solidFill>
              </a:defRPr>
            </a:pPr>
            <a:r>
              <a:t>Playbook 2: The Hamster Wheel</a:t>
            </a:r>
          </a:p>
        </p:txBody>
      </p:sp>
      <p:sp>
        <p:nvSpPr>
          <p:cNvPr id="3" name="TextBox 2"/>
          <p:cNvSpPr txBox="1"/>
          <p:nvPr/>
        </p:nvSpPr>
        <p:spPr>
          <a:xfrm>
            <a:off x="640080" y="1280160"/>
            <a:ext cx="6281927" cy="5120640"/>
          </a:xfrm>
          <a:prstGeom prst="rect">
            <a:avLst/>
          </a:prstGeom>
          <a:noFill/>
        </p:spPr>
        <p:txBody>
          <a:bodyPr wrap="square">
            <a:spAutoFit/>
          </a:bodyPr>
          <a:lstStyle/>
          <a:p>
            <a:pPr>
              <a:defRPr sz="1200" b="1">
                <a:solidFill>
                  <a:srgbClr val="E07C3E"/>
                </a:solidFill>
              </a:defRPr>
            </a:pPr>
            <a:r>
              <a:t>What it looks like:</a:t>
            </a:r>
          </a:p>
          <a:p>
            <a:pPr>
              <a:spcAft>
                <a:spcPts val="800"/>
              </a:spcAft>
              <a:defRPr sz="1100">
                <a:solidFill>
                  <a:srgbClr val="333333"/>
                </a:solidFill>
              </a:defRPr>
            </a:pPr>
            <a:r>
              <a:t>People work hard but accomplish little. Meetings about work take up more time than work itself. Best people talk about burning out. Weekends are the only recovery time. The busier people are, the more 'important' the work feels.</a:t>
            </a:r>
          </a:p>
          <a:p>
            <a:pPr>
              <a:defRPr sz="1200" b="1">
                <a:solidFill>
                  <a:srgbClr val="E07C3E"/>
                </a:solidFill>
              </a:defRPr>
            </a:pPr>
            <a:r>
              <a:t>Root cause:</a:t>
            </a:r>
          </a:p>
          <a:p>
            <a:pPr>
              <a:spcAft>
                <a:spcPts val="800"/>
              </a:spcAft>
              <a:defRPr sz="1100">
                <a:solidFill>
                  <a:srgbClr val="333333"/>
                </a:solidFill>
              </a:defRPr>
            </a:pPr>
            <a:r>
              <a:t>Energy problem. Too much friction, not enough meaning. Often driven by unclear priorities (everyone works on everything), poor boundaries (no focus), or a culture that confuses activity with progress.</a:t>
            </a:r>
          </a:p>
          <a:p>
            <a:pPr>
              <a:defRPr sz="1200" b="1">
                <a:solidFill>
                  <a:srgbClr val="E07C3E"/>
                </a:solidFill>
              </a:defRPr>
            </a:pPr>
            <a:r>
              <a:t>How to confirm diagnosis:</a:t>
            </a:r>
          </a:p>
          <a:p>
            <a:pPr>
              <a:defRPr sz="1100">
                <a:solidFill>
                  <a:srgbClr val="333333"/>
                </a:solidFill>
              </a:defRPr>
            </a:pPr>
            <a:r>
              <a:t>People can't list their top 3 priorities. Calendar is fragmented (30min slots all day). Energy dimension score is low. Quality is declining despite people working more.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2800" b="1">
                <a:solidFill>
                  <a:srgbClr val="E07C3E"/>
                </a:solidFill>
              </a:defRPr>
            </a:pPr>
            <a:r>
              <a:t>The Hamster Wheel: 30-Day Fix</a:t>
            </a:r>
          </a:p>
        </p:txBody>
      </p:sp>
      <p:graphicFrame>
        <p:nvGraphicFramePr>
          <p:cNvPr id="3" name="Table 2"/>
          <p:cNvGraphicFramePr>
            <a:graphicFrameLocks noGrp="1"/>
          </p:cNvGraphicFramePr>
          <p:nvPr/>
        </p:nvGraphicFramePr>
        <p:xfrm>
          <a:off x="640080" y="1280160"/>
          <a:ext cx="12191695" cy="5669280"/>
        </p:xfrm>
        <a:graphic>
          <a:graphicData uri="http://schemas.openxmlformats.org/drawingml/2006/table">
            <a:tbl>
              <a:tblPr firstRow="1" bandRow="1">
                <a:tableStyleId>{5C22544A-7EE6-4342-B048-85BDC9FD1C3A}</a:tableStyleId>
              </a:tblPr>
              <a:tblGrid>
                <a:gridCol w="2286000"/>
                <a:gridCol w="9905695"/>
              </a:tblGrid>
              <a:tr h="1133856">
                <a:tc>
                  <a:txBody>
                    <a:bodyPr/>
                    <a:lstStyle/>
                    <a:p>
                      <a:r>
                        <a:rPr b="1">
                          <a:solidFill>
                            <a:srgbClr val="FFFFFF"/>
                          </a:solidFill>
                        </a:rPr>
                        <a:t>Week</a:t>
                      </a:r>
                    </a:p>
                  </a:txBody>
                  <a:tcPr>
                    <a:solidFill>
                      <a:srgbClr val="E07C3E"/>
                    </a:solidFill>
                  </a:tcPr>
                </a:tc>
                <a:tc>
                  <a:txBody>
                    <a:bodyPr/>
                    <a:lstStyle/>
                    <a:p>
                      <a:r>
                        <a:rPr b="1">
                          <a:solidFill>
                            <a:srgbClr val="FFFFFF"/>
                          </a:solidFill>
                        </a:rPr>
                        <a:t>Action</a:t>
                      </a:r>
                    </a:p>
                  </a:txBody>
                  <a:tcPr>
                    <a:solidFill>
                      <a:srgbClr val="E07C3E"/>
                    </a:solidFill>
                  </a:tcPr>
                </a:tc>
              </a:tr>
              <a:tr h="1133856">
                <a:tc>
                  <a:txBody>
                    <a:bodyPr/>
                    <a:lstStyle/>
                    <a:p>
                      <a:r>
                        <a:rPr sz="1000" b="1">
                          <a:solidFill>
                            <a:srgbClr val="333333"/>
                          </a:solidFill>
                        </a:rPr>
                        <a:t>Week 1</a:t>
                      </a:r>
                    </a:p>
                  </a:txBody>
                  <a:tcPr>
                    <a:solidFill>
                      <a:srgbClr val="FFFFFF"/>
                    </a:solidFill>
                  </a:tcPr>
                </a:tc>
                <a:tc>
                  <a:txBody>
                    <a:bodyPr/>
                    <a:lstStyle/>
                    <a:p>
                      <a:r>
                        <a:rPr sz="900">
                          <a:solidFill>
                            <a:srgbClr val="333333"/>
                          </a:solidFill>
                        </a:rPr>
                        <a:t>Clarity First: Get absolutely clear on the 3-5 things that matter most. Cut everything else. Communicate ruthlessly.</a:t>
                      </a:r>
                    </a:p>
                  </a:txBody>
                  <a:tcPr>
                    <a:solidFill>
                      <a:srgbClr val="FFFFFF"/>
                    </a:solidFill>
                  </a:tcPr>
                </a:tc>
              </a:tr>
              <a:tr h="1133856">
                <a:tc>
                  <a:txBody>
                    <a:bodyPr/>
                    <a:lstStyle/>
                    <a:p>
                      <a:r>
                        <a:rPr sz="1000" b="1">
                          <a:solidFill>
                            <a:srgbClr val="333333"/>
                          </a:solidFill>
                        </a:rPr>
                        <a:t>Week 2</a:t>
                      </a:r>
                    </a:p>
                  </a:txBody>
                  <a:tcPr>
                    <a:solidFill>
                      <a:srgbClr val="F5F5F5"/>
                    </a:solidFill>
                  </a:tcPr>
                </a:tc>
                <a:tc>
                  <a:txBody>
                    <a:bodyPr/>
                    <a:lstStyle/>
                    <a:p>
                      <a:r>
                        <a:rPr sz="900">
                          <a:solidFill>
                            <a:srgbClr val="333333"/>
                          </a:solidFill>
                        </a:rPr>
                        <a:t>Reduce Meeting Load: Eliminate recurring meetings that could be async. Cap meeting days at 4 hours/person. Protect focus time.</a:t>
                      </a:r>
                    </a:p>
                  </a:txBody>
                  <a:tcPr>
                    <a:solidFill>
                      <a:srgbClr val="F5F5F5"/>
                    </a:solidFill>
                  </a:tcPr>
                </a:tc>
              </a:tr>
              <a:tr h="1133856">
                <a:tc>
                  <a:txBody>
                    <a:bodyPr/>
                    <a:lstStyle/>
                    <a:p>
                      <a:r>
                        <a:rPr sz="1000" b="1">
                          <a:solidFill>
                            <a:srgbClr val="333333"/>
                          </a:solidFill>
                        </a:rPr>
                        <a:t>Week 3</a:t>
                      </a:r>
                    </a:p>
                  </a:txBody>
                  <a:tcPr>
                    <a:solidFill>
                      <a:srgbClr val="FFFFFF"/>
                    </a:solidFill>
                  </a:tcPr>
                </a:tc>
                <a:tc>
                  <a:txBody>
                    <a:bodyPr/>
                    <a:lstStyle/>
                    <a:p>
                      <a:r>
                        <a:rPr sz="900">
                          <a:solidFill>
                            <a:srgbClr val="333333"/>
                          </a:solidFill>
                        </a:rPr>
                        <a:t>Define Success Narrowly: What is one win this month? What would we be proud of? Reframe quality over quantity.</a:t>
                      </a:r>
                    </a:p>
                  </a:txBody>
                  <a:tcPr>
                    <a:solidFill>
                      <a:srgbClr val="FFFFFF"/>
                    </a:solidFill>
                  </a:tcPr>
                </a:tc>
              </a:tr>
              <a:tr h="1133856">
                <a:tc>
                  <a:txBody>
                    <a:bodyPr/>
                    <a:lstStyle/>
                    <a:p>
                      <a:r>
                        <a:rPr sz="1000" b="1">
                          <a:solidFill>
                            <a:srgbClr val="333333"/>
                          </a:solidFill>
                        </a:rPr>
                        <a:t>Week 4</a:t>
                      </a:r>
                    </a:p>
                  </a:txBody>
                  <a:tcPr>
                    <a:solidFill>
                      <a:srgbClr val="F5F5F5"/>
                    </a:solidFill>
                  </a:tcPr>
                </a:tc>
                <a:tc>
                  <a:txBody>
                    <a:bodyPr/>
                    <a:lstStyle/>
                    <a:p>
                      <a:r>
                        <a:rPr sz="900">
                          <a:solidFill>
                            <a:srgbClr val="333333"/>
                          </a:solidFill>
                        </a:rPr>
                        <a:t>Celebrate Boundaries: When someone protects their focus time, acknowledge it. Model working reasonable hours. Show energy is a feature, not a bug.</a:t>
                      </a:r>
                    </a:p>
                  </a:txBody>
                  <a:tcPr>
                    <a:solidFill>
                      <a:srgbClr val="F5F5F5"/>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3200" b="1">
                <a:solidFill>
                  <a:srgbClr val="E07C3E"/>
                </a:solidFill>
              </a:defRPr>
            </a:pPr>
            <a:r>
              <a:t>Playbook 3: The Revolving Door</a:t>
            </a:r>
          </a:p>
        </p:txBody>
      </p:sp>
      <p:sp>
        <p:nvSpPr>
          <p:cNvPr id="3" name="TextBox 2"/>
          <p:cNvSpPr txBox="1"/>
          <p:nvPr/>
        </p:nvSpPr>
        <p:spPr>
          <a:xfrm>
            <a:off x="640080" y="1280160"/>
            <a:ext cx="6281927" cy="5120640"/>
          </a:xfrm>
          <a:prstGeom prst="rect">
            <a:avLst/>
          </a:prstGeom>
          <a:noFill/>
        </p:spPr>
        <p:txBody>
          <a:bodyPr wrap="square">
            <a:spAutoFit/>
          </a:bodyPr>
          <a:lstStyle/>
          <a:p>
            <a:pPr>
              <a:defRPr sz="1200" b="1">
                <a:solidFill>
                  <a:srgbClr val="E07C3E"/>
                </a:solidFill>
              </a:defRPr>
            </a:pPr>
            <a:r>
              <a:t>What it looks like:</a:t>
            </a:r>
          </a:p>
          <a:p>
            <a:pPr>
              <a:spcAft>
                <a:spcPts val="800"/>
              </a:spcAft>
              <a:defRPr sz="1100">
                <a:solidFill>
                  <a:srgbClr val="333333"/>
                </a:solidFill>
              </a:defRPr>
            </a:pPr>
            <a:r>
              <a:t>Good people are leaving. The official reasons are varied (new opportunities, relocation, salary). The real reason is often organizational—dysfunction, lack of growth, or misalignment they couldn't fix from the inside.</a:t>
            </a:r>
          </a:p>
          <a:p>
            <a:pPr>
              <a:defRPr sz="1200" b="1">
                <a:solidFill>
                  <a:srgbClr val="E07C3E"/>
                </a:solidFill>
              </a:defRPr>
            </a:pPr>
            <a:r>
              <a:t>Root cause:</a:t>
            </a:r>
          </a:p>
          <a:p>
            <a:pPr>
              <a:spcAft>
                <a:spcPts val="800"/>
              </a:spcAft>
              <a:defRPr sz="1100">
                <a:solidFill>
                  <a:srgbClr val="333333"/>
                </a:solidFill>
              </a:defRPr>
            </a:pPr>
            <a:r>
              <a:t>Usually a combination: Trust eroding (people don't feel safe), Growth stalled (no development path), or Alignment broken (people don't believe in the mission). Departures cluster around one person or department, which is a signal.</a:t>
            </a:r>
          </a:p>
          <a:p>
            <a:pPr>
              <a:defRPr sz="1200" b="1">
                <a:solidFill>
                  <a:srgbClr val="E07C3E"/>
                </a:solidFill>
              </a:defRPr>
            </a:pPr>
            <a:r>
              <a:t>How to confirm diagnosis:</a:t>
            </a:r>
          </a:p>
          <a:p>
            <a:pPr>
              <a:defRPr sz="1100">
                <a:solidFill>
                  <a:srgbClr val="333333"/>
                </a:solidFill>
              </a:defRPr>
            </a:pPr>
            <a:r>
              <a:t>Exit interviews reveal systemic issues, not just personal reasons. High performers are leaving faster than average performers. Tenure is declining year-over-year.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ctr">
              <a:defRPr sz="2800" b="1">
                <a:solidFill>
                  <a:srgbClr val="E07C3E"/>
                </a:solidFill>
              </a:defRPr>
            </a:pPr>
            <a:r>
              <a:t>The Revolving Door: 30-Day Fix</a:t>
            </a:r>
          </a:p>
        </p:txBody>
      </p:sp>
      <p:graphicFrame>
        <p:nvGraphicFramePr>
          <p:cNvPr id="3" name="Table 2"/>
          <p:cNvGraphicFramePr>
            <a:graphicFrameLocks noGrp="1"/>
          </p:cNvGraphicFramePr>
          <p:nvPr/>
        </p:nvGraphicFramePr>
        <p:xfrm>
          <a:off x="640080" y="1280160"/>
          <a:ext cx="12191695" cy="5669280"/>
        </p:xfrm>
        <a:graphic>
          <a:graphicData uri="http://schemas.openxmlformats.org/drawingml/2006/table">
            <a:tbl>
              <a:tblPr firstRow="1" bandRow="1">
                <a:tableStyleId>{5C22544A-7EE6-4342-B048-85BDC9FD1C3A}</a:tableStyleId>
              </a:tblPr>
              <a:tblGrid>
                <a:gridCol w="2286000"/>
                <a:gridCol w="9905695"/>
              </a:tblGrid>
              <a:tr h="1133856">
                <a:tc>
                  <a:txBody>
                    <a:bodyPr/>
                    <a:lstStyle/>
                    <a:p>
                      <a:r>
                        <a:rPr b="1">
                          <a:solidFill>
                            <a:srgbClr val="FFFFFF"/>
                          </a:solidFill>
                        </a:rPr>
                        <a:t>Week</a:t>
                      </a:r>
                    </a:p>
                  </a:txBody>
                  <a:tcPr>
                    <a:solidFill>
                      <a:srgbClr val="E07C3E"/>
                    </a:solidFill>
                  </a:tcPr>
                </a:tc>
                <a:tc>
                  <a:txBody>
                    <a:bodyPr/>
                    <a:lstStyle/>
                    <a:p>
                      <a:r>
                        <a:rPr b="1">
                          <a:solidFill>
                            <a:srgbClr val="FFFFFF"/>
                          </a:solidFill>
                        </a:rPr>
                        <a:t>Action</a:t>
                      </a:r>
                    </a:p>
                  </a:txBody>
                  <a:tcPr>
                    <a:solidFill>
                      <a:srgbClr val="E07C3E"/>
                    </a:solidFill>
                  </a:tcPr>
                </a:tc>
              </a:tr>
              <a:tr h="1133856">
                <a:tc>
                  <a:txBody>
                    <a:bodyPr/>
                    <a:lstStyle/>
                    <a:p>
                      <a:r>
                        <a:rPr sz="1000" b="1">
                          <a:solidFill>
                            <a:srgbClr val="333333"/>
                          </a:solidFill>
                        </a:rPr>
                        <a:t>Week 1</a:t>
                      </a:r>
                    </a:p>
                  </a:txBody>
                  <a:tcPr>
                    <a:solidFill>
                      <a:srgbClr val="FFFFFF"/>
                    </a:solidFill>
                  </a:tcPr>
                </a:tc>
                <a:tc>
                  <a:txBody>
                    <a:bodyPr/>
                    <a:lstStyle/>
                    <a:p>
                      <a:r>
                        <a:rPr sz="900">
                          <a:solidFill>
                            <a:srgbClr val="333333"/>
                          </a:solidFill>
                        </a:rPr>
                        <a:t>Run CETAG Diagnostic on departing team members (if possible). Understand the real root cause. Don't take it personally—listen.</a:t>
                      </a:r>
                    </a:p>
                  </a:txBody>
                  <a:tcPr>
                    <a:solidFill>
                      <a:srgbClr val="FFFFFF"/>
                    </a:solidFill>
                  </a:tcPr>
                </a:tc>
              </a:tr>
              <a:tr h="1133856">
                <a:tc>
                  <a:txBody>
                    <a:bodyPr/>
                    <a:lstStyle/>
                    <a:p>
                      <a:r>
                        <a:rPr sz="1000" b="1">
                          <a:solidFill>
                            <a:srgbClr val="333333"/>
                          </a:solidFill>
                        </a:rPr>
                        <a:t>Week 2</a:t>
                      </a:r>
                    </a:p>
                  </a:txBody>
                  <a:tcPr>
                    <a:solidFill>
                      <a:srgbClr val="F5F5F5"/>
                    </a:solidFill>
                  </a:tcPr>
                </a:tc>
                <a:tc>
                  <a:txBody>
                    <a:bodyPr/>
                    <a:lstStyle/>
                    <a:p>
                      <a:r>
                        <a:rPr sz="900">
                          <a:solidFill>
                            <a:srgbClr val="333333"/>
                          </a:solidFill>
                        </a:rPr>
                        <a:t>Create visible growth plan for top performers who remain. Show concrete investment in their development. Make staying attractive.</a:t>
                      </a:r>
                    </a:p>
                  </a:txBody>
                  <a:tcPr>
                    <a:solidFill>
                      <a:srgbClr val="F5F5F5"/>
                    </a:solidFill>
                  </a:tcPr>
                </a:tc>
              </a:tr>
              <a:tr h="1133856">
                <a:tc>
                  <a:txBody>
                    <a:bodyPr/>
                    <a:lstStyle/>
                    <a:p>
                      <a:r>
                        <a:rPr sz="1000" b="1">
                          <a:solidFill>
                            <a:srgbClr val="333333"/>
                          </a:solidFill>
                        </a:rPr>
                        <a:t>Week 3</a:t>
                      </a:r>
                    </a:p>
                  </a:txBody>
                  <a:tcPr>
                    <a:solidFill>
                      <a:srgbClr val="FFFFFF"/>
                    </a:solidFill>
                  </a:tcPr>
                </a:tc>
                <a:tc>
                  <a:txBody>
                    <a:bodyPr/>
                    <a:lstStyle/>
                    <a:p>
                      <a:r>
                        <a:rPr sz="900">
                          <a:solidFill>
                            <a:srgbClr val="333333"/>
                          </a:solidFill>
                        </a:rPr>
                        <a:t>Address systemic issue first: If it's Trust, build psychological safety. If it's Growth, create clear paths. If it's Alignment, clarify the mission.</a:t>
                      </a:r>
                    </a:p>
                  </a:txBody>
                  <a:tcPr>
                    <a:solidFill>
                      <a:srgbClr val="FFFFFF"/>
                    </a:solidFill>
                  </a:tcPr>
                </a:tc>
              </a:tr>
              <a:tr h="1133856">
                <a:tc>
                  <a:txBody>
                    <a:bodyPr/>
                    <a:lstStyle/>
                    <a:p>
                      <a:r>
                        <a:rPr sz="1000" b="1">
                          <a:solidFill>
                            <a:srgbClr val="333333"/>
                          </a:solidFill>
                        </a:rPr>
                        <a:t>Week 4</a:t>
                      </a:r>
                    </a:p>
                  </a:txBody>
                  <a:tcPr>
                    <a:solidFill>
                      <a:srgbClr val="F5F5F5"/>
                    </a:solidFill>
                  </a:tcPr>
                </a:tc>
                <a:tc>
                  <a:txBody>
                    <a:bodyPr/>
                    <a:lstStyle/>
                    <a:p>
                      <a:r>
                        <a:rPr sz="900">
                          <a:solidFill>
                            <a:srgbClr val="333333"/>
                          </a:solidFill>
                        </a:rPr>
                        <a:t>Communicate retention strategy. Show you've heard the signals and are acting. Make it clear the organization is improving, and there's still time to be part of it.</a:t>
                      </a:r>
                    </a:p>
                  </a:txBody>
                  <a:tcPr>
                    <a:solidFill>
                      <a:srgbClr val="F5F5F5"/>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2286000"/>
            <a:ext cx="6281927" cy="731520"/>
          </a:xfrm>
          <a:prstGeom prst="rect">
            <a:avLst/>
          </a:prstGeom>
          <a:noFill/>
        </p:spPr>
        <p:txBody>
          <a:bodyPr wrap="square">
            <a:spAutoFit/>
          </a:bodyPr>
          <a:lstStyle/>
          <a:p>
            <a:pPr algn="ctr">
              <a:defRPr sz="1600">
                <a:solidFill>
                  <a:srgbClr val="FFFFFF"/>
                </a:solidFill>
              </a:defRPr>
            </a:pPr>
            <a:r>
              <a:t>Part 4</a:t>
            </a:r>
          </a:p>
        </p:txBody>
      </p:sp>
      <p:sp>
        <p:nvSpPr>
          <p:cNvPr id="3" name="TextBox 2"/>
          <p:cNvSpPr txBox="1"/>
          <p:nvPr/>
        </p:nvSpPr>
        <p:spPr>
          <a:xfrm>
            <a:off x="640080" y="3200400"/>
            <a:ext cx="6281927" cy="1371600"/>
          </a:xfrm>
          <a:prstGeom prst="rect">
            <a:avLst/>
          </a:prstGeom>
          <a:noFill/>
        </p:spPr>
        <p:txBody>
          <a:bodyPr wrap="square">
            <a:spAutoFit/>
          </a:bodyPr>
          <a:lstStyle/>
          <a:p>
            <a:pPr algn="ctr">
              <a:defRPr sz="4400" b="1">
                <a:solidFill>
                  <a:srgbClr val="FFFFFF"/>
                </a:solidFill>
              </a:defRPr>
            </a:pPr>
            <a:r>
              <a:t>The Weekly Pulse Framework</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3200" b="1">
                <a:solidFill>
                  <a:srgbClr val="E07C3E"/>
                </a:solidFill>
              </a:defRPr>
            </a:pPr>
            <a:r>
              <a:t>The 5 Pulse Questions</a:t>
            </a:r>
          </a:p>
        </p:txBody>
      </p:sp>
      <p:graphicFrame>
        <p:nvGraphicFramePr>
          <p:cNvPr id="3" name="Table 2"/>
          <p:cNvGraphicFramePr>
            <a:graphicFrameLocks noGrp="1"/>
          </p:cNvGraphicFramePr>
          <p:nvPr/>
        </p:nvGraphicFramePr>
        <p:xfrm>
          <a:off x="640080" y="640080"/>
          <a:ext cx="12191695" cy="5760720"/>
        </p:xfrm>
        <a:graphic>
          <a:graphicData uri="http://schemas.openxmlformats.org/drawingml/2006/table">
            <a:tbl>
              <a:tblPr firstRow="1" bandRow="1">
                <a:tableStyleId>{5C22544A-7EE6-4342-B048-85BDC9FD1C3A}</a:tableStyleId>
              </a:tblPr>
              <a:tblGrid>
                <a:gridCol w="640080"/>
                <a:gridCol w="3840480"/>
                <a:gridCol w="1828800"/>
                <a:gridCol w="5882335"/>
              </a:tblGrid>
              <a:tr h="960120">
                <a:tc>
                  <a:txBody>
                    <a:bodyPr/>
                    <a:lstStyle/>
                    <a:p>
                      <a:r>
                        <a:rPr b="1" sz="1000">
                          <a:solidFill>
                            <a:srgbClr val="FFFFFF"/>
                          </a:solidFill>
                        </a:rPr>
                        <a:t>#</a:t>
                      </a:r>
                    </a:p>
                  </a:txBody>
                  <a:tcPr>
                    <a:solidFill>
                      <a:srgbClr val="E07C3E"/>
                    </a:solidFill>
                  </a:tcPr>
                </a:tc>
                <a:tc>
                  <a:txBody>
                    <a:bodyPr/>
                    <a:lstStyle/>
                    <a:p>
                      <a:r>
                        <a:rPr b="1" sz="1000">
                          <a:solidFill>
                            <a:srgbClr val="FFFFFF"/>
                          </a:solidFill>
                        </a:rPr>
                        <a:t>Question</a:t>
                      </a:r>
                    </a:p>
                  </a:txBody>
                  <a:tcPr>
                    <a:solidFill>
                      <a:srgbClr val="E07C3E"/>
                    </a:solidFill>
                  </a:tcPr>
                </a:tc>
                <a:tc>
                  <a:txBody>
                    <a:bodyPr/>
                    <a:lstStyle/>
                    <a:p>
                      <a:r>
                        <a:rPr b="1" sz="1000">
                          <a:solidFill>
                            <a:srgbClr val="FFFFFF"/>
                          </a:solidFill>
                        </a:rPr>
                        <a:t>Dimension</a:t>
                      </a:r>
                    </a:p>
                  </a:txBody>
                  <a:tcPr>
                    <a:solidFill>
                      <a:srgbClr val="E07C3E"/>
                    </a:solidFill>
                  </a:tcPr>
                </a:tc>
                <a:tc>
                  <a:txBody>
                    <a:bodyPr/>
                    <a:lstStyle/>
                    <a:p>
                      <a:r>
                        <a:rPr b="1" sz="1000">
                          <a:solidFill>
                            <a:srgbClr val="FFFFFF"/>
                          </a:solidFill>
                        </a:rPr>
                        <a:t>What it measures</a:t>
                      </a:r>
                    </a:p>
                  </a:txBody>
                  <a:tcPr>
                    <a:solidFill>
                      <a:srgbClr val="E07C3E"/>
                    </a:solidFill>
                  </a:tcPr>
                </a:tc>
              </a:tr>
              <a:tr h="960120">
                <a:tc>
                  <a:txBody>
                    <a:bodyPr/>
                    <a:lstStyle/>
                    <a:p>
                      <a:r>
                        <a:rPr sz="900">
                          <a:solidFill>
                            <a:srgbClr val="333333"/>
                          </a:solidFill>
                        </a:rPr>
                        <a:t>1</a:t>
                      </a:r>
                    </a:p>
                  </a:txBody>
                  <a:tcPr>
                    <a:solidFill>
                      <a:srgbClr val="FFFFFF"/>
                    </a:solidFill>
                  </a:tcPr>
                </a:tc>
                <a:tc>
                  <a:txBody>
                    <a:bodyPr/>
                    <a:lstStyle/>
                    <a:p>
                      <a:r>
                        <a:rPr sz="900">
                          <a:solidFill>
                            <a:srgbClr val="333333"/>
                          </a:solidFill>
                        </a:rPr>
                        <a:t>I knew exactly what I needed to focus on</a:t>
                      </a:r>
                    </a:p>
                  </a:txBody>
                  <a:tcPr>
                    <a:solidFill>
                      <a:srgbClr val="FFFFFF"/>
                    </a:solidFill>
                  </a:tcPr>
                </a:tc>
                <a:tc>
                  <a:txBody>
                    <a:bodyPr/>
                    <a:lstStyle/>
                    <a:p>
                      <a:r>
                        <a:rPr sz="900">
                          <a:solidFill>
                            <a:srgbClr val="333333"/>
                          </a:solidFill>
                        </a:rPr>
                        <a:t>Clarity</a:t>
                      </a:r>
                    </a:p>
                  </a:txBody>
                  <a:tcPr>
                    <a:solidFill>
                      <a:srgbClr val="FFFFFF"/>
                    </a:solidFill>
                  </a:tcPr>
                </a:tc>
                <a:tc>
                  <a:txBody>
                    <a:bodyPr/>
                    <a:lstStyle/>
                    <a:p>
                      <a:r>
                        <a:rPr sz="900">
                          <a:solidFill>
                            <a:srgbClr val="333333"/>
                          </a:solidFill>
                        </a:rPr>
                        <a:t>Priority clarity</a:t>
                      </a:r>
                    </a:p>
                  </a:txBody>
                  <a:tcPr>
                    <a:solidFill>
                      <a:srgbClr val="FFFFFF"/>
                    </a:solidFill>
                  </a:tcPr>
                </a:tc>
              </a:tr>
              <a:tr h="960120">
                <a:tc>
                  <a:txBody>
                    <a:bodyPr/>
                    <a:lstStyle/>
                    <a:p>
                      <a:r>
                        <a:rPr sz="900">
                          <a:solidFill>
                            <a:srgbClr val="333333"/>
                          </a:solidFill>
                        </a:rPr>
                        <a:t>2</a:t>
                      </a:r>
                    </a:p>
                  </a:txBody>
                  <a:tcPr>
                    <a:solidFill>
                      <a:srgbClr val="F5F5F5"/>
                    </a:solidFill>
                  </a:tcPr>
                </a:tc>
                <a:tc>
                  <a:txBody>
                    <a:bodyPr/>
                    <a:lstStyle/>
                    <a:p>
                      <a:r>
                        <a:rPr sz="900">
                          <a:solidFill>
                            <a:srgbClr val="333333"/>
                          </a:solidFill>
                        </a:rPr>
                        <a:t>I had energy and motivation for best work</a:t>
                      </a:r>
                    </a:p>
                  </a:txBody>
                  <a:tcPr>
                    <a:solidFill>
                      <a:srgbClr val="F5F5F5"/>
                    </a:solidFill>
                  </a:tcPr>
                </a:tc>
                <a:tc>
                  <a:txBody>
                    <a:bodyPr/>
                    <a:lstStyle/>
                    <a:p>
                      <a:r>
                        <a:rPr sz="900">
                          <a:solidFill>
                            <a:srgbClr val="333333"/>
                          </a:solidFill>
                        </a:rPr>
                        <a:t>Energy</a:t>
                      </a:r>
                    </a:p>
                  </a:txBody>
                  <a:tcPr>
                    <a:solidFill>
                      <a:srgbClr val="F5F5F5"/>
                    </a:solidFill>
                  </a:tcPr>
                </a:tc>
                <a:tc>
                  <a:txBody>
                    <a:bodyPr/>
                    <a:lstStyle/>
                    <a:p>
                      <a:r>
                        <a:rPr sz="900">
                          <a:solidFill>
                            <a:srgbClr val="333333"/>
                          </a:solidFill>
                        </a:rPr>
                        <a:t>Fuel vs. friction</a:t>
                      </a:r>
                    </a:p>
                  </a:txBody>
                  <a:tcPr>
                    <a:solidFill>
                      <a:srgbClr val="F5F5F5"/>
                    </a:solidFill>
                  </a:tcPr>
                </a:tc>
              </a:tr>
              <a:tr h="960120">
                <a:tc>
                  <a:txBody>
                    <a:bodyPr/>
                    <a:lstStyle/>
                    <a:p>
                      <a:r>
                        <a:rPr sz="900">
                          <a:solidFill>
                            <a:srgbClr val="333333"/>
                          </a:solidFill>
                        </a:rPr>
                        <a:t>3</a:t>
                      </a:r>
                    </a:p>
                  </a:txBody>
                  <a:tcPr>
                    <a:solidFill>
                      <a:srgbClr val="FFFFFF"/>
                    </a:solidFill>
                  </a:tcPr>
                </a:tc>
                <a:tc>
                  <a:txBody>
                    <a:bodyPr/>
                    <a:lstStyle/>
                    <a:p>
                      <a:r>
                        <a:rPr sz="900">
                          <a:solidFill>
                            <a:srgbClr val="333333"/>
                          </a:solidFill>
                        </a:rPr>
                        <a:t>I felt comfortable being honest</a:t>
                      </a:r>
                    </a:p>
                  </a:txBody>
                  <a:tcPr>
                    <a:solidFill>
                      <a:srgbClr val="FFFFFF"/>
                    </a:solidFill>
                  </a:tcPr>
                </a:tc>
                <a:tc>
                  <a:txBody>
                    <a:bodyPr/>
                    <a:lstStyle/>
                    <a:p>
                      <a:r>
                        <a:rPr sz="900">
                          <a:solidFill>
                            <a:srgbClr val="333333"/>
                          </a:solidFill>
                        </a:rPr>
                        <a:t>Trust</a:t>
                      </a:r>
                    </a:p>
                  </a:txBody>
                  <a:tcPr>
                    <a:solidFill>
                      <a:srgbClr val="FFFFFF"/>
                    </a:solidFill>
                  </a:tcPr>
                </a:tc>
                <a:tc>
                  <a:txBody>
                    <a:bodyPr/>
                    <a:lstStyle/>
                    <a:p>
                      <a:r>
                        <a:rPr sz="900">
                          <a:solidFill>
                            <a:srgbClr val="333333"/>
                          </a:solidFill>
                        </a:rPr>
                        <a:t>Psychological safety</a:t>
                      </a:r>
                    </a:p>
                  </a:txBody>
                  <a:tcPr>
                    <a:solidFill>
                      <a:srgbClr val="FFFFFF"/>
                    </a:solidFill>
                  </a:tcPr>
                </a:tc>
              </a:tr>
              <a:tr h="960120">
                <a:tc>
                  <a:txBody>
                    <a:bodyPr/>
                    <a:lstStyle/>
                    <a:p>
                      <a:r>
                        <a:rPr sz="900">
                          <a:solidFill>
                            <a:srgbClr val="333333"/>
                          </a:solidFill>
                        </a:rPr>
                        <a:t>4</a:t>
                      </a:r>
                    </a:p>
                  </a:txBody>
                  <a:tcPr>
                    <a:solidFill>
                      <a:srgbClr val="F5F5F5"/>
                    </a:solidFill>
                  </a:tcPr>
                </a:tc>
                <a:tc>
                  <a:txBody>
                    <a:bodyPr/>
                    <a:lstStyle/>
                    <a:p>
                      <a:r>
                        <a:rPr sz="900">
                          <a:solidFill>
                            <a:srgbClr val="333333"/>
                          </a:solidFill>
                        </a:rPr>
                        <a:t>My work connected to something that matters</a:t>
                      </a:r>
                    </a:p>
                  </a:txBody>
                  <a:tcPr>
                    <a:solidFill>
                      <a:srgbClr val="F5F5F5"/>
                    </a:solidFill>
                  </a:tcPr>
                </a:tc>
                <a:tc>
                  <a:txBody>
                    <a:bodyPr/>
                    <a:lstStyle/>
                    <a:p>
                      <a:r>
                        <a:rPr sz="900">
                          <a:solidFill>
                            <a:srgbClr val="333333"/>
                          </a:solidFill>
                        </a:rPr>
                        <a:t>Alignment</a:t>
                      </a:r>
                    </a:p>
                  </a:txBody>
                  <a:tcPr>
                    <a:solidFill>
                      <a:srgbClr val="F5F5F5"/>
                    </a:solidFill>
                  </a:tcPr>
                </a:tc>
                <a:tc>
                  <a:txBody>
                    <a:bodyPr/>
                    <a:lstStyle/>
                    <a:p>
                      <a:r>
                        <a:rPr sz="900">
                          <a:solidFill>
                            <a:srgbClr val="333333"/>
                          </a:solidFill>
                        </a:rPr>
                        <a:t>Work-purpose connection</a:t>
                      </a:r>
                    </a:p>
                  </a:txBody>
                  <a:tcPr>
                    <a:solidFill>
                      <a:srgbClr val="F5F5F5"/>
                    </a:solidFill>
                  </a:tcPr>
                </a:tc>
              </a:tr>
              <a:tr h="960120">
                <a:tc>
                  <a:txBody>
                    <a:bodyPr/>
                    <a:lstStyle/>
                    <a:p>
                      <a:r>
                        <a:rPr sz="900">
                          <a:solidFill>
                            <a:srgbClr val="333333"/>
                          </a:solidFill>
                        </a:rPr>
                        <a:t>5</a:t>
                      </a:r>
                    </a:p>
                  </a:txBody>
                  <a:tcPr>
                    <a:solidFill>
                      <a:srgbClr val="FFFFFF"/>
                    </a:solidFill>
                  </a:tcPr>
                </a:tc>
                <a:tc>
                  <a:txBody>
                    <a:bodyPr/>
                    <a:lstStyle/>
                    <a:p>
                      <a:r>
                        <a:rPr sz="900">
                          <a:solidFill>
                            <a:srgbClr val="333333"/>
                          </a:solidFill>
                        </a:rPr>
                        <a:t>I learned or grew in some way</a:t>
                      </a:r>
                    </a:p>
                  </a:txBody>
                  <a:tcPr>
                    <a:solidFill>
                      <a:srgbClr val="FFFFFF"/>
                    </a:solidFill>
                  </a:tcPr>
                </a:tc>
                <a:tc>
                  <a:txBody>
                    <a:bodyPr/>
                    <a:lstStyle/>
                    <a:p>
                      <a:r>
                        <a:rPr sz="900">
                          <a:solidFill>
                            <a:srgbClr val="333333"/>
                          </a:solidFill>
                        </a:rPr>
                        <a:t>Growth</a:t>
                      </a:r>
                    </a:p>
                  </a:txBody>
                  <a:tcPr>
                    <a:solidFill>
                      <a:srgbClr val="FFFFFF"/>
                    </a:solidFill>
                  </a:tcPr>
                </a:tc>
                <a:tc>
                  <a:txBody>
                    <a:bodyPr/>
                    <a:lstStyle/>
                    <a:p>
                      <a:r>
                        <a:rPr sz="900">
                          <a:solidFill>
                            <a:srgbClr val="333333"/>
                          </a:solidFill>
                        </a:rPr>
                        <a:t>Development and challenge</a:t>
                      </a:r>
                    </a:p>
                  </a:txBody>
                  <a:tcPr>
                    <a:solidFill>
                      <a:srgbClr val="FFFFFF"/>
                    </a:solidFill>
                  </a:tcPr>
                </a:tc>
              </a:tr>
            </a:tbl>
          </a:graphicData>
        </a:graphic>
      </p:graphicFrame>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3200" b="1">
                <a:solidFill>
                  <a:srgbClr val="E07C3E"/>
                </a:solidFill>
              </a:defRPr>
            </a:pPr>
            <a:r>
              <a:t>Monday Morning Ritual</a:t>
            </a:r>
          </a:p>
        </p:txBody>
      </p:sp>
      <p:sp>
        <p:nvSpPr>
          <p:cNvPr id="3" name="TextBox 2"/>
          <p:cNvSpPr txBox="1"/>
          <p:nvPr/>
        </p:nvSpPr>
        <p:spPr>
          <a:xfrm>
            <a:off x="640080" y="640080"/>
            <a:ext cx="6281927" cy="5760720"/>
          </a:xfrm>
          <a:prstGeom prst="rect">
            <a:avLst/>
          </a:prstGeom>
          <a:noFill/>
        </p:spPr>
        <p:txBody>
          <a:bodyPr wrap="square">
            <a:spAutoFit/>
          </a:bodyPr>
          <a:lstStyle/>
          <a:p>
            <a:pPr>
              <a:spcAft>
                <a:spcPts val="200"/>
              </a:spcAft>
              <a:defRPr sz="1200" b="1">
                <a:solidFill>
                  <a:srgbClr val="E07C3E"/>
                </a:solidFill>
              </a:defRPr>
            </a:pPr>
            <a:r>
              <a:t>Calculate averages (2 min)</a:t>
            </a:r>
          </a:p>
          <a:p>
            <a:pPr>
              <a:spcAft>
                <a:spcPts val="800"/>
              </a:spcAft>
              <a:defRPr sz="1100">
                <a:solidFill>
                  <a:srgbClr val="333333"/>
                </a:solidFill>
              </a:defRPr>
            </a:pPr>
            <a:r>
              <a:t>Compute the mean score for each Pulse question across your team. Look for trends.</a:t>
            </a:r>
          </a:p>
          <a:p>
            <a:pPr>
              <a:spcAft>
                <a:spcPts val="200"/>
              </a:spcAft>
              <a:defRPr sz="1200" b="1">
                <a:solidFill>
                  <a:srgbClr val="E07C3E"/>
                </a:solidFill>
              </a:defRPr>
            </a:pPr>
            <a:r>
              <a:t>Identify signals (3 min)</a:t>
            </a:r>
          </a:p>
          <a:p>
            <a:pPr>
              <a:spcAft>
                <a:spcPts val="800"/>
              </a:spcAft>
              <a:defRPr sz="1100">
                <a:solidFill>
                  <a:srgbClr val="333333"/>
                </a:solidFill>
              </a:defRPr>
            </a:pPr>
            <a:r>
              <a:t>Where did scores drop? Which dimension is weakest? One or two anomalies in the data?</a:t>
            </a:r>
          </a:p>
          <a:p>
            <a:pPr>
              <a:spcAft>
                <a:spcPts val="200"/>
              </a:spcAft>
              <a:defRPr sz="1200" b="1">
                <a:solidFill>
                  <a:srgbClr val="E07C3E"/>
                </a:solidFill>
              </a:defRPr>
            </a:pPr>
            <a:r>
              <a:t>Decide ONE action (5 min)</a:t>
            </a:r>
          </a:p>
          <a:p>
            <a:pPr>
              <a:spcAft>
                <a:spcPts val="800"/>
              </a:spcAft>
              <a:defRPr sz="1100">
                <a:solidFill>
                  <a:srgbClr val="333333"/>
                </a:solidFill>
              </a:defRPr>
            </a:pPr>
            <a:r>
              <a:t>What's one thing you'll do this week to move the needle? It must be specific and measurable.</a:t>
            </a:r>
          </a:p>
          <a:p>
            <a:pPr>
              <a:spcAft>
                <a:spcPts val="200"/>
              </a:spcAft>
              <a:defRPr sz="1200" b="1">
                <a:solidFill>
                  <a:srgbClr val="E07C3E"/>
                </a:solidFill>
              </a:defRPr>
            </a:pPr>
            <a:r>
              <a:t>Share trends with team (5 min)</a:t>
            </a:r>
          </a:p>
          <a:p>
            <a:pPr>
              <a:spcAft>
                <a:spcPts val="800"/>
              </a:spcAft>
              <a:defRPr sz="1100">
                <a:solidFill>
                  <a:srgbClr val="333333"/>
                </a:solidFill>
              </a:defRPr>
            </a:pPr>
            <a:r>
              <a:t>Show your team the aggregate results (not individual scores). Tell them what you heard. Tell them what you're doing about it.</a:t>
            </a:r>
          </a:p>
          <a:p>
            <a:pPr>
              <a:spcAft>
                <a:spcPts val="400"/>
              </a:spcAft>
              <a:defRPr sz="1200" b="1">
                <a:solidFill>
                  <a:srgbClr val="333333"/>
                </a:solidFill>
              </a:defRPr>
            </a:pPr>
            <a:r>
              <a:t>Common Pitfalls:</a:t>
            </a:r>
          </a:p>
          <a:p>
            <a:pPr>
              <a:spcAft>
                <a:spcPts val="200"/>
              </a:spcAft>
              <a:defRPr sz="1000">
                <a:solidFill>
                  <a:srgbClr val="333333"/>
                </a:solidFill>
              </a:defRPr>
            </a:pPr>
            <a:r>
              <a:t>• Don't make it about individuals—aggregate only</a:t>
            </a:r>
          </a:p>
          <a:p>
            <a:pPr>
              <a:spcAft>
                <a:spcPts val="200"/>
              </a:spcAft>
              <a:defRPr sz="1000">
                <a:solidFill>
                  <a:srgbClr val="333333"/>
                </a:solidFill>
              </a:defRPr>
            </a:pPr>
            <a:r>
              <a:t>• Don't take one low score as gospel—trends matter</a:t>
            </a:r>
          </a:p>
          <a:p>
            <a:pPr>
              <a:spcAft>
                <a:spcPts val="200"/>
              </a:spcAft>
              <a:defRPr sz="1000">
                <a:solidFill>
                  <a:srgbClr val="333333"/>
                </a:solidFill>
              </a:defRPr>
            </a:pPr>
            <a:r>
              <a:t>• Don't promise action you won't take—credibility is everything</a:t>
            </a:r>
          </a:p>
          <a:p>
            <a:pPr>
              <a:spcAft>
                <a:spcPts val="200"/>
              </a:spcAft>
              <a:defRPr sz="1000">
                <a:solidFill>
                  <a:srgbClr val="333333"/>
                </a:solidFill>
              </a:defRPr>
            </a:pPr>
            <a:r>
              <a:t>• Don't make the ritual optional—it only works with consistency</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2286000"/>
            <a:ext cx="6281927" cy="731520"/>
          </a:xfrm>
          <a:prstGeom prst="rect">
            <a:avLst/>
          </a:prstGeom>
          <a:noFill/>
        </p:spPr>
        <p:txBody>
          <a:bodyPr wrap="square">
            <a:spAutoFit/>
          </a:bodyPr>
          <a:lstStyle/>
          <a:p>
            <a:pPr algn="ctr">
              <a:defRPr sz="1600">
                <a:solidFill>
                  <a:srgbClr val="FFFFFF"/>
                </a:solidFill>
              </a:defRPr>
            </a:pPr>
            <a:r>
              <a:t>Part 5</a:t>
            </a:r>
          </a:p>
        </p:txBody>
      </p:sp>
      <p:sp>
        <p:nvSpPr>
          <p:cNvPr id="3" name="TextBox 2"/>
          <p:cNvSpPr txBox="1"/>
          <p:nvPr/>
        </p:nvSpPr>
        <p:spPr>
          <a:xfrm>
            <a:off x="640080" y="3200400"/>
            <a:ext cx="6281927" cy="1371600"/>
          </a:xfrm>
          <a:prstGeom prst="rect">
            <a:avLst/>
          </a:prstGeom>
          <a:noFill/>
        </p:spPr>
        <p:txBody>
          <a:bodyPr wrap="square">
            <a:spAutoFit/>
          </a:bodyPr>
          <a:lstStyle/>
          <a:p>
            <a:pPr algn="ctr">
              <a:defRPr sz="4400" b="1">
                <a:solidFill>
                  <a:srgbClr val="FFFFFF"/>
                </a:solidFill>
              </a:defRPr>
            </a:pPr>
            <a:r>
              <a:t>Real Stories from the Trenches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l">
              <a:defRPr sz="2800" b="1">
                <a:solidFill>
                  <a:srgbClr val="E07C3E"/>
                </a:solidFill>
              </a:defRPr>
            </a:pPr>
            <a:r>
              <a:t>Story 1: What Broke at Mailigen at 15 People vs. 30</a:t>
            </a:r>
          </a:p>
        </p:txBody>
      </p:sp>
      <p:sp>
        <p:nvSpPr>
          <p:cNvPr id="3" name="TextBox 2"/>
          <p:cNvSpPr txBox="1"/>
          <p:nvPr/>
        </p:nvSpPr>
        <p:spPr>
          <a:xfrm>
            <a:off x="640080" y="1280160"/>
            <a:ext cx="6281927" cy="5120640"/>
          </a:xfrm>
          <a:prstGeom prst="rect">
            <a:avLst/>
          </a:prstGeom>
          <a:noFill/>
        </p:spPr>
        <p:txBody>
          <a:bodyPr wrap="square">
            <a:spAutoFit/>
          </a:bodyPr>
          <a:lstStyle/>
          <a:p>
            <a:pPr>
              <a:spcAft>
                <a:spcPts val="400"/>
              </a:spcAft>
              <a:defRPr sz="900">
                <a:solidFill>
                  <a:srgbClr val="333333"/>
                </a:solidFill>
              </a:defRPr>
            </a:pPr>
            <a:r>
              <a:t>Started in a 12 square meter office, 4 people. Built a product and a team. As founder, I traveled constantly—remote from other timezones, landing in Riga for couple-week stretches to lead and then leaving again.</a:t>
            </a:r>
          </a:p>
          <a:p>
            <a:pPr>
              <a:spcAft>
                <a:spcPts val="400"/>
              </a:spcAft>
              <a:defRPr sz="900">
                <a:solidFill>
                  <a:srgbClr val="333333"/>
                </a:solidFill>
              </a:defRPr>
            </a:pPr>
          </a:p>
          <a:p>
            <a:pPr>
              <a:spcAft>
                <a:spcPts val="400"/>
              </a:spcAft>
              <a:defRPr sz="900">
                <a:solidFill>
                  <a:srgbClr val="333333"/>
                </a:solidFill>
              </a:defRPr>
            </a:pPr>
            <a:r>
              <a:t>My business partner ran the Riga office day-to-day in my absence. The team shaped its own dynamics without my constant presence.</a:t>
            </a:r>
          </a:p>
          <a:p>
            <a:pPr>
              <a:spcAft>
                <a:spcPts val="400"/>
              </a:spcAft>
              <a:defRPr sz="900">
                <a:solidFill>
                  <a:srgbClr val="333333"/>
                </a:solidFill>
              </a:defRPr>
            </a:pPr>
          </a:p>
          <a:p>
            <a:pPr>
              <a:spcAft>
                <a:spcPts val="400"/>
              </a:spcAft>
              <a:defRPr sz="900">
                <a:solidFill>
                  <a:srgbClr val="333333"/>
                </a:solidFill>
              </a:defRPr>
            </a:pPr>
            <a:r>
              <a:t>At 15 people: The first crack appeared—a clarity crack. I asked a developer what they were working on. They didn't know. Not in a vague way. They literally couldn't articulate their own work. I realized our knowledge sharing had broken.</a:t>
            </a:r>
          </a:p>
          <a:p>
            <a:pPr>
              <a:spcAft>
                <a:spcPts val="400"/>
              </a:spcAft>
              <a:defRPr sz="900">
                <a:solidFill>
                  <a:srgbClr val="333333"/>
                </a:solidFill>
              </a:defRPr>
            </a:pPr>
          </a:p>
          <a:p>
            <a:pPr>
              <a:spcAft>
                <a:spcPts val="400"/>
              </a:spcAft>
              <a:defRPr sz="900">
                <a:solidFill>
                  <a:srgbClr val="333333"/>
                </a:solidFill>
              </a:defRPr>
            </a:pPr>
            <a:r>
              <a:t>The fix was simple but systemic: Single source of truth for priorities. Owner accountability for each piece of work. Exception-based communication instead of constant status updates. Result: We reduced meeting time by 40%.</a:t>
            </a:r>
          </a:p>
          <a:p>
            <a:pPr>
              <a:spcAft>
                <a:spcPts val="400"/>
              </a:spcAft>
              <a:defRPr sz="900">
                <a:solidFill>
                  <a:srgbClr val="333333"/>
                </a:solidFill>
              </a:defRPr>
            </a:pPr>
          </a:p>
          <a:p>
            <a:pPr>
              <a:spcAft>
                <a:spcPts val="400"/>
              </a:spcAft>
              <a:defRPr sz="900">
                <a:solidFill>
                  <a:srgbClr val="333333"/>
                </a:solidFill>
              </a:defRPr>
            </a:pPr>
            <a:r>
              <a:t>At 30 people: Different break. This wasn't clarity anymore—it was trust.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l">
              <a:defRPr sz="2800" b="1">
                <a:solidFill>
                  <a:srgbClr val="E07C3E"/>
                </a:solidFill>
              </a:defRPr>
            </a:pPr>
            <a:r>
              <a:t>The 30-Person Fracture</a:t>
            </a:r>
          </a:p>
        </p:txBody>
      </p:sp>
      <p:sp>
        <p:nvSpPr>
          <p:cNvPr id="3" name="TextBox 2"/>
          <p:cNvSpPr txBox="1"/>
          <p:nvPr/>
        </p:nvSpPr>
        <p:spPr>
          <a:xfrm>
            <a:off x="640080" y="1280160"/>
            <a:ext cx="6281927" cy="5120640"/>
          </a:xfrm>
          <a:prstGeom prst="rect">
            <a:avLst/>
          </a:prstGeom>
          <a:noFill/>
        </p:spPr>
        <p:txBody>
          <a:bodyPr wrap="square">
            <a:spAutoFit/>
          </a:bodyPr>
          <a:lstStyle/>
          <a:p>
            <a:pPr>
              <a:spcAft>
                <a:spcPts val="400"/>
              </a:spcAft>
              <a:defRPr sz="900">
                <a:solidFill>
                  <a:srgbClr val="333333"/>
                </a:solidFill>
              </a:defRPr>
            </a:pPr>
            <a:r>
              <a:t>At 30 people, Trust broke. The company looked functional—clear priorities, good meetings, on track. But underneath, people were talking in subgroups. "Meeting after the meeting" became a pattern. People weren't bringing real concerns to the table.</a:t>
            </a:r>
          </a:p>
          <a:p>
            <a:pPr>
              <a:spcAft>
                <a:spcPts val="400"/>
              </a:spcAft>
              <a:defRPr sz="900">
                <a:solidFill>
                  <a:srgbClr val="333333"/>
                </a:solidFill>
              </a:defRPr>
            </a:pPr>
          </a:p>
          <a:p>
            <a:pPr>
              <a:spcAft>
                <a:spcPts val="400"/>
              </a:spcAft>
              <a:defRPr sz="900">
                <a:solidFill>
                  <a:srgbClr val="333333"/>
                </a:solidFill>
              </a:defRPr>
            </a:pPr>
            <a:r>
              <a:t>What I hadn't understood: I was founder and leader of a now-bigger team. My pattern was to be the decision-maker and problem-solver. That worked at 15 but created a dynamic at 30 where people didn't feel safe disagreeing with me.</a:t>
            </a:r>
          </a:p>
          <a:p>
            <a:pPr>
              <a:spcAft>
                <a:spcPts val="400"/>
              </a:spcAft>
              <a:defRPr sz="900">
                <a:solidFill>
                  <a:srgbClr val="333333"/>
                </a:solidFill>
              </a:defRPr>
            </a:pPr>
          </a:p>
          <a:p>
            <a:pPr>
              <a:spcAft>
                <a:spcPts val="400"/>
              </a:spcAft>
              <a:defRPr sz="900">
                <a:solidFill>
                  <a:srgbClr val="333333"/>
                </a:solidFill>
              </a:defRPr>
            </a:pPr>
            <a:r>
              <a:t>The fix was personal: Model vulnerability. Share a real mistake and what happened. In team meetings, explicitly ask 'What do you disagree with?' and then—this was hard—actually listen without defending myself. Bring concerns that came up in 1-on-1s into the team. Smaller forums for working through hard problems.</a:t>
            </a:r>
          </a:p>
          <a:p>
            <a:pPr>
              <a:spcAft>
                <a:spcPts val="400"/>
              </a:spcAft>
              <a:defRPr sz="900">
                <a:solidFill>
                  <a:srgbClr val="333333"/>
                </a:solidFill>
              </a:defRPr>
            </a:pPr>
          </a:p>
          <a:p>
            <a:pPr>
              <a:spcAft>
                <a:spcPts val="400"/>
              </a:spcAft>
              <a:defRPr sz="900">
                <a:solidFill>
                  <a:srgbClr val="333333"/>
                </a:solidFill>
              </a:defRPr>
            </a:pPr>
            <a:r>
              <a:t>The pattern I learned: Growth stages break different things.</a:t>
            </a:r>
          </a:p>
          <a:p>
            <a:pPr>
              <a:spcAft>
                <a:spcPts val="400"/>
              </a:spcAft>
              <a:defRPr sz="900">
                <a:solidFill>
                  <a:srgbClr val="333333"/>
                </a:solidFill>
              </a:defRPr>
            </a:pPr>
            <a:r>
              <a:t>- 5→15: Automatic. You know everyone.</a:t>
            </a:r>
          </a:p>
          <a:p>
            <a:pPr>
              <a:spcAft>
                <a:spcPts val="400"/>
              </a:spcAft>
              <a:defRPr sz="900">
                <a:solidFill>
                  <a:srgbClr val="333333"/>
                </a:solidFill>
              </a:defRPr>
            </a:pPr>
            <a:r>
              <a:t>- 15→30: Clarity breaks. The knowledge in your head isn't distributed.</a:t>
            </a:r>
          </a:p>
          <a:p>
            <a:pPr>
              <a:spcAft>
                <a:spcPts val="400"/>
              </a:spcAft>
              <a:defRPr sz="900">
                <a:solidFill>
                  <a:srgbClr val="333333"/>
                </a:solidFill>
              </a:defRPr>
            </a:pPr>
            <a:r>
              <a:t>- 30→50+: Trust breaks. The team is big enough for subgroups.</a:t>
            </a:r>
          </a:p>
          <a:p>
            <a:pPr>
              <a:spcAft>
                <a:spcPts val="400"/>
              </a:spcAft>
              <a:defRPr sz="900">
                <a:solidFill>
                  <a:srgbClr val="333333"/>
                </a:solidFill>
              </a:defRPr>
            </a:pPr>
            <a:r>
              <a:t>- 50+: Alignment breaks. Different functions have different views of the future.</a:t>
            </a:r>
          </a:p>
          <a:p>
            <a:pPr>
              <a:spcAft>
                <a:spcPts val="400"/>
              </a:spcAft>
              <a:defRPr sz="900">
                <a:solidFill>
                  <a:srgbClr val="333333"/>
                </a:solidFill>
              </a:defRPr>
            </a:pPr>
          </a:p>
          <a:p>
            <a:pPr>
              <a:spcAft>
                <a:spcPts val="400"/>
              </a:spcAft>
              <a:defRPr sz="900">
                <a:solidFill>
                  <a:srgbClr val="333333"/>
                </a:solidFill>
              </a:defRPr>
            </a:pPr>
            <a:r>
              <a:t>Each stage requires different interventions.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l">
              <a:defRPr sz="2800" b="1">
                <a:solidFill>
                  <a:srgbClr val="E07C3E"/>
                </a:solidFill>
              </a:defRPr>
            </a:pPr>
            <a:r>
              <a:t>Story 2: Pipedrive's PE Transition</a:t>
            </a:r>
          </a:p>
        </p:txBody>
      </p:sp>
      <p:sp>
        <p:nvSpPr>
          <p:cNvPr id="3" name="TextBox 2"/>
          <p:cNvSpPr txBox="1"/>
          <p:nvPr/>
        </p:nvSpPr>
        <p:spPr>
          <a:xfrm>
            <a:off x="640080" y="1280160"/>
            <a:ext cx="6281927" cy="5120640"/>
          </a:xfrm>
          <a:prstGeom prst="rect">
            <a:avLst/>
          </a:prstGeom>
          <a:noFill/>
        </p:spPr>
        <p:txBody>
          <a:bodyPr wrap="square">
            <a:spAutoFit/>
          </a:bodyPr>
          <a:lstStyle/>
          <a:p>
            <a:pPr>
              <a:spcAft>
                <a:spcPts val="400"/>
              </a:spcAft>
              <a:defRPr sz="900">
                <a:solidFill>
                  <a:srgbClr val="333333"/>
                </a:solidFill>
              </a:defRPr>
            </a:pPr>
            <a:r>
              <a:t>Joined Pipedrive as VP Product when it was 700 people. Company was already a unicorn. I led Product/R&amp;D (about 450 people). The company was built on a product-led, bottom-up culture. CEO was "customer zero."</a:t>
            </a:r>
          </a:p>
          <a:p>
            <a:pPr>
              <a:spcAft>
                <a:spcPts val="400"/>
              </a:spcAft>
              <a:defRPr sz="900">
                <a:solidFill>
                  <a:srgbClr val="333333"/>
                </a:solidFill>
              </a:defRPr>
            </a:pPr>
          </a:p>
          <a:p>
            <a:pPr>
              <a:spcAft>
                <a:spcPts val="400"/>
              </a:spcAft>
              <a:defRPr sz="900">
                <a:solidFill>
                  <a:srgbClr val="333333"/>
                </a:solidFill>
              </a:defRPr>
            </a:pPr>
            <a:r>
              <a:t>All five CETAG dimensions collapsed simultaneously during the PE transition with Vista Equity Partners.</a:t>
            </a:r>
          </a:p>
          <a:p>
            <a:pPr>
              <a:spcAft>
                <a:spcPts val="400"/>
              </a:spcAft>
              <a:defRPr sz="900">
                <a:solidFill>
                  <a:srgbClr val="333333"/>
                </a:solidFill>
              </a:defRPr>
            </a:pPr>
          </a:p>
          <a:p>
            <a:pPr>
              <a:spcAft>
                <a:spcPts val="400"/>
              </a:spcAft>
              <a:defRPr sz="900">
                <a:solidFill>
                  <a:srgbClr val="333333"/>
                </a:solidFill>
              </a:defRPr>
            </a:pPr>
            <a:r>
              <a:t>What I did: Extreme transparency about what was changing and what wasn't. Steady priorities—I protected the product roadmap from chaos. Individual conversations with key people (yes, all 450 was a long quarter). Protected team autonomy where it mattered.</a:t>
            </a:r>
          </a:p>
          <a:p>
            <a:pPr>
              <a:spcAft>
                <a:spcPts val="400"/>
              </a:spcAft>
              <a:defRPr sz="900">
                <a:solidFill>
                  <a:srgbClr val="333333"/>
                </a:solidFill>
              </a:defRPr>
            </a:pPr>
          </a:p>
          <a:p>
            <a:pPr>
              <a:spcAft>
                <a:spcPts val="400"/>
              </a:spcAft>
              <a:defRPr sz="900">
                <a:solidFill>
                  <a:srgbClr val="333333"/>
                </a:solidFill>
              </a:defRPr>
            </a:pPr>
            <a:r>
              <a:t>What I'd do differently: Name the dynamic earlier. Create transition milestones so people know what's happening and when. Address retention proactively. Don't assume people understand change. Make it visible that you're thinking about their career continuity.</a:t>
            </a:r>
          </a:p>
          <a:p>
            <a:pPr>
              <a:spcAft>
                <a:spcPts val="400"/>
              </a:spcAft>
              <a:defRPr sz="900">
                <a:solidFill>
                  <a:srgbClr val="333333"/>
                </a:solidFill>
              </a:defRPr>
            </a:pPr>
          </a:p>
          <a:p>
            <a:pPr>
              <a:spcAft>
                <a:spcPts val="400"/>
              </a:spcAft>
              <a:defRPr sz="900">
                <a:solidFill>
                  <a:srgbClr val="333333"/>
                </a:solidFill>
              </a:defRPr>
            </a:pPr>
            <a:r>
              <a:t>The lesson: During major transitions, stabilize Trust and Clarity first. Everything else comes after people feel safe and know what's expected.</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548640"/>
          </a:xfrm>
          <a:prstGeom prst="rect">
            <a:avLst/>
          </a:prstGeom>
          <a:noFill/>
        </p:spPr>
        <p:txBody>
          <a:bodyPr wrap="square">
            <a:spAutoFit/>
          </a:bodyPr>
          <a:lstStyle/>
          <a:p>
            <a:pPr algn="l">
              <a:defRPr sz="2800" b="1">
                <a:solidFill>
                  <a:srgbClr val="E07C3E"/>
                </a:solidFill>
              </a:defRPr>
            </a:pPr>
            <a:r>
              <a:t>Story 3: Aerones Product Transformation</a:t>
            </a:r>
          </a:p>
        </p:txBody>
      </p:sp>
      <p:sp>
        <p:nvSpPr>
          <p:cNvPr id="3" name="TextBox 2"/>
          <p:cNvSpPr txBox="1"/>
          <p:nvPr/>
        </p:nvSpPr>
        <p:spPr>
          <a:xfrm>
            <a:off x="640080" y="1280160"/>
            <a:ext cx="6281927" cy="5120640"/>
          </a:xfrm>
          <a:prstGeom prst="rect">
            <a:avLst/>
          </a:prstGeom>
          <a:noFill/>
        </p:spPr>
        <p:txBody>
          <a:bodyPr wrap="square">
            <a:spAutoFit/>
          </a:bodyPr>
          <a:lstStyle/>
          <a:p>
            <a:pPr>
              <a:spcAft>
                <a:spcPts val="400"/>
              </a:spcAft>
              <a:defRPr sz="900">
                <a:solidFill>
                  <a:srgbClr val="333333"/>
                </a:solidFill>
              </a:defRPr>
            </a:pPr>
            <a:r>
              <a:t>Wind turbine robotic maintenance service and digital solutions company. CETAG diagnostic on arrival revealed gaps across all dimensions.</a:t>
            </a:r>
          </a:p>
          <a:p>
            <a:pPr>
              <a:spcAft>
                <a:spcPts val="400"/>
              </a:spcAft>
              <a:defRPr sz="900">
                <a:solidFill>
                  <a:srgbClr val="333333"/>
                </a:solidFill>
              </a:defRPr>
            </a:pPr>
          </a:p>
          <a:p>
            <a:pPr>
              <a:spcAft>
                <a:spcPts val="400"/>
              </a:spcAft>
              <a:defRPr sz="900">
                <a:solidFill>
                  <a:srgbClr val="333333"/>
                </a:solidFill>
              </a:defRPr>
            </a:pPr>
            <a:r>
              <a:t>Phase 1—Externalize the Mental Model: Documented why we exist, what we're trying to win, who we serve, how we work, when we measure success. Made the invisible visible.</a:t>
            </a:r>
          </a:p>
          <a:p>
            <a:pPr>
              <a:spcAft>
                <a:spcPts val="400"/>
              </a:spcAft>
              <a:defRPr sz="900">
                <a:solidFill>
                  <a:srgbClr val="333333"/>
                </a:solidFill>
              </a:defRPr>
            </a:pPr>
          </a:p>
          <a:p>
            <a:pPr>
              <a:spcAft>
                <a:spcPts val="400"/>
              </a:spcAft>
              <a:defRPr sz="900">
                <a:solidFill>
                  <a:srgbClr val="333333"/>
                </a:solidFill>
              </a:defRPr>
            </a:pPr>
            <a:r>
              <a:t>Phase 2—Reorganize and Shift: Teams organized into focused tribes with end-to-end ownership. Shifted from measuring Output (meetings, tickets completed) to Outcome (actual business impact). Used ADKAR change model for structured transformation.</a:t>
            </a:r>
          </a:p>
          <a:p>
            <a:pPr>
              <a:spcAft>
                <a:spcPts val="400"/>
              </a:spcAft>
              <a:defRPr sz="900">
                <a:solidFill>
                  <a:srgbClr val="333333"/>
                </a:solidFill>
              </a:defRPr>
            </a:pPr>
          </a:p>
          <a:p>
            <a:pPr>
              <a:spcAft>
                <a:spcPts val="400"/>
              </a:spcAft>
              <a:defRPr sz="900">
                <a:solidFill>
                  <a:srgbClr val="333333"/>
                </a:solidFill>
              </a:defRPr>
            </a:pPr>
            <a:r>
              <a:t>Phase 3—Invest in Growth and Culture: Development budgets, learning time, mentorship programs.</a:t>
            </a:r>
          </a:p>
          <a:p>
            <a:pPr>
              <a:spcAft>
                <a:spcPts val="400"/>
              </a:spcAft>
              <a:defRPr sz="900">
                <a:solidFill>
                  <a:srgbClr val="333333"/>
                </a:solidFill>
              </a:defRPr>
            </a:pPr>
          </a:p>
          <a:p>
            <a:pPr>
              <a:spcAft>
                <a:spcPts val="400"/>
              </a:spcAft>
              <a:defRPr sz="900">
                <a:solidFill>
                  <a:srgbClr val="333333"/>
                </a:solidFill>
              </a:defRPr>
            </a:pPr>
            <a:r>
              <a:t>The ongoing lesson: The transformation took longer than expected—these things always do. But the change was unmistakable and positive.</a:t>
            </a:r>
          </a:p>
          <a:p>
            <a:pPr>
              <a:spcAft>
                <a:spcPts val="400"/>
              </a:spcAft>
              <a:defRPr sz="900">
                <a:solidFill>
                  <a:srgbClr val="333333"/>
                </a:solidFill>
              </a:defRPr>
            </a:pPr>
          </a:p>
          <a:p>
            <a:pPr>
              <a:spcAft>
                <a:spcPts val="400"/>
              </a:spcAft>
              <a:defRPr sz="900">
                <a:solidFill>
                  <a:srgbClr val="333333"/>
                </a:solidFill>
              </a:defRPr>
            </a:pPr>
            <a:r>
              <a:t>A robotics company that's scaling will always have tension between engineering craft and business deadlines. That tension is healthy. The CETAG framework helped us manage it instead of letting it break us.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2286000"/>
            <a:ext cx="6281927" cy="731520"/>
          </a:xfrm>
          <a:prstGeom prst="rect">
            <a:avLst/>
          </a:prstGeom>
          <a:noFill/>
        </p:spPr>
        <p:txBody>
          <a:bodyPr wrap="square">
            <a:spAutoFit/>
          </a:bodyPr>
          <a:lstStyle/>
          <a:p>
            <a:pPr algn="ctr">
              <a:defRPr sz="1600">
                <a:solidFill>
                  <a:srgbClr val="FFFFFF"/>
                </a:solidFill>
              </a:defRPr>
            </a:pPr>
            <a:r>
              <a:t>Part 6</a:t>
            </a:r>
          </a:p>
        </p:txBody>
      </p:sp>
      <p:sp>
        <p:nvSpPr>
          <p:cNvPr id="3" name="TextBox 2"/>
          <p:cNvSpPr txBox="1"/>
          <p:nvPr/>
        </p:nvSpPr>
        <p:spPr>
          <a:xfrm>
            <a:off x="640080" y="3200400"/>
            <a:ext cx="6281927" cy="1371600"/>
          </a:xfrm>
          <a:prstGeom prst="rect">
            <a:avLst/>
          </a:prstGeom>
          <a:noFill/>
        </p:spPr>
        <p:txBody>
          <a:bodyPr wrap="square">
            <a:spAutoFit/>
          </a:bodyPr>
          <a:lstStyle/>
          <a:p>
            <a:pPr algn="ctr">
              <a:defRPr sz="4400" b="1">
                <a:solidFill>
                  <a:srgbClr val="FFFFFF"/>
                </a:solidFill>
              </a:defRPr>
            </a:pPr>
            <a:r>
              <a:t>The Quick Start Guide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3200" b="1">
                <a:solidFill>
                  <a:srgbClr val="E07C3E"/>
                </a:solidFill>
              </a:defRPr>
            </a:pPr>
            <a:r>
              <a:t>Your First 5 Days</a:t>
            </a:r>
          </a:p>
        </p:txBody>
      </p:sp>
      <p:sp>
        <p:nvSpPr>
          <p:cNvPr id="3" name="TextBox 2"/>
          <p:cNvSpPr txBox="1"/>
          <p:nvPr/>
        </p:nvSpPr>
        <p:spPr>
          <a:xfrm>
            <a:off x="640080" y="640080"/>
            <a:ext cx="6281927" cy="5760720"/>
          </a:xfrm>
          <a:prstGeom prst="rect">
            <a:avLst/>
          </a:prstGeom>
          <a:noFill/>
        </p:spPr>
        <p:txBody>
          <a:bodyPr wrap="square">
            <a:spAutoFit/>
          </a:bodyPr>
          <a:lstStyle/>
          <a:p>
            <a:pPr>
              <a:spcAft>
                <a:spcPts val="200"/>
              </a:spcAft>
              <a:defRPr sz="1200" b="1">
                <a:solidFill>
                  <a:srgbClr val="E07C3E"/>
                </a:solidFill>
              </a:defRPr>
            </a:pPr>
            <a:r>
              <a:t>Day 1 - Monday: Assess (45 min)</a:t>
            </a:r>
          </a:p>
          <a:p>
            <a:pPr>
              <a:spcAft>
                <a:spcPts val="800"/>
              </a:spcAft>
              <a:defRPr sz="1100">
                <a:solidFill>
                  <a:srgbClr val="333333"/>
                </a:solidFill>
              </a:defRPr>
            </a:pPr>
            <a:r>
              <a:t>Run quick CETAG assessment. Identify which dimensions are weakest. Set up Weekly Pulse baseline.</a:t>
            </a:r>
          </a:p>
          <a:p>
            <a:pPr>
              <a:spcAft>
                <a:spcPts val="200"/>
              </a:spcAft>
              <a:defRPr sz="1200" b="1">
                <a:solidFill>
                  <a:srgbClr val="E07C3E"/>
                </a:solidFill>
              </a:defRPr>
            </a:pPr>
            <a:r>
              <a:t>Day 2 - Tuesday: Listen (30 min/person)</a:t>
            </a:r>
          </a:p>
          <a:p>
            <a:pPr>
              <a:spcAft>
                <a:spcPts val="800"/>
              </a:spcAft>
              <a:defRPr sz="1100">
                <a:solidFill>
                  <a:srgbClr val="333333"/>
                </a:solidFill>
              </a:defRPr>
            </a:pPr>
            <a:r>
              <a:t>Run diagnostic conversations with 5-10 key people. Focus on questions, not solutions.</a:t>
            </a:r>
          </a:p>
          <a:p>
            <a:pPr>
              <a:spcAft>
                <a:spcPts val="200"/>
              </a:spcAft>
              <a:defRPr sz="1200" b="1">
                <a:solidFill>
                  <a:srgbClr val="E07C3E"/>
                </a:solidFill>
              </a:defRPr>
            </a:pPr>
            <a:r>
              <a:t>Day 3 - Wednesday: Analyze (60 min)</a:t>
            </a:r>
          </a:p>
          <a:p>
            <a:pPr>
              <a:spcAft>
                <a:spcPts val="800"/>
              </a:spcAft>
              <a:defRPr sz="1100">
                <a:solidFill>
                  <a:srgbClr val="333333"/>
                </a:solidFill>
              </a:defRPr>
            </a:pPr>
            <a:r>
              <a:t>Map findings to CETAG. Identify one critical issue to address. Write it down.</a:t>
            </a:r>
          </a:p>
          <a:p>
            <a:pPr>
              <a:spcAft>
                <a:spcPts val="200"/>
              </a:spcAft>
              <a:defRPr sz="1200" b="1">
                <a:solidFill>
                  <a:srgbClr val="E07C3E"/>
                </a:solidFill>
              </a:defRPr>
            </a:pPr>
            <a:r>
              <a:t>Day 4 - Thursday: Act</a:t>
            </a:r>
          </a:p>
          <a:p>
            <a:pPr>
              <a:spcAft>
                <a:spcPts val="800"/>
              </a:spcAft>
              <a:defRPr sz="1100">
                <a:solidFill>
                  <a:srgbClr val="333333"/>
                </a:solidFill>
              </a:defRPr>
            </a:pPr>
            <a:r>
              <a:t>Execute your one thing. Small move. Visible move. Something that proves you heard them.</a:t>
            </a:r>
          </a:p>
          <a:p>
            <a:pPr>
              <a:spcAft>
                <a:spcPts val="200"/>
              </a:spcAft>
              <a:defRPr sz="1200" b="1">
                <a:solidFill>
                  <a:srgbClr val="E07C3E"/>
                </a:solidFill>
              </a:defRPr>
            </a:pPr>
            <a:r>
              <a:t>Day 5 - Friday: Measure and Plan (30 min)</a:t>
            </a:r>
          </a:p>
          <a:p>
            <a:pPr>
              <a:spcAft>
                <a:spcPts val="800"/>
              </a:spcAft>
              <a:defRPr sz="1100">
                <a:solidFill>
                  <a:srgbClr val="333333"/>
                </a:solidFill>
              </a:defRPr>
            </a:pPr>
            <a:r>
              <a:t>Run first Weekly Pulse. Check: Did I move the needle? What's next week?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3200" b="1">
                <a:solidFill>
                  <a:srgbClr val="E07C3E"/>
                </a:solidFill>
              </a:defRPr>
            </a:pPr>
            <a:r>
              <a:t>CETAG Cheat Sheet</a:t>
            </a:r>
          </a:p>
        </p:txBody>
      </p:sp>
      <p:graphicFrame>
        <p:nvGraphicFramePr>
          <p:cNvPr id="3" name="Table 2"/>
          <p:cNvGraphicFramePr>
            <a:graphicFrameLocks noGrp="1"/>
          </p:cNvGraphicFramePr>
          <p:nvPr/>
        </p:nvGraphicFramePr>
        <p:xfrm>
          <a:off x="640080" y="640080"/>
          <a:ext cx="6281928" cy="4846320"/>
        </p:xfrm>
        <a:graphic>
          <a:graphicData uri="http://schemas.openxmlformats.org/drawingml/2006/table">
            <a:tbl>
              <a:tblPr firstRow="1" bandRow="1">
                <a:tableStyleId>{5C22544A-7EE6-4342-B048-85BDC9FD1C3A}</a:tableStyleId>
              </a:tblPr>
              <a:tblGrid>
                <a:gridCol w="941832"/>
                <a:gridCol w="2167128"/>
                <a:gridCol w="3172968"/>
              </a:tblGrid>
              <a:tr h="807720">
                <a:tc>
                  <a:txBody>
                    <a:bodyPr/>
                    <a:lstStyle/>
                    <a:p>
                      <a:r>
                        <a:rPr b="1" sz="1100">
                          <a:solidFill>
                            <a:srgbClr val="FFFFFF"/>
                          </a:solidFill>
                        </a:rPr>
                        <a:t>Dimension</a:t>
                      </a:r>
                    </a:p>
                  </a:txBody>
                  <a:tcPr>
                    <a:solidFill>
                      <a:srgbClr val="E07C3E"/>
                    </a:solidFill>
                  </a:tcPr>
                </a:tc>
                <a:tc>
                  <a:txBody>
                    <a:bodyPr/>
                    <a:lstStyle/>
                    <a:p>
                      <a:r>
                        <a:rPr b="1" sz="1100">
                          <a:solidFill>
                            <a:srgbClr val="FFFFFF"/>
                          </a:solidFill>
                        </a:rPr>
                        <a:t>Core Question</a:t>
                      </a:r>
                    </a:p>
                  </a:txBody>
                  <a:tcPr>
                    <a:solidFill>
                      <a:srgbClr val="E07C3E"/>
                    </a:solidFill>
                  </a:tcPr>
                </a:tc>
                <a:tc>
                  <a:txBody>
                    <a:bodyPr/>
                    <a:lstStyle/>
                    <a:p>
                      <a:r>
                        <a:rPr b="1" sz="1100">
                          <a:solidFill>
                            <a:srgbClr val="FFFFFF"/>
                          </a:solidFill>
                        </a:rPr>
                        <a:t>Key Focus</a:t>
                      </a:r>
                    </a:p>
                  </a:txBody>
                  <a:tcPr>
                    <a:solidFill>
                      <a:srgbClr val="E07C3E"/>
                    </a:solidFill>
                  </a:tcPr>
                </a:tc>
              </a:tr>
              <a:tr h="807720">
                <a:tc>
                  <a:txBody>
                    <a:bodyPr/>
                    <a:lstStyle/>
                    <a:p>
                      <a:r>
                        <a:rPr sz="1000">
                          <a:solidFill>
                            <a:srgbClr val="333333"/>
                          </a:solidFill>
                        </a:rPr>
                        <a:t>CLARITY</a:t>
                      </a:r>
                    </a:p>
                  </a:txBody>
                  <a:tcPr>
                    <a:solidFill>
                      <a:srgbClr val="FFFFFF"/>
                    </a:solidFill>
                  </a:tcPr>
                </a:tc>
                <a:tc>
                  <a:txBody>
                    <a:bodyPr/>
                    <a:lstStyle/>
                    <a:p>
                      <a:r>
                        <a:rPr sz="1000">
                          <a:solidFill>
                            <a:srgbClr val="333333"/>
                          </a:solidFill>
                        </a:rPr>
                        <a:t>Does everyone know what to do and why?</a:t>
                      </a:r>
                    </a:p>
                  </a:txBody>
                  <a:tcPr>
                    <a:solidFill>
                      <a:srgbClr val="FFFFFF"/>
                    </a:solidFill>
                  </a:tcPr>
                </a:tc>
                <a:tc>
                  <a:txBody>
                    <a:bodyPr/>
                    <a:lstStyle/>
                    <a:p>
                      <a:r>
                        <a:rPr sz="1000">
                          <a:solidFill>
                            <a:srgbClr val="333333"/>
                          </a:solidFill>
                        </a:rPr>
                        <a:t>Priorities, roles, success metrics</a:t>
                      </a:r>
                    </a:p>
                  </a:txBody>
                  <a:tcPr>
                    <a:solidFill>
                      <a:srgbClr val="FFFFFF"/>
                    </a:solidFill>
                  </a:tcPr>
                </a:tc>
              </a:tr>
              <a:tr h="807720">
                <a:tc>
                  <a:txBody>
                    <a:bodyPr/>
                    <a:lstStyle/>
                    <a:p>
                      <a:r>
                        <a:rPr sz="1000">
                          <a:solidFill>
                            <a:srgbClr val="333333"/>
                          </a:solidFill>
                        </a:rPr>
                        <a:t>ENERGY</a:t>
                      </a:r>
                    </a:p>
                  </a:txBody>
                  <a:tcPr>
                    <a:solidFill>
                      <a:srgbClr val="F5F5F5"/>
                    </a:solidFill>
                  </a:tcPr>
                </a:tc>
                <a:tc>
                  <a:txBody>
                    <a:bodyPr/>
                    <a:lstStyle/>
                    <a:p>
                      <a:r>
                        <a:rPr sz="1000">
                          <a:solidFill>
                            <a:srgbClr val="333333"/>
                          </a:solidFill>
                        </a:rPr>
                        <a:t>Does the team have fuel for great work?</a:t>
                      </a:r>
                    </a:p>
                  </a:txBody>
                  <a:tcPr>
                    <a:solidFill>
                      <a:srgbClr val="F5F5F5"/>
                    </a:solidFill>
                  </a:tcPr>
                </a:tc>
                <a:tc>
                  <a:txBody>
                    <a:bodyPr/>
                    <a:lstStyle/>
                    <a:p>
                      <a:r>
                        <a:rPr sz="1000">
                          <a:solidFill>
                            <a:srgbClr val="333333"/>
                          </a:solidFill>
                        </a:rPr>
                        <a:t>Meaning + progress - friction</a:t>
                      </a:r>
                    </a:p>
                  </a:txBody>
                  <a:tcPr>
                    <a:solidFill>
                      <a:srgbClr val="F5F5F5"/>
                    </a:solidFill>
                  </a:tcPr>
                </a:tc>
              </a:tr>
              <a:tr h="807720">
                <a:tc>
                  <a:txBody>
                    <a:bodyPr/>
                    <a:lstStyle/>
                    <a:p>
                      <a:r>
                        <a:rPr sz="1000">
                          <a:solidFill>
                            <a:srgbClr val="333333"/>
                          </a:solidFill>
                        </a:rPr>
                        <a:t>TRUST</a:t>
                      </a:r>
                    </a:p>
                  </a:txBody>
                  <a:tcPr>
                    <a:solidFill>
                      <a:srgbClr val="FFFFFF"/>
                    </a:solidFill>
                  </a:tcPr>
                </a:tc>
                <a:tc>
                  <a:txBody>
                    <a:bodyPr/>
                    <a:lstStyle/>
                    <a:p>
                      <a:r>
                        <a:rPr sz="1000">
                          <a:solidFill>
                            <a:srgbClr val="333333"/>
                          </a:solidFill>
                        </a:rPr>
                        <a:t>Can people be honest and take risks?</a:t>
                      </a:r>
                    </a:p>
                  </a:txBody>
                  <a:tcPr>
                    <a:solidFill>
                      <a:srgbClr val="FFFFFF"/>
                    </a:solidFill>
                  </a:tcPr>
                </a:tc>
                <a:tc>
                  <a:txBody>
                    <a:bodyPr/>
                    <a:lstStyle/>
                    <a:p>
                      <a:r>
                        <a:rPr sz="1000">
                          <a:solidFill>
                            <a:srgbClr val="333333"/>
                          </a:solidFill>
                        </a:rPr>
                        <a:t>Safety, feedback, accountability</a:t>
                      </a:r>
                    </a:p>
                  </a:txBody>
                  <a:tcPr>
                    <a:solidFill>
                      <a:srgbClr val="FFFFFF"/>
                    </a:solidFill>
                  </a:tcPr>
                </a:tc>
              </a:tr>
              <a:tr h="807720">
                <a:tc>
                  <a:txBody>
                    <a:bodyPr/>
                    <a:lstStyle/>
                    <a:p>
                      <a:r>
                        <a:rPr sz="1000">
                          <a:solidFill>
                            <a:srgbClr val="333333"/>
                          </a:solidFill>
                        </a:rPr>
                        <a:t>ALIGNMENT</a:t>
                      </a:r>
                    </a:p>
                  </a:txBody>
                  <a:tcPr>
                    <a:solidFill>
                      <a:srgbClr val="F5F5F5"/>
                    </a:solidFill>
                  </a:tcPr>
                </a:tc>
                <a:tc>
                  <a:txBody>
                    <a:bodyPr/>
                    <a:lstStyle/>
                    <a:p>
                      <a:r>
                        <a:rPr sz="1000">
                          <a:solidFill>
                            <a:srgbClr val="333333"/>
                          </a:solidFill>
                        </a:rPr>
                        <a:t>Is everyone pulling the same direction?</a:t>
                      </a:r>
                    </a:p>
                  </a:txBody>
                  <a:tcPr>
                    <a:solidFill>
                      <a:srgbClr val="F5F5F5"/>
                    </a:solidFill>
                  </a:tcPr>
                </a:tc>
                <a:tc>
                  <a:txBody>
                    <a:bodyPr/>
                    <a:lstStyle/>
                    <a:p>
                      <a:r>
                        <a:rPr sz="1000">
                          <a:solidFill>
                            <a:srgbClr val="333333"/>
                          </a:solidFill>
                        </a:rPr>
                        <a:t>Strategy, trade-offs, commitment</a:t>
                      </a:r>
                    </a:p>
                  </a:txBody>
                  <a:tcPr>
                    <a:solidFill>
                      <a:srgbClr val="F5F5F5"/>
                    </a:solidFill>
                  </a:tcPr>
                </a:tc>
              </a:tr>
              <a:tr h="807720">
                <a:tc>
                  <a:txBody>
                    <a:bodyPr/>
                    <a:lstStyle/>
                    <a:p>
                      <a:r>
                        <a:rPr sz="1000">
                          <a:solidFill>
                            <a:srgbClr val="333333"/>
                          </a:solidFill>
                        </a:rPr>
                        <a:t>GROWTH</a:t>
                      </a:r>
                    </a:p>
                  </a:txBody>
                  <a:tcPr>
                    <a:solidFill>
                      <a:srgbClr val="FFFFFF"/>
                    </a:solidFill>
                  </a:tcPr>
                </a:tc>
                <a:tc>
                  <a:txBody>
                    <a:bodyPr/>
                    <a:lstStyle/>
                    <a:p>
                      <a:r>
                        <a:rPr sz="1000">
                          <a:solidFill>
                            <a:srgbClr val="333333"/>
                          </a:solidFill>
                        </a:rPr>
                        <a:t>Are people developing and advancing?</a:t>
                      </a:r>
                    </a:p>
                  </a:txBody>
                  <a:tcPr>
                    <a:solidFill>
                      <a:srgbClr val="FFFFFF"/>
                    </a:solidFill>
                  </a:tcPr>
                </a:tc>
                <a:tc>
                  <a:txBody>
                    <a:bodyPr/>
                    <a:lstStyle/>
                    <a:p>
                      <a:r>
                        <a:rPr sz="1000">
                          <a:solidFill>
                            <a:srgbClr val="333333"/>
                          </a:solidFill>
                        </a:rPr>
                        <a:t>Skills, challenges, career paths</a:t>
                      </a:r>
                    </a:p>
                  </a:txBody>
                  <a:tcPr>
                    <a:solidFill>
                      <a:srgbClr val="FFFFFF"/>
                    </a:solidFill>
                  </a:tcPr>
                </a:tc>
              </a:tr>
            </a:tbl>
          </a:graphicData>
        </a:graphic>
      </p:graphicFrame>
      <p:sp>
        <p:nvSpPr>
          <p:cNvPr id="4" name="TextBox 3"/>
          <p:cNvSpPr txBox="1"/>
          <p:nvPr/>
        </p:nvSpPr>
        <p:spPr>
          <a:xfrm>
            <a:off x="640080" y="5577840"/>
            <a:ext cx="6281927" cy="1005840"/>
          </a:xfrm>
          <a:prstGeom prst="rect">
            <a:avLst/>
          </a:prstGeom>
          <a:noFill/>
        </p:spPr>
        <p:txBody>
          <a:bodyPr wrap="square">
            <a:spAutoFit/>
          </a:bodyPr>
          <a:lstStyle/>
          <a:p>
            <a:pPr>
              <a:defRPr sz="1100" b="1">
                <a:solidFill>
                  <a:srgbClr val="333333"/>
                </a:solidFill>
              </a:defRPr>
            </a:pPr>
            <a:r>
              <a:t>Fix Priority Flow:</a:t>
            </a:r>
          </a:p>
          <a:p>
            <a:pPr>
              <a:defRPr sz="1000">
                <a:solidFill>
                  <a:srgbClr val="333333"/>
                </a:solidFill>
              </a:defRPr>
            </a:pPr>
            <a:r>
              <a:t>Red flag → Diagnose with CETAG → Find weakest dimension → Deploy playbook → Track with Weekly Pulse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1828800"/>
            <a:ext cx="6281927" cy="3200400"/>
          </a:xfrm>
          <a:prstGeom prst="rect">
            <a:avLst/>
          </a:prstGeom>
          <a:noFill/>
        </p:spPr>
        <p:txBody>
          <a:bodyPr wrap="square">
            <a:spAutoFit/>
          </a:bodyPr>
          <a:lstStyle/>
          <a:p>
            <a:pPr algn="ctr">
              <a:spcAft>
                <a:spcPts val="2000"/>
              </a:spcAft>
              <a:defRPr sz="4000" b="1">
                <a:solidFill>
                  <a:srgbClr val="FFFFFF"/>
                </a:solidFill>
              </a:defRPr>
            </a:pPr>
            <a:r>
              <a:t>Your team is waiting for you to see them.</a:t>
            </a:r>
          </a:p>
          <a:p>
            <a:pPr algn="ctr">
              <a:defRPr sz="1600">
                <a:solidFill>
                  <a:srgbClr val="E07C3E"/>
                </a:solidFill>
              </a:defRPr>
            </a:pPr>
            <a:r>
              <a:t>Not to be perfect. Not to have all the answers. But to pay attention. To name what you see. To act on it.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457200"/>
            <a:ext cx="6281927" cy="457200"/>
          </a:xfrm>
          <a:prstGeom prst="rect">
            <a:avLst/>
          </a:prstGeom>
          <a:noFill/>
        </p:spPr>
        <p:txBody>
          <a:bodyPr wrap="square">
            <a:spAutoFit/>
          </a:bodyPr>
          <a:lstStyle/>
          <a:p>
            <a:pPr algn="ctr">
              <a:defRPr sz="3200" b="1">
                <a:solidFill>
                  <a:srgbClr val="E07C3E"/>
                </a:solidFill>
              </a:defRPr>
            </a:pPr>
            <a:r>
              <a:t>Recommended Reading</a:t>
            </a:r>
          </a:p>
        </p:txBody>
      </p:sp>
      <p:sp>
        <p:nvSpPr>
          <p:cNvPr id="3" name="TextBox 2"/>
          <p:cNvSpPr txBox="1"/>
          <p:nvPr/>
        </p:nvSpPr>
        <p:spPr>
          <a:xfrm>
            <a:off x="640080" y="1280160"/>
            <a:ext cx="6281927" cy="5120640"/>
          </a:xfrm>
          <a:prstGeom prst="rect">
            <a:avLst/>
          </a:prstGeom>
          <a:noFill/>
        </p:spPr>
        <p:txBody>
          <a:bodyPr wrap="square">
            <a:spAutoFit/>
          </a:bodyPr>
          <a:lstStyle/>
          <a:p>
            <a:pPr>
              <a:spcAft>
                <a:spcPts val="1000"/>
              </a:spcAft>
              <a:defRPr sz="1400">
                <a:solidFill>
                  <a:srgbClr val="333333"/>
                </a:solidFill>
              </a:defRPr>
            </a:pPr>
            <a:r>
              <a:t>• Radical Candor by Kim Scott</a:t>
            </a:r>
          </a:p>
          <a:p>
            <a:pPr>
              <a:spcAft>
                <a:spcPts val="1000"/>
              </a:spcAft>
              <a:defRPr sz="1400">
                <a:solidFill>
                  <a:srgbClr val="333333"/>
                </a:solidFill>
              </a:defRPr>
            </a:pPr>
            <a:r>
              <a:t>• Thick Face, Black Heart by Chin-Ning Chu</a:t>
            </a:r>
          </a:p>
          <a:p>
            <a:pPr>
              <a:spcAft>
                <a:spcPts val="1000"/>
              </a:spcAft>
              <a:defRPr sz="1400">
                <a:solidFill>
                  <a:srgbClr val="333333"/>
                </a:solidFill>
              </a:defRPr>
            </a:pPr>
            <a:r>
              <a:t>• Lead from the Future by Mark W. Johnson and Josh Suskewicz</a:t>
            </a:r>
          </a:p>
          <a:p>
            <a:pPr>
              <a:spcAft>
                <a:spcPts val="1000"/>
              </a:spcAft>
              <a:defRPr sz="1400">
                <a:solidFill>
                  <a:srgbClr val="333333"/>
                </a:solidFill>
              </a:defRPr>
            </a:pPr>
            <a:r>
              <a:t>• The Five Dysfunctions of a Team by Patrick Lencioni</a:t>
            </a:r>
          </a:p>
          <a:p>
            <a:pPr>
              <a:spcAft>
                <a:spcPts val="1000"/>
              </a:spcAft>
              <a:defRPr sz="1400">
                <a:solidFill>
                  <a:srgbClr val="333333"/>
                </a:solidFill>
              </a:defRPr>
            </a:pPr>
            <a:r>
              <a:t>• Managing Corporate Lifecycles by Ichak Adizes</a:t>
            </a:r>
          </a:p>
          <a:p>
            <a:pPr>
              <a:spcAft>
                <a:spcPts val="1000"/>
              </a:spcAft>
              <a:defRPr sz="1400">
                <a:solidFill>
                  <a:srgbClr val="333333"/>
                </a:solidFill>
              </a:defRPr>
            </a:pPr>
            <a:r>
              <a:t>• Turn the Ship Around! by L. David Marquet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1B2838"/>
        </a:solidFill>
        <a:effectLst/>
      </p:bgPr>
    </p:bg>
    <p:spTree>
      <p:nvGrpSpPr>
        <p:cNvPr id="1" name=""/>
        <p:cNvGrpSpPr/>
        <p:nvPr/>
      </p:nvGrpSpPr>
      <p:grpSpPr/>
      <p:sp>
        <p:nvSpPr>
          <p:cNvPr id="2" name="TextBox 1"/>
          <p:cNvSpPr txBox="1"/>
          <p:nvPr/>
        </p:nvSpPr>
        <p:spPr>
          <a:xfrm>
            <a:off x="640080" y="2286000"/>
            <a:ext cx="6281927" cy="2286000"/>
          </a:xfrm>
          <a:prstGeom prst="rect">
            <a:avLst/>
          </a:prstGeom>
          <a:noFill/>
        </p:spPr>
        <p:txBody>
          <a:bodyPr wrap="square">
            <a:spAutoFit/>
          </a:bodyPr>
          <a:lstStyle/>
          <a:p>
            <a:pPr algn="ctr">
              <a:defRPr sz="2400" b="1">
                <a:solidFill>
                  <a:srgbClr val="E07C3E"/>
                </a:solidFill>
              </a:defRPr>
            </a:pPr>
            <a:r>
              <a:t>Contact</a:t>
            </a:r>
          </a:p>
          <a:p>
            <a:pPr algn="ctr">
              <a:spcAft>
                <a:spcPts val="2000"/>
              </a:spcAft>
              <a:defRPr sz="1800">
                <a:solidFill>
                  <a:srgbClr val="FFFFFF"/>
                </a:solidFill>
              </a:defRPr>
            </a:pPr>
            <a:r>
              <a:t>janis@operatingleader.com</a:t>
            </a:r>
          </a:p>
          <a:p>
            <a:pPr algn="ctr">
              <a:defRPr sz="1200">
                <a:solidFill>
                  <a:srgbClr val="F5F5F5"/>
                </a:solidFill>
              </a:defRPr>
            </a:pPr>
            <a:r>
              <a:t>© 2026 Janis Rozenblats / operatingleader.com. All rights reserved.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