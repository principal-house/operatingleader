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447" r:id="rId2"/>
    <p:sldId id="430" r:id="rId3"/>
    <p:sldId id="431" r:id="rId4"/>
    <p:sldId id="432" r:id="rId5"/>
    <p:sldId id="433" r:id="rId6"/>
    <p:sldId id="434" r:id="rId7"/>
    <p:sldId id="435" r:id="rId8"/>
    <p:sldId id="436" r:id="rId9"/>
    <p:sldId id="437" r:id="rId10"/>
    <p:sldId id="438" r:id="rId11"/>
    <p:sldId id="441" r:id="rId12"/>
    <p:sldId id="442" r:id="rId13"/>
    <p:sldId id="443" r:id="rId14"/>
    <p:sldId id="448" r:id="rId15"/>
    <p:sldId id="701" r:id="rId16"/>
    <p:sldId id="463" r:id="rId17"/>
    <p:sldId id="702" r:id="rId18"/>
    <p:sldId id="710" r:id="rId19"/>
    <p:sldId id="704" r:id="rId20"/>
    <p:sldId id="711" r:id="rId21"/>
    <p:sldId id="703" r:id="rId22"/>
    <p:sldId id="712" r:id="rId23"/>
    <p:sldId id="713" r:id="rId24"/>
    <p:sldId id="862" r:id="rId25"/>
    <p:sldId id="873" r:id="rId26"/>
    <p:sldId id="900" r:id="rId27"/>
    <p:sldId id="901" r:id="rId28"/>
    <p:sldId id="444" r:id="rId29"/>
    <p:sldId id="445" r:id="rId30"/>
    <p:sldId id="446" r:id="rId31"/>
    <p:sldId id="64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6BAD97-0303-43F3-9FBE-BEEEA637C3E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2015B4B-CA50-4F99-9EA8-5CE3E3DD6F86}">
      <dgm:prSet phldrT="[Text]" custT="1"/>
      <dgm:spPr/>
      <dgm:t>
        <a:bodyPr/>
        <a:lstStyle/>
        <a:p>
          <a:r>
            <a:rPr lang="en-US" sz="2400" dirty="0"/>
            <a:t>CEO</a:t>
          </a:r>
        </a:p>
      </dgm:t>
    </dgm:pt>
    <dgm:pt modelId="{3ACC0F76-4179-41C0-A56F-768BEC8BC2DE}" type="parTrans" cxnId="{FE1F4504-D1CD-4DFF-AFC2-A604D84D3F5D}">
      <dgm:prSet/>
      <dgm:spPr/>
      <dgm:t>
        <a:bodyPr/>
        <a:lstStyle/>
        <a:p>
          <a:endParaRPr lang="en-US" sz="2400"/>
        </a:p>
      </dgm:t>
    </dgm:pt>
    <dgm:pt modelId="{D9F5DE1F-AFD2-42AD-BE0F-75EF544140E9}" type="sibTrans" cxnId="{FE1F4504-D1CD-4DFF-AFC2-A604D84D3F5D}">
      <dgm:prSet/>
      <dgm:spPr/>
      <dgm:t>
        <a:bodyPr/>
        <a:lstStyle/>
        <a:p>
          <a:endParaRPr lang="en-US" sz="2400"/>
        </a:p>
      </dgm:t>
    </dgm:pt>
    <dgm:pt modelId="{B8FBAFB2-F595-41BE-8878-DFCE3CC20A8A}">
      <dgm:prSet phldrT="[Text]" custT="1"/>
      <dgm:spPr/>
      <dgm:t>
        <a:bodyPr/>
        <a:lstStyle/>
        <a:p>
          <a:r>
            <a:rPr lang="en-US" sz="2400" dirty="0" err="1"/>
            <a:t>Mgr</a:t>
          </a:r>
          <a:endParaRPr lang="en-US" sz="2400" dirty="0"/>
        </a:p>
      </dgm:t>
    </dgm:pt>
    <dgm:pt modelId="{DE6A1614-7052-416F-885C-B13E63A39215}" type="parTrans" cxnId="{BE70C410-2AB6-4481-82BB-29C838F5612C}">
      <dgm:prSet/>
      <dgm:spPr/>
      <dgm:t>
        <a:bodyPr/>
        <a:lstStyle/>
        <a:p>
          <a:endParaRPr lang="en-US" sz="2400"/>
        </a:p>
      </dgm:t>
    </dgm:pt>
    <dgm:pt modelId="{5681D5EC-5C5E-4F59-A383-D75F653B5FE5}" type="sibTrans" cxnId="{BE70C410-2AB6-4481-82BB-29C838F5612C}">
      <dgm:prSet/>
      <dgm:spPr/>
      <dgm:t>
        <a:bodyPr/>
        <a:lstStyle/>
        <a:p>
          <a:endParaRPr lang="en-US" sz="2400"/>
        </a:p>
      </dgm:t>
    </dgm:pt>
    <dgm:pt modelId="{E0085B18-A7FA-4793-8FCD-D8323C441004}">
      <dgm:prSet phldrT="[Text]" custT="1"/>
      <dgm:spPr/>
      <dgm:t>
        <a:bodyPr/>
        <a:lstStyle/>
        <a:p>
          <a:r>
            <a:rPr lang="en-US" sz="2400" dirty="0" err="1"/>
            <a:t>Mgr</a:t>
          </a:r>
          <a:endParaRPr lang="en-US" sz="2400" dirty="0"/>
        </a:p>
      </dgm:t>
    </dgm:pt>
    <dgm:pt modelId="{07B65D1C-6A4F-40EE-8460-608C1EC02F6E}" type="parTrans" cxnId="{258A9D24-B344-4160-A6D7-46B5099534D5}">
      <dgm:prSet/>
      <dgm:spPr/>
      <dgm:t>
        <a:bodyPr/>
        <a:lstStyle/>
        <a:p>
          <a:endParaRPr lang="en-US" sz="2400"/>
        </a:p>
      </dgm:t>
    </dgm:pt>
    <dgm:pt modelId="{0DFA6963-22CA-4DEB-ABD9-E2F82AE91144}" type="sibTrans" cxnId="{258A9D24-B344-4160-A6D7-46B5099534D5}">
      <dgm:prSet/>
      <dgm:spPr/>
      <dgm:t>
        <a:bodyPr/>
        <a:lstStyle/>
        <a:p>
          <a:endParaRPr lang="en-US" sz="2400"/>
        </a:p>
      </dgm:t>
    </dgm:pt>
    <dgm:pt modelId="{E2CEB3C5-286A-4260-878B-3627E76453E9}">
      <dgm:prSet phldrT="[Text]" custT="1"/>
      <dgm:spPr/>
      <dgm:t>
        <a:bodyPr/>
        <a:lstStyle/>
        <a:p>
          <a:r>
            <a:rPr lang="en-US" sz="2400" dirty="0" err="1"/>
            <a:t>Mgr</a:t>
          </a:r>
          <a:endParaRPr lang="en-US" sz="2400" dirty="0"/>
        </a:p>
      </dgm:t>
    </dgm:pt>
    <dgm:pt modelId="{624FEED1-B04D-41DD-A5D4-DF2BCAACA3BC}" type="parTrans" cxnId="{B897AE5B-950B-4856-8C8F-CF91BDC5CB05}">
      <dgm:prSet/>
      <dgm:spPr/>
      <dgm:t>
        <a:bodyPr/>
        <a:lstStyle/>
        <a:p>
          <a:endParaRPr lang="en-US" sz="2400"/>
        </a:p>
      </dgm:t>
    </dgm:pt>
    <dgm:pt modelId="{D6C77C9A-4B97-49E6-B8DB-03A6D64B039E}" type="sibTrans" cxnId="{B897AE5B-950B-4856-8C8F-CF91BDC5CB05}">
      <dgm:prSet/>
      <dgm:spPr/>
      <dgm:t>
        <a:bodyPr/>
        <a:lstStyle/>
        <a:p>
          <a:endParaRPr lang="en-US" sz="2400"/>
        </a:p>
      </dgm:t>
    </dgm:pt>
    <dgm:pt modelId="{06C9EEBE-04E0-49BD-A941-3976E12B8A1E}" type="pres">
      <dgm:prSet presAssocID="{676BAD97-0303-43F3-9FBE-BEEEA637C3E0}" presName="hierChild1" presStyleCnt="0">
        <dgm:presLayoutVars>
          <dgm:orgChart val="1"/>
          <dgm:chPref val="1"/>
          <dgm:dir/>
          <dgm:animOne val="branch"/>
          <dgm:animLvl val="lvl"/>
          <dgm:resizeHandles/>
        </dgm:presLayoutVars>
      </dgm:prSet>
      <dgm:spPr/>
    </dgm:pt>
    <dgm:pt modelId="{3ED72E9A-18E3-40D1-8260-F7C720DA190D}" type="pres">
      <dgm:prSet presAssocID="{C2015B4B-CA50-4F99-9EA8-5CE3E3DD6F86}" presName="hierRoot1" presStyleCnt="0">
        <dgm:presLayoutVars>
          <dgm:hierBranch val="init"/>
        </dgm:presLayoutVars>
      </dgm:prSet>
      <dgm:spPr/>
    </dgm:pt>
    <dgm:pt modelId="{380B325F-31F7-4FEF-9080-12147B1D3B8E}" type="pres">
      <dgm:prSet presAssocID="{C2015B4B-CA50-4F99-9EA8-5CE3E3DD6F86}" presName="rootComposite1" presStyleCnt="0"/>
      <dgm:spPr/>
    </dgm:pt>
    <dgm:pt modelId="{8B637218-9992-41F7-88DF-6CD7DDEF39DD}" type="pres">
      <dgm:prSet presAssocID="{C2015B4B-CA50-4F99-9EA8-5CE3E3DD6F86}" presName="rootText1" presStyleLbl="node0" presStyleIdx="0" presStyleCnt="1" custLinFactNeighborY="-2472">
        <dgm:presLayoutVars>
          <dgm:chPref val="3"/>
        </dgm:presLayoutVars>
      </dgm:prSet>
      <dgm:spPr/>
    </dgm:pt>
    <dgm:pt modelId="{3D6DFA10-7CAF-4B1E-9E44-ACDFEA5F016A}" type="pres">
      <dgm:prSet presAssocID="{C2015B4B-CA50-4F99-9EA8-5CE3E3DD6F86}" presName="rootConnector1" presStyleLbl="node1" presStyleIdx="0" presStyleCnt="0"/>
      <dgm:spPr/>
    </dgm:pt>
    <dgm:pt modelId="{653D0874-007A-499E-B9A5-2A90C3AF65A8}" type="pres">
      <dgm:prSet presAssocID="{C2015B4B-CA50-4F99-9EA8-5CE3E3DD6F86}" presName="hierChild2" presStyleCnt="0"/>
      <dgm:spPr/>
    </dgm:pt>
    <dgm:pt modelId="{5CD645FA-ABD8-4E79-A8F8-812416B65425}" type="pres">
      <dgm:prSet presAssocID="{DE6A1614-7052-416F-885C-B13E63A39215}" presName="Name37" presStyleLbl="parChTrans1D2" presStyleIdx="0" presStyleCnt="3"/>
      <dgm:spPr/>
    </dgm:pt>
    <dgm:pt modelId="{EFCE08F9-A893-46DB-9186-44C716FAA159}" type="pres">
      <dgm:prSet presAssocID="{B8FBAFB2-F595-41BE-8878-DFCE3CC20A8A}" presName="hierRoot2" presStyleCnt="0">
        <dgm:presLayoutVars>
          <dgm:hierBranch val="init"/>
        </dgm:presLayoutVars>
      </dgm:prSet>
      <dgm:spPr/>
    </dgm:pt>
    <dgm:pt modelId="{FFE00AE1-D56A-4B78-BF0E-A19359776359}" type="pres">
      <dgm:prSet presAssocID="{B8FBAFB2-F595-41BE-8878-DFCE3CC20A8A}" presName="rootComposite" presStyleCnt="0"/>
      <dgm:spPr/>
    </dgm:pt>
    <dgm:pt modelId="{9BF34783-CCB2-48C8-AB22-AC3BAFA39AF9}" type="pres">
      <dgm:prSet presAssocID="{B8FBAFB2-F595-41BE-8878-DFCE3CC20A8A}" presName="rootText" presStyleLbl="node2" presStyleIdx="0" presStyleCnt="3">
        <dgm:presLayoutVars>
          <dgm:chPref val="3"/>
        </dgm:presLayoutVars>
      </dgm:prSet>
      <dgm:spPr/>
    </dgm:pt>
    <dgm:pt modelId="{519FB9EA-82E3-42AB-BC2D-D91524DE7CC1}" type="pres">
      <dgm:prSet presAssocID="{B8FBAFB2-F595-41BE-8878-DFCE3CC20A8A}" presName="rootConnector" presStyleLbl="node2" presStyleIdx="0" presStyleCnt="3"/>
      <dgm:spPr/>
    </dgm:pt>
    <dgm:pt modelId="{5EEB2EB3-67C0-4394-9136-695D5A75C452}" type="pres">
      <dgm:prSet presAssocID="{B8FBAFB2-F595-41BE-8878-DFCE3CC20A8A}" presName="hierChild4" presStyleCnt="0"/>
      <dgm:spPr/>
    </dgm:pt>
    <dgm:pt modelId="{69C0CC89-7DBA-4459-8593-3ADADEB1190E}" type="pres">
      <dgm:prSet presAssocID="{B8FBAFB2-F595-41BE-8878-DFCE3CC20A8A}" presName="hierChild5" presStyleCnt="0"/>
      <dgm:spPr/>
    </dgm:pt>
    <dgm:pt modelId="{20295699-8050-437E-8412-63C8DF1D714D}" type="pres">
      <dgm:prSet presAssocID="{07B65D1C-6A4F-40EE-8460-608C1EC02F6E}" presName="Name37" presStyleLbl="parChTrans1D2" presStyleIdx="1" presStyleCnt="3"/>
      <dgm:spPr/>
    </dgm:pt>
    <dgm:pt modelId="{383BBDFE-64B6-466D-9C56-45816BE295D8}" type="pres">
      <dgm:prSet presAssocID="{E0085B18-A7FA-4793-8FCD-D8323C441004}" presName="hierRoot2" presStyleCnt="0">
        <dgm:presLayoutVars>
          <dgm:hierBranch val="init"/>
        </dgm:presLayoutVars>
      </dgm:prSet>
      <dgm:spPr/>
    </dgm:pt>
    <dgm:pt modelId="{0321E076-74DD-47FF-8E55-AB4ED6CAB010}" type="pres">
      <dgm:prSet presAssocID="{E0085B18-A7FA-4793-8FCD-D8323C441004}" presName="rootComposite" presStyleCnt="0"/>
      <dgm:spPr/>
    </dgm:pt>
    <dgm:pt modelId="{798F1677-94A7-4398-9CE3-C2ECBF63F6AA}" type="pres">
      <dgm:prSet presAssocID="{E0085B18-A7FA-4793-8FCD-D8323C441004}" presName="rootText" presStyleLbl="node2" presStyleIdx="1" presStyleCnt="3">
        <dgm:presLayoutVars>
          <dgm:chPref val="3"/>
        </dgm:presLayoutVars>
      </dgm:prSet>
      <dgm:spPr/>
    </dgm:pt>
    <dgm:pt modelId="{F9406AA0-5BC4-4D91-AEFF-374CED744229}" type="pres">
      <dgm:prSet presAssocID="{E0085B18-A7FA-4793-8FCD-D8323C441004}" presName="rootConnector" presStyleLbl="node2" presStyleIdx="1" presStyleCnt="3"/>
      <dgm:spPr/>
    </dgm:pt>
    <dgm:pt modelId="{D966571E-9110-4860-B2C5-E06DFB238995}" type="pres">
      <dgm:prSet presAssocID="{E0085B18-A7FA-4793-8FCD-D8323C441004}" presName="hierChild4" presStyleCnt="0"/>
      <dgm:spPr/>
    </dgm:pt>
    <dgm:pt modelId="{2898D0EB-A059-496C-882E-C4DDAFACC533}" type="pres">
      <dgm:prSet presAssocID="{E0085B18-A7FA-4793-8FCD-D8323C441004}" presName="hierChild5" presStyleCnt="0"/>
      <dgm:spPr/>
    </dgm:pt>
    <dgm:pt modelId="{993D8F6B-C3BE-41EE-8836-E2F8D412C104}" type="pres">
      <dgm:prSet presAssocID="{624FEED1-B04D-41DD-A5D4-DF2BCAACA3BC}" presName="Name37" presStyleLbl="parChTrans1D2" presStyleIdx="2" presStyleCnt="3"/>
      <dgm:spPr/>
    </dgm:pt>
    <dgm:pt modelId="{A9F92D38-C0B5-4501-A275-08654E806994}" type="pres">
      <dgm:prSet presAssocID="{E2CEB3C5-286A-4260-878B-3627E76453E9}" presName="hierRoot2" presStyleCnt="0">
        <dgm:presLayoutVars>
          <dgm:hierBranch val="init"/>
        </dgm:presLayoutVars>
      </dgm:prSet>
      <dgm:spPr/>
    </dgm:pt>
    <dgm:pt modelId="{87C1D867-69AB-42AB-9853-DE4723685103}" type="pres">
      <dgm:prSet presAssocID="{E2CEB3C5-286A-4260-878B-3627E76453E9}" presName="rootComposite" presStyleCnt="0"/>
      <dgm:spPr/>
    </dgm:pt>
    <dgm:pt modelId="{D379AA2D-B70B-4CCF-8B40-0655BDC15472}" type="pres">
      <dgm:prSet presAssocID="{E2CEB3C5-286A-4260-878B-3627E76453E9}" presName="rootText" presStyleLbl="node2" presStyleIdx="2" presStyleCnt="3">
        <dgm:presLayoutVars>
          <dgm:chPref val="3"/>
        </dgm:presLayoutVars>
      </dgm:prSet>
      <dgm:spPr/>
    </dgm:pt>
    <dgm:pt modelId="{3C2BBF41-DA05-4796-86FA-FD1B2CA4E742}" type="pres">
      <dgm:prSet presAssocID="{E2CEB3C5-286A-4260-878B-3627E76453E9}" presName="rootConnector" presStyleLbl="node2" presStyleIdx="2" presStyleCnt="3"/>
      <dgm:spPr/>
    </dgm:pt>
    <dgm:pt modelId="{580D3D32-9CD1-4890-A737-A4D73D5D8C34}" type="pres">
      <dgm:prSet presAssocID="{E2CEB3C5-286A-4260-878B-3627E76453E9}" presName="hierChild4" presStyleCnt="0"/>
      <dgm:spPr/>
    </dgm:pt>
    <dgm:pt modelId="{A07B5A35-2984-42EB-8C68-CA6E146CDE2F}" type="pres">
      <dgm:prSet presAssocID="{E2CEB3C5-286A-4260-878B-3627E76453E9}" presName="hierChild5" presStyleCnt="0"/>
      <dgm:spPr/>
    </dgm:pt>
    <dgm:pt modelId="{912EAA2F-299E-409F-81C6-F5631CC9097E}" type="pres">
      <dgm:prSet presAssocID="{C2015B4B-CA50-4F99-9EA8-5CE3E3DD6F86}" presName="hierChild3" presStyleCnt="0"/>
      <dgm:spPr/>
    </dgm:pt>
  </dgm:ptLst>
  <dgm:cxnLst>
    <dgm:cxn modelId="{FE1F4504-D1CD-4DFF-AFC2-A604D84D3F5D}" srcId="{676BAD97-0303-43F3-9FBE-BEEEA637C3E0}" destId="{C2015B4B-CA50-4F99-9EA8-5CE3E3DD6F86}" srcOrd="0" destOrd="0" parTransId="{3ACC0F76-4179-41C0-A56F-768BEC8BC2DE}" sibTransId="{D9F5DE1F-AFD2-42AD-BE0F-75EF544140E9}"/>
    <dgm:cxn modelId="{4AC90905-EE38-4A6F-85B0-58A5D85B2E03}" type="presOf" srcId="{C2015B4B-CA50-4F99-9EA8-5CE3E3DD6F86}" destId="{8B637218-9992-41F7-88DF-6CD7DDEF39DD}" srcOrd="0" destOrd="0" presId="urn:microsoft.com/office/officeart/2005/8/layout/orgChart1"/>
    <dgm:cxn modelId="{945C6107-EE46-4C9A-A0FA-033588DB0AC4}" type="presOf" srcId="{E0085B18-A7FA-4793-8FCD-D8323C441004}" destId="{798F1677-94A7-4398-9CE3-C2ECBF63F6AA}" srcOrd="0" destOrd="0" presId="urn:microsoft.com/office/officeart/2005/8/layout/orgChart1"/>
    <dgm:cxn modelId="{A3EF1D0F-37A5-4F0D-ABD0-B2219A36550C}" type="presOf" srcId="{C2015B4B-CA50-4F99-9EA8-5CE3E3DD6F86}" destId="{3D6DFA10-7CAF-4B1E-9E44-ACDFEA5F016A}" srcOrd="1" destOrd="0" presId="urn:microsoft.com/office/officeart/2005/8/layout/orgChart1"/>
    <dgm:cxn modelId="{BE70C410-2AB6-4481-82BB-29C838F5612C}" srcId="{C2015B4B-CA50-4F99-9EA8-5CE3E3DD6F86}" destId="{B8FBAFB2-F595-41BE-8878-DFCE3CC20A8A}" srcOrd="0" destOrd="0" parTransId="{DE6A1614-7052-416F-885C-B13E63A39215}" sibTransId="{5681D5EC-5C5E-4F59-A383-D75F653B5FE5}"/>
    <dgm:cxn modelId="{760FD81E-77EB-4101-B25D-065426A8FE75}" type="presOf" srcId="{B8FBAFB2-F595-41BE-8878-DFCE3CC20A8A}" destId="{519FB9EA-82E3-42AB-BC2D-D91524DE7CC1}" srcOrd="1" destOrd="0" presId="urn:microsoft.com/office/officeart/2005/8/layout/orgChart1"/>
    <dgm:cxn modelId="{258A9D24-B344-4160-A6D7-46B5099534D5}" srcId="{C2015B4B-CA50-4F99-9EA8-5CE3E3DD6F86}" destId="{E0085B18-A7FA-4793-8FCD-D8323C441004}" srcOrd="1" destOrd="0" parTransId="{07B65D1C-6A4F-40EE-8460-608C1EC02F6E}" sibTransId="{0DFA6963-22CA-4DEB-ABD9-E2F82AE91144}"/>
    <dgm:cxn modelId="{B897AE5B-950B-4856-8C8F-CF91BDC5CB05}" srcId="{C2015B4B-CA50-4F99-9EA8-5CE3E3DD6F86}" destId="{E2CEB3C5-286A-4260-878B-3627E76453E9}" srcOrd="2" destOrd="0" parTransId="{624FEED1-B04D-41DD-A5D4-DF2BCAACA3BC}" sibTransId="{D6C77C9A-4B97-49E6-B8DB-03A6D64B039E}"/>
    <dgm:cxn modelId="{6334CF43-C600-4C17-B041-EBC442250E0C}" type="presOf" srcId="{E0085B18-A7FA-4793-8FCD-D8323C441004}" destId="{F9406AA0-5BC4-4D91-AEFF-374CED744229}" srcOrd="1" destOrd="0" presId="urn:microsoft.com/office/officeart/2005/8/layout/orgChart1"/>
    <dgm:cxn modelId="{52FCD263-50C3-43B8-852B-23FADCD594A6}" type="presOf" srcId="{624FEED1-B04D-41DD-A5D4-DF2BCAACA3BC}" destId="{993D8F6B-C3BE-41EE-8836-E2F8D412C104}" srcOrd="0" destOrd="0" presId="urn:microsoft.com/office/officeart/2005/8/layout/orgChart1"/>
    <dgm:cxn modelId="{C6B78247-A525-4C45-8006-0DD6A3476728}" type="presOf" srcId="{B8FBAFB2-F595-41BE-8878-DFCE3CC20A8A}" destId="{9BF34783-CCB2-48C8-AB22-AC3BAFA39AF9}" srcOrd="0" destOrd="0" presId="urn:microsoft.com/office/officeart/2005/8/layout/orgChart1"/>
    <dgm:cxn modelId="{19AC2E58-C2D3-4032-B238-F5BE1AAD622B}" type="presOf" srcId="{DE6A1614-7052-416F-885C-B13E63A39215}" destId="{5CD645FA-ABD8-4E79-A8F8-812416B65425}" srcOrd="0" destOrd="0" presId="urn:microsoft.com/office/officeart/2005/8/layout/orgChart1"/>
    <dgm:cxn modelId="{3E32A896-3274-4A60-B557-AC023AD53F0C}" type="presOf" srcId="{676BAD97-0303-43F3-9FBE-BEEEA637C3E0}" destId="{06C9EEBE-04E0-49BD-A941-3976E12B8A1E}" srcOrd="0" destOrd="0" presId="urn:microsoft.com/office/officeart/2005/8/layout/orgChart1"/>
    <dgm:cxn modelId="{CCB62BA6-F1C7-47E2-AE96-3083AF268E4C}" type="presOf" srcId="{E2CEB3C5-286A-4260-878B-3627E76453E9}" destId="{D379AA2D-B70B-4CCF-8B40-0655BDC15472}" srcOrd="0" destOrd="0" presId="urn:microsoft.com/office/officeart/2005/8/layout/orgChart1"/>
    <dgm:cxn modelId="{7F412EC7-DF12-4DAE-BB51-DB42AE863F20}" type="presOf" srcId="{E2CEB3C5-286A-4260-878B-3627E76453E9}" destId="{3C2BBF41-DA05-4796-86FA-FD1B2CA4E742}" srcOrd="1" destOrd="0" presId="urn:microsoft.com/office/officeart/2005/8/layout/orgChart1"/>
    <dgm:cxn modelId="{1BD880D3-F67D-44A6-8793-4FF0BB4EBFFF}" type="presOf" srcId="{07B65D1C-6A4F-40EE-8460-608C1EC02F6E}" destId="{20295699-8050-437E-8412-63C8DF1D714D}" srcOrd="0" destOrd="0" presId="urn:microsoft.com/office/officeart/2005/8/layout/orgChart1"/>
    <dgm:cxn modelId="{469F14A9-8BE7-40FB-824A-696BEB894EEB}" type="presParOf" srcId="{06C9EEBE-04E0-49BD-A941-3976E12B8A1E}" destId="{3ED72E9A-18E3-40D1-8260-F7C720DA190D}" srcOrd="0" destOrd="0" presId="urn:microsoft.com/office/officeart/2005/8/layout/orgChart1"/>
    <dgm:cxn modelId="{F15BB65A-693F-41FD-9A44-A0D4F073EECA}" type="presParOf" srcId="{3ED72E9A-18E3-40D1-8260-F7C720DA190D}" destId="{380B325F-31F7-4FEF-9080-12147B1D3B8E}" srcOrd="0" destOrd="0" presId="urn:microsoft.com/office/officeart/2005/8/layout/orgChart1"/>
    <dgm:cxn modelId="{60126850-D76E-4CB7-B67D-6AF8086E5060}" type="presParOf" srcId="{380B325F-31F7-4FEF-9080-12147B1D3B8E}" destId="{8B637218-9992-41F7-88DF-6CD7DDEF39DD}" srcOrd="0" destOrd="0" presId="urn:microsoft.com/office/officeart/2005/8/layout/orgChart1"/>
    <dgm:cxn modelId="{484ACBD7-0D77-4505-8F0F-8C4A9499F8B7}" type="presParOf" srcId="{380B325F-31F7-4FEF-9080-12147B1D3B8E}" destId="{3D6DFA10-7CAF-4B1E-9E44-ACDFEA5F016A}" srcOrd="1" destOrd="0" presId="urn:microsoft.com/office/officeart/2005/8/layout/orgChart1"/>
    <dgm:cxn modelId="{D894D291-C706-4CBF-A066-F5AE82363D6D}" type="presParOf" srcId="{3ED72E9A-18E3-40D1-8260-F7C720DA190D}" destId="{653D0874-007A-499E-B9A5-2A90C3AF65A8}" srcOrd="1" destOrd="0" presId="urn:microsoft.com/office/officeart/2005/8/layout/orgChart1"/>
    <dgm:cxn modelId="{66E3FB99-0E03-4971-82D5-0E150B32F7DD}" type="presParOf" srcId="{653D0874-007A-499E-B9A5-2A90C3AF65A8}" destId="{5CD645FA-ABD8-4E79-A8F8-812416B65425}" srcOrd="0" destOrd="0" presId="urn:microsoft.com/office/officeart/2005/8/layout/orgChart1"/>
    <dgm:cxn modelId="{49EE101A-0176-4D97-9240-FDACBDFA84EE}" type="presParOf" srcId="{653D0874-007A-499E-B9A5-2A90C3AF65A8}" destId="{EFCE08F9-A893-46DB-9186-44C716FAA159}" srcOrd="1" destOrd="0" presId="urn:microsoft.com/office/officeart/2005/8/layout/orgChart1"/>
    <dgm:cxn modelId="{278D89B2-8122-49F5-B9C1-71CCF937C845}" type="presParOf" srcId="{EFCE08F9-A893-46DB-9186-44C716FAA159}" destId="{FFE00AE1-D56A-4B78-BF0E-A19359776359}" srcOrd="0" destOrd="0" presId="urn:microsoft.com/office/officeart/2005/8/layout/orgChart1"/>
    <dgm:cxn modelId="{F43A5CEA-AD17-42B6-8F04-D2F9D4D1F070}" type="presParOf" srcId="{FFE00AE1-D56A-4B78-BF0E-A19359776359}" destId="{9BF34783-CCB2-48C8-AB22-AC3BAFA39AF9}" srcOrd="0" destOrd="0" presId="urn:microsoft.com/office/officeart/2005/8/layout/orgChart1"/>
    <dgm:cxn modelId="{B8F41420-FA55-4541-962B-E6EC3B5A2178}" type="presParOf" srcId="{FFE00AE1-D56A-4B78-BF0E-A19359776359}" destId="{519FB9EA-82E3-42AB-BC2D-D91524DE7CC1}" srcOrd="1" destOrd="0" presId="urn:microsoft.com/office/officeart/2005/8/layout/orgChart1"/>
    <dgm:cxn modelId="{72543D3F-D1A5-4341-BC42-277D219D8F95}" type="presParOf" srcId="{EFCE08F9-A893-46DB-9186-44C716FAA159}" destId="{5EEB2EB3-67C0-4394-9136-695D5A75C452}" srcOrd="1" destOrd="0" presId="urn:microsoft.com/office/officeart/2005/8/layout/orgChart1"/>
    <dgm:cxn modelId="{8957398E-7BB9-414D-A00A-9F489612B3F9}" type="presParOf" srcId="{EFCE08F9-A893-46DB-9186-44C716FAA159}" destId="{69C0CC89-7DBA-4459-8593-3ADADEB1190E}" srcOrd="2" destOrd="0" presId="urn:microsoft.com/office/officeart/2005/8/layout/orgChart1"/>
    <dgm:cxn modelId="{39305B9D-4133-4010-9ABB-B696FB75D163}" type="presParOf" srcId="{653D0874-007A-499E-B9A5-2A90C3AF65A8}" destId="{20295699-8050-437E-8412-63C8DF1D714D}" srcOrd="2" destOrd="0" presId="urn:microsoft.com/office/officeart/2005/8/layout/orgChart1"/>
    <dgm:cxn modelId="{F7B759C1-9288-4B06-9F04-60E439B5A566}" type="presParOf" srcId="{653D0874-007A-499E-B9A5-2A90C3AF65A8}" destId="{383BBDFE-64B6-466D-9C56-45816BE295D8}" srcOrd="3" destOrd="0" presId="urn:microsoft.com/office/officeart/2005/8/layout/orgChart1"/>
    <dgm:cxn modelId="{941A89FC-CF46-47B9-A6A9-BBA01C9D5D2E}" type="presParOf" srcId="{383BBDFE-64B6-466D-9C56-45816BE295D8}" destId="{0321E076-74DD-47FF-8E55-AB4ED6CAB010}" srcOrd="0" destOrd="0" presId="urn:microsoft.com/office/officeart/2005/8/layout/orgChart1"/>
    <dgm:cxn modelId="{11CFE70F-3FF7-4B4F-BD17-E57C29198533}" type="presParOf" srcId="{0321E076-74DD-47FF-8E55-AB4ED6CAB010}" destId="{798F1677-94A7-4398-9CE3-C2ECBF63F6AA}" srcOrd="0" destOrd="0" presId="urn:microsoft.com/office/officeart/2005/8/layout/orgChart1"/>
    <dgm:cxn modelId="{4CD8181F-1DD0-4D3D-A97A-16D0A89E82AE}" type="presParOf" srcId="{0321E076-74DD-47FF-8E55-AB4ED6CAB010}" destId="{F9406AA0-5BC4-4D91-AEFF-374CED744229}" srcOrd="1" destOrd="0" presId="urn:microsoft.com/office/officeart/2005/8/layout/orgChart1"/>
    <dgm:cxn modelId="{CB584800-6049-4BC9-90D3-99EA143B79D8}" type="presParOf" srcId="{383BBDFE-64B6-466D-9C56-45816BE295D8}" destId="{D966571E-9110-4860-B2C5-E06DFB238995}" srcOrd="1" destOrd="0" presId="urn:microsoft.com/office/officeart/2005/8/layout/orgChart1"/>
    <dgm:cxn modelId="{7BEB6308-415C-47FD-8A31-58DFFC7EEC20}" type="presParOf" srcId="{383BBDFE-64B6-466D-9C56-45816BE295D8}" destId="{2898D0EB-A059-496C-882E-C4DDAFACC533}" srcOrd="2" destOrd="0" presId="urn:microsoft.com/office/officeart/2005/8/layout/orgChart1"/>
    <dgm:cxn modelId="{812E6CA1-6029-44B0-A4A6-C1AE0EAAC681}" type="presParOf" srcId="{653D0874-007A-499E-B9A5-2A90C3AF65A8}" destId="{993D8F6B-C3BE-41EE-8836-E2F8D412C104}" srcOrd="4" destOrd="0" presId="urn:microsoft.com/office/officeart/2005/8/layout/orgChart1"/>
    <dgm:cxn modelId="{1CDEED22-3B9E-4D71-85B8-C75CEE2BBF6F}" type="presParOf" srcId="{653D0874-007A-499E-B9A5-2A90C3AF65A8}" destId="{A9F92D38-C0B5-4501-A275-08654E806994}" srcOrd="5" destOrd="0" presId="urn:microsoft.com/office/officeart/2005/8/layout/orgChart1"/>
    <dgm:cxn modelId="{DFCA39F5-A924-4CF9-94CE-CC1F54EA41D4}" type="presParOf" srcId="{A9F92D38-C0B5-4501-A275-08654E806994}" destId="{87C1D867-69AB-42AB-9853-DE4723685103}" srcOrd="0" destOrd="0" presId="urn:microsoft.com/office/officeart/2005/8/layout/orgChart1"/>
    <dgm:cxn modelId="{DF35757E-6E40-46EE-A5F4-BB2CE3AC7690}" type="presParOf" srcId="{87C1D867-69AB-42AB-9853-DE4723685103}" destId="{D379AA2D-B70B-4CCF-8B40-0655BDC15472}" srcOrd="0" destOrd="0" presId="urn:microsoft.com/office/officeart/2005/8/layout/orgChart1"/>
    <dgm:cxn modelId="{EDFD2DF2-8387-42A6-84A1-AFE77C8196E5}" type="presParOf" srcId="{87C1D867-69AB-42AB-9853-DE4723685103}" destId="{3C2BBF41-DA05-4796-86FA-FD1B2CA4E742}" srcOrd="1" destOrd="0" presId="urn:microsoft.com/office/officeart/2005/8/layout/orgChart1"/>
    <dgm:cxn modelId="{CC848457-7509-4A29-AE01-6413F3DBAF30}" type="presParOf" srcId="{A9F92D38-C0B5-4501-A275-08654E806994}" destId="{580D3D32-9CD1-4890-A737-A4D73D5D8C34}" srcOrd="1" destOrd="0" presId="urn:microsoft.com/office/officeart/2005/8/layout/orgChart1"/>
    <dgm:cxn modelId="{C1248885-288B-4377-A2E3-5685A3DC12A2}" type="presParOf" srcId="{A9F92D38-C0B5-4501-A275-08654E806994}" destId="{A07B5A35-2984-42EB-8C68-CA6E146CDE2F}" srcOrd="2" destOrd="0" presId="urn:microsoft.com/office/officeart/2005/8/layout/orgChart1"/>
    <dgm:cxn modelId="{239893C1-667D-4077-908E-F7E3297CF73A}" type="presParOf" srcId="{3ED72E9A-18E3-40D1-8260-F7C720DA190D}" destId="{912EAA2F-299E-409F-81C6-F5631CC9097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3D8F6B-C3BE-41EE-8836-E2F8D412C104}">
      <dsp:nvSpPr>
        <dsp:cNvPr id="0" name=""/>
        <dsp:cNvSpPr/>
      </dsp:nvSpPr>
      <dsp:spPr>
        <a:xfrm>
          <a:off x="1888699" y="1225060"/>
          <a:ext cx="1336268" cy="245564"/>
        </a:xfrm>
        <a:custGeom>
          <a:avLst/>
          <a:gdLst/>
          <a:ahLst/>
          <a:cxnLst/>
          <a:rect l="0" t="0" r="0" b="0"/>
          <a:pathLst>
            <a:path>
              <a:moveTo>
                <a:pt x="0" y="0"/>
              </a:moveTo>
              <a:lnTo>
                <a:pt x="0" y="129606"/>
              </a:lnTo>
              <a:lnTo>
                <a:pt x="1336268" y="129606"/>
              </a:lnTo>
              <a:lnTo>
                <a:pt x="1336268" y="245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295699-8050-437E-8412-63C8DF1D714D}">
      <dsp:nvSpPr>
        <dsp:cNvPr id="0" name=""/>
        <dsp:cNvSpPr/>
      </dsp:nvSpPr>
      <dsp:spPr>
        <a:xfrm>
          <a:off x="1842979" y="1225060"/>
          <a:ext cx="91440" cy="245564"/>
        </a:xfrm>
        <a:custGeom>
          <a:avLst/>
          <a:gdLst/>
          <a:ahLst/>
          <a:cxnLst/>
          <a:rect l="0" t="0" r="0" b="0"/>
          <a:pathLst>
            <a:path>
              <a:moveTo>
                <a:pt x="45720" y="0"/>
              </a:moveTo>
              <a:lnTo>
                <a:pt x="45720" y="245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D645FA-ABD8-4E79-A8F8-812416B65425}">
      <dsp:nvSpPr>
        <dsp:cNvPr id="0" name=""/>
        <dsp:cNvSpPr/>
      </dsp:nvSpPr>
      <dsp:spPr>
        <a:xfrm>
          <a:off x="552430" y="1225060"/>
          <a:ext cx="1336268" cy="245564"/>
        </a:xfrm>
        <a:custGeom>
          <a:avLst/>
          <a:gdLst/>
          <a:ahLst/>
          <a:cxnLst/>
          <a:rect l="0" t="0" r="0" b="0"/>
          <a:pathLst>
            <a:path>
              <a:moveTo>
                <a:pt x="1336268" y="0"/>
              </a:moveTo>
              <a:lnTo>
                <a:pt x="1336268" y="129606"/>
              </a:lnTo>
              <a:lnTo>
                <a:pt x="0" y="129606"/>
              </a:lnTo>
              <a:lnTo>
                <a:pt x="0" y="245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637218-9992-41F7-88DF-6CD7DDEF39DD}">
      <dsp:nvSpPr>
        <dsp:cNvPr id="0" name=""/>
        <dsp:cNvSpPr/>
      </dsp:nvSpPr>
      <dsp:spPr>
        <a:xfrm>
          <a:off x="1336521" y="672882"/>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CEO</a:t>
          </a:r>
        </a:p>
      </dsp:txBody>
      <dsp:txXfrm>
        <a:off x="1336521" y="672882"/>
        <a:ext cx="1104354" cy="552177"/>
      </dsp:txXfrm>
    </dsp:sp>
    <dsp:sp modelId="{9BF34783-CCB2-48C8-AB22-AC3BAFA39AF9}">
      <dsp:nvSpPr>
        <dsp:cNvPr id="0" name=""/>
        <dsp:cNvSpPr/>
      </dsp:nvSpPr>
      <dsp:spPr>
        <a:xfrm>
          <a:off x="253" y="1470624"/>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t>Mgr</a:t>
          </a:r>
          <a:endParaRPr lang="en-US" sz="2400" kern="1200" dirty="0"/>
        </a:p>
      </dsp:txBody>
      <dsp:txXfrm>
        <a:off x="253" y="1470624"/>
        <a:ext cx="1104354" cy="552177"/>
      </dsp:txXfrm>
    </dsp:sp>
    <dsp:sp modelId="{798F1677-94A7-4398-9CE3-C2ECBF63F6AA}">
      <dsp:nvSpPr>
        <dsp:cNvPr id="0" name=""/>
        <dsp:cNvSpPr/>
      </dsp:nvSpPr>
      <dsp:spPr>
        <a:xfrm>
          <a:off x="1336521" y="1470624"/>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t>Mgr</a:t>
          </a:r>
          <a:endParaRPr lang="en-US" sz="2400" kern="1200" dirty="0"/>
        </a:p>
      </dsp:txBody>
      <dsp:txXfrm>
        <a:off x="1336521" y="1470624"/>
        <a:ext cx="1104354" cy="552177"/>
      </dsp:txXfrm>
    </dsp:sp>
    <dsp:sp modelId="{D379AA2D-B70B-4CCF-8B40-0655BDC15472}">
      <dsp:nvSpPr>
        <dsp:cNvPr id="0" name=""/>
        <dsp:cNvSpPr/>
      </dsp:nvSpPr>
      <dsp:spPr>
        <a:xfrm>
          <a:off x="2672790" y="1470624"/>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err="1"/>
            <a:t>Mgr</a:t>
          </a:r>
          <a:endParaRPr lang="en-US" sz="2400" kern="1200" dirty="0"/>
        </a:p>
      </dsp:txBody>
      <dsp:txXfrm>
        <a:off x="2672790" y="1470624"/>
        <a:ext cx="1104354" cy="55217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448CA2-AD51-40FA-9FF6-F07679F73500}" type="datetimeFigureOut">
              <a:rPr lang="en-US" smtClean="0"/>
              <a:t>08-Jul-19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162734-6A0D-4798-A88C-B65C96AF966C}" type="slidenum">
              <a:rPr lang="en-US" smtClean="0"/>
              <a:t>‹#›</a:t>
            </a:fld>
            <a:endParaRPr lang="en-US"/>
          </a:p>
        </p:txBody>
      </p:sp>
    </p:spTree>
    <p:extLst>
      <p:ext uri="{BB962C8B-B14F-4D97-AF65-F5344CB8AC3E}">
        <p14:creationId xmlns:p14="http://schemas.microsoft.com/office/powerpoint/2010/main" val="3358879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5"/>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chemeClr val="tx1"/>
                </a:solidFill>
                <a:latin typeface="Arial" pitchFamily="34" charset="0"/>
              </a:defRPr>
            </a:lvl1pPr>
            <a:lvl2pPr marL="733658" indent="-282176">
              <a:defRPr sz="1000">
                <a:solidFill>
                  <a:schemeClr val="tx1"/>
                </a:solidFill>
                <a:latin typeface="Arial" pitchFamily="34" charset="0"/>
              </a:defRPr>
            </a:lvl2pPr>
            <a:lvl3pPr marL="1128704" indent="-225741">
              <a:defRPr sz="1000">
                <a:solidFill>
                  <a:schemeClr val="tx1"/>
                </a:solidFill>
                <a:latin typeface="Arial" pitchFamily="34" charset="0"/>
              </a:defRPr>
            </a:lvl3pPr>
            <a:lvl4pPr marL="1580186" indent="-225741">
              <a:defRPr sz="1000">
                <a:solidFill>
                  <a:schemeClr val="tx1"/>
                </a:solidFill>
                <a:latin typeface="Arial" pitchFamily="34" charset="0"/>
              </a:defRPr>
            </a:lvl4pPr>
            <a:lvl5pPr marL="2031667" indent="-225741">
              <a:defRPr sz="1000">
                <a:solidFill>
                  <a:schemeClr val="tx1"/>
                </a:solidFill>
                <a:latin typeface="Arial" pitchFamily="34" charset="0"/>
              </a:defRPr>
            </a:lvl5pPr>
            <a:lvl6pPr marL="2483149" indent="-225741" algn="ctr" eaLnBrk="0" fontAlgn="base" hangingPunct="0">
              <a:spcBef>
                <a:spcPct val="0"/>
              </a:spcBef>
              <a:spcAft>
                <a:spcPct val="0"/>
              </a:spcAft>
              <a:defRPr sz="1000">
                <a:solidFill>
                  <a:schemeClr val="tx1"/>
                </a:solidFill>
                <a:latin typeface="Arial" pitchFamily="34" charset="0"/>
              </a:defRPr>
            </a:lvl6pPr>
            <a:lvl7pPr marL="2934631" indent="-225741" algn="ctr" eaLnBrk="0" fontAlgn="base" hangingPunct="0">
              <a:spcBef>
                <a:spcPct val="0"/>
              </a:spcBef>
              <a:spcAft>
                <a:spcPct val="0"/>
              </a:spcAft>
              <a:defRPr sz="1000">
                <a:solidFill>
                  <a:schemeClr val="tx1"/>
                </a:solidFill>
                <a:latin typeface="Arial" pitchFamily="34" charset="0"/>
              </a:defRPr>
            </a:lvl7pPr>
            <a:lvl8pPr marL="3386112" indent="-225741" algn="ctr" eaLnBrk="0" fontAlgn="base" hangingPunct="0">
              <a:spcBef>
                <a:spcPct val="0"/>
              </a:spcBef>
              <a:spcAft>
                <a:spcPct val="0"/>
              </a:spcAft>
              <a:defRPr sz="1000">
                <a:solidFill>
                  <a:schemeClr val="tx1"/>
                </a:solidFill>
                <a:latin typeface="Arial" pitchFamily="34" charset="0"/>
              </a:defRPr>
            </a:lvl8pPr>
            <a:lvl9pPr marL="3837595" indent="-225741" algn="ctr" eaLnBrk="0" fontAlgn="base" hangingPunct="0">
              <a:spcBef>
                <a:spcPct val="0"/>
              </a:spcBef>
              <a:spcAft>
                <a:spcPct val="0"/>
              </a:spcAft>
              <a:defRPr sz="1000">
                <a:solidFill>
                  <a:schemeClr val="tx1"/>
                </a:solidFill>
                <a:latin typeface="Arial" pitchFamily="34" charset="0"/>
              </a:defRPr>
            </a:lvl9pPr>
          </a:lstStyle>
          <a:p>
            <a:pPr>
              <a:defRPr/>
            </a:pPr>
            <a:fld id="{89D2DC76-6C3E-4363-BC24-7EFE011B28F3}" type="slidenum">
              <a:rPr lang="en-US" smtClean="0">
                <a:latin typeface="Times New Roman" pitchFamily="18" charset="0"/>
              </a:rPr>
              <a:pPr>
                <a:defRPr/>
              </a:pPr>
              <a:t>3</a:t>
            </a:fld>
            <a:endParaRPr lang="en-US" dirty="0">
              <a:latin typeface="Times New Roman"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r-Latn-CS" altLang="en-US" dirty="0">
              <a:latin typeface="Arial" pitchFamily="34" charset="0"/>
            </a:endParaRPr>
          </a:p>
        </p:txBody>
      </p:sp>
    </p:spTree>
    <p:extLst>
      <p:ext uri="{BB962C8B-B14F-4D97-AF65-F5344CB8AC3E}">
        <p14:creationId xmlns:p14="http://schemas.microsoft.com/office/powerpoint/2010/main" val="1811081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AEF183BF-8004-4353-861D-C68E7FA52F5E}"/>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0401F2AA-12AA-4AE6-8B9F-073122128786}" type="slidenum">
              <a:rPr lang="en-US" altLang="en-US" sz="1000" b="0" smtClean="0">
                <a:solidFill>
                  <a:schemeClr val="accent1"/>
                </a:solidFill>
              </a:rPr>
              <a:pPr/>
              <a:t>14</a:t>
            </a:fld>
            <a:endParaRPr lang="en-US" altLang="en-US" sz="1000" b="0">
              <a:solidFill>
                <a:schemeClr val="accent1"/>
              </a:solidFill>
            </a:endParaRPr>
          </a:p>
        </p:txBody>
      </p:sp>
      <p:sp>
        <p:nvSpPr>
          <p:cNvPr id="27651" name="Rectangle 2">
            <a:extLst>
              <a:ext uri="{FF2B5EF4-FFF2-40B4-BE49-F238E27FC236}">
                <a16:creationId xmlns:a16="http://schemas.microsoft.com/office/drawing/2014/main" id="{60EB08BC-6707-4920-9955-F3B9C31B859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60E8189-D6CF-478C-B947-740A405B96D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054D79EE-797B-4F3A-AE05-1DD424F288AF}"/>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40DF8FD2-EB4A-4091-8989-AE93E00EB055}" type="slidenum">
              <a:rPr lang="en-US" altLang="en-US" sz="1000" b="0" smtClean="0">
                <a:solidFill>
                  <a:schemeClr val="accent1"/>
                </a:solidFill>
              </a:rPr>
              <a:pPr/>
              <a:t>15</a:t>
            </a:fld>
            <a:endParaRPr lang="en-US" altLang="en-US" sz="1000" b="0">
              <a:solidFill>
                <a:schemeClr val="accent1"/>
              </a:solidFill>
            </a:endParaRPr>
          </a:p>
        </p:txBody>
      </p:sp>
      <p:sp>
        <p:nvSpPr>
          <p:cNvPr id="29699" name="Rectangle 2">
            <a:extLst>
              <a:ext uri="{FF2B5EF4-FFF2-40B4-BE49-F238E27FC236}">
                <a16:creationId xmlns:a16="http://schemas.microsoft.com/office/drawing/2014/main" id="{16A7AC6E-EF65-4C69-B091-2A8A11B3E143}"/>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D6AA9966-ECA9-4EFB-A2D6-9D66E8C8B103}"/>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1E40780-0BDB-4AA6-A6AE-05119FFA0718}"/>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17E89B5F-BD67-415C-A196-4208B48C54FE}" type="slidenum">
              <a:rPr lang="en-US" altLang="en-US" sz="1000" b="0" smtClean="0">
                <a:solidFill>
                  <a:schemeClr val="accent1"/>
                </a:solidFill>
              </a:rPr>
              <a:pPr/>
              <a:t>16</a:t>
            </a:fld>
            <a:endParaRPr lang="en-US" altLang="en-US" sz="1000" b="0">
              <a:solidFill>
                <a:schemeClr val="accent1"/>
              </a:solidFill>
            </a:endParaRPr>
          </a:p>
        </p:txBody>
      </p:sp>
      <p:sp>
        <p:nvSpPr>
          <p:cNvPr id="31747" name="Rectangle 2">
            <a:extLst>
              <a:ext uri="{FF2B5EF4-FFF2-40B4-BE49-F238E27FC236}">
                <a16:creationId xmlns:a16="http://schemas.microsoft.com/office/drawing/2014/main" id="{38BA7C9C-DE48-4990-8108-1E9F9C5AAA1A}"/>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E233F9FF-81CB-4B9E-BD1E-C8CA4ADFBEB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9FCF7E9-7F73-4D83-84E1-0C07AD8E5AAD}"/>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3BE68289-EB22-45D5-B66D-D525D5DD09D0}" type="slidenum">
              <a:rPr lang="en-US" altLang="en-US" sz="1000" b="0" smtClean="0">
                <a:solidFill>
                  <a:schemeClr val="accent1"/>
                </a:solidFill>
              </a:rPr>
              <a:pPr/>
              <a:t>17</a:t>
            </a:fld>
            <a:endParaRPr lang="en-US" altLang="en-US" sz="1000" b="0">
              <a:solidFill>
                <a:schemeClr val="accent1"/>
              </a:solidFill>
            </a:endParaRPr>
          </a:p>
        </p:txBody>
      </p:sp>
      <p:sp>
        <p:nvSpPr>
          <p:cNvPr id="33795" name="Rectangle 2">
            <a:extLst>
              <a:ext uri="{FF2B5EF4-FFF2-40B4-BE49-F238E27FC236}">
                <a16:creationId xmlns:a16="http://schemas.microsoft.com/office/drawing/2014/main" id="{2AF2D698-FFE5-4057-9D65-787C7031152E}"/>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8C3B1A65-1AC3-4B15-B265-A66BF67E6E4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860241BC-8CA4-45EF-AAC3-9DD503F2272F}"/>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5D608C06-D73A-4B30-A14A-32130A8B8945}" type="slidenum">
              <a:rPr lang="en-US" altLang="en-US" sz="1000" b="0" smtClean="0">
                <a:solidFill>
                  <a:schemeClr val="accent1"/>
                </a:solidFill>
              </a:rPr>
              <a:pPr/>
              <a:t>18</a:t>
            </a:fld>
            <a:endParaRPr lang="en-US" altLang="en-US" sz="1000" b="0">
              <a:solidFill>
                <a:schemeClr val="accent1"/>
              </a:solidFill>
            </a:endParaRPr>
          </a:p>
        </p:txBody>
      </p:sp>
      <p:sp>
        <p:nvSpPr>
          <p:cNvPr id="35843" name="Rectangle 2">
            <a:extLst>
              <a:ext uri="{FF2B5EF4-FFF2-40B4-BE49-F238E27FC236}">
                <a16:creationId xmlns:a16="http://schemas.microsoft.com/office/drawing/2014/main" id="{0FE9DB18-E48E-4928-B108-D688444DEBD5}"/>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36414B9C-8D1E-473A-98D9-4A4B718C627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35C22B5F-35E5-41E7-BB55-E461A4EDE335}"/>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8260C289-415E-45F8-8FBF-25AB132C9F4C}" type="slidenum">
              <a:rPr lang="en-US" altLang="en-US" sz="1000" b="0" smtClean="0">
                <a:solidFill>
                  <a:schemeClr val="accent1"/>
                </a:solidFill>
              </a:rPr>
              <a:pPr/>
              <a:t>19</a:t>
            </a:fld>
            <a:endParaRPr lang="en-US" altLang="en-US" sz="1000" b="0">
              <a:solidFill>
                <a:schemeClr val="accent1"/>
              </a:solidFill>
            </a:endParaRPr>
          </a:p>
        </p:txBody>
      </p:sp>
      <p:sp>
        <p:nvSpPr>
          <p:cNvPr id="37891" name="Rectangle 2">
            <a:extLst>
              <a:ext uri="{FF2B5EF4-FFF2-40B4-BE49-F238E27FC236}">
                <a16:creationId xmlns:a16="http://schemas.microsoft.com/office/drawing/2014/main" id="{1790CDA8-6584-41B1-9339-43DBF6195BC9}"/>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B2783660-B494-42E6-B2A9-11B313D1CE5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69FF732-C8F1-45CA-98E2-F7D1955CAD99}"/>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56BE65EA-D943-422B-A23C-BB9EE44C94D8}" type="slidenum">
              <a:rPr lang="en-US" altLang="en-US" sz="1000" b="0" smtClean="0">
                <a:solidFill>
                  <a:schemeClr val="accent1"/>
                </a:solidFill>
              </a:rPr>
              <a:pPr/>
              <a:t>20</a:t>
            </a:fld>
            <a:endParaRPr lang="en-US" altLang="en-US" sz="1000" b="0">
              <a:solidFill>
                <a:schemeClr val="accent1"/>
              </a:solidFill>
            </a:endParaRPr>
          </a:p>
        </p:txBody>
      </p:sp>
      <p:sp>
        <p:nvSpPr>
          <p:cNvPr id="39939" name="Rectangle 2">
            <a:extLst>
              <a:ext uri="{FF2B5EF4-FFF2-40B4-BE49-F238E27FC236}">
                <a16:creationId xmlns:a16="http://schemas.microsoft.com/office/drawing/2014/main" id="{B8BF96FD-5A5B-4336-9279-E783168C5213}"/>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0144AAC3-654B-491D-8E26-E7707135FAF4}"/>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1A429A1D-45C2-414E-82B9-DD07EB8B9B66}"/>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FAC891E4-F242-4418-A621-B744EEF1EBC3}" type="slidenum">
              <a:rPr lang="en-US" altLang="en-US" sz="1000" b="0" smtClean="0">
                <a:solidFill>
                  <a:schemeClr val="accent1"/>
                </a:solidFill>
              </a:rPr>
              <a:pPr/>
              <a:t>21</a:t>
            </a:fld>
            <a:endParaRPr lang="en-US" altLang="en-US" sz="1000" b="0">
              <a:solidFill>
                <a:schemeClr val="accent1"/>
              </a:solidFill>
            </a:endParaRPr>
          </a:p>
        </p:txBody>
      </p:sp>
      <p:sp>
        <p:nvSpPr>
          <p:cNvPr id="41987" name="Rectangle 2">
            <a:extLst>
              <a:ext uri="{FF2B5EF4-FFF2-40B4-BE49-F238E27FC236}">
                <a16:creationId xmlns:a16="http://schemas.microsoft.com/office/drawing/2014/main" id="{F4BE4588-3159-4B41-BEC8-199C1DD4AD21}"/>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2F6B89E3-979A-414E-8D31-B86FB06F8A9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7ADEE1A5-3EA6-46A1-B1B2-3F965A959C66}"/>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7264A776-1F81-454C-9721-5F2BDF46DBFA}" type="slidenum">
              <a:rPr lang="en-US" altLang="en-US" sz="1000" b="0" smtClean="0">
                <a:solidFill>
                  <a:schemeClr val="accent1"/>
                </a:solidFill>
              </a:rPr>
              <a:pPr/>
              <a:t>22</a:t>
            </a:fld>
            <a:endParaRPr lang="en-US" altLang="en-US" sz="1000" b="0">
              <a:solidFill>
                <a:schemeClr val="accent1"/>
              </a:solidFill>
            </a:endParaRPr>
          </a:p>
        </p:txBody>
      </p:sp>
      <p:sp>
        <p:nvSpPr>
          <p:cNvPr id="44035" name="Rectangle 2">
            <a:extLst>
              <a:ext uri="{FF2B5EF4-FFF2-40B4-BE49-F238E27FC236}">
                <a16:creationId xmlns:a16="http://schemas.microsoft.com/office/drawing/2014/main" id="{2468B90B-0624-4CE1-BAC3-7D456188F2B2}"/>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D08B2BB8-9E53-4380-870C-C6AC4FAA872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F260B9B1-9E2A-4CAB-A7EE-5D341D5DAA4C}"/>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74F4CCE6-D8AF-4D75-AFED-88C884529204}" type="slidenum">
              <a:rPr lang="en-US" altLang="en-US" sz="1000" b="0" smtClean="0">
                <a:solidFill>
                  <a:schemeClr val="accent1"/>
                </a:solidFill>
              </a:rPr>
              <a:pPr/>
              <a:t>23</a:t>
            </a:fld>
            <a:endParaRPr lang="en-US" altLang="en-US" sz="1000" b="0">
              <a:solidFill>
                <a:schemeClr val="accent1"/>
              </a:solidFill>
            </a:endParaRPr>
          </a:p>
        </p:txBody>
      </p:sp>
      <p:sp>
        <p:nvSpPr>
          <p:cNvPr id="46083" name="Rectangle 2">
            <a:extLst>
              <a:ext uri="{FF2B5EF4-FFF2-40B4-BE49-F238E27FC236}">
                <a16:creationId xmlns:a16="http://schemas.microsoft.com/office/drawing/2014/main" id="{45C6243C-9E74-4074-AEB9-7F42AA835E1F}"/>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CAC16A2A-A5E0-43B7-89E6-6CB55D40301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8A45349A-AC26-42BF-A7FB-01D8C2DA8097}"/>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606B3164-5379-47FB-A221-135C36BB383C}" type="slidenum">
              <a:rPr lang="en-US" altLang="en-US" sz="1000" b="0" smtClean="0">
                <a:solidFill>
                  <a:schemeClr val="accent1"/>
                </a:solidFill>
              </a:rPr>
              <a:pPr/>
              <a:t>24</a:t>
            </a:fld>
            <a:endParaRPr lang="en-US" altLang="en-US" sz="1000" b="0">
              <a:solidFill>
                <a:schemeClr val="accent1"/>
              </a:solidFill>
            </a:endParaRPr>
          </a:p>
        </p:txBody>
      </p:sp>
      <p:sp>
        <p:nvSpPr>
          <p:cNvPr id="48131" name="Rectangle 2">
            <a:extLst>
              <a:ext uri="{FF2B5EF4-FFF2-40B4-BE49-F238E27FC236}">
                <a16:creationId xmlns:a16="http://schemas.microsoft.com/office/drawing/2014/main" id="{AB807FF8-CBAB-4C20-A370-C52C94D5780E}"/>
              </a:ext>
            </a:extLst>
          </p:cNvPr>
          <p:cNvSpPr>
            <a:spLocks noGrp="1" noRot="1" noChangeAspect="1" noChangeArrowheads="1" noTextEdit="1"/>
          </p:cNvSpPr>
          <p:nvPr>
            <p:ph type="sldImg"/>
          </p:nvPr>
        </p:nvSpPr>
        <p:spPr>
          <a:solidFill>
            <a:srgbClr val="FFFFFF"/>
          </a:solidFill>
          <a:ln/>
        </p:spPr>
      </p:sp>
      <p:sp>
        <p:nvSpPr>
          <p:cNvPr id="128004" name="Rectangle 3">
            <a:extLst>
              <a:ext uri="{FF2B5EF4-FFF2-40B4-BE49-F238E27FC236}">
                <a16:creationId xmlns:a16="http://schemas.microsoft.com/office/drawing/2014/main" id="{0371A507-ED44-4740-8780-AB0B1EA84085}"/>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61B5271F-EF29-44C0-A1DE-75EB473C8A5D}"/>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5D6F5326-5337-4C89-997B-89817F746C2C}" type="slidenum">
              <a:rPr lang="en-US" altLang="en-US" sz="1000" b="0" smtClean="0">
                <a:solidFill>
                  <a:schemeClr val="accent1"/>
                </a:solidFill>
              </a:rPr>
              <a:pPr/>
              <a:t>26</a:t>
            </a:fld>
            <a:endParaRPr lang="en-US" altLang="en-US" sz="1000" b="0">
              <a:solidFill>
                <a:schemeClr val="accent1"/>
              </a:solidFill>
            </a:endParaRPr>
          </a:p>
        </p:txBody>
      </p:sp>
      <p:sp>
        <p:nvSpPr>
          <p:cNvPr id="51203" name="Rectangle 2">
            <a:extLst>
              <a:ext uri="{FF2B5EF4-FFF2-40B4-BE49-F238E27FC236}">
                <a16:creationId xmlns:a16="http://schemas.microsoft.com/office/drawing/2014/main" id="{7AFDAF21-393C-4D5A-BF8F-1FD14D0B4CFD}"/>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12BDC02B-B17A-4350-9113-C75EAE8EAC9F}"/>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507016F-C1E4-48C6-A806-CBDE7080C227}"/>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EF040DBF-45CC-4641-9DD9-A978FE1EB61A}" type="slidenum">
              <a:rPr lang="en-US" altLang="en-US" sz="1000" b="0" smtClean="0">
                <a:solidFill>
                  <a:schemeClr val="accent1"/>
                </a:solidFill>
              </a:rPr>
              <a:pPr/>
              <a:t>27</a:t>
            </a:fld>
            <a:endParaRPr lang="en-US" altLang="en-US" sz="1000" b="0">
              <a:solidFill>
                <a:schemeClr val="accent1"/>
              </a:solidFill>
            </a:endParaRPr>
          </a:p>
        </p:txBody>
      </p:sp>
      <p:sp>
        <p:nvSpPr>
          <p:cNvPr id="53251" name="Rectangle 2">
            <a:extLst>
              <a:ext uri="{FF2B5EF4-FFF2-40B4-BE49-F238E27FC236}">
                <a16:creationId xmlns:a16="http://schemas.microsoft.com/office/drawing/2014/main" id="{9B5E891B-ADEA-4B34-B836-0AF7A75A0865}"/>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EB7854B1-C165-43A2-8E9E-2EEDD2F1D7C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- 6/25/01</a:t>
            </a:r>
          </a:p>
          <a:p>
            <a:pPr>
              <a:defRPr/>
            </a:pPr>
            <a:endParaRPr lang="en-US">
              <a:latin typeface="Times New Roman" charset="0"/>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211C5-DC69-4922-BE93-DDD2CB4193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5719D0-E12A-48AC-B917-F7321FAD3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5AD5A7-FC61-4671-875C-C1A30A051B0A}"/>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5" name="Footer Placeholder 4">
            <a:extLst>
              <a:ext uri="{FF2B5EF4-FFF2-40B4-BE49-F238E27FC236}">
                <a16:creationId xmlns:a16="http://schemas.microsoft.com/office/drawing/2014/main" id="{CB98D2F2-540C-4EEE-ABBF-883B643451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A9B31-4CF7-4AF2-AD55-0C134F306845}"/>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405471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31D1D-C37E-42FB-B55D-13F61B3E07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774339-216D-4D25-A010-7577DB258F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9151F-F2D0-4057-8D56-A96577DFA7BA}"/>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5" name="Footer Placeholder 4">
            <a:extLst>
              <a:ext uri="{FF2B5EF4-FFF2-40B4-BE49-F238E27FC236}">
                <a16:creationId xmlns:a16="http://schemas.microsoft.com/office/drawing/2014/main" id="{8E561962-B317-417E-B828-235B51B16A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8B5E4-8343-4DE4-9C85-545898045316}"/>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3403779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FA818-A9EC-49B8-AA2A-59329BD033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8AC8B2-9A94-466E-97A5-7799FA151B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3CA4EE-C993-47A2-967D-DBF39837F795}"/>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5" name="Footer Placeholder 4">
            <a:extLst>
              <a:ext uri="{FF2B5EF4-FFF2-40B4-BE49-F238E27FC236}">
                <a16:creationId xmlns:a16="http://schemas.microsoft.com/office/drawing/2014/main" id="{6E88C0D1-9D08-45DD-8E25-2427E6139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DE8B41-B05B-4C5B-A1D9-9ED41A494659}"/>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1577485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35DD1-D493-4412-ACB0-5BC278040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04B290-7812-4F62-8062-08D5DE1E0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7EF9B5-C156-4893-A55B-4219FD8B91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A8B1D4-8141-4179-AE7E-3A6AF60D55E0}"/>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6" name="Footer Placeholder 5">
            <a:extLst>
              <a:ext uri="{FF2B5EF4-FFF2-40B4-BE49-F238E27FC236}">
                <a16:creationId xmlns:a16="http://schemas.microsoft.com/office/drawing/2014/main" id="{135FC13D-D966-4E8B-8A9B-A7662396F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D839DB-4070-4248-8A34-D495F1A72C7D}"/>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4099632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EB3A-C359-4CD1-BCFC-A951050449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9B1CD3-2498-4DE0-B7D0-BCAE718BA5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3DCB75-0421-45C7-81E2-AC513126F9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6BD741-8147-46C3-9D2D-7F760EBC3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702049-591E-405D-A3C3-0CAAAB368D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377750-9763-4C4D-80A2-5B788F6D1022}"/>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8" name="Footer Placeholder 7">
            <a:extLst>
              <a:ext uri="{FF2B5EF4-FFF2-40B4-BE49-F238E27FC236}">
                <a16:creationId xmlns:a16="http://schemas.microsoft.com/office/drawing/2014/main" id="{429CD221-32F3-4CCC-B45C-8564CA98A4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7561A7-D6C8-4AA2-908D-17B915132DC0}"/>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42143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4182-6C21-49C0-9A49-EB87E06E43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AD5DF0-4D3C-4FB1-9FAF-51D15DE40EF8}"/>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4" name="Footer Placeholder 3">
            <a:extLst>
              <a:ext uri="{FF2B5EF4-FFF2-40B4-BE49-F238E27FC236}">
                <a16:creationId xmlns:a16="http://schemas.microsoft.com/office/drawing/2014/main" id="{C6984023-D032-417C-AFF8-8E7EB16747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1B006A-B8E9-4D80-98F6-F500DD07B1E1}"/>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634438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67D38B-9E78-4BC1-9CCD-5D54E8C5CC2A}"/>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3" name="Footer Placeholder 2">
            <a:extLst>
              <a:ext uri="{FF2B5EF4-FFF2-40B4-BE49-F238E27FC236}">
                <a16:creationId xmlns:a16="http://schemas.microsoft.com/office/drawing/2014/main" id="{BA57E5ED-C0E1-4796-99F0-F92CB0E81B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B35856-FB45-4B03-B8AB-8A027546C20E}"/>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097741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847F-CF97-4181-8E40-2690761AE9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B504D2-E9B3-4AA1-BF8E-D4E245586C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4C460F-05B2-41C7-A5DF-8BDA359E53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55194-A8BD-4120-A997-4F5182C10CA4}"/>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6" name="Footer Placeholder 5">
            <a:extLst>
              <a:ext uri="{FF2B5EF4-FFF2-40B4-BE49-F238E27FC236}">
                <a16:creationId xmlns:a16="http://schemas.microsoft.com/office/drawing/2014/main" id="{6D8C8702-224D-4D9C-9234-B4EDD6DC2B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63E2D5-347C-4C5B-BC9D-21A1C549113B}"/>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543323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C8C7-3156-4690-B54D-C6648A1F7C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60F6B9-E867-4B4D-B9E2-0FFFC17573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DB0421-4447-40ED-8F81-6F7C27823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2C5311-C542-4644-9C41-6EADE1495F9F}"/>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6" name="Footer Placeholder 5">
            <a:extLst>
              <a:ext uri="{FF2B5EF4-FFF2-40B4-BE49-F238E27FC236}">
                <a16:creationId xmlns:a16="http://schemas.microsoft.com/office/drawing/2014/main" id="{E20C6234-9E71-46C9-ABAC-847DD3D1F9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AD305-46B3-4FAA-9D73-26FCAA32E570}"/>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104361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7363-C7C8-4364-B2B5-6B19A3070F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431052-CCDD-409A-B670-E24AFFC540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3AA8A3-50F1-4EDD-953C-401FFFFE8614}"/>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5" name="Footer Placeholder 4">
            <a:extLst>
              <a:ext uri="{FF2B5EF4-FFF2-40B4-BE49-F238E27FC236}">
                <a16:creationId xmlns:a16="http://schemas.microsoft.com/office/drawing/2014/main" id="{25247357-E19A-4E82-A71B-999D34E1E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ED6DD4-9D15-41D9-996F-D84419DB337F}"/>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230351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EE521A-8750-42F4-B3C5-20FBDFBF8F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A58408-6C0B-4928-AC02-7844BCD936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16104C-B1DC-49DD-9528-469293AE4DB3}"/>
              </a:ext>
            </a:extLst>
          </p:cNvPr>
          <p:cNvSpPr>
            <a:spLocks noGrp="1"/>
          </p:cNvSpPr>
          <p:nvPr>
            <p:ph type="dt" sz="half" idx="10"/>
          </p:nvPr>
        </p:nvSpPr>
        <p:spPr/>
        <p:txBody>
          <a:bodyPr/>
          <a:lstStyle/>
          <a:p>
            <a:fld id="{68C57C4F-E62A-4872-A87F-ACC1AA77C82E}" type="datetimeFigureOut">
              <a:rPr lang="en-US" smtClean="0"/>
              <a:t>08-Jul-19</a:t>
            </a:fld>
            <a:endParaRPr lang="en-US"/>
          </a:p>
        </p:txBody>
      </p:sp>
      <p:sp>
        <p:nvSpPr>
          <p:cNvPr id="5" name="Footer Placeholder 4">
            <a:extLst>
              <a:ext uri="{FF2B5EF4-FFF2-40B4-BE49-F238E27FC236}">
                <a16:creationId xmlns:a16="http://schemas.microsoft.com/office/drawing/2014/main" id="{8DCB2E83-44AC-4BA3-A706-41AAD5975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144F2-33BC-422C-B4B3-7D18E1B1C6EE}"/>
              </a:ext>
            </a:extLst>
          </p:cNvPr>
          <p:cNvSpPr>
            <a:spLocks noGrp="1"/>
          </p:cNvSpPr>
          <p:nvPr>
            <p:ph type="sldNum" sz="quarter" idx="12"/>
          </p:nvPr>
        </p:nvSpPr>
        <p:spPr/>
        <p:txBody>
          <a:bodyPr/>
          <a:lstStyle/>
          <a:p>
            <a:fld id="{6C76D239-41D1-4B6C-AB5D-F27F47CBD7E2}" type="slidenum">
              <a:rPr lang="en-US" smtClean="0"/>
              <a:t>‹#›</a:t>
            </a:fld>
            <a:endParaRPr lang="en-US"/>
          </a:p>
        </p:txBody>
      </p:sp>
    </p:spTree>
    <p:extLst>
      <p:ext uri="{BB962C8B-B14F-4D97-AF65-F5344CB8AC3E}">
        <p14:creationId xmlns:p14="http://schemas.microsoft.com/office/powerpoint/2010/main" val="3202972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Chart Placeholder 2"/>
          <p:cNvSpPr>
            <a:spLocks noGrp="1"/>
          </p:cNvSpPr>
          <p:nvPr>
            <p:ph type="chart" sz="half" idx="1"/>
          </p:nvPr>
        </p:nvSpPr>
        <p:spPr>
          <a:xfrm>
            <a:off x="914400" y="1981200"/>
            <a:ext cx="5080000" cy="4114800"/>
          </a:xfrm>
        </p:spPr>
        <p:txBody>
          <a:bodyPr/>
          <a:lstStyle/>
          <a:p>
            <a:pPr lvl="0"/>
            <a:endParaRPr lang="en-US" noProof="0"/>
          </a:p>
        </p:txBody>
      </p:sp>
      <p:sp>
        <p:nvSpPr>
          <p:cNvPr id="4" name="Text Placeholder 3"/>
          <p:cNvSpPr>
            <a:spLocks noGrp="1"/>
          </p:cNvSpPr>
          <p:nvPr>
            <p:ph type="body"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D7CC12-386A-4BB3-982F-C1A490DFF1D0}"/>
              </a:ext>
            </a:extLst>
          </p:cNvPr>
          <p:cNvSpPr>
            <a:spLocks noGrp="1" noChangeArrowheads="1"/>
          </p:cNvSpPr>
          <p:nvPr>
            <p:ph type="dt" sz="half" idx="10"/>
          </p:nvPr>
        </p:nvSpPr>
        <p:spPr>
          <a:xfrm>
            <a:off x="914400" y="6248400"/>
            <a:ext cx="2540000" cy="457200"/>
          </a:xfrm>
          <a:prstGeom prst="rect">
            <a:avLst/>
          </a:prstGeom>
        </p:spPr>
        <p:txBody>
          <a:bodyPr/>
          <a:lstStyle>
            <a:lvl1pPr>
              <a:defRPr>
                <a:latin typeface="Times New Roman" pitchFamily="18" charset="0"/>
                <a:ea typeface="+mn-ea"/>
                <a:cs typeface="+mn-cs"/>
              </a:defRPr>
            </a:lvl1pPr>
          </a:lstStyle>
          <a:p>
            <a:pPr>
              <a:defRPr/>
            </a:pPr>
            <a:endParaRPr lang="en-US"/>
          </a:p>
        </p:txBody>
      </p:sp>
      <p:sp>
        <p:nvSpPr>
          <p:cNvPr id="6" name="Footer Placeholder 5">
            <a:extLst>
              <a:ext uri="{FF2B5EF4-FFF2-40B4-BE49-F238E27FC236}">
                <a16:creationId xmlns:a16="http://schemas.microsoft.com/office/drawing/2014/main" id="{DD4B1823-B505-4BB1-BA24-78608FCFCAEB}"/>
              </a:ext>
            </a:extLst>
          </p:cNvPr>
          <p:cNvSpPr>
            <a:spLocks noGrp="1" noChangeArrowheads="1"/>
          </p:cNvSpPr>
          <p:nvPr>
            <p:ph type="ftr" sz="quarter" idx="11"/>
          </p:nvPr>
        </p:nvSpPr>
        <p:spPr>
          <a:xfrm>
            <a:off x="4165600" y="6248400"/>
            <a:ext cx="3860800" cy="457200"/>
          </a:xfrm>
          <a:prstGeom prst="rect">
            <a:avLst/>
          </a:prstGeom>
        </p:spPr>
        <p:txBody>
          <a:bodyPr/>
          <a:lstStyle>
            <a:lvl1pPr>
              <a:defRPr>
                <a:latin typeface="Times New Roman" pitchFamily="18" charset="0"/>
                <a:ea typeface="+mn-ea"/>
                <a:cs typeface="+mn-cs"/>
              </a:defRPr>
            </a:lvl1pPr>
          </a:lstStyle>
          <a:p>
            <a:pPr>
              <a:defRPr/>
            </a:pPr>
            <a:r>
              <a:rPr lang="en-US"/>
              <a:t>1</a:t>
            </a:r>
          </a:p>
        </p:txBody>
      </p:sp>
      <p:sp>
        <p:nvSpPr>
          <p:cNvPr id="7" name="Slide Number Placeholder 6">
            <a:extLst>
              <a:ext uri="{FF2B5EF4-FFF2-40B4-BE49-F238E27FC236}">
                <a16:creationId xmlns:a16="http://schemas.microsoft.com/office/drawing/2014/main" id="{62A9F2CB-A81F-443B-98E2-CB817E3ABF0E}"/>
              </a:ext>
            </a:extLst>
          </p:cNvPr>
          <p:cNvSpPr>
            <a:spLocks noGrp="1" noChangeArrowheads="1"/>
          </p:cNvSpPr>
          <p:nvPr>
            <p:ph type="sldNum" sz="quarter" idx="12"/>
          </p:nvPr>
        </p:nvSpPr>
        <p:spPr>
          <a:xfrm>
            <a:off x="-1828800" y="6400800"/>
            <a:ext cx="2540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7541BFEA-CD48-49D7-8F74-7D5B9ED5D7D1}" type="slidenum">
              <a:rPr lang="en-US" altLang="en-US"/>
              <a:pPr>
                <a:defRPr/>
              </a:pPr>
              <a:t>‹#›</a:t>
            </a:fld>
            <a:endParaRPr lang="en-US" altLang="en-US"/>
          </a:p>
        </p:txBody>
      </p:sp>
    </p:spTree>
    <p:extLst>
      <p:ext uri="{BB962C8B-B14F-4D97-AF65-F5344CB8AC3E}">
        <p14:creationId xmlns:p14="http://schemas.microsoft.com/office/powerpoint/2010/main" val="36336085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0E0AFF-2677-4851-82DF-8E5155C39C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117D37-541F-4333-9AF5-B2E8FC4A68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092D81-2F04-4B23-B281-3C54CF5AED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57C4F-E62A-4872-A87F-ACC1AA77C82E}" type="datetimeFigureOut">
              <a:rPr lang="en-US" smtClean="0"/>
              <a:t>08-Jul-19</a:t>
            </a:fld>
            <a:endParaRPr lang="en-US"/>
          </a:p>
        </p:txBody>
      </p:sp>
      <p:sp>
        <p:nvSpPr>
          <p:cNvPr id="5" name="Footer Placeholder 4">
            <a:extLst>
              <a:ext uri="{FF2B5EF4-FFF2-40B4-BE49-F238E27FC236}">
                <a16:creationId xmlns:a16="http://schemas.microsoft.com/office/drawing/2014/main" id="{E2210BA0-B430-41F8-9315-7A96037113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681FB9-E433-4A42-9C6C-D58914D3C8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76D239-41D1-4B6C-AB5D-F27F47CBD7E2}" type="slidenum">
              <a:rPr lang="en-US" smtClean="0"/>
              <a:t>‹#›</a:t>
            </a:fld>
            <a:endParaRPr lang="en-US"/>
          </a:p>
        </p:txBody>
      </p:sp>
      <p:pic>
        <p:nvPicPr>
          <p:cNvPr id="7" name="Picture 2" descr="Image result for mailigen logo">
            <a:extLst>
              <a:ext uri="{FF2B5EF4-FFF2-40B4-BE49-F238E27FC236}">
                <a16:creationId xmlns:a16="http://schemas.microsoft.com/office/drawing/2014/main" id="{8FAA0086-1ABF-41E9-8D1B-0D6E2521F0A8}"/>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50DFE73D-6CF8-459B-8AFA-A00F67638A56}"/>
              </a:ext>
            </a:extLst>
          </p:cNvPr>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9" name="Picture 8">
            <a:extLst>
              <a:ext uri="{FF2B5EF4-FFF2-40B4-BE49-F238E27FC236}">
                <a16:creationId xmlns:a16="http://schemas.microsoft.com/office/drawing/2014/main" id="{90864D19-769E-4E59-8CEF-B826BF4754E4}"/>
              </a:ext>
            </a:extLst>
          </p:cNvPr>
          <p:cNvPicPr>
            <a:picLocks noChangeAspect="1"/>
          </p:cNvPicPr>
          <p:nvPr userDrawn="1"/>
        </p:nvPicPr>
        <p:blipFill>
          <a:blip r:embed="rId15"/>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4022709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0.e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1.e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2.e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3.e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14.e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6.emf"/><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oleObject" Target="../embeddings/oleObject9.bin"/><Relationship Id="rId5" Type="http://schemas.openxmlformats.org/officeDocument/2006/relationships/image" Target="../media/image15.emf"/><Relationship Id="rId4"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8.emf"/><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oleObject" Target="../embeddings/oleObject11.bin"/><Relationship Id="rId5" Type="http://schemas.openxmlformats.org/officeDocument/2006/relationships/image" Target="../media/image17.emf"/><Relationship Id="rId4"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1A2E2C-0B30-4D77-8D1A-3E72BAAFEC01}"/>
              </a:ext>
            </a:extLst>
          </p:cNvPr>
          <p:cNvSpPr>
            <a:spLocks noGrp="1"/>
          </p:cNvSpPr>
          <p:nvPr>
            <p:ph type="ctrTitle"/>
          </p:nvPr>
        </p:nvSpPr>
        <p:spPr>
          <a:xfrm>
            <a:off x="2229465" y="1849009"/>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br>
              <a:rPr lang="en-US" sz="2400" i="1" dirty="0">
                <a:solidFill>
                  <a:srgbClr val="FF0000"/>
                </a:solidFill>
              </a:rPr>
            </a:br>
            <a:endParaRPr lang="en-US" dirty="0">
              <a:solidFill>
                <a:srgbClr val="FF0000"/>
              </a:solidFill>
            </a:endParaRPr>
          </a:p>
        </p:txBody>
      </p:sp>
      <p:sp>
        <p:nvSpPr>
          <p:cNvPr id="5" name="Subtitle 2">
            <a:extLst>
              <a:ext uri="{FF2B5EF4-FFF2-40B4-BE49-F238E27FC236}">
                <a16:creationId xmlns:a16="http://schemas.microsoft.com/office/drawing/2014/main" id="{8C0F7E41-707C-45B5-A1A2-27BDDBA265C7}"/>
              </a:ext>
            </a:extLst>
          </p:cNvPr>
          <p:cNvSpPr>
            <a:spLocks noGrp="1"/>
          </p:cNvSpPr>
          <p:nvPr>
            <p:ph type="subTitle" idx="1"/>
          </p:nvPr>
        </p:nvSpPr>
        <p:spPr>
          <a:xfrm>
            <a:off x="2025349" y="2862009"/>
            <a:ext cx="8360564" cy="3511075"/>
          </a:xfrm>
        </p:spPr>
        <p:txBody>
          <a:bodyPr>
            <a:normAutofit lnSpcReduction="10000"/>
          </a:bodyPr>
          <a:lstStyle/>
          <a:p>
            <a:r>
              <a:rPr lang="lv-LV" i="1" dirty="0"/>
              <a:t>Business Models for Innovation and building accountability</a:t>
            </a:r>
            <a:endParaRPr lang="en-US" i="1" dirty="0"/>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lv-LV" sz="2000" dirty="0"/>
              <a:t>June</a:t>
            </a:r>
            <a:r>
              <a:rPr lang="en-US" sz="2000" dirty="0"/>
              <a:t>-July 2019</a:t>
            </a:r>
          </a:p>
          <a:p>
            <a:endParaRPr lang="lv-LV" sz="2000" dirty="0"/>
          </a:p>
          <a:p>
            <a:endParaRPr lang="en-US" sz="2000" dirty="0"/>
          </a:p>
          <a:p>
            <a:r>
              <a:rPr lang="en-US" sz="2000" dirty="0"/>
              <a:t>Projekts Nr./ CFLA l</a:t>
            </a:r>
            <a:r>
              <a:rPr lang="lv-LV" sz="2000" dirty="0"/>
              <a:t>ī</a:t>
            </a:r>
            <a:r>
              <a:rPr lang="en-US" sz="2000" dirty="0"/>
              <a:t>gums Nr.</a:t>
            </a:r>
            <a:r>
              <a:rPr lang="lv-LV" sz="2000" dirty="0"/>
              <a:t> 1.2.2.3/16/i/001</a:t>
            </a:r>
            <a:endParaRPr lang="en-US" i="1" dirty="0"/>
          </a:p>
        </p:txBody>
      </p:sp>
      <p:pic>
        <p:nvPicPr>
          <p:cNvPr id="6" name="Picture 22">
            <a:extLst>
              <a:ext uri="{FF2B5EF4-FFF2-40B4-BE49-F238E27FC236}">
                <a16:creationId xmlns:a16="http://schemas.microsoft.com/office/drawing/2014/main" id="{D1102B30-1D50-46BD-9A21-D90E3A0A6C5E}"/>
              </a:ext>
            </a:extLst>
          </p:cNvPr>
          <p:cNvPicPr>
            <a:picLocks noChangeAspect="1" noChangeArrowheads="1"/>
          </p:cNvPicPr>
          <p:nvPr/>
        </p:nvPicPr>
        <p:blipFill>
          <a:blip r:embed="rId2" cstate="print"/>
          <a:srcRect/>
          <a:stretch>
            <a:fillRect/>
          </a:stretch>
        </p:blipFill>
        <p:spPr bwMode="auto">
          <a:xfrm>
            <a:off x="6656749" y="323560"/>
            <a:ext cx="3472492" cy="1801269"/>
          </a:xfrm>
          <a:prstGeom prst="rect">
            <a:avLst/>
          </a:prstGeom>
          <a:noFill/>
          <a:ln w="12700">
            <a:noFill/>
            <a:miter lim="800000"/>
            <a:headEnd/>
            <a:tailEnd/>
          </a:ln>
        </p:spPr>
      </p:pic>
    </p:spTree>
    <p:extLst>
      <p:ext uri="{BB962C8B-B14F-4D97-AF65-F5344CB8AC3E}">
        <p14:creationId xmlns:p14="http://schemas.microsoft.com/office/powerpoint/2010/main" val="3032187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64200" y="1166842"/>
            <a:ext cx="9017532" cy="3416320"/>
          </a:xfrm>
          <a:prstGeom prst="rect">
            <a:avLst/>
          </a:prstGeom>
          <a:noFill/>
        </p:spPr>
        <p:txBody>
          <a:bodyPr wrap="none" rtlCol="0">
            <a:spAutoFit/>
          </a:bodyPr>
          <a:lstStyle/>
          <a:p>
            <a:pPr algn="ctr"/>
            <a:r>
              <a:rPr lang="en-US" sz="7200" b="1" dirty="0">
                <a:solidFill>
                  <a:srgbClr val="7474F2"/>
                </a:solidFill>
                <a:effectLst>
                  <a:outerShdw blurRad="38100" dist="38100" dir="2700000" algn="tl">
                    <a:srgbClr val="000000">
                      <a:alpha val="43137"/>
                    </a:srgbClr>
                  </a:outerShdw>
                </a:effectLst>
              </a:rPr>
              <a:t>Building</a:t>
            </a:r>
            <a:r>
              <a:rPr lang="lv-LV" sz="7200" b="1" dirty="0">
                <a:solidFill>
                  <a:srgbClr val="7474F2"/>
                </a:solidFill>
                <a:effectLst>
                  <a:outerShdw blurRad="38100" dist="38100" dir="2700000" algn="tl">
                    <a:srgbClr val="000000">
                      <a:alpha val="43137"/>
                    </a:srgbClr>
                  </a:outerShdw>
                </a:effectLst>
              </a:rPr>
              <a:t> </a:t>
            </a:r>
            <a:r>
              <a:rPr lang="en-US" sz="7200" b="1" dirty="0">
                <a:solidFill>
                  <a:srgbClr val="7474F2"/>
                </a:solidFill>
                <a:effectLst>
                  <a:outerShdw blurRad="38100" dist="38100" dir="2700000" algn="tl">
                    <a:srgbClr val="000000">
                      <a:alpha val="43137"/>
                    </a:srgbClr>
                  </a:outerShdw>
                </a:effectLst>
              </a:rPr>
              <a:t>Accountability</a:t>
            </a:r>
            <a:endParaRPr lang="lv-LV" sz="7200" b="1" dirty="0">
              <a:solidFill>
                <a:srgbClr val="7474F2"/>
              </a:solidFill>
              <a:effectLst>
                <a:outerShdw blurRad="38100" dist="38100" dir="2700000" algn="tl">
                  <a:srgbClr val="000000">
                    <a:alpha val="43137"/>
                  </a:srgbClr>
                </a:outerShdw>
              </a:effectLst>
            </a:endParaRPr>
          </a:p>
          <a:p>
            <a:pPr algn="ctr"/>
            <a:r>
              <a:rPr lang="lv-LV" sz="7200" b="1" dirty="0">
                <a:solidFill>
                  <a:srgbClr val="7474F2"/>
                </a:solidFill>
                <a:effectLst>
                  <a:outerShdw blurRad="38100" dist="38100" dir="2700000" algn="tl">
                    <a:srgbClr val="000000">
                      <a:alpha val="43137"/>
                    </a:srgbClr>
                  </a:outerShdw>
                </a:effectLst>
              </a:rPr>
              <a:t>To Bring Your Business</a:t>
            </a:r>
          </a:p>
          <a:p>
            <a:pPr algn="ctr"/>
            <a:r>
              <a:rPr lang="lv-LV" sz="7200" b="1" dirty="0">
                <a:solidFill>
                  <a:srgbClr val="7474F2"/>
                </a:solidFill>
                <a:effectLst>
                  <a:outerShdw blurRad="38100" dist="38100" dir="2700000" algn="tl">
                    <a:srgbClr val="000000">
                      <a:alpha val="43137"/>
                    </a:srgbClr>
                  </a:outerShdw>
                </a:effectLst>
              </a:rPr>
              <a:t>Model To Life</a:t>
            </a:r>
            <a:endParaRPr lang="en-US" sz="7200" b="1" dirty="0">
              <a:solidFill>
                <a:srgbClr val="7474F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95698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8" descr="C:\Users\Zeki\Documents\ASEE Phases\f0\Djokovic&amp;Zimonji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359" y="360363"/>
            <a:ext cx="528478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a:spLocks noChangeArrowheads="1"/>
          </p:cNvSpPr>
          <p:nvPr/>
        </p:nvSpPr>
        <p:spPr bwMode="auto">
          <a:xfrm>
            <a:off x="6616885" y="3657600"/>
            <a:ext cx="2981325"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dirty="0">
                <a:latin typeface="Comic Sans MS" pitchFamily="66" charset="0"/>
              </a:rPr>
              <a:t>Responsibility</a:t>
            </a:r>
          </a:p>
          <a:p>
            <a:pPr eaLnBrk="1" hangingPunct="1">
              <a:spcBef>
                <a:spcPct val="0"/>
              </a:spcBef>
              <a:buFontTx/>
              <a:buNone/>
            </a:pPr>
            <a:r>
              <a:rPr lang="en-US" altLang="en-US" dirty="0">
                <a:latin typeface="Comic Sans MS" pitchFamily="66" charset="0"/>
              </a:rPr>
              <a:t>Accountability</a:t>
            </a:r>
          </a:p>
          <a:p>
            <a:pPr eaLnBrk="1" hangingPunct="1">
              <a:spcBef>
                <a:spcPct val="0"/>
              </a:spcBef>
              <a:buFontTx/>
              <a:buNone/>
            </a:pPr>
            <a:r>
              <a:rPr lang="en-US" altLang="en-US" dirty="0">
                <a:latin typeface="Comic Sans MS" pitchFamily="66" charset="0"/>
              </a:rPr>
              <a:t>Commitment</a:t>
            </a:r>
          </a:p>
          <a:p>
            <a:pPr eaLnBrk="1" hangingPunct="1">
              <a:spcBef>
                <a:spcPct val="0"/>
              </a:spcBef>
              <a:buFontTx/>
              <a:buNone/>
            </a:pPr>
            <a:r>
              <a:rPr lang="en-US" altLang="en-US" dirty="0">
                <a:latin typeface="Comic Sans MS" pitchFamily="66" charset="0"/>
              </a:rPr>
              <a:t>Engagement</a:t>
            </a:r>
          </a:p>
          <a:p>
            <a:pPr eaLnBrk="1" hangingPunct="1">
              <a:spcBef>
                <a:spcPct val="0"/>
              </a:spcBef>
              <a:buFontTx/>
              <a:buNone/>
            </a:pPr>
            <a:r>
              <a:rPr lang="en-US" altLang="en-US" dirty="0">
                <a:latin typeface="Comic Sans MS" pitchFamily="66" charset="0"/>
              </a:rPr>
              <a:t>…</a:t>
            </a:r>
          </a:p>
        </p:txBody>
      </p:sp>
      <p:pic>
        <p:nvPicPr>
          <p:cNvPr id="3078" name="Picture 10" descr="http://www3.pictures.zimbio.com/gi/Anastasia+Vasina+Olympics+Day+5+Beach+Volleyball+zlaYyBQqg2q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4298" y="3375025"/>
            <a:ext cx="5114925" cy="327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98057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3400425"/>
            <a:ext cx="544512" cy="649288"/>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4099"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4100"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4101"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7" name="Group 6"/>
          <p:cNvGrpSpPr>
            <a:grpSpLocks/>
          </p:cNvGrpSpPr>
          <p:nvPr/>
        </p:nvGrpSpPr>
        <p:grpSpPr bwMode="auto">
          <a:xfrm>
            <a:off x="3810001" y="3400425"/>
            <a:ext cx="2263775" cy="649288"/>
            <a:chOff x="2286001" y="3400096"/>
            <a:chExt cx="2264370" cy="650221"/>
          </a:xfrm>
        </p:grpSpPr>
        <p:sp>
          <p:nvSpPr>
            <p:cNvPr id="4108" name="Oval 25"/>
            <p:cNvSpPr>
              <a:spLocks noChangeArrowheads="1"/>
            </p:cNvSpPr>
            <p:nvPr/>
          </p:nvSpPr>
          <p:spPr bwMode="auto">
            <a:xfrm>
              <a:off x="4006083" y="3400096"/>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6" name="Striped Right Arrow 5"/>
            <p:cNvSpPr/>
            <p:nvPr/>
          </p:nvSpPr>
          <p:spPr bwMode="auto">
            <a:xfrm>
              <a:off x="2286001" y="3420764"/>
              <a:ext cx="1600621" cy="553244"/>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8" name="Group 7"/>
          <p:cNvGrpSpPr>
            <a:grpSpLocks/>
          </p:cNvGrpSpPr>
          <p:nvPr/>
        </p:nvGrpSpPr>
        <p:grpSpPr bwMode="auto">
          <a:xfrm>
            <a:off x="6075363" y="4202114"/>
            <a:ext cx="2532062" cy="1284287"/>
            <a:chOff x="4550655" y="4201903"/>
            <a:chExt cx="2532942" cy="1284497"/>
          </a:xfrm>
        </p:grpSpPr>
        <p:sp>
          <p:nvSpPr>
            <p:cNvPr id="4106" name="Oval 25"/>
            <p:cNvSpPr>
              <a:spLocks noChangeArrowheads="1"/>
            </p:cNvSpPr>
            <p:nvPr/>
          </p:nvSpPr>
          <p:spPr bwMode="auto">
            <a:xfrm>
              <a:off x="6539309" y="4836179"/>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32" name="Striped Right Arrow 31"/>
            <p:cNvSpPr/>
            <p:nvPr/>
          </p:nvSpPr>
          <p:spPr bwMode="auto">
            <a:xfrm rot="1822006">
              <a:off x="4550655" y="4201903"/>
              <a:ext cx="2035882" cy="554128"/>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2749868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3400425"/>
            <a:ext cx="544512" cy="649288"/>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5123"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5124"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5125"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2" name="Group 1"/>
          <p:cNvGrpSpPr>
            <a:grpSpLocks/>
          </p:cNvGrpSpPr>
          <p:nvPr/>
        </p:nvGrpSpPr>
        <p:grpSpPr bwMode="auto">
          <a:xfrm>
            <a:off x="3581401" y="4202114"/>
            <a:ext cx="2492375" cy="1284287"/>
            <a:chOff x="2057685" y="4201903"/>
            <a:chExt cx="2492686" cy="1284497"/>
          </a:xfrm>
        </p:grpSpPr>
        <p:sp>
          <p:nvSpPr>
            <p:cNvPr id="5132" name="Oval 25"/>
            <p:cNvSpPr>
              <a:spLocks noChangeArrowheads="1"/>
            </p:cNvSpPr>
            <p:nvPr/>
          </p:nvSpPr>
          <p:spPr bwMode="auto">
            <a:xfrm>
              <a:off x="4006083" y="4836179"/>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32" name="Striped Right Arrow 31"/>
            <p:cNvSpPr/>
            <p:nvPr/>
          </p:nvSpPr>
          <p:spPr bwMode="auto">
            <a:xfrm rot="1822006">
              <a:off x="2057685" y="4201903"/>
              <a:ext cx="2035429" cy="554128"/>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3" name="Group 2"/>
          <p:cNvGrpSpPr>
            <a:grpSpLocks/>
          </p:cNvGrpSpPr>
          <p:nvPr/>
        </p:nvGrpSpPr>
        <p:grpSpPr bwMode="auto">
          <a:xfrm>
            <a:off x="6116639" y="3400426"/>
            <a:ext cx="2490787" cy="1363663"/>
            <a:chOff x="4592928" y="3400097"/>
            <a:chExt cx="2490669" cy="1364113"/>
          </a:xfrm>
        </p:grpSpPr>
        <p:sp>
          <p:nvSpPr>
            <p:cNvPr id="5130" name="Oval 25"/>
            <p:cNvSpPr>
              <a:spLocks noChangeArrowheads="1"/>
            </p:cNvSpPr>
            <p:nvPr/>
          </p:nvSpPr>
          <p:spPr bwMode="auto">
            <a:xfrm>
              <a:off x="6539309" y="3400097"/>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2" name="Striped Right Arrow 11"/>
            <p:cNvSpPr/>
            <p:nvPr/>
          </p:nvSpPr>
          <p:spPr bwMode="auto">
            <a:xfrm rot="19777994" flipV="1">
              <a:off x="4592928" y="4209989"/>
              <a:ext cx="2036666" cy="554221"/>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1809331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9"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4835526"/>
            <a:ext cx="544512" cy="650875"/>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6147"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6148"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6149"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3" name="Group 2"/>
          <p:cNvGrpSpPr>
            <a:grpSpLocks/>
          </p:cNvGrpSpPr>
          <p:nvPr/>
        </p:nvGrpSpPr>
        <p:grpSpPr bwMode="auto">
          <a:xfrm>
            <a:off x="6116639" y="3400426"/>
            <a:ext cx="2490787" cy="1363663"/>
            <a:chOff x="4592928" y="3400097"/>
            <a:chExt cx="2490669" cy="1364113"/>
          </a:xfrm>
        </p:grpSpPr>
        <p:sp>
          <p:nvSpPr>
            <p:cNvPr id="6156" name="Oval 25"/>
            <p:cNvSpPr>
              <a:spLocks noChangeArrowheads="1"/>
            </p:cNvSpPr>
            <p:nvPr/>
          </p:nvSpPr>
          <p:spPr bwMode="auto">
            <a:xfrm>
              <a:off x="6539309" y="3400097"/>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2" name="Striped Right Arrow 11"/>
            <p:cNvSpPr/>
            <p:nvPr/>
          </p:nvSpPr>
          <p:spPr bwMode="auto">
            <a:xfrm rot="19777994" flipV="1">
              <a:off x="4592928" y="4209989"/>
              <a:ext cx="2036666" cy="554221"/>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4" name="Group 3"/>
          <p:cNvGrpSpPr>
            <a:grpSpLocks/>
          </p:cNvGrpSpPr>
          <p:nvPr/>
        </p:nvGrpSpPr>
        <p:grpSpPr bwMode="auto">
          <a:xfrm>
            <a:off x="3810001" y="4835526"/>
            <a:ext cx="2263775" cy="650875"/>
            <a:chOff x="2286001" y="4836179"/>
            <a:chExt cx="2264370" cy="650221"/>
          </a:xfrm>
        </p:grpSpPr>
        <p:sp>
          <p:nvSpPr>
            <p:cNvPr id="6154" name="Oval 25"/>
            <p:cNvSpPr>
              <a:spLocks noChangeArrowheads="1"/>
            </p:cNvSpPr>
            <p:nvPr/>
          </p:nvSpPr>
          <p:spPr bwMode="auto">
            <a:xfrm>
              <a:off x="4006083" y="4836179"/>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5" name="Striped Right Arrow 14"/>
            <p:cNvSpPr/>
            <p:nvPr/>
          </p:nvSpPr>
          <p:spPr bwMode="auto">
            <a:xfrm>
              <a:off x="2286001" y="4877413"/>
              <a:ext cx="1600621" cy="553481"/>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1506727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p:cNvSpPr>
          <p:nvPr/>
        </p:nvSpPr>
        <p:spPr bwMode="auto">
          <a:xfrm rot="-5426697">
            <a:off x="5391944" y="-199231"/>
            <a:ext cx="1547812" cy="8839200"/>
          </a:xfrm>
          <a:prstGeom prst="leftBrace">
            <a:avLst>
              <a:gd name="adj1" fmla="val 39182"/>
              <a:gd name="adj2" fmla="val 50000"/>
            </a:avLst>
          </a:prstGeom>
          <a:gradFill rotWithShape="0">
            <a:gsLst>
              <a:gs pos="0">
                <a:schemeClr val="bg1"/>
              </a:gs>
              <a:gs pos="100000">
                <a:srgbClr val="969696"/>
              </a:gs>
            </a:gsLst>
            <a:lin ang="5400000" scaled="1"/>
          </a:gradFill>
          <a:ln w="28575">
            <a:solidFill>
              <a:schemeClr val="tx1"/>
            </a:solidFill>
            <a:round/>
            <a:headEnd/>
            <a:tailEnd/>
          </a:ln>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RS" altLang="en-US" sz="12000" dirty="0"/>
          </a:p>
        </p:txBody>
      </p:sp>
      <p:sp>
        <p:nvSpPr>
          <p:cNvPr id="209933" name="Oval 13"/>
          <p:cNvSpPr>
            <a:spLocks noChangeArrowheads="1"/>
          </p:cNvSpPr>
          <p:nvPr/>
        </p:nvSpPr>
        <p:spPr bwMode="auto">
          <a:xfrm>
            <a:off x="7924800" y="1346200"/>
            <a:ext cx="2590800" cy="2514600"/>
          </a:xfrm>
          <a:prstGeom prst="ellipse">
            <a:avLst/>
          </a:prstGeom>
          <a:gradFill rotWithShape="0">
            <a:gsLst>
              <a:gs pos="0">
                <a:srgbClr val="47005E"/>
              </a:gs>
              <a:gs pos="100000">
                <a:srgbClr val="9900CC"/>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endParaRPr lang="pt-BR" altLang="en-US" sz="2400">
              <a:solidFill>
                <a:srgbClr val="9900CC"/>
              </a:solidFill>
            </a:endParaRPr>
          </a:p>
        </p:txBody>
      </p:sp>
      <p:sp>
        <p:nvSpPr>
          <p:cNvPr id="209934" name="Oval 14"/>
          <p:cNvSpPr>
            <a:spLocks noChangeArrowheads="1"/>
          </p:cNvSpPr>
          <p:nvPr/>
        </p:nvSpPr>
        <p:spPr bwMode="auto">
          <a:xfrm>
            <a:off x="5791200" y="1346200"/>
            <a:ext cx="3125788" cy="2514600"/>
          </a:xfrm>
          <a:prstGeom prst="ellipse">
            <a:avLst/>
          </a:prstGeom>
          <a:gradFill rotWithShape="0">
            <a:gsLst>
              <a:gs pos="0">
                <a:schemeClr val="accent1">
                  <a:gamma/>
                  <a:shade val="46275"/>
                  <a:invGamma/>
                </a:schemeClr>
              </a:gs>
              <a:gs pos="100000">
                <a:schemeClr val="accent1"/>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209935" name="Oval 15"/>
          <p:cNvSpPr>
            <a:spLocks noChangeArrowheads="1"/>
          </p:cNvSpPr>
          <p:nvPr/>
        </p:nvSpPr>
        <p:spPr bwMode="auto">
          <a:xfrm>
            <a:off x="3810000" y="1346200"/>
            <a:ext cx="2667000" cy="2514600"/>
          </a:xfrm>
          <a:prstGeom prst="ellipse">
            <a:avLst/>
          </a:prstGeom>
          <a:gradFill rotWithShape="0">
            <a:gsLst>
              <a:gs pos="0">
                <a:srgbClr val="760018"/>
              </a:gs>
              <a:gs pos="100000">
                <a:srgbClr val="FF0033"/>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12000" dirty="0"/>
          </a:p>
        </p:txBody>
      </p:sp>
      <p:sp>
        <p:nvSpPr>
          <p:cNvPr id="209936" name="Oval 16"/>
          <p:cNvSpPr>
            <a:spLocks noChangeArrowheads="1"/>
          </p:cNvSpPr>
          <p:nvPr/>
        </p:nvSpPr>
        <p:spPr bwMode="auto">
          <a:xfrm>
            <a:off x="1676400" y="1422400"/>
            <a:ext cx="2667000" cy="2514600"/>
          </a:xfrm>
          <a:prstGeom prst="ellipse">
            <a:avLst/>
          </a:prstGeom>
          <a:gradFill rotWithShape="0">
            <a:gsLst>
              <a:gs pos="0">
                <a:schemeClr val="accent2">
                  <a:gamma/>
                  <a:shade val="33333"/>
                  <a:invGamma/>
                </a:schemeClr>
              </a:gs>
              <a:gs pos="100000">
                <a:schemeClr val="accent2"/>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209937" name="Text Box 17"/>
          <p:cNvSpPr txBox="1">
            <a:spLocks noChangeArrowheads="1"/>
          </p:cNvSpPr>
          <p:nvPr/>
        </p:nvSpPr>
        <p:spPr bwMode="auto">
          <a:xfrm>
            <a:off x="2208214" y="2413001"/>
            <a:ext cx="17494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MISSION</a:t>
            </a:r>
          </a:p>
        </p:txBody>
      </p:sp>
      <p:sp>
        <p:nvSpPr>
          <p:cNvPr id="209938" name="Text Box 18"/>
          <p:cNvSpPr txBox="1">
            <a:spLocks noChangeArrowheads="1"/>
          </p:cNvSpPr>
          <p:nvPr/>
        </p:nvSpPr>
        <p:spPr bwMode="auto">
          <a:xfrm>
            <a:off x="4343400" y="2413001"/>
            <a:ext cx="228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STRUCTURE</a:t>
            </a:r>
          </a:p>
        </p:txBody>
      </p:sp>
      <p:sp>
        <p:nvSpPr>
          <p:cNvPr id="209939" name="Text Box 19"/>
          <p:cNvSpPr txBox="1">
            <a:spLocks noChangeArrowheads="1"/>
          </p:cNvSpPr>
          <p:nvPr/>
        </p:nvSpPr>
        <p:spPr bwMode="auto">
          <a:xfrm>
            <a:off x="6400800" y="2108200"/>
            <a:ext cx="25161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PERFORMANCE TRACKING SYSTEM</a:t>
            </a:r>
          </a:p>
        </p:txBody>
      </p:sp>
      <p:sp>
        <p:nvSpPr>
          <p:cNvPr id="209940" name="Text Box 20"/>
          <p:cNvSpPr txBox="1">
            <a:spLocks noChangeArrowheads="1"/>
          </p:cNvSpPr>
          <p:nvPr/>
        </p:nvSpPr>
        <p:spPr bwMode="auto">
          <a:xfrm>
            <a:off x="8866188" y="2413001"/>
            <a:ext cx="18018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REWARDS</a:t>
            </a:r>
          </a:p>
        </p:txBody>
      </p:sp>
      <p:sp>
        <p:nvSpPr>
          <p:cNvPr id="209944" name="Text Box 24"/>
          <p:cNvSpPr txBox="1">
            <a:spLocks noChangeArrowheads="1"/>
          </p:cNvSpPr>
          <p:nvPr/>
        </p:nvSpPr>
        <p:spPr bwMode="auto">
          <a:xfrm>
            <a:off x="3957638" y="5105401"/>
            <a:ext cx="4500562"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dirty="0">
                <a:latin typeface="Comic Sans MS" pitchFamily="66" charset="0"/>
              </a:rPr>
              <a:t>ACCOUNTABILITY</a:t>
            </a:r>
          </a:p>
        </p:txBody>
      </p:sp>
    </p:spTree>
    <p:extLst>
      <p:ext uri="{BB962C8B-B14F-4D97-AF65-F5344CB8AC3E}">
        <p14:creationId xmlns:p14="http://schemas.microsoft.com/office/powerpoint/2010/main" val="4242015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36"/>
                                        </p:tgtEl>
                                        <p:attrNameLst>
                                          <p:attrName>style.visibility</p:attrName>
                                        </p:attrNameLst>
                                      </p:cBhvr>
                                      <p:to>
                                        <p:strVal val="visible"/>
                                      </p:to>
                                    </p:set>
                                    <p:anim calcmode="lin" valueType="num">
                                      <p:cBhvr additive="base">
                                        <p:cTn id="7" dur="500" fill="hold"/>
                                        <p:tgtEl>
                                          <p:spTgt spid="209936"/>
                                        </p:tgtEl>
                                        <p:attrNameLst>
                                          <p:attrName>ppt_x</p:attrName>
                                        </p:attrNameLst>
                                      </p:cBhvr>
                                      <p:tavLst>
                                        <p:tav tm="0">
                                          <p:val>
                                            <p:strVal val="0-#ppt_w/2"/>
                                          </p:val>
                                        </p:tav>
                                        <p:tav tm="100000">
                                          <p:val>
                                            <p:strVal val="#ppt_x"/>
                                          </p:val>
                                        </p:tav>
                                      </p:tavLst>
                                    </p:anim>
                                    <p:anim calcmode="lin" valueType="num">
                                      <p:cBhvr additive="base">
                                        <p:cTn id="8" dur="500" fill="hold"/>
                                        <p:tgtEl>
                                          <p:spTgt spid="20993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09937"/>
                                        </p:tgtEl>
                                        <p:attrNameLst>
                                          <p:attrName>style.visibility</p:attrName>
                                        </p:attrNameLst>
                                      </p:cBhvr>
                                      <p:to>
                                        <p:strVal val="visible"/>
                                      </p:to>
                                    </p:set>
                                    <p:anim calcmode="lin" valueType="num">
                                      <p:cBhvr additive="base">
                                        <p:cTn id="12" dur="500" fill="hold"/>
                                        <p:tgtEl>
                                          <p:spTgt spid="209937"/>
                                        </p:tgtEl>
                                        <p:attrNameLst>
                                          <p:attrName>ppt_x</p:attrName>
                                        </p:attrNameLst>
                                      </p:cBhvr>
                                      <p:tavLst>
                                        <p:tav tm="0">
                                          <p:val>
                                            <p:strVal val="0-#ppt_w/2"/>
                                          </p:val>
                                        </p:tav>
                                        <p:tav tm="100000">
                                          <p:val>
                                            <p:strVal val="#ppt_x"/>
                                          </p:val>
                                        </p:tav>
                                      </p:tavLst>
                                    </p:anim>
                                    <p:anim calcmode="lin" valueType="num">
                                      <p:cBhvr additive="base">
                                        <p:cTn id="13" dur="500" fill="hold"/>
                                        <p:tgtEl>
                                          <p:spTgt spid="20993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09935"/>
                                        </p:tgtEl>
                                        <p:attrNameLst>
                                          <p:attrName>style.visibility</p:attrName>
                                        </p:attrNameLst>
                                      </p:cBhvr>
                                      <p:to>
                                        <p:strVal val="visible"/>
                                      </p:to>
                                    </p:set>
                                    <p:anim calcmode="lin" valueType="num">
                                      <p:cBhvr additive="base">
                                        <p:cTn id="18" dur="500" fill="hold"/>
                                        <p:tgtEl>
                                          <p:spTgt spid="209935"/>
                                        </p:tgtEl>
                                        <p:attrNameLst>
                                          <p:attrName>ppt_x</p:attrName>
                                        </p:attrNameLst>
                                      </p:cBhvr>
                                      <p:tavLst>
                                        <p:tav tm="0">
                                          <p:val>
                                            <p:strVal val="0-#ppt_w/2"/>
                                          </p:val>
                                        </p:tav>
                                        <p:tav tm="100000">
                                          <p:val>
                                            <p:strVal val="#ppt_x"/>
                                          </p:val>
                                        </p:tav>
                                      </p:tavLst>
                                    </p:anim>
                                    <p:anim calcmode="lin" valueType="num">
                                      <p:cBhvr additive="base">
                                        <p:cTn id="19" dur="500" fill="hold"/>
                                        <p:tgtEl>
                                          <p:spTgt spid="20993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2" presetClass="entr" presetSubtype="8" fill="hold" grpId="0" nodeType="afterEffect">
                                  <p:stCondLst>
                                    <p:cond delay="0"/>
                                  </p:stCondLst>
                                  <p:childTnLst>
                                    <p:set>
                                      <p:cBhvr>
                                        <p:cTn id="22" dur="1" fill="hold">
                                          <p:stCondLst>
                                            <p:cond delay="0"/>
                                          </p:stCondLst>
                                        </p:cTn>
                                        <p:tgtEl>
                                          <p:spTgt spid="209938"/>
                                        </p:tgtEl>
                                        <p:attrNameLst>
                                          <p:attrName>style.visibility</p:attrName>
                                        </p:attrNameLst>
                                      </p:cBhvr>
                                      <p:to>
                                        <p:strVal val="visible"/>
                                      </p:to>
                                    </p:set>
                                    <p:anim calcmode="lin" valueType="num">
                                      <p:cBhvr additive="base">
                                        <p:cTn id="23" dur="500" fill="hold"/>
                                        <p:tgtEl>
                                          <p:spTgt spid="209938"/>
                                        </p:tgtEl>
                                        <p:attrNameLst>
                                          <p:attrName>ppt_x</p:attrName>
                                        </p:attrNameLst>
                                      </p:cBhvr>
                                      <p:tavLst>
                                        <p:tav tm="0">
                                          <p:val>
                                            <p:strVal val="0-#ppt_w/2"/>
                                          </p:val>
                                        </p:tav>
                                        <p:tav tm="100000">
                                          <p:val>
                                            <p:strVal val="#ppt_x"/>
                                          </p:val>
                                        </p:tav>
                                      </p:tavLst>
                                    </p:anim>
                                    <p:anim calcmode="lin" valueType="num">
                                      <p:cBhvr additive="base">
                                        <p:cTn id="24" dur="500" fill="hold"/>
                                        <p:tgtEl>
                                          <p:spTgt spid="209938"/>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09934"/>
                                        </p:tgtEl>
                                        <p:attrNameLst>
                                          <p:attrName>style.visibility</p:attrName>
                                        </p:attrNameLst>
                                      </p:cBhvr>
                                      <p:to>
                                        <p:strVal val="visible"/>
                                      </p:to>
                                    </p:set>
                                    <p:anim calcmode="lin" valueType="num">
                                      <p:cBhvr additive="base">
                                        <p:cTn id="29" dur="500" fill="hold"/>
                                        <p:tgtEl>
                                          <p:spTgt spid="209934"/>
                                        </p:tgtEl>
                                        <p:attrNameLst>
                                          <p:attrName>ppt_x</p:attrName>
                                        </p:attrNameLst>
                                      </p:cBhvr>
                                      <p:tavLst>
                                        <p:tav tm="0">
                                          <p:val>
                                            <p:strVal val="0-#ppt_w/2"/>
                                          </p:val>
                                        </p:tav>
                                        <p:tav tm="100000">
                                          <p:val>
                                            <p:strVal val="#ppt_x"/>
                                          </p:val>
                                        </p:tav>
                                      </p:tavLst>
                                    </p:anim>
                                    <p:anim calcmode="lin" valueType="num">
                                      <p:cBhvr additive="base">
                                        <p:cTn id="30" dur="500" fill="hold"/>
                                        <p:tgtEl>
                                          <p:spTgt spid="209934"/>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209939"/>
                                        </p:tgtEl>
                                        <p:attrNameLst>
                                          <p:attrName>style.visibility</p:attrName>
                                        </p:attrNameLst>
                                      </p:cBhvr>
                                      <p:to>
                                        <p:strVal val="visible"/>
                                      </p:to>
                                    </p:set>
                                    <p:anim calcmode="lin" valueType="num">
                                      <p:cBhvr additive="base">
                                        <p:cTn id="34" dur="500" fill="hold"/>
                                        <p:tgtEl>
                                          <p:spTgt spid="209939"/>
                                        </p:tgtEl>
                                        <p:attrNameLst>
                                          <p:attrName>ppt_x</p:attrName>
                                        </p:attrNameLst>
                                      </p:cBhvr>
                                      <p:tavLst>
                                        <p:tav tm="0">
                                          <p:val>
                                            <p:strVal val="0-#ppt_w/2"/>
                                          </p:val>
                                        </p:tav>
                                        <p:tav tm="100000">
                                          <p:val>
                                            <p:strVal val="#ppt_x"/>
                                          </p:val>
                                        </p:tav>
                                      </p:tavLst>
                                    </p:anim>
                                    <p:anim calcmode="lin" valueType="num">
                                      <p:cBhvr additive="base">
                                        <p:cTn id="35" dur="500" fill="hold"/>
                                        <p:tgtEl>
                                          <p:spTgt spid="209939"/>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209933"/>
                                        </p:tgtEl>
                                        <p:attrNameLst>
                                          <p:attrName>style.visibility</p:attrName>
                                        </p:attrNameLst>
                                      </p:cBhvr>
                                      <p:to>
                                        <p:strVal val="visible"/>
                                      </p:to>
                                    </p:set>
                                    <p:anim calcmode="lin" valueType="num">
                                      <p:cBhvr additive="base">
                                        <p:cTn id="40" dur="500" fill="hold"/>
                                        <p:tgtEl>
                                          <p:spTgt spid="209933"/>
                                        </p:tgtEl>
                                        <p:attrNameLst>
                                          <p:attrName>ppt_x</p:attrName>
                                        </p:attrNameLst>
                                      </p:cBhvr>
                                      <p:tavLst>
                                        <p:tav tm="0">
                                          <p:val>
                                            <p:strVal val="0-#ppt_w/2"/>
                                          </p:val>
                                        </p:tav>
                                        <p:tav tm="100000">
                                          <p:val>
                                            <p:strVal val="#ppt_x"/>
                                          </p:val>
                                        </p:tav>
                                      </p:tavLst>
                                    </p:anim>
                                    <p:anim calcmode="lin" valueType="num">
                                      <p:cBhvr additive="base">
                                        <p:cTn id="41" dur="500" fill="hold"/>
                                        <p:tgtEl>
                                          <p:spTgt spid="209933"/>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500"/>
                            </p:stCondLst>
                            <p:childTnLst>
                              <p:par>
                                <p:cTn id="43" presetID="2" presetClass="entr" presetSubtype="8" fill="hold" grpId="0" nodeType="afterEffect">
                                  <p:stCondLst>
                                    <p:cond delay="0"/>
                                  </p:stCondLst>
                                  <p:childTnLst>
                                    <p:set>
                                      <p:cBhvr>
                                        <p:cTn id="44" dur="1" fill="hold">
                                          <p:stCondLst>
                                            <p:cond delay="0"/>
                                          </p:stCondLst>
                                        </p:cTn>
                                        <p:tgtEl>
                                          <p:spTgt spid="209940"/>
                                        </p:tgtEl>
                                        <p:attrNameLst>
                                          <p:attrName>style.visibility</p:attrName>
                                        </p:attrNameLst>
                                      </p:cBhvr>
                                      <p:to>
                                        <p:strVal val="visible"/>
                                      </p:to>
                                    </p:set>
                                    <p:anim calcmode="lin" valueType="num">
                                      <p:cBhvr additive="base">
                                        <p:cTn id="45" dur="500" fill="hold"/>
                                        <p:tgtEl>
                                          <p:spTgt spid="209940"/>
                                        </p:tgtEl>
                                        <p:attrNameLst>
                                          <p:attrName>ppt_x</p:attrName>
                                        </p:attrNameLst>
                                      </p:cBhvr>
                                      <p:tavLst>
                                        <p:tav tm="0">
                                          <p:val>
                                            <p:strVal val="0-#ppt_w/2"/>
                                          </p:val>
                                        </p:tav>
                                        <p:tav tm="100000">
                                          <p:val>
                                            <p:strVal val="#ppt_x"/>
                                          </p:val>
                                        </p:tav>
                                      </p:tavLst>
                                    </p:anim>
                                    <p:anim calcmode="lin" valueType="num">
                                      <p:cBhvr additive="base">
                                        <p:cTn id="46" dur="500" fill="hold"/>
                                        <p:tgtEl>
                                          <p:spTgt spid="209940"/>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1000"/>
                            </p:stCondLst>
                            <p:childTnLst>
                              <p:par>
                                <p:cTn id="48" presetID="4" presetClass="entr" presetSubtype="32" fill="hold" grpId="0" nodeType="afterEffect">
                                  <p:stCondLst>
                                    <p:cond delay="0"/>
                                  </p:stCondLst>
                                  <p:childTnLst>
                                    <p:set>
                                      <p:cBhvr>
                                        <p:cTn id="49" dur="1" fill="hold">
                                          <p:stCondLst>
                                            <p:cond delay="0"/>
                                          </p:stCondLst>
                                        </p:cTn>
                                        <p:tgtEl>
                                          <p:spTgt spid="209944"/>
                                        </p:tgtEl>
                                        <p:attrNameLst>
                                          <p:attrName>style.visibility</p:attrName>
                                        </p:attrNameLst>
                                      </p:cBhvr>
                                      <p:to>
                                        <p:strVal val="visible"/>
                                      </p:to>
                                    </p:set>
                                    <p:animEffect transition="in" filter="box(out)">
                                      <p:cBhvr>
                                        <p:cTn id="50" dur="500"/>
                                        <p:tgtEl>
                                          <p:spTgt spid="209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33" grpId="0" animBg="1" autoUpdateAnimBg="0"/>
      <p:bldP spid="209934" grpId="0" animBg="1"/>
      <p:bldP spid="209935" grpId="0" animBg="1"/>
      <p:bldP spid="209936" grpId="0" animBg="1"/>
      <p:bldP spid="209937" grpId="0" autoUpdateAnimBg="0"/>
      <p:bldP spid="209938" grpId="0" autoUpdateAnimBg="0"/>
      <p:bldP spid="209939" grpId="0" autoUpdateAnimBg="0"/>
      <p:bldP spid="209940" grpId="0" autoUpdateAnimBg="0"/>
      <p:bldP spid="209944"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val 13"/>
          <p:cNvSpPr>
            <a:spLocks noChangeArrowheads="1"/>
          </p:cNvSpPr>
          <p:nvPr/>
        </p:nvSpPr>
        <p:spPr bwMode="auto">
          <a:xfrm>
            <a:off x="7924800" y="1346200"/>
            <a:ext cx="2590800" cy="2514600"/>
          </a:xfrm>
          <a:prstGeom prst="ellipse">
            <a:avLst/>
          </a:prstGeom>
          <a:gradFill rotWithShape="0">
            <a:gsLst>
              <a:gs pos="0">
                <a:srgbClr val="47005E"/>
              </a:gs>
              <a:gs pos="100000">
                <a:srgbClr val="9900CC"/>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endParaRPr lang="pt-BR" altLang="en-US" sz="2400">
              <a:solidFill>
                <a:srgbClr val="9900CC"/>
              </a:solidFill>
            </a:endParaRPr>
          </a:p>
        </p:txBody>
      </p:sp>
      <p:sp>
        <p:nvSpPr>
          <p:cNvPr id="209934" name="Oval 14"/>
          <p:cNvSpPr>
            <a:spLocks noChangeArrowheads="1"/>
          </p:cNvSpPr>
          <p:nvPr/>
        </p:nvSpPr>
        <p:spPr bwMode="auto">
          <a:xfrm>
            <a:off x="5791200" y="1346200"/>
            <a:ext cx="3125788" cy="2514600"/>
          </a:xfrm>
          <a:prstGeom prst="ellipse">
            <a:avLst/>
          </a:prstGeom>
          <a:gradFill rotWithShape="0">
            <a:gsLst>
              <a:gs pos="0">
                <a:schemeClr val="accent1">
                  <a:gamma/>
                  <a:shade val="46275"/>
                  <a:invGamma/>
                </a:schemeClr>
              </a:gs>
              <a:gs pos="100000">
                <a:schemeClr val="accent1"/>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8196" name="Oval 15"/>
          <p:cNvSpPr>
            <a:spLocks noChangeArrowheads="1"/>
          </p:cNvSpPr>
          <p:nvPr/>
        </p:nvSpPr>
        <p:spPr bwMode="auto">
          <a:xfrm>
            <a:off x="3810000" y="1346200"/>
            <a:ext cx="2667000" cy="2514600"/>
          </a:xfrm>
          <a:prstGeom prst="ellipse">
            <a:avLst/>
          </a:prstGeom>
          <a:gradFill rotWithShape="0">
            <a:gsLst>
              <a:gs pos="0">
                <a:srgbClr val="760018"/>
              </a:gs>
              <a:gs pos="100000">
                <a:srgbClr val="FF0033"/>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12000" dirty="0"/>
          </a:p>
        </p:txBody>
      </p:sp>
      <p:sp>
        <p:nvSpPr>
          <p:cNvPr id="209936" name="Oval 16"/>
          <p:cNvSpPr>
            <a:spLocks noChangeArrowheads="1"/>
          </p:cNvSpPr>
          <p:nvPr/>
        </p:nvSpPr>
        <p:spPr bwMode="auto">
          <a:xfrm>
            <a:off x="1676400" y="1422400"/>
            <a:ext cx="2667000" cy="2514600"/>
          </a:xfrm>
          <a:prstGeom prst="ellipse">
            <a:avLst/>
          </a:prstGeom>
          <a:gradFill rotWithShape="0">
            <a:gsLst>
              <a:gs pos="0">
                <a:schemeClr val="accent2">
                  <a:gamma/>
                  <a:shade val="33333"/>
                  <a:invGamma/>
                </a:schemeClr>
              </a:gs>
              <a:gs pos="100000">
                <a:schemeClr val="accent2"/>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8198" name="Text Box 17"/>
          <p:cNvSpPr txBox="1">
            <a:spLocks noChangeArrowheads="1"/>
          </p:cNvSpPr>
          <p:nvPr/>
        </p:nvSpPr>
        <p:spPr bwMode="auto">
          <a:xfrm>
            <a:off x="2208214" y="2413001"/>
            <a:ext cx="17494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MISSION</a:t>
            </a:r>
          </a:p>
        </p:txBody>
      </p:sp>
      <p:sp>
        <p:nvSpPr>
          <p:cNvPr id="8199" name="Text Box 18"/>
          <p:cNvSpPr txBox="1">
            <a:spLocks noChangeArrowheads="1"/>
          </p:cNvSpPr>
          <p:nvPr/>
        </p:nvSpPr>
        <p:spPr bwMode="auto">
          <a:xfrm>
            <a:off x="4343400" y="2413001"/>
            <a:ext cx="228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STRUCTURE</a:t>
            </a:r>
          </a:p>
        </p:txBody>
      </p:sp>
      <p:sp>
        <p:nvSpPr>
          <p:cNvPr id="8200" name="Text Box 19"/>
          <p:cNvSpPr txBox="1">
            <a:spLocks noChangeArrowheads="1"/>
          </p:cNvSpPr>
          <p:nvPr/>
        </p:nvSpPr>
        <p:spPr bwMode="auto">
          <a:xfrm>
            <a:off x="6400800" y="2108200"/>
            <a:ext cx="25161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PERFORMANCE TRACKING SYSTEM</a:t>
            </a:r>
          </a:p>
        </p:txBody>
      </p:sp>
      <p:sp>
        <p:nvSpPr>
          <p:cNvPr id="8201" name="Text Box 20"/>
          <p:cNvSpPr txBox="1">
            <a:spLocks noChangeArrowheads="1"/>
          </p:cNvSpPr>
          <p:nvPr/>
        </p:nvSpPr>
        <p:spPr bwMode="auto">
          <a:xfrm>
            <a:off x="8866188" y="2413001"/>
            <a:ext cx="18018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REWARDS</a:t>
            </a:r>
          </a:p>
        </p:txBody>
      </p:sp>
      <p:grpSp>
        <p:nvGrpSpPr>
          <p:cNvPr id="6" name="Group 5"/>
          <p:cNvGrpSpPr>
            <a:grpSpLocks/>
          </p:cNvGrpSpPr>
          <p:nvPr/>
        </p:nvGrpSpPr>
        <p:grpSpPr bwMode="auto">
          <a:xfrm>
            <a:off x="1676401" y="914401"/>
            <a:ext cx="2443163" cy="5688013"/>
            <a:chOff x="152400" y="914400"/>
            <a:chExt cx="2443671" cy="5688105"/>
          </a:xfrm>
        </p:grpSpPr>
        <p:sp>
          <p:nvSpPr>
            <p:cNvPr id="8212" name="Oval 1"/>
            <p:cNvSpPr>
              <a:spLocks noChangeArrowheads="1"/>
            </p:cNvSpPr>
            <p:nvPr/>
          </p:nvSpPr>
          <p:spPr bwMode="auto">
            <a:xfrm>
              <a:off x="152400" y="914400"/>
              <a:ext cx="2443671"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13" name="Text Box 29"/>
            <p:cNvSpPr txBox="1">
              <a:spLocks noChangeArrowheads="1"/>
            </p:cNvSpPr>
            <p:nvPr/>
          </p:nvSpPr>
          <p:spPr bwMode="auto">
            <a:xfrm>
              <a:off x="521778" y="4847536"/>
              <a:ext cx="2074293" cy="17549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know what to do</a:t>
              </a:r>
            </a:p>
          </p:txBody>
        </p:sp>
      </p:grpSp>
      <p:grpSp>
        <p:nvGrpSpPr>
          <p:cNvPr id="5" name="Group 4"/>
          <p:cNvGrpSpPr>
            <a:grpSpLocks/>
          </p:cNvGrpSpPr>
          <p:nvPr/>
        </p:nvGrpSpPr>
        <p:grpSpPr bwMode="auto">
          <a:xfrm>
            <a:off x="3962400" y="914400"/>
            <a:ext cx="4954588" cy="5087938"/>
            <a:chOff x="2438399" y="914400"/>
            <a:chExt cx="4954587" cy="5087171"/>
          </a:xfrm>
        </p:grpSpPr>
        <p:sp>
          <p:nvSpPr>
            <p:cNvPr id="8210" name="Oval 17"/>
            <p:cNvSpPr>
              <a:spLocks noChangeArrowheads="1"/>
            </p:cNvSpPr>
            <p:nvPr/>
          </p:nvSpPr>
          <p:spPr bwMode="auto">
            <a:xfrm>
              <a:off x="2438399" y="914400"/>
              <a:ext cx="4954587"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11" name="Text Box 29"/>
            <p:cNvSpPr txBox="1">
              <a:spLocks noChangeArrowheads="1"/>
            </p:cNvSpPr>
            <p:nvPr/>
          </p:nvSpPr>
          <p:spPr bwMode="auto">
            <a:xfrm>
              <a:off x="3945507" y="4800600"/>
              <a:ext cx="2074293" cy="12009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can do it</a:t>
              </a:r>
            </a:p>
          </p:txBody>
        </p:sp>
      </p:grpSp>
      <p:grpSp>
        <p:nvGrpSpPr>
          <p:cNvPr id="4" name="Group 3"/>
          <p:cNvGrpSpPr>
            <a:grpSpLocks/>
          </p:cNvGrpSpPr>
          <p:nvPr/>
        </p:nvGrpSpPr>
        <p:grpSpPr bwMode="auto">
          <a:xfrm>
            <a:off x="8288338" y="914400"/>
            <a:ext cx="2532062" cy="5087938"/>
            <a:chOff x="6764907" y="914400"/>
            <a:chExt cx="2531493" cy="5087171"/>
          </a:xfrm>
        </p:grpSpPr>
        <p:sp>
          <p:nvSpPr>
            <p:cNvPr id="8208" name="Oval 18"/>
            <p:cNvSpPr>
              <a:spLocks noChangeArrowheads="1"/>
            </p:cNvSpPr>
            <p:nvPr/>
          </p:nvSpPr>
          <p:spPr bwMode="auto">
            <a:xfrm>
              <a:off x="7162800" y="914400"/>
              <a:ext cx="1981200"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09" name="Text Box 29"/>
            <p:cNvSpPr txBox="1">
              <a:spLocks noChangeArrowheads="1"/>
            </p:cNvSpPr>
            <p:nvPr/>
          </p:nvSpPr>
          <p:spPr bwMode="auto">
            <a:xfrm>
              <a:off x="6764907" y="4800600"/>
              <a:ext cx="2531493" cy="12009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will be rewarded</a:t>
              </a:r>
            </a:p>
          </p:txBody>
        </p:sp>
      </p:grpSp>
    </p:spTree>
    <p:extLst>
      <p:ext uri="{BB962C8B-B14F-4D97-AF65-F5344CB8AC3E}">
        <p14:creationId xmlns:p14="http://schemas.microsoft.com/office/powerpoint/2010/main" val="1509091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4">
            <a:extLst>
              <a:ext uri="{FF2B5EF4-FFF2-40B4-BE49-F238E27FC236}">
                <a16:creationId xmlns:a16="http://schemas.microsoft.com/office/drawing/2014/main" id="{C20E95C1-01BA-4883-9E2B-CB46D176E0A0}"/>
              </a:ext>
            </a:extLst>
          </p:cNvPr>
          <p:cNvSpPr txBox="1">
            <a:spLocks noChangeArrowheads="1"/>
          </p:cNvSpPr>
          <p:nvPr/>
        </p:nvSpPr>
        <p:spPr bwMode="auto">
          <a:xfrm>
            <a:off x="4176002" y="1256733"/>
            <a:ext cx="49375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dirty="0">
                <a:latin typeface="Comic Sans MS" pitchFamily="66" charset="0"/>
              </a:rPr>
              <a:t>Performance Tracking</a:t>
            </a:r>
          </a:p>
        </p:txBody>
      </p:sp>
      <p:sp>
        <p:nvSpPr>
          <p:cNvPr id="5" name="TextBox 4">
            <a:extLst>
              <a:ext uri="{FF2B5EF4-FFF2-40B4-BE49-F238E27FC236}">
                <a16:creationId xmlns:a16="http://schemas.microsoft.com/office/drawing/2014/main" id="{9A41109D-9F1A-47D6-9DEC-D114590FCEE8}"/>
              </a:ext>
            </a:extLst>
          </p:cNvPr>
          <p:cNvSpPr txBox="1">
            <a:spLocks noChangeArrowheads="1"/>
          </p:cNvSpPr>
          <p:nvPr/>
        </p:nvSpPr>
        <p:spPr bwMode="auto">
          <a:xfrm>
            <a:off x="3543687" y="2397948"/>
            <a:ext cx="7128862"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457200" indent="-457200" eaLnBrk="1" hangingPunct="1">
              <a:spcBef>
                <a:spcPct val="0"/>
              </a:spcBef>
            </a:pPr>
            <a:r>
              <a:rPr lang="en-US" altLang="en-US" dirty="0">
                <a:latin typeface="Comic Sans MS" pitchFamily="66" charset="0"/>
              </a:rPr>
              <a:t>Clarify tasks</a:t>
            </a:r>
          </a:p>
          <a:p>
            <a:pPr marL="457200" indent="-457200" eaLnBrk="1" hangingPunct="1">
              <a:spcBef>
                <a:spcPct val="0"/>
              </a:spcBef>
            </a:pPr>
            <a:r>
              <a:rPr lang="en-US" altLang="en-US" dirty="0">
                <a:latin typeface="Comic Sans MS" pitchFamily="66" charset="0"/>
              </a:rPr>
              <a:t>Set performance levels</a:t>
            </a:r>
          </a:p>
          <a:p>
            <a:pPr marL="457200" indent="-457200" eaLnBrk="1" hangingPunct="1">
              <a:spcBef>
                <a:spcPct val="0"/>
              </a:spcBef>
            </a:pPr>
            <a:r>
              <a:rPr lang="en-US" altLang="en-US" dirty="0">
                <a:latin typeface="Comic Sans MS" pitchFamily="66" charset="0"/>
              </a:rPr>
              <a:t>Match authority with task requirements</a:t>
            </a:r>
          </a:p>
        </p:txBody>
      </p:sp>
    </p:spTree>
    <p:extLst>
      <p:ext uri="{BB962C8B-B14F-4D97-AF65-F5344CB8AC3E}">
        <p14:creationId xmlns:p14="http://schemas.microsoft.com/office/powerpoint/2010/main" val="69941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2051320" y="3784436"/>
            <a:ext cx="2443655" cy="218620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dirty="0">
              <a:latin typeface="Arial" charset="0"/>
            </a:endParaRPr>
          </a:p>
        </p:txBody>
      </p:sp>
      <p:sp>
        <p:nvSpPr>
          <p:cNvPr id="3" name="TextBox 2"/>
          <p:cNvSpPr txBox="1"/>
          <p:nvPr/>
        </p:nvSpPr>
        <p:spPr>
          <a:xfrm>
            <a:off x="2221317" y="6122960"/>
            <a:ext cx="863954" cy="461665"/>
          </a:xfrm>
          <a:prstGeom prst="rect">
            <a:avLst/>
          </a:prstGeom>
          <a:noFill/>
        </p:spPr>
        <p:txBody>
          <a:bodyPr wrap="none" rtlCol="0">
            <a:spAutoFit/>
          </a:bodyPr>
          <a:lstStyle/>
          <a:p>
            <a:r>
              <a:rPr lang="en-US" sz="2400" b="1" dirty="0"/>
              <a:t>Task</a:t>
            </a:r>
          </a:p>
        </p:txBody>
      </p:sp>
      <p:sp>
        <p:nvSpPr>
          <p:cNvPr id="4" name="Oval 3"/>
          <p:cNvSpPr/>
          <p:nvPr/>
        </p:nvSpPr>
        <p:spPr bwMode="auto">
          <a:xfrm>
            <a:off x="3273146" y="3429000"/>
            <a:ext cx="1734207" cy="1734207"/>
          </a:xfrm>
          <a:prstGeom prst="ellipse">
            <a:avLst/>
          </a:prstGeom>
          <a:solidFill>
            <a:schemeClr val="accent2"/>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dirty="0">
              <a:latin typeface="Arial" charset="0"/>
            </a:endParaRPr>
          </a:p>
        </p:txBody>
      </p:sp>
      <p:sp>
        <p:nvSpPr>
          <p:cNvPr id="17" name="TextBox 16"/>
          <p:cNvSpPr txBox="1"/>
          <p:nvPr/>
        </p:nvSpPr>
        <p:spPr>
          <a:xfrm>
            <a:off x="5141360" y="3906849"/>
            <a:ext cx="1552028" cy="461665"/>
          </a:xfrm>
          <a:prstGeom prst="rect">
            <a:avLst/>
          </a:prstGeom>
          <a:noFill/>
        </p:spPr>
        <p:txBody>
          <a:bodyPr wrap="none" rtlCol="0">
            <a:spAutoFit/>
          </a:bodyPr>
          <a:lstStyle/>
          <a:p>
            <a:r>
              <a:rPr lang="en-US" sz="2400" b="1" dirty="0"/>
              <a:t>Authority</a:t>
            </a:r>
          </a:p>
        </p:txBody>
      </p:sp>
      <p:sp>
        <p:nvSpPr>
          <p:cNvPr id="18" name="TextBox 17"/>
          <p:cNvSpPr txBox="1"/>
          <p:nvPr/>
        </p:nvSpPr>
        <p:spPr>
          <a:xfrm>
            <a:off x="7048172" y="4000376"/>
            <a:ext cx="4929555" cy="1754326"/>
          </a:xfrm>
          <a:prstGeom prst="rect">
            <a:avLst/>
          </a:prstGeom>
          <a:noFill/>
        </p:spPr>
        <p:txBody>
          <a:bodyPr wrap="none" rtlCol="0">
            <a:spAutoFit/>
          </a:bodyPr>
          <a:lstStyle/>
          <a:p>
            <a:r>
              <a:rPr lang="en-US" sz="3600" b="1" dirty="0">
                <a:solidFill>
                  <a:srgbClr val="C00000"/>
                </a:solidFill>
              </a:rPr>
              <a:t>What can I spend?</a:t>
            </a:r>
          </a:p>
          <a:p>
            <a:r>
              <a:rPr lang="en-US" sz="3600" b="1" dirty="0">
                <a:solidFill>
                  <a:srgbClr val="C00000"/>
                </a:solidFill>
              </a:rPr>
              <a:t>What do I control?</a:t>
            </a:r>
          </a:p>
          <a:p>
            <a:r>
              <a:rPr lang="en-US" sz="3600" b="1" dirty="0">
                <a:solidFill>
                  <a:srgbClr val="C00000"/>
                </a:solidFill>
              </a:rPr>
              <a:t>What can I influence?</a:t>
            </a:r>
          </a:p>
        </p:txBody>
      </p:sp>
      <p:sp>
        <p:nvSpPr>
          <p:cNvPr id="19" name="Text Box 24">
            <a:extLst>
              <a:ext uri="{FF2B5EF4-FFF2-40B4-BE49-F238E27FC236}">
                <a16:creationId xmlns:a16="http://schemas.microsoft.com/office/drawing/2014/main" id="{97B65A6D-F3D0-4DF5-81EE-EFD98EA197E4}"/>
              </a:ext>
            </a:extLst>
          </p:cNvPr>
          <p:cNvSpPr txBox="1">
            <a:spLocks noChangeArrowheads="1"/>
          </p:cNvSpPr>
          <p:nvPr/>
        </p:nvSpPr>
        <p:spPr bwMode="auto">
          <a:xfrm>
            <a:off x="3789318" y="86708"/>
            <a:ext cx="49375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3600" dirty="0">
                <a:latin typeface="Comic Sans MS" pitchFamily="66" charset="0"/>
              </a:rPr>
              <a:t>Performance Tracking</a:t>
            </a:r>
          </a:p>
        </p:txBody>
      </p:sp>
      <p:sp>
        <p:nvSpPr>
          <p:cNvPr id="20" name="TextBox 19">
            <a:extLst>
              <a:ext uri="{FF2B5EF4-FFF2-40B4-BE49-F238E27FC236}">
                <a16:creationId xmlns:a16="http://schemas.microsoft.com/office/drawing/2014/main" id="{5781E870-59E1-4CD2-B695-4ACFC522804B}"/>
              </a:ext>
            </a:extLst>
          </p:cNvPr>
          <p:cNvSpPr txBox="1">
            <a:spLocks noChangeArrowheads="1"/>
          </p:cNvSpPr>
          <p:nvPr/>
        </p:nvSpPr>
        <p:spPr bwMode="auto">
          <a:xfrm>
            <a:off x="3157003" y="1227923"/>
            <a:ext cx="7128862"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457200" indent="-457200" eaLnBrk="1" hangingPunct="1">
              <a:spcBef>
                <a:spcPct val="0"/>
              </a:spcBef>
            </a:pPr>
            <a:r>
              <a:rPr lang="en-US" altLang="en-US" dirty="0">
                <a:latin typeface="Comic Sans MS" pitchFamily="66" charset="0"/>
              </a:rPr>
              <a:t>Clarify tasks</a:t>
            </a:r>
          </a:p>
          <a:p>
            <a:pPr marL="457200" indent="-457200" eaLnBrk="1" hangingPunct="1">
              <a:spcBef>
                <a:spcPct val="0"/>
              </a:spcBef>
            </a:pPr>
            <a:r>
              <a:rPr lang="en-US" altLang="en-US" dirty="0">
                <a:latin typeface="Comic Sans MS" pitchFamily="66" charset="0"/>
              </a:rPr>
              <a:t>Set performance levels</a:t>
            </a:r>
          </a:p>
          <a:p>
            <a:pPr marL="457200" indent="-457200" eaLnBrk="1" hangingPunct="1">
              <a:spcBef>
                <a:spcPct val="0"/>
              </a:spcBef>
            </a:pPr>
            <a:r>
              <a:rPr lang="en-US" altLang="en-US" dirty="0">
                <a:latin typeface="Comic Sans MS" pitchFamily="66" charset="0"/>
              </a:rPr>
              <a:t>Match authority with task requirements</a:t>
            </a:r>
          </a:p>
        </p:txBody>
      </p:sp>
    </p:spTree>
    <p:extLst>
      <p:ext uri="{BB962C8B-B14F-4D97-AF65-F5344CB8AC3E}">
        <p14:creationId xmlns:p14="http://schemas.microsoft.com/office/powerpoint/2010/main" val="75879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animBg="1"/>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49198"/>
            <a:ext cx="8403771" cy="3139321"/>
          </a:xfrm>
          <a:prstGeom prst="rect">
            <a:avLst/>
          </a:prstGeom>
        </p:spPr>
        <p:txBody>
          <a:bodyPr wrap="square">
            <a:spAutoFit/>
          </a:bodyPr>
          <a:lstStyle/>
          <a:p>
            <a:pPr marL="285750" indent="-285750" eaLnBrk="0" hangingPunct="0">
              <a:buFont typeface="Wingdings" panose="05000000000000000000" pitchFamily="2" charset="2"/>
              <a:buChar char="q"/>
              <a:tabLst>
                <a:tab pos="749300" algn="l"/>
              </a:tabLst>
            </a:pPr>
            <a:r>
              <a:rPr lang="en-US" altLang="en-US" sz="2200" b="1" dirty="0">
                <a:latin typeface="Comic Sans MS" panose="030F0702030302020204" pitchFamily="66" charset="0"/>
                <a:ea typeface="Times New Roman" panose="02020603050405020304" pitchFamily="18" charset="0"/>
                <a:cs typeface="Calibri" panose="020F0502020204030204" pitchFamily="34" charset="0"/>
              </a:rPr>
              <a:t>Short term effective -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objectives  that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provide value</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a:t>
            </a:r>
            <a:r>
              <a:rPr lang="en-US" altLang="en-US" sz="2200" dirty="0">
                <a:latin typeface="Comic Sans MS" panose="030F0702030302020204" pitchFamily="66" charset="0"/>
              </a:rPr>
              <a:t>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Such  objectives  could  be closing  a pending contract,  renewing  a line of credit, surpassing a sales quota, etc.</a:t>
            </a:r>
          </a:p>
          <a:p>
            <a:pPr marL="285750" indent="-285750" eaLnBrk="0" hangingPunct="0">
              <a:buFont typeface="Wingdings" panose="05000000000000000000" pitchFamily="2" charset="2"/>
              <a:buChar char="q"/>
              <a:tabLst>
                <a:tab pos="749300" algn="l"/>
              </a:tabLst>
            </a:pPr>
            <a:endParaRPr lang="en-US" altLang="en-US" sz="2200" dirty="0">
              <a:latin typeface="Comic Sans MS" panose="030F0702030302020204" pitchFamily="66" charset="0"/>
            </a:endParaRPr>
          </a:p>
          <a:p>
            <a:pPr marL="285750" indent="-285750" eaLnBrk="0" hangingPunct="0">
              <a:buFont typeface="Wingdings" panose="05000000000000000000" pitchFamily="2" charset="2"/>
              <a:buChar char="q"/>
              <a:tabLst>
                <a:tab pos="749300" algn="l"/>
              </a:tabLst>
            </a:pPr>
            <a:r>
              <a:rPr lang="en-US" altLang="en-US" sz="2200" b="1" dirty="0">
                <a:latin typeface="Comic Sans MS" panose="030F0702030302020204" pitchFamily="66" charset="0"/>
                <a:ea typeface="Times New Roman" panose="02020603050405020304" pitchFamily="18" charset="0"/>
                <a:cs typeface="Century Gothic" panose="020B0502020202020204" pitchFamily="34" charset="0"/>
              </a:rPr>
              <a:t>Short term efficiency: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objectives  that </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increase  efficiency</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in the </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short</a:t>
            </a:r>
            <a:r>
              <a:rPr lang="en-US" altLang="en-US" sz="2200" b="1" i="1" dirty="0">
                <a:latin typeface="Comic Sans MS" panose="030F0702030302020204" pitchFamily="66" charset="0"/>
                <a:ea typeface="Times New Roman" panose="02020603050405020304" pitchFamily="18" charset="0"/>
                <a:cs typeface="Century Gothic" panose="020B0502020202020204" pitchFamily="34" charset="0"/>
              </a:rPr>
              <a:t> </a:t>
            </a:r>
            <a:r>
              <a:rPr lang="en-US" altLang="en-US" sz="2200" b="1" i="1" u="sng" dirty="0">
                <a:latin typeface="Comic Sans MS" panose="030F0702030302020204" pitchFamily="66" charset="0"/>
                <a:ea typeface="Times New Roman" panose="02020603050405020304" pitchFamily="18" charset="0"/>
                <a:cs typeface="Century Gothic" panose="020B0502020202020204" pitchFamily="34" charset="0"/>
              </a:rPr>
              <a:t>term</a:t>
            </a:r>
            <a:r>
              <a:rPr lang="en-US" altLang="en-US" sz="2200" dirty="0">
                <a:latin typeface="Comic Sans MS" panose="030F0702030302020204" pitchFamily="66" charset="0"/>
                <a:ea typeface="Times New Roman" panose="02020603050405020304" pitchFamily="18" charset="0"/>
                <a:cs typeface="Calibri" panose="020F0502020204030204" pitchFamily="34" charset="0"/>
              </a:rPr>
              <a:t>. These  objectives  will  include implementation of routines,  processes  and systems, such as a common expense  reports, review of financial data on timely bases, performance evaluation of personnel, etc.</a:t>
            </a:r>
            <a:endParaRPr lang="en-US" altLang="en-US" sz="2200"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847528" cy="523220"/>
          </a:xfrm>
          <a:prstGeom prst="rect">
            <a:avLst/>
          </a:prstGeom>
        </p:spPr>
        <p:txBody>
          <a:bodyPr wrap="none">
            <a:spAutoFit/>
          </a:bodyPr>
          <a:lstStyle/>
          <a:p>
            <a:r>
              <a:rPr lang="en-US" sz="2800" b="1" dirty="0">
                <a:solidFill>
                  <a:srgbClr val="C00000"/>
                </a:solidFill>
                <a:latin typeface="Comic Sans MS" panose="030F0702030302020204" pitchFamily="66" charset="0"/>
              </a:rPr>
              <a:t>Goals and Objectives</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1671417" y="1413714"/>
            <a:ext cx="704850" cy="1057709"/>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Tree>
    <p:extLst>
      <p:ext uri="{BB962C8B-B14F-4D97-AF65-F5344CB8AC3E}">
        <p14:creationId xmlns:p14="http://schemas.microsoft.com/office/powerpoint/2010/main" val="1310580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7C488A0-06F6-4F73-BC39-2DF7C6E39D58}"/>
              </a:ext>
            </a:extLst>
          </p:cNvPr>
          <p:cNvGrpSpPr/>
          <p:nvPr/>
        </p:nvGrpSpPr>
        <p:grpSpPr>
          <a:xfrm>
            <a:off x="1662040" y="896976"/>
            <a:ext cx="8997248" cy="1713411"/>
            <a:chOff x="207712" y="2479675"/>
            <a:chExt cx="5546725" cy="949325"/>
          </a:xfrm>
        </p:grpSpPr>
        <p:pic>
          <p:nvPicPr>
            <p:cNvPr id="440323" name="Picture 3">
              <a:extLst>
                <a:ext uri="{FF2B5EF4-FFF2-40B4-BE49-F238E27FC236}">
                  <a16:creationId xmlns:a16="http://schemas.microsoft.com/office/drawing/2014/main" id="{377BC18B-8CA8-4798-9B24-B13806649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22" name="Picture 2">
              <a:extLst>
                <a:ext uri="{FF2B5EF4-FFF2-40B4-BE49-F238E27FC236}">
                  <a16:creationId xmlns:a16="http://schemas.microsoft.com/office/drawing/2014/main" id="{6C3A609B-C2C8-417D-8A97-E603598428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Rectangle 2">
            <a:extLst>
              <a:ext uri="{FF2B5EF4-FFF2-40B4-BE49-F238E27FC236}">
                <a16:creationId xmlns:a16="http://schemas.microsoft.com/office/drawing/2014/main" id="{F8B2811A-5331-4BB6-AF01-F565061A9228}"/>
              </a:ext>
            </a:extLst>
          </p:cNvPr>
          <p:cNvSpPr/>
          <p:nvPr/>
        </p:nvSpPr>
        <p:spPr>
          <a:xfrm>
            <a:off x="1698441" y="2828836"/>
            <a:ext cx="8403771" cy="2585323"/>
          </a:xfrm>
          <a:prstGeom prst="rect">
            <a:avLst/>
          </a:prstGeom>
        </p:spPr>
        <p:txBody>
          <a:bodyPr wrap="square">
            <a:spAutoFit/>
          </a:bodyPr>
          <a:lstStyle/>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ea typeface="Times New Roman" panose="02020603050405020304" pitchFamily="18" charset="0"/>
                <a:cs typeface="Century Gothic" panose="020B0502020202020204" pitchFamily="34" charset="0"/>
              </a:rPr>
              <a:t>Long term effectiveness: </a:t>
            </a:r>
            <a:r>
              <a:rPr lang="en-US" altLang="en-US" dirty="0">
                <a:latin typeface="Comic Sans MS" panose="030F0702030302020204" pitchFamily="66" charset="0"/>
                <a:ea typeface="Times New Roman" panose="02020603050405020304" pitchFamily="18" charset="0"/>
                <a:cs typeface="Calibri" panose="020F0502020204030204" pitchFamily="34" charset="0"/>
              </a:rPr>
              <a:t>Developmental objectives that focus on creating something new or a change.  These  objectives  require creativity and risk taking. objectives will include product development, entering new markets, design  of a new system or process, research, etc.</a:t>
            </a:r>
          </a:p>
          <a:p>
            <a:pPr marL="285750" indent="-285750" eaLnBrk="0" hangingPunct="0">
              <a:buFont typeface="Wingdings" panose="05000000000000000000" pitchFamily="2" charset="2"/>
              <a:buChar char="q"/>
              <a:tabLst>
                <a:tab pos="749300" algn="l"/>
              </a:tabLst>
            </a:pPr>
            <a:endParaRPr lang="en-US" altLang="en-US" dirty="0">
              <a:latin typeface="Comic Sans MS" panose="030F0702030302020204" pitchFamily="66" charset="0"/>
              <a:ea typeface="Times New Roman" panose="02020603050405020304" pitchFamily="18" charset="0"/>
              <a:cs typeface="Calibri" panose="020F0502020204030204" pitchFamily="34" charset="0"/>
            </a:endParaRPr>
          </a:p>
          <a:p>
            <a:pPr marL="285750" indent="-285750" eaLnBrk="0" hangingPunct="0">
              <a:buFont typeface="Wingdings" panose="05000000000000000000" pitchFamily="2" charset="2"/>
              <a:buChar char="q"/>
              <a:tabLst>
                <a:tab pos="749300" algn="l"/>
              </a:tabLst>
            </a:pPr>
            <a:r>
              <a:rPr lang="en-US" altLang="en-US" b="1" dirty="0">
                <a:latin typeface="Comic Sans MS" panose="030F0702030302020204" pitchFamily="66" charset="0"/>
                <a:cs typeface="Century Gothic" panose="020B0502020202020204" pitchFamily="34" charset="0"/>
              </a:rPr>
              <a:t>Long term efficiency: </a:t>
            </a:r>
            <a:r>
              <a:rPr lang="en-US" altLang="en-US" dirty="0">
                <a:latin typeface="Comic Sans MS" panose="030F0702030302020204" pitchFamily="66" charset="0"/>
                <a:cs typeface="Calibri" panose="020F0502020204030204" pitchFamily="34" charset="0"/>
              </a:rPr>
              <a:t>Objectives   that  will  promote   team  building  and alignment within the organization. Objectives in this category will include personnel development and training, staff outings, internal promotion of individuals,  etc.</a:t>
            </a:r>
            <a:endParaRPr lang="en-US" altLang="en-US" dirty="0">
              <a:latin typeface="Comic Sans MS" panose="030F0702030302020204" pitchFamily="66" charset="0"/>
            </a:endParaRPr>
          </a:p>
        </p:txBody>
      </p:sp>
      <p:sp>
        <p:nvSpPr>
          <p:cNvPr id="4" name="Rectangle 3">
            <a:extLst>
              <a:ext uri="{FF2B5EF4-FFF2-40B4-BE49-F238E27FC236}">
                <a16:creationId xmlns:a16="http://schemas.microsoft.com/office/drawing/2014/main" id="{9217CBF2-C903-4ED5-986A-1F66744537FD}"/>
              </a:ext>
            </a:extLst>
          </p:cNvPr>
          <p:cNvSpPr/>
          <p:nvPr/>
        </p:nvSpPr>
        <p:spPr>
          <a:xfrm>
            <a:off x="1688167" y="398191"/>
            <a:ext cx="3733714" cy="523220"/>
          </a:xfrm>
          <a:prstGeom prst="rect">
            <a:avLst/>
          </a:prstGeom>
        </p:spPr>
        <p:txBody>
          <a:bodyPr wrap="none">
            <a:spAutoFit/>
          </a:bodyPr>
          <a:lstStyle/>
          <a:p>
            <a:r>
              <a:rPr lang="en-US" sz="2800" b="1" dirty="0">
                <a:solidFill>
                  <a:srgbClr val="C00000"/>
                </a:solidFill>
                <a:latin typeface="Comic Sans MS" panose="030F0702030302020204" pitchFamily="66" charset="0"/>
              </a:rPr>
              <a:t>Types of Objectives</a:t>
            </a:r>
          </a:p>
        </p:txBody>
      </p:sp>
      <p:sp>
        <p:nvSpPr>
          <p:cNvPr id="10" name="Rectangle 9">
            <a:extLst>
              <a:ext uri="{FF2B5EF4-FFF2-40B4-BE49-F238E27FC236}">
                <a16:creationId xmlns:a16="http://schemas.microsoft.com/office/drawing/2014/main" id="{D6BB0B52-D8EF-423D-8BD0-573FAFA12F54}"/>
              </a:ext>
            </a:extLst>
          </p:cNvPr>
          <p:cNvSpPr/>
          <p:nvPr/>
        </p:nvSpPr>
        <p:spPr bwMode="auto">
          <a:xfrm>
            <a:off x="4585855" y="1035939"/>
            <a:ext cx="2161303" cy="1166934"/>
          </a:xfrm>
          <a:prstGeom prst="rect">
            <a:avLst/>
          </a:prstGeom>
          <a:noFill/>
          <a:ln w="76200" cap="flat" cmpd="sng" algn="ctr">
            <a:solidFill>
              <a:srgbClr val="4B55B5"/>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lang="en-US" sz="1600">
              <a:latin typeface="Arial" charset="0"/>
            </a:endParaRPr>
          </a:p>
        </p:txBody>
      </p:sp>
      <p:sp>
        <p:nvSpPr>
          <p:cNvPr id="5" name="Rectangle 2">
            <a:extLst>
              <a:ext uri="{FF2B5EF4-FFF2-40B4-BE49-F238E27FC236}">
                <a16:creationId xmlns:a16="http://schemas.microsoft.com/office/drawing/2014/main" id="{C5A641E8-7007-4036-9F1A-9BAB81B14E95}"/>
              </a:ext>
            </a:extLst>
          </p:cNvPr>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749300" algn="l"/>
              </a:tabLst>
              <a:defRPr>
                <a:solidFill>
                  <a:schemeClr val="tx1"/>
                </a:solidFill>
                <a:latin typeface="Arial" panose="020B0604020202020204" pitchFamily="34" charset="0"/>
              </a:defRPr>
            </a:lvl1pPr>
            <a:lvl2pPr eaLnBrk="0" hangingPunct="0">
              <a:tabLst>
                <a:tab pos="749300" algn="l"/>
              </a:tabLst>
              <a:defRPr>
                <a:solidFill>
                  <a:schemeClr val="tx1"/>
                </a:solidFill>
                <a:latin typeface="Arial" panose="020B0604020202020204" pitchFamily="34" charset="0"/>
              </a:defRPr>
            </a:lvl2pPr>
            <a:lvl3pPr eaLnBrk="0" hangingPunct="0">
              <a:tabLst>
                <a:tab pos="749300" algn="l"/>
              </a:tabLst>
              <a:defRPr>
                <a:solidFill>
                  <a:schemeClr val="tx1"/>
                </a:solidFill>
                <a:latin typeface="Arial" panose="020B0604020202020204" pitchFamily="34" charset="0"/>
              </a:defRPr>
            </a:lvl3pPr>
            <a:lvl4pPr eaLnBrk="0" hangingPunct="0">
              <a:tabLst>
                <a:tab pos="749300" algn="l"/>
              </a:tabLst>
              <a:defRPr>
                <a:solidFill>
                  <a:schemeClr val="tx1"/>
                </a:solidFill>
                <a:latin typeface="Arial" panose="020B0604020202020204" pitchFamily="34" charset="0"/>
              </a:defRPr>
            </a:lvl4pPr>
            <a:lvl5pPr eaLnBrk="0" hangingPunct="0">
              <a:tabLst>
                <a:tab pos="749300" algn="l"/>
              </a:tabLst>
              <a:defRPr>
                <a:solidFill>
                  <a:schemeClr val="tx1"/>
                </a:solidFill>
                <a:latin typeface="Arial" panose="020B0604020202020204" pitchFamily="34" charset="0"/>
              </a:defRPr>
            </a:lvl5pPr>
            <a:lvl6pPr eaLnBrk="0" fontAlgn="base" hangingPunct="0">
              <a:spcBef>
                <a:spcPct val="0"/>
              </a:spcBef>
              <a:spcAft>
                <a:spcPct val="0"/>
              </a:spcAft>
              <a:tabLst>
                <a:tab pos="749300" algn="l"/>
              </a:tabLst>
              <a:defRPr>
                <a:solidFill>
                  <a:schemeClr val="tx1"/>
                </a:solidFill>
                <a:latin typeface="Arial" panose="020B0604020202020204" pitchFamily="34" charset="0"/>
              </a:defRPr>
            </a:lvl6pPr>
            <a:lvl7pPr eaLnBrk="0" fontAlgn="base" hangingPunct="0">
              <a:spcBef>
                <a:spcPct val="0"/>
              </a:spcBef>
              <a:spcAft>
                <a:spcPct val="0"/>
              </a:spcAft>
              <a:tabLst>
                <a:tab pos="749300" algn="l"/>
              </a:tabLst>
              <a:defRPr>
                <a:solidFill>
                  <a:schemeClr val="tx1"/>
                </a:solidFill>
                <a:latin typeface="Arial" panose="020B0604020202020204" pitchFamily="34" charset="0"/>
              </a:defRPr>
            </a:lvl7pPr>
            <a:lvl8pPr eaLnBrk="0" fontAlgn="base" hangingPunct="0">
              <a:spcBef>
                <a:spcPct val="0"/>
              </a:spcBef>
              <a:spcAft>
                <a:spcPct val="0"/>
              </a:spcAft>
              <a:tabLst>
                <a:tab pos="749300" algn="l"/>
              </a:tabLst>
              <a:defRPr>
                <a:solidFill>
                  <a:schemeClr val="tx1"/>
                </a:solidFill>
                <a:latin typeface="Arial" panose="020B0604020202020204" pitchFamily="34" charset="0"/>
              </a:defRPr>
            </a:lvl8pPr>
            <a:lvl9pPr eaLnBrk="0" fontAlgn="base" hangingPunct="0">
              <a:spcBef>
                <a:spcPct val="0"/>
              </a:spcBef>
              <a:spcAft>
                <a:spcPct val="0"/>
              </a:spcAft>
              <a:tabLst>
                <a:tab pos="749300" algn="l"/>
              </a:tabLst>
              <a:defRPr>
                <a:solidFill>
                  <a:schemeClr val="tx1"/>
                </a:solidFill>
                <a:latin typeface="Arial" panose="020B0604020202020204" pitchFamily="34" charset="0"/>
              </a:defRPr>
            </a:lvl9pPr>
          </a:lstStyle>
          <a:p>
            <a:pPr fontAlgn="base">
              <a:spcBef>
                <a:spcPct val="0"/>
              </a:spcBef>
              <a:spcAft>
                <a:spcPct val="0"/>
              </a:spcAft>
            </a:pPr>
            <a:endParaRPr lang="en-US" altLang="en-US" dirty="0"/>
          </a:p>
        </p:txBody>
      </p:sp>
      <p:sp>
        <p:nvSpPr>
          <p:cNvPr id="8" name="Rectangle 3">
            <a:extLst>
              <a:ext uri="{FF2B5EF4-FFF2-40B4-BE49-F238E27FC236}">
                <a16:creationId xmlns:a16="http://schemas.microsoft.com/office/drawing/2014/main" id="{D8E288BE-D52D-4092-92FD-3C8C9D8483E9}"/>
              </a:ext>
            </a:extLst>
          </p:cNvPr>
          <p:cNvSpPr>
            <a:spLocks noChangeArrowheads="1"/>
          </p:cNvSpPr>
          <p:nvPr/>
        </p:nvSpPr>
        <p:spPr bwMode="auto">
          <a:xfrm>
            <a:off x="1524001" y="349478"/>
            <a:ext cx="1847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endParaRPr lang="en-US" altLang="en-US" sz="800" dirty="0">
              <a:cs typeface="Verdana" panose="020B0604030504040204" pitchFamily="34" charset="0"/>
            </a:endParaRPr>
          </a:p>
        </p:txBody>
      </p:sp>
    </p:spTree>
    <p:extLst>
      <p:ext uri="{BB962C8B-B14F-4D97-AF65-F5344CB8AC3E}">
        <p14:creationId xmlns:p14="http://schemas.microsoft.com/office/powerpoint/2010/main" val="75500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FF14B70-26D9-429C-9547-FE2BC612E5F9}"/>
              </a:ext>
            </a:extLst>
          </p:cNvPr>
          <p:cNvGrpSpPr/>
          <p:nvPr/>
        </p:nvGrpSpPr>
        <p:grpSpPr>
          <a:xfrm>
            <a:off x="320842" y="896976"/>
            <a:ext cx="11871158" cy="2856877"/>
            <a:chOff x="207712" y="2479675"/>
            <a:chExt cx="5546725" cy="949325"/>
          </a:xfrm>
        </p:grpSpPr>
        <p:pic>
          <p:nvPicPr>
            <p:cNvPr id="3" name="Picture 3">
              <a:extLst>
                <a:ext uri="{FF2B5EF4-FFF2-40B4-BE49-F238E27FC236}">
                  <a16:creationId xmlns:a16="http://schemas.microsoft.com/office/drawing/2014/main" id="{E0BFC9D4-E035-4045-8157-F890F7D81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3CA06CD4-4430-436D-AE45-B043E39F9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a:extLst>
              <a:ext uri="{FF2B5EF4-FFF2-40B4-BE49-F238E27FC236}">
                <a16:creationId xmlns:a16="http://schemas.microsoft.com/office/drawing/2014/main" id="{24054675-3EEF-4B19-905D-8157680C55C5}"/>
              </a:ext>
            </a:extLst>
          </p:cNvPr>
          <p:cNvSpPr/>
          <p:nvPr/>
        </p:nvSpPr>
        <p:spPr>
          <a:xfrm>
            <a:off x="627321" y="1956391"/>
            <a:ext cx="414670" cy="30834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5D74E6-2C51-49B1-BB8A-2E3F17D41213}"/>
              </a:ext>
            </a:extLst>
          </p:cNvPr>
          <p:cNvSpPr/>
          <p:nvPr/>
        </p:nvSpPr>
        <p:spPr>
          <a:xfrm>
            <a:off x="2044996" y="1417675"/>
            <a:ext cx="411125" cy="24100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DCE767-D476-4EDA-818C-199E2965A51B}"/>
              </a:ext>
            </a:extLst>
          </p:cNvPr>
          <p:cNvSpPr/>
          <p:nvPr/>
        </p:nvSpPr>
        <p:spPr>
          <a:xfrm>
            <a:off x="3154328" y="1417675"/>
            <a:ext cx="301254" cy="24100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313E37E-94FC-41C1-80CB-8F9D4E41822A}"/>
              </a:ext>
            </a:extLst>
          </p:cNvPr>
          <p:cNvSpPr/>
          <p:nvPr/>
        </p:nvSpPr>
        <p:spPr>
          <a:xfrm>
            <a:off x="3858031" y="1474382"/>
            <a:ext cx="171709" cy="184297"/>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E00DEF1-5B84-4781-9396-90821B2C297B}"/>
              </a:ext>
            </a:extLst>
          </p:cNvPr>
          <p:cNvSpPr/>
          <p:nvPr/>
        </p:nvSpPr>
        <p:spPr>
          <a:xfrm>
            <a:off x="11600120" y="896977"/>
            <a:ext cx="581247" cy="2856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64CB0AD-8381-4D7A-8B65-C3AE2FB5AAA4}"/>
              </a:ext>
            </a:extLst>
          </p:cNvPr>
          <p:cNvSpPr/>
          <p:nvPr/>
        </p:nvSpPr>
        <p:spPr>
          <a:xfrm>
            <a:off x="3673526" y="4609830"/>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Goals &amp; Objectives</a:t>
            </a:r>
          </a:p>
        </p:txBody>
      </p:sp>
    </p:spTree>
    <p:extLst>
      <p:ext uri="{BB962C8B-B14F-4D97-AF65-F5344CB8AC3E}">
        <p14:creationId xmlns:p14="http://schemas.microsoft.com/office/powerpoint/2010/main" val="4282383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FB2E595C-0B7A-4A0B-B145-359FD77E524A}"/>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341DDD1B-CC26-4EAF-A6F3-1CD49B00BDC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14</a:t>
            </a:fld>
            <a:endParaRPr lang="en-US" altLang="en-US" sz="1400">
              <a:solidFill>
                <a:schemeClr val="tx1"/>
              </a:solidFill>
              <a:latin typeface="Times New Roman" panose="02020603050405020304" pitchFamily="18" charset="0"/>
            </a:endParaRPr>
          </a:p>
        </p:txBody>
      </p:sp>
      <p:sp>
        <p:nvSpPr>
          <p:cNvPr id="26627" name="Text Box 3">
            <a:extLst>
              <a:ext uri="{FF2B5EF4-FFF2-40B4-BE49-F238E27FC236}">
                <a16:creationId xmlns:a16="http://schemas.microsoft.com/office/drawing/2014/main" id="{FB8BF42F-CA74-4BC6-A50A-13CB59D5CE6F}"/>
              </a:ext>
            </a:extLst>
          </p:cNvPr>
          <p:cNvSpPr txBox="1">
            <a:spLocks noChangeArrowheads="1"/>
          </p:cNvSpPr>
          <p:nvPr/>
        </p:nvSpPr>
        <p:spPr bwMode="auto">
          <a:xfrm>
            <a:off x="6705600" y="457200"/>
            <a:ext cx="297815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a:p>
            <a:pPr>
              <a:lnSpc>
                <a:spcPct val="100000"/>
              </a:lnSpc>
              <a:spcAft>
                <a:spcPct val="0"/>
              </a:spcAft>
              <a:buClrTx/>
              <a:buSzTx/>
              <a:buFontTx/>
              <a:buNone/>
            </a:pPr>
            <a:r>
              <a:rPr lang="en-US" altLang="en-US" sz="1800">
                <a:solidFill>
                  <a:srgbClr val="FF0000"/>
                </a:solidFill>
                <a:latin typeface="Times New Roman" panose="02020603050405020304" pitchFamily="18" charset="0"/>
              </a:rPr>
              <a:t>Note that the accountability is superimposed on the color coded organizational chart</a:t>
            </a:r>
            <a:r>
              <a:rPr lang="en-US" altLang="en-US" sz="1800">
                <a:solidFill>
                  <a:schemeClr val="tx1"/>
                </a:solidFill>
                <a:latin typeface="Times New Roman" panose="02020603050405020304" pitchFamily="18" charset="0"/>
              </a:rPr>
              <a:t> </a:t>
            </a:r>
          </a:p>
        </p:txBody>
      </p:sp>
      <p:sp>
        <p:nvSpPr>
          <p:cNvPr id="26628" name="Rectangle 4">
            <a:extLst>
              <a:ext uri="{FF2B5EF4-FFF2-40B4-BE49-F238E27FC236}">
                <a16:creationId xmlns:a16="http://schemas.microsoft.com/office/drawing/2014/main" id="{05EC146A-E175-4C64-ACF8-81522DA31DF2}"/>
              </a:ext>
            </a:extLst>
          </p:cNvPr>
          <p:cNvSpPr>
            <a:spLocks noChangeArrowheads="1"/>
          </p:cNvSpPr>
          <p:nvPr/>
        </p:nvSpPr>
        <p:spPr bwMode="auto">
          <a:xfrm>
            <a:off x="1524000" y="32464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2400">
              <a:solidFill>
                <a:schemeClr val="tx1"/>
              </a:solidFill>
              <a:latin typeface="Times New Roman" panose="02020603050405020304" pitchFamily="18" charset="0"/>
            </a:endParaRPr>
          </a:p>
        </p:txBody>
      </p:sp>
      <p:graphicFrame>
        <p:nvGraphicFramePr>
          <p:cNvPr id="26629" name="Object 5">
            <a:extLst>
              <a:ext uri="{FF2B5EF4-FFF2-40B4-BE49-F238E27FC236}">
                <a16:creationId xmlns:a16="http://schemas.microsoft.com/office/drawing/2014/main" id="{C7C6913F-04EF-474E-A154-37BDCE9A7709}"/>
              </a:ext>
            </a:extLst>
          </p:cNvPr>
          <p:cNvGraphicFramePr>
            <a:graphicFrameLocks noChangeAspect="1"/>
          </p:cNvGraphicFramePr>
          <p:nvPr/>
        </p:nvGraphicFramePr>
        <p:xfrm>
          <a:off x="1524001" y="609600"/>
          <a:ext cx="9394825" cy="6477000"/>
        </p:xfrm>
        <a:graphic>
          <a:graphicData uri="http://schemas.openxmlformats.org/presentationml/2006/ole">
            <mc:AlternateContent xmlns:mc="http://schemas.openxmlformats.org/markup-compatibility/2006">
              <mc:Choice xmlns:v="urn:schemas-microsoft-com:vml" Requires="v">
                <p:oleObj spid="_x0000_s1030" name="Worksheet" r:id="rId4" imgW="11950700" imgH="6743700" progId="Excel.Sheet.8">
                  <p:embed/>
                </p:oleObj>
              </mc:Choice>
              <mc:Fallback>
                <p:oleObj name="Worksheet" r:id="rId4" imgW="11950700" imgH="6743700" progId="Excel.Sheet.8">
                  <p:embed/>
                  <p:pic>
                    <p:nvPicPr>
                      <p:cNvPr id="26629" name="Object 5">
                        <a:extLst>
                          <a:ext uri="{FF2B5EF4-FFF2-40B4-BE49-F238E27FC236}">
                            <a16:creationId xmlns:a16="http://schemas.microsoft.com/office/drawing/2014/main" id="{C7C6913F-04EF-474E-A154-37BDCE9A77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1" y="609600"/>
                        <a:ext cx="9394825"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8A5A691-CFCA-412E-AE6B-967056A3A425}"/>
              </a:ext>
            </a:extLst>
          </p:cNvPr>
          <p:cNvSpPr>
            <a:spLocks noGrp="1" noChangeArrowheads="1"/>
          </p:cNvSpPr>
          <p:nvPr>
            <p:ph type="title"/>
          </p:nvPr>
        </p:nvSpPr>
        <p:spPr>
          <a:xfrm>
            <a:off x="1905001" y="685800"/>
            <a:ext cx="8228013" cy="1143000"/>
          </a:xfrm>
        </p:spPr>
        <p:txBody>
          <a:bodyPr/>
          <a:lstStyle/>
          <a:p>
            <a:r>
              <a:rPr lang="en-US" altLang="en-US" b="1"/>
              <a:t>STEP 1</a:t>
            </a:r>
          </a:p>
        </p:txBody>
      </p:sp>
      <p:sp>
        <p:nvSpPr>
          <p:cNvPr id="28675" name="Slide Number Placeholder 4">
            <a:extLst>
              <a:ext uri="{FF2B5EF4-FFF2-40B4-BE49-F238E27FC236}">
                <a16:creationId xmlns:a16="http://schemas.microsoft.com/office/drawing/2014/main" id="{A58ADD4E-855D-4F77-8277-C0E2F88C352C}"/>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72C061A6-C55C-439A-B01F-633C99B69C2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15</a:t>
            </a:fld>
            <a:endParaRPr lang="en-US" altLang="en-US" sz="1400">
              <a:solidFill>
                <a:schemeClr val="tx1"/>
              </a:solidFill>
              <a:latin typeface="Times New Roman" panose="02020603050405020304" pitchFamily="18" charset="0"/>
            </a:endParaRPr>
          </a:p>
        </p:txBody>
      </p:sp>
      <p:sp>
        <p:nvSpPr>
          <p:cNvPr id="1053699" name="Rectangle 3">
            <a:extLst>
              <a:ext uri="{FF2B5EF4-FFF2-40B4-BE49-F238E27FC236}">
                <a16:creationId xmlns:a16="http://schemas.microsoft.com/office/drawing/2014/main" id="{1CEC6BAB-E9A8-4E83-9B93-B096F003D1FB}"/>
              </a:ext>
            </a:extLst>
          </p:cNvPr>
          <p:cNvSpPr>
            <a:spLocks noChangeArrowheads="1"/>
          </p:cNvSpPr>
          <p:nvPr/>
        </p:nvSpPr>
        <p:spPr bwMode="auto">
          <a:xfrm>
            <a:off x="2590800" y="1981201"/>
            <a:ext cx="73914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Pct val="140000"/>
              <a:buFontTx/>
              <a:buChar char="•"/>
            </a:pPr>
            <a:r>
              <a:rPr lang="en-US" altLang="en-US" sz="2400"/>
              <a:t>The green profit centers inform the plant of the quantity of products to manufacture (forecast).							</a:t>
            </a:r>
          </a:p>
          <a:p>
            <a:pPr>
              <a:lnSpc>
                <a:spcPct val="100000"/>
              </a:lnSpc>
              <a:spcAft>
                <a:spcPct val="0"/>
              </a:spcAft>
              <a:buClrTx/>
              <a:buSzPct val="140000"/>
              <a:buFontTx/>
              <a:buChar char="•"/>
            </a:pPr>
            <a:r>
              <a:rPr lang="en-US" altLang="en-US" sz="2400"/>
              <a:t>The Plant (service center) estimates the costs and negotiates (with the green profit centers) a transfer price per unit based on the number of units.							</a:t>
            </a:r>
          </a:p>
          <a:p>
            <a:pPr>
              <a:lnSpc>
                <a:spcPct val="100000"/>
              </a:lnSpc>
              <a:spcAft>
                <a:spcPct val="0"/>
              </a:spcAft>
              <a:buClrTx/>
              <a:buSzPct val="140000"/>
              <a:buFontTx/>
              <a:buChar char=" "/>
            </a:pPr>
            <a:r>
              <a:rPr lang="en-US" altLang="en-US" sz="2400"/>
              <a:t>                                 Result					</a:t>
            </a:r>
          </a:p>
          <a:p>
            <a:pPr>
              <a:lnSpc>
                <a:spcPct val="100000"/>
              </a:lnSpc>
              <a:spcAft>
                <a:spcPct val="0"/>
              </a:spcAft>
              <a:buClrTx/>
              <a:buSzPct val="140000"/>
              <a:buFontTx/>
              <a:buChar char=" "/>
            </a:pPr>
            <a:r>
              <a:rPr lang="en-US" altLang="en-US" sz="2400"/>
              <a:t>	Computers: 5000 units @ $500/unit.         	Printers: 5000 units @ $300/unit.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3699">
                                            <p:txEl>
                                              <p:pRg st="0" end="0"/>
                                            </p:txEl>
                                          </p:spTgt>
                                        </p:tgtEl>
                                        <p:attrNameLst>
                                          <p:attrName>style.visibility</p:attrName>
                                        </p:attrNameLst>
                                      </p:cBhvr>
                                      <p:to>
                                        <p:strVal val="visible"/>
                                      </p:to>
                                    </p:set>
                                    <p:anim calcmode="lin" valueType="num">
                                      <p:cBhvr additive="base">
                                        <p:cTn id="7" dur="500" fill="hold"/>
                                        <p:tgtEl>
                                          <p:spTgt spid="1053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53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3699">
                                            <p:txEl>
                                              <p:pRg st="1" end="1"/>
                                            </p:txEl>
                                          </p:spTgt>
                                        </p:tgtEl>
                                        <p:attrNameLst>
                                          <p:attrName>style.visibility</p:attrName>
                                        </p:attrNameLst>
                                      </p:cBhvr>
                                      <p:to>
                                        <p:strVal val="visible"/>
                                      </p:to>
                                    </p:set>
                                    <p:anim calcmode="lin" valueType="num">
                                      <p:cBhvr additive="base">
                                        <p:cTn id="13" dur="500" fill="hold"/>
                                        <p:tgtEl>
                                          <p:spTgt spid="10536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536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3699">
                                            <p:txEl>
                                              <p:pRg st="2" end="2"/>
                                            </p:txEl>
                                          </p:spTgt>
                                        </p:tgtEl>
                                        <p:attrNameLst>
                                          <p:attrName>style.visibility</p:attrName>
                                        </p:attrNameLst>
                                      </p:cBhvr>
                                      <p:to>
                                        <p:strVal val="visible"/>
                                      </p:to>
                                    </p:set>
                                    <p:anim calcmode="lin" valueType="num">
                                      <p:cBhvr additive="base">
                                        <p:cTn id="19" dur="500" fill="hold"/>
                                        <p:tgtEl>
                                          <p:spTgt spid="10536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53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53699">
                                            <p:txEl>
                                              <p:pRg st="3" end="3"/>
                                            </p:txEl>
                                          </p:spTgt>
                                        </p:tgtEl>
                                        <p:attrNameLst>
                                          <p:attrName>style.visibility</p:attrName>
                                        </p:attrNameLst>
                                      </p:cBhvr>
                                      <p:to>
                                        <p:strVal val="visible"/>
                                      </p:to>
                                    </p:set>
                                    <p:anim calcmode="lin" valueType="num">
                                      <p:cBhvr additive="base">
                                        <p:cTn id="25" dur="500" fill="hold"/>
                                        <p:tgtEl>
                                          <p:spTgt spid="10536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5369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369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28C2B896-B370-4781-BCCD-8083BCDA15E3}"/>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CFBBF95E-53EF-42E8-90FD-9F9BF650E656}"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16</a:t>
            </a:fld>
            <a:endParaRPr lang="en-US" altLang="en-US" sz="1400">
              <a:solidFill>
                <a:schemeClr val="tx1"/>
              </a:solidFill>
              <a:latin typeface="Times New Roman" panose="02020603050405020304" pitchFamily="18" charset="0"/>
            </a:endParaRPr>
          </a:p>
        </p:txBody>
      </p:sp>
      <p:graphicFrame>
        <p:nvGraphicFramePr>
          <p:cNvPr id="30723" name="Object 2">
            <a:extLst>
              <a:ext uri="{FF2B5EF4-FFF2-40B4-BE49-F238E27FC236}">
                <a16:creationId xmlns:a16="http://schemas.microsoft.com/office/drawing/2014/main" id="{9B633ECF-3B48-4EA3-8EF6-1D1E50526022}"/>
              </a:ext>
            </a:extLst>
          </p:cNvPr>
          <p:cNvGraphicFramePr>
            <a:graphicFrameLocks noChangeAspect="1"/>
          </p:cNvGraphicFramePr>
          <p:nvPr/>
        </p:nvGraphicFramePr>
        <p:xfrm>
          <a:off x="1295401" y="685800"/>
          <a:ext cx="9636125" cy="7010400"/>
        </p:xfrm>
        <a:graphic>
          <a:graphicData uri="http://schemas.openxmlformats.org/presentationml/2006/ole">
            <mc:AlternateContent xmlns:mc="http://schemas.openxmlformats.org/markup-compatibility/2006">
              <mc:Choice xmlns:v="urn:schemas-microsoft-com:vml" Requires="v">
                <p:oleObj spid="_x0000_s2054" name="Worksheet" r:id="rId4" imgW="11950700" imgH="6731000" progId="Excel.Sheet.8">
                  <p:embed/>
                </p:oleObj>
              </mc:Choice>
              <mc:Fallback>
                <p:oleObj name="Worksheet" r:id="rId4" imgW="11950700" imgH="6731000" progId="Excel.Sheet.8">
                  <p:embed/>
                  <p:pic>
                    <p:nvPicPr>
                      <p:cNvPr id="30723" name="Object 2">
                        <a:extLst>
                          <a:ext uri="{FF2B5EF4-FFF2-40B4-BE49-F238E27FC236}">
                            <a16:creationId xmlns:a16="http://schemas.microsoft.com/office/drawing/2014/main" id="{9B633ECF-3B48-4EA3-8EF6-1D1E505260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1" y="685800"/>
                        <a:ext cx="9636125" cy="701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0724" name="Text Box 3">
            <a:extLst>
              <a:ext uri="{FF2B5EF4-FFF2-40B4-BE49-F238E27FC236}">
                <a16:creationId xmlns:a16="http://schemas.microsoft.com/office/drawing/2014/main" id="{AB43BBC2-8A68-492E-991B-4B091CF2DDD4}"/>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583684" name="Line 4">
            <a:extLst>
              <a:ext uri="{FF2B5EF4-FFF2-40B4-BE49-F238E27FC236}">
                <a16:creationId xmlns:a16="http://schemas.microsoft.com/office/drawing/2014/main" id="{2CF2A7CD-3901-436B-8222-636975EB4B4C}"/>
              </a:ext>
            </a:extLst>
          </p:cNvPr>
          <p:cNvSpPr>
            <a:spLocks noChangeShapeType="1"/>
          </p:cNvSpPr>
          <p:nvPr/>
        </p:nvSpPr>
        <p:spPr bwMode="auto">
          <a:xfrm flipH="1">
            <a:off x="3505200" y="3962400"/>
            <a:ext cx="4267200" cy="6858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83685" name="Line 5">
            <a:extLst>
              <a:ext uri="{FF2B5EF4-FFF2-40B4-BE49-F238E27FC236}">
                <a16:creationId xmlns:a16="http://schemas.microsoft.com/office/drawing/2014/main" id="{C2DED65B-7B99-46FC-B9F9-488ECA857082}"/>
              </a:ext>
            </a:extLst>
          </p:cNvPr>
          <p:cNvSpPr>
            <a:spLocks noChangeShapeType="1"/>
          </p:cNvSpPr>
          <p:nvPr/>
        </p:nvSpPr>
        <p:spPr bwMode="auto">
          <a:xfrm flipH="1">
            <a:off x="5791200" y="4114800"/>
            <a:ext cx="1981200" cy="5334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583684"/>
                                        </p:tgtEl>
                                        <p:attrNameLst>
                                          <p:attrName>style.visibility</p:attrName>
                                        </p:attrNameLst>
                                      </p:cBhvr>
                                      <p:to>
                                        <p:strVal val="visible"/>
                                      </p:to>
                                    </p:set>
                                    <p:animEffect transition="in" filter="wipe(right)">
                                      <p:cBhvr>
                                        <p:cTn id="7" dur="500"/>
                                        <p:tgtEl>
                                          <p:spTgt spid="583684"/>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583685"/>
                                        </p:tgtEl>
                                        <p:attrNameLst>
                                          <p:attrName>style.visibility</p:attrName>
                                        </p:attrNameLst>
                                      </p:cBhvr>
                                      <p:to>
                                        <p:strVal val="visible"/>
                                      </p:to>
                                    </p:set>
                                    <p:animEffect transition="in" filter="wipe(right)">
                                      <p:cBhvr>
                                        <p:cTn id="11" dur="500"/>
                                        <p:tgtEl>
                                          <p:spTgt spid="583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2F409A0-4503-4B55-B3CF-6CE5C7317F9F}"/>
              </a:ext>
            </a:extLst>
          </p:cNvPr>
          <p:cNvSpPr>
            <a:spLocks noGrp="1" noChangeArrowheads="1"/>
          </p:cNvSpPr>
          <p:nvPr>
            <p:ph type="title"/>
          </p:nvPr>
        </p:nvSpPr>
        <p:spPr>
          <a:xfrm>
            <a:off x="1828801" y="719138"/>
            <a:ext cx="8228013" cy="1143000"/>
          </a:xfrm>
        </p:spPr>
        <p:txBody>
          <a:bodyPr/>
          <a:lstStyle/>
          <a:p>
            <a:r>
              <a:rPr lang="en-US" altLang="en-US" b="1"/>
              <a:t>STEP 2</a:t>
            </a:r>
          </a:p>
        </p:txBody>
      </p:sp>
      <p:sp>
        <p:nvSpPr>
          <p:cNvPr id="32771" name="Slide Number Placeholder 4">
            <a:extLst>
              <a:ext uri="{FF2B5EF4-FFF2-40B4-BE49-F238E27FC236}">
                <a16:creationId xmlns:a16="http://schemas.microsoft.com/office/drawing/2014/main" id="{286971DE-C56F-4172-8343-74E10D991E4F}"/>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28D5B1EB-2DCC-4F18-98AE-11524AD82BF8}"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17</a:t>
            </a:fld>
            <a:endParaRPr lang="en-US" altLang="en-US" sz="1400">
              <a:solidFill>
                <a:schemeClr val="tx1"/>
              </a:solidFill>
              <a:latin typeface="Times New Roman" panose="02020603050405020304" pitchFamily="18" charset="0"/>
            </a:endParaRPr>
          </a:p>
        </p:txBody>
      </p:sp>
      <p:sp>
        <p:nvSpPr>
          <p:cNvPr id="1054723" name="Rectangle 3">
            <a:extLst>
              <a:ext uri="{FF2B5EF4-FFF2-40B4-BE49-F238E27FC236}">
                <a16:creationId xmlns:a16="http://schemas.microsoft.com/office/drawing/2014/main" id="{91680349-2F30-497A-8ADD-7753D238FBE8}"/>
              </a:ext>
            </a:extLst>
          </p:cNvPr>
          <p:cNvSpPr>
            <a:spLocks noChangeArrowheads="1"/>
          </p:cNvSpPr>
          <p:nvPr/>
        </p:nvSpPr>
        <p:spPr bwMode="auto">
          <a:xfrm>
            <a:off x="2057400" y="1828800"/>
            <a:ext cx="8382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Char char="•"/>
            </a:pPr>
            <a:r>
              <a:rPr lang="en-US" altLang="en-US" sz="2400"/>
              <a:t>The profit center determines the revenue from the sale of the products and the center’s operating costs.</a:t>
            </a:r>
          </a:p>
          <a:p>
            <a:pPr>
              <a:lnSpc>
                <a:spcPct val="100000"/>
              </a:lnSpc>
              <a:spcAft>
                <a:spcPct val="0"/>
              </a:spcAft>
              <a:buClrTx/>
              <a:buSzTx/>
              <a:buFontTx/>
              <a:buChar char="•"/>
            </a:pPr>
            <a:endParaRPr lang="en-US" altLang="en-US" sz="2400"/>
          </a:p>
          <a:p>
            <a:pPr>
              <a:lnSpc>
                <a:spcPct val="100000"/>
              </a:lnSpc>
              <a:spcAft>
                <a:spcPct val="0"/>
              </a:spcAft>
              <a:buClrTx/>
              <a:buSzTx/>
              <a:buFontTx/>
              <a:buNone/>
            </a:pPr>
            <a:r>
              <a:rPr lang="en-US" altLang="en-US" sz="2400"/>
              <a:t>	         Computers: 5000 units @ $1,000/unit. </a:t>
            </a:r>
          </a:p>
          <a:p>
            <a:pPr>
              <a:lnSpc>
                <a:spcPct val="100000"/>
              </a:lnSpc>
              <a:spcAft>
                <a:spcPct val="0"/>
              </a:spcAft>
              <a:buClrTx/>
              <a:buSzTx/>
              <a:buFontTx/>
              <a:buNone/>
            </a:pPr>
            <a:r>
              <a:rPr lang="en-US" altLang="en-US" sz="2400"/>
              <a:t>                    Printers 5000 units @ $600/unit.										</a:t>
            </a:r>
          </a:p>
          <a:p>
            <a:pPr>
              <a:lnSpc>
                <a:spcPct val="100000"/>
              </a:lnSpc>
              <a:spcAft>
                <a:spcPct val="0"/>
              </a:spcAft>
              <a:buClrTx/>
              <a:buSzTx/>
              <a:buFontTx/>
              <a:buChar char="•"/>
            </a:pPr>
            <a:r>
              <a:rPr lang="en-US" altLang="en-US" sz="2400"/>
              <a:t>The Corporate Administration Excellence Center submits a proposed budget to support the profit center’s administrative needs.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23">
                                            <p:txEl>
                                              <p:pRg st="0" end="0"/>
                                            </p:txEl>
                                          </p:spTgt>
                                        </p:tgtEl>
                                        <p:attrNameLst>
                                          <p:attrName>style.visibility</p:attrName>
                                        </p:attrNameLst>
                                      </p:cBhvr>
                                      <p:to>
                                        <p:strVal val="visible"/>
                                      </p:to>
                                    </p:set>
                                    <p:anim calcmode="lin" valueType="num">
                                      <p:cBhvr additive="base">
                                        <p:cTn id="7" dur="500" fill="hold"/>
                                        <p:tgtEl>
                                          <p:spTgt spid="10547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54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23">
                                            <p:txEl>
                                              <p:pRg st="2" end="2"/>
                                            </p:txEl>
                                          </p:spTgt>
                                        </p:tgtEl>
                                        <p:attrNameLst>
                                          <p:attrName>style.visibility</p:attrName>
                                        </p:attrNameLst>
                                      </p:cBhvr>
                                      <p:to>
                                        <p:strVal val="visible"/>
                                      </p:to>
                                    </p:set>
                                    <p:anim calcmode="lin" valueType="num">
                                      <p:cBhvr additive="base">
                                        <p:cTn id="13" dur="500" fill="hold"/>
                                        <p:tgtEl>
                                          <p:spTgt spid="105472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547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723">
                                            <p:txEl>
                                              <p:pRg st="3" end="3"/>
                                            </p:txEl>
                                          </p:spTgt>
                                        </p:tgtEl>
                                        <p:attrNameLst>
                                          <p:attrName>style.visibility</p:attrName>
                                        </p:attrNameLst>
                                      </p:cBhvr>
                                      <p:to>
                                        <p:strVal val="visible"/>
                                      </p:to>
                                    </p:set>
                                    <p:anim calcmode="lin" valueType="num">
                                      <p:cBhvr additive="base">
                                        <p:cTn id="19" dur="500" fill="hold"/>
                                        <p:tgtEl>
                                          <p:spTgt spid="105472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547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54723">
                                            <p:txEl>
                                              <p:pRg st="4" end="4"/>
                                            </p:txEl>
                                          </p:spTgt>
                                        </p:tgtEl>
                                        <p:attrNameLst>
                                          <p:attrName>style.visibility</p:attrName>
                                        </p:attrNameLst>
                                      </p:cBhvr>
                                      <p:to>
                                        <p:strVal val="visible"/>
                                      </p:to>
                                    </p:set>
                                    <p:anim calcmode="lin" valueType="num">
                                      <p:cBhvr additive="base">
                                        <p:cTn id="25" dur="500" fill="hold"/>
                                        <p:tgtEl>
                                          <p:spTgt spid="10547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547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2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216FD7C9-97B2-4D20-ABBD-103D089B2A3B}"/>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E3E01A30-97A8-4B2A-AE95-99E4387FFA3C}"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18</a:t>
            </a:fld>
            <a:endParaRPr lang="en-US" altLang="en-US" sz="1400">
              <a:solidFill>
                <a:schemeClr val="tx1"/>
              </a:solidFill>
              <a:latin typeface="Times New Roman" panose="02020603050405020304" pitchFamily="18" charset="0"/>
            </a:endParaRPr>
          </a:p>
        </p:txBody>
      </p:sp>
      <p:graphicFrame>
        <p:nvGraphicFramePr>
          <p:cNvPr id="34819" name="Object 2">
            <a:extLst>
              <a:ext uri="{FF2B5EF4-FFF2-40B4-BE49-F238E27FC236}">
                <a16:creationId xmlns:a16="http://schemas.microsoft.com/office/drawing/2014/main" id="{5F6FC8A5-7EE1-4CF5-BF33-BA9FC98FDD71}"/>
              </a:ext>
            </a:extLst>
          </p:cNvPr>
          <p:cNvGraphicFramePr>
            <a:graphicFrameLocks noChangeAspect="1"/>
          </p:cNvGraphicFramePr>
          <p:nvPr/>
        </p:nvGraphicFramePr>
        <p:xfrm>
          <a:off x="1828800" y="-228600"/>
          <a:ext cx="8534400" cy="7620000"/>
        </p:xfrm>
        <a:graphic>
          <a:graphicData uri="http://schemas.openxmlformats.org/presentationml/2006/ole">
            <mc:AlternateContent xmlns:mc="http://schemas.openxmlformats.org/markup-compatibility/2006">
              <mc:Choice xmlns:v="urn:schemas-microsoft-com:vml" Requires="v">
                <p:oleObj spid="_x0000_s3078" name="Worksheet" r:id="rId4" imgW="10731500" imgH="7531100" progId="Excel.Sheet.8">
                  <p:embed/>
                </p:oleObj>
              </mc:Choice>
              <mc:Fallback>
                <p:oleObj name="Worksheet" r:id="rId4" imgW="10731500" imgH="7531100" progId="Excel.Sheet.8">
                  <p:embed/>
                  <p:pic>
                    <p:nvPicPr>
                      <p:cNvPr id="34819" name="Object 2">
                        <a:extLst>
                          <a:ext uri="{FF2B5EF4-FFF2-40B4-BE49-F238E27FC236}">
                            <a16:creationId xmlns:a16="http://schemas.microsoft.com/office/drawing/2014/main" id="{5F6FC8A5-7EE1-4CF5-BF33-BA9FC98FDD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28600"/>
                        <a:ext cx="8534400" cy="76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4820" name="Text Box 3">
            <a:extLst>
              <a:ext uri="{FF2B5EF4-FFF2-40B4-BE49-F238E27FC236}">
                <a16:creationId xmlns:a16="http://schemas.microsoft.com/office/drawing/2014/main" id="{6E9E48CB-55D5-49A6-97DC-86CAF5236117}"/>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1062916" name="Oval 4">
            <a:extLst>
              <a:ext uri="{FF2B5EF4-FFF2-40B4-BE49-F238E27FC236}">
                <a16:creationId xmlns:a16="http://schemas.microsoft.com/office/drawing/2014/main" id="{76817485-C985-4639-9646-58135135F5AC}"/>
              </a:ext>
            </a:extLst>
          </p:cNvPr>
          <p:cNvSpPr>
            <a:spLocks noChangeArrowheads="1"/>
          </p:cNvSpPr>
          <p:nvPr/>
        </p:nvSpPr>
        <p:spPr bwMode="auto">
          <a:xfrm>
            <a:off x="3048000" y="37338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17" name="Oval 5">
            <a:extLst>
              <a:ext uri="{FF2B5EF4-FFF2-40B4-BE49-F238E27FC236}">
                <a16:creationId xmlns:a16="http://schemas.microsoft.com/office/drawing/2014/main" id="{97D1044A-BAB3-4E39-B315-370C180E25FC}"/>
              </a:ext>
            </a:extLst>
          </p:cNvPr>
          <p:cNvSpPr>
            <a:spLocks noChangeArrowheads="1"/>
          </p:cNvSpPr>
          <p:nvPr/>
        </p:nvSpPr>
        <p:spPr bwMode="auto">
          <a:xfrm>
            <a:off x="3124200" y="46482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18" name="Oval 6">
            <a:extLst>
              <a:ext uri="{FF2B5EF4-FFF2-40B4-BE49-F238E27FC236}">
                <a16:creationId xmlns:a16="http://schemas.microsoft.com/office/drawing/2014/main" id="{3E342889-E724-4B24-BC85-4A0BBFEF0FFE}"/>
              </a:ext>
            </a:extLst>
          </p:cNvPr>
          <p:cNvSpPr>
            <a:spLocks noChangeArrowheads="1"/>
          </p:cNvSpPr>
          <p:nvPr/>
        </p:nvSpPr>
        <p:spPr bwMode="auto">
          <a:xfrm>
            <a:off x="5410200" y="46482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19" name="Oval 7">
            <a:extLst>
              <a:ext uri="{FF2B5EF4-FFF2-40B4-BE49-F238E27FC236}">
                <a16:creationId xmlns:a16="http://schemas.microsoft.com/office/drawing/2014/main" id="{9EF20597-4EA2-43D8-B97B-D5D9459213A7}"/>
              </a:ext>
            </a:extLst>
          </p:cNvPr>
          <p:cNvSpPr>
            <a:spLocks noChangeArrowheads="1"/>
          </p:cNvSpPr>
          <p:nvPr/>
        </p:nvSpPr>
        <p:spPr bwMode="auto">
          <a:xfrm>
            <a:off x="5334000" y="37338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20" name="Oval 8">
            <a:extLst>
              <a:ext uri="{FF2B5EF4-FFF2-40B4-BE49-F238E27FC236}">
                <a16:creationId xmlns:a16="http://schemas.microsoft.com/office/drawing/2014/main" id="{1CEC506B-BD57-4266-A52C-C6D79CDAC8E7}"/>
              </a:ext>
            </a:extLst>
          </p:cNvPr>
          <p:cNvSpPr>
            <a:spLocks noChangeArrowheads="1"/>
          </p:cNvSpPr>
          <p:nvPr/>
        </p:nvSpPr>
        <p:spPr bwMode="auto">
          <a:xfrm>
            <a:off x="9982200" y="48768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062916"/>
                                        </p:tgtEl>
                                        <p:attrNameLst>
                                          <p:attrName>style.visibility</p:attrName>
                                        </p:attrNameLst>
                                      </p:cBhvr>
                                      <p:to>
                                        <p:strVal val="visible"/>
                                      </p:to>
                                    </p:set>
                                    <p:animEffect transition="in" filter="box(out)">
                                      <p:cBhvr>
                                        <p:cTn id="7" dur="500"/>
                                        <p:tgtEl>
                                          <p:spTgt spid="1062916"/>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062919"/>
                                        </p:tgtEl>
                                        <p:attrNameLst>
                                          <p:attrName>style.visibility</p:attrName>
                                        </p:attrNameLst>
                                      </p:cBhvr>
                                      <p:to>
                                        <p:strVal val="visible"/>
                                      </p:to>
                                    </p:set>
                                    <p:animEffect transition="in" filter="box(out)">
                                      <p:cBhvr>
                                        <p:cTn id="11" dur="500"/>
                                        <p:tgtEl>
                                          <p:spTgt spid="1062919"/>
                                        </p:tgtEl>
                                      </p:cBhvr>
                                    </p:animEffect>
                                  </p:childTnLst>
                                </p:cTn>
                              </p:par>
                            </p:childTnLst>
                          </p:cTn>
                        </p:par>
                        <p:par>
                          <p:cTn id="12" fill="hold" nodeType="afterGroup">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062917"/>
                                        </p:tgtEl>
                                        <p:attrNameLst>
                                          <p:attrName>style.visibility</p:attrName>
                                        </p:attrNameLst>
                                      </p:cBhvr>
                                      <p:to>
                                        <p:strVal val="visible"/>
                                      </p:to>
                                    </p:set>
                                    <p:animEffect transition="in" filter="box(out)">
                                      <p:cBhvr>
                                        <p:cTn id="15" dur="500"/>
                                        <p:tgtEl>
                                          <p:spTgt spid="1062917"/>
                                        </p:tgtEl>
                                      </p:cBhvr>
                                    </p:animEffect>
                                  </p:childTnLst>
                                </p:cTn>
                              </p:par>
                            </p:childTnLst>
                          </p:cTn>
                        </p:par>
                        <p:par>
                          <p:cTn id="16" fill="hold" nodeType="afterGroup">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1062918"/>
                                        </p:tgtEl>
                                        <p:attrNameLst>
                                          <p:attrName>style.visibility</p:attrName>
                                        </p:attrNameLst>
                                      </p:cBhvr>
                                      <p:to>
                                        <p:strVal val="visible"/>
                                      </p:to>
                                    </p:set>
                                    <p:animEffect transition="in" filter="box(out)">
                                      <p:cBhvr>
                                        <p:cTn id="19" dur="500"/>
                                        <p:tgtEl>
                                          <p:spTgt spid="1062918"/>
                                        </p:tgtEl>
                                      </p:cBhvr>
                                    </p:animEffect>
                                  </p:childTnLst>
                                </p:cTn>
                              </p:par>
                            </p:childTnLst>
                          </p:cTn>
                        </p:par>
                        <p:par>
                          <p:cTn id="20" fill="hold" nodeType="afterGroup">
                            <p:stCondLst>
                              <p:cond delay="2000"/>
                            </p:stCondLst>
                            <p:childTnLst>
                              <p:par>
                                <p:cTn id="21" presetID="4" presetClass="entr" presetSubtype="32" fill="hold" grpId="0" nodeType="afterEffect">
                                  <p:stCondLst>
                                    <p:cond delay="0"/>
                                  </p:stCondLst>
                                  <p:childTnLst>
                                    <p:set>
                                      <p:cBhvr>
                                        <p:cTn id="22" dur="1" fill="hold">
                                          <p:stCondLst>
                                            <p:cond delay="0"/>
                                          </p:stCondLst>
                                        </p:cTn>
                                        <p:tgtEl>
                                          <p:spTgt spid="1062920"/>
                                        </p:tgtEl>
                                        <p:attrNameLst>
                                          <p:attrName>style.visibility</p:attrName>
                                        </p:attrNameLst>
                                      </p:cBhvr>
                                      <p:to>
                                        <p:strVal val="visible"/>
                                      </p:to>
                                    </p:set>
                                    <p:animEffect transition="in" filter="box(out)">
                                      <p:cBhvr>
                                        <p:cTn id="23" dur="500"/>
                                        <p:tgtEl>
                                          <p:spTgt spid="106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6" grpId="0" animBg="1"/>
      <p:bldP spid="1062917" grpId="0" animBg="1"/>
      <p:bldP spid="1062918" grpId="0" animBg="1"/>
      <p:bldP spid="1062919" grpId="0" animBg="1"/>
      <p:bldP spid="10629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C52CF64-69CC-4084-9AB8-59EEFFF7C4ED}"/>
              </a:ext>
            </a:extLst>
          </p:cNvPr>
          <p:cNvSpPr>
            <a:spLocks noGrp="1" noChangeArrowheads="1"/>
          </p:cNvSpPr>
          <p:nvPr>
            <p:ph type="title"/>
          </p:nvPr>
        </p:nvSpPr>
        <p:spPr/>
        <p:txBody>
          <a:bodyPr/>
          <a:lstStyle/>
          <a:p>
            <a:r>
              <a:rPr lang="en-US" altLang="en-US" b="1"/>
              <a:t>STEP 3</a:t>
            </a:r>
          </a:p>
        </p:txBody>
      </p:sp>
      <p:sp>
        <p:nvSpPr>
          <p:cNvPr id="36867" name="Slide Number Placeholder 4">
            <a:extLst>
              <a:ext uri="{FF2B5EF4-FFF2-40B4-BE49-F238E27FC236}">
                <a16:creationId xmlns:a16="http://schemas.microsoft.com/office/drawing/2014/main" id="{9E69D9DA-9448-415C-9A0C-4A3F9020BAED}"/>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B5217BEF-F137-4A41-8A2B-72EC3743C900}"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19</a:t>
            </a:fld>
            <a:endParaRPr lang="en-US" altLang="en-US" sz="1400">
              <a:solidFill>
                <a:schemeClr val="tx1"/>
              </a:solidFill>
              <a:latin typeface="Times New Roman" panose="02020603050405020304" pitchFamily="18" charset="0"/>
            </a:endParaRPr>
          </a:p>
        </p:txBody>
      </p:sp>
      <p:sp>
        <p:nvSpPr>
          <p:cNvPr id="1056771" name="Rectangle 3">
            <a:extLst>
              <a:ext uri="{FF2B5EF4-FFF2-40B4-BE49-F238E27FC236}">
                <a16:creationId xmlns:a16="http://schemas.microsoft.com/office/drawing/2014/main" id="{56F52445-C41A-4A3D-AE55-00FBC12222BD}"/>
              </a:ext>
            </a:extLst>
          </p:cNvPr>
          <p:cNvSpPr>
            <a:spLocks noChangeArrowheads="1"/>
          </p:cNvSpPr>
          <p:nvPr/>
        </p:nvSpPr>
        <p:spPr bwMode="auto">
          <a:xfrm>
            <a:off x="2438400" y="1905000"/>
            <a:ext cx="7620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Char char="•"/>
            </a:pPr>
            <a:r>
              <a:rPr lang="en-US" altLang="en-US" sz="2400"/>
              <a:t>The profit centers stretch the excellence center's budget and establish the level of support desired.  The result is rolled up to the CEO.</a:t>
            </a:r>
          </a:p>
          <a:p>
            <a:pPr>
              <a:lnSpc>
                <a:spcPct val="100000"/>
              </a:lnSpc>
              <a:spcAft>
                <a:spcPct val="0"/>
              </a:spcAft>
              <a:buClrTx/>
              <a:buSzTx/>
              <a:buFontTx/>
              <a:buChar char="•"/>
            </a:pPr>
            <a:endParaRPr lang="en-US" altLang="en-US" sz="2400"/>
          </a:p>
          <a:p>
            <a:pPr>
              <a:lnSpc>
                <a:spcPct val="100000"/>
              </a:lnSpc>
              <a:spcAft>
                <a:spcPct val="0"/>
              </a:spcAft>
              <a:buClrTx/>
              <a:buSzTx/>
              <a:buFontTx/>
              <a:buChar char="•"/>
            </a:pPr>
            <a:r>
              <a:rPr lang="en-US" altLang="en-US" sz="2400"/>
              <a:t>The profit centers are stretched by the CEO with results rolled up to the CEO.</a:t>
            </a:r>
          </a:p>
          <a:p>
            <a:pPr>
              <a:lnSpc>
                <a:spcPct val="100000"/>
              </a:lnSpc>
              <a:spcAft>
                <a:spcPct val="0"/>
              </a:spcAft>
              <a:buClrTx/>
              <a:buSzTx/>
              <a:buFontTx/>
              <a:buNone/>
            </a:pPr>
            <a:endParaRPr lang="en-US" altLang="en-US" sz="2400"/>
          </a:p>
          <a:p>
            <a:pPr>
              <a:lnSpc>
                <a:spcPct val="100000"/>
              </a:lnSpc>
              <a:spcAft>
                <a:spcPct val="0"/>
              </a:spcAft>
              <a:buClrTx/>
              <a:buSzTx/>
              <a:buFontTx/>
              <a:buChar char="•"/>
            </a:pPr>
            <a:r>
              <a:rPr lang="en-US" altLang="en-US" sz="2400"/>
              <a:t>The CEO determines the administrative costs for the office of the CEO.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6771">
                                            <p:txEl>
                                              <p:pRg st="0" end="0"/>
                                            </p:txEl>
                                          </p:spTgt>
                                        </p:tgtEl>
                                        <p:attrNameLst>
                                          <p:attrName>style.visibility</p:attrName>
                                        </p:attrNameLst>
                                      </p:cBhvr>
                                      <p:to>
                                        <p:strVal val="visible"/>
                                      </p:to>
                                    </p:set>
                                    <p:anim calcmode="lin" valueType="num">
                                      <p:cBhvr additive="base">
                                        <p:cTn id="7" dur="500" fill="hold"/>
                                        <p:tgtEl>
                                          <p:spTgt spid="10567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56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6771">
                                            <p:txEl>
                                              <p:pRg st="2" end="2"/>
                                            </p:txEl>
                                          </p:spTgt>
                                        </p:tgtEl>
                                        <p:attrNameLst>
                                          <p:attrName>style.visibility</p:attrName>
                                        </p:attrNameLst>
                                      </p:cBhvr>
                                      <p:to>
                                        <p:strVal val="visible"/>
                                      </p:to>
                                    </p:set>
                                    <p:anim calcmode="lin" valueType="num">
                                      <p:cBhvr additive="base">
                                        <p:cTn id="13" dur="500" fill="hold"/>
                                        <p:tgtEl>
                                          <p:spTgt spid="1056771">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567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6771">
                                            <p:txEl>
                                              <p:pRg st="4" end="4"/>
                                            </p:txEl>
                                          </p:spTgt>
                                        </p:tgtEl>
                                        <p:attrNameLst>
                                          <p:attrName>style.visibility</p:attrName>
                                        </p:attrNameLst>
                                      </p:cBhvr>
                                      <p:to>
                                        <p:strVal val="visible"/>
                                      </p:to>
                                    </p:set>
                                    <p:anim calcmode="lin" valueType="num">
                                      <p:cBhvr additive="base">
                                        <p:cTn id="19" dur="500" fill="hold"/>
                                        <p:tgtEl>
                                          <p:spTgt spid="105677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567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7E2FFF6A-06D1-4684-9D89-D3BFEE4E3C00}"/>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F9D30DB8-5D55-4B5D-ABFC-83619424A264}"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20</a:t>
            </a:fld>
            <a:endParaRPr lang="en-US" altLang="en-US" sz="1400">
              <a:solidFill>
                <a:schemeClr val="tx1"/>
              </a:solidFill>
              <a:latin typeface="Times New Roman" panose="02020603050405020304" pitchFamily="18" charset="0"/>
            </a:endParaRPr>
          </a:p>
        </p:txBody>
      </p:sp>
      <p:graphicFrame>
        <p:nvGraphicFramePr>
          <p:cNvPr id="38915" name="Object 2">
            <a:extLst>
              <a:ext uri="{FF2B5EF4-FFF2-40B4-BE49-F238E27FC236}">
                <a16:creationId xmlns:a16="http://schemas.microsoft.com/office/drawing/2014/main" id="{0C575E57-A27C-48F8-9B37-9F2AD58B25D7}"/>
              </a:ext>
            </a:extLst>
          </p:cNvPr>
          <p:cNvGraphicFramePr>
            <a:graphicFrameLocks noChangeAspect="1"/>
          </p:cNvGraphicFramePr>
          <p:nvPr/>
        </p:nvGraphicFramePr>
        <p:xfrm>
          <a:off x="1828800" y="-304800"/>
          <a:ext cx="8458200" cy="8077200"/>
        </p:xfrm>
        <a:graphic>
          <a:graphicData uri="http://schemas.openxmlformats.org/presentationml/2006/ole">
            <mc:AlternateContent xmlns:mc="http://schemas.openxmlformats.org/markup-compatibility/2006">
              <mc:Choice xmlns:v="urn:schemas-microsoft-com:vml" Requires="v">
                <p:oleObj spid="_x0000_s4102" name="Worksheet" r:id="rId4" imgW="10731500" imgH="8178800" progId="Excel.Sheet.8">
                  <p:embed/>
                </p:oleObj>
              </mc:Choice>
              <mc:Fallback>
                <p:oleObj name="Worksheet" r:id="rId4" imgW="10731500" imgH="8178800" progId="Excel.Sheet.8">
                  <p:embed/>
                  <p:pic>
                    <p:nvPicPr>
                      <p:cNvPr id="38915" name="Object 2">
                        <a:extLst>
                          <a:ext uri="{FF2B5EF4-FFF2-40B4-BE49-F238E27FC236}">
                            <a16:creationId xmlns:a16="http://schemas.microsoft.com/office/drawing/2014/main" id="{0C575E57-A27C-48F8-9B37-9F2AD58B2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304800"/>
                        <a:ext cx="8458200" cy="807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8916" name="Text Box 3">
            <a:extLst>
              <a:ext uri="{FF2B5EF4-FFF2-40B4-BE49-F238E27FC236}">
                <a16:creationId xmlns:a16="http://schemas.microsoft.com/office/drawing/2014/main" id="{61D67324-F98E-4420-AC1B-454658132AAB}"/>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557060" name="Line 4">
            <a:extLst>
              <a:ext uri="{FF2B5EF4-FFF2-40B4-BE49-F238E27FC236}">
                <a16:creationId xmlns:a16="http://schemas.microsoft.com/office/drawing/2014/main" id="{0C4B856A-1CFB-4C66-B73D-848C9A97C100}"/>
              </a:ext>
            </a:extLst>
          </p:cNvPr>
          <p:cNvSpPr>
            <a:spLocks noChangeShapeType="1"/>
          </p:cNvSpPr>
          <p:nvPr/>
        </p:nvSpPr>
        <p:spPr bwMode="auto">
          <a:xfrm flipV="1">
            <a:off x="2971800" y="1066800"/>
            <a:ext cx="2362200" cy="43434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1" name="Line 5">
            <a:extLst>
              <a:ext uri="{FF2B5EF4-FFF2-40B4-BE49-F238E27FC236}">
                <a16:creationId xmlns:a16="http://schemas.microsoft.com/office/drawing/2014/main" id="{607EEDBD-EEA6-4644-B5D6-D4884338DB7D}"/>
              </a:ext>
            </a:extLst>
          </p:cNvPr>
          <p:cNvSpPr>
            <a:spLocks noChangeShapeType="1"/>
          </p:cNvSpPr>
          <p:nvPr/>
        </p:nvSpPr>
        <p:spPr bwMode="auto">
          <a:xfrm flipV="1">
            <a:off x="5257800" y="1295400"/>
            <a:ext cx="152400" cy="41148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2" name="Line 6">
            <a:extLst>
              <a:ext uri="{FF2B5EF4-FFF2-40B4-BE49-F238E27FC236}">
                <a16:creationId xmlns:a16="http://schemas.microsoft.com/office/drawing/2014/main" id="{D3CA46A2-D860-40FD-BB5D-29F1FC14C00B}"/>
              </a:ext>
            </a:extLst>
          </p:cNvPr>
          <p:cNvSpPr>
            <a:spLocks noChangeShapeType="1"/>
          </p:cNvSpPr>
          <p:nvPr/>
        </p:nvSpPr>
        <p:spPr bwMode="auto">
          <a:xfrm flipH="1" flipV="1">
            <a:off x="5791200" y="1752600"/>
            <a:ext cx="1828800" cy="36576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3" name="Line 7">
            <a:extLst>
              <a:ext uri="{FF2B5EF4-FFF2-40B4-BE49-F238E27FC236}">
                <a16:creationId xmlns:a16="http://schemas.microsoft.com/office/drawing/2014/main" id="{4E665773-644D-41DB-BBA9-7D2D9802A388}"/>
              </a:ext>
            </a:extLst>
          </p:cNvPr>
          <p:cNvSpPr>
            <a:spLocks noChangeShapeType="1"/>
          </p:cNvSpPr>
          <p:nvPr/>
        </p:nvSpPr>
        <p:spPr bwMode="auto">
          <a:xfrm flipH="1" flipV="1">
            <a:off x="5715000" y="1905000"/>
            <a:ext cx="4114800" cy="35052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5" name="Line 9">
            <a:extLst>
              <a:ext uri="{FF2B5EF4-FFF2-40B4-BE49-F238E27FC236}">
                <a16:creationId xmlns:a16="http://schemas.microsoft.com/office/drawing/2014/main" id="{2CBF1E1A-7613-4338-9F41-0106C921DBB3}"/>
              </a:ext>
            </a:extLst>
          </p:cNvPr>
          <p:cNvSpPr>
            <a:spLocks noChangeShapeType="1"/>
          </p:cNvSpPr>
          <p:nvPr/>
        </p:nvSpPr>
        <p:spPr bwMode="auto">
          <a:xfrm>
            <a:off x="2667000" y="1828800"/>
            <a:ext cx="1447800" cy="2286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557060"/>
                                        </p:tgtEl>
                                        <p:attrNameLst>
                                          <p:attrName>style.visibility</p:attrName>
                                        </p:attrNameLst>
                                      </p:cBhvr>
                                      <p:to>
                                        <p:strVal val="visible"/>
                                      </p:to>
                                    </p:set>
                                    <p:animEffect transition="in" filter="wipe(down)">
                                      <p:cBhvr>
                                        <p:cTn id="7" dur="500"/>
                                        <p:tgtEl>
                                          <p:spTgt spid="557060"/>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557061"/>
                                        </p:tgtEl>
                                        <p:attrNameLst>
                                          <p:attrName>style.visibility</p:attrName>
                                        </p:attrNameLst>
                                      </p:cBhvr>
                                      <p:to>
                                        <p:strVal val="visible"/>
                                      </p:to>
                                    </p:set>
                                    <p:animEffect transition="in" filter="wipe(down)">
                                      <p:cBhvr>
                                        <p:cTn id="11" dur="500"/>
                                        <p:tgtEl>
                                          <p:spTgt spid="557061"/>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557062"/>
                                        </p:tgtEl>
                                        <p:attrNameLst>
                                          <p:attrName>style.visibility</p:attrName>
                                        </p:attrNameLst>
                                      </p:cBhvr>
                                      <p:to>
                                        <p:strVal val="visible"/>
                                      </p:to>
                                    </p:set>
                                    <p:animEffect transition="in" filter="wipe(down)">
                                      <p:cBhvr>
                                        <p:cTn id="15" dur="500"/>
                                        <p:tgtEl>
                                          <p:spTgt spid="557062"/>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557063"/>
                                        </p:tgtEl>
                                        <p:attrNameLst>
                                          <p:attrName>style.visibility</p:attrName>
                                        </p:attrNameLst>
                                      </p:cBhvr>
                                      <p:to>
                                        <p:strVal val="visible"/>
                                      </p:to>
                                    </p:set>
                                    <p:animEffect transition="in" filter="wipe(down)">
                                      <p:cBhvr>
                                        <p:cTn id="19" dur="500"/>
                                        <p:tgtEl>
                                          <p:spTgt spid="557063"/>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557065"/>
                                        </p:tgtEl>
                                        <p:attrNameLst>
                                          <p:attrName>style.visibility</p:attrName>
                                        </p:attrNameLst>
                                      </p:cBhvr>
                                      <p:to>
                                        <p:strVal val="visible"/>
                                      </p:to>
                                    </p:set>
                                    <p:animEffect transition="in" filter="wipe(left)">
                                      <p:cBhvr>
                                        <p:cTn id="23" dur="500"/>
                                        <p:tgtEl>
                                          <p:spTgt spid="557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8D3378D-C6D7-46D5-AA5E-8F402C7FB7EB}"/>
              </a:ext>
            </a:extLst>
          </p:cNvPr>
          <p:cNvSpPr>
            <a:spLocks noGrp="1" noChangeArrowheads="1"/>
          </p:cNvSpPr>
          <p:nvPr>
            <p:ph type="title"/>
          </p:nvPr>
        </p:nvSpPr>
        <p:spPr>
          <a:xfrm>
            <a:off x="1905001" y="685800"/>
            <a:ext cx="8228013" cy="1143000"/>
          </a:xfrm>
        </p:spPr>
        <p:txBody>
          <a:bodyPr/>
          <a:lstStyle/>
          <a:p>
            <a:r>
              <a:rPr lang="en-US" altLang="en-US" b="1"/>
              <a:t>STEP 4</a:t>
            </a:r>
            <a:endParaRPr lang="en-US" altLang="en-US"/>
          </a:p>
        </p:txBody>
      </p:sp>
      <p:sp>
        <p:nvSpPr>
          <p:cNvPr id="40963" name="Slide Number Placeholder 4">
            <a:extLst>
              <a:ext uri="{FF2B5EF4-FFF2-40B4-BE49-F238E27FC236}">
                <a16:creationId xmlns:a16="http://schemas.microsoft.com/office/drawing/2014/main" id="{BB3B459F-F63C-4D98-B845-224A04EAD818}"/>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2B0FBECA-84B0-4599-9233-2520A9891772}"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21</a:t>
            </a:fld>
            <a:endParaRPr lang="en-US" altLang="en-US" sz="1400">
              <a:solidFill>
                <a:schemeClr val="tx1"/>
              </a:solidFill>
              <a:latin typeface="Times New Roman" panose="02020603050405020304" pitchFamily="18" charset="0"/>
            </a:endParaRPr>
          </a:p>
        </p:txBody>
      </p:sp>
      <p:sp>
        <p:nvSpPr>
          <p:cNvPr id="40964" name="Rectangle 3">
            <a:extLst>
              <a:ext uri="{FF2B5EF4-FFF2-40B4-BE49-F238E27FC236}">
                <a16:creationId xmlns:a16="http://schemas.microsoft.com/office/drawing/2014/main" id="{3FDE72A8-5FD0-4681-8419-A19B94288252}"/>
              </a:ext>
            </a:extLst>
          </p:cNvPr>
          <p:cNvSpPr>
            <a:spLocks noChangeArrowheads="1"/>
          </p:cNvSpPr>
          <p:nvPr/>
        </p:nvSpPr>
        <p:spPr bwMode="auto">
          <a:xfrm>
            <a:off x="2438400" y="1752600"/>
            <a:ext cx="7620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Char char="•"/>
            </a:pPr>
            <a:r>
              <a:rPr lang="en-US" altLang="en-US" sz="2400"/>
              <a:t> Once the profit centers have agreed on the budget and level of service of the excellence center they will determine how to share the costs of the excellence center, the flow from the plant and the cost of the CEO’s office.	</a:t>
            </a:r>
          </a:p>
          <a:p>
            <a:pPr>
              <a:lnSpc>
                <a:spcPct val="100000"/>
              </a:lnSpc>
              <a:spcAft>
                <a:spcPct val="0"/>
              </a:spcAft>
              <a:buClrTx/>
              <a:buSzTx/>
              <a:buFontTx/>
              <a:buChar char="•"/>
            </a:pPr>
            <a:endParaRPr lang="en-US" altLang="en-US" sz="2400"/>
          </a:p>
          <a:p>
            <a:pPr>
              <a:lnSpc>
                <a:spcPct val="100000"/>
              </a:lnSpc>
              <a:spcAft>
                <a:spcPct val="0"/>
              </a:spcAft>
              <a:buClrTx/>
              <a:buSzTx/>
              <a:buFontTx/>
              <a:buChar char="•"/>
            </a:pPr>
            <a:r>
              <a:rPr lang="en-US" altLang="en-US" sz="2400"/>
              <a:t>This sharing process results in a “roughly right” net profitability measure for the profit centers													</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395E471F-0244-4DD5-A9CA-4A4E4B0A8B43}"/>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E81BA1B7-2731-4CD4-846F-347606A03700}"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22</a:t>
            </a:fld>
            <a:endParaRPr lang="en-US" altLang="en-US" sz="1400">
              <a:solidFill>
                <a:schemeClr val="tx1"/>
              </a:solidFill>
              <a:latin typeface="Times New Roman" panose="02020603050405020304" pitchFamily="18" charset="0"/>
            </a:endParaRPr>
          </a:p>
        </p:txBody>
      </p:sp>
      <p:graphicFrame>
        <p:nvGraphicFramePr>
          <p:cNvPr id="43011" name="Object 2">
            <a:extLst>
              <a:ext uri="{FF2B5EF4-FFF2-40B4-BE49-F238E27FC236}">
                <a16:creationId xmlns:a16="http://schemas.microsoft.com/office/drawing/2014/main" id="{8A7341D2-58BA-4A21-8DE7-F5C1F3E1C607}"/>
              </a:ext>
            </a:extLst>
          </p:cNvPr>
          <p:cNvGraphicFramePr>
            <a:graphicFrameLocks noChangeAspect="1"/>
          </p:cNvGraphicFramePr>
          <p:nvPr/>
        </p:nvGraphicFramePr>
        <p:xfrm>
          <a:off x="1905000" y="381000"/>
          <a:ext cx="8458200" cy="8534400"/>
        </p:xfrm>
        <a:graphic>
          <a:graphicData uri="http://schemas.openxmlformats.org/presentationml/2006/ole">
            <mc:AlternateContent xmlns:mc="http://schemas.openxmlformats.org/markup-compatibility/2006">
              <mc:Choice xmlns:v="urn:schemas-microsoft-com:vml" Requires="v">
                <p:oleObj spid="_x0000_s5126" name="Worksheet" r:id="rId4" imgW="10731500" imgH="8686800" progId="Excel.Sheet.8">
                  <p:embed/>
                </p:oleObj>
              </mc:Choice>
              <mc:Fallback>
                <p:oleObj name="Worksheet" r:id="rId4" imgW="10731500" imgH="8686800" progId="Excel.Sheet.8">
                  <p:embed/>
                  <p:pic>
                    <p:nvPicPr>
                      <p:cNvPr id="43011" name="Object 2">
                        <a:extLst>
                          <a:ext uri="{FF2B5EF4-FFF2-40B4-BE49-F238E27FC236}">
                            <a16:creationId xmlns:a16="http://schemas.microsoft.com/office/drawing/2014/main" id="{8A7341D2-58BA-4A21-8DE7-F5C1F3E1C6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381000"/>
                        <a:ext cx="8458200" cy="853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3012" name="Text Box 3">
            <a:extLst>
              <a:ext uri="{FF2B5EF4-FFF2-40B4-BE49-F238E27FC236}">
                <a16:creationId xmlns:a16="http://schemas.microsoft.com/office/drawing/2014/main" id="{7B704DC2-4C84-43A8-8F65-2E9C9428A9D3}"/>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556036" name="Oval 4">
            <a:extLst>
              <a:ext uri="{FF2B5EF4-FFF2-40B4-BE49-F238E27FC236}">
                <a16:creationId xmlns:a16="http://schemas.microsoft.com/office/drawing/2014/main" id="{E5B46FDD-27E0-45B0-A99D-45E7F9FF3BE8}"/>
              </a:ext>
            </a:extLst>
          </p:cNvPr>
          <p:cNvSpPr>
            <a:spLocks noChangeArrowheads="1"/>
          </p:cNvSpPr>
          <p:nvPr/>
        </p:nvSpPr>
        <p:spPr bwMode="auto">
          <a:xfrm>
            <a:off x="3124200" y="5410200"/>
            <a:ext cx="533400" cy="6096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556037" name="Oval 5">
            <a:extLst>
              <a:ext uri="{FF2B5EF4-FFF2-40B4-BE49-F238E27FC236}">
                <a16:creationId xmlns:a16="http://schemas.microsoft.com/office/drawing/2014/main" id="{AE69313E-9F2F-4451-9596-CB3183FCE808}"/>
              </a:ext>
            </a:extLst>
          </p:cNvPr>
          <p:cNvSpPr>
            <a:spLocks noChangeArrowheads="1"/>
          </p:cNvSpPr>
          <p:nvPr/>
        </p:nvSpPr>
        <p:spPr bwMode="auto">
          <a:xfrm>
            <a:off x="5410200" y="5410200"/>
            <a:ext cx="533400" cy="6096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556038" name="Line 6">
            <a:extLst>
              <a:ext uri="{FF2B5EF4-FFF2-40B4-BE49-F238E27FC236}">
                <a16:creationId xmlns:a16="http://schemas.microsoft.com/office/drawing/2014/main" id="{54E810A8-CCAF-4CD8-B8F7-11506544FBAE}"/>
              </a:ext>
            </a:extLst>
          </p:cNvPr>
          <p:cNvSpPr>
            <a:spLocks noChangeShapeType="1"/>
          </p:cNvSpPr>
          <p:nvPr/>
        </p:nvSpPr>
        <p:spPr bwMode="auto">
          <a:xfrm flipH="1">
            <a:off x="3581400" y="2209800"/>
            <a:ext cx="2057400" cy="32766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6039" name="Line 7">
            <a:extLst>
              <a:ext uri="{FF2B5EF4-FFF2-40B4-BE49-F238E27FC236}">
                <a16:creationId xmlns:a16="http://schemas.microsoft.com/office/drawing/2014/main" id="{ACF776FD-F39C-4F4E-BF31-1D958393AE66}"/>
              </a:ext>
            </a:extLst>
          </p:cNvPr>
          <p:cNvSpPr>
            <a:spLocks noChangeShapeType="1"/>
          </p:cNvSpPr>
          <p:nvPr/>
        </p:nvSpPr>
        <p:spPr bwMode="auto">
          <a:xfrm>
            <a:off x="5715000" y="2209800"/>
            <a:ext cx="76200" cy="32004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56038"/>
                                        </p:tgtEl>
                                        <p:attrNameLst>
                                          <p:attrName>style.visibility</p:attrName>
                                        </p:attrNameLst>
                                      </p:cBhvr>
                                      <p:to>
                                        <p:strVal val="visible"/>
                                      </p:to>
                                    </p:set>
                                    <p:animEffect transition="in" filter="wipe(up)">
                                      <p:cBhvr>
                                        <p:cTn id="7" dur="500"/>
                                        <p:tgtEl>
                                          <p:spTgt spid="556038"/>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556036"/>
                                        </p:tgtEl>
                                        <p:attrNameLst>
                                          <p:attrName>style.visibility</p:attrName>
                                        </p:attrNameLst>
                                      </p:cBhvr>
                                      <p:to>
                                        <p:strVal val="visible"/>
                                      </p:to>
                                    </p:set>
                                    <p:animEffect transition="in" filter="box(out)">
                                      <p:cBhvr>
                                        <p:cTn id="11" dur="500"/>
                                        <p:tgtEl>
                                          <p:spTgt spid="556036"/>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56039"/>
                                        </p:tgtEl>
                                        <p:attrNameLst>
                                          <p:attrName>style.visibility</p:attrName>
                                        </p:attrNameLst>
                                      </p:cBhvr>
                                      <p:to>
                                        <p:strVal val="visible"/>
                                      </p:to>
                                    </p:set>
                                    <p:animEffect transition="in" filter="wipe(up)">
                                      <p:cBhvr>
                                        <p:cTn id="15" dur="500"/>
                                        <p:tgtEl>
                                          <p:spTgt spid="556039"/>
                                        </p:tgtEl>
                                      </p:cBhvr>
                                    </p:animEffect>
                                  </p:childTnLst>
                                </p:cTn>
                              </p:par>
                            </p:childTnLst>
                          </p:cTn>
                        </p:par>
                        <p:par>
                          <p:cTn id="16" fill="hold" nodeType="afterGroup">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556037"/>
                                        </p:tgtEl>
                                        <p:attrNameLst>
                                          <p:attrName>style.visibility</p:attrName>
                                        </p:attrNameLst>
                                      </p:cBhvr>
                                      <p:to>
                                        <p:strVal val="visible"/>
                                      </p:to>
                                    </p:set>
                                    <p:animEffect transition="in" filter="box(out)">
                                      <p:cBhvr>
                                        <p:cTn id="19" dur="500"/>
                                        <p:tgtEl>
                                          <p:spTgt spid="556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6" grpId="0" animBg="1"/>
      <p:bldP spid="5560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E962AF44-7542-4544-90B8-5E2C6EE5EF27}"/>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F9B14EC5-0B57-465E-AF38-0C66A684C4DD}"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23</a:t>
            </a:fld>
            <a:endParaRPr lang="en-US" altLang="en-US" sz="1400">
              <a:solidFill>
                <a:schemeClr val="tx1"/>
              </a:solidFill>
              <a:latin typeface="Times New Roman" panose="02020603050405020304" pitchFamily="18" charset="0"/>
            </a:endParaRPr>
          </a:p>
        </p:txBody>
      </p:sp>
      <p:graphicFrame>
        <p:nvGraphicFramePr>
          <p:cNvPr id="45059" name="Object 2">
            <a:extLst>
              <a:ext uri="{FF2B5EF4-FFF2-40B4-BE49-F238E27FC236}">
                <a16:creationId xmlns:a16="http://schemas.microsoft.com/office/drawing/2014/main" id="{50682728-554A-485F-BC7F-1688F15B6CC2}"/>
              </a:ext>
            </a:extLst>
          </p:cNvPr>
          <p:cNvGraphicFramePr>
            <a:graphicFrameLocks noChangeAspect="1"/>
          </p:cNvGraphicFramePr>
          <p:nvPr/>
        </p:nvGraphicFramePr>
        <p:xfrm>
          <a:off x="1752600" y="76200"/>
          <a:ext cx="8686800" cy="8991600"/>
        </p:xfrm>
        <a:graphic>
          <a:graphicData uri="http://schemas.openxmlformats.org/presentationml/2006/ole">
            <mc:AlternateContent xmlns:mc="http://schemas.openxmlformats.org/markup-compatibility/2006">
              <mc:Choice xmlns:v="urn:schemas-microsoft-com:vml" Requires="v">
                <p:oleObj spid="_x0000_s6150" name="Worksheet" r:id="rId4" imgW="10731500" imgH="9144000" progId="Excel.Sheet.8">
                  <p:embed/>
                </p:oleObj>
              </mc:Choice>
              <mc:Fallback>
                <p:oleObj name="Worksheet" r:id="rId4" imgW="10731500" imgH="9144000" progId="Excel.Sheet.8">
                  <p:embed/>
                  <p:pic>
                    <p:nvPicPr>
                      <p:cNvPr id="45059" name="Object 2">
                        <a:extLst>
                          <a:ext uri="{FF2B5EF4-FFF2-40B4-BE49-F238E27FC236}">
                            <a16:creationId xmlns:a16="http://schemas.microsoft.com/office/drawing/2014/main" id="{50682728-554A-485F-BC7F-1688F15B6C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76200"/>
                        <a:ext cx="8686800" cy="899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5060" name="Text Box 3">
            <a:extLst>
              <a:ext uri="{FF2B5EF4-FFF2-40B4-BE49-F238E27FC236}">
                <a16:creationId xmlns:a16="http://schemas.microsoft.com/office/drawing/2014/main" id="{DC8D5485-262B-4E80-9632-73ADAB28E37E}"/>
              </a:ext>
            </a:extLst>
          </p:cNvPr>
          <p:cNvSpPr txBox="1">
            <a:spLocks noChangeArrowheads="1"/>
          </p:cNvSpPr>
          <p:nvPr/>
        </p:nvSpPr>
        <p:spPr bwMode="auto">
          <a:xfrm>
            <a:off x="3581401" y="152401"/>
            <a:ext cx="54524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3200">
                <a:solidFill>
                  <a:schemeClr val="tx1"/>
                </a:solidFill>
                <a:latin typeface="Times New Roman" panose="02020603050405020304" pitchFamily="18" charset="0"/>
              </a:rPr>
              <a:t>CEO &amp; TRADITIONAL VIEW</a:t>
            </a:r>
          </a:p>
        </p:txBody>
      </p:sp>
      <p:sp>
        <p:nvSpPr>
          <p:cNvPr id="555012" name="Oval 4">
            <a:extLst>
              <a:ext uri="{FF2B5EF4-FFF2-40B4-BE49-F238E27FC236}">
                <a16:creationId xmlns:a16="http://schemas.microsoft.com/office/drawing/2014/main" id="{B5FBEBD5-72C2-4AAD-823E-4528DA4EBE95}"/>
              </a:ext>
            </a:extLst>
          </p:cNvPr>
          <p:cNvSpPr>
            <a:spLocks noChangeArrowheads="1"/>
          </p:cNvSpPr>
          <p:nvPr/>
        </p:nvSpPr>
        <p:spPr bwMode="auto">
          <a:xfrm>
            <a:off x="6096000" y="685800"/>
            <a:ext cx="2362200" cy="28956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555012"/>
                                        </p:tgtEl>
                                        <p:attrNameLst>
                                          <p:attrName>style.visibility</p:attrName>
                                        </p:attrNameLst>
                                      </p:cBhvr>
                                      <p:to>
                                        <p:strVal val="visible"/>
                                      </p:to>
                                    </p:set>
                                    <p:animEffect transition="in" filter="box(out)">
                                      <p:cBhvr>
                                        <p:cTn id="7" dur="500"/>
                                        <p:tgtEl>
                                          <p:spTgt spid="555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a:extLst>
              <a:ext uri="{FF2B5EF4-FFF2-40B4-BE49-F238E27FC236}">
                <a16:creationId xmlns:a16="http://schemas.microsoft.com/office/drawing/2014/main" id="{32C91E72-1F82-4668-A60F-161EBA236D5A}"/>
              </a:ext>
            </a:extLst>
          </p:cNvPr>
          <p:cNvSpPr>
            <a:spLocks noGrp="1" noChangeArrowheads="1"/>
          </p:cNvSpPr>
          <p:nvPr>
            <p:ph type="title"/>
          </p:nvPr>
        </p:nvSpPr>
        <p:spPr>
          <a:xfrm>
            <a:off x="1676400" y="419100"/>
            <a:ext cx="7772400" cy="1143000"/>
          </a:xfrm>
        </p:spPr>
        <p:txBody>
          <a:bodyPr/>
          <a:lstStyle/>
          <a:p>
            <a:r>
              <a:rPr lang="en-US" altLang="en-US"/>
              <a:t>USEAGE OF </a:t>
            </a:r>
            <a:r>
              <a:rPr lang="en-US" altLang="en-US">
                <a:solidFill>
                  <a:srgbClr val="3333FF"/>
                </a:solidFill>
              </a:rPr>
              <a:t>TERMS</a:t>
            </a:r>
            <a:endParaRPr lang="en-US" altLang="en-US"/>
          </a:p>
        </p:txBody>
      </p:sp>
      <p:sp>
        <p:nvSpPr>
          <p:cNvPr id="47107" name="Slide Number Placeholder 4">
            <a:extLst>
              <a:ext uri="{FF2B5EF4-FFF2-40B4-BE49-F238E27FC236}">
                <a16:creationId xmlns:a16="http://schemas.microsoft.com/office/drawing/2014/main" id="{52824E48-3563-4BFE-B58E-76658C8670CA}"/>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AE243CCA-184C-4B96-95A7-EC16C0E751FA}"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24</a:t>
            </a:fld>
            <a:endParaRPr lang="en-US" altLang="en-US" sz="1400">
              <a:solidFill>
                <a:schemeClr val="tx1"/>
              </a:solidFill>
              <a:latin typeface="Times New Roman" panose="02020603050405020304" pitchFamily="18" charset="0"/>
            </a:endParaRPr>
          </a:p>
        </p:txBody>
      </p:sp>
      <p:graphicFrame>
        <p:nvGraphicFramePr>
          <p:cNvPr id="47108" name="Object 2">
            <a:extLst>
              <a:ext uri="{FF2B5EF4-FFF2-40B4-BE49-F238E27FC236}">
                <a16:creationId xmlns:a16="http://schemas.microsoft.com/office/drawing/2014/main" id="{0D79FE6E-DB6A-46DA-BCF1-9D3DEB80FE1B}"/>
              </a:ext>
            </a:extLst>
          </p:cNvPr>
          <p:cNvGraphicFramePr>
            <a:graphicFrameLocks noChangeAspect="1"/>
          </p:cNvGraphicFramePr>
          <p:nvPr/>
        </p:nvGraphicFramePr>
        <p:xfrm>
          <a:off x="1752600" y="533400"/>
          <a:ext cx="8610600" cy="8229600"/>
        </p:xfrm>
        <a:graphic>
          <a:graphicData uri="http://schemas.openxmlformats.org/presentationml/2006/ole">
            <mc:AlternateContent xmlns:mc="http://schemas.openxmlformats.org/markup-compatibility/2006">
              <mc:Choice xmlns:v="urn:schemas-microsoft-com:vml" Requires="v">
                <p:oleObj spid="_x0000_s7174" name="Worksheet" r:id="rId4" imgW="10731500" imgH="9144000" progId="Excel.Sheet.8">
                  <p:embed/>
                </p:oleObj>
              </mc:Choice>
              <mc:Fallback>
                <p:oleObj name="Worksheet" r:id="rId4" imgW="10731500" imgH="9144000" progId="Excel.Sheet.8">
                  <p:embed/>
                  <p:pic>
                    <p:nvPicPr>
                      <p:cNvPr id="47108" name="Object 2">
                        <a:extLst>
                          <a:ext uri="{FF2B5EF4-FFF2-40B4-BE49-F238E27FC236}">
                            <a16:creationId xmlns:a16="http://schemas.microsoft.com/office/drawing/2014/main" id="{0D79FE6E-DB6A-46DA-BCF1-9D3DEB80FE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533400"/>
                        <a:ext cx="8610600" cy="822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7109" name="Oval 4">
            <a:extLst>
              <a:ext uri="{FF2B5EF4-FFF2-40B4-BE49-F238E27FC236}">
                <a16:creationId xmlns:a16="http://schemas.microsoft.com/office/drawing/2014/main" id="{7673FAAA-3BD0-4420-9134-BF13EEDF4BAF}"/>
              </a:ext>
            </a:extLst>
          </p:cNvPr>
          <p:cNvSpPr>
            <a:spLocks noChangeArrowheads="1"/>
          </p:cNvSpPr>
          <p:nvPr/>
        </p:nvSpPr>
        <p:spPr bwMode="auto">
          <a:xfrm>
            <a:off x="1676400" y="3733800"/>
            <a:ext cx="990600" cy="2590800"/>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endParaRPr lang="en-US" altLang="en-US" sz="5400">
              <a:solidFill>
                <a:schemeClr val="tx1"/>
              </a:solidFill>
              <a:latin typeface="Times New Roman" panose="02020603050405020304" pitchFamily="18" charset="0"/>
            </a:endParaRPr>
          </a:p>
        </p:txBody>
      </p:sp>
      <p:sp>
        <p:nvSpPr>
          <p:cNvPr id="47110" name="Oval 5">
            <a:extLst>
              <a:ext uri="{FF2B5EF4-FFF2-40B4-BE49-F238E27FC236}">
                <a16:creationId xmlns:a16="http://schemas.microsoft.com/office/drawing/2014/main" id="{C9E61984-B4DB-40A1-B223-3406A34CB9AE}"/>
              </a:ext>
            </a:extLst>
          </p:cNvPr>
          <p:cNvSpPr>
            <a:spLocks noChangeArrowheads="1"/>
          </p:cNvSpPr>
          <p:nvPr/>
        </p:nvSpPr>
        <p:spPr bwMode="auto">
          <a:xfrm>
            <a:off x="3886200" y="990600"/>
            <a:ext cx="990600" cy="2438400"/>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endParaRPr lang="en-US" altLang="en-US" sz="5400">
              <a:solidFill>
                <a:schemeClr val="tx1"/>
              </a:solidFill>
              <a:latin typeface="Times New Roman" panose="02020603050405020304" pitchFamily="18" charset="0"/>
            </a:endParaRPr>
          </a:p>
        </p:txBody>
      </p:sp>
      <p:sp>
        <p:nvSpPr>
          <p:cNvPr id="47111" name="Oval 6">
            <a:extLst>
              <a:ext uri="{FF2B5EF4-FFF2-40B4-BE49-F238E27FC236}">
                <a16:creationId xmlns:a16="http://schemas.microsoft.com/office/drawing/2014/main" id="{BD04B87F-0BE4-45EE-BE0A-35952F95ED3E}"/>
              </a:ext>
            </a:extLst>
          </p:cNvPr>
          <p:cNvSpPr>
            <a:spLocks noChangeArrowheads="1"/>
          </p:cNvSpPr>
          <p:nvPr/>
        </p:nvSpPr>
        <p:spPr bwMode="auto">
          <a:xfrm>
            <a:off x="3962400" y="3810000"/>
            <a:ext cx="990600" cy="2590800"/>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endParaRPr lang="en-US" altLang="en-US" sz="5400">
              <a:solidFill>
                <a:schemeClr val="tx1"/>
              </a:solidFill>
              <a:latin typeface="Times New Roman" panose="02020603050405020304" pitchFamily="18" charset="0"/>
            </a:endParaRPr>
          </a:p>
        </p:txBody>
      </p:sp>
      <p:sp>
        <p:nvSpPr>
          <p:cNvPr id="47112" name="Oval 7">
            <a:extLst>
              <a:ext uri="{FF2B5EF4-FFF2-40B4-BE49-F238E27FC236}">
                <a16:creationId xmlns:a16="http://schemas.microsoft.com/office/drawing/2014/main" id="{F2074822-7486-4A5E-81AD-D88B1BA0C104}"/>
              </a:ext>
            </a:extLst>
          </p:cNvPr>
          <p:cNvSpPr>
            <a:spLocks noChangeArrowheads="1"/>
          </p:cNvSpPr>
          <p:nvPr/>
        </p:nvSpPr>
        <p:spPr bwMode="auto">
          <a:xfrm>
            <a:off x="6172200" y="3810000"/>
            <a:ext cx="990600" cy="2590800"/>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endParaRPr lang="en-US" altLang="en-US" sz="5400">
              <a:solidFill>
                <a:schemeClr val="tx1"/>
              </a:solidFill>
              <a:latin typeface="Times New Roman" panose="02020603050405020304" pitchFamily="18" charset="0"/>
            </a:endParaRPr>
          </a:p>
        </p:txBody>
      </p:sp>
      <p:sp>
        <p:nvSpPr>
          <p:cNvPr id="47113" name="Oval 8">
            <a:extLst>
              <a:ext uri="{FF2B5EF4-FFF2-40B4-BE49-F238E27FC236}">
                <a16:creationId xmlns:a16="http://schemas.microsoft.com/office/drawing/2014/main" id="{6CE6A7B0-2717-4FBD-8E1B-FA32E34BB3F3}"/>
              </a:ext>
            </a:extLst>
          </p:cNvPr>
          <p:cNvSpPr>
            <a:spLocks noChangeArrowheads="1"/>
          </p:cNvSpPr>
          <p:nvPr/>
        </p:nvSpPr>
        <p:spPr bwMode="auto">
          <a:xfrm>
            <a:off x="8382000" y="3810000"/>
            <a:ext cx="990600" cy="2590800"/>
          </a:xfrm>
          <a:prstGeom prst="ellipse">
            <a:avLst/>
          </a:prstGeom>
          <a:noFill/>
          <a:ln w="38100">
            <a:solidFill>
              <a:srgbClr val="3333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endParaRPr lang="en-US" altLang="en-US" sz="5400">
              <a:solidFill>
                <a:schemeClr val="tx1"/>
              </a:solidFill>
              <a:latin typeface="Times New Roman" panose="02020603050405020304" pitchFamily="18" charset="0"/>
            </a:endParaRPr>
          </a:p>
        </p:txBody>
      </p:sp>
      <p:sp>
        <p:nvSpPr>
          <p:cNvPr id="47114" name="Line 9">
            <a:extLst>
              <a:ext uri="{FF2B5EF4-FFF2-40B4-BE49-F238E27FC236}">
                <a16:creationId xmlns:a16="http://schemas.microsoft.com/office/drawing/2014/main" id="{BAE8454C-7E3D-4A1B-91B4-115AED256BD5}"/>
              </a:ext>
            </a:extLst>
          </p:cNvPr>
          <p:cNvSpPr>
            <a:spLocks noChangeShapeType="1"/>
          </p:cNvSpPr>
          <p:nvPr/>
        </p:nvSpPr>
        <p:spPr bwMode="auto">
          <a:xfrm flipH="1">
            <a:off x="2667000" y="838200"/>
            <a:ext cx="5486400" cy="4038600"/>
          </a:xfrm>
          <a:prstGeom prst="line">
            <a:avLst/>
          </a:prstGeom>
          <a:noFill/>
          <a:ln w="38100">
            <a:solidFill>
              <a:srgbClr val="3333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15" name="Line 10">
            <a:extLst>
              <a:ext uri="{FF2B5EF4-FFF2-40B4-BE49-F238E27FC236}">
                <a16:creationId xmlns:a16="http://schemas.microsoft.com/office/drawing/2014/main" id="{E625A73B-381C-4559-9CD5-01AAC4E8A2E3}"/>
              </a:ext>
            </a:extLst>
          </p:cNvPr>
          <p:cNvSpPr>
            <a:spLocks noChangeShapeType="1"/>
          </p:cNvSpPr>
          <p:nvPr/>
        </p:nvSpPr>
        <p:spPr bwMode="auto">
          <a:xfrm flipH="1">
            <a:off x="4953000" y="838200"/>
            <a:ext cx="3200400" cy="4038600"/>
          </a:xfrm>
          <a:prstGeom prst="line">
            <a:avLst/>
          </a:prstGeom>
          <a:noFill/>
          <a:ln w="38100">
            <a:solidFill>
              <a:srgbClr val="3333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16" name="Line 11">
            <a:extLst>
              <a:ext uri="{FF2B5EF4-FFF2-40B4-BE49-F238E27FC236}">
                <a16:creationId xmlns:a16="http://schemas.microsoft.com/office/drawing/2014/main" id="{9E6A1FE2-7527-4BBA-B7D8-C3F2A6C435DF}"/>
              </a:ext>
            </a:extLst>
          </p:cNvPr>
          <p:cNvSpPr>
            <a:spLocks noChangeShapeType="1"/>
          </p:cNvSpPr>
          <p:nvPr/>
        </p:nvSpPr>
        <p:spPr bwMode="auto">
          <a:xfrm flipH="1">
            <a:off x="7162800" y="838200"/>
            <a:ext cx="990600" cy="4114800"/>
          </a:xfrm>
          <a:prstGeom prst="line">
            <a:avLst/>
          </a:prstGeom>
          <a:noFill/>
          <a:ln w="38100">
            <a:solidFill>
              <a:srgbClr val="3333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17" name="Line 12">
            <a:extLst>
              <a:ext uri="{FF2B5EF4-FFF2-40B4-BE49-F238E27FC236}">
                <a16:creationId xmlns:a16="http://schemas.microsoft.com/office/drawing/2014/main" id="{5F345A63-B356-4AF5-B2E0-0DE2AB5152DD}"/>
              </a:ext>
            </a:extLst>
          </p:cNvPr>
          <p:cNvSpPr>
            <a:spLocks noChangeShapeType="1"/>
          </p:cNvSpPr>
          <p:nvPr/>
        </p:nvSpPr>
        <p:spPr bwMode="auto">
          <a:xfrm>
            <a:off x="8153400" y="838200"/>
            <a:ext cx="228600" cy="4114800"/>
          </a:xfrm>
          <a:prstGeom prst="line">
            <a:avLst/>
          </a:prstGeom>
          <a:noFill/>
          <a:ln w="38100">
            <a:solidFill>
              <a:srgbClr val="3333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118" name="Line 13">
            <a:extLst>
              <a:ext uri="{FF2B5EF4-FFF2-40B4-BE49-F238E27FC236}">
                <a16:creationId xmlns:a16="http://schemas.microsoft.com/office/drawing/2014/main" id="{7A3540D7-2FA1-4EC1-90B3-8EFB44E647FF}"/>
              </a:ext>
            </a:extLst>
          </p:cNvPr>
          <p:cNvSpPr>
            <a:spLocks noChangeShapeType="1"/>
          </p:cNvSpPr>
          <p:nvPr/>
        </p:nvSpPr>
        <p:spPr bwMode="auto">
          <a:xfrm flipH="1">
            <a:off x="4876800" y="838200"/>
            <a:ext cx="3276600" cy="1219200"/>
          </a:xfrm>
          <a:prstGeom prst="line">
            <a:avLst/>
          </a:prstGeom>
          <a:noFill/>
          <a:ln w="38100">
            <a:solidFill>
              <a:srgbClr val="3333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3B75CAE-3DB1-4B1D-B481-B6CBCDD28541}"/>
              </a:ext>
            </a:extLst>
          </p:cNvPr>
          <p:cNvSpPr>
            <a:spLocks noChangeArrowheads="1"/>
          </p:cNvSpPr>
          <p:nvPr/>
        </p:nvSpPr>
        <p:spPr bwMode="auto">
          <a:xfrm>
            <a:off x="4013200" y="609600"/>
            <a:ext cx="1752600" cy="304800"/>
          </a:xfrm>
          <a:prstGeom prst="rect">
            <a:avLst/>
          </a:prstGeom>
          <a:solidFill>
            <a:srgbClr val="77C56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55" name="Text Box 3">
            <a:extLst>
              <a:ext uri="{FF2B5EF4-FFF2-40B4-BE49-F238E27FC236}">
                <a16:creationId xmlns:a16="http://schemas.microsoft.com/office/drawing/2014/main" id="{9F49511D-EE95-418B-AC34-895B72F08DC5}"/>
              </a:ext>
            </a:extLst>
          </p:cNvPr>
          <p:cNvSpPr txBox="1">
            <a:spLocks noChangeArrowheads="1"/>
          </p:cNvSpPr>
          <p:nvPr/>
        </p:nvSpPr>
        <p:spPr bwMode="auto">
          <a:xfrm>
            <a:off x="4628596" y="342901"/>
            <a:ext cx="5741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CEO</a:t>
            </a:r>
          </a:p>
        </p:txBody>
      </p:sp>
      <p:sp>
        <p:nvSpPr>
          <p:cNvPr id="49156" name="Rectangle 4">
            <a:extLst>
              <a:ext uri="{FF2B5EF4-FFF2-40B4-BE49-F238E27FC236}">
                <a16:creationId xmlns:a16="http://schemas.microsoft.com/office/drawing/2014/main" id="{259B7214-20B9-42B0-A2BC-004E0F60C5B2}"/>
              </a:ext>
            </a:extLst>
          </p:cNvPr>
          <p:cNvSpPr>
            <a:spLocks noChangeArrowheads="1"/>
          </p:cNvSpPr>
          <p:nvPr/>
        </p:nvSpPr>
        <p:spPr bwMode="auto">
          <a:xfrm>
            <a:off x="1981200" y="3886200"/>
            <a:ext cx="1752600" cy="2514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57" name="Rectangle 5">
            <a:extLst>
              <a:ext uri="{FF2B5EF4-FFF2-40B4-BE49-F238E27FC236}">
                <a16:creationId xmlns:a16="http://schemas.microsoft.com/office/drawing/2014/main" id="{9CCC1064-56A4-48AE-B32B-346DAD00DDB7}"/>
              </a:ext>
            </a:extLst>
          </p:cNvPr>
          <p:cNvSpPr>
            <a:spLocks noChangeArrowheads="1"/>
          </p:cNvSpPr>
          <p:nvPr/>
        </p:nvSpPr>
        <p:spPr bwMode="auto">
          <a:xfrm>
            <a:off x="1981200" y="3581400"/>
            <a:ext cx="1752600" cy="304800"/>
          </a:xfrm>
          <a:prstGeom prst="rect">
            <a:avLst/>
          </a:prstGeom>
          <a:solidFill>
            <a:srgbClr val="77C56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58" name="Text Box 6">
            <a:extLst>
              <a:ext uri="{FF2B5EF4-FFF2-40B4-BE49-F238E27FC236}">
                <a16:creationId xmlns:a16="http://schemas.microsoft.com/office/drawing/2014/main" id="{7AE196B7-4DDA-4A7C-A20B-6FBAD55FE881}"/>
              </a:ext>
            </a:extLst>
          </p:cNvPr>
          <p:cNvSpPr txBox="1">
            <a:spLocks noChangeArrowheads="1"/>
          </p:cNvSpPr>
          <p:nvPr/>
        </p:nvSpPr>
        <p:spPr bwMode="auto">
          <a:xfrm>
            <a:off x="2357710" y="3276601"/>
            <a:ext cx="105990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Computers</a:t>
            </a:r>
          </a:p>
        </p:txBody>
      </p:sp>
      <p:sp>
        <p:nvSpPr>
          <p:cNvPr id="49159" name="Rectangle 7">
            <a:extLst>
              <a:ext uri="{FF2B5EF4-FFF2-40B4-BE49-F238E27FC236}">
                <a16:creationId xmlns:a16="http://schemas.microsoft.com/office/drawing/2014/main" id="{C046BDB4-906B-4FB7-A63F-D8F173DA6233}"/>
              </a:ext>
            </a:extLst>
          </p:cNvPr>
          <p:cNvSpPr>
            <a:spLocks noChangeArrowheads="1"/>
          </p:cNvSpPr>
          <p:nvPr/>
        </p:nvSpPr>
        <p:spPr bwMode="auto">
          <a:xfrm>
            <a:off x="4038600" y="3581400"/>
            <a:ext cx="1752600" cy="304800"/>
          </a:xfrm>
          <a:prstGeom prst="rect">
            <a:avLst/>
          </a:prstGeom>
          <a:solidFill>
            <a:srgbClr val="77C56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60" name="Text Box 8">
            <a:extLst>
              <a:ext uri="{FF2B5EF4-FFF2-40B4-BE49-F238E27FC236}">
                <a16:creationId xmlns:a16="http://schemas.microsoft.com/office/drawing/2014/main" id="{2A4F891A-9FDD-487B-89D9-B6286943573D}"/>
              </a:ext>
            </a:extLst>
          </p:cNvPr>
          <p:cNvSpPr txBox="1">
            <a:spLocks noChangeArrowheads="1"/>
          </p:cNvSpPr>
          <p:nvPr/>
        </p:nvSpPr>
        <p:spPr bwMode="auto">
          <a:xfrm>
            <a:off x="4596540" y="3276601"/>
            <a:ext cx="80182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Printers</a:t>
            </a:r>
          </a:p>
        </p:txBody>
      </p:sp>
      <p:sp>
        <p:nvSpPr>
          <p:cNvPr id="49161" name="Rectangle 9">
            <a:extLst>
              <a:ext uri="{FF2B5EF4-FFF2-40B4-BE49-F238E27FC236}">
                <a16:creationId xmlns:a16="http://schemas.microsoft.com/office/drawing/2014/main" id="{23885D1F-7EA1-47E9-BEA2-0421040CCFD3}"/>
              </a:ext>
            </a:extLst>
          </p:cNvPr>
          <p:cNvSpPr>
            <a:spLocks noChangeArrowheads="1"/>
          </p:cNvSpPr>
          <p:nvPr/>
        </p:nvSpPr>
        <p:spPr bwMode="auto">
          <a:xfrm>
            <a:off x="6248400" y="3581400"/>
            <a:ext cx="1752600" cy="304800"/>
          </a:xfrm>
          <a:prstGeom prst="rect">
            <a:avLst/>
          </a:prstGeom>
          <a:solidFill>
            <a:srgbClr val="FFFF00"/>
          </a:solidFill>
          <a:ln w="9525">
            <a:solidFill>
              <a:schemeClr val="tx1"/>
            </a:solidFill>
            <a:miter lim="800000"/>
            <a:headEnd/>
            <a:tailEnd/>
          </a:ln>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62" name="Text Box 10">
            <a:extLst>
              <a:ext uri="{FF2B5EF4-FFF2-40B4-BE49-F238E27FC236}">
                <a16:creationId xmlns:a16="http://schemas.microsoft.com/office/drawing/2014/main" id="{76EA4E7B-3559-445A-B895-ED65D8A4754A}"/>
              </a:ext>
            </a:extLst>
          </p:cNvPr>
          <p:cNvSpPr txBox="1">
            <a:spLocks noChangeArrowheads="1"/>
          </p:cNvSpPr>
          <p:nvPr/>
        </p:nvSpPr>
        <p:spPr bwMode="auto">
          <a:xfrm>
            <a:off x="6809728" y="3276601"/>
            <a:ext cx="5934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Plant</a:t>
            </a:r>
          </a:p>
        </p:txBody>
      </p:sp>
      <p:sp>
        <p:nvSpPr>
          <p:cNvPr id="49163" name="Rectangle 11">
            <a:extLst>
              <a:ext uri="{FF2B5EF4-FFF2-40B4-BE49-F238E27FC236}">
                <a16:creationId xmlns:a16="http://schemas.microsoft.com/office/drawing/2014/main" id="{6210F536-A576-4E2D-A9B3-A2F4386433B3}"/>
              </a:ext>
            </a:extLst>
          </p:cNvPr>
          <p:cNvSpPr>
            <a:spLocks noChangeArrowheads="1"/>
          </p:cNvSpPr>
          <p:nvPr/>
        </p:nvSpPr>
        <p:spPr bwMode="auto">
          <a:xfrm>
            <a:off x="8305800" y="3581400"/>
            <a:ext cx="1752600" cy="30480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64" name="Text Box 12">
            <a:extLst>
              <a:ext uri="{FF2B5EF4-FFF2-40B4-BE49-F238E27FC236}">
                <a16:creationId xmlns:a16="http://schemas.microsoft.com/office/drawing/2014/main" id="{0B0FE15B-4DCB-4CE4-9A08-193BCD38D727}"/>
              </a:ext>
            </a:extLst>
          </p:cNvPr>
          <p:cNvSpPr txBox="1">
            <a:spLocks noChangeArrowheads="1"/>
          </p:cNvSpPr>
          <p:nvPr/>
        </p:nvSpPr>
        <p:spPr bwMode="auto">
          <a:xfrm>
            <a:off x="8485188" y="3276600"/>
            <a:ext cx="1308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Administration</a:t>
            </a:r>
          </a:p>
        </p:txBody>
      </p:sp>
      <p:sp>
        <p:nvSpPr>
          <p:cNvPr id="49165" name="Text Box 13">
            <a:extLst>
              <a:ext uri="{FF2B5EF4-FFF2-40B4-BE49-F238E27FC236}">
                <a16:creationId xmlns:a16="http://schemas.microsoft.com/office/drawing/2014/main" id="{B5241963-B2E0-4154-A92A-0EADA0723896}"/>
              </a:ext>
            </a:extLst>
          </p:cNvPr>
          <p:cNvSpPr txBox="1">
            <a:spLocks noChangeArrowheads="1"/>
          </p:cNvSpPr>
          <p:nvPr/>
        </p:nvSpPr>
        <p:spPr bwMode="auto">
          <a:xfrm>
            <a:off x="1905000" y="5676901"/>
            <a:ext cx="132600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Contribution to CEO</a:t>
            </a:r>
          </a:p>
        </p:txBody>
      </p:sp>
      <p:sp>
        <p:nvSpPr>
          <p:cNvPr id="49166" name="Line 14">
            <a:extLst>
              <a:ext uri="{FF2B5EF4-FFF2-40B4-BE49-F238E27FC236}">
                <a16:creationId xmlns:a16="http://schemas.microsoft.com/office/drawing/2014/main" id="{C088FDC1-BDE7-4A3A-931A-B8DBB83FB957}"/>
              </a:ext>
            </a:extLst>
          </p:cNvPr>
          <p:cNvSpPr>
            <a:spLocks noChangeShapeType="1"/>
          </p:cNvSpPr>
          <p:nvPr/>
        </p:nvSpPr>
        <p:spPr bwMode="auto">
          <a:xfrm>
            <a:off x="31242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7" name="Line 15">
            <a:extLst>
              <a:ext uri="{FF2B5EF4-FFF2-40B4-BE49-F238E27FC236}">
                <a16:creationId xmlns:a16="http://schemas.microsoft.com/office/drawing/2014/main" id="{D30BA93F-8F91-440E-A9D3-E223C06A2AB0}"/>
              </a:ext>
            </a:extLst>
          </p:cNvPr>
          <p:cNvSpPr>
            <a:spLocks noChangeShapeType="1"/>
          </p:cNvSpPr>
          <p:nvPr/>
        </p:nvSpPr>
        <p:spPr bwMode="auto">
          <a:xfrm>
            <a:off x="3124200" y="4724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8" name="Line 16">
            <a:extLst>
              <a:ext uri="{FF2B5EF4-FFF2-40B4-BE49-F238E27FC236}">
                <a16:creationId xmlns:a16="http://schemas.microsoft.com/office/drawing/2014/main" id="{60BFB1F5-D80F-42B0-99D7-8446B4A38033}"/>
              </a:ext>
            </a:extLst>
          </p:cNvPr>
          <p:cNvSpPr>
            <a:spLocks noChangeShapeType="1"/>
          </p:cNvSpPr>
          <p:nvPr/>
        </p:nvSpPr>
        <p:spPr bwMode="auto">
          <a:xfrm>
            <a:off x="3124200" y="5715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69" name="Line 17">
            <a:extLst>
              <a:ext uri="{FF2B5EF4-FFF2-40B4-BE49-F238E27FC236}">
                <a16:creationId xmlns:a16="http://schemas.microsoft.com/office/drawing/2014/main" id="{B9F43168-6355-4ECB-8F0F-B19AE95153D4}"/>
              </a:ext>
            </a:extLst>
          </p:cNvPr>
          <p:cNvSpPr>
            <a:spLocks noChangeShapeType="1"/>
          </p:cNvSpPr>
          <p:nvPr/>
        </p:nvSpPr>
        <p:spPr bwMode="auto">
          <a:xfrm>
            <a:off x="3124200" y="556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0" name="Line 18">
            <a:extLst>
              <a:ext uri="{FF2B5EF4-FFF2-40B4-BE49-F238E27FC236}">
                <a16:creationId xmlns:a16="http://schemas.microsoft.com/office/drawing/2014/main" id="{41AC6A9A-E44B-4057-A657-59F202C3BAC1}"/>
              </a:ext>
            </a:extLst>
          </p:cNvPr>
          <p:cNvSpPr>
            <a:spLocks noChangeShapeType="1"/>
          </p:cNvSpPr>
          <p:nvPr/>
        </p:nvSpPr>
        <p:spPr bwMode="auto">
          <a:xfrm>
            <a:off x="3124200" y="5867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1" name="Line 19">
            <a:extLst>
              <a:ext uri="{FF2B5EF4-FFF2-40B4-BE49-F238E27FC236}">
                <a16:creationId xmlns:a16="http://schemas.microsoft.com/office/drawing/2014/main" id="{C3C4B5B4-0AD1-4E53-BD3A-2FF0C3FFE588}"/>
              </a:ext>
            </a:extLst>
          </p:cNvPr>
          <p:cNvSpPr>
            <a:spLocks noChangeShapeType="1"/>
          </p:cNvSpPr>
          <p:nvPr/>
        </p:nvSpPr>
        <p:spPr bwMode="auto">
          <a:xfrm>
            <a:off x="3124200" y="61722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2" name="Line 20">
            <a:extLst>
              <a:ext uri="{FF2B5EF4-FFF2-40B4-BE49-F238E27FC236}">
                <a16:creationId xmlns:a16="http://schemas.microsoft.com/office/drawing/2014/main" id="{6CDE0A64-AB5E-4C61-A27F-DA4E8005BE8B}"/>
              </a:ext>
            </a:extLst>
          </p:cNvPr>
          <p:cNvSpPr>
            <a:spLocks noChangeShapeType="1"/>
          </p:cNvSpPr>
          <p:nvPr/>
        </p:nvSpPr>
        <p:spPr bwMode="auto">
          <a:xfrm>
            <a:off x="3124200" y="6324600"/>
            <a:ext cx="53340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3" name="Rectangle 21">
            <a:extLst>
              <a:ext uri="{FF2B5EF4-FFF2-40B4-BE49-F238E27FC236}">
                <a16:creationId xmlns:a16="http://schemas.microsoft.com/office/drawing/2014/main" id="{A4A328FD-0E68-454B-AED7-5564AAE0E99F}"/>
              </a:ext>
            </a:extLst>
          </p:cNvPr>
          <p:cNvSpPr>
            <a:spLocks noChangeArrowheads="1"/>
          </p:cNvSpPr>
          <p:nvPr/>
        </p:nvSpPr>
        <p:spPr bwMode="auto">
          <a:xfrm>
            <a:off x="4038600" y="3886200"/>
            <a:ext cx="1752600" cy="2514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74" name="Line 22">
            <a:extLst>
              <a:ext uri="{FF2B5EF4-FFF2-40B4-BE49-F238E27FC236}">
                <a16:creationId xmlns:a16="http://schemas.microsoft.com/office/drawing/2014/main" id="{798DC354-5786-47E7-879F-34487DCB5180}"/>
              </a:ext>
            </a:extLst>
          </p:cNvPr>
          <p:cNvSpPr>
            <a:spLocks noChangeShapeType="1"/>
          </p:cNvSpPr>
          <p:nvPr/>
        </p:nvSpPr>
        <p:spPr bwMode="auto">
          <a:xfrm>
            <a:off x="51816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5" name="Line 23">
            <a:extLst>
              <a:ext uri="{FF2B5EF4-FFF2-40B4-BE49-F238E27FC236}">
                <a16:creationId xmlns:a16="http://schemas.microsoft.com/office/drawing/2014/main" id="{E5425DA2-BA5A-4FEB-9499-BAD2BC0D8AC8}"/>
              </a:ext>
            </a:extLst>
          </p:cNvPr>
          <p:cNvSpPr>
            <a:spLocks noChangeShapeType="1"/>
          </p:cNvSpPr>
          <p:nvPr/>
        </p:nvSpPr>
        <p:spPr bwMode="auto">
          <a:xfrm>
            <a:off x="5181600" y="4724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6" name="Line 24">
            <a:extLst>
              <a:ext uri="{FF2B5EF4-FFF2-40B4-BE49-F238E27FC236}">
                <a16:creationId xmlns:a16="http://schemas.microsoft.com/office/drawing/2014/main" id="{3D3455D2-8A35-46D3-AD41-C99B8DF7A3E6}"/>
              </a:ext>
            </a:extLst>
          </p:cNvPr>
          <p:cNvSpPr>
            <a:spLocks noChangeShapeType="1"/>
          </p:cNvSpPr>
          <p:nvPr/>
        </p:nvSpPr>
        <p:spPr bwMode="auto">
          <a:xfrm>
            <a:off x="5181600" y="5715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7" name="Line 25">
            <a:extLst>
              <a:ext uri="{FF2B5EF4-FFF2-40B4-BE49-F238E27FC236}">
                <a16:creationId xmlns:a16="http://schemas.microsoft.com/office/drawing/2014/main" id="{C6D1DE30-153C-47DB-B23B-7ADF7FAA9947}"/>
              </a:ext>
            </a:extLst>
          </p:cNvPr>
          <p:cNvSpPr>
            <a:spLocks noChangeShapeType="1"/>
          </p:cNvSpPr>
          <p:nvPr/>
        </p:nvSpPr>
        <p:spPr bwMode="auto">
          <a:xfrm>
            <a:off x="5181600" y="556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8" name="Line 26">
            <a:extLst>
              <a:ext uri="{FF2B5EF4-FFF2-40B4-BE49-F238E27FC236}">
                <a16:creationId xmlns:a16="http://schemas.microsoft.com/office/drawing/2014/main" id="{A11598FD-A689-4C83-89C8-DB4546810345}"/>
              </a:ext>
            </a:extLst>
          </p:cNvPr>
          <p:cNvSpPr>
            <a:spLocks noChangeShapeType="1"/>
          </p:cNvSpPr>
          <p:nvPr/>
        </p:nvSpPr>
        <p:spPr bwMode="auto">
          <a:xfrm>
            <a:off x="5181600" y="5867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9" name="Line 27">
            <a:extLst>
              <a:ext uri="{FF2B5EF4-FFF2-40B4-BE49-F238E27FC236}">
                <a16:creationId xmlns:a16="http://schemas.microsoft.com/office/drawing/2014/main" id="{59211CDF-DF17-4F48-A37C-B820979AB2EE}"/>
              </a:ext>
            </a:extLst>
          </p:cNvPr>
          <p:cNvSpPr>
            <a:spLocks noChangeShapeType="1"/>
          </p:cNvSpPr>
          <p:nvPr/>
        </p:nvSpPr>
        <p:spPr bwMode="auto">
          <a:xfrm>
            <a:off x="5181600" y="61722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0" name="Line 28">
            <a:extLst>
              <a:ext uri="{FF2B5EF4-FFF2-40B4-BE49-F238E27FC236}">
                <a16:creationId xmlns:a16="http://schemas.microsoft.com/office/drawing/2014/main" id="{17A4A7F3-5FAB-47C6-92F6-200C9EF7AC4A}"/>
              </a:ext>
            </a:extLst>
          </p:cNvPr>
          <p:cNvSpPr>
            <a:spLocks noChangeShapeType="1"/>
          </p:cNvSpPr>
          <p:nvPr/>
        </p:nvSpPr>
        <p:spPr bwMode="auto">
          <a:xfrm>
            <a:off x="5181600" y="6324600"/>
            <a:ext cx="53340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1" name="Rectangle 29">
            <a:extLst>
              <a:ext uri="{FF2B5EF4-FFF2-40B4-BE49-F238E27FC236}">
                <a16:creationId xmlns:a16="http://schemas.microsoft.com/office/drawing/2014/main" id="{4C92D116-791C-467A-9C8F-F8070E3CC90F}"/>
              </a:ext>
            </a:extLst>
          </p:cNvPr>
          <p:cNvSpPr>
            <a:spLocks noChangeArrowheads="1"/>
          </p:cNvSpPr>
          <p:nvPr/>
        </p:nvSpPr>
        <p:spPr bwMode="auto">
          <a:xfrm>
            <a:off x="6248400" y="3886200"/>
            <a:ext cx="1752600" cy="2514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82" name="Text Box 30">
            <a:extLst>
              <a:ext uri="{FF2B5EF4-FFF2-40B4-BE49-F238E27FC236}">
                <a16:creationId xmlns:a16="http://schemas.microsoft.com/office/drawing/2014/main" id="{EC4A66DB-0818-460C-BC7D-6DD25A8AB4BB}"/>
              </a:ext>
            </a:extLst>
          </p:cNvPr>
          <p:cNvSpPr txBox="1">
            <a:spLocks noChangeArrowheads="1"/>
          </p:cNvSpPr>
          <p:nvPr/>
        </p:nvSpPr>
        <p:spPr bwMode="auto">
          <a:xfrm>
            <a:off x="6172201" y="5676901"/>
            <a:ext cx="90922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Flow to CEO</a:t>
            </a:r>
          </a:p>
        </p:txBody>
      </p:sp>
      <p:sp>
        <p:nvSpPr>
          <p:cNvPr id="49183" name="Line 31">
            <a:extLst>
              <a:ext uri="{FF2B5EF4-FFF2-40B4-BE49-F238E27FC236}">
                <a16:creationId xmlns:a16="http://schemas.microsoft.com/office/drawing/2014/main" id="{9C2396DD-36E4-4E9F-B21D-E0135DAF45C2}"/>
              </a:ext>
            </a:extLst>
          </p:cNvPr>
          <p:cNvSpPr>
            <a:spLocks noChangeShapeType="1"/>
          </p:cNvSpPr>
          <p:nvPr/>
        </p:nvSpPr>
        <p:spPr bwMode="auto">
          <a:xfrm>
            <a:off x="73914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4" name="Line 32">
            <a:extLst>
              <a:ext uri="{FF2B5EF4-FFF2-40B4-BE49-F238E27FC236}">
                <a16:creationId xmlns:a16="http://schemas.microsoft.com/office/drawing/2014/main" id="{4A4CFED2-7455-46D8-BF27-DFA3C06D82B5}"/>
              </a:ext>
            </a:extLst>
          </p:cNvPr>
          <p:cNvSpPr>
            <a:spLocks noChangeShapeType="1"/>
          </p:cNvSpPr>
          <p:nvPr/>
        </p:nvSpPr>
        <p:spPr bwMode="auto">
          <a:xfrm>
            <a:off x="7391400" y="4724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5" name="Line 33">
            <a:extLst>
              <a:ext uri="{FF2B5EF4-FFF2-40B4-BE49-F238E27FC236}">
                <a16:creationId xmlns:a16="http://schemas.microsoft.com/office/drawing/2014/main" id="{CBCC5D97-19A2-49E3-AA5A-B667DE89FE5A}"/>
              </a:ext>
            </a:extLst>
          </p:cNvPr>
          <p:cNvSpPr>
            <a:spLocks noChangeShapeType="1"/>
          </p:cNvSpPr>
          <p:nvPr/>
        </p:nvSpPr>
        <p:spPr bwMode="auto">
          <a:xfrm>
            <a:off x="7391400" y="5715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6" name="Line 34">
            <a:extLst>
              <a:ext uri="{FF2B5EF4-FFF2-40B4-BE49-F238E27FC236}">
                <a16:creationId xmlns:a16="http://schemas.microsoft.com/office/drawing/2014/main" id="{85D4D19C-8D7D-48EB-81F5-30C428432432}"/>
              </a:ext>
            </a:extLst>
          </p:cNvPr>
          <p:cNvSpPr>
            <a:spLocks noChangeShapeType="1"/>
          </p:cNvSpPr>
          <p:nvPr/>
        </p:nvSpPr>
        <p:spPr bwMode="auto">
          <a:xfrm>
            <a:off x="7391400" y="556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7" name="Line 35">
            <a:extLst>
              <a:ext uri="{FF2B5EF4-FFF2-40B4-BE49-F238E27FC236}">
                <a16:creationId xmlns:a16="http://schemas.microsoft.com/office/drawing/2014/main" id="{D0F8580F-9B7A-4F70-864D-0899706E3BF0}"/>
              </a:ext>
            </a:extLst>
          </p:cNvPr>
          <p:cNvSpPr>
            <a:spLocks noChangeShapeType="1"/>
          </p:cNvSpPr>
          <p:nvPr/>
        </p:nvSpPr>
        <p:spPr bwMode="auto">
          <a:xfrm>
            <a:off x="7391400" y="5867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88" name="Rectangle 36">
            <a:extLst>
              <a:ext uri="{FF2B5EF4-FFF2-40B4-BE49-F238E27FC236}">
                <a16:creationId xmlns:a16="http://schemas.microsoft.com/office/drawing/2014/main" id="{1474BF7A-7743-452C-8CBC-E4DB2A0AF08D}"/>
              </a:ext>
            </a:extLst>
          </p:cNvPr>
          <p:cNvSpPr>
            <a:spLocks noChangeArrowheads="1"/>
          </p:cNvSpPr>
          <p:nvPr/>
        </p:nvSpPr>
        <p:spPr bwMode="auto">
          <a:xfrm>
            <a:off x="8305800" y="3886200"/>
            <a:ext cx="1752600" cy="2514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89" name="Line 37">
            <a:extLst>
              <a:ext uri="{FF2B5EF4-FFF2-40B4-BE49-F238E27FC236}">
                <a16:creationId xmlns:a16="http://schemas.microsoft.com/office/drawing/2014/main" id="{E3219E11-06DB-46D8-93BE-1553F39FF29C}"/>
              </a:ext>
            </a:extLst>
          </p:cNvPr>
          <p:cNvSpPr>
            <a:spLocks noChangeShapeType="1"/>
          </p:cNvSpPr>
          <p:nvPr/>
        </p:nvSpPr>
        <p:spPr bwMode="auto">
          <a:xfrm>
            <a:off x="94488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0" name="Line 38">
            <a:extLst>
              <a:ext uri="{FF2B5EF4-FFF2-40B4-BE49-F238E27FC236}">
                <a16:creationId xmlns:a16="http://schemas.microsoft.com/office/drawing/2014/main" id="{7AB2ABEA-D1A5-4727-839A-9EA60A760F6F}"/>
              </a:ext>
            </a:extLst>
          </p:cNvPr>
          <p:cNvSpPr>
            <a:spLocks noChangeShapeType="1"/>
          </p:cNvSpPr>
          <p:nvPr/>
        </p:nvSpPr>
        <p:spPr bwMode="auto">
          <a:xfrm>
            <a:off x="9448800" y="4724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1" name="Line 39">
            <a:extLst>
              <a:ext uri="{FF2B5EF4-FFF2-40B4-BE49-F238E27FC236}">
                <a16:creationId xmlns:a16="http://schemas.microsoft.com/office/drawing/2014/main" id="{D7088B3F-D72F-4607-9F71-85B8155046C5}"/>
              </a:ext>
            </a:extLst>
          </p:cNvPr>
          <p:cNvSpPr>
            <a:spLocks noChangeShapeType="1"/>
          </p:cNvSpPr>
          <p:nvPr/>
        </p:nvSpPr>
        <p:spPr bwMode="auto">
          <a:xfrm>
            <a:off x="9448800" y="5715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2" name="Line 40">
            <a:extLst>
              <a:ext uri="{FF2B5EF4-FFF2-40B4-BE49-F238E27FC236}">
                <a16:creationId xmlns:a16="http://schemas.microsoft.com/office/drawing/2014/main" id="{3F5FA460-8A71-4DD7-ABAA-11C158D5E539}"/>
              </a:ext>
            </a:extLst>
          </p:cNvPr>
          <p:cNvSpPr>
            <a:spLocks noChangeShapeType="1"/>
          </p:cNvSpPr>
          <p:nvPr/>
        </p:nvSpPr>
        <p:spPr bwMode="auto">
          <a:xfrm>
            <a:off x="9448800" y="556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3" name="Line 41">
            <a:extLst>
              <a:ext uri="{FF2B5EF4-FFF2-40B4-BE49-F238E27FC236}">
                <a16:creationId xmlns:a16="http://schemas.microsoft.com/office/drawing/2014/main" id="{AF08BC7A-B8B0-4B62-ABCD-4AD35BB80EF0}"/>
              </a:ext>
            </a:extLst>
          </p:cNvPr>
          <p:cNvSpPr>
            <a:spLocks noChangeShapeType="1"/>
          </p:cNvSpPr>
          <p:nvPr/>
        </p:nvSpPr>
        <p:spPr bwMode="auto">
          <a:xfrm>
            <a:off x="9448800" y="5867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4" name="Rectangle 42">
            <a:extLst>
              <a:ext uri="{FF2B5EF4-FFF2-40B4-BE49-F238E27FC236}">
                <a16:creationId xmlns:a16="http://schemas.microsoft.com/office/drawing/2014/main" id="{BED0C7AA-6EEE-465D-B627-4267A73EC4FB}"/>
              </a:ext>
            </a:extLst>
          </p:cNvPr>
          <p:cNvSpPr>
            <a:spLocks noChangeArrowheads="1"/>
          </p:cNvSpPr>
          <p:nvPr/>
        </p:nvSpPr>
        <p:spPr bwMode="auto">
          <a:xfrm>
            <a:off x="4013200" y="914400"/>
            <a:ext cx="1752600" cy="2362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195" name="Text Box 43">
            <a:extLst>
              <a:ext uri="{FF2B5EF4-FFF2-40B4-BE49-F238E27FC236}">
                <a16:creationId xmlns:a16="http://schemas.microsoft.com/office/drawing/2014/main" id="{1C5525C7-319B-4C49-85D5-4B1C487DC6C5}"/>
              </a:ext>
            </a:extLst>
          </p:cNvPr>
          <p:cNvSpPr txBox="1">
            <a:spLocks noChangeArrowheads="1"/>
          </p:cNvSpPr>
          <p:nvPr/>
        </p:nvSpPr>
        <p:spPr bwMode="auto">
          <a:xfrm>
            <a:off x="3937001" y="939801"/>
            <a:ext cx="6174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Inflows:</a:t>
            </a:r>
            <a:endParaRPr lang="en-US" altLang="en-US" sz="1200">
              <a:solidFill>
                <a:schemeClr val="tx1"/>
              </a:solidFill>
            </a:endParaRPr>
          </a:p>
        </p:txBody>
      </p:sp>
      <p:sp>
        <p:nvSpPr>
          <p:cNvPr id="49196" name="Text Box 44">
            <a:extLst>
              <a:ext uri="{FF2B5EF4-FFF2-40B4-BE49-F238E27FC236}">
                <a16:creationId xmlns:a16="http://schemas.microsoft.com/office/drawing/2014/main" id="{3A601AEE-F6DE-4B38-B84C-A49EB18533F0}"/>
              </a:ext>
            </a:extLst>
          </p:cNvPr>
          <p:cNvSpPr txBox="1">
            <a:spLocks noChangeArrowheads="1"/>
          </p:cNvSpPr>
          <p:nvPr/>
        </p:nvSpPr>
        <p:spPr bwMode="auto">
          <a:xfrm>
            <a:off x="3937001" y="1701801"/>
            <a:ext cx="7168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Outflows:</a:t>
            </a:r>
          </a:p>
        </p:txBody>
      </p:sp>
      <p:sp>
        <p:nvSpPr>
          <p:cNvPr id="49197" name="Text Box 45">
            <a:extLst>
              <a:ext uri="{FF2B5EF4-FFF2-40B4-BE49-F238E27FC236}">
                <a16:creationId xmlns:a16="http://schemas.microsoft.com/office/drawing/2014/main" id="{92C530AA-C960-4018-9F55-94A33AEAEC3B}"/>
              </a:ext>
            </a:extLst>
          </p:cNvPr>
          <p:cNvSpPr txBox="1">
            <a:spLocks noChangeArrowheads="1"/>
          </p:cNvSpPr>
          <p:nvPr/>
        </p:nvSpPr>
        <p:spPr bwMode="auto">
          <a:xfrm>
            <a:off x="4735427" y="15240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198" name="Text Box 46">
            <a:extLst>
              <a:ext uri="{FF2B5EF4-FFF2-40B4-BE49-F238E27FC236}">
                <a16:creationId xmlns:a16="http://schemas.microsoft.com/office/drawing/2014/main" id="{F8ED6F4F-C78C-438B-A1A9-B2684F8D39FE}"/>
              </a:ext>
            </a:extLst>
          </p:cNvPr>
          <p:cNvSpPr txBox="1">
            <a:spLocks noChangeArrowheads="1"/>
          </p:cNvSpPr>
          <p:nvPr/>
        </p:nvSpPr>
        <p:spPr bwMode="auto">
          <a:xfrm>
            <a:off x="4735427" y="23622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199" name="Text Box 47">
            <a:extLst>
              <a:ext uri="{FF2B5EF4-FFF2-40B4-BE49-F238E27FC236}">
                <a16:creationId xmlns:a16="http://schemas.microsoft.com/office/drawing/2014/main" id="{6B0827EC-1CCF-4B71-B839-F33C14A76333}"/>
              </a:ext>
            </a:extLst>
          </p:cNvPr>
          <p:cNvSpPr txBox="1">
            <a:spLocks noChangeArrowheads="1"/>
          </p:cNvSpPr>
          <p:nvPr/>
        </p:nvSpPr>
        <p:spPr bwMode="auto">
          <a:xfrm>
            <a:off x="3937001" y="2590800"/>
            <a:ext cx="1048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Contribution to </a:t>
            </a:r>
          </a:p>
          <a:p>
            <a:pPr eaLnBrk="1" hangingPunct="1">
              <a:lnSpc>
                <a:spcPct val="100000"/>
              </a:lnSpc>
              <a:spcAft>
                <a:spcPct val="0"/>
              </a:spcAft>
              <a:buClrTx/>
              <a:buSzTx/>
              <a:buFontTx/>
              <a:buNone/>
            </a:pPr>
            <a:r>
              <a:rPr lang="en-US" altLang="en-US" sz="1000">
                <a:solidFill>
                  <a:schemeClr val="tx1"/>
                </a:solidFill>
              </a:rPr>
              <a:t>shareholders</a:t>
            </a:r>
          </a:p>
        </p:txBody>
      </p:sp>
      <p:sp>
        <p:nvSpPr>
          <p:cNvPr id="49200" name="Line 48">
            <a:extLst>
              <a:ext uri="{FF2B5EF4-FFF2-40B4-BE49-F238E27FC236}">
                <a16:creationId xmlns:a16="http://schemas.microsoft.com/office/drawing/2014/main" id="{DA8CAFE2-2DDD-4173-AB10-4DD8B21F5B95}"/>
              </a:ext>
            </a:extLst>
          </p:cNvPr>
          <p:cNvSpPr>
            <a:spLocks noChangeShapeType="1"/>
          </p:cNvSpPr>
          <p:nvPr/>
        </p:nvSpPr>
        <p:spPr bwMode="auto">
          <a:xfrm>
            <a:off x="5156200" y="175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1" name="Line 49">
            <a:extLst>
              <a:ext uri="{FF2B5EF4-FFF2-40B4-BE49-F238E27FC236}">
                <a16:creationId xmlns:a16="http://schemas.microsoft.com/office/drawing/2014/main" id="{0B46A3D5-CCCF-47E1-9FF0-9BA95DCF196A}"/>
              </a:ext>
            </a:extLst>
          </p:cNvPr>
          <p:cNvSpPr>
            <a:spLocks noChangeShapeType="1"/>
          </p:cNvSpPr>
          <p:nvPr/>
        </p:nvSpPr>
        <p:spPr bwMode="auto">
          <a:xfrm>
            <a:off x="5156200" y="16002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2" name="Line 50">
            <a:extLst>
              <a:ext uri="{FF2B5EF4-FFF2-40B4-BE49-F238E27FC236}">
                <a16:creationId xmlns:a16="http://schemas.microsoft.com/office/drawing/2014/main" id="{353F479C-53D7-431E-8CC3-C5A561AB210F}"/>
              </a:ext>
            </a:extLst>
          </p:cNvPr>
          <p:cNvSpPr>
            <a:spLocks noChangeShapeType="1"/>
          </p:cNvSpPr>
          <p:nvPr/>
        </p:nvSpPr>
        <p:spPr bwMode="auto">
          <a:xfrm>
            <a:off x="5156200" y="2590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3" name="Line 51">
            <a:extLst>
              <a:ext uri="{FF2B5EF4-FFF2-40B4-BE49-F238E27FC236}">
                <a16:creationId xmlns:a16="http://schemas.microsoft.com/office/drawing/2014/main" id="{668CB968-AC4A-46FC-A444-D333B6F7E338}"/>
              </a:ext>
            </a:extLst>
          </p:cNvPr>
          <p:cNvSpPr>
            <a:spLocks noChangeShapeType="1"/>
          </p:cNvSpPr>
          <p:nvPr/>
        </p:nvSpPr>
        <p:spPr bwMode="auto">
          <a:xfrm>
            <a:off x="5156200" y="2438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4" name="Line 52">
            <a:extLst>
              <a:ext uri="{FF2B5EF4-FFF2-40B4-BE49-F238E27FC236}">
                <a16:creationId xmlns:a16="http://schemas.microsoft.com/office/drawing/2014/main" id="{2CAC5ACD-CF5D-4BAF-B66D-48B17FB7716D}"/>
              </a:ext>
            </a:extLst>
          </p:cNvPr>
          <p:cNvSpPr>
            <a:spLocks noChangeShapeType="1"/>
          </p:cNvSpPr>
          <p:nvPr/>
        </p:nvSpPr>
        <p:spPr bwMode="auto">
          <a:xfrm>
            <a:off x="5156200" y="2895600"/>
            <a:ext cx="53340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05" name="Text Box 53">
            <a:extLst>
              <a:ext uri="{FF2B5EF4-FFF2-40B4-BE49-F238E27FC236}">
                <a16:creationId xmlns:a16="http://schemas.microsoft.com/office/drawing/2014/main" id="{85A790DF-323D-4F0A-A41C-DCCC0CB21770}"/>
              </a:ext>
            </a:extLst>
          </p:cNvPr>
          <p:cNvSpPr txBox="1">
            <a:spLocks noChangeArrowheads="1"/>
          </p:cNvSpPr>
          <p:nvPr/>
        </p:nvSpPr>
        <p:spPr bwMode="auto">
          <a:xfrm>
            <a:off x="4291014" y="596900"/>
            <a:ext cx="1139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sl-SI" altLang="en-US" sz="1400">
                <a:solidFill>
                  <a:schemeClr val="tx1"/>
                </a:solidFill>
              </a:rPr>
              <a:t>Profit cent</a:t>
            </a:r>
            <a:r>
              <a:rPr lang="en-US" altLang="en-US" sz="1400">
                <a:solidFill>
                  <a:schemeClr val="tx1"/>
                </a:solidFill>
              </a:rPr>
              <a:t>e</a:t>
            </a:r>
            <a:r>
              <a:rPr lang="sl-SI" altLang="en-US" sz="1400">
                <a:solidFill>
                  <a:schemeClr val="tx1"/>
                </a:solidFill>
              </a:rPr>
              <a:t>r</a:t>
            </a:r>
            <a:endParaRPr lang="en-US" altLang="en-US" sz="1400">
              <a:solidFill>
                <a:schemeClr val="tx1"/>
              </a:solidFill>
            </a:endParaRPr>
          </a:p>
        </p:txBody>
      </p:sp>
      <p:sp>
        <p:nvSpPr>
          <p:cNvPr id="49206" name="Text Box 54">
            <a:extLst>
              <a:ext uri="{FF2B5EF4-FFF2-40B4-BE49-F238E27FC236}">
                <a16:creationId xmlns:a16="http://schemas.microsoft.com/office/drawing/2014/main" id="{0EC7509D-D47F-41D6-9899-D290F3F115DA}"/>
              </a:ext>
            </a:extLst>
          </p:cNvPr>
          <p:cNvSpPr txBox="1">
            <a:spLocks noChangeArrowheads="1"/>
          </p:cNvSpPr>
          <p:nvPr/>
        </p:nvSpPr>
        <p:spPr bwMode="auto">
          <a:xfrm>
            <a:off x="2309814" y="3568700"/>
            <a:ext cx="1139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sl-SI" altLang="en-US" sz="1400">
                <a:solidFill>
                  <a:schemeClr val="tx1"/>
                </a:solidFill>
              </a:rPr>
              <a:t>Profit</a:t>
            </a:r>
            <a:r>
              <a:rPr lang="en-US" altLang="en-US" sz="1400">
                <a:solidFill>
                  <a:schemeClr val="tx1"/>
                </a:solidFill>
              </a:rPr>
              <a:t> </a:t>
            </a:r>
            <a:r>
              <a:rPr lang="sl-SI" altLang="en-US" sz="1400">
                <a:solidFill>
                  <a:schemeClr val="tx1"/>
                </a:solidFill>
              </a:rPr>
              <a:t>cent</a:t>
            </a:r>
            <a:r>
              <a:rPr lang="en-US" altLang="en-US" sz="1400">
                <a:solidFill>
                  <a:schemeClr val="tx1"/>
                </a:solidFill>
              </a:rPr>
              <a:t>e</a:t>
            </a:r>
            <a:r>
              <a:rPr lang="sl-SI" altLang="en-US" sz="1400">
                <a:solidFill>
                  <a:schemeClr val="tx1"/>
                </a:solidFill>
              </a:rPr>
              <a:t>r</a:t>
            </a:r>
            <a:endParaRPr lang="en-US" altLang="en-US" sz="1400">
              <a:solidFill>
                <a:schemeClr val="tx1"/>
              </a:solidFill>
            </a:endParaRPr>
          </a:p>
        </p:txBody>
      </p:sp>
      <p:sp>
        <p:nvSpPr>
          <p:cNvPr id="49207" name="Text Box 55">
            <a:extLst>
              <a:ext uri="{FF2B5EF4-FFF2-40B4-BE49-F238E27FC236}">
                <a16:creationId xmlns:a16="http://schemas.microsoft.com/office/drawing/2014/main" id="{1C22202C-F259-4DAD-B8AF-7BE32ECBB37B}"/>
              </a:ext>
            </a:extLst>
          </p:cNvPr>
          <p:cNvSpPr txBox="1">
            <a:spLocks noChangeArrowheads="1"/>
          </p:cNvSpPr>
          <p:nvPr/>
        </p:nvSpPr>
        <p:spPr bwMode="auto">
          <a:xfrm>
            <a:off x="4316414" y="3568700"/>
            <a:ext cx="11398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sl-SI" altLang="en-US" sz="1400">
                <a:solidFill>
                  <a:schemeClr val="tx1"/>
                </a:solidFill>
              </a:rPr>
              <a:t>Profit cent</a:t>
            </a:r>
            <a:r>
              <a:rPr lang="en-US" altLang="en-US" sz="1400">
                <a:solidFill>
                  <a:schemeClr val="tx1"/>
                </a:solidFill>
              </a:rPr>
              <a:t>e</a:t>
            </a:r>
            <a:r>
              <a:rPr lang="sl-SI" altLang="en-US" sz="1400">
                <a:solidFill>
                  <a:schemeClr val="tx1"/>
                </a:solidFill>
              </a:rPr>
              <a:t>r</a:t>
            </a:r>
            <a:endParaRPr lang="en-US" altLang="en-US" sz="1400">
              <a:solidFill>
                <a:schemeClr val="tx1"/>
              </a:solidFill>
            </a:endParaRPr>
          </a:p>
        </p:txBody>
      </p:sp>
      <p:sp>
        <p:nvSpPr>
          <p:cNvPr id="49208" name="Text Box 56">
            <a:extLst>
              <a:ext uri="{FF2B5EF4-FFF2-40B4-BE49-F238E27FC236}">
                <a16:creationId xmlns:a16="http://schemas.microsoft.com/office/drawing/2014/main" id="{D8C94F8A-FC48-46B5-8486-EDC6FA30A37A}"/>
              </a:ext>
            </a:extLst>
          </p:cNvPr>
          <p:cNvSpPr txBox="1">
            <a:spLocks noChangeArrowheads="1"/>
          </p:cNvSpPr>
          <p:nvPr/>
        </p:nvSpPr>
        <p:spPr bwMode="auto">
          <a:xfrm>
            <a:off x="6467476" y="3568700"/>
            <a:ext cx="1317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Service </a:t>
            </a:r>
            <a:r>
              <a:rPr lang="sl-SI" altLang="en-US" sz="1400">
                <a:solidFill>
                  <a:schemeClr val="tx1"/>
                </a:solidFill>
              </a:rPr>
              <a:t>cent</a:t>
            </a:r>
            <a:r>
              <a:rPr lang="en-US" altLang="en-US" sz="1400">
                <a:solidFill>
                  <a:schemeClr val="tx1"/>
                </a:solidFill>
              </a:rPr>
              <a:t>e</a:t>
            </a:r>
            <a:r>
              <a:rPr lang="sl-SI" altLang="en-US" sz="1400">
                <a:solidFill>
                  <a:schemeClr val="tx1"/>
                </a:solidFill>
              </a:rPr>
              <a:t>r</a:t>
            </a:r>
            <a:endParaRPr lang="en-US" altLang="en-US" sz="1400">
              <a:solidFill>
                <a:schemeClr val="tx1"/>
              </a:solidFill>
            </a:endParaRPr>
          </a:p>
        </p:txBody>
      </p:sp>
      <p:sp>
        <p:nvSpPr>
          <p:cNvPr id="49209" name="Text Box 57">
            <a:extLst>
              <a:ext uri="{FF2B5EF4-FFF2-40B4-BE49-F238E27FC236}">
                <a16:creationId xmlns:a16="http://schemas.microsoft.com/office/drawing/2014/main" id="{85A5E01B-A276-463C-8DFF-2925BB94BD77}"/>
              </a:ext>
            </a:extLst>
          </p:cNvPr>
          <p:cNvSpPr txBox="1">
            <a:spLocks noChangeArrowheads="1"/>
          </p:cNvSpPr>
          <p:nvPr/>
        </p:nvSpPr>
        <p:spPr bwMode="auto">
          <a:xfrm>
            <a:off x="8391526" y="3581400"/>
            <a:ext cx="1584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chemeClr val="tx1"/>
                </a:solidFill>
              </a:rPr>
              <a:t>Excellence </a:t>
            </a:r>
            <a:r>
              <a:rPr lang="sl-SI" altLang="en-US" sz="1400">
                <a:solidFill>
                  <a:schemeClr val="tx1"/>
                </a:solidFill>
              </a:rPr>
              <a:t>cent</a:t>
            </a:r>
            <a:r>
              <a:rPr lang="en-US" altLang="en-US" sz="1400">
                <a:solidFill>
                  <a:schemeClr val="tx1"/>
                </a:solidFill>
              </a:rPr>
              <a:t>e</a:t>
            </a:r>
            <a:r>
              <a:rPr lang="sl-SI" altLang="en-US" sz="1400">
                <a:solidFill>
                  <a:schemeClr val="tx1"/>
                </a:solidFill>
              </a:rPr>
              <a:t>r</a:t>
            </a:r>
            <a:endParaRPr lang="en-US" altLang="en-US" sz="1400">
              <a:solidFill>
                <a:schemeClr val="tx1"/>
              </a:solidFill>
            </a:endParaRPr>
          </a:p>
        </p:txBody>
      </p:sp>
      <p:sp>
        <p:nvSpPr>
          <p:cNvPr id="49210" name="Text Box 58">
            <a:extLst>
              <a:ext uri="{FF2B5EF4-FFF2-40B4-BE49-F238E27FC236}">
                <a16:creationId xmlns:a16="http://schemas.microsoft.com/office/drawing/2014/main" id="{212C55FA-45EA-463C-8C55-FE793BBADF81}"/>
              </a:ext>
            </a:extLst>
          </p:cNvPr>
          <p:cNvSpPr txBox="1">
            <a:spLocks noChangeArrowheads="1"/>
          </p:cNvSpPr>
          <p:nvPr/>
        </p:nvSpPr>
        <p:spPr bwMode="auto">
          <a:xfrm>
            <a:off x="1917701" y="3873501"/>
            <a:ext cx="6174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Inflows:</a:t>
            </a:r>
            <a:endParaRPr lang="en-US" altLang="en-US" sz="1200">
              <a:solidFill>
                <a:schemeClr val="tx1"/>
              </a:solidFill>
            </a:endParaRPr>
          </a:p>
        </p:txBody>
      </p:sp>
      <p:sp>
        <p:nvSpPr>
          <p:cNvPr id="49211" name="Text Box 59">
            <a:extLst>
              <a:ext uri="{FF2B5EF4-FFF2-40B4-BE49-F238E27FC236}">
                <a16:creationId xmlns:a16="http://schemas.microsoft.com/office/drawing/2014/main" id="{C6AA6C9B-8C46-40AD-801E-FC6908378E53}"/>
              </a:ext>
            </a:extLst>
          </p:cNvPr>
          <p:cNvSpPr txBox="1">
            <a:spLocks noChangeArrowheads="1"/>
          </p:cNvSpPr>
          <p:nvPr/>
        </p:nvSpPr>
        <p:spPr bwMode="auto">
          <a:xfrm>
            <a:off x="1917701" y="4838701"/>
            <a:ext cx="7168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Outflows:</a:t>
            </a:r>
          </a:p>
        </p:txBody>
      </p:sp>
      <p:sp>
        <p:nvSpPr>
          <p:cNvPr id="49212" name="Text Box 60">
            <a:extLst>
              <a:ext uri="{FF2B5EF4-FFF2-40B4-BE49-F238E27FC236}">
                <a16:creationId xmlns:a16="http://schemas.microsoft.com/office/drawing/2014/main" id="{2351651F-C2F0-4F9F-AFCF-270AC0AC9EB5}"/>
              </a:ext>
            </a:extLst>
          </p:cNvPr>
          <p:cNvSpPr txBox="1">
            <a:spLocks noChangeArrowheads="1"/>
          </p:cNvSpPr>
          <p:nvPr/>
        </p:nvSpPr>
        <p:spPr bwMode="auto">
          <a:xfrm>
            <a:off x="2741527" y="46609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13" name="Text Box 61">
            <a:extLst>
              <a:ext uri="{FF2B5EF4-FFF2-40B4-BE49-F238E27FC236}">
                <a16:creationId xmlns:a16="http://schemas.microsoft.com/office/drawing/2014/main" id="{998E5C44-E225-4D9F-83A6-B30940DD8C85}"/>
              </a:ext>
            </a:extLst>
          </p:cNvPr>
          <p:cNvSpPr txBox="1">
            <a:spLocks noChangeArrowheads="1"/>
          </p:cNvSpPr>
          <p:nvPr/>
        </p:nvSpPr>
        <p:spPr bwMode="auto">
          <a:xfrm>
            <a:off x="2741527" y="54991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14" name="Text Box 62">
            <a:extLst>
              <a:ext uri="{FF2B5EF4-FFF2-40B4-BE49-F238E27FC236}">
                <a16:creationId xmlns:a16="http://schemas.microsoft.com/office/drawing/2014/main" id="{A0162506-B04E-4B6C-9A1B-7AE903AD7769}"/>
              </a:ext>
            </a:extLst>
          </p:cNvPr>
          <p:cNvSpPr txBox="1">
            <a:spLocks noChangeArrowheads="1"/>
          </p:cNvSpPr>
          <p:nvPr/>
        </p:nvSpPr>
        <p:spPr bwMode="auto">
          <a:xfrm>
            <a:off x="3975100" y="5676901"/>
            <a:ext cx="132600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Contribution to CEO</a:t>
            </a:r>
          </a:p>
        </p:txBody>
      </p:sp>
      <p:sp>
        <p:nvSpPr>
          <p:cNvPr id="49215" name="Text Box 63">
            <a:extLst>
              <a:ext uri="{FF2B5EF4-FFF2-40B4-BE49-F238E27FC236}">
                <a16:creationId xmlns:a16="http://schemas.microsoft.com/office/drawing/2014/main" id="{130CFC9F-017C-4914-939A-C56FD8A1351F}"/>
              </a:ext>
            </a:extLst>
          </p:cNvPr>
          <p:cNvSpPr txBox="1">
            <a:spLocks noChangeArrowheads="1"/>
          </p:cNvSpPr>
          <p:nvPr/>
        </p:nvSpPr>
        <p:spPr bwMode="auto">
          <a:xfrm>
            <a:off x="3987801" y="3873501"/>
            <a:ext cx="6174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Inflows:</a:t>
            </a:r>
            <a:endParaRPr lang="en-US" altLang="en-US" sz="1200">
              <a:solidFill>
                <a:schemeClr val="tx1"/>
              </a:solidFill>
            </a:endParaRPr>
          </a:p>
        </p:txBody>
      </p:sp>
      <p:sp>
        <p:nvSpPr>
          <p:cNvPr id="49216" name="Text Box 64">
            <a:extLst>
              <a:ext uri="{FF2B5EF4-FFF2-40B4-BE49-F238E27FC236}">
                <a16:creationId xmlns:a16="http://schemas.microsoft.com/office/drawing/2014/main" id="{474CDF79-CCC7-448E-99E5-C5328E1533B3}"/>
              </a:ext>
            </a:extLst>
          </p:cNvPr>
          <p:cNvSpPr txBox="1">
            <a:spLocks noChangeArrowheads="1"/>
          </p:cNvSpPr>
          <p:nvPr/>
        </p:nvSpPr>
        <p:spPr bwMode="auto">
          <a:xfrm>
            <a:off x="3987801" y="4838701"/>
            <a:ext cx="7168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Outflows:</a:t>
            </a:r>
          </a:p>
        </p:txBody>
      </p:sp>
      <p:sp>
        <p:nvSpPr>
          <p:cNvPr id="49217" name="Text Box 65">
            <a:extLst>
              <a:ext uri="{FF2B5EF4-FFF2-40B4-BE49-F238E27FC236}">
                <a16:creationId xmlns:a16="http://schemas.microsoft.com/office/drawing/2014/main" id="{2BE1A7C0-1194-489C-A77E-FFE29A3D0A60}"/>
              </a:ext>
            </a:extLst>
          </p:cNvPr>
          <p:cNvSpPr txBox="1">
            <a:spLocks noChangeArrowheads="1"/>
          </p:cNvSpPr>
          <p:nvPr/>
        </p:nvSpPr>
        <p:spPr bwMode="auto">
          <a:xfrm>
            <a:off x="4811627" y="46609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18" name="Text Box 66">
            <a:extLst>
              <a:ext uri="{FF2B5EF4-FFF2-40B4-BE49-F238E27FC236}">
                <a16:creationId xmlns:a16="http://schemas.microsoft.com/office/drawing/2014/main" id="{47ED8186-1A73-4E42-8AB7-4F47DADA2057}"/>
              </a:ext>
            </a:extLst>
          </p:cNvPr>
          <p:cNvSpPr txBox="1">
            <a:spLocks noChangeArrowheads="1"/>
          </p:cNvSpPr>
          <p:nvPr/>
        </p:nvSpPr>
        <p:spPr bwMode="auto">
          <a:xfrm>
            <a:off x="4811627" y="54991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19" name="Text Box 67">
            <a:extLst>
              <a:ext uri="{FF2B5EF4-FFF2-40B4-BE49-F238E27FC236}">
                <a16:creationId xmlns:a16="http://schemas.microsoft.com/office/drawing/2014/main" id="{80F2D642-F144-481A-85DF-FAB78ADA5848}"/>
              </a:ext>
            </a:extLst>
          </p:cNvPr>
          <p:cNvSpPr txBox="1">
            <a:spLocks noChangeArrowheads="1"/>
          </p:cNvSpPr>
          <p:nvPr/>
        </p:nvSpPr>
        <p:spPr bwMode="auto">
          <a:xfrm>
            <a:off x="6210301" y="3886201"/>
            <a:ext cx="6174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Inflows:</a:t>
            </a:r>
            <a:endParaRPr lang="en-US" altLang="en-US" sz="1200">
              <a:solidFill>
                <a:schemeClr val="tx1"/>
              </a:solidFill>
            </a:endParaRPr>
          </a:p>
        </p:txBody>
      </p:sp>
      <p:sp>
        <p:nvSpPr>
          <p:cNvPr id="49220" name="Text Box 68">
            <a:extLst>
              <a:ext uri="{FF2B5EF4-FFF2-40B4-BE49-F238E27FC236}">
                <a16:creationId xmlns:a16="http://schemas.microsoft.com/office/drawing/2014/main" id="{F3DADFD4-3C60-4D68-BC80-5E668AF359A6}"/>
              </a:ext>
            </a:extLst>
          </p:cNvPr>
          <p:cNvSpPr txBox="1">
            <a:spLocks noChangeArrowheads="1"/>
          </p:cNvSpPr>
          <p:nvPr/>
        </p:nvSpPr>
        <p:spPr bwMode="auto">
          <a:xfrm>
            <a:off x="6210301" y="4851401"/>
            <a:ext cx="7168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Outflows:</a:t>
            </a:r>
          </a:p>
        </p:txBody>
      </p:sp>
      <p:sp>
        <p:nvSpPr>
          <p:cNvPr id="49221" name="Text Box 69">
            <a:extLst>
              <a:ext uri="{FF2B5EF4-FFF2-40B4-BE49-F238E27FC236}">
                <a16:creationId xmlns:a16="http://schemas.microsoft.com/office/drawing/2014/main" id="{9E61B34F-E279-48C0-90EC-F396CA517427}"/>
              </a:ext>
            </a:extLst>
          </p:cNvPr>
          <p:cNvSpPr txBox="1">
            <a:spLocks noChangeArrowheads="1"/>
          </p:cNvSpPr>
          <p:nvPr/>
        </p:nvSpPr>
        <p:spPr bwMode="auto">
          <a:xfrm>
            <a:off x="7034127" y="46736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22" name="Text Box 70">
            <a:extLst>
              <a:ext uri="{FF2B5EF4-FFF2-40B4-BE49-F238E27FC236}">
                <a16:creationId xmlns:a16="http://schemas.microsoft.com/office/drawing/2014/main" id="{568817E3-EF8C-430C-8B0B-1DE3269AD5CF}"/>
              </a:ext>
            </a:extLst>
          </p:cNvPr>
          <p:cNvSpPr txBox="1">
            <a:spLocks noChangeArrowheads="1"/>
          </p:cNvSpPr>
          <p:nvPr/>
        </p:nvSpPr>
        <p:spPr bwMode="auto">
          <a:xfrm>
            <a:off x="7034127" y="55118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23" name="Text Box 71">
            <a:extLst>
              <a:ext uri="{FF2B5EF4-FFF2-40B4-BE49-F238E27FC236}">
                <a16:creationId xmlns:a16="http://schemas.microsoft.com/office/drawing/2014/main" id="{FB00E832-3C39-4994-AFB8-5311C50D4797}"/>
              </a:ext>
            </a:extLst>
          </p:cNvPr>
          <p:cNvSpPr txBox="1">
            <a:spLocks noChangeArrowheads="1"/>
          </p:cNvSpPr>
          <p:nvPr/>
        </p:nvSpPr>
        <p:spPr bwMode="auto">
          <a:xfrm>
            <a:off x="8229601" y="5664201"/>
            <a:ext cx="901209"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Cost to CEO</a:t>
            </a:r>
          </a:p>
        </p:txBody>
      </p:sp>
      <p:sp>
        <p:nvSpPr>
          <p:cNvPr id="49224" name="Text Box 72">
            <a:extLst>
              <a:ext uri="{FF2B5EF4-FFF2-40B4-BE49-F238E27FC236}">
                <a16:creationId xmlns:a16="http://schemas.microsoft.com/office/drawing/2014/main" id="{3F69A43B-DC24-487D-A7C9-21D76CED1473}"/>
              </a:ext>
            </a:extLst>
          </p:cNvPr>
          <p:cNvSpPr txBox="1">
            <a:spLocks noChangeArrowheads="1"/>
          </p:cNvSpPr>
          <p:nvPr/>
        </p:nvSpPr>
        <p:spPr bwMode="auto">
          <a:xfrm>
            <a:off x="8267701" y="3873501"/>
            <a:ext cx="6174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Inflows:</a:t>
            </a:r>
            <a:endParaRPr lang="en-US" altLang="en-US" sz="1200">
              <a:solidFill>
                <a:schemeClr val="tx1"/>
              </a:solidFill>
            </a:endParaRPr>
          </a:p>
        </p:txBody>
      </p:sp>
      <p:sp>
        <p:nvSpPr>
          <p:cNvPr id="49225" name="Text Box 73">
            <a:extLst>
              <a:ext uri="{FF2B5EF4-FFF2-40B4-BE49-F238E27FC236}">
                <a16:creationId xmlns:a16="http://schemas.microsoft.com/office/drawing/2014/main" id="{50A9E8E2-0A68-460F-A7D3-B79D4DB3DDAF}"/>
              </a:ext>
            </a:extLst>
          </p:cNvPr>
          <p:cNvSpPr txBox="1">
            <a:spLocks noChangeArrowheads="1"/>
          </p:cNvSpPr>
          <p:nvPr/>
        </p:nvSpPr>
        <p:spPr bwMode="auto">
          <a:xfrm>
            <a:off x="8267701" y="4838701"/>
            <a:ext cx="7168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Outflows:</a:t>
            </a:r>
          </a:p>
        </p:txBody>
      </p:sp>
      <p:sp>
        <p:nvSpPr>
          <p:cNvPr id="49226" name="Text Box 74">
            <a:extLst>
              <a:ext uri="{FF2B5EF4-FFF2-40B4-BE49-F238E27FC236}">
                <a16:creationId xmlns:a16="http://schemas.microsoft.com/office/drawing/2014/main" id="{32206644-5949-4E6C-817C-FF025D0CBCCC}"/>
              </a:ext>
            </a:extLst>
          </p:cNvPr>
          <p:cNvSpPr txBox="1">
            <a:spLocks noChangeArrowheads="1"/>
          </p:cNvSpPr>
          <p:nvPr/>
        </p:nvSpPr>
        <p:spPr bwMode="auto">
          <a:xfrm>
            <a:off x="9091527" y="46609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27" name="Text Box 75">
            <a:extLst>
              <a:ext uri="{FF2B5EF4-FFF2-40B4-BE49-F238E27FC236}">
                <a16:creationId xmlns:a16="http://schemas.microsoft.com/office/drawing/2014/main" id="{52FAAF7E-DDEE-4083-9AD6-003618851010}"/>
              </a:ext>
            </a:extLst>
          </p:cNvPr>
          <p:cNvSpPr txBox="1">
            <a:spLocks noChangeArrowheads="1"/>
          </p:cNvSpPr>
          <p:nvPr/>
        </p:nvSpPr>
        <p:spPr bwMode="auto">
          <a:xfrm>
            <a:off x="9091527" y="54991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28" name="Line 76">
            <a:extLst>
              <a:ext uri="{FF2B5EF4-FFF2-40B4-BE49-F238E27FC236}">
                <a16:creationId xmlns:a16="http://schemas.microsoft.com/office/drawing/2014/main" id="{1DA0BA26-E805-42EF-98CC-812B6DDAE0CF}"/>
              </a:ext>
            </a:extLst>
          </p:cNvPr>
          <p:cNvSpPr>
            <a:spLocks noChangeShapeType="1"/>
          </p:cNvSpPr>
          <p:nvPr/>
        </p:nvSpPr>
        <p:spPr bwMode="auto">
          <a:xfrm>
            <a:off x="73914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29" name="Line 77">
            <a:extLst>
              <a:ext uri="{FF2B5EF4-FFF2-40B4-BE49-F238E27FC236}">
                <a16:creationId xmlns:a16="http://schemas.microsoft.com/office/drawing/2014/main" id="{8CC6A99A-919C-49F5-809A-1FAADD647D77}"/>
              </a:ext>
            </a:extLst>
          </p:cNvPr>
          <p:cNvSpPr>
            <a:spLocks noChangeShapeType="1"/>
          </p:cNvSpPr>
          <p:nvPr/>
        </p:nvSpPr>
        <p:spPr bwMode="auto">
          <a:xfrm>
            <a:off x="7391400" y="4724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30" name="Line 78">
            <a:extLst>
              <a:ext uri="{FF2B5EF4-FFF2-40B4-BE49-F238E27FC236}">
                <a16:creationId xmlns:a16="http://schemas.microsoft.com/office/drawing/2014/main" id="{B8266F46-BDC6-46D4-BC43-C34FE790D820}"/>
              </a:ext>
            </a:extLst>
          </p:cNvPr>
          <p:cNvSpPr>
            <a:spLocks noChangeShapeType="1"/>
          </p:cNvSpPr>
          <p:nvPr/>
        </p:nvSpPr>
        <p:spPr bwMode="auto">
          <a:xfrm>
            <a:off x="7391400" y="5715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31" name="Line 79">
            <a:extLst>
              <a:ext uri="{FF2B5EF4-FFF2-40B4-BE49-F238E27FC236}">
                <a16:creationId xmlns:a16="http://schemas.microsoft.com/office/drawing/2014/main" id="{98324207-5D1C-49B2-830B-A83E4B42BB62}"/>
              </a:ext>
            </a:extLst>
          </p:cNvPr>
          <p:cNvSpPr>
            <a:spLocks noChangeShapeType="1"/>
          </p:cNvSpPr>
          <p:nvPr/>
        </p:nvSpPr>
        <p:spPr bwMode="auto">
          <a:xfrm>
            <a:off x="7391400" y="556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32" name="Line 80">
            <a:extLst>
              <a:ext uri="{FF2B5EF4-FFF2-40B4-BE49-F238E27FC236}">
                <a16:creationId xmlns:a16="http://schemas.microsoft.com/office/drawing/2014/main" id="{6B0D3DB3-FA0A-41AF-840C-74B11BF1D3E7}"/>
              </a:ext>
            </a:extLst>
          </p:cNvPr>
          <p:cNvSpPr>
            <a:spLocks noChangeShapeType="1"/>
          </p:cNvSpPr>
          <p:nvPr/>
        </p:nvSpPr>
        <p:spPr bwMode="auto">
          <a:xfrm>
            <a:off x="7391400" y="5867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33" name="Text Box 83">
            <a:extLst>
              <a:ext uri="{FF2B5EF4-FFF2-40B4-BE49-F238E27FC236}">
                <a16:creationId xmlns:a16="http://schemas.microsoft.com/office/drawing/2014/main" id="{40F25FB0-3B0A-4B91-99BE-9733EAB42EBC}"/>
              </a:ext>
            </a:extLst>
          </p:cNvPr>
          <p:cNvSpPr txBox="1">
            <a:spLocks noChangeArrowheads="1"/>
          </p:cNvSpPr>
          <p:nvPr/>
        </p:nvSpPr>
        <p:spPr bwMode="auto">
          <a:xfrm>
            <a:off x="6248401" y="5035550"/>
            <a:ext cx="1420813"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Charge from material</a:t>
            </a:r>
          </a:p>
          <a:p>
            <a:pPr eaLnBrk="1" hangingPunct="1">
              <a:lnSpc>
                <a:spcPct val="100000"/>
              </a:lnSpc>
              <a:spcAft>
                <a:spcPct val="0"/>
              </a:spcAft>
              <a:buClrTx/>
              <a:buSzTx/>
              <a:buFontTx/>
              <a:buNone/>
            </a:pPr>
            <a:r>
              <a:rPr lang="en-US" altLang="en-US" sz="1000">
                <a:solidFill>
                  <a:schemeClr val="tx1"/>
                </a:solidFill>
              </a:rPr>
              <a:t>Cost of labor</a:t>
            </a:r>
          </a:p>
          <a:p>
            <a:pPr eaLnBrk="1" hangingPunct="1">
              <a:lnSpc>
                <a:spcPct val="100000"/>
              </a:lnSpc>
              <a:spcAft>
                <a:spcPct val="0"/>
              </a:spcAft>
              <a:buClrTx/>
              <a:buSzTx/>
              <a:buFontTx/>
              <a:buNone/>
            </a:pPr>
            <a:r>
              <a:rPr lang="en-US" altLang="en-US" sz="1000">
                <a:solidFill>
                  <a:schemeClr val="tx1"/>
                </a:solidFill>
              </a:rPr>
              <a:t>Other cost</a:t>
            </a:r>
          </a:p>
        </p:txBody>
      </p:sp>
      <p:sp>
        <p:nvSpPr>
          <p:cNvPr id="49234" name="Text Box 84">
            <a:extLst>
              <a:ext uri="{FF2B5EF4-FFF2-40B4-BE49-F238E27FC236}">
                <a16:creationId xmlns:a16="http://schemas.microsoft.com/office/drawing/2014/main" id="{114EF777-F3BE-480C-A046-B51D5C1B4ACB}"/>
              </a:ext>
            </a:extLst>
          </p:cNvPr>
          <p:cNvSpPr txBox="1">
            <a:spLocks noChangeArrowheads="1"/>
          </p:cNvSpPr>
          <p:nvPr/>
        </p:nvSpPr>
        <p:spPr bwMode="auto">
          <a:xfrm>
            <a:off x="1981200" y="4238626"/>
            <a:ext cx="48282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Cogs</a:t>
            </a:r>
          </a:p>
        </p:txBody>
      </p:sp>
      <p:sp>
        <p:nvSpPr>
          <p:cNvPr id="49235" name="Text Box 85">
            <a:extLst>
              <a:ext uri="{FF2B5EF4-FFF2-40B4-BE49-F238E27FC236}">
                <a16:creationId xmlns:a16="http://schemas.microsoft.com/office/drawing/2014/main" id="{63B86E0E-ED08-4164-9068-476C07AA6CE6}"/>
              </a:ext>
            </a:extLst>
          </p:cNvPr>
          <p:cNvSpPr txBox="1">
            <a:spLocks noChangeArrowheads="1"/>
          </p:cNvSpPr>
          <p:nvPr/>
        </p:nvSpPr>
        <p:spPr bwMode="auto">
          <a:xfrm>
            <a:off x="4038600" y="4229101"/>
            <a:ext cx="48282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Cogs</a:t>
            </a:r>
          </a:p>
        </p:txBody>
      </p:sp>
      <p:sp>
        <p:nvSpPr>
          <p:cNvPr id="49236" name="Text Box 86">
            <a:extLst>
              <a:ext uri="{FF2B5EF4-FFF2-40B4-BE49-F238E27FC236}">
                <a16:creationId xmlns:a16="http://schemas.microsoft.com/office/drawing/2014/main" id="{77A3B51A-B487-4949-ABC3-6F2FE0603376}"/>
              </a:ext>
            </a:extLst>
          </p:cNvPr>
          <p:cNvSpPr txBox="1">
            <a:spLocks noChangeArrowheads="1"/>
          </p:cNvSpPr>
          <p:nvPr/>
        </p:nvSpPr>
        <p:spPr bwMode="auto">
          <a:xfrm>
            <a:off x="6248401" y="4111626"/>
            <a:ext cx="13684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Charges to Inventory</a:t>
            </a:r>
          </a:p>
        </p:txBody>
      </p:sp>
      <p:sp>
        <p:nvSpPr>
          <p:cNvPr id="49237" name="Text Box 87">
            <a:extLst>
              <a:ext uri="{FF2B5EF4-FFF2-40B4-BE49-F238E27FC236}">
                <a16:creationId xmlns:a16="http://schemas.microsoft.com/office/drawing/2014/main" id="{A41C9093-656B-4196-83F2-83E3470705E4}"/>
              </a:ext>
            </a:extLst>
          </p:cNvPr>
          <p:cNvSpPr txBox="1">
            <a:spLocks noChangeArrowheads="1"/>
          </p:cNvSpPr>
          <p:nvPr/>
        </p:nvSpPr>
        <p:spPr bwMode="auto">
          <a:xfrm>
            <a:off x="6248401" y="4292601"/>
            <a:ext cx="13684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Charges to Inventory</a:t>
            </a:r>
          </a:p>
        </p:txBody>
      </p:sp>
      <p:sp>
        <p:nvSpPr>
          <p:cNvPr id="49238" name="Line 88">
            <a:extLst>
              <a:ext uri="{FF2B5EF4-FFF2-40B4-BE49-F238E27FC236}">
                <a16:creationId xmlns:a16="http://schemas.microsoft.com/office/drawing/2014/main" id="{045CA884-4F95-4D90-9E05-C3ECAC047F15}"/>
              </a:ext>
            </a:extLst>
          </p:cNvPr>
          <p:cNvSpPr>
            <a:spLocks noChangeShapeType="1"/>
          </p:cNvSpPr>
          <p:nvPr/>
        </p:nvSpPr>
        <p:spPr bwMode="auto">
          <a:xfrm>
            <a:off x="7391400" y="4876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39" name="Line 89">
            <a:extLst>
              <a:ext uri="{FF2B5EF4-FFF2-40B4-BE49-F238E27FC236}">
                <a16:creationId xmlns:a16="http://schemas.microsoft.com/office/drawing/2014/main" id="{994DD755-58B8-4FEC-900A-E13EE08A1F38}"/>
              </a:ext>
            </a:extLst>
          </p:cNvPr>
          <p:cNvSpPr>
            <a:spLocks noChangeShapeType="1"/>
          </p:cNvSpPr>
          <p:nvPr/>
        </p:nvSpPr>
        <p:spPr bwMode="auto">
          <a:xfrm>
            <a:off x="7391400" y="4724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40" name="Line 90">
            <a:extLst>
              <a:ext uri="{FF2B5EF4-FFF2-40B4-BE49-F238E27FC236}">
                <a16:creationId xmlns:a16="http://schemas.microsoft.com/office/drawing/2014/main" id="{DE87DF13-80AB-4242-B8EA-3A38B66014F8}"/>
              </a:ext>
            </a:extLst>
          </p:cNvPr>
          <p:cNvSpPr>
            <a:spLocks noChangeShapeType="1"/>
          </p:cNvSpPr>
          <p:nvPr/>
        </p:nvSpPr>
        <p:spPr bwMode="auto">
          <a:xfrm>
            <a:off x="7391400" y="57150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41" name="Line 91">
            <a:extLst>
              <a:ext uri="{FF2B5EF4-FFF2-40B4-BE49-F238E27FC236}">
                <a16:creationId xmlns:a16="http://schemas.microsoft.com/office/drawing/2014/main" id="{45517A23-CCFD-401A-AA24-95D9179CB128}"/>
              </a:ext>
            </a:extLst>
          </p:cNvPr>
          <p:cNvSpPr>
            <a:spLocks noChangeShapeType="1"/>
          </p:cNvSpPr>
          <p:nvPr/>
        </p:nvSpPr>
        <p:spPr bwMode="auto">
          <a:xfrm>
            <a:off x="7391400" y="556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42" name="Line 92">
            <a:extLst>
              <a:ext uri="{FF2B5EF4-FFF2-40B4-BE49-F238E27FC236}">
                <a16:creationId xmlns:a16="http://schemas.microsoft.com/office/drawing/2014/main" id="{9CADFF0F-D8FD-40EC-81CD-E30D11F76489}"/>
              </a:ext>
            </a:extLst>
          </p:cNvPr>
          <p:cNvSpPr>
            <a:spLocks noChangeShapeType="1"/>
          </p:cNvSpPr>
          <p:nvPr/>
        </p:nvSpPr>
        <p:spPr bwMode="auto">
          <a:xfrm>
            <a:off x="7391400" y="5867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43" name="Text Box 93">
            <a:extLst>
              <a:ext uri="{FF2B5EF4-FFF2-40B4-BE49-F238E27FC236}">
                <a16:creationId xmlns:a16="http://schemas.microsoft.com/office/drawing/2014/main" id="{DED7A323-7DE9-4614-AB26-6A57B0A92AA5}"/>
              </a:ext>
            </a:extLst>
          </p:cNvPr>
          <p:cNvSpPr txBox="1">
            <a:spLocks noChangeArrowheads="1"/>
          </p:cNvSpPr>
          <p:nvPr/>
        </p:nvSpPr>
        <p:spPr bwMode="auto">
          <a:xfrm>
            <a:off x="4000500" y="1104901"/>
            <a:ext cx="144142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Cont. from Computers</a:t>
            </a:r>
          </a:p>
        </p:txBody>
      </p:sp>
      <p:sp>
        <p:nvSpPr>
          <p:cNvPr id="49244" name="Text Box 94">
            <a:extLst>
              <a:ext uri="{FF2B5EF4-FFF2-40B4-BE49-F238E27FC236}">
                <a16:creationId xmlns:a16="http://schemas.microsoft.com/office/drawing/2014/main" id="{EA3D835A-56B5-4753-A114-8BAE1EB1DC67}"/>
              </a:ext>
            </a:extLst>
          </p:cNvPr>
          <p:cNvSpPr txBox="1">
            <a:spLocks noChangeArrowheads="1"/>
          </p:cNvSpPr>
          <p:nvPr/>
        </p:nvSpPr>
        <p:spPr bwMode="auto">
          <a:xfrm>
            <a:off x="4013201" y="1257301"/>
            <a:ext cx="12570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Cont. from Printers</a:t>
            </a:r>
          </a:p>
        </p:txBody>
      </p:sp>
      <p:sp>
        <p:nvSpPr>
          <p:cNvPr id="49245" name="Text Box 95">
            <a:extLst>
              <a:ext uri="{FF2B5EF4-FFF2-40B4-BE49-F238E27FC236}">
                <a16:creationId xmlns:a16="http://schemas.microsoft.com/office/drawing/2014/main" id="{9C163DA9-C3F0-466C-8D3D-50C862789CB8}"/>
              </a:ext>
            </a:extLst>
          </p:cNvPr>
          <p:cNvSpPr txBox="1">
            <a:spLocks noChangeArrowheads="1"/>
          </p:cNvSpPr>
          <p:nvPr/>
        </p:nvSpPr>
        <p:spPr bwMode="auto">
          <a:xfrm>
            <a:off x="4013200" y="1866901"/>
            <a:ext cx="107273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Flow from Plant</a:t>
            </a:r>
          </a:p>
        </p:txBody>
      </p:sp>
      <p:sp>
        <p:nvSpPr>
          <p:cNvPr id="49246" name="Text Box 96">
            <a:extLst>
              <a:ext uri="{FF2B5EF4-FFF2-40B4-BE49-F238E27FC236}">
                <a16:creationId xmlns:a16="http://schemas.microsoft.com/office/drawing/2014/main" id="{279EFD39-B154-4394-B78A-A1E11D34519D}"/>
              </a:ext>
            </a:extLst>
          </p:cNvPr>
          <p:cNvSpPr txBox="1">
            <a:spLocks noChangeArrowheads="1"/>
          </p:cNvSpPr>
          <p:nvPr/>
        </p:nvSpPr>
        <p:spPr bwMode="auto">
          <a:xfrm>
            <a:off x="4025900" y="2171701"/>
            <a:ext cx="7953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CEO office</a:t>
            </a:r>
          </a:p>
        </p:txBody>
      </p:sp>
      <p:sp>
        <p:nvSpPr>
          <p:cNvPr id="49247" name="Text Box 97">
            <a:extLst>
              <a:ext uri="{FF2B5EF4-FFF2-40B4-BE49-F238E27FC236}">
                <a16:creationId xmlns:a16="http://schemas.microsoft.com/office/drawing/2014/main" id="{CBE8BCA0-92B0-4C5A-89E6-48D229CBCEB4}"/>
              </a:ext>
            </a:extLst>
          </p:cNvPr>
          <p:cNvSpPr txBox="1">
            <a:spLocks noChangeArrowheads="1"/>
          </p:cNvSpPr>
          <p:nvPr/>
        </p:nvSpPr>
        <p:spPr bwMode="auto">
          <a:xfrm>
            <a:off x="4013201" y="2019301"/>
            <a:ext cx="10636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Cost from Adm.</a:t>
            </a:r>
          </a:p>
        </p:txBody>
      </p:sp>
      <p:sp>
        <p:nvSpPr>
          <p:cNvPr id="49248" name="Text Box 98">
            <a:extLst>
              <a:ext uri="{FF2B5EF4-FFF2-40B4-BE49-F238E27FC236}">
                <a16:creationId xmlns:a16="http://schemas.microsoft.com/office/drawing/2014/main" id="{E67F45B1-383E-4717-AAF1-B201142CAA98}"/>
              </a:ext>
            </a:extLst>
          </p:cNvPr>
          <p:cNvSpPr txBox="1">
            <a:spLocks noChangeArrowheads="1"/>
          </p:cNvSpPr>
          <p:nvPr/>
        </p:nvSpPr>
        <p:spPr bwMode="auto">
          <a:xfrm>
            <a:off x="1990726" y="4070351"/>
            <a:ext cx="5000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Sales</a:t>
            </a:r>
          </a:p>
        </p:txBody>
      </p:sp>
      <p:sp>
        <p:nvSpPr>
          <p:cNvPr id="49249" name="Text Box 99">
            <a:extLst>
              <a:ext uri="{FF2B5EF4-FFF2-40B4-BE49-F238E27FC236}">
                <a16:creationId xmlns:a16="http://schemas.microsoft.com/office/drawing/2014/main" id="{64C08029-151C-4E4C-9A9E-25E3F3F6F4B8}"/>
              </a:ext>
            </a:extLst>
          </p:cNvPr>
          <p:cNvSpPr txBox="1">
            <a:spLocks noChangeArrowheads="1"/>
          </p:cNvSpPr>
          <p:nvPr/>
        </p:nvSpPr>
        <p:spPr bwMode="auto">
          <a:xfrm>
            <a:off x="4035426" y="4083051"/>
            <a:ext cx="5000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Sales</a:t>
            </a:r>
          </a:p>
        </p:txBody>
      </p:sp>
      <p:sp>
        <p:nvSpPr>
          <p:cNvPr id="49250" name="Text Box 101">
            <a:extLst>
              <a:ext uri="{FF2B5EF4-FFF2-40B4-BE49-F238E27FC236}">
                <a16:creationId xmlns:a16="http://schemas.microsoft.com/office/drawing/2014/main" id="{4014D456-00B2-4460-BE4C-D18410138BC1}"/>
              </a:ext>
            </a:extLst>
          </p:cNvPr>
          <p:cNvSpPr txBox="1">
            <a:spLocks noChangeArrowheads="1"/>
          </p:cNvSpPr>
          <p:nvPr/>
        </p:nvSpPr>
        <p:spPr bwMode="auto">
          <a:xfrm>
            <a:off x="5295901" y="157162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18</a:t>
            </a:r>
            <a:r>
              <a:rPr lang="sl-SI" altLang="en-US" sz="1000">
                <a:solidFill>
                  <a:schemeClr val="tx1"/>
                </a:solidFill>
              </a:rPr>
              <a:t>0</a:t>
            </a:r>
            <a:r>
              <a:rPr lang="en-US" altLang="en-US" sz="1000">
                <a:solidFill>
                  <a:schemeClr val="tx1"/>
                </a:solidFill>
              </a:rPr>
              <a:t>0</a:t>
            </a:r>
          </a:p>
        </p:txBody>
      </p:sp>
      <p:sp>
        <p:nvSpPr>
          <p:cNvPr id="49251" name="Text Box 102">
            <a:extLst>
              <a:ext uri="{FF2B5EF4-FFF2-40B4-BE49-F238E27FC236}">
                <a16:creationId xmlns:a16="http://schemas.microsoft.com/office/drawing/2014/main" id="{86BB824B-7367-402E-9C17-8FC84FCDB5A0}"/>
              </a:ext>
            </a:extLst>
          </p:cNvPr>
          <p:cNvSpPr txBox="1">
            <a:spLocks noChangeArrowheads="1"/>
          </p:cNvSpPr>
          <p:nvPr/>
        </p:nvSpPr>
        <p:spPr bwMode="auto">
          <a:xfrm>
            <a:off x="5295831" y="2390776"/>
            <a:ext cx="46679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14</a:t>
            </a:r>
            <a:r>
              <a:rPr lang="sl-SI" altLang="en-US" sz="1000">
                <a:solidFill>
                  <a:schemeClr val="tx1"/>
                </a:solidFill>
              </a:rPr>
              <a:t>0</a:t>
            </a:r>
            <a:r>
              <a:rPr lang="en-US" altLang="en-US" sz="1000">
                <a:solidFill>
                  <a:schemeClr val="tx1"/>
                </a:solidFill>
              </a:rPr>
              <a:t>0</a:t>
            </a:r>
          </a:p>
        </p:txBody>
      </p:sp>
      <p:sp>
        <p:nvSpPr>
          <p:cNvPr id="49252" name="Text Box 103">
            <a:extLst>
              <a:ext uri="{FF2B5EF4-FFF2-40B4-BE49-F238E27FC236}">
                <a16:creationId xmlns:a16="http://schemas.microsoft.com/office/drawing/2014/main" id="{8DDDB786-ADAA-43F1-B844-68D7ECBCF69F}"/>
              </a:ext>
            </a:extLst>
          </p:cNvPr>
          <p:cNvSpPr txBox="1">
            <a:spLocks noChangeArrowheads="1"/>
          </p:cNvSpPr>
          <p:nvPr/>
        </p:nvSpPr>
        <p:spPr bwMode="auto">
          <a:xfrm>
            <a:off x="5365751" y="2676526"/>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4</a:t>
            </a:r>
            <a:r>
              <a:rPr lang="sl-SI" altLang="en-US" sz="1000">
                <a:solidFill>
                  <a:schemeClr val="tx1"/>
                </a:solidFill>
              </a:rPr>
              <a:t>00</a:t>
            </a:r>
            <a:endParaRPr lang="en-US" altLang="en-US" sz="1000">
              <a:solidFill>
                <a:schemeClr val="tx1"/>
              </a:solidFill>
            </a:endParaRPr>
          </a:p>
        </p:txBody>
      </p:sp>
      <p:sp>
        <p:nvSpPr>
          <p:cNvPr id="49253" name="Text Box 104">
            <a:extLst>
              <a:ext uri="{FF2B5EF4-FFF2-40B4-BE49-F238E27FC236}">
                <a16:creationId xmlns:a16="http://schemas.microsoft.com/office/drawing/2014/main" id="{6463316D-03BB-4DFF-817D-32C82351AEDC}"/>
              </a:ext>
            </a:extLst>
          </p:cNvPr>
          <p:cNvSpPr txBox="1">
            <a:spLocks noChangeArrowheads="1"/>
          </p:cNvSpPr>
          <p:nvPr/>
        </p:nvSpPr>
        <p:spPr bwMode="auto">
          <a:xfrm>
            <a:off x="5334001" y="11049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13</a:t>
            </a:r>
            <a:r>
              <a:rPr lang="sl-SI" altLang="en-US" sz="1000">
                <a:solidFill>
                  <a:schemeClr val="tx1"/>
                </a:solidFill>
              </a:rPr>
              <a:t>0</a:t>
            </a:r>
            <a:r>
              <a:rPr lang="en-US" altLang="en-US" sz="1000">
                <a:solidFill>
                  <a:schemeClr val="tx1"/>
                </a:solidFill>
              </a:rPr>
              <a:t>0</a:t>
            </a:r>
          </a:p>
        </p:txBody>
      </p:sp>
      <p:sp>
        <p:nvSpPr>
          <p:cNvPr id="49254" name="Text Box 105">
            <a:extLst>
              <a:ext uri="{FF2B5EF4-FFF2-40B4-BE49-F238E27FC236}">
                <a16:creationId xmlns:a16="http://schemas.microsoft.com/office/drawing/2014/main" id="{295356A6-60AF-4088-A07F-A39887F8446D}"/>
              </a:ext>
            </a:extLst>
          </p:cNvPr>
          <p:cNvSpPr txBox="1">
            <a:spLocks noChangeArrowheads="1"/>
          </p:cNvSpPr>
          <p:nvPr/>
        </p:nvSpPr>
        <p:spPr bwMode="auto">
          <a:xfrm>
            <a:off x="5378451" y="1247776"/>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5</a:t>
            </a:r>
            <a:r>
              <a:rPr lang="sl-SI" altLang="en-US" sz="1000">
                <a:solidFill>
                  <a:schemeClr val="tx1"/>
                </a:solidFill>
              </a:rPr>
              <a:t>0</a:t>
            </a:r>
            <a:r>
              <a:rPr lang="en-US" altLang="en-US" sz="1000">
                <a:solidFill>
                  <a:schemeClr val="tx1"/>
                </a:solidFill>
              </a:rPr>
              <a:t>0</a:t>
            </a:r>
          </a:p>
        </p:txBody>
      </p:sp>
      <p:sp>
        <p:nvSpPr>
          <p:cNvPr id="49255" name="Text Box 106">
            <a:extLst>
              <a:ext uri="{FF2B5EF4-FFF2-40B4-BE49-F238E27FC236}">
                <a16:creationId xmlns:a16="http://schemas.microsoft.com/office/drawing/2014/main" id="{226E8E91-EF1B-4968-97C5-1AB5B3A9F6FE}"/>
              </a:ext>
            </a:extLst>
          </p:cNvPr>
          <p:cNvSpPr txBox="1">
            <a:spLocks noChangeArrowheads="1"/>
          </p:cNvSpPr>
          <p:nvPr/>
        </p:nvSpPr>
        <p:spPr bwMode="auto">
          <a:xfrm>
            <a:off x="5508625" y="1844676"/>
            <a:ext cx="254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0</a:t>
            </a:r>
          </a:p>
        </p:txBody>
      </p:sp>
      <p:sp>
        <p:nvSpPr>
          <p:cNvPr id="49256" name="Text Box 107">
            <a:extLst>
              <a:ext uri="{FF2B5EF4-FFF2-40B4-BE49-F238E27FC236}">
                <a16:creationId xmlns:a16="http://schemas.microsoft.com/office/drawing/2014/main" id="{4B3EDC2A-F7B0-43A2-82CA-D3EDDF2657CE}"/>
              </a:ext>
            </a:extLst>
          </p:cNvPr>
          <p:cNvSpPr txBox="1">
            <a:spLocks noChangeArrowheads="1"/>
          </p:cNvSpPr>
          <p:nvPr/>
        </p:nvSpPr>
        <p:spPr bwMode="auto">
          <a:xfrm>
            <a:off x="5366363" y="1997076"/>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9</a:t>
            </a:r>
            <a:r>
              <a:rPr lang="sl-SI" altLang="en-US" sz="1000">
                <a:solidFill>
                  <a:schemeClr val="tx1"/>
                </a:solidFill>
              </a:rPr>
              <a:t>0</a:t>
            </a:r>
            <a:r>
              <a:rPr lang="en-US" altLang="en-US" sz="1000">
                <a:solidFill>
                  <a:schemeClr val="tx1"/>
                </a:solidFill>
              </a:rPr>
              <a:t>0</a:t>
            </a:r>
          </a:p>
        </p:txBody>
      </p:sp>
      <p:sp>
        <p:nvSpPr>
          <p:cNvPr id="49257" name="Text Box 108">
            <a:extLst>
              <a:ext uri="{FF2B5EF4-FFF2-40B4-BE49-F238E27FC236}">
                <a16:creationId xmlns:a16="http://schemas.microsoft.com/office/drawing/2014/main" id="{16B54601-BCC6-4812-A55C-FCE48C12C668}"/>
              </a:ext>
            </a:extLst>
          </p:cNvPr>
          <p:cNvSpPr txBox="1">
            <a:spLocks noChangeArrowheads="1"/>
          </p:cNvSpPr>
          <p:nvPr/>
        </p:nvSpPr>
        <p:spPr bwMode="auto">
          <a:xfrm>
            <a:off x="5366363" y="2149476"/>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5</a:t>
            </a:r>
            <a:r>
              <a:rPr lang="sl-SI" altLang="en-US" sz="1000">
                <a:solidFill>
                  <a:schemeClr val="tx1"/>
                </a:solidFill>
              </a:rPr>
              <a:t>0</a:t>
            </a:r>
            <a:r>
              <a:rPr lang="en-US" altLang="en-US" sz="1000">
                <a:solidFill>
                  <a:schemeClr val="tx1"/>
                </a:solidFill>
              </a:rPr>
              <a:t>0</a:t>
            </a:r>
          </a:p>
        </p:txBody>
      </p:sp>
      <p:sp>
        <p:nvSpPr>
          <p:cNvPr id="49258" name="Text Box 109">
            <a:extLst>
              <a:ext uri="{FF2B5EF4-FFF2-40B4-BE49-F238E27FC236}">
                <a16:creationId xmlns:a16="http://schemas.microsoft.com/office/drawing/2014/main" id="{C226E957-FEE2-4DED-BC70-52B92393699E}"/>
              </a:ext>
            </a:extLst>
          </p:cNvPr>
          <p:cNvSpPr txBox="1">
            <a:spLocks noChangeArrowheads="1"/>
          </p:cNvSpPr>
          <p:nvPr/>
        </p:nvSpPr>
        <p:spPr bwMode="auto">
          <a:xfrm>
            <a:off x="9662138" y="5003801"/>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9</a:t>
            </a:r>
            <a:r>
              <a:rPr lang="sl-SI" altLang="en-US" sz="1000">
                <a:solidFill>
                  <a:schemeClr val="tx1"/>
                </a:solidFill>
              </a:rPr>
              <a:t>0</a:t>
            </a:r>
            <a:r>
              <a:rPr lang="en-US" altLang="en-US" sz="1000">
                <a:solidFill>
                  <a:schemeClr val="tx1"/>
                </a:solidFill>
              </a:rPr>
              <a:t>0</a:t>
            </a:r>
          </a:p>
        </p:txBody>
      </p:sp>
      <p:sp>
        <p:nvSpPr>
          <p:cNvPr id="49259" name="Text Box 110">
            <a:extLst>
              <a:ext uri="{FF2B5EF4-FFF2-40B4-BE49-F238E27FC236}">
                <a16:creationId xmlns:a16="http://schemas.microsoft.com/office/drawing/2014/main" id="{EA5DEC8A-BE32-40B9-B66C-83486ABE6C6B}"/>
              </a:ext>
            </a:extLst>
          </p:cNvPr>
          <p:cNvSpPr txBox="1">
            <a:spLocks noChangeArrowheads="1"/>
          </p:cNvSpPr>
          <p:nvPr/>
        </p:nvSpPr>
        <p:spPr bwMode="auto">
          <a:xfrm>
            <a:off x="9662138" y="5524501"/>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9</a:t>
            </a:r>
            <a:r>
              <a:rPr lang="sl-SI" altLang="en-US" sz="1000">
                <a:solidFill>
                  <a:schemeClr val="tx1"/>
                </a:solidFill>
              </a:rPr>
              <a:t>0</a:t>
            </a:r>
            <a:r>
              <a:rPr lang="en-US" altLang="en-US" sz="1000">
                <a:solidFill>
                  <a:schemeClr val="tx1"/>
                </a:solidFill>
              </a:rPr>
              <a:t>0</a:t>
            </a:r>
          </a:p>
        </p:txBody>
      </p:sp>
      <p:sp>
        <p:nvSpPr>
          <p:cNvPr id="49260" name="Text Box 111">
            <a:extLst>
              <a:ext uri="{FF2B5EF4-FFF2-40B4-BE49-F238E27FC236}">
                <a16:creationId xmlns:a16="http://schemas.microsoft.com/office/drawing/2014/main" id="{7E171ACE-B608-4624-A176-08E02456ED8E}"/>
              </a:ext>
            </a:extLst>
          </p:cNvPr>
          <p:cNvSpPr txBox="1">
            <a:spLocks noChangeArrowheads="1"/>
          </p:cNvSpPr>
          <p:nvPr/>
        </p:nvSpPr>
        <p:spPr bwMode="auto">
          <a:xfrm>
            <a:off x="7594601" y="41148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250</a:t>
            </a:r>
            <a:r>
              <a:rPr lang="en-US" altLang="en-US" sz="1000">
                <a:solidFill>
                  <a:schemeClr val="tx1"/>
                </a:solidFill>
              </a:rPr>
              <a:t>0</a:t>
            </a:r>
          </a:p>
        </p:txBody>
      </p:sp>
      <p:sp>
        <p:nvSpPr>
          <p:cNvPr id="49261" name="Text Box 112">
            <a:extLst>
              <a:ext uri="{FF2B5EF4-FFF2-40B4-BE49-F238E27FC236}">
                <a16:creationId xmlns:a16="http://schemas.microsoft.com/office/drawing/2014/main" id="{92D807F6-6002-4CC5-B2AA-D6CB7B0D4597}"/>
              </a:ext>
            </a:extLst>
          </p:cNvPr>
          <p:cNvSpPr txBox="1">
            <a:spLocks noChangeArrowheads="1"/>
          </p:cNvSpPr>
          <p:nvPr/>
        </p:nvSpPr>
        <p:spPr bwMode="auto">
          <a:xfrm>
            <a:off x="7585076" y="427672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15</a:t>
            </a:r>
            <a:r>
              <a:rPr lang="en-US" altLang="en-US" sz="1000">
                <a:solidFill>
                  <a:schemeClr val="tx1"/>
                </a:solidFill>
              </a:rPr>
              <a:t>00</a:t>
            </a:r>
          </a:p>
        </p:txBody>
      </p:sp>
      <p:sp>
        <p:nvSpPr>
          <p:cNvPr id="49262" name="Text Box 113">
            <a:extLst>
              <a:ext uri="{FF2B5EF4-FFF2-40B4-BE49-F238E27FC236}">
                <a16:creationId xmlns:a16="http://schemas.microsoft.com/office/drawing/2014/main" id="{82B2206A-5A84-4707-8410-BA2E53430C77}"/>
              </a:ext>
            </a:extLst>
          </p:cNvPr>
          <p:cNvSpPr txBox="1">
            <a:spLocks noChangeArrowheads="1"/>
          </p:cNvSpPr>
          <p:nvPr/>
        </p:nvSpPr>
        <p:spPr bwMode="auto">
          <a:xfrm>
            <a:off x="7585076" y="46767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40</a:t>
            </a:r>
            <a:r>
              <a:rPr lang="en-US" altLang="en-US" sz="1000">
                <a:solidFill>
                  <a:schemeClr val="tx1"/>
                </a:solidFill>
              </a:rPr>
              <a:t>00</a:t>
            </a:r>
          </a:p>
        </p:txBody>
      </p:sp>
      <p:sp>
        <p:nvSpPr>
          <p:cNvPr id="49263" name="Text Box 116">
            <a:extLst>
              <a:ext uri="{FF2B5EF4-FFF2-40B4-BE49-F238E27FC236}">
                <a16:creationId xmlns:a16="http://schemas.microsoft.com/office/drawing/2014/main" id="{20724EEA-E3C3-48C5-BF23-0A2C36834B91}"/>
              </a:ext>
            </a:extLst>
          </p:cNvPr>
          <p:cNvSpPr txBox="1">
            <a:spLocks noChangeArrowheads="1"/>
          </p:cNvSpPr>
          <p:nvPr/>
        </p:nvSpPr>
        <p:spPr bwMode="auto">
          <a:xfrm>
            <a:off x="7585076" y="50292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2</a:t>
            </a:r>
            <a:r>
              <a:rPr lang="en-US" altLang="en-US" sz="1000">
                <a:solidFill>
                  <a:schemeClr val="tx1"/>
                </a:solidFill>
              </a:rPr>
              <a:t>50</a:t>
            </a:r>
            <a:r>
              <a:rPr lang="sl-SI" altLang="en-US" sz="1000">
                <a:solidFill>
                  <a:schemeClr val="tx1"/>
                </a:solidFill>
              </a:rPr>
              <a:t>0</a:t>
            </a:r>
            <a:endParaRPr lang="en-US" altLang="en-US" sz="1000">
              <a:solidFill>
                <a:schemeClr val="tx1"/>
              </a:solidFill>
            </a:endParaRPr>
          </a:p>
        </p:txBody>
      </p:sp>
      <p:sp>
        <p:nvSpPr>
          <p:cNvPr id="49264" name="Text Box 117">
            <a:extLst>
              <a:ext uri="{FF2B5EF4-FFF2-40B4-BE49-F238E27FC236}">
                <a16:creationId xmlns:a16="http://schemas.microsoft.com/office/drawing/2014/main" id="{3E839699-AE4C-4B45-8E9A-322EBBD11D54}"/>
              </a:ext>
            </a:extLst>
          </p:cNvPr>
          <p:cNvSpPr txBox="1">
            <a:spLocks noChangeArrowheads="1"/>
          </p:cNvSpPr>
          <p:nvPr/>
        </p:nvSpPr>
        <p:spPr bwMode="auto">
          <a:xfrm>
            <a:off x="7594601" y="55149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40</a:t>
            </a:r>
            <a:r>
              <a:rPr lang="en-US" altLang="en-US" sz="1000">
                <a:solidFill>
                  <a:schemeClr val="tx1"/>
                </a:solidFill>
              </a:rPr>
              <a:t>0</a:t>
            </a:r>
            <a:r>
              <a:rPr lang="sl-SI" altLang="en-US" sz="1000">
                <a:solidFill>
                  <a:schemeClr val="tx1"/>
                </a:solidFill>
              </a:rPr>
              <a:t>0</a:t>
            </a:r>
            <a:endParaRPr lang="en-US" altLang="en-US" sz="1000">
              <a:solidFill>
                <a:schemeClr val="tx1"/>
              </a:solidFill>
            </a:endParaRPr>
          </a:p>
        </p:txBody>
      </p:sp>
      <p:sp>
        <p:nvSpPr>
          <p:cNvPr id="49265" name="Text Box 118">
            <a:extLst>
              <a:ext uri="{FF2B5EF4-FFF2-40B4-BE49-F238E27FC236}">
                <a16:creationId xmlns:a16="http://schemas.microsoft.com/office/drawing/2014/main" id="{0B6E75A3-42D3-4CA1-80C4-0BEB2B12AE83}"/>
              </a:ext>
            </a:extLst>
          </p:cNvPr>
          <p:cNvSpPr txBox="1">
            <a:spLocks noChangeArrowheads="1"/>
          </p:cNvSpPr>
          <p:nvPr/>
        </p:nvSpPr>
        <p:spPr bwMode="auto">
          <a:xfrm>
            <a:off x="7807325" y="5667376"/>
            <a:ext cx="254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0</a:t>
            </a:r>
          </a:p>
        </p:txBody>
      </p:sp>
      <p:sp>
        <p:nvSpPr>
          <p:cNvPr id="49266" name="Text Box 119">
            <a:extLst>
              <a:ext uri="{FF2B5EF4-FFF2-40B4-BE49-F238E27FC236}">
                <a16:creationId xmlns:a16="http://schemas.microsoft.com/office/drawing/2014/main" id="{8B59DF2F-8BF0-40D5-988B-90657B845FC1}"/>
              </a:ext>
            </a:extLst>
          </p:cNvPr>
          <p:cNvSpPr txBox="1">
            <a:spLocks noChangeArrowheads="1"/>
          </p:cNvSpPr>
          <p:nvPr/>
        </p:nvSpPr>
        <p:spPr bwMode="auto">
          <a:xfrm>
            <a:off x="5233989" y="4251326"/>
            <a:ext cx="55403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(1300)</a:t>
            </a:r>
          </a:p>
        </p:txBody>
      </p:sp>
      <p:sp>
        <p:nvSpPr>
          <p:cNvPr id="49267" name="Text Box 120">
            <a:extLst>
              <a:ext uri="{FF2B5EF4-FFF2-40B4-BE49-F238E27FC236}">
                <a16:creationId xmlns:a16="http://schemas.microsoft.com/office/drawing/2014/main" id="{E031F185-FC43-4E1E-A966-693BC559E9CA}"/>
              </a:ext>
            </a:extLst>
          </p:cNvPr>
          <p:cNvSpPr txBox="1">
            <a:spLocks noChangeArrowheads="1"/>
          </p:cNvSpPr>
          <p:nvPr/>
        </p:nvSpPr>
        <p:spPr bwMode="auto">
          <a:xfrm>
            <a:off x="5391151" y="5524501"/>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8</a:t>
            </a:r>
            <a:r>
              <a:rPr lang="sl-SI" altLang="en-US" sz="1000">
                <a:solidFill>
                  <a:schemeClr val="tx1"/>
                </a:solidFill>
              </a:rPr>
              <a:t>0</a:t>
            </a:r>
            <a:r>
              <a:rPr lang="en-US" altLang="en-US" sz="1000">
                <a:solidFill>
                  <a:schemeClr val="tx1"/>
                </a:solidFill>
              </a:rPr>
              <a:t>0</a:t>
            </a:r>
          </a:p>
        </p:txBody>
      </p:sp>
      <p:sp>
        <p:nvSpPr>
          <p:cNvPr id="49268" name="Text Box 121">
            <a:extLst>
              <a:ext uri="{FF2B5EF4-FFF2-40B4-BE49-F238E27FC236}">
                <a16:creationId xmlns:a16="http://schemas.microsoft.com/office/drawing/2014/main" id="{6199894F-7F5C-4AD7-8D31-78C6BD934688}"/>
              </a:ext>
            </a:extLst>
          </p:cNvPr>
          <p:cNvSpPr txBox="1">
            <a:spLocks noChangeArrowheads="1"/>
          </p:cNvSpPr>
          <p:nvPr/>
        </p:nvSpPr>
        <p:spPr bwMode="auto">
          <a:xfrm>
            <a:off x="5391151" y="5667376"/>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5</a:t>
            </a:r>
            <a:r>
              <a:rPr lang="sl-SI" altLang="en-US" sz="1000">
                <a:solidFill>
                  <a:schemeClr val="tx1"/>
                </a:solidFill>
              </a:rPr>
              <a:t>0</a:t>
            </a:r>
            <a:r>
              <a:rPr lang="en-US" altLang="en-US" sz="1000">
                <a:solidFill>
                  <a:schemeClr val="tx1"/>
                </a:solidFill>
              </a:rPr>
              <a:t>0</a:t>
            </a:r>
          </a:p>
        </p:txBody>
      </p:sp>
      <p:sp>
        <p:nvSpPr>
          <p:cNvPr id="49269" name="Text Box 122">
            <a:extLst>
              <a:ext uri="{FF2B5EF4-FFF2-40B4-BE49-F238E27FC236}">
                <a16:creationId xmlns:a16="http://schemas.microsoft.com/office/drawing/2014/main" id="{F3D6850C-643D-4B45-8CB3-C325383FF2F9}"/>
              </a:ext>
            </a:extLst>
          </p:cNvPr>
          <p:cNvSpPr txBox="1">
            <a:spLocks noChangeArrowheads="1"/>
          </p:cNvSpPr>
          <p:nvPr/>
        </p:nvSpPr>
        <p:spPr bwMode="auto">
          <a:xfrm>
            <a:off x="5327651" y="46863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13</a:t>
            </a:r>
            <a:r>
              <a:rPr lang="sl-SI" altLang="en-US" sz="1000">
                <a:solidFill>
                  <a:schemeClr val="tx1"/>
                </a:solidFill>
              </a:rPr>
              <a:t>0</a:t>
            </a:r>
            <a:r>
              <a:rPr lang="en-US" altLang="en-US" sz="1000">
                <a:solidFill>
                  <a:schemeClr val="tx1"/>
                </a:solidFill>
              </a:rPr>
              <a:t>0</a:t>
            </a:r>
          </a:p>
        </p:txBody>
      </p:sp>
      <p:sp>
        <p:nvSpPr>
          <p:cNvPr id="49270" name="Text Box 123">
            <a:extLst>
              <a:ext uri="{FF2B5EF4-FFF2-40B4-BE49-F238E27FC236}">
                <a16:creationId xmlns:a16="http://schemas.microsoft.com/office/drawing/2014/main" id="{8ED714E2-E407-4D2F-9880-F1E2B9605834}"/>
              </a:ext>
            </a:extLst>
          </p:cNvPr>
          <p:cNvSpPr txBox="1">
            <a:spLocks noChangeArrowheads="1"/>
          </p:cNvSpPr>
          <p:nvPr/>
        </p:nvSpPr>
        <p:spPr bwMode="auto">
          <a:xfrm>
            <a:off x="5394938" y="5159376"/>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80</a:t>
            </a:r>
            <a:r>
              <a:rPr lang="sl-SI" altLang="en-US" sz="1000">
                <a:solidFill>
                  <a:schemeClr val="tx1"/>
                </a:solidFill>
              </a:rPr>
              <a:t>0</a:t>
            </a:r>
            <a:endParaRPr lang="en-US" altLang="en-US" sz="1000">
              <a:solidFill>
                <a:schemeClr val="tx1"/>
              </a:solidFill>
            </a:endParaRPr>
          </a:p>
        </p:txBody>
      </p:sp>
      <p:sp>
        <p:nvSpPr>
          <p:cNvPr id="49271" name="Text Box 124">
            <a:extLst>
              <a:ext uri="{FF2B5EF4-FFF2-40B4-BE49-F238E27FC236}">
                <a16:creationId xmlns:a16="http://schemas.microsoft.com/office/drawing/2014/main" id="{BA09DD6E-23AC-47BF-80E3-853DE858AD5B}"/>
              </a:ext>
            </a:extLst>
          </p:cNvPr>
          <p:cNvSpPr txBox="1">
            <a:spLocks noChangeArrowheads="1"/>
          </p:cNvSpPr>
          <p:nvPr/>
        </p:nvSpPr>
        <p:spPr bwMode="auto">
          <a:xfrm>
            <a:off x="5379063" y="5905501"/>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42</a:t>
            </a:r>
            <a:r>
              <a:rPr lang="sl-SI" altLang="en-US" sz="1000">
                <a:solidFill>
                  <a:schemeClr val="tx1"/>
                </a:solidFill>
              </a:rPr>
              <a:t>0</a:t>
            </a:r>
            <a:endParaRPr lang="en-US" altLang="en-US" sz="1000">
              <a:solidFill>
                <a:schemeClr val="tx1"/>
              </a:solidFill>
            </a:endParaRPr>
          </a:p>
        </p:txBody>
      </p:sp>
      <p:sp>
        <p:nvSpPr>
          <p:cNvPr id="49272" name="Text Box 125">
            <a:extLst>
              <a:ext uri="{FF2B5EF4-FFF2-40B4-BE49-F238E27FC236}">
                <a16:creationId xmlns:a16="http://schemas.microsoft.com/office/drawing/2014/main" id="{9E696336-E50A-4A0D-94E9-342E4D5CE992}"/>
              </a:ext>
            </a:extLst>
          </p:cNvPr>
          <p:cNvSpPr txBox="1">
            <a:spLocks noChangeArrowheads="1"/>
          </p:cNvSpPr>
          <p:nvPr/>
        </p:nvSpPr>
        <p:spPr bwMode="auto">
          <a:xfrm>
            <a:off x="5462589" y="6134101"/>
            <a:ext cx="32543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8</a:t>
            </a:r>
            <a:r>
              <a:rPr lang="sl-SI" altLang="en-US" sz="1000">
                <a:solidFill>
                  <a:schemeClr val="tx1"/>
                </a:solidFill>
              </a:rPr>
              <a:t>0</a:t>
            </a:r>
            <a:endParaRPr lang="en-US" altLang="en-US" sz="1000">
              <a:solidFill>
                <a:schemeClr val="tx1"/>
              </a:solidFill>
            </a:endParaRPr>
          </a:p>
        </p:txBody>
      </p:sp>
      <p:sp>
        <p:nvSpPr>
          <p:cNvPr id="49273" name="Text Box 126">
            <a:extLst>
              <a:ext uri="{FF2B5EF4-FFF2-40B4-BE49-F238E27FC236}">
                <a16:creationId xmlns:a16="http://schemas.microsoft.com/office/drawing/2014/main" id="{22921A77-DA71-4E11-9BB6-EBACF90751F2}"/>
              </a:ext>
            </a:extLst>
          </p:cNvPr>
          <p:cNvSpPr txBox="1">
            <a:spLocks noChangeArrowheads="1"/>
          </p:cNvSpPr>
          <p:nvPr/>
        </p:nvSpPr>
        <p:spPr bwMode="auto">
          <a:xfrm>
            <a:off x="5314951" y="408305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26</a:t>
            </a:r>
            <a:r>
              <a:rPr lang="sl-SI" altLang="en-US" sz="1000">
                <a:solidFill>
                  <a:schemeClr val="tx1"/>
                </a:solidFill>
              </a:rPr>
              <a:t>0</a:t>
            </a:r>
            <a:r>
              <a:rPr lang="en-US" altLang="en-US" sz="1000">
                <a:solidFill>
                  <a:schemeClr val="tx1"/>
                </a:solidFill>
              </a:rPr>
              <a:t>0</a:t>
            </a:r>
          </a:p>
        </p:txBody>
      </p:sp>
      <p:sp>
        <p:nvSpPr>
          <p:cNvPr id="49274" name="Text Box 127">
            <a:extLst>
              <a:ext uri="{FF2B5EF4-FFF2-40B4-BE49-F238E27FC236}">
                <a16:creationId xmlns:a16="http://schemas.microsoft.com/office/drawing/2014/main" id="{6DBA8CB7-C511-46B5-920D-D88872F2BD5B}"/>
              </a:ext>
            </a:extLst>
          </p:cNvPr>
          <p:cNvSpPr txBox="1">
            <a:spLocks noChangeArrowheads="1"/>
          </p:cNvSpPr>
          <p:nvPr/>
        </p:nvSpPr>
        <p:spPr bwMode="auto">
          <a:xfrm>
            <a:off x="3176589" y="4251326"/>
            <a:ext cx="55403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(22</a:t>
            </a:r>
            <a:r>
              <a:rPr lang="sl-SI" altLang="en-US" sz="1000">
                <a:solidFill>
                  <a:schemeClr val="tx1"/>
                </a:solidFill>
              </a:rPr>
              <a:t>0</a:t>
            </a:r>
            <a:r>
              <a:rPr lang="en-US" altLang="en-US" sz="1000">
                <a:solidFill>
                  <a:schemeClr val="tx1"/>
                </a:solidFill>
              </a:rPr>
              <a:t>0)</a:t>
            </a:r>
          </a:p>
        </p:txBody>
      </p:sp>
      <p:sp>
        <p:nvSpPr>
          <p:cNvPr id="49275" name="Text Box 128">
            <a:extLst>
              <a:ext uri="{FF2B5EF4-FFF2-40B4-BE49-F238E27FC236}">
                <a16:creationId xmlns:a16="http://schemas.microsoft.com/office/drawing/2014/main" id="{58751879-5DFD-4D4A-A4DA-75C45796078B}"/>
              </a:ext>
            </a:extLst>
          </p:cNvPr>
          <p:cNvSpPr txBox="1">
            <a:spLocks noChangeArrowheads="1"/>
          </p:cNvSpPr>
          <p:nvPr/>
        </p:nvSpPr>
        <p:spPr bwMode="auto">
          <a:xfrm>
            <a:off x="3263901" y="55149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100</a:t>
            </a:r>
            <a:r>
              <a:rPr lang="sl-SI" altLang="en-US" sz="1000">
                <a:solidFill>
                  <a:schemeClr val="tx1"/>
                </a:solidFill>
              </a:rPr>
              <a:t>0</a:t>
            </a:r>
            <a:endParaRPr lang="en-US" altLang="en-US" sz="1000">
              <a:solidFill>
                <a:schemeClr val="tx1"/>
              </a:solidFill>
            </a:endParaRPr>
          </a:p>
        </p:txBody>
      </p:sp>
      <p:sp>
        <p:nvSpPr>
          <p:cNvPr id="49276" name="Text Box 129">
            <a:extLst>
              <a:ext uri="{FF2B5EF4-FFF2-40B4-BE49-F238E27FC236}">
                <a16:creationId xmlns:a16="http://schemas.microsoft.com/office/drawing/2014/main" id="{ED44BDCD-1EE9-47CD-953D-C85C8A6B659D}"/>
              </a:ext>
            </a:extLst>
          </p:cNvPr>
          <p:cNvSpPr txBox="1">
            <a:spLocks noChangeArrowheads="1"/>
          </p:cNvSpPr>
          <p:nvPr/>
        </p:nvSpPr>
        <p:spPr bwMode="auto">
          <a:xfrm>
            <a:off x="3263901" y="56769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130</a:t>
            </a:r>
            <a:r>
              <a:rPr lang="sl-SI" altLang="en-US" sz="1000">
                <a:solidFill>
                  <a:schemeClr val="tx1"/>
                </a:solidFill>
              </a:rPr>
              <a:t>0</a:t>
            </a:r>
            <a:endParaRPr lang="en-US" altLang="en-US" sz="1000">
              <a:solidFill>
                <a:schemeClr val="tx1"/>
              </a:solidFill>
            </a:endParaRPr>
          </a:p>
        </p:txBody>
      </p:sp>
      <p:sp>
        <p:nvSpPr>
          <p:cNvPr id="49277" name="Text Box 130">
            <a:extLst>
              <a:ext uri="{FF2B5EF4-FFF2-40B4-BE49-F238E27FC236}">
                <a16:creationId xmlns:a16="http://schemas.microsoft.com/office/drawing/2014/main" id="{6A7A782C-253A-4CE1-BD00-CF1CEEDF0DFE}"/>
              </a:ext>
            </a:extLst>
          </p:cNvPr>
          <p:cNvSpPr txBox="1">
            <a:spLocks noChangeArrowheads="1"/>
          </p:cNvSpPr>
          <p:nvPr/>
        </p:nvSpPr>
        <p:spPr bwMode="auto">
          <a:xfrm>
            <a:off x="3263901" y="46863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2300</a:t>
            </a:r>
          </a:p>
        </p:txBody>
      </p:sp>
      <p:sp>
        <p:nvSpPr>
          <p:cNvPr id="49278" name="Text Box 131">
            <a:extLst>
              <a:ext uri="{FF2B5EF4-FFF2-40B4-BE49-F238E27FC236}">
                <a16:creationId xmlns:a16="http://schemas.microsoft.com/office/drawing/2014/main" id="{EECE50FD-6BE2-4391-8B6A-B444988014FF}"/>
              </a:ext>
            </a:extLst>
          </p:cNvPr>
          <p:cNvSpPr txBox="1">
            <a:spLocks noChangeArrowheads="1"/>
          </p:cNvSpPr>
          <p:nvPr/>
        </p:nvSpPr>
        <p:spPr bwMode="auto">
          <a:xfrm>
            <a:off x="3334363" y="5905501"/>
            <a:ext cx="39626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98</a:t>
            </a:r>
            <a:r>
              <a:rPr lang="sl-SI" altLang="en-US" sz="1000">
                <a:solidFill>
                  <a:schemeClr val="tx1"/>
                </a:solidFill>
              </a:rPr>
              <a:t>0</a:t>
            </a:r>
            <a:endParaRPr lang="en-US" altLang="en-US" sz="1000">
              <a:solidFill>
                <a:schemeClr val="tx1"/>
              </a:solidFill>
            </a:endParaRPr>
          </a:p>
        </p:txBody>
      </p:sp>
      <p:sp>
        <p:nvSpPr>
          <p:cNvPr id="49279" name="Text Box 132">
            <a:extLst>
              <a:ext uri="{FF2B5EF4-FFF2-40B4-BE49-F238E27FC236}">
                <a16:creationId xmlns:a16="http://schemas.microsoft.com/office/drawing/2014/main" id="{0ADA901D-6572-46C0-89DC-DDF5CAB351F3}"/>
              </a:ext>
            </a:extLst>
          </p:cNvPr>
          <p:cNvSpPr txBox="1">
            <a:spLocks noChangeArrowheads="1"/>
          </p:cNvSpPr>
          <p:nvPr/>
        </p:nvSpPr>
        <p:spPr bwMode="auto">
          <a:xfrm>
            <a:off x="3346451" y="6121401"/>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320</a:t>
            </a:r>
          </a:p>
        </p:txBody>
      </p:sp>
      <p:sp>
        <p:nvSpPr>
          <p:cNvPr id="49280" name="Text Box 133">
            <a:extLst>
              <a:ext uri="{FF2B5EF4-FFF2-40B4-BE49-F238E27FC236}">
                <a16:creationId xmlns:a16="http://schemas.microsoft.com/office/drawing/2014/main" id="{744B442A-A4DD-4683-A65A-5BC1A84E18C6}"/>
              </a:ext>
            </a:extLst>
          </p:cNvPr>
          <p:cNvSpPr txBox="1">
            <a:spLocks noChangeArrowheads="1"/>
          </p:cNvSpPr>
          <p:nvPr/>
        </p:nvSpPr>
        <p:spPr bwMode="auto">
          <a:xfrm>
            <a:off x="3263901" y="407035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450</a:t>
            </a:r>
            <a:r>
              <a:rPr lang="sl-SI" altLang="en-US" sz="1000">
                <a:solidFill>
                  <a:schemeClr val="tx1"/>
                </a:solidFill>
              </a:rPr>
              <a:t>0</a:t>
            </a:r>
            <a:endParaRPr lang="en-US" altLang="en-US" sz="1000">
              <a:solidFill>
                <a:schemeClr val="tx1"/>
              </a:solidFill>
            </a:endParaRPr>
          </a:p>
        </p:txBody>
      </p:sp>
      <p:sp>
        <p:nvSpPr>
          <p:cNvPr id="49281" name="Text Box 138">
            <a:extLst>
              <a:ext uri="{FF2B5EF4-FFF2-40B4-BE49-F238E27FC236}">
                <a16:creationId xmlns:a16="http://schemas.microsoft.com/office/drawing/2014/main" id="{88B1A97C-2DD1-4261-B45C-406C2F8727B8}"/>
              </a:ext>
            </a:extLst>
          </p:cNvPr>
          <p:cNvSpPr txBox="1">
            <a:spLocks noChangeArrowheads="1"/>
          </p:cNvSpPr>
          <p:nvPr/>
        </p:nvSpPr>
        <p:spPr bwMode="auto">
          <a:xfrm>
            <a:off x="9575800" y="5676901"/>
            <a:ext cx="48260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a:t>
            </a:r>
            <a:r>
              <a:rPr lang="en-US" altLang="en-US" sz="1000">
                <a:solidFill>
                  <a:schemeClr val="tx1"/>
                </a:solidFill>
              </a:rPr>
              <a:t>90</a:t>
            </a:r>
            <a:r>
              <a:rPr lang="sl-SI" altLang="en-US" sz="1000">
                <a:solidFill>
                  <a:schemeClr val="tx1"/>
                </a:solidFill>
              </a:rPr>
              <a:t>0)</a:t>
            </a:r>
            <a:endParaRPr lang="en-US" altLang="en-US" sz="1000">
              <a:solidFill>
                <a:schemeClr val="tx1"/>
              </a:solidFill>
            </a:endParaRPr>
          </a:p>
        </p:txBody>
      </p:sp>
      <p:sp>
        <p:nvSpPr>
          <p:cNvPr id="49282" name="Text Box 168">
            <a:extLst>
              <a:ext uri="{FF2B5EF4-FFF2-40B4-BE49-F238E27FC236}">
                <a16:creationId xmlns:a16="http://schemas.microsoft.com/office/drawing/2014/main" id="{A829DAB7-42E0-4EA1-A5A1-CE6E1A6BB0D3}"/>
              </a:ext>
            </a:extLst>
          </p:cNvPr>
          <p:cNvSpPr txBox="1">
            <a:spLocks noChangeArrowheads="1"/>
          </p:cNvSpPr>
          <p:nvPr/>
        </p:nvSpPr>
        <p:spPr bwMode="auto">
          <a:xfrm>
            <a:off x="1981201" y="5905501"/>
            <a:ext cx="9064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Sharing 70%</a:t>
            </a:r>
          </a:p>
        </p:txBody>
      </p:sp>
      <p:sp>
        <p:nvSpPr>
          <p:cNvPr id="49283" name="Text Box 169">
            <a:extLst>
              <a:ext uri="{FF2B5EF4-FFF2-40B4-BE49-F238E27FC236}">
                <a16:creationId xmlns:a16="http://schemas.microsoft.com/office/drawing/2014/main" id="{FBEA9D30-45DD-4C0F-B8AB-AEC74F247AB5}"/>
              </a:ext>
            </a:extLst>
          </p:cNvPr>
          <p:cNvSpPr txBox="1">
            <a:spLocks noChangeArrowheads="1"/>
          </p:cNvSpPr>
          <p:nvPr/>
        </p:nvSpPr>
        <p:spPr bwMode="auto">
          <a:xfrm>
            <a:off x="4038601" y="5918201"/>
            <a:ext cx="9064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Sharing 30%</a:t>
            </a:r>
          </a:p>
        </p:txBody>
      </p:sp>
      <p:sp>
        <p:nvSpPr>
          <p:cNvPr id="49284" name="Text Box 85">
            <a:extLst>
              <a:ext uri="{FF2B5EF4-FFF2-40B4-BE49-F238E27FC236}">
                <a16:creationId xmlns:a16="http://schemas.microsoft.com/office/drawing/2014/main" id="{9CE6F3E8-58CA-4B9E-BB76-FF26D48C2292}"/>
              </a:ext>
            </a:extLst>
          </p:cNvPr>
          <p:cNvSpPr txBox="1">
            <a:spLocks noChangeArrowheads="1"/>
          </p:cNvSpPr>
          <p:nvPr/>
        </p:nvSpPr>
        <p:spPr bwMode="auto">
          <a:xfrm>
            <a:off x="4038600" y="5149851"/>
            <a:ext cx="131799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Operative expenses</a:t>
            </a:r>
          </a:p>
        </p:txBody>
      </p:sp>
      <p:sp>
        <p:nvSpPr>
          <p:cNvPr id="49285" name="Text Box 85">
            <a:extLst>
              <a:ext uri="{FF2B5EF4-FFF2-40B4-BE49-F238E27FC236}">
                <a16:creationId xmlns:a16="http://schemas.microsoft.com/office/drawing/2014/main" id="{8AF4C3AD-BBC9-444F-B7B0-9E6077BA3F0F}"/>
              </a:ext>
            </a:extLst>
          </p:cNvPr>
          <p:cNvSpPr txBox="1">
            <a:spLocks noChangeArrowheads="1"/>
          </p:cNvSpPr>
          <p:nvPr/>
        </p:nvSpPr>
        <p:spPr bwMode="auto">
          <a:xfrm>
            <a:off x="1981200" y="5164139"/>
            <a:ext cx="131799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Operative expenses</a:t>
            </a:r>
          </a:p>
        </p:txBody>
      </p:sp>
      <p:sp>
        <p:nvSpPr>
          <p:cNvPr id="49286" name="Text Box 123">
            <a:extLst>
              <a:ext uri="{FF2B5EF4-FFF2-40B4-BE49-F238E27FC236}">
                <a16:creationId xmlns:a16="http://schemas.microsoft.com/office/drawing/2014/main" id="{4FA8925A-8620-4ED1-B75A-63BEA0156200}"/>
              </a:ext>
            </a:extLst>
          </p:cNvPr>
          <p:cNvSpPr txBox="1">
            <a:spLocks noChangeArrowheads="1"/>
          </p:cNvSpPr>
          <p:nvPr/>
        </p:nvSpPr>
        <p:spPr bwMode="auto">
          <a:xfrm>
            <a:off x="3267006" y="5181601"/>
            <a:ext cx="46679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100</a:t>
            </a:r>
            <a:r>
              <a:rPr lang="sl-SI" altLang="en-US" sz="1000">
                <a:solidFill>
                  <a:schemeClr val="tx1"/>
                </a:solidFill>
              </a:rPr>
              <a:t>0</a:t>
            </a:r>
            <a:endParaRPr lang="en-US" altLang="en-US" sz="1000">
              <a:solidFill>
                <a:schemeClr val="tx1"/>
              </a:solidFill>
            </a:endParaRPr>
          </a:p>
        </p:txBody>
      </p:sp>
      <p:sp>
        <p:nvSpPr>
          <p:cNvPr id="49287" name="Text Box 116">
            <a:extLst>
              <a:ext uri="{FF2B5EF4-FFF2-40B4-BE49-F238E27FC236}">
                <a16:creationId xmlns:a16="http://schemas.microsoft.com/office/drawing/2014/main" id="{D802E5F3-3D41-4C87-8323-BC3F16A32A8D}"/>
              </a:ext>
            </a:extLst>
          </p:cNvPr>
          <p:cNvSpPr txBox="1">
            <a:spLocks noChangeArrowheads="1"/>
          </p:cNvSpPr>
          <p:nvPr/>
        </p:nvSpPr>
        <p:spPr bwMode="auto">
          <a:xfrm>
            <a:off x="7585076" y="51562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sr-Latn-CS" altLang="en-US" sz="1000">
                <a:solidFill>
                  <a:schemeClr val="tx1"/>
                </a:solidFill>
              </a:rPr>
              <a:t>10</a:t>
            </a:r>
            <a:r>
              <a:rPr lang="en-US" altLang="en-US" sz="1000">
                <a:solidFill>
                  <a:schemeClr val="tx1"/>
                </a:solidFill>
              </a:rPr>
              <a:t>0</a:t>
            </a:r>
            <a:r>
              <a:rPr lang="sl-SI" altLang="en-US" sz="1000">
                <a:solidFill>
                  <a:schemeClr val="tx1"/>
                </a:solidFill>
              </a:rPr>
              <a:t>0</a:t>
            </a:r>
            <a:endParaRPr lang="en-US" altLang="en-US" sz="1000">
              <a:solidFill>
                <a:schemeClr val="tx1"/>
              </a:solidFill>
            </a:endParaRPr>
          </a:p>
        </p:txBody>
      </p:sp>
      <p:sp>
        <p:nvSpPr>
          <p:cNvPr id="49288" name="Text Box 116">
            <a:extLst>
              <a:ext uri="{FF2B5EF4-FFF2-40B4-BE49-F238E27FC236}">
                <a16:creationId xmlns:a16="http://schemas.microsoft.com/office/drawing/2014/main" id="{86F59802-CAC6-4C0F-9E05-6E001F859458}"/>
              </a:ext>
            </a:extLst>
          </p:cNvPr>
          <p:cNvSpPr txBox="1">
            <a:spLocks noChangeArrowheads="1"/>
          </p:cNvSpPr>
          <p:nvPr/>
        </p:nvSpPr>
        <p:spPr bwMode="auto">
          <a:xfrm>
            <a:off x="7642226" y="5308601"/>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50</a:t>
            </a:r>
            <a:r>
              <a:rPr lang="sl-SI" altLang="en-US" sz="1000">
                <a:solidFill>
                  <a:schemeClr val="tx1"/>
                </a:solidFill>
              </a:rPr>
              <a:t>0</a:t>
            </a:r>
            <a:endParaRPr lang="en-US" altLang="en-US" sz="1000">
              <a:solidFill>
                <a:schemeClr val="tx1"/>
              </a:solidFill>
            </a:endParaRPr>
          </a:p>
        </p:txBody>
      </p:sp>
      <p:sp>
        <p:nvSpPr>
          <p:cNvPr id="49289" name="Rectangle 2">
            <a:extLst>
              <a:ext uri="{FF2B5EF4-FFF2-40B4-BE49-F238E27FC236}">
                <a16:creationId xmlns:a16="http://schemas.microsoft.com/office/drawing/2014/main" id="{0451A0CE-FC2E-45DF-AC1D-C560D40B1178}"/>
              </a:ext>
            </a:extLst>
          </p:cNvPr>
          <p:cNvSpPr>
            <a:spLocks noChangeArrowheads="1"/>
          </p:cNvSpPr>
          <p:nvPr/>
        </p:nvSpPr>
        <p:spPr bwMode="auto">
          <a:xfrm>
            <a:off x="6273800" y="609600"/>
            <a:ext cx="1752600" cy="304800"/>
          </a:xfrm>
          <a:prstGeom prst="rect">
            <a:avLst/>
          </a:prstGeom>
          <a:solidFill>
            <a:schemeClr val="tx1"/>
          </a:solidFill>
          <a:ln w="9525">
            <a:solidFill>
              <a:schemeClr val="tx1"/>
            </a:solidFill>
            <a:miter lim="800000"/>
            <a:headEnd/>
            <a:tailEnd/>
          </a:ln>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290" name="Rectangle 42">
            <a:extLst>
              <a:ext uri="{FF2B5EF4-FFF2-40B4-BE49-F238E27FC236}">
                <a16:creationId xmlns:a16="http://schemas.microsoft.com/office/drawing/2014/main" id="{F31210D1-4117-470A-A1AB-119A9736A61E}"/>
              </a:ext>
            </a:extLst>
          </p:cNvPr>
          <p:cNvSpPr>
            <a:spLocks noChangeArrowheads="1"/>
          </p:cNvSpPr>
          <p:nvPr/>
        </p:nvSpPr>
        <p:spPr bwMode="auto">
          <a:xfrm>
            <a:off x="6273800" y="914400"/>
            <a:ext cx="1752600" cy="2362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291" name="Text Box 43">
            <a:extLst>
              <a:ext uri="{FF2B5EF4-FFF2-40B4-BE49-F238E27FC236}">
                <a16:creationId xmlns:a16="http://schemas.microsoft.com/office/drawing/2014/main" id="{5A665D87-5192-41C6-A958-3AAF98A175D6}"/>
              </a:ext>
            </a:extLst>
          </p:cNvPr>
          <p:cNvSpPr txBox="1">
            <a:spLocks noChangeArrowheads="1"/>
          </p:cNvSpPr>
          <p:nvPr/>
        </p:nvSpPr>
        <p:spPr bwMode="auto">
          <a:xfrm>
            <a:off x="6197600" y="939801"/>
            <a:ext cx="13035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Beginning inventory</a:t>
            </a:r>
            <a:endParaRPr lang="en-US" altLang="en-US" sz="1200">
              <a:solidFill>
                <a:schemeClr val="tx1"/>
              </a:solidFill>
            </a:endParaRPr>
          </a:p>
        </p:txBody>
      </p:sp>
      <p:sp>
        <p:nvSpPr>
          <p:cNvPr id="49292" name="Text Box 44">
            <a:extLst>
              <a:ext uri="{FF2B5EF4-FFF2-40B4-BE49-F238E27FC236}">
                <a16:creationId xmlns:a16="http://schemas.microsoft.com/office/drawing/2014/main" id="{C7456FD4-412D-41A1-BC2E-AFFABB045E7E}"/>
              </a:ext>
            </a:extLst>
          </p:cNvPr>
          <p:cNvSpPr txBox="1">
            <a:spLocks noChangeArrowheads="1"/>
          </p:cNvSpPr>
          <p:nvPr/>
        </p:nvSpPr>
        <p:spPr bwMode="auto">
          <a:xfrm>
            <a:off x="6197600" y="1701801"/>
            <a:ext cx="75088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Decrease</a:t>
            </a:r>
          </a:p>
        </p:txBody>
      </p:sp>
      <p:sp>
        <p:nvSpPr>
          <p:cNvPr id="49293" name="Text Box 45">
            <a:extLst>
              <a:ext uri="{FF2B5EF4-FFF2-40B4-BE49-F238E27FC236}">
                <a16:creationId xmlns:a16="http://schemas.microsoft.com/office/drawing/2014/main" id="{ED91A9A9-51ED-4F45-8C4C-C27EEAFFC56E}"/>
              </a:ext>
            </a:extLst>
          </p:cNvPr>
          <p:cNvSpPr txBox="1">
            <a:spLocks noChangeArrowheads="1"/>
          </p:cNvSpPr>
          <p:nvPr/>
        </p:nvSpPr>
        <p:spPr bwMode="auto">
          <a:xfrm>
            <a:off x="6996027" y="15240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94" name="Text Box 46">
            <a:extLst>
              <a:ext uri="{FF2B5EF4-FFF2-40B4-BE49-F238E27FC236}">
                <a16:creationId xmlns:a16="http://schemas.microsoft.com/office/drawing/2014/main" id="{37A58616-C322-410F-8673-ED138F7F7AFD}"/>
              </a:ext>
            </a:extLst>
          </p:cNvPr>
          <p:cNvSpPr txBox="1">
            <a:spLocks noChangeArrowheads="1"/>
          </p:cNvSpPr>
          <p:nvPr/>
        </p:nvSpPr>
        <p:spPr bwMode="auto">
          <a:xfrm>
            <a:off x="6996027" y="23622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295" name="Text Box 47">
            <a:extLst>
              <a:ext uri="{FF2B5EF4-FFF2-40B4-BE49-F238E27FC236}">
                <a16:creationId xmlns:a16="http://schemas.microsoft.com/office/drawing/2014/main" id="{FD66FBF3-13AF-478C-9D9E-7623EF0F37D0}"/>
              </a:ext>
            </a:extLst>
          </p:cNvPr>
          <p:cNvSpPr txBox="1">
            <a:spLocks noChangeArrowheads="1"/>
          </p:cNvSpPr>
          <p:nvPr/>
        </p:nvSpPr>
        <p:spPr bwMode="auto">
          <a:xfrm>
            <a:off x="6197600" y="2679701"/>
            <a:ext cx="113364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Ending inventory</a:t>
            </a:r>
          </a:p>
        </p:txBody>
      </p:sp>
      <p:sp>
        <p:nvSpPr>
          <p:cNvPr id="49296" name="Line 48">
            <a:extLst>
              <a:ext uri="{FF2B5EF4-FFF2-40B4-BE49-F238E27FC236}">
                <a16:creationId xmlns:a16="http://schemas.microsoft.com/office/drawing/2014/main" id="{C69FAD5A-70D7-49B1-92DE-11FA87B52426}"/>
              </a:ext>
            </a:extLst>
          </p:cNvPr>
          <p:cNvSpPr>
            <a:spLocks noChangeShapeType="1"/>
          </p:cNvSpPr>
          <p:nvPr/>
        </p:nvSpPr>
        <p:spPr bwMode="auto">
          <a:xfrm>
            <a:off x="7416800" y="1752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97" name="Line 49">
            <a:extLst>
              <a:ext uri="{FF2B5EF4-FFF2-40B4-BE49-F238E27FC236}">
                <a16:creationId xmlns:a16="http://schemas.microsoft.com/office/drawing/2014/main" id="{6C2E2D1F-2399-4658-9FEA-E1D9C3F7369D}"/>
              </a:ext>
            </a:extLst>
          </p:cNvPr>
          <p:cNvSpPr>
            <a:spLocks noChangeShapeType="1"/>
          </p:cNvSpPr>
          <p:nvPr/>
        </p:nvSpPr>
        <p:spPr bwMode="auto">
          <a:xfrm>
            <a:off x="7416800" y="16002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98" name="Line 50">
            <a:extLst>
              <a:ext uri="{FF2B5EF4-FFF2-40B4-BE49-F238E27FC236}">
                <a16:creationId xmlns:a16="http://schemas.microsoft.com/office/drawing/2014/main" id="{947DC37E-3103-48A5-A57D-65B67F1D4154}"/>
              </a:ext>
            </a:extLst>
          </p:cNvPr>
          <p:cNvSpPr>
            <a:spLocks noChangeShapeType="1"/>
          </p:cNvSpPr>
          <p:nvPr/>
        </p:nvSpPr>
        <p:spPr bwMode="auto">
          <a:xfrm>
            <a:off x="7416800" y="25908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299" name="Line 51">
            <a:extLst>
              <a:ext uri="{FF2B5EF4-FFF2-40B4-BE49-F238E27FC236}">
                <a16:creationId xmlns:a16="http://schemas.microsoft.com/office/drawing/2014/main" id="{C8F8CB7E-1875-484C-92BE-CF14F7C1185F}"/>
              </a:ext>
            </a:extLst>
          </p:cNvPr>
          <p:cNvSpPr>
            <a:spLocks noChangeShapeType="1"/>
          </p:cNvSpPr>
          <p:nvPr/>
        </p:nvSpPr>
        <p:spPr bwMode="auto">
          <a:xfrm>
            <a:off x="7416800" y="2438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00" name="Line 52">
            <a:extLst>
              <a:ext uri="{FF2B5EF4-FFF2-40B4-BE49-F238E27FC236}">
                <a16:creationId xmlns:a16="http://schemas.microsoft.com/office/drawing/2014/main" id="{42988991-E4F3-411E-B001-22BBBD57D9B1}"/>
              </a:ext>
            </a:extLst>
          </p:cNvPr>
          <p:cNvSpPr>
            <a:spLocks noChangeShapeType="1"/>
          </p:cNvSpPr>
          <p:nvPr/>
        </p:nvSpPr>
        <p:spPr bwMode="auto">
          <a:xfrm>
            <a:off x="7416800" y="2895600"/>
            <a:ext cx="53340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01" name="Text Box 53">
            <a:extLst>
              <a:ext uri="{FF2B5EF4-FFF2-40B4-BE49-F238E27FC236}">
                <a16:creationId xmlns:a16="http://schemas.microsoft.com/office/drawing/2014/main" id="{EBF1E4A3-B88D-4F4C-ACCA-4818B6826204}"/>
              </a:ext>
            </a:extLst>
          </p:cNvPr>
          <p:cNvSpPr txBox="1">
            <a:spLocks noChangeArrowheads="1"/>
          </p:cNvSpPr>
          <p:nvPr/>
        </p:nvSpPr>
        <p:spPr bwMode="auto">
          <a:xfrm>
            <a:off x="6412838" y="596901"/>
            <a:ext cx="14173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rgbClr val="FFFFFF"/>
                </a:solidFill>
              </a:rPr>
              <a:t>Inventory of FG</a:t>
            </a:r>
          </a:p>
        </p:txBody>
      </p:sp>
      <p:sp>
        <p:nvSpPr>
          <p:cNvPr id="49302" name="Text Box 93">
            <a:extLst>
              <a:ext uri="{FF2B5EF4-FFF2-40B4-BE49-F238E27FC236}">
                <a16:creationId xmlns:a16="http://schemas.microsoft.com/office/drawing/2014/main" id="{A3789B40-DF4B-4BAB-A972-20234D005935}"/>
              </a:ext>
            </a:extLst>
          </p:cNvPr>
          <p:cNvSpPr txBox="1">
            <a:spLocks noChangeArrowheads="1"/>
          </p:cNvSpPr>
          <p:nvPr/>
        </p:nvSpPr>
        <p:spPr bwMode="auto">
          <a:xfrm>
            <a:off x="6273800" y="1231901"/>
            <a:ext cx="147478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Increase of Computers</a:t>
            </a:r>
          </a:p>
        </p:txBody>
      </p:sp>
      <p:sp>
        <p:nvSpPr>
          <p:cNvPr id="49303" name="Text Box 94">
            <a:extLst>
              <a:ext uri="{FF2B5EF4-FFF2-40B4-BE49-F238E27FC236}">
                <a16:creationId xmlns:a16="http://schemas.microsoft.com/office/drawing/2014/main" id="{92CC5562-0698-4644-BE73-25F8D719650D}"/>
              </a:ext>
            </a:extLst>
          </p:cNvPr>
          <p:cNvSpPr txBox="1">
            <a:spLocks noChangeArrowheads="1"/>
          </p:cNvSpPr>
          <p:nvPr/>
        </p:nvSpPr>
        <p:spPr bwMode="auto">
          <a:xfrm>
            <a:off x="6273800" y="1384301"/>
            <a:ext cx="129063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Increase of Printers</a:t>
            </a:r>
          </a:p>
        </p:txBody>
      </p:sp>
      <p:sp>
        <p:nvSpPr>
          <p:cNvPr id="49304" name="Text Box 95">
            <a:extLst>
              <a:ext uri="{FF2B5EF4-FFF2-40B4-BE49-F238E27FC236}">
                <a16:creationId xmlns:a16="http://schemas.microsoft.com/office/drawing/2014/main" id="{1C543E67-33F5-4666-B5BC-C6184CAADCB9}"/>
              </a:ext>
            </a:extLst>
          </p:cNvPr>
          <p:cNvSpPr txBox="1">
            <a:spLocks noChangeArrowheads="1"/>
          </p:cNvSpPr>
          <p:nvPr/>
        </p:nvSpPr>
        <p:spPr bwMode="auto">
          <a:xfrm>
            <a:off x="6273800" y="1866901"/>
            <a:ext cx="128428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Cogs to Computers</a:t>
            </a:r>
          </a:p>
        </p:txBody>
      </p:sp>
      <p:sp>
        <p:nvSpPr>
          <p:cNvPr id="49305" name="Text Box 97">
            <a:extLst>
              <a:ext uri="{FF2B5EF4-FFF2-40B4-BE49-F238E27FC236}">
                <a16:creationId xmlns:a16="http://schemas.microsoft.com/office/drawing/2014/main" id="{BC5CC967-422F-470E-B43C-FC32E2C9A25E}"/>
              </a:ext>
            </a:extLst>
          </p:cNvPr>
          <p:cNvSpPr txBox="1">
            <a:spLocks noChangeArrowheads="1"/>
          </p:cNvSpPr>
          <p:nvPr/>
        </p:nvSpPr>
        <p:spPr bwMode="auto">
          <a:xfrm>
            <a:off x="6273801" y="2019301"/>
            <a:ext cx="1135063"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Cogs to Printers</a:t>
            </a:r>
          </a:p>
        </p:txBody>
      </p:sp>
      <p:sp>
        <p:nvSpPr>
          <p:cNvPr id="49306" name="Text Box 101">
            <a:extLst>
              <a:ext uri="{FF2B5EF4-FFF2-40B4-BE49-F238E27FC236}">
                <a16:creationId xmlns:a16="http://schemas.microsoft.com/office/drawing/2014/main" id="{45EE1F6E-540F-41B0-B24D-589EDFD25822}"/>
              </a:ext>
            </a:extLst>
          </p:cNvPr>
          <p:cNvSpPr txBox="1">
            <a:spLocks noChangeArrowheads="1"/>
          </p:cNvSpPr>
          <p:nvPr/>
        </p:nvSpPr>
        <p:spPr bwMode="auto">
          <a:xfrm>
            <a:off x="7607301" y="157162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4000</a:t>
            </a:r>
          </a:p>
        </p:txBody>
      </p:sp>
      <p:sp>
        <p:nvSpPr>
          <p:cNvPr id="49307" name="Text Box 102">
            <a:extLst>
              <a:ext uri="{FF2B5EF4-FFF2-40B4-BE49-F238E27FC236}">
                <a16:creationId xmlns:a16="http://schemas.microsoft.com/office/drawing/2014/main" id="{A6FB2B70-8A69-4559-AF51-F8D34DE44C43}"/>
              </a:ext>
            </a:extLst>
          </p:cNvPr>
          <p:cNvSpPr txBox="1">
            <a:spLocks noChangeArrowheads="1"/>
          </p:cNvSpPr>
          <p:nvPr/>
        </p:nvSpPr>
        <p:spPr bwMode="auto">
          <a:xfrm>
            <a:off x="7556501" y="23907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3500</a:t>
            </a:r>
          </a:p>
        </p:txBody>
      </p:sp>
      <p:sp>
        <p:nvSpPr>
          <p:cNvPr id="49308" name="Text Box 103">
            <a:extLst>
              <a:ext uri="{FF2B5EF4-FFF2-40B4-BE49-F238E27FC236}">
                <a16:creationId xmlns:a16="http://schemas.microsoft.com/office/drawing/2014/main" id="{453F18A1-AF82-42A7-92E8-C077809C3864}"/>
              </a:ext>
            </a:extLst>
          </p:cNvPr>
          <p:cNvSpPr txBox="1">
            <a:spLocks noChangeArrowheads="1"/>
          </p:cNvSpPr>
          <p:nvPr/>
        </p:nvSpPr>
        <p:spPr bwMode="auto">
          <a:xfrm>
            <a:off x="7626351" y="2676526"/>
            <a:ext cx="3968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500</a:t>
            </a:r>
          </a:p>
        </p:txBody>
      </p:sp>
      <p:sp>
        <p:nvSpPr>
          <p:cNvPr id="49309" name="Text Box 104">
            <a:extLst>
              <a:ext uri="{FF2B5EF4-FFF2-40B4-BE49-F238E27FC236}">
                <a16:creationId xmlns:a16="http://schemas.microsoft.com/office/drawing/2014/main" id="{68A16ADE-8EBC-4518-B954-50E1D850CA6D}"/>
              </a:ext>
            </a:extLst>
          </p:cNvPr>
          <p:cNvSpPr txBox="1">
            <a:spLocks noChangeArrowheads="1"/>
          </p:cNvSpPr>
          <p:nvPr/>
        </p:nvSpPr>
        <p:spPr bwMode="auto">
          <a:xfrm>
            <a:off x="7645401" y="12319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25</a:t>
            </a:r>
            <a:r>
              <a:rPr lang="sl-SI" altLang="en-US" sz="1000">
                <a:solidFill>
                  <a:schemeClr val="tx1"/>
                </a:solidFill>
              </a:rPr>
              <a:t>0</a:t>
            </a:r>
            <a:r>
              <a:rPr lang="en-US" altLang="en-US" sz="1000">
                <a:solidFill>
                  <a:schemeClr val="tx1"/>
                </a:solidFill>
              </a:rPr>
              <a:t>0</a:t>
            </a:r>
          </a:p>
        </p:txBody>
      </p:sp>
      <p:sp>
        <p:nvSpPr>
          <p:cNvPr id="49310" name="Text Box 105">
            <a:extLst>
              <a:ext uri="{FF2B5EF4-FFF2-40B4-BE49-F238E27FC236}">
                <a16:creationId xmlns:a16="http://schemas.microsoft.com/office/drawing/2014/main" id="{7958CA7E-CC57-4CF1-AC46-9A66E26B5CE9}"/>
              </a:ext>
            </a:extLst>
          </p:cNvPr>
          <p:cNvSpPr txBox="1">
            <a:spLocks noChangeArrowheads="1"/>
          </p:cNvSpPr>
          <p:nvPr/>
        </p:nvSpPr>
        <p:spPr bwMode="auto">
          <a:xfrm>
            <a:off x="7632701" y="13747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1500</a:t>
            </a:r>
          </a:p>
        </p:txBody>
      </p:sp>
      <p:sp>
        <p:nvSpPr>
          <p:cNvPr id="49311" name="Text Box 106">
            <a:extLst>
              <a:ext uri="{FF2B5EF4-FFF2-40B4-BE49-F238E27FC236}">
                <a16:creationId xmlns:a16="http://schemas.microsoft.com/office/drawing/2014/main" id="{40DFE9A2-F070-49F0-BC27-6D221133656A}"/>
              </a:ext>
            </a:extLst>
          </p:cNvPr>
          <p:cNvSpPr txBox="1">
            <a:spLocks noChangeArrowheads="1"/>
          </p:cNvSpPr>
          <p:nvPr/>
        </p:nvSpPr>
        <p:spPr bwMode="auto">
          <a:xfrm>
            <a:off x="7556501" y="18446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2200</a:t>
            </a:r>
          </a:p>
        </p:txBody>
      </p:sp>
      <p:sp>
        <p:nvSpPr>
          <p:cNvPr id="49312" name="Text Box 107">
            <a:extLst>
              <a:ext uri="{FF2B5EF4-FFF2-40B4-BE49-F238E27FC236}">
                <a16:creationId xmlns:a16="http://schemas.microsoft.com/office/drawing/2014/main" id="{5FCCD761-ABDD-4242-98BA-88017C5AC4A0}"/>
              </a:ext>
            </a:extLst>
          </p:cNvPr>
          <p:cNvSpPr txBox="1">
            <a:spLocks noChangeArrowheads="1"/>
          </p:cNvSpPr>
          <p:nvPr/>
        </p:nvSpPr>
        <p:spPr bwMode="auto">
          <a:xfrm>
            <a:off x="7556501" y="19970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13</a:t>
            </a:r>
            <a:r>
              <a:rPr lang="sl-SI" altLang="en-US" sz="1000">
                <a:solidFill>
                  <a:schemeClr val="tx1"/>
                </a:solidFill>
              </a:rPr>
              <a:t>0</a:t>
            </a:r>
            <a:r>
              <a:rPr lang="en-US" altLang="en-US" sz="1000">
                <a:solidFill>
                  <a:schemeClr val="tx1"/>
                </a:solidFill>
              </a:rPr>
              <a:t>0</a:t>
            </a:r>
          </a:p>
        </p:txBody>
      </p:sp>
      <p:sp>
        <p:nvSpPr>
          <p:cNvPr id="49313" name="Text Box 93">
            <a:extLst>
              <a:ext uri="{FF2B5EF4-FFF2-40B4-BE49-F238E27FC236}">
                <a16:creationId xmlns:a16="http://schemas.microsoft.com/office/drawing/2014/main" id="{346C8261-87B7-48EE-9A43-DEA2AD97DB93}"/>
              </a:ext>
            </a:extLst>
          </p:cNvPr>
          <p:cNvSpPr txBox="1">
            <a:spLocks noChangeArrowheads="1"/>
          </p:cNvSpPr>
          <p:nvPr/>
        </p:nvSpPr>
        <p:spPr bwMode="auto">
          <a:xfrm>
            <a:off x="6197600" y="1104901"/>
            <a:ext cx="70008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Increase</a:t>
            </a:r>
          </a:p>
        </p:txBody>
      </p:sp>
      <p:sp>
        <p:nvSpPr>
          <p:cNvPr id="49314" name="Text Box 104">
            <a:extLst>
              <a:ext uri="{FF2B5EF4-FFF2-40B4-BE49-F238E27FC236}">
                <a16:creationId xmlns:a16="http://schemas.microsoft.com/office/drawing/2014/main" id="{A7AB0C34-6E07-4974-9F27-5AA2AFC0B051}"/>
              </a:ext>
            </a:extLst>
          </p:cNvPr>
          <p:cNvSpPr txBox="1">
            <a:spLocks noChangeArrowheads="1"/>
          </p:cNvSpPr>
          <p:nvPr/>
        </p:nvSpPr>
        <p:spPr bwMode="auto">
          <a:xfrm>
            <a:off x="7805739" y="965201"/>
            <a:ext cx="25558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0</a:t>
            </a:r>
          </a:p>
        </p:txBody>
      </p:sp>
      <p:sp>
        <p:nvSpPr>
          <p:cNvPr id="49315" name="TextBox 177">
            <a:extLst>
              <a:ext uri="{FF2B5EF4-FFF2-40B4-BE49-F238E27FC236}">
                <a16:creationId xmlns:a16="http://schemas.microsoft.com/office/drawing/2014/main" id="{B4FDBB7A-3759-4145-820D-205C040D18F2}"/>
              </a:ext>
            </a:extLst>
          </p:cNvPr>
          <p:cNvSpPr txBox="1">
            <a:spLocks noChangeArrowheads="1"/>
          </p:cNvSpPr>
          <p:nvPr/>
        </p:nvSpPr>
        <p:spPr bwMode="auto">
          <a:xfrm>
            <a:off x="1773238" y="1074738"/>
            <a:ext cx="21590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600">
                <a:solidFill>
                  <a:schemeClr val="tx1"/>
                </a:solidFill>
              </a:rPr>
              <a:t>Charged from </a:t>
            </a:r>
          </a:p>
          <a:p>
            <a:pPr eaLnBrk="1" hangingPunct="1">
              <a:lnSpc>
                <a:spcPct val="100000"/>
              </a:lnSpc>
              <a:spcAft>
                <a:spcPct val="0"/>
              </a:spcAft>
              <a:buClrTx/>
              <a:buSzTx/>
              <a:buFontTx/>
              <a:buNone/>
            </a:pPr>
            <a:r>
              <a:rPr lang="en-US" altLang="en-US" sz="1600">
                <a:solidFill>
                  <a:schemeClr val="tx1"/>
                </a:solidFill>
              </a:rPr>
              <a:t>Inventory of Material</a:t>
            </a:r>
          </a:p>
          <a:p>
            <a:pPr eaLnBrk="1" hangingPunct="1">
              <a:lnSpc>
                <a:spcPct val="100000"/>
              </a:lnSpc>
              <a:spcAft>
                <a:spcPct val="0"/>
              </a:spcAft>
              <a:buClrTx/>
              <a:buSzTx/>
              <a:buFontTx/>
              <a:buNone/>
            </a:pPr>
            <a:endParaRPr lang="en-US" altLang="en-US" sz="1600">
              <a:solidFill>
                <a:schemeClr val="tx1"/>
              </a:solidFill>
            </a:endParaRPr>
          </a:p>
          <a:p>
            <a:pPr eaLnBrk="1" hangingPunct="1">
              <a:lnSpc>
                <a:spcPct val="100000"/>
              </a:lnSpc>
              <a:spcAft>
                <a:spcPct val="0"/>
              </a:spcAft>
              <a:buClrTx/>
              <a:buSzTx/>
              <a:buFontTx/>
              <a:buNone/>
            </a:pPr>
            <a:r>
              <a:rPr lang="en-US" altLang="en-US" sz="1600">
                <a:solidFill>
                  <a:schemeClr val="tx1"/>
                </a:solidFill>
              </a:rPr>
              <a:t>Charged to Inventory </a:t>
            </a:r>
          </a:p>
          <a:p>
            <a:pPr eaLnBrk="1" hangingPunct="1">
              <a:lnSpc>
                <a:spcPct val="100000"/>
              </a:lnSpc>
              <a:spcAft>
                <a:spcPct val="0"/>
              </a:spcAft>
              <a:buClrTx/>
              <a:buSzTx/>
              <a:buFontTx/>
              <a:buNone/>
            </a:pPr>
            <a:r>
              <a:rPr lang="en-US" altLang="en-US" sz="1600">
                <a:solidFill>
                  <a:schemeClr val="tx1"/>
                </a:solidFill>
              </a:rPr>
              <a:t>of Finished goods</a:t>
            </a:r>
          </a:p>
          <a:p>
            <a:pPr eaLnBrk="1" hangingPunct="1">
              <a:lnSpc>
                <a:spcPct val="100000"/>
              </a:lnSpc>
              <a:spcAft>
                <a:spcPct val="0"/>
              </a:spcAft>
              <a:buClrTx/>
              <a:buSzTx/>
              <a:buFontTx/>
              <a:buNone/>
            </a:pPr>
            <a:endParaRPr lang="en-US" altLang="en-US" sz="1600">
              <a:solidFill>
                <a:schemeClr val="tx1"/>
              </a:solidFill>
            </a:endParaRPr>
          </a:p>
          <a:p>
            <a:pPr eaLnBrk="1" hangingPunct="1">
              <a:lnSpc>
                <a:spcPct val="100000"/>
              </a:lnSpc>
              <a:spcAft>
                <a:spcPct val="0"/>
              </a:spcAft>
              <a:buClrTx/>
              <a:buSzTx/>
              <a:buFontTx/>
              <a:buNone/>
            </a:pPr>
            <a:r>
              <a:rPr lang="en-US" altLang="en-US" sz="1600">
                <a:solidFill>
                  <a:schemeClr val="tx1"/>
                </a:solidFill>
              </a:rPr>
              <a:t>Not sold everything</a:t>
            </a:r>
          </a:p>
        </p:txBody>
      </p:sp>
      <p:sp>
        <p:nvSpPr>
          <p:cNvPr id="49316" name="Oval 4">
            <a:extLst>
              <a:ext uri="{FF2B5EF4-FFF2-40B4-BE49-F238E27FC236}">
                <a16:creationId xmlns:a16="http://schemas.microsoft.com/office/drawing/2014/main" id="{45C9028F-46B9-4632-B734-B8ED4060D254}"/>
              </a:ext>
            </a:extLst>
          </p:cNvPr>
          <p:cNvSpPr>
            <a:spLocks noChangeArrowheads="1"/>
          </p:cNvSpPr>
          <p:nvPr/>
        </p:nvSpPr>
        <p:spPr bwMode="auto">
          <a:xfrm>
            <a:off x="7543800" y="4918075"/>
            <a:ext cx="533400" cy="889000"/>
          </a:xfrm>
          <a:prstGeom prst="ellipse">
            <a:avLst/>
          </a:prstGeom>
          <a:noFill/>
          <a:ln w="76200">
            <a:solidFill>
              <a:srgbClr val="CC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317" name="Line 6">
            <a:extLst>
              <a:ext uri="{FF2B5EF4-FFF2-40B4-BE49-F238E27FC236}">
                <a16:creationId xmlns:a16="http://schemas.microsoft.com/office/drawing/2014/main" id="{9FFAD456-A86C-42AD-87F6-C96378CB9099}"/>
              </a:ext>
            </a:extLst>
          </p:cNvPr>
          <p:cNvSpPr>
            <a:spLocks noChangeShapeType="1"/>
          </p:cNvSpPr>
          <p:nvPr/>
        </p:nvSpPr>
        <p:spPr bwMode="auto">
          <a:xfrm flipV="1">
            <a:off x="7366001" y="1397000"/>
            <a:ext cx="98425" cy="2876550"/>
          </a:xfrm>
          <a:prstGeom prst="line">
            <a:avLst/>
          </a:prstGeom>
          <a:noFill/>
          <a:ln w="76200">
            <a:solidFill>
              <a:srgbClr val="CC66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18" name="Line 6">
            <a:extLst>
              <a:ext uri="{FF2B5EF4-FFF2-40B4-BE49-F238E27FC236}">
                <a16:creationId xmlns:a16="http://schemas.microsoft.com/office/drawing/2014/main" id="{48B41AB2-6460-4ACC-92E2-15B26641ECC0}"/>
              </a:ext>
            </a:extLst>
          </p:cNvPr>
          <p:cNvSpPr>
            <a:spLocks noChangeShapeType="1"/>
          </p:cNvSpPr>
          <p:nvPr/>
        </p:nvSpPr>
        <p:spPr bwMode="auto">
          <a:xfrm flipV="1">
            <a:off x="7532688" y="1612901"/>
            <a:ext cx="87312" cy="2740025"/>
          </a:xfrm>
          <a:prstGeom prst="line">
            <a:avLst/>
          </a:prstGeom>
          <a:noFill/>
          <a:ln w="76200">
            <a:solidFill>
              <a:srgbClr val="CC66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19" name="Line 6">
            <a:extLst>
              <a:ext uri="{FF2B5EF4-FFF2-40B4-BE49-F238E27FC236}">
                <a16:creationId xmlns:a16="http://schemas.microsoft.com/office/drawing/2014/main" id="{7C40529C-E205-46D5-B14D-3C89F2272DD0}"/>
              </a:ext>
            </a:extLst>
          </p:cNvPr>
          <p:cNvSpPr>
            <a:spLocks noChangeShapeType="1"/>
          </p:cNvSpPr>
          <p:nvPr/>
        </p:nvSpPr>
        <p:spPr bwMode="auto">
          <a:xfrm flipH="1">
            <a:off x="3730626" y="1371600"/>
            <a:ext cx="3889375" cy="3028950"/>
          </a:xfrm>
          <a:prstGeom prst="line">
            <a:avLst/>
          </a:prstGeom>
          <a:noFill/>
          <a:ln w="76200">
            <a:solidFill>
              <a:srgbClr val="CC66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20" name="Line 7">
            <a:extLst>
              <a:ext uri="{FF2B5EF4-FFF2-40B4-BE49-F238E27FC236}">
                <a16:creationId xmlns:a16="http://schemas.microsoft.com/office/drawing/2014/main" id="{09C7A235-6BA4-459B-8BE5-8BD2A8045684}"/>
              </a:ext>
            </a:extLst>
          </p:cNvPr>
          <p:cNvSpPr>
            <a:spLocks noChangeShapeType="1"/>
          </p:cNvSpPr>
          <p:nvPr/>
        </p:nvSpPr>
        <p:spPr bwMode="auto">
          <a:xfrm flipH="1">
            <a:off x="5773738" y="1477964"/>
            <a:ext cx="1846262" cy="2865437"/>
          </a:xfrm>
          <a:prstGeom prst="line">
            <a:avLst/>
          </a:prstGeom>
          <a:noFill/>
          <a:ln w="76200">
            <a:solidFill>
              <a:srgbClr val="CC66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21" name="Oval 4">
            <a:extLst>
              <a:ext uri="{FF2B5EF4-FFF2-40B4-BE49-F238E27FC236}">
                <a16:creationId xmlns:a16="http://schemas.microsoft.com/office/drawing/2014/main" id="{41F44FE8-47BD-4A1A-9B69-EB3F72D1F3AA}"/>
              </a:ext>
            </a:extLst>
          </p:cNvPr>
          <p:cNvSpPr>
            <a:spLocks noChangeArrowheads="1"/>
          </p:cNvSpPr>
          <p:nvPr/>
        </p:nvSpPr>
        <p:spPr bwMode="auto">
          <a:xfrm>
            <a:off x="3176588" y="4076700"/>
            <a:ext cx="533400" cy="609600"/>
          </a:xfrm>
          <a:prstGeom prst="ellipse">
            <a:avLst/>
          </a:prstGeom>
          <a:noFill/>
          <a:ln w="76200">
            <a:solidFill>
              <a:srgbClr val="CC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322" name="Oval 4">
            <a:extLst>
              <a:ext uri="{FF2B5EF4-FFF2-40B4-BE49-F238E27FC236}">
                <a16:creationId xmlns:a16="http://schemas.microsoft.com/office/drawing/2014/main" id="{32688427-1DAB-4502-AE4F-675816B6676F}"/>
              </a:ext>
            </a:extLst>
          </p:cNvPr>
          <p:cNvSpPr>
            <a:spLocks noChangeArrowheads="1"/>
          </p:cNvSpPr>
          <p:nvPr/>
        </p:nvSpPr>
        <p:spPr bwMode="auto">
          <a:xfrm>
            <a:off x="5233988" y="4083050"/>
            <a:ext cx="533400" cy="609600"/>
          </a:xfrm>
          <a:prstGeom prst="ellipse">
            <a:avLst/>
          </a:prstGeom>
          <a:noFill/>
          <a:ln w="76200">
            <a:solidFill>
              <a:srgbClr val="CC66FF"/>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323" name="Rectangle 2">
            <a:extLst>
              <a:ext uri="{FF2B5EF4-FFF2-40B4-BE49-F238E27FC236}">
                <a16:creationId xmlns:a16="http://schemas.microsoft.com/office/drawing/2014/main" id="{7573EFEE-DB30-4DBC-9029-2C728971C174}"/>
              </a:ext>
            </a:extLst>
          </p:cNvPr>
          <p:cNvSpPr>
            <a:spLocks noChangeArrowheads="1"/>
          </p:cNvSpPr>
          <p:nvPr/>
        </p:nvSpPr>
        <p:spPr bwMode="auto">
          <a:xfrm>
            <a:off x="8305800" y="622300"/>
            <a:ext cx="1752600" cy="304800"/>
          </a:xfrm>
          <a:prstGeom prst="rect">
            <a:avLst/>
          </a:prstGeom>
          <a:solidFill>
            <a:schemeClr val="tx1"/>
          </a:solidFill>
          <a:ln w="9525">
            <a:solidFill>
              <a:schemeClr val="tx1"/>
            </a:solidFill>
            <a:miter lim="800000"/>
            <a:headEnd/>
            <a:tailEnd/>
          </a:ln>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324" name="Rectangle 42">
            <a:extLst>
              <a:ext uri="{FF2B5EF4-FFF2-40B4-BE49-F238E27FC236}">
                <a16:creationId xmlns:a16="http://schemas.microsoft.com/office/drawing/2014/main" id="{D768E472-8606-40B7-8B6F-E6846899A44D}"/>
              </a:ext>
            </a:extLst>
          </p:cNvPr>
          <p:cNvSpPr>
            <a:spLocks noChangeArrowheads="1"/>
          </p:cNvSpPr>
          <p:nvPr/>
        </p:nvSpPr>
        <p:spPr bwMode="auto">
          <a:xfrm>
            <a:off x="8305800" y="927100"/>
            <a:ext cx="1752600" cy="2362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49325" name="Text Box 43">
            <a:extLst>
              <a:ext uri="{FF2B5EF4-FFF2-40B4-BE49-F238E27FC236}">
                <a16:creationId xmlns:a16="http://schemas.microsoft.com/office/drawing/2014/main" id="{D2D3B3C7-6B8E-41BE-AB6C-2E9FCD3F9A6C}"/>
              </a:ext>
            </a:extLst>
          </p:cNvPr>
          <p:cNvSpPr txBox="1">
            <a:spLocks noChangeArrowheads="1"/>
          </p:cNvSpPr>
          <p:nvPr/>
        </p:nvSpPr>
        <p:spPr bwMode="auto">
          <a:xfrm>
            <a:off x="8229600" y="952501"/>
            <a:ext cx="13035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Beginning inventory</a:t>
            </a:r>
            <a:endParaRPr lang="en-US" altLang="en-US" sz="1200">
              <a:solidFill>
                <a:schemeClr val="tx1"/>
              </a:solidFill>
            </a:endParaRPr>
          </a:p>
        </p:txBody>
      </p:sp>
      <p:sp>
        <p:nvSpPr>
          <p:cNvPr id="49326" name="Text Box 44">
            <a:extLst>
              <a:ext uri="{FF2B5EF4-FFF2-40B4-BE49-F238E27FC236}">
                <a16:creationId xmlns:a16="http://schemas.microsoft.com/office/drawing/2014/main" id="{2470967F-6668-47F3-A446-EC982DC708CB}"/>
              </a:ext>
            </a:extLst>
          </p:cNvPr>
          <p:cNvSpPr txBox="1">
            <a:spLocks noChangeArrowheads="1"/>
          </p:cNvSpPr>
          <p:nvPr/>
        </p:nvSpPr>
        <p:spPr bwMode="auto">
          <a:xfrm>
            <a:off x="8229600" y="1714501"/>
            <a:ext cx="75088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Decrease</a:t>
            </a:r>
          </a:p>
        </p:txBody>
      </p:sp>
      <p:sp>
        <p:nvSpPr>
          <p:cNvPr id="49327" name="Text Box 45">
            <a:extLst>
              <a:ext uri="{FF2B5EF4-FFF2-40B4-BE49-F238E27FC236}">
                <a16:creationId xmlns:a16="http://schemas.microsoft.com/office/drawing/2014/main" id="{E075301E-9A57-4867-B332-189EC70FC306}"/>
              </a:ext>
            </a:extLst>
          </p:cNvPr>
          <p:cNvSpPr txBox="1">
            <a:spLocks noChangeArrowheads="1"/>
          </p:cNvSpPr>
          <p:nvPr/>
        </p:nvSpPr>
        <p:spPr bwMode="auto">
          <a:xfrm>
            <a:off x="9028027" y="15367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328" name="Text Box 46">
            <a:extLst>
              <a:ext uri="{FF2B5EF4-FFF2-40B4-BE49-F238E27FC236}">
                <a16:creationId xmlns:a16="http://schemas.microsoft.com/office/drawing/2014/main" id="{B893EB09-6528-49A6-9E2D-B38BE741C366}"/>
              </a:ext>
            </a:extLst>
          </p:cNvPr>
          <p:cNvSpPr txBox="1">
            <a:spLocks noChangeArrowheads="1"/>
          </p:cNvSpPr>
          <p:nvPr/>
        </p:nvSpPr>
        <p:spPr bwMode="auto">
          <a:xfrm>
            <a:off x="9028027" y="2374901"/>
            <a:ext cx="46839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Total</a:t>
            </a:r>
          </a:p>
        </p:txBody>
      </p:sp>
      <p:sp>
        <p:nvSpPr>
          <p:cNvPr id="49329" name="Text Box 47">
            <a:extLst>
              <a:ext uri="{FF2B5EF4-FFF2-40B4-BE49-F238E27FC236}">
                <a16:creationId xmlns:a16="http://schemas.microsoft.com/office/drawing/2014/main" id="{194B1CA2-16E0-40C2-83D6-E95CDE1B6BAD}"/>
              </a:ext>
            </a:extLst>
          </p:cNvPr>
          <p:cNvSpPr txBox="1">
            <a:spLocks noChangeArrowheads="1"/>
          </p:cNvSpPr>
          <p:nvPr/>
        </p:nvSpPr>
        <p:spPr bwMode="auto">
          <a:xfrm>
            <a:off x="8229600" y="2692401"/>
            <a:ext cx="113364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Ending inventory</a:t>
            </a:r>
          </a:p>
        </p:txBody>
      </p:sp>
      <p:sp>
        <p:nvSpPr>
          <p:cNvPr id="49330" name="Line 48">
            <a:extLst>
              <a:ext uri="{FF2B5EF4-FFF2-40B4-BE49-F238E27FC236}">
                <a16:creationId xmlns:a16="http://schemas.microsoft.com/office/drawing/2014/main" id="{FF0C3240-302C-4C71-9B70-33B6B56A71B5}"/>
              </a:ext>
            </a:extLst>
          </p:cNvPr>
          <p:cNvSpPr>
            <a:spLocks noChangeShapeType="1"/>
          </p:cNvSpPr>
          <p:nvPr/>
        </p:nvSpPr>
        <p:spPr bwMode="auto">
          <a:xfrm>
            <a:off x="9448800" y="17653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31" name="Line 49">
            <a:extLst>
              <a:ext uri="{FF2B5EF4-FFF2-40B4-BE49-F238E27FC236}">
                <a16:creationId xmlns:a16="http://schemas.microsoft.com/office/drawing/2014/main" id="{65DBEF08-9F7E-439D-92E6-641FFD6A6F4C}"/>
              </a:ext>
            </a:extLst>
          </p:cNvPr>
          <p:cNvSpPr>
            <a:spLocks noChangeShapeType="1"/>
          </p:cNvSpPr>
          <p:nvPr/>
        </p:nvSpPr>
        <p:spPr bwMode="auto">
          <a:xfrm>
            <a:off x="9448800" y="16129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32" name="Line 50">
            <a:extLst>
              <a:ext uri="{FF2B5EF4-FFF2-40B4-BE49-F238E27FC236}">
                <a16:creationId xmlns:a16="http://schemas.microsoft.com/office/drawing/2014/main" id="{1CEEBEB0-BE04-4F62-B5AA-E7F2A4AF99E7}"/>
              </a:ext>
            </a:extLst>
          </p:cNvPr>
          <p:cNvSpPr>
            <a:spLocks noChangeShapeType="1"/>
          </p:cNvSpPr>
          <p:nvPr/>
        </p:nvSpPr>
        <p:spPr bwMode="auto">
          <a:xfrm>
            <a:off x="9448800" y="26035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33" name="Line 51">
            <a:extLst>
              <a:ext uri="{FF2B5EF4-FFF2-40B4-BE49-F238E27FC236}">
                <a16:creationId xmlns:a16="http://schemas.microsoft.com/office/drawing/2014/main" id="{11A02DCD-676D-434B-B580-7C1EAC9C64CD}"/>
              </a:ext>
            </a:extLst>
          </p:cNvPr>
          <p:cNvSpPr>
            <a:spLocks noChangeShapeType="1"/>
          </p:cNvSpPr>
          <p:nvPr/>
        </p:nvSpPr>
        <p:spPr bwMode="auto">
          <a:xfrm>
            <a:off x="9448800" y="24511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34" name="Line 52">
            <a:extLst>
              <a:ext uri="{FF2B5EF4-FFF2-40B4-BE49-F238E27FC236}">
                <a16:creationId xmlns:a16="http://schemas.microsoft.com/office/drawing/2014/main" id="{DEF2AEAF-C3B8-4533-B367-E86246666C05}"/>
              </a:ext>
            </a:extLst>
          </p:cNvPr>
          <p:cNvSpPr>
            <a:spLocks noChangeShapeType="1"/>
          </p:cNvSpPr>
          <p:nvPr/>
        </p:nvSpPr>
        <p:spPr bwMode="auto">
          <a:xfrm>
            <a:off x="9448800" y="2908300"/>
            <a:ext cx="533400"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35" name="Text Box 53">
            <a:extLst>
              <a:ext uri="{FF2B5EF4-FFF2-40B4-BE49-F238E27FC236}">
                <a16:creationId xmlns:a16="http://schemas.microsoft.com/office/drawing/2014/main" id="{D138B182-C8FE-4310-9D62-DC6E59324233}"/>
              </a:ext>
            </a:extLst>
          </p:cNvPr>
          <p:cNvSpPr txBox="1">
            <a:spLocks noChangeArrowheads="1"/>
          </p:cNvSpPr>
          <p:nvPr/>
        </p:nvSpPr>
        <p:spPr bwMode="auto">
          <a:xfrm>
            <a:off x="8494532" y="609601"/>
            <a:ext cx="131798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1400">
                <a:solidFill>
                  <a:srgbClr val="FFFFFF"/>
                </a:solidFill>
              </a:rPr>
              <a:t>Inventory of M</a:t>
            </a:r>
          </a:p>
        </p:txBody>
      </p:sp>
      <p:sp>
        <p:nvSpPr>
          <p:cNvPr id="49336" name="Text Box 93">
            <a:extLst>
              <a:ext uri="{FF2B5EF4-FFF2-40B4-BE49-F238E27FC236}">
                <a16:creationId xmlns:a16="http://schemas.microsoft.com/office/drawing/2014/main" id="{9DB787F4-BC7D-4263-83EE-B641BDA7457A}"/>
              </a:ext>
            </a:extLst>
          </p:cNvPr>
          <p:cNvSpPr txBox="1">
            <a:spLocks noChangeArrowheads="1"/>
          </p:cNvSpPr>
          <p:nvPr/>
        </p:nvSpPr>
        <p:spPr bwMode="auto">
          <a:xfrm>
            <a:off x="8305801" y="1244601"/>
            <a:ext cx="8223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Purchasing</a:t>
            </a:r>
          </a:p>
        </p:txBody>
      </p:sp>
      <p:sp>
        <p:nvSpPr>
          <p:cNvPr id="49337" name="Text Box 95">
            <a:extLst>
              <a:ext uri="{FF2B5EF4-FFF2-40B4-BE49-F238E27FC236}">
                <a16:creationId xmlns:a16="http://schemas.microsoft.com/office/drawing/2014/main" id="{A8A04E03-4AAD-43E9-BB93-045BFED6BDC5}"/>
              </a:ext>
            </a:extLst>
          </p:cNvPr>
          <p:cNvSpPr txBox="1">
            <a:spLocks noChangeArrowheads="1"/>
          </p:cNvSpPr>
          <p:nvPr/>
        </p:nvSpPr>
        <p:spPr bwMode="auto">
          <a:xfrm>
            <a:off x="8332789" y="1879601"/>
            <a:ext cx="106997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Charge to Plant</a:t>
            </a:r>
          </a:p>
        </p:txBody>
      </p:sp>
      <p:sp>
        <p:nvSpPr>
          <p:cNvPr id="49338" name="Text Box 101">
            <a:extLst>
              <a:ext uri="{FF2B5EF4-FFF2-40B4-BE49-F238E27FC236}">
                <a16:creationId xmlns:a16="http://schemas.microsoft.com/office/drawing/2014/main" id="{A5927670-C0A8-4DB8-A4F5-30E3E1DB0748}"/>
              </a:ext>
            </a:extLst>
          </p:cNvPr>
          <p:cNvSpPr txBox="1">
            <a:spLocks noChangeArrowheads="1"/>
          </p:cNvSpPr>
          <p:nvPr/>
        </p:nvSpPr>
        <p:spPr bwMode="auto">
          <a:xfrm>
            <a:off x="9639301" y="158432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2500</a:t>
            </a:r>
          </a:p>
        </p:txBody>
      </p:sp>
      <p:sp>
        <p:nvSpPr>
          <p:cNvPr id="49339" name="Text Box 102">
            <a:extLst>
              <a:ext uri="{FF2B5EF4-FFF2-40B4-BE49-F238E27FC236}">
                <a16:creationId xmlns:a16="http://schemas.microsoft.com/office/drawing/2014/main" id="{39C7E36F-7A23-4004-9C07-BEB4183E5C09}"/>
              </a:ext>
            </a:extLst>
          </p:cNvPr>
          <p:cNvSpPr txBox="1">
            <a:spLocks noChangeArrowheads="1"/>
          </p:cNvSpPr>
          <p:nvPr/>
        </p:nvSpPr>
        <p:spPr bwMode="auto">
          <a:xfrm>
            <a:off x="9588501" y="24034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2500</a:t>
            </a:r>
          </a:p>
        </p:txBody>
      </p:sp>
      <p:sp>
        <p:nvSpPr>
          <p:cNvPr id="49340" name="Text Box 103">
            <a:extLst>
              <a:ext uri="{FF2B5EF4-FFF2-40B4-BE49-F238E27FC236}">
                <a16:creationId xmlns:a16="http://schemas.microsoft.com/office/drawing/2014/main" id="{570E7786-12ED-4BDC-BAAA-805F7D70C625}"/>
              </a:ext>
            </a:extLst>
          </p:cNvPr>
          <p:cNvSpPr txBox="1">
            <a:spLocks noChangeArrowheads="1"/>
          </p:cNvSpPr>
          <p:nvPr/>
        </p:nvSpPr>
        <p:spPr bwMode="auto">
          <a:xfrm>
            <a:off x="9799639" y="2689226"/>
            <a:ext cx="25558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0</a:t>
            </a:r>
          </a:p>
        </p:txBody>
      </p:sp>
      <p:sp>
        <p:nvSpPr>
          <p:cNvPr id="49341" name="Text Box 104">
            <a:extLst>
              <a:ext uri="{FF2B5EF4-FFF2-40B4-BE49-F238E27FC236}">
                <a16:creationId xmlns:a16="http://schemas.microsoft.com/office/drawing/2014/main" id="{633EAB6E-0B83-4040-8628-853774D6419C}"/>
              </a:ext>
            </a:extLst>
          </p:cNvPr>
          <p:cNvSpPr txBox="1">
            <a:spLocks noChangeArrowheads="1"/>
          </p:cNvSpPr>
          <p:nvPr/>
        </p:nvSpPr>
        <p:spPr bwMode="auto">
          <a:xfrm>
            <a:off x="9677401" y="1244601"/>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25</a:t>
            </a:r>
            <a:r>
              <a:rPr lang="sl-SI" altLang="en-US" sz="1000">
                <a:solidFill>
                  <a:schemeClr val="tx1"/>
                </a:solidFill>
              </a:rPr>
              <a:t>0</a:t>
            </a:r>
            <a:r>
              <a:rPr lang="en-US" altLang="en-US" sz="1000">
                <a:solidFill>
                  <a:schemeClr val="tx1"/>
                </a:solidFill>
              </a:rPr>
              <a:t>0</a:t>
            </a:r>
          </a:p>
        </p:txBody>
      </p:sp>
      <p:sp>
        <p:nvSpPr>
          <p:cNvPr id="49342" name="Text Box 106">
            <a:extLst>
              <a:ext uri="{FF2B5EF4-FFF2-40B4-BE49-F238E27FC236}">
                <a16:creationId xmlns:a16="http://schemas.microsoft.com/office/drawing/2014/main" id="{5FFACD92-5CAD-44B0-B443-036075227BAA}"/>
              </a:ext>
            </a:extLst>
          </p:cNvPr>
          <p:cNvSpPr txBox="1">
            <a:spLocks noChangeArrowheads="1"/>
          </p:cNvSpPr>
          <p:nvPr/>
        </p:nvSpPr>
        <p:spPr bwMode="auto">
          <a:xfrm>
            <a:off x="9588501" y="1857376"/>
            <a:ext cx="466725"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2500</a:t>
            </a:r>
          </a:p>
        </p:txBody>
      </p:sp>
      <p:sp>
        <p:nvSpPr>
          <p:cNvPr id="49343" name="Text Box 93">
            <a:extLst>
              <a:ext uri="{FF2B5EF4-FFF2-40B4-BE49-F238E27FC236}">
                <a16:creationId xmlns:a16="http://schemas.microsoft.com/office/drawing/2014/main" id="{DF1DEA8D-1F59-47E4-804F-ABF952E99D21}"/>
              </a:ext>
            </a:extLst>
          </p:cNvPr>
          <p:cNvSpPr txBox="1">
            <a:spLocks noChangeArrowheads="1"/>
          </p:cNvSpPr>
          <p:nvPr/>
        </p:nvSpPr>
        <p:spPr bwMode="auto">
          <a:xfrm>
            <a:off x="8229600" y="1117601"/>
            <a:ext cx="700088"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Increase</a:t>
            </a:r>
          </a:p>
        </p:txBody>
      </p:sp>
      <p:sp>
        <p:nvSpPr>
          <p:cNvPr id="49344" name="Text Box 104">
            <a:extLst>
              <a:ext uri="{FF2B5EF4-FFF2-40B4-BE49-F238E27FC236}">
                <a16:creationId xmlns:a16="http://schemas.microsoft.com/office/drawing/2014/main" id="{55CF8AF9-95CD-43CB-BB55-59C65A215EFA}"/>
              </a:ext>
            </a:extLst>
          </p:cNvPr>
          <p:cNvSpPr txBox="1">
            <a:spLocks noChangeArrowheads="1"/>
          </p:cNvSpPr>
          <p:nvPr/>
        </p:nvSpPr>
        <p:spPr bwMode="auto">
          <a:xfrm>
            <a:off x="9837739" y="977901"/>
            <a:ext cx="255587"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r" eaLnBrk="1" hangingPunct="1">
              <a:lnSpc>
                <a:spcPct val="100000"/>
              </a:lnSpc>
              <a:spcAft>
                <a:spcPct val="0"/>
              </a:spcAft>
              <a:buClrTx/>
              <a:buSzTx/>
              <a:buFontTx/>
              <a:buNone/>
            </a:pPr>
            <a:r>
              <a:rPr lang="en-US" altLang="en-US" sz="1000">
                <a:solidFill>
                  <a:schemeClr val="tx1"/>
                </a:solidFill>
              </a:rPr>
              <a:t>0</a:t>
            </a:r>
          </a:p>
        </p:txBody>
      </p:sp>
      <p:sp>
        <p:nvSpPr>
          <p:cNvPr id="49345" name="Line 7">
            <a:extLst>
              <a:ext uri="{FF2B5EF4-FFF2-40B4-BE49-F238E27FC236}">
                <a16:creationId xmlns:a16="http://schemas.microsoft.com/office/drawing/2014/main" id="{228994B3-5747-4E06-B758-4C0A922434B7}"/>
              </a:ext>
            </a:extLst>
          </p:cNvPr>
          <p:cNvSpPr>
            <a:spLocks noChangeShapeType="1"/>
          </p:cNvSpPr>
          <p:nvPr/>
        </p:nvSpPr>
        <p:spPr bwMode="auto">
          <a:xfrm flipH="1">
            <a:off x="6811963" y="1985963"/>
            <a:ext cx="2609850" cy="3109912"/>
          </a:xfrm>
          <a:prstGeom prst="line">
            <a:avLst/>
          </a:prstGeom>
          <a:noFill/>
          <a:ln w="76200">
            <a:solidFill>
              <a:srgbClr val="CC66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346" name="Text Box 85">
            <a:extLst>
              <a:ext uri="{FF2B5EF4-FFF2-40B4-BE49-F238E27FC236}">
                <a16:creationId xmlns:a16="http://schemas.microsoft.com/office/drawing/2014/main" id="{88F38D91-6E7A-4A2C-B6E8-4EF31265DB74}"/>
              </a:ext>
            </a:extLst>
          </p:cNvPr>
          <p:cNvSpPr txBox="1">
            <a:spLocks noChangeArrowheads="1"/>
          </p:cNvSpPr>
          <p:nvPr/>
        </p:nvSpPr>
        <p:spPr bwMode="auto">
          <a:xfrm>
            <a:off x="8356600" y="5011739"/>
            <a:ext cx="131799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1000">
                <a:solidFill>
                  <a:schemeClr val="tx1"/>
                </a:solidFill>
              </a:rPr>
              <a:t>Operative expenses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a:extLst>
              <a:ext uri="{FF2B5EF4-FFF2-40B4-BE49-F238E27FC236}">
                <a16:creationId xmlns:a16="http://schemas.microsoft.com/office/drawing/2014/main" id="{DBE5EF96-2E9B-44B3-920F-8C2F6D23B4ED}"/>
              </a:ext>
            </a:extLst>
          </p:cNvPr>
          <p:cNvSpPr>
            <a:spLocks noGrp="1" noChangeArrowheads="1"/>
          </p:cNvSpPr>
          <p:nvPr>
            <p:ph type="title"/>
          </p:nvPr>
        </p:nvSpPr>
        <p:spPr>
          <a:xfrm>
            <a:off x="2286000" y="609600"/>
            <a:ext cx="7772400" cy="1143000"/>
          </a:xfrm>
        </p:spPr>
        <p:txBody>
          <a:bodyPr/>
          <a:lstStyle/>
          <a:p>
            <a:r>
              <a:rPr lang="en-US" altLang="en-US"/>
              <a:t>MANAGING THE PORTFOLIO</a:t>
            </a:r>
          </a:p>
        </p:txBody>
      </p:sp>
      <p:sp>
        <p:nvSpPr>
          <p:cNvPr id="50179" name="Slide Number Placeholder 4">
            <a:extLst>
              <a:ext uri="{FF2B5EF4-FFF2-40B4-BE49-F238E27FC236}">
                <a16:creationId xmlns:a16="http://schemas.microsoft.com/office/drawing/2014/main" id="{3F62800D-5479-4C50-9A3D-E1207A033EA3}"/>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071C8863-FDE6-40D3-B15A-3CCCBBF218BD}"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26</a:t>
            </a:fld>
            <a:endParaRPr lang="en-US" altLang="en-US" sz="1400">
              <a:solidFill>
                <a:schemeClr val="tx1"/>
              </a:solidFill>
              <a:latin typeface="Times New Roman" panose="02020603050405020304" pitchFamily="18" charset="0"/>
            </a:endParaRPr>
          </a:p>
        </p:txBody>
      </p:sp>
      <p:graphicFrame>
        <p:nvGraphicFramePr>
          <p:cNvPr id="50180" name="Object 2">
            <a:extLst>
              <a:ext uri="{FF2B5EF4-FFF2-40B4-BE49-F238E27FC236}">
                <a16:creationId xmlns:a16="http://schemas.microsoft.com/office/drawing/2014/main" id="{1FD11532-B665-4177-A3C9-705B3ED592A9}"/>
              </a:ext>
            </a:extLst>
          </p:cNvPr>
          <p:cNvGraphicFramePr>
            <a:graphicFrameLocks noChangeAspect="1"/>
          </p:cNvGraphicFramePr>
          <p:nvPr/>
        </p:nvGraphicFramePr>
        <p:xfrm>
          <a:off x="1981200" y="1219200"/>
          <a:ext cx="5486400" cy="2757488"/>
        </p:xfrm>
        <a:graphic>
          <a:graphicData uri="http://schemas.openxmlformats.org/presentationml/2006/ole">
            <mc:AlternateContent xmlns:mc="http://schemas.openxmlformats.org/markup-compatibility/2006">
              <mc:Choice xmlns:v="urn:schemas-microsoft-com:vml" Requires="v">
                <p:oleObj spid="_x0000_s8202" name="Worksheet" r:id="rId4" imgW="7785100" imgH="3911600" progId="Excel.Sheet.8">
                  <p:embed/>
                </p:oleObj>
              </mc:Choice>
              <mc:Fallback>
                <p:oleObj name="Worksheet" r:id="rId4" imgW="7785100" imgH="3911600" progId="Excel.Sheet.8">
                  <p:embed/>
                  <p:pic>
                    <p:nvPicPr>
                      <p:cNvPr id="50180" name="Object 2">
                        <a:extLst>
                          <a:ext uri="{FF2B5EF4-FFF2-40B4-BE49-F238E27FC236}">
                            <a16:creationId xmlns:a16="http://schemas.microsoft.com/office/drawing/2014/main" id="{1FD11532-B665-4177-A3C9-705B3ED592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1219200"/>
                        <a:ext cx="5486400" cy="275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181" name="Object 3">
            <a:extLst>
              <a:ext uri="{FF2B5EF4-FFF2-40B4-BE49-F238E27FC236}">
                <a16:creationId xmlns:a16="http://schemas.microsoft.com/office/drawing/2014/main" id="{F20D97E5-60F8-432C-A61A-02DE46357B04}"/>
              </a:ext>
            </a:extLst>
          </p:cNvPr>
          <p:cNvGraphicFramePr>
            <a:graphicFrameLocks noChangeAspect="1"/>
          </p:cNvGraphicFramePr>
          <p:nvPr/>
        </p:nvGraphicFramePr>
        <p:xfrm>
          <a:off x="7807326" y="1219201"/>
          <a:ext cx="2860675" cy="2735263"/>
        </p:xfrm>
        <a:graphic>
          <a:graphicData uri="http://schemas.openxmlformats.org/presentationml/2006/ole">
            <mc:AlternateContent xmlns:mc="http://schemas.openxmlformats.org/markup-compatibility/2006">
              <mc:Choice xmlns:v="urn:schemas-microsoft-com:vml" Requires="v">
                <p:oleObj spid="_x0000_s8203" name="Worksheet" r:id="rId6" imgW="4089400" imgH="3911600" progId="Excel.Sheet.8">
                  <p:embed/>
                </p:oleObj>
              </mc:Choice>
              <mc:Fallback>
                <p:oleObj name="Worksheet" r:id="rId6" imgW="4089400" imgH="3911600" progId="Excel.Sheet.8">
                  <p:embed/>
                  <p:pic>
                    <p:nvPicPr>
                      <p:cNvPr id="50181" name="Object 3">
                        <a:extLst>
                          <a:ext uri="{FF2B5EF4-FFF2-40B4-BE49-F238E27FC236}">
                            <a16:creationId xmlns:a16="http://schemas.microsoft.com/office/drawing/2014/main" id="{F20D97E5-60F8-432C-A61A-02DE46357B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7326" y="1219201"/>
                        <a:ext cx="2860675" cy="273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79589" name="Text Box 5">
            <a:extLst>
              <a:ext uri="{FF2B5EF4-FFF2-40B4-BE49-F238E27FC236}">
                <a16:creationId xmlns:a16="http://schemas.microsoft.com/office/drawing/2014/main" id="{E7B34C24-B18F-412A-99A1-CA35417E7B2C}"/>
              </a:ext>
            </a:extLst>
          </p:cNvPr>
          <p:cNvSpPr txBox="1">
            <a:spLocks noChangeArrowheads="1"/>
          </p:cNvSpPr>
          <p:nvPr/>
        </p:nvSpPr>
        <p:spPr bwMode="auto">
          <a:xfrm>
            <a:off x="4114800" y="4572001"/>
            <a:ext cx="40430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Which is the “better” business?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9589"/>
                                        </p:tgtEl>
                                        <p:attrNameLst>
                                          <p:attrName>style.visibility</p:attrName>
                                        </p:attrNameLst>
                                      </p:cBhvr>
                                      <p:to>
                                        <p:strVal val="visible"/>
                                      </p:to>
                                    </p:set>
                                    <p:animEffect transition="in" filter="blinds(horizontal)">
                                      <p:cBhvr>
                                        <p:cTn id="7" dur="500"/>
                                        <p:tgtEl>
                                          <p:spTgt spid="579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8251A363-DDB3-474D-A03B-D4384057E6D4}"/>
              </a:ext>
            </a:extLst>
          </p:cNvPr>
          <p:cNvSpPr>
            <a:spLocks noGrp="1" noChangeArrowheads="1"/>
          </p:cNvSpPr>
          <p:nvPr>
            <p:ph type="title"/>
          </p:nvPr>
        </p:nvSpPr>
        <p:spPr/>
        <p:txBody>
          <a:bodyPr/>
          <a:lstStyle/>
          <a:p>
            <a:r>
              <a:rPr lang="en-US" altLang="en-US"/>
              <a:t>MANAGING THE PORTFOLIO</a:t>
            </a:r>
          </a:p>
        </p:txBody>
      </p:sp>
      <p:sp>
        <p:nvSpPr>
          <p:cNvPr id="580614" name="Rectangle 6">
            <a:extLst>
              <a:ext uri="{FF2B5EF4-FFF2-40B4-BE49-F238E27FC236}">
                <a16:creationId xmlns:a16="http://schemas.microsoft.com/office/drawing/2014/main" id="{4E414C3E-38D8-43C5-80AA-72BC9B16F672}"/>
              </a:ext>
            </a:extLst>
          </p:cNvPr>
          <p:cNvSpPr>
            <a:spLocks noGrp="1" noChangeArrowheads="1"/>
          </p:cNvSpPr>
          <p:nvPr>
            <p:ph type="body" sz="half" idx="2"/>
          </p:nvPr>
        </p:nvSpPr>
        <p:spPr>
          <a:xfrm>
            <a:off x="2057400" y="4038600"/>
            <a:ext cx="8610600" cy="3124200"/>
          </a:xfrm>
        </p:spPr>
        <p:txBody>
          <a:bodyPr/>
          <a:lstStyle/>
          <a:p>
            <a:pPr marL="0" indent="0">
              <a:buNone/>
            </a:pPr>
            <a:r>
              <a:rPr lang="en-US" altLang="en-US"/>
              <a:t>                         Important points</a:t>
            </a:r>
          </a:p>
          <a:p>
            <a:pPr marL="0" indent="0"/>
            <a:r>
              <a:rPr lang="en-US" altLang="en-US" sz="2400"/>
              <a:t>Contribution is not the only measure of health</a:t>
            </a:r>
          </a:p>
          <a:p>
            <a:pPr marL="0" indent="0"/>
            <a:r>
              <a:rPr lang="en-US" altLang="en-US" sz="2400"/>
              <a:t>Only the internal and external profit centers “share” overhead expense</a:t>
            </a:r>
          </a:p>
          <a:p>
            <a:pPr marL="0" indent="0"/>
            <a:r>
              <a:rPr lang="en-US" altLang="en-US" sz="2400"/>
              <a:t>Sharing is not precise - “roughly right” is good enough</a:t>
            </a:r>
          </a:p>
        </p:txBody>
      </p:sp>
      <p:sp>
        <p:nvSpPr>
          <p:cNvPr id="52228" name="Slide Number Placeholder 6">
            <a:extLst>
              <a:ext uri="{FF2B5EF4-FFF2-40B4-BE49-F238E27FC236}">
                <a16:creationId xmlns:a16="http://schemas.microsoft.com/office/drawing/2014/main" id="{4D1D4E5F-314D-4C9A-A837-879341B709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7D23A751-947A-4215-A5C6-E7D2CB1F5F44}"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27</a:t>
            </a:fld>
            <a:endParaRPr lang="en-US" altLang="en-US" sz="1400">
              <a:solidFill>
                <a:schemeClr val="tx1"/>
              </a:solidFill>
              <a:latin typeface="Times New Roman" panose="02020603050405020304" pitchFamily="18" charset="0"/>
            </a:endParaRPr>
          </a:p>
        </p:txBody>
      </p:sp>
      <p:graphicFrame>
        <p:nvGraphicFramePr>
          <p:cNvPr id="52229" name="Object 2">
            <a:extLst>
              <a:ext uri="{FF2B5EF4-FFF2-40B4-BE49-F238E27FC236}">
                <a16:creationId xmlns:a16="http://schemas.microsoft.com/office/drawing/2014/main" id="{7EC8C56A-FC66-4E89-801C-DD5CAAC1E925}"/>
              </a:ext>
            </a:extLst>
          </p:cNvPr>
          <p:cNvGraphicFramePr>
            <a:graphicFrameLocks noChangeAspect="1"/>
          </p:cNvGraphicFramePr>
          <p:nvPr/>
        </p:nvGraphicFramePr>
        <p:xfrm>
          <a:off x="1979613" y="1219200"/>
          <a:ext cx="5486400" cy="2757488"/>
        </p:xfrm>
        <a:graphic>
          <a:graphicData uri="http://schemas.openxmlformats.org/presentationml/2006/ole">
            <mc:AlternateContent xmlns:mc="http://schemas.openxmlformats.org/markup-compatibility/2006">
              <mc:Choice xmlns:v="urn:schemas-microsoft-com:vml" Requires="v">
                <p:oleObj spid="_x0000_s9226" name="Worksheet" r:id="rId4" imgW="7785100" imgH="3911600" progId="Excel.Sheet.8">
                  <p:embed/>
                </p:oleObj>
              </mc:Choice>
              <mc:Fallback>
                <p:oleObj name="Worksheet" r:id="rId4" imgW="7785100" imgH="3911600" progId="Excel.Sheet.8">
                  <p:embed/>
                  <p:pic>
                    <p:nvPicPr>
                      <p:cNvPr id="52229" name="Object 2">
                        <a:extLst>
                          <a:ext uri="{FF2B5EF4-FFF2-40B4-BE49-F238E27FC236}">
                            <a16:creationId xmlns:a16="http://schemas.microsoft.com/office/drawing/2014/main" id="{7EC8C56A-FC66-4E89-801C-DD5CAAC1E9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1219200"/>
                        <a:ext cx="5486400" cy="275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2230" name="Object 3">
            <a:extLst>
              <a:ext uri="{FF2B5EF4-FFF2-40B4-BE49-F238E27FC236}">
                <a16:creationId xmlns:a16="http://schemas.microsoft.com/office/drawing/2014/main" id="{8D247A61-B13B-452A-A1F2-5C44390D219C}"/>
              </a:ext>
            </a:extLst>
          </p:cNvPr>
          <p:cNvGraphicFramePr>
            <a:graphicFrameLocks noChangeAspect="1"/>
          </p:cNvGraphicFramePr>
          <p:nvPr/>
        </p:nvGraphicFramePr>
        <p:xfrm>
          <a:off x="7807326" y="1219201"/>
          <a:ext cx="2860675" cy="2735263"/>
        </p:xfrm>
        <a:graphic>
          <a:graphicData uri="http://schemas.openxmlformats.org/presentationml/2006/ole">
            <mc:AlternateContent xmlns:mc="http://schemas.openxmlformats.org/markup-compatibility/2006">
              <mc:Choice xmlns:v="urn:schemas-microsoft-com:vml" Requires="v">
                <p:oleObj spid="_x0000_s9227" name="Worksheet" r:id="rId6" imgW="4089400" imgH="3911600" progId="Excel.Sheet.8">
                  <p:embed/>
                </p:oleObj>
              </mc:Choice>
              <mc:Fallback>
                <p:oleObj name="Worksheet" r:id="rId6" imgW="4089400" imgH="3911600" progId="Excel.Sheet.8">
                  <p:embed/>
                  <p:pic>
                    <p:nvPicPr>
                      <p:cNvPr id="52230" name="Object 3">
                        <a:extLst>
                          <a:ext uri="{FF2B5EF4-FFF2-40B4-BE49-F238E27FC236}">
                            <a16:creationId xmlns:a16="http://schemas.microsoft.com/office/drawing/2014/main" id="{8D247A61-B13B-452A-A1F2-5C44390D21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07326" y="1219201"/>
                        <a:ext cx="2860675" cy="273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0614">
                                            <p:txEl>
                                              <p:pRg st="0" end="0"/>
                                            </p:txEl>
                                          </p:spTgt>
                                        </p:tgtEl>
                                        <p:attrNameLst>
                                          <p:attrName>style.visibility</p:attrName>
                                        </p:attrNameLst>
                                      </p:cBhvr>
                                      <p:to>
                                        <p:strVal val="visible"/>
                                      </p:to>
                                    </p:set>
                                    <p:anim calcmode="lin" valueType="num">
                                      <p:cBhvr additive="base">
                                        <p:cTn id="7" dur="500" fill="hold"/>
                                        <p:tgtEl>
                                          <p:spTgt spid="5806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806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0614">
                                            <p:txEl>
                                              <p:pRg st="1" end="1"/>
                                            </p:txEl>
                                          </p:spTgt>
                                        </p:tgtEl>
                                        <p:attrNameLst>
                                          <p:attrName>style.visibility</p:attrName>
                                        </p:attrNameLst>
                                      </p:cBhvr>
                                      <p:to>
                                        <p:strVal val="visible"/>
                                      </p:to>
                                    </p:set>
                                    <p:anim calcmode="lin" valueType="num">
                                      <p:cBhvr additive="base">
                                        <p:cTn id="13" dur="500" fill="hold"/>
                                        <p:tgtEl>
                                          <p:spTgt spid="5806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06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0614">
                                            <p:txEl>
                                              <p:pRg st="2" end="2"/>
                                            </p:txEl>
                                          </p:spTgt>
                                        </p:tgtEl>
                                        <p:attrNameLst>
                                          <p:attrName>style.visibility</p:attrName>
                                        </p:attrNameLst>
                                      </p:cBhvr>
                                      <p:to>
                                        <p:strVal val="visible"/>
                                      </p:to>
                                    </p:set>
                                    <p:anim calcmode="lin" valueType="num">
                                      <p:cBhvr additive="base">
                                        <p:cTn id="19" dur="500" fill="hold"/>
                                        <p:tgtEl>
                                          <p:spTgt spid="58061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806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0614">
                                            <p:txEl>
                                              <p:pRg st="3" end="3"/>
                                            </p:txEl>
                                          </p:spTgt>
                                        </p:tgtEl>
                                        <p:attrNameLst>
                                          <p:attrName>style.visibility</p:attrName>
                                        </p:attrNameLst>
                                      </p:cBhvr>
                                      <p:to>
                                        <p:strVal val="visible"/>
                                      </p:to>
                                    </p:set>
                                    <p:anim calcmode="lin" valueType="num">
                                      <p:cBhvr additive="base">
                                        <p:cTn id="25" dur="500" fill="hold"/>
                                        <p:tgtEl>
                                          <p:spTgt spid="58061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061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4" grpId="0" build="p" bldLvl="3"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1"/>
          <p:cNvSpPr>
            <a:spLocks noChangeArrowheads="1"/>
          </p:cNvSpPr>
          <p:nvPr/>
        </p:nvSpPr>
        <p:spPr bwMode="auto">
          <a:xfrm>
            <a:off x="3027945" y="5899482"/>
            <a:ext cx="3733800" cy="457200"/>
          </a:xfrm>
          <a:prstGeom prst="rect">
            <a:avLst/>
          </a:prstGeom>
          <a:gradFill rotWithShape="0">
            <a:gsLst>
              <a:gs pos="0">
                <a:srgbClr val="FFFFFF"/>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5" name="Rectangle 30"/>
          <p:cNvSpPr>
            <a:spLocks noChangeArrowheads="1"/>
          </p:cNvSpPr>
          <p:nvPr/>
        </p:nvSpPr>
        <p:spPr bwMode="auto">
          <a:xfrm>
            <a:off x="3027945" y="5137482"/>
            <a:ext cx="3721100" cy="762000"/>
          </a:xfrm>
          <a:prstGeom prst="rect">
            <a:avLst/>
          </a:prstGeom>
          <a:gradFill rotWithShape="0">
            <a:gsLst>
              <a:gs pos="0">
                <a:srgbClr val="FFFFFF"/>
              </a:gs>
              <a:gs pos="100000">
                <a:srgbClr val="7474F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6" name="Rectangle 29"/>
          <p:cNvSpPr>
            <a:spLocks noChangeArrowheads="1"/>
          </p:cNvSpPr>
          <p:nvPr/>
        </p:nvSpPr>
        <p:spPr bwMode="auto">
          <a:xfrm>
            <a:off x="3027945" y="4680282"/>
            <a:ext cx="3721100" cy="457200"/>
          </a:xfrm>
          <a:prstGeom prst="rect">
            <a:avLst/>
          </a:prstGeom>
          <a:gradFill rotWithShape="0">
            <a:gsLst>
              <a:gs pos="0">
                <a:srgbClr val="FFFFFF"/>
              </a:gs>
              <a:gs pos="100000">
                <a:srgbClr val="3366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7" name="Rectangle 28"/>
          <p:cNvSpPr>
            <a:spLocks noChangeArrowheads="1"/>
          </p:cNvSpPr>
          <p:nvPr/>
        </p:nvSpPr>
        <p:spPr bwMode="auto">
          <a:xfrm>
            <a:off x="3027945" y="3067382"/>
            <a:ext cx="3708400" cy="1612900"/>
          </a:xfrm>
          <a:prstGeom prst="rect">
            <a:avLst/>
          </a:prstGeom>
          <a:gradFill rotWithShape="0">
            <a:gsLst>
              <a:gs pos="0">
                <a:srgbClr val="FFFFFF"/>
              </a:gs>
              <a:gs pos="100000">
                <a:srgbClr val="7FADD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8" name="Rectangle 27"/>
          <p:cNvSpPr>
            <a:spLocks noChangeArrowheads="1"/>
          </p:cNvSpPr>
          <p:nvPr/>
        </p:nvSpPr>
        <p:spPr bwMode="auto">
          <a:xfrm>
            <a:off x="3027945" y="1314782"/>
            <a:ext cx="3721100" cy="1765300"/>
          </a:xfrm>
          <a:prstGeom prst="rect">
            <a:avLst/>
          </a:prstGeom>
          <a:gradFill rotWithShape="0">
            <a:gsLst>
              <a:gs pos="0">
                <a:srgbClr val="FFFFFF"/>
              </a:gs>
              <a:gs pos="100000">
                <a:srgbClr val="4B55B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9" name="Rectangle 32"/>
          <p:cNvSpPr>
            <a:spLocks noChangeArrowheads="1"/>
          </p:cNvSpPr>
          <p:nvPr/>
        </p:nvSpPr>
        <p:spPr bwMode="auto">
          <a:xfrm>
            <a:off x="3027945" y="1327482"/>
            <a:ext cx="3200400" cy="50292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0" name="Rectangle 8"/>
          <p:cNvSpPr>
            <a:spLocks noChangeArrowheads="1"/>
          </p:cNvSpPr>
          <p:nvPr/>
        </p:nvSpPr>
        <p:spPr bwMode="auto">
          <a:xfrm>
            <a:off x="3027945" y="1327482"/>
            <a:ext cx="3733800" cy="50292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1" name="Line 11"/>
          <p:cNvSpPr>
            <a:spLocks noChangeShapeType="1"/>
          </p:cNvSpPr>
          <p:nvPr/>
        </p:nvSpPr>
        <p:spPr bwMode="auto">
          <a:xfrm>
            <a:off x="3027945" y="4680282"/>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2" name="Line 13"/>
          <p:cNvSpPr>
            <a:spLocks noChangeShapeType="1"/>
          </p:cNvSpPr>
          <p:nvPr/>
        </p:nvSpPr>
        <p:spPr bwMode="auto">
          <a:xfrm>
            <a:off x="3027945" y="5137482"/>
            <a:ext cx="3733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3" name="Line 15"/>
          <p:cNvSpPr>
            <a:spLocks noChangeShapeType="1"/>
          </p:cNvSpPr>
          <p:nvPr/>
        </p:nvSpPr>
        <p:spPr bwMode="auto">
          <a:xfrm>
            <a:off x="3027945" y="3080082"/>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4" name="Line 16"/>
          <p:cNvSpPr>
            <a:spLocks noChangeShapeType="1"/>
          </p:cNvSpPr>
          <p:nvPr/>
        </p:nvSpPr>
        <p:spPr bwMode="auto">
          <a:xfrm>
            <a:off x="3027945" y="5899482"/>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5" name="AutoShape 18">
            <a:hlinkClick r:id="" action="ppaction://hlinkshowjump?jump=previousslide" highlightClick="1"/>
          </p:cNvPr>
          <p:cNvSpPr>
            <a:spLocks noChangeArrowheads="1"/>
          </p:cNvSpPr>
          <p:nvPr/>
        </p:nvSpPr>
        <p:spPr bwMode="auto">
          <a:xfrm>
            <a:off x="6304545" y="4756482"/>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6" name="AutoShape 19">
            <a:hlinkClick r:id="" action="ppaction://hlinkshowjump?jump=previousslide" highlightClick="1"/>
          </p:cNvPr>
          <p:cNvSpPr>
            <a:spLocks noChangeArrowheads="1"/>
          </p:cNvSpPr>
          <p:nvPr/>
        </p:nvSpPr>
        <p:spPr bwMode="auto">
          <a:xfrm>
            <a:off x="6304545" y="5975682"/>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7" name="AutoShape 20"/>
          <p:cNvSpPr>
            <a:spLocks/>
          </p:cNvSpPr>
          <p:nvPr/>
        </p:nvSpPr>
        <p:spPr bwMode="auto">
          <a:xfrm>
            <a:off x="6926845" y="1403682"/>
            <a:ext cx="609600" cy="3657600"/>
          </a:xfrm>
          <a:prstGeom prst="rightBrace">
            <a:avLst>
              <a:gd name="adj1" fmla="val 50000"/>
              <a:gd name="adj2" fmla="val 50000"/>
            </a:avLst>
          </a:prstGeom>
          <a:gradFill rotWithShape="0">
            <a:gsLst>
              <a:gs pos="0">
                <a:schemeClr val="bg1"/>
              </a:gs>
              <a:gs pos="100000">
                <a:schemeClr val="folHlink"/>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8" name="AutoShape 21"/>
          <p:cNvSpPr>
            <a:spLocks/>
          </p:cNvSpPr>
          <p:nvPr/>
        </p:nvSpPr>
        <p:spPr bwMode="auto">
          <a:xfrm>
            <a:off x="6926845" y="5137482"/>
            <a:ext cx="609600" cy="1143000"/>
          </a:xfrm>
          <a:prstGeom prst="rightBrace">
            <a:avLst>
              <a:gd name="adj1" fmla="val 15625"/>
              <a:gd name="adj2" fmla="val 50000"/>
            </a:avLst>
          </a:prstGeom>
          <a:gradFill rotWithShape="0">
            <a:gsLst>
              <a:gs pos="0">
                <a:schemeClr val="bg1"/>
              </a:gs>
              <a:gs pos="100000">
                <a:schemeClr val="folHlink"/>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9" name="Text Box 24"/>
          <p:cNvSpPr txBox="1">
            <a:spLocks noChangeArrowheads="1"/>
          </p:cNvSpPr>
          <p:nvPr/>
        </p:nvSpPr>
        <p:spPr bwMode="auto">
          <a:xfrm>
            <a:off x="8904871" y="4491370"/>
            <a:ext cx="6889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dirty="0">
                <a:latin typeface="Comic Sans MS" pitchFamily="66" charset="0"/>
              </a:rPr>
              <a:t>line</a:t>
            </a:r>
          </a:p>
        </p:txBody>
      </p:sp>
      <p:sp>
        <p:nvSpPr>
          <p:cNvPr id="13330" name="Line 25"/>
          <p:cNvSpPr>
            <a:spLocks noChangeShapeType="1"/>
          </p:cNvSpPr>
          <p:nvPr/>
        </p:nvSpPr>
        <p:spPr bwMode="auto">
          <a:xfrm flipH="1">
            <a:off x="7396745" y="4756482"/>
            <a:ext cx="13716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31" name="Rectangle 33"/>
          <p:cNvSpPr>
            <a:spLocks noChangeArrowheads="1"/>
          </p:cNvSpPr>
          <p:nvPr/>
        </p:nvSpPr>
        <p:spPr bwMode="auto">
          <a:xfrm>
            <a:off x="3116845" y="1352882"/>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2" name="Rectangle 34"/>
          <p:cNvSpPr>
            <a:spLocks noChangeArrowheads="1"/>
          </p:cNvSpPr>
          <p:nvPr/>
        </p:nvSpPr>
        <p:spPr bwMode="auto">
          <a:xfrm>
            <a:off x="3116845" y="3092782"/>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3" name="Rectangle 35"/>
          <p:cNvSpPr>
            <a:spLocks noChangeArrowheads="1"/>
          </p:cNvSpPr>
          <p:nvPr/>
        </p:nvSpPr>
        <p:spPr bwMode="auto">
          <a:xfrm>
            <a:off x="3116845" y="4807282"/>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4" name="Rectangle 36"/>
          <p:cNvSpPr>
            <a:spLocks noChangeArrowheads="1"/>
          </p:cNvSpPr>
          <p:nvPr/>
        </p:nvSpPr>
        <p:spPr bwMode="auto">
          <a:xfrm>
            <a:off x="3116845" y="5162882"/>
            <a:ext cx="3200400" cy="2540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5" name="Rectangle 38"/>
          <p:cNvSpPr>
            <a:spLocks noChangeArrowheads="1"/>
          </p:cNvSpPr>
          <p:nvPr/>
        </p:nvSpPr>
        <p:spPr bwMode="auto">
          <a:xfrm>
            <a:off x="3116845" y="6026482"/>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6" name="Text Box 9"/>
          <p:cNvSpPr txBox="1">
            <a:spLocks noChangeArrowheads="1"/>
          </p:cNvSpPr>
          <p:nvPr/>
        </p:nvSpPr>
        <p:spPr bwMode="auto">
          <a:xfrm>
            <a:off x="2986670" y="1338595"/>
            <a:ext cx="10937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Inflows</a:t>
            </a:r>
          </a:p>
        </p:txBody>
      </p:sp>
      <p:sp>
        <p:nvSpPr>
          <p:cNvPr id="13337" name="Text Box 10"/>
          <p:cNvSpPr txBox="1">
            <a:spLocks noChangeArrowheads="1"/>
          </p:cNvSpPr>
          <p:nvPr/>
        </p:nvSpPr>
        <p:spPr bwMode="auto">
          <a:xfrm>
            <a:off x="3002545" y="3080082"/>
            <a:ext cx="12779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Outflows</a:t>
            </a:r>
          </a:p>
        </p:txBody>
      </p:sp>
      <p:sp>
        <p:nvSpPr>
          <p:cNvPr id="13338" name="Text Box 12"/>
          <p:cNvSpPr txBox="1">
            <a:spLocks noChangeArrowheads="1"/>
          </p:cNvSpPr>
          <p:nvPr/>
        </p:nvSpPr>
        <p:spPr bwMode="auto">
          <a:xfrm>
            <a:off x="3002545" y="5137482"/>
            <a:ext cx="22300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Shared expenses</a:t>
            </a:r>
          </a:p>
        </p:txBody>
      </p:sp>
      <p:sp>
        <p:nvSpPr>
          <p:cNvPr id="13339" name="Text Box 14"/>
          <p:cNvSpPr txBox="1">
            <a:spLocks noChangeArrowheads="1"/>
          </p:cNvSpPr>
          <p:nvPr/>
        </p:nvSpPr>
        <p:spPr bwMode="auto">
          <a:xfrm>
            <a:off x="3002546" y="4680282"/>
            <a:ext cx="31416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Contribution of the unit</a:t>
            </a:r>
          </a:p>
        </p:txBody>
      </p:sp>
      <p:sp>
        <p:nvSpPr>
          <p:cNvPr id="13340" name="Text Box 17"/>
          <p:cNvSpPr txBox="1">
            <a:spLocks noChangeArrowheads="1"/>
          </p:cNvSpPr>
          <p:nvPr/>
        </p:nvSpPr>
        <p:spPr bwMode="auto">
          <a:xfrm>
            <a:off x="2977145" y="5899482"/>
            <a:ext cx="25273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Contribution to SH</a:t>
            </a:r>
          </a:p>
        </p:txBody>
      </p:sp>
      <p:sp>
        <p:nvSpPr>
          <p:cNvPr id="185385" name="Text Box 41"/>
          <p:cNvSpPr txBox="1">
            <a:spLocks noChangeArrowheads="1"/>
          </p:cNvSpPr>
          <p:nvPr/>
        </p:nvSpPr>
        <p:spPr bwMode="auto">
          <a:xfrm>
            <a:off x="7366584" y="2938795"/>
            <a:ext cx="20097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1800" dirty="0">
                <a:latin typeface="Comic Sans MS" pitchFamily="66" charset="0"/>
              </a:rPr>
              <a:t>DIRECTLY</a:t>
            </a:r>
          </a:p>
          <a:p>
            <a:pPr algn="ctr">
              <a:spcBef>
                <a:spcPct val="0"/>
              </a:spcBef>
              <a:buFontTx/>
              <a:buNone/>
            </a:pPr>
            <a:r>
              <a:rPr lang="en-US" altLang="en-US" sz="1800" dirty="0">
                <a:latin typeface="Comic Sans MS" pitchFamily="66" charset="0"/>
              </a:rPr>
              <a:t>ATTRIBUTABLE</a:t>
            </a:r>
            <a:endParaRPr lang="en-US" altLang="en-US" sz="1800" dirty="0">
              <a:solidFill>
                <a:srgbClr val="009900"/>
              </a:solidFill>
              <a:latin typeface="Comic Sans MS" pitchFamily="66" charset="0"/>
            </a:endParaRPr>
          </a:p>
        </p:txBody>
      </p:sp>
      <p:sp>
        <p:nvSpPr>
          <p:cNvPr id="185386" name="Text Box 42"/>
          <p:cNvSpPr txBox="1">
            <a:spLocks noChangeArrowheads="1"/>
          </p:cNvSpPr>
          <p:nvPr/>
        </p:nvSpPr>
        <p:spPr bwMode="auto">
          <a:xfrm>
            <a:off x="7404684" y="5364495"/>
            <a:ext cx="20097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1800" dirty="0">
                <a:latin typeface="Comic Sans MS" pitchFamily="66" charset="0"/>
              </a:rPr>
              <a:t>NOT DIRECTLY</a:t>
            </a:r>
          </a:p>
          <a:p>
            <a:pPr algn="ctr">
              <a:spcBef>
                <a:spcPct val="0"/>
              </a:spcBef>
              <a:buFontTx/>
              <a:buNone/>
            </a:pPr>
            <a:r>
              <a:rPr lang="en-US" altLang="en-US" sz="1800" dirty="0">
                <a:latin typeface="Comic Sans MS" pitchFamily="66" charset="0"/>
              </a:rPr>
              <a:t>ATTRIBUTABLE</a:t>
            </a:r>
            <a:endParaRPr lang="en-US" altLang="en-US" sz="1800" dirty="0">
              <a:solidFill>
                <a:srgbClr val="009900"/>
              </a:solidFill>
              <a:latin typeface="Comic Sans MS" pitchFamily="66" charset="0"/>
            </a:endParaRPr>
          </a:p>
        </p:txBody>
      </p:sp>
      <p:sp>
        <p:nvSpPr>
          <p:cNvPr id="33" name="Rectangle 32">
            <a:extLst>
              <a:ext uri="{FF2B5EF4-FFF2-40B4-BE49-F238E27FC236}">
                <a16:creationId xmlns:a16="http://schemas.microsoft.com/office/drawing/2014/main" id="{1A01027D-9BCE-448A-8F6E-715D838D4018}"/>
              </a:ext>
            </a:extLst>
          </p:cNvPr>
          <p:cNvSpPr/>
          <p:nvPr/>
        </p:nvSpPr>
        <p:spPr>
          <a:xfrm>
            <a:off x="3508426" y="205143"/>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Managerial Accounting System</a:t>
            </a:r>
          </a:p>
        </p:txBody>
      </p:sp>
    </p:spTree>
    <p:extLst>
      <p:ext uri="{BB962C8B-B14F-4D97-AF65-F5344CB8AC3E}">
        <p14:creationId xmlns:p14="http://schemas.microsoft.com/office/powerpoint/2010/main" val="49189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85385"/>
                                        </p:tgtEl>
                                        <p:attrNameLst>
                                          <p:attrName>style.visibility</p:attrName>
                                        </p:attrNameLst>
                                      </p:cBhvr>
                                      <p:to>
                                        <p:strVal val="visible"/>
                                      </p:to>
                                    </p:set>
                                    <p:anim calcmode="lin" valueType="num">
                                      <p:cBhvr additive="base">
                                        <p:cTn id="7" dur="500" fill="hold"/>
                                        <p:tgtEl>
                                          <p:spTgt spid="185385"/>
                                        </p:tgtEl>
                                        <p:attrNameLst>
                                          <p:attrName>ppt_x</p:attrName>
                                        </p:attrNameLst>
                                      </p:cBhvr>
                                      <p:tavLst>
                                        <p:tav tm="0">
                                          <p:val>
                                            <p:strVal val="1+#ppt_w/2"/>
                                          </p:val>
                                        </p:tav>
                                        <p:tav tm="100000">
                                          <p:val>
                                            <p:strVal val="#ppt_x"/>
                                          </p:val>
                                        </p:tav>
                                      </p:tavLst>
                                    </p:anim>
                                    <p:anim calcmode="lin" valueType="num">
                                      <p:cBhvr additive="base">
                                        <p:cTn id="8" dur="500" fill="hold"/>
                                        <p:tgtEl>
                                          <p:spTgt spid="18538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85386"/>
                                        </p:tgtEl>
                                        <p:attrNameLst>
                                          <p:attrName>style.visibility</p:attrName>
                                        </p:attrNameLst>
                                      </p:cBhvr>
                                      <p:to>
                                        <p:strVal val="visible"/>
                                      </p:to>
                                    </p:set>
                                    <p:anim calcmode="lin" valueType="num">
                                      <p:cBhvr additive="base">
                                        <p:cTn id="12" dur="500" fill="hold"/>
                                        <p:tgtEl>
                                          <p:spTgt spid="185386"/>
                                        </p:tgtEl>
                                        <p:attrNameLst>
                                          <p:attrName>ppt_x</p:attrName>
                                        </p:attrNameLst>
                                      </p:cBhvr>
                                      <p:tavLst>
                                        <p:tav tm="0">
                                          <p:val>
                                            <p:strVal val="1+#ppt_w/2"/>
                                          </p:val>
                                        </p:tav>
                                        <p:tav tm="100000">
                                          <p:val>
                                            <p:strVal val="#ppt_x"/>
                                          </p:val>
                                        </p:tav>
                                      </p:tavLst>
                                    </p:anim>
                                    <p:anim calcmode="lin" valueType="num">
                                      <p:cBhvr additive="base">
                                        <p:cTn id="13" dur="500" fill="hold"/>
                                        <p:tgtEl>
                                          <p:spTgt spid="1853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85" grpId="0" autoUpdateAnimBg="0"/>
      <p:bldP spid="18538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A277A8-3643-4CDA-9B34-5014B8A71257}"/>
              </a:ext>
            </a:extLst>
          </p:cNvPr>
          <p:cNvSpPr/>
          <p:nvPr/>
        </p:nvSpPr>
        <p:spPr>
          <a:xfrm>
            <a:off x="3673526" y="509890"/>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Rewards</a:t>
            </a:r>
          </a:p>
        </p:txBody>
      </p:sp>
      <p:sp>
        <p:nvSpPr>
          <p:cNvPr id="3" name="TextBox 2">
            <a:extLst>
              <a:ext uri="{FF2B5EF4-FFF2-40B4-BE49-F238E27FC236}">
                <a16:creationId xmlns:a16="http://schemas.microsoft.com/office/drawing/2014/main" id="{50A0C348-C750-4CE2-95DF-4201174E6656}"/>
              </a:ext>
            </a:extLst>
          </p:cNvPr>
          <p:cNvSpPr txBox="1"/>
          <p:nvPr/>
        </p:nvSpPr>
        <p:spPr>
          <a:xfrm>
            <a:off x="3682134" y="1925053"/>
            <a:ext cx="4827732" cy="3970318"/>
          </a:xfrm>
          <a:prstGeom prst="rect">
            <a:avLst/>
          </a:prstGeom>
          <a:noFill/>
        </p:spPr>
        <p:txBody>
          <a:bodyPr wrap="none" rtlCol="0">
            <a:spAutoFit/>
          </a:bodyPr>
          <a:lstStyle/>
          <a:p>
            <a:pPr algn="ctr"/>
            <a:r>
              <a:rPr lang="en-US" sz="2800" dirty="0"/>
              <a:t>Tied to fulfilling objectives</a:t>
            </a:r>
          </a:p>
          <a:p>
            <a:pPr algn="ctr"/>
            <a:r>
              <a:rPr lang="en-US" sz="2800" dirty="0"/>
              <a:t>and meeting financial targets</a:t>
            </a:r>
          </a:p>
          <a:p>
            <a:pPr algn="ctr"/>
            <a:endParaRPr lang="en-US" sz="2800" dirty="0"/>
          </a:p>
          <a:p>
            <a:pPr marL="285750" indent="-285750">
              <a:buFont typeface="Arial" panose="020B0604020202020204" pitchFamily="34" charset="0"/>
              <a:buChar char="•"/>
            </a:pPr>
            <a:r>
              <a:rPr lang="en-US" sz="2800" dirty="0"/>
              <a:t>Profit sharing</a:t>
            </a:r>
          </a:p>
          <a:p>
            <a:pPr marL="285750" indent="-285750">
              <a:buFont typeface="Arial" panose="020B0604020202020204" pitchFamily="34" charset="0"/>
              <a:buChar char="•"/>
            </a:pPr>
            <a:r>
              <a:rPr lang="en-US" sz="2800" dirty="0"/>
              <a:t>Commissions</a:t>
            </a:r>
          </a:p>
          <a:p>
            <a:pPr marL="285750" indent="-285750">
              <a:buFont typeface="Arial" panose="020B0604020202020204" pitchFamily="34" charset="0"/>
              <a:buChar char="•"/>
            </a:pPr>
            <a:r>
              <a:rPr lang="en-US" sz="2800" dirty="0"/>
              <a:t>Bonuses</a:t>
            </a:r>
          </a:p>
          <a:p>
            <a:pPr marL="285750" indent="-285750">
              <a:buFont typeface="Arial" panose="020B0604020202020204" pitchFamily="34" charset="0"/>
              <a:buChar char="•"/>
            </a:pPr>
            <a:r>
              <a:rPr lang="en-US" sz="2800" dirty="0"/>
              <a:t>Individual rewards</a:t>
            </a:r>
          </a:p>
          <a:p>
            <a:pPr marL="285750" indent="-285750">
              <a:buFont typeface="Arial" panose="020B0604020202020204" pitchFamily="34" charset="0"/>
              <a:buChar char="•"/>
            </a:pPr>
            <a:r>
              <a:rPr lang="en-US" sz="2800" dirty="0"/>
              <a:t>Team rewards</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636904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08C7F373-287C-49A2-A502-36778A50EC76}"/>
              </a:ext>
            </a:extLst>
          </p:cNvPr>
          <p:cNvGraphicFramePr/>
          <p:nvPr/>
        </p:nvGraphicFramePr>
        <p:xfrm>
          <a:off x="4240227" y="1310181"/>
          <a:ext cx="3777398" cy="2709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val 1">
            <a:extLst>
              <a:ext uri="{FF2B5EF4-FFF2-40B4-BE49-F238E27FC236}">
                <a16:creationId xmlns:a16="http://schemas.microsoft.com/office/drawing/2014/main" id="{98D0CF32-3FD1-49B2-9C25-F877854A5924}"/>
              </a:ext>
            </a:extLst>
          </p:cNvPr>
          <p:cNvSpPr/>
          <p:nvPr/>
        </p:nvSpPr>
        <p:spPr>
          <a:xfrm>
            <a:off x="3583618" y="122830"/>
            <a:ext cx="5090616" cy="140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Mission Action Plan or</a:t>
            </a:r>
            <a:br>
              <a:rPr lang="en-US" sz="2000" dirty="0"/>
            </a:br>
            <a:r>
              <a:rPr lang="en-US" sz="2000" dirty="0"/>
              <a:t>Statement of Strategic Intent</a:t>
            </a:r>
            <a:endParaRPr lang="lv-LV" sz="2000" dirty="0"/>
          </a:p>
          <a:p>
            <a:pPr algn="ctr"/>
            <a:r>
              <a:rPr lang="lv-LV" sz="2000" dirty="0"/>
              <a:t>Based on client needs and environment analysis</a:t>
            </a:r>
            <a:endParaRPr lang="en-US" sz="2000" dirty="0"/>
          </a:p>
        </p:txBody>
      </p:sp>
      <p:cxnSp>
        <p:nvCxnSpPr>
          <p:cNvPr id="6" name="Straight Arrow Connector 5">
            <a:extLst>
              <a:ext uri="{FF2B5EF4-FFF2-40B4-BE49-F238E27FC236}">
                <a16:creationId xmlns:a16="http://schemas.microsoft.com/office/drawing/2014/main" id="{E1FF8A99-F2AE-43E7-8743-47D0971F4503}"/>
              </a:ext>
            </a:extLst>
          </p:cNvPr>
          <p:cNvCxnSpPr>
            <a:cxnSpLocks/>
          </p:cNvCxnSpPr>
          <p:nvPr/>
        </p:nvCxnSpPr>
        <p:spPr>
          <a:xfrm>
            <a:off x="6693033" y="133747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1AE85FD-7CBE-4120-B488-CA831B2E71B1}"/>
              </a:ext>
            </a:extLst>
          </p:cNvPr>
          <p:cNvCxnSpPr>
            <a:cxnSpLocks/>
          </p:cNvCxnSpPr>
          <p:nvPr/>
        </p:nvCxnSpPr>
        <p:spPr>
          <a:xfrm>
            <a:off x="5685373" y="133747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F2BF155-F651-4D91-9510-C6210439DA3A}"/>
              </a:ext>
            </a:extLst>
          </p:cNvPr>
          <p:cNvCxnSpPr>
            <a:cxnSpLocks/>
          </p:cNvCxnSpPr>
          <p:nvPr/>
        </p:nvCxnSpPr>
        <p:spPr>
          <a:xfrm>
            <a:off x="4786895" y="314239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4562AFF-6586-4B1A-8545-844AD68B039C}"/>
              </a:ext>
            </a:extLst>
          </p:cNvPr>
          <p:cNvCxnSpPr>
            <a:cxnSpLocks/>
          </p:cNvCxnSpPr>
          <p:nvPr/>
        </p:nvCxnSpPr>
        <p:spPr>
          <a:xfrm>
            <a:off x="6126650" y="3121929"/>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4232E76-82B0-4704-839B-EFA045403E00}"/>
              </a:ext>
            </a:extLst>
          </p:cNvPr>
          <p:cNvCxnSpPr>
            <a:cxnSpLocks/>
          </p:cNvCxnSpPr>
          <p:nvPr/>
        </p:nvCxnSpPr>
        <p:spPr>
          <a:xfrm>
            <a:off x="7466405" y="3101461"/>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E3ABA2-BF2A-4FAD-9ECA-E80846E0B495}"/>
              </a:ext>
            </a:extLst>
          </p:cNvPr>
          <p:cNvCxnSpPr>
            <a:cxnSpLocks/>
          </p:cNvCxnSpPr>
          <p:nvPr/>
        </p:nvCxnSpPr>
        <p:spPr>
          <a:xfrm>
            <a:off x="4789168" y="422284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1EDC7C-AE18-4CFE-9B59-BDFE9B0DF154}"/>
              </a:ext>
            </a:extLst>
          </p:cNvPr>
          <p:cNvCxnSpPr>
            <a:cxnSpLocks/>
          </p:cNvCxnSpPr>
          <p:nvPr/>
        </p:nvCxnSpPr>
        <p:spPr>
          <a:xfrm>
            <a:off x="6128923" y="4202379"/>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EA48F56-FA82-4497-8EAD-15664F644C3C}"/>
              </a:ext>
            </a:extLst>
          </p:cNvPr>
          <p:cNvCxnSpPr>
            <a:cxnSpLocks/>
          </p:cNvCxnSpPr>
          <p:nvPr/>
        </p:nvCxnSpPr>
        <p:spPr>
          <a:xfrm>
            <a:off x="7468678" y="4181911"/>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C8F03D9-A684-4904-A609-DBFD584CB39C}"/>
              </a:ext>
            </a:extLst>
          </p:cNvPr>
          <p:cNvCxnSpPr>
            <a:cxnSpLocks/>
          </p:cNvCxnSpPr>
          <p:nvPr/>
        </p:nvCxnSpPr>
        <p:spPr>
          <a:xfrm>
            <a:off x="4791440" y="5248710"/>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7CA2BF1-6A13-4604-B01D-B5070A8F33DC}"/>
              </a:ext>
            </a:extLst>
          </p:cNvPr>
          <p:cNvCxnSpPr>
            <a:cxnSpLocks/>
          </p:cNvCxnSpPr>
          <p:nvPr/>
        </p:nvCxnSpPr>
        <p:spPr>
          <a:xfrm>
            <a:off x="6131195" y="5228242"/>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5C14594-2483-4EBE-86F9-CE06C9EA78DC}"/>
              </a:ext>
            </a:extLst>
          </p:cNvPr>
          <p:cNvCxnSpPr>
            <a:cxnSpLocks/>
          </p:cNvCxnSpPr>
          <p:nvPr/>
        </p:nvCxnSpPr>
        <p:spPr>
          <a:xfrm>
            <a:off x="7470950" y="5207774"/>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E524DE0-DAB5-4D26-BF07-6AE983FDB9D4}"/>
              </a:ext>
            </a:extLst>
          </p:cNvPr>
          <p:cNvSpPr/>
          <p:nvPr/>
        </p:nvSpPr>
        <p:spPr>
          <a:xfrm>
            <a:off x="3585890" y="5916080"/>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Rewards</a:t>
            </a:r>
          </a:p>
        </p:txBody>
      </p:sp>
      <p:sp>
        <p:nvSpPr>
          <p:cNvPr id="18" name="Rectangle 17">
            <a:extLst>
              <a:ext uri="{FF2B5EF4-FFF2-40B4-BE49-F238E27FC236}">
                <a16:creationId xmlns:a16="http://schemas.microsoft.com/office/drawing/2014/main" id="{BC30D078-09B6-4697-8E51-5F3D46BFD9EE}"/>
              </a:ext>
            </a:extLst>
          </p:cNvPr>
          <p:cNvSpPr/>
          <p:nvPr/>
        </p:nvSpPr>
        <p:spPr>
          <a:xfrm>
            <a:off x="3583618" y="4890217"/>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Managerial Accounting System</a:t>
            </a:r>
          </a:p>
        </p:txBody>
      </p:sp>
      <p:sp>
        <p:nvSpPr>
          <p:cNvPr id="11" name="Rectangle 10">
            <a:extLst>
              <a:ext uri="{FF2B5EF4-FFF2-40B4-BE49-F238E27FC236}">
                <a16:creationId xmlns:a16="http://schemas.microsoft.com/office/drawing/2014/main" id="{158A7C27-E86F-4C8F-834F-5A7D47FBE7D7}"/>
              </a:ext>
            </a:extLst>
          </p:cNvPr>
          <p:cNvSpPr/>
          <p:nvPr/>
        </p:nvSpPr>
        <p:spPr>
          <a:xfrm>
            <a:off x="3638209" y="3807725"/>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Goals &amp; Objectives</a:t>
            </a:r>
          </a:p>
        </p:txBody>
      </p:sp>
      <p:sp>
        <p:nvSpPr>
          <p:cNvPr id="3" name="TextBox 2">
            <a:extLst>
              <a:ext uri="{FF2B5EF4-FFF2-40B4-BE49-F238E27FC236}">
                <a16:creationId xmlns:a16="http://schemas.microsoft.com/office/drawing/2014/main" id="{BCB91E19-BE8F-427E-A83B-1A52DA192D0C}"/>
              </a:ext>
            </a:extLst>
          </p:cNvPr>
          <p:cNvSpPr txBox="1"/>
          <p:nvPr/>
        </p:nvSpPr>
        <p:spPr>
          <a:xfrm>
            <a:off x="372802" y="1826079"/>
            <a:ext cx="3401893" cy="830997"/>
          </a:xfrm>
          <a:prstGeom prst="rect">
            <a:avLst/>
          </a:prstGeom>
          <a:noFill/>
        </p:spPr>
        <p:txBody>
          <a:bodyPr wrap="none" rtlCol="0">
            <a:spAutoFit/>
          </a:bodyPr>
          <a:lstStyle/>
          <a:p>
            <a:pPr algn="ctr"/>
            <a:r>
              <a:rPr lang="lv-LV" sz="2400" b="1" dirty="0"/>
              <a:t>Tying the business model</a:t>
            </a:r>
          </a:p>
          <a:p>
            <a:pPr algn="ctr"/>
            <a:r>
              <a:rPr lang="lv-LV" sz="2400" b="1" dirty="0"/>
              <a:t>All together</a:t>
            </a:r>
            <a:endParaRPr lang="en-US" sz="2400" b="1" dirty="0"/>
          </a:p>
        </p:txBody>
      </p:sp>
    </p:spTree>
    <p:extLst>
      <p:ext uri="{BB962C8B-B14F-4D97-AF65-F5344CB8AC3E}">
        <p14:creationId xmlns:p14="http://schemas.microsoft.com/office/powerpoint/2010/main" val="22469572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E38E-DDCB-407B-92EC-B18CF1BCF0DC}"/>
              </a:ext>
            </a:extLst>
          </p:cNvPr>
          <p:cNvSpPr txBox="1"/>
          <p:nvPr/>
        </p:nvSpPr>
        <p:spPr>
          <a:xfrm>
            <a:off x="3425227" y="1349188"/>
            <a:ext cx="5325176" cy="2554545"/>
          </a:xfrm>
          <a:prstGeom prst="rect">
            <a:avLst/>
          </a:prstGeom>
          <a:noFill/>
        </p:spPr>
        <p:txBody>
          <a:bodyPr wrap="none" rtlCol="0">
            <a:spAutoFit/>
          </a:bodyPr>
          <a:lstStyle/>
          <a:p>
            <a:pPr algn="ctr"/>
            <a:r>
              <a:rPr lang="en-US" sz="3200" dirty="0"/>
              <a:t>Thank You!</a:t>
            </a:r>
          </a:p>
          <a:p>
            <a:pPr algn="ctr"/>
            <a:endParaRPr lang="en-US" sz="3200" dirty="0"/>
          </a:p>
          <a:p>
            <a:pPr algn="ctr"/>
            <a:r>
              <a:rPr lang="lv-LV" sz="3200" dirty="0"/>
              <a:t>Greg Mathers, senior associate</a:t>
            </a:r>
          </a:p>
          <a:p>
            <a:pPr algn="ctr"/>
            <a:r>
              <a:rPr lang="lv-LV" sz="3200" dirty="0"/>
              <a:t>Adizes Institute</a:t>
            </a:r>
            <a:endParaRPr lang="en-US" sz="2400" dirty="0"/>
          </a:p>
          <a:p>
            <a:pPr algn="ctr"/>
            <a:endParaRPr lang="en-US" sz="3200" dirty="0"/>
          </a:p>
        </p:txBody>
      </p:sp>
    </p:spTree>
    <p:extLst>
      <p:ext uri="{BB962C8B-B14F-4D97-AF65-F5344CB8AC3E}">
        <p14:creationId xmlns:p14="http://schemas.microsoft.com/office/powerpoint/2010/main" val="2074828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952</Words>
  <Application>Microsoft Office PowerPoint</Application>
  <PresentationFormat>Widescreen</PresentationFormat>
  <Paragraphs>305</Paragraphs>
  <Slides>31</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0" baseType="lpstr">
      <vt:lpstr>Arial</vt:lpstr>
      <vt:lpstr>Calibri</vt:lpstr>
      <vt:lpstr>Calibri Light</vt:lpstr>
      <vt:lpstr>Comic Sans MS</vt:lpstr>
      <vt:lpstr>Times New Roman</vt:lpstr>
      <vt:lpstr>Wingdings</vt:lpstr>
      <vt:lpstr>Office Theme</vt:lpstr>
      <vt:lpstr>Microsoft Excel 97-2003 Worksheet</vt:lpstr>
      <vt:lpstr>Microsoft Excel Worksheet</vt:lpstr>
      <vt:lpstr>Growing Incredible Managers: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1</vt:lpstr>
      <vt:lpstr>PowerPoint Presentation</vt:lpstr>
      <vt:lpstr>STEP 2</vt:lpstr>
      <vt:lpstr>PowerPoint Presentation</vt:lpstr>
      <vt:lpstr>STEP 3</vt:lpstr>
      <vt:lpstr>PowerPoint Presentation</vt:lpstr>
      <vt:lpstr>STEP 4</vt:lpstr>
      <vt:lpstr>PowerPoint Presentation</vt:lpstr>
      <vt:lpstr>PowerPoint Presentation</vt:lpstr>
      <vt:lpstr>USEAGE OF TERMS</vt:lpstr>
      <vt:lpstr>PowerPoint Presentation</vt:lpstr>
      <vt:lpstr>MANAGING THE PORTFOLIO</vt:lpstr>
      <vt:lpstr>MANAGING THE PORTFOLIO</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Greg Mathers</dc:creator>
  <cp:lastModifiedBy>Greg Mathers</cp:lastModifiedBy>
  <cp:revision>4</cp:revision>
  <dcterms:created xsi:type="dcterms:W3CDTF">2019-07-08T12:17:42Z</dcterms:created>
  <dcterms:modified xsi:type="dcterms:W3CDTF">2019-07-08T12:58:19Z</dcterms:modified>
</cp:coreProperties>
</file>