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9"/>
  </p:notesMasterIdLst>
  <p:handoutMasterIdLst>
    <p:handoutMasterId r:id="rId50"/>
  </p:handoutMasterIdLst>
  <p:sldIdLst>
    <p:sldId id="257" r:id="rId2"/>
    <p:sldId id="259" r:id="rId3"/>
    <p:sldId id="261" r:id="rId4"/>
    <p:sldId id="260" r:id="rId5"/>
    <p:sldId id="262" r:id="rId6"/>
    <p:sldId id="263" r:id="rId7"/>
    <p:sldId id="264" r:id="rId8"/>
    <p:sldId id="265" r:id="rId9"/>
    <p:sldId id="411" r:id="rId10"/>
    <p:sldId id="423" r:id="rId11"/>
    <p:sldId id="424" r:id="rId12"/>
    <p:sldId id="442" r:id="rId13"/>
    <p:sldId id="414" r:id="rId14"/>
    <p:sldId id="413" r:id="rId15"/>
    <p:sldId id="419" r:id="rId16"/>
    <p:sldId id="420" r:id="rId17"/>
    <p:sldId id="421" r:id="rId18"/>
    <p:sldId id="415" r:id="rId19"/>
    <p:sldId id="417" r:id="rId20"/>
    <p:sldId id="425" r:id="rId21"/>
    <p:sldId id="426" r:id="rId22"/>
    <p:sldId id="428" r:id="rId23"/>
    <p:sldId id="429" r:id="rId24"/>
    <p:sldId id="430" r:id="rId25"/>
    <p:sldId id="431" r:id="rId26"/>
    <p:sldId id="432" r:id="rId27"/>
    <p:sldId id="434" r:id="rId28"/>
    <p:sldId id="436" r:id="rId29"/>
    <p:sldId id="437" r:id="rId30"/>
    <p:sldId id="438" r:id="rId31"/>
    <p:sldId id="439" r:id="rId32"/>
    <p:sldId id="440" r:id="rId33"/>
    <p:sldId id="443" r:id="rId34"/>
    <p:sldId id="444" r:id="rId35"/>
    <p:sldId id="418" r:id="rId36"/>
    <p:sldId id="445" r:id="rId37"/>
    <p:sldId id="427" r:id="rId38"/>
    <p:sldId id="416" r:id="rId39"/>
    <p:sldId id="446" r:id="rId40"/>
    <p:sldId id="390" r:id="rId41"/>
    <p:sldId id="391" r:id="rId42"/>
    <p:sldId id="392" r:id="rId43"/>
    <p:sldId id="402" r:id="rId44"/>
    <p:sldId id="466" r:id="rId45"/>
    <p:sldId id="464" r:id="rId46"/>
    <p:sldId id="397" r:id="rId47"/>
    <p:sldId id="433" r:id="rId48"/>
  </p:sldIdLst>
  <p:sldSz cx="12192000" cy="6858000"/>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40" autoAdjust="0"/>
    <p:restoredTop sz="94614"/>
  </p:normalViewPr>
  <p:slideViewPr>
    <p:cSldViewPr snapToGrid="0" snapToObjects="1">
      <p:cViewPr varScale="1">
        <p:scale>
          <a:sx n="60" d="100"/>
          <a:sy n="60" d="100"/>
        </p:scale>
        <p:origin x="102" y="252"/>
      </p:cViewPr>
      <p:guideLst/>
    </p:cSldViewPr>
  </p:slideViewPr>
  <p:notesTextViewPr>
    <p:cViewPr>
      <p:scale>
        <a:sx n="1" d="1"/>
        <a:sy n="1" d="1"/>
      </p:scale>
      <p:origin x="0" y="0"/>
    </p:cViewPr>
  </p:notesTextViewPr>
  <p:sorterViewPr>
    <p:cViewPr>
      <p:scale>
        <a:sx n="100" d="100"/>
        <a:sy n="100" d="100"/>
      </p:scale>
      <p:origin x="0" y="-20880"/>
    </p:cViewPr>
  </p:sorterViewPr>
  <p:notesViewPr>
    <p:cSldViewPr snapToGrid="0" snapToObjects="1">
      <p:cViewPr>
        <p:scale>
          <a:sx n="226" d="100"/>
          <a:sy n="226" d="100"/>
        </p:scale>
        <p:origin x="-2100" y="-104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39CA8B-3851-334E-940B-C3AE9B08513B}" type="doc">
      <dgm:prSet loTypeId="urn:microsoft.com/office/officeart/2005/8/layout/cycle2" loCatId="" qsTypeId="urn:microsoft.com/office/officeart/2005/8/quickstyle/simple4" qsCatId="simple" csTypeId="urn:microsoft.com/office/officeart/2005/8/colors/accent1_2" csCatId="accent1" phldr="1"/>
      <dgm:spPr/>
      <dgm:t>
        <a:bodyPr/>
        <a:lstStyle/>
        <a:p>
          <a:endParaRPr lang="en-US"/>
        </a:p>
      </dgm:t>
    </dgm:pt>
    <dgm:pt modelId="{2C20136D-7D5C-F544-AC12-CF7AC661A6CC}">
      <dgm:prSet phldrT="[Text]" custT="1"/>
      <dgm:spPr>
        <a:solidFill>
          <a:srgbClr val="FFFF00"/>
        </a:solidFill>
        <a:ln>
          <a:solidFill>
            <a:schemeClr val="tx1"/>
          </a:solidFill>
        </a:ln>
      </dgm:spPr>
      <dgm:t>
        <a:bodyPr/>
        <a:lstStyle/>
        <a:p>
          <a:r>
            <a:rPr lang="en-US" sz="1100" dirty="0">
              <a:solidFill>
                <a:schemeClr val="tx1"/>
              </a:solidFill>
            </a:rPr>
            <a:t>1. What managers should know about leadership &amp; management</a:t>
          </a:r>
        </a:p>
      </dgm:t>
    </dgm:pt>
    <dgm:pt modelId="{FE71A014-F4D8-7648-85EE-903EA3967001}" type="parTrans" cxnId="{51C25A78-3D33-D842-AA9E-0C11C986EEB0}">
      <dgm:prSet/>
      <dgm:spPr/>
      <dgm:t>
        <a:bodyPr/>
        <a:lstStyle/>
        <a:p>
          <a:endParaRPr lang="en-US"/>
        </a:p>
      </dgm:t>
    </dgm:pt>
    <dgm:pt modelId="{28D02463-6E99-DD47-A4BC-863B60D1C168}" type="sibTrans" cxnId="{51C25A78-3D33-D842-AA9E-0C11C986EEB0}">
      <dgm:prSet/>
      <dgm:spPr/>
      <dgm:t>
        <a:bodyPr/>
        <a:lstStyle/>
        <a:p>
          <a:endParaRPr lang="en-US"/>
        </a:p>
      </dgm:t>
    </dgm:pt>
    <dgm:pt modelId="{224B5230-E41B-9149-9396-C51223DC9865}">
      <dgm:prSet phldrT="[Text]" custT="1"/>
      <dgm:spPr>
        <a:solidFill>
          <a:srgbClr val="FFFF00"/>
        </a:solidFill>
        <a:ln>
          <a:solidFill>
            <a:schemeClr val="tx1"/>
          </a:solidFill>
        </a:ln>
      </dgm:spPr>
      <dgm:t>
        <a:bodyPr/>
        <a:lstStyle/>
        <a:p>
          <a:r>
            <a:rPr lang="en-US" sz="1100" dirty="0">
              <a:solidFill>
                <a:schemeClr val="tx1"/>
              </a:solidFill>
            </a:rPr>
            <a:t>2. What managers should know about themselves</a:t>
          </a:r>
        </a:p>
      </dgm:t>
    </dgm:pt>
    <dgm:pt modelId="{80029018-E630-AC42-8A67-BEDA53E5BAE5}" type="parTrans" cxnId="{0ADCA8EF-5629-A140-969F-B91886B3EB19}">
      <dgm:prSet/>
      <dgm:spPr/>
      <dgm:t>
        <a:bodyPr/>
        <a:lstStyle/>
        <a:p>
          <a:endParaRPr lang="en-US"/>
        </a:p>
      </dgm:t>
    </dgm:pt>
    <dgm:pt modelId="{A221ABFE-EE13-424F-8161-3350E3048E0F}" type="sibTrans" cxnId="{0ADCA8EF-5629-A140-969F-B91886B3EB19}">
      <dgm:prSet/>
      <dgm:spPr/>
      <dgm:t>
        <a:bodyPr/>
        <a:lstStyle/>
        <a:p>
          <a:endParaRPr lang="en-US"/>
        </a:p>
      </dgm:t>
    </dgm:pt>
    <dgm:pt modelId="{FFB0EF36-7862-E946-A01E-7981B462BBF4}">
      <dgm:prSet phldrT="[Text]" custT="1"/>
      <dgm:spPr>
        <a:solidFill>
          <a:srgbClr val="FFFF00"/>
        </a:solidFill>
        <a:ln>
          <a:solidFill>
            <a:schemeClr val="tx1"/>
          </a:solidFill>
        </a:ln>
      </dgm:spPr>
      <dgm:t>
        <a:bodyPr/>
        <a:lstStyle/>
        <a:p>
          <a:r>
            <a:rPr lang="en-US" sz="1100" dirty="0">
              <a:solidFill>
                <a:schemeClr val="tx1"/>
              </a:solidFill>
            </a:rPr>
            <a:t>3. What managers should know about working with others</a:t>
          </a:r>
        </a:p>
      </dgm:t>
    </dgm:pt>
    <dgm:pt modelId="{B7F2CB81-B305-EF49-967E-6E0F9BA08104}" type="parTrans" cxnId="{6931A0A9-8052-C748-9202-1AF784DACBD1}">
      <dgm:prSet/>
      <dgm:spPr/>
      <dgm:t>
        <a:bodyPr/>
        <a:lstStyle/>
        <a:p>
          <a:endParaRPr lang="en-US"/>
        </a:p>
      </dgm:t>
    </dgm:pt>
    <dgm:pt modelId="{65EFDAB6-2D4C-274A-ABA9-F7701B6B9BCD}" type="sibTrans" cxnId="{6931A0A9-8052-C748-9202-1AF784DACBD1}">
      <dgm:prSet/>
      <dgm:spPr/>
      <dgm:t>
        <a:bodyPr/>
        <a:lstStyle/>
        <a:p>
          <a:endParaRPr lang="en-US"/>
        </a:p>
      </dgm:t>
    </dgm:pt>
    <dgm:pt modelId="{BA776E68-FB22-C844-8CA4-5FB22C3FA260}">
      <dgm:prSet phldrT="[Text]" custT="1"/>
      <dgm:spPr>
        <a:solidFill>
          <a:srgbClr val="FFFF00"/>
        </a:solidFill>
        <a:ln>
          <a:solidFill>
            <a:schemeClr val="tx1"/>
          </a:solidFill>
        </a:ln>
      </dgm:spPr>
      <dgm:t>
        <a:bodyPr/>
        <a:lstStyle/>
        <a:p>
          <a:r>
            <a:rPr lang="en-US" sz="1100" dirty="0">
              <a:solidFill>
                <a:schemeClr val="tx1"/>
              </a:solidFill>
            </a:rPr>
            <a:t>5. What managers should know about development of others</a:t>
          </a:r>
        </a:p>
      </dgm:t>
    </dgm:pt>
    <dgm:pt modelId="{5E5E899D-748F-4447-910F-07424B929E14}" type="parTrans" cxnId="{6B539F7B-6E7E-5847-9388-C8FD34F87C15}">
      <dgm:prSet/>
      <dgm:spPr/>
      <dgm:t>
        <a:bodyPr/>
        <a:lstStyle/>
        <a:p>
          <a:endParaRPr lang="en-US"/>
        </a:p>
      </dgm:t>
    </dgm:pt>
    <dgm:pt modelId="{B185E78A-B5F9-1040-9423-B4A39F91046B}" type="sibTrans" cxnId="{6B539F7B-6E7E-5847-9388-C8FD34F87C15}">
      <dgm:prSet/>
      <dgm:spPr/>
      <dgm:t>
        <a:bodyPr/>
        <a:lstStyle/>
        <a:p>
          <a:endParaRPr lang="en-US"/>
        </a:p>
      </dgm:t>
    </dgm:pt>
    <dgm:pt modelId="{53901F0B-4DD2-0841-BC85-4734E54C323E}">
      <dgm:prSet phldrT="[Text]" custT="1"/>
      <dgm:spPr>
        <a:solidFill>
          <a:srgbClr val="FFFF00"/>
        </a:solidFill>
        <a:ln>
          <a:solidFill>
            <a:schemeClr val="tx1"/>
          </a:solidFill>
        </a:ln>
      </dgm:spPr>
      <dgm:t>
        <a:bodyPr/>
        <a:lstStyle/>
        <a:p>
          <a:r>
            <a:rPr lang="en-US" sz="1100" dirty="0">
              <a:solidFill>
                <a:schemeClr val="tx1"/>
              </a:solidFill>
            </a:rPr>
            <a:t>4. What managers should know about strengthening their management style</a:t>
          </a:r>
        </a:p>
      </dgm:t>
    </dgm:pt>
    <dgm:pt modelId="{E36B7FBE-7430-5041-ABFC-997F0045A84D}" type="parTrans" cxnId="{43E1FA06-CFBB-884D-9E44-FA63DAD78854}">
      <dgm:prSet/>
      <dgm:spPr/>
      <dgm:t>
        <a:bodyPr/>
        <a:lstStyle/>
        <a:p>
          <a:endParaRPr lang="en-US"/>
        </a:p>
      </dgm:t>
    </dgm:pt>
    <dgm:pt modelId="{706AAA27-8C56-0E45-9AB6-F8B1991A8729}" type="sibTrans" cxnId="{43E1FA06-CFBB-884D-9E44-FA63DAD78854}">
      <dgm:prSet/>
      <dgm:spPr/>
      <dgm:t>
        <a:bodyPr/>
        <a:lstStyle/>
        <a:p>
          <a:endParaRPr lang="en-US"/>
        </a:p>
      </dgm:t>
    </dgm:pt>
    <dgm:pt modelId="{CAA83EF8-AFA3-3848-8C0C-089C1578D9E9}">
      <dgm:prSet phldrT="[Text]" custT="1"/>
      <dgm:spPr>
        <a:solidFill>
          <a:srgbClr val="FFFF00"/>
        </a:solidFill>
        <a:ln>
          <a:solidFill>
            <a:schemeClr val="tx1"/>
          </a:solidFill>
        </a:ln>
      </dgm:spPr>
      <dgm:t>
        <a:bodyPr/>
        <a:lstStyle/>
        <a:p>
          <a:r>
            <a:rPr lang="en-US" sz="1100" dirty="0">
              <a:solidFill>
                <a:schemeClr val="tx1"/>
              </a:solidFill>
            </a:rPr>
            <a:t>6. Practical tools for leaders and managers</a:t>
          </a:r>
        </a:p>
      </dgm:t>
    </dgm:pt>
    <dgm:pt modelId="{AB278F62-2D59-D249-80FD-34AB79C96B7D}" type="parTrans" cxnId="{28B18A13-211F-B34D-9ECC-BDC5654EB930}">
      <dgm:prSet/>
      <dgm:spPr/>
      <dgm:t>
        <a:bodyPr/>
        <a:lstStyle/>
        <a:p>
          <a:endParaRPr lang="en-US"/>
        </a:p>
      </dgm:t>
    </dgm:pt>
    <dgm:pt modelId="{78DB7913-C3D0-FB46-B728-3F5FAB48FAAA}" type="sibTrans" cxnId="{28B18A13-211F-B34D-9ECC-BDC5654EB930}">
      <dgm:prSet/>
      <dgm:spPr/>
      <dgm:t>
        <a:bodyPr/>
        <a:lstStyle/>
        <a:p>
          <a:endParaRPr lang="en-US"/>
        </a:p>
      </dgm:t>
    </dgm:pt>
    <dgm:pt modelId="{800B66FC-6222-B740-85D4-0F5543F9D31D}" type="pres">
      <dgm:prSet presAssocID="{7B39CA8B-3851-334E-940B-C3AE9B08513B}" presName="cycle" presStyleCnt="0">
        <dgm:presLayoutVars>
          <dgm:dir/>
          <dgm:resizeHandles val="exact"/>
        </dgm:presLayoutVars>
      </dgm:prSet>
      <dgm:spPr/>
    </dgm:pt>
    <dgm:pt modelId="{89D4AA0E-DAFB-AD45-9323-1BAE356CA897}" type="pres">
      <dgm:prSet presAssocID="{2C20136D-7D5C-F544-AC12-CF7AC661A6CC}" presName="node" presStyleLbl="node1" presStyleIdx="0" presStyleCnt="6" custScaleX="107685" custScaleY="100241" custRadScaleRad="100000">
        <dgm:presLayoutVars>
          <dgm:bulletEnabled val="1"/>
        </dgm:presLayoutVars>
      </dgm:prSet>
      <dgm:spPr/>
    </dgm:pt>
    <dgm:pt modelId="{EE751E62-A524-7E47-9948-B31A3E4826EA}" type="pres">
      <dgm:prSet presAssocID="{28D02463-6E99-DD47-A4BC-863B60D1C168}" presName="sibTrans" presStyleLbl="sibTrans2D1" presStyleIdx="0" presStyleCnt="6"/>
      <dgm:spPr/>
    </dgm:pt>
    <dgm:pt modelId="{6ADDBCCB-89A2-6B4D-950B-E8B70D7EDC25}" type="pres">
      <dgm:prSet presAssocID="{28D02463-6E99-DD47-A4BC-863B60D1C168}" presName="connectorText" presStyleLbl="sibTrans2D1" presStyleIdx="0" presStyleCnt="6"/>
      <dgm:spPr/>
    </dgm:pt>
    <dgm:pt modelId="{265128F0-2C59-0648-97C7-F952021632DB}" type="pres">
      <dgm:prSet presAssocID="{224B5230-E41B-9149-9396-C51223DC9865}" presName="node" presStyleLbl="node1" presStyleIdx="1" presStyleCnt="6" custScaleX="107685" custScaleY="100241">
        <dgm:presLayoutVars>
          <dgm:bulletEnabled val="1"/>
        </dgm:presLayoutVars>
      </dgm:prSet>
      <dgm:spPr/>
    </dgm:pt>
    <dgm:pt modelId="{2D5D6023-73AA-614C-9535-4CBDBF25EE5E}" type="pres">
      <dgm:prSet presAssocID="{A221ABFE-EE13-424F-8161-3350E3048E0F}" presName="sibTrans" presStyleLbl="sibTrans2D1" presStyleIdx="1" presStyleCnt="6"/>
      <dgm:spPr/>
    </dgm:pt>
    <dgm:pt modelId="{D3927882-FCC1-D745-901E-0448D61E1811}" type="pres">
      <dgm:prSet presAssocID="{A221ABFE-EE13-424F-8161-3350E3048E0F}" presName="connectorText" presStyleLbl="sibTrans2D1" presStyleIdx="1" presStyleCnt="6"/>
      <dgm:spPr/>
    </dgm:pt>
    <dgm:pt modelId="{E7DCF0A7-A1C2-8542-8D98-B754A4B7E433}" type="pres">
      <dgm:prSet presAssocID="{FFB0EF36-7862-E946-A01E-7981B462BBF4}" presName="node" presStyleLbl="node1" presStyleIdx="2" presStyleCnt="6" custScaleX="107685" custScaleY="100241">
        <dgm:presLayoutVars>
          <dgm:bulletEnabled val="1"/>
        </dgm:presLayoutVars>
      </dgm:prSet>
      <dgm:spPr/>
    </dgm:pt>
    <dgm:pt modelId="{D9DB4893-35EF-DE46-AD0D-2152D5A30DD0}" type="pres">
      <dgm:prSet presAssocID="{65EFDAB6-2D4C-274A-ABA9-F7701B6B9BCD}" presName="sibTrans" presStyleLbl="sibTrans2D1" presStyleIdx="2" presStyleCnt="6"/>
      <dgm:spPr/>
    </dgm:pt>
    <dgm:pt modelId="{6644FBE4-ED9D-894C-91E0-EADB265C86D6}" type="pres">
      <dgm:prSet presAssocID="{65EFDAB6-2D4C-274A-ABA9-F7701B6B9BCD}" presName="connectorText" presStyleLbl="sibTrans2D1" presStyleIdx="2" presStyleCnt="6"/>
      <dgm:spPr/>
    </dgm:pt>
    <dgm:pt modelId="{D8201945-F95A-224C-828B-CF24DA0538B2}" type="pres">
      <dgm:prSet presAssocID="{53901F0B-4DD2-0841-BC85-4734E54C323E}" presName="node" presStyleLbl="node1" presStyleIdx="3" presStyleCnt="6" custScaleX="107685" custScaleY="100241">
        <dgm:presLayoutVars>
          <dgm:bulletEnabled val="1"/>
        </dgm:presLayoutVars>
      </dgm:prSet>
      <dgm:spPr/>
    </dgm:pt>
    <dgm:pt modelId="{F0488A72-69E8-FC4D-AE96-02C13D18B55E}" type="pres">
      <dgm:prSet presAssocID="{706AAA27-8C56-0E45-9AB6-F8B1991A8729}" presName="sibTrans" presStyleLbl="sibTrans2D1" presStyleIdx="3" presStyleCnt="6"/>
      <dgm:spPr/>
    </dgm:pt>
    <dgm:pt modelId="{DEF946DD-281E-9745-B8B6-443D74B973B4}" type="pres">
      <dgm:prSet presAssocID="{706AAA27-8C56-0E45-9AB6-F8B1991A8729}" presName="connectorText" presStyleLbl="sibTrans2D1" presStyleIdx="3" presStyleCnt="6"/>
      <dgm:spPr/>
    </dgm:pt>
    <dgm:pt modelId="{F1E5A602-2EC2-B34E-829D-255045B3D8B3}" type="pres">
      <dgm:prSet presAssocID="{BA776E68-FB22-C844-8CA4-5FB22C3FA260}" presName="node" presStyleLbl="node1" presStyleIdx="4" presStyleCnt="6" custScaleX="107685" custScaleY="100241">
        <dgm:presLayoutVars>
          <dgm:bulletEnabled val="1"/>
        </dgm:presLayoutVars>
      </dgm:prSet>
      <dgm:spPr/>
    </dgm:pt>
    <dgm:pt modelId="{4B2CECD9-5B90-9143-A1BC-BF0501F0CD50}" type="pres">
      <dgm:prSet presAssocID="{B185E78A-B5F9-1040-9423-B4A39F91046B}" presName="sibTrans" presStyleLbl="sibTrans2D1" presStyleIdx="4" presStyleCnt="6"/>
      <dgm:spPr/>
    </dgm:pt>
    <dgm:pt modelId="{0C1FB187-3CAA-534E-AC71-827F27431F0D}" type="pres">
      <dgm:prSet presAssocID="{B185E78A-B5F9-1040-9423-B4A39F91046B}" presName="connectorText" presStyleLbl="sibTrans2D1" presStyleIdx="4" presStyleCnt="6"/>
      <dgm:spPr/>
    </dgm:pt>
    <dgm:pt modelId="{3D62928A-5E89-8342-961B-C500DE9CB0A7}" type="pres">
      <dgm:prSet presAssocID="{CAA83EF8-AFA3-3848-8C0C-089C1578D9E9}" presName="node" presStyleLbl="node1" presStyleIdx="5" presStyleCnt="6" custScaleX="107685" custScaleY="100241">
        <dgm:presLayoutVars>
          <dgm:bulletEnabled val="1"/>
        </dgm:presLayoutVars>
      </dgm:prSet>
      <dgm:spPr/>
    </dgm:pt>
    <dgm:pt modelId="{453A606C-0B65-4F4F-A87F-0376D2F0AF64}" type="pres">
      <dgm:prSet presAssocID="{78DB7913-C3D0-FB46-B728-3F5FAB48FAAA}" presName="sibTrans" presStyleLbl="sibTrans2D1" presStyleIdx="5" presStyleCnt="6"/>
      <dgm:spPr/>
    </dgm:pt>
    <dgm:pt modelId="{8C7525CC-0B3F-B841-8D20-573ADD361534}" type="pres">
      <dgm:prSet presAssocID="{78DB7913-C3D0-FB46-B728-3F5FAB48FAAA}" presName="connectorText" presStyleLbl="sibTrans2D1" presStyleIdx="5" presStyleCnt="6"/>
      <dgm:spPr/>
    </dgm:pt>
  </dgm:ptLst>
  <dgm:cxnLst>
    <dgm:cxn modelId="{CC49DF02-A3AD-A94B-AD5A-4ECD0EBC4C5B}" type="presOf" srcId="{A221ABFE-EE13-424F-8161-3350E3048E0F}" destId="{2D5D6023-73AA-614C-9535-4CBDBF25EE5E}" srcOrd="0" destOrd="0" presId="urn:microsoft.com/office/officeart/2005/8/layout/cycle2"/>
    <dgm:cxn modelId="{43E1FA06-CFBB-884D-9E44-FA63DAD78854}" srcId="{7B39CA8B-3851-334E-940B-C3AE9B08513B}" destId="{53901F0B-4DD2-0841-BC85-4734E54C323E}" srcOrd="3" destOrd="0" parTransId="{E36B7FBE-7430-5041-ABFC-997F0045A84D}" sibTransId="{706AAA27-8C56-0E45-9AB6-F8B1991A8729}"/>
    <dgm:cxn modelId="{28B18A13-211F-B34D-9ECC-BDC5654EB930}" srcId="{7B39CA8B-3851-334E-940B-C3AE9B08513B}" destId="{CAA83EF8-AFA3-3848-8C0C-089C1578D9E9}" srcOrd="5" destOrd="0" parTransId="{AB278F62-2D59-D249-80FD-34AB79C96B7D}" sibTransId="{78DB7913-C3D0-FB46-B728-3F5FAB48FAAA}"/>
    <dgm:cxn modelId="{CE2D1016-7E29-C046-B130-43AD49B57C2F}" type="presOf" srcId="{2C20136D-7D5C-F544-AC12-CF7AC661A6CC}" destId="{89D4AA0E-DAFB-AD45-9323-1BAE356CA897}" srcOrd="0" destOrd="0" presId="urn:microsoft.com/office/officeart/2005/8/layout/cycle2"/>
    <dgm:cxn modelId="{DE82C419-5038-8A47-AAEA-965624199085}" type="presOf" srcId="{78DB7913-C3D0-FB46-B728-3F5FAB48FAAA}" destId="{8C7525CC-0B3F-B841-8D20-573ADD361534}" srcOrd="1" destOrd="0" presId="urn:microsoft.com/office/officeart/2005/8/layout/cycle2"/>
    <dgm:cxn modelId="{0F4D781F-A59B-7546-919D-9ACF2A410BE5}" type="presOf" srcId="{A221ABFE-EE13-424F-8161-3350E3048E0F}" destId="{D3927882-FCC1-D745-901E-0448D61E1811}" srcOrd="1" destOrd="0" presId="urn:microsoft.com/office/officeart/2005/8/layout/cycle2"/>
    <dgm:cxn modelId="{10A1B532-983B-AD4B-86D3-3405641CCB01}" type="presOf" srcId="{28D02463-6E99-DD47-A4BC-863B60D1C168}" destId="{6ADDBCCB-89A2-6B4D-950B-E8B70D7EDC25}" srcOrd="1" destOrd="0" presId="urn:microsoft.com/office/officeart/2005/8/layout/cycle2"/>
    <dgm:cxn modelId="{1DC8CF32-FB79-E541-BA41-D76489DB2125}" type="presOf" srcId="{53901F0B-4DD2-0841-BC85-4734E54C323E}" destId="{D8201945-F95A-224C-828B-CF24DA0538B2}" srcOrd="0" destOrd="0" presId="urn:microsoft.com/office/officeart/2005/8/layout/cycle2"/>
    <dgm:cxn modelId="{6C802635-7684-344B-B99A-0F8B7BBB21C5}" type="presOf" srcId="{BA776E68-FB22-C844-8CA4-5FB22C3FA260}" destId="{F1E5A602-2EC2-B34E-829D-255045B3D8B3}" srcOrd="0" destOrd="0" presId="urn:microsoft.com/office/officeart/2005/8/layout/cycle2"/>
    <dgm:cxn modelId="{80462462-82FA-EC40-89F0-F190749C5E45}" type="presOf" srcId="{B185E78A-B5F9-1040-9423-B4A39F91046B}" destId="{0C1FB187-3CAA-534E-AC71-827F27431F0D}" srcOrd="1" destOrd="0" presId="urn:microsoft.com/office/officeart/2005/8/layout/cycle2"/>
    <dgm:cxn modelId="{9EEEF165-956A-2C46-9EF2-59AA8DC9C7A1}" type="presOf" srcId="{B185E78A-B5F9-1040-9423-B4A39F91046B}" destId="{4B2CECD9-5B90-9143-A1BC-BF0501F0CD50}" srcOrd="0" destOrd="0" presId="urn:microsoft.com/office/officeart/2005/8/layout/cycle2"/>
    <dgm:cxn modelId="{3AC6164B-8BB3-FB46-B49E-6164296327CA}" type="presOf" srcId="{CAA83EF8-AFA3-3848-8C0C-089C1578D9E9}" destId="{3D62928A-5E89-8342-961B-C500DE9CB0A7}" srcOrd="0" destOrd="0" presId="urn:microsoft.com/office/officeart/2005/8/layout/cycle2"/>
    <dgm:cxn modelId="{71B0126F-E951-3241-A566-74BD17285B94}" type="presOf" srcId="{FFB0EF36-7862-E946-A01E-7981B462BBF4}" destId="{E7DCF0A7-A1C2-8542-8D98-B754A4B7E433}" srcOrd="0" destOrd="0" presId="urn:microsoft.com/office/officeart/2005/8/layout/cycle2"/>
    <dgm:cxn modelId="{43145970-43D6-C345-A443-3A39A268EDE7}" type="presOf" srcId="{706AAA27-8C56-0E45-9AB6-F8B1991A8729}" destId="{F0488A72-69E8-FC4D-AE96-02C13D18B55E}" srcOrd="0" destOrd="0" presId="urn:microsoft.com/office/officeart/2005/8/layout/cycle2"/>
    <dgm:cxn modelId="{51C25A78-3D33-D842-AA9E-0C11C986EEB0}" srcId="{7B39CA8B-3851-334E-940B-C3AE9B08513B}" destId="{2C20136D-7D5C-F544-AC12-CF7AC661A6CC}" srcOrd="0" destOrd="0" parTransId="{FE71A014-F4D8-7648-85EE-903EA3967001}" sibTransId="{28D02463-6E99-DD47-A4BC-863B60D1C168}"/>
    <dgm:cxn modelId="{6B539F7B-6E7E-5847-9388-C8FD34F87C15}" srcId="{7B39CA8B-3851-334E-940B-C3AE9B08513B}" destId="{BA776E68-FB22-C844-8CA4-5FB22C3FA260}" srcOrd="4" destOrd="0" parTransId="{5E5E899D-748F-4447-910F-07424B929E14}" sibTransId="{B185E78A-B5F9-1040-9423-B4A39F91046B}"/>
    <dgm:cxn modelId="{15616A80-AAF4-A34C-B572-C47933335413}" type="presOf" srcId="{65EFDAB6-2D4C-274A-ABA9-F7701B6B9BCD}" destId="{D9DB4893-35EF-DE46-AD0D-2152D5A30DD0}" srcOrd="0" destOrd="0" presId="urn:microsoft.com/office/officeart/2005/8/layout/cycle2"/>
    <dgm:cxn modelId="{0D780B94-B3DE-A741-AD0C-1FE5644717FB}" type="presOf" srcId="{65EFDAB6-2D4C-274A-ABA9-F7701B6B9BCD}" destId="{6644FBE4-ED9D-894C-91E0-EADB265C86D6}" srcOrd="1" destOrd="0" presId="urn:microsoft.com/office/officeart/2005/8/layout/cycle2"/>
    <dgm:cxn modelId="{6931A0A9-8052-C748-9202-1AF784DACBD1}" srcId="{7B39CA8B-3851-334E-940B-C3AE9B08513B}" destId="{FFB0EF36-7862-E946-A01E-7981B462BBF4}" srcOrd="2" destOrd="0" parTransId="{B7F2CB81-B305-EF49-967E-6E0F9BA08104}" sibTransId="{65EFDAB6-2D4C-274A-ABA9-F7701B6B9BCD}"/>
    <dgm:cxn modelId="{3CB5E0C4-FB28-9D42-ADE3-E7C58DEF42D5}" type="presOf" srcId="{224B5230-E41B-9149-9396-C51223DC9865}" destId="{265128F0-2C59-0648-97C7-F952021632DB}" srcOrd="0" destOrd="0" presId="urn:microsoft.com/office/officeart/2005/8/layout/cycle2"/>
    <dgm:cxn modelId="{19F7ACD9-625B-D74E-956D-BBCE7B2CDD55}" type="presOf" srcId="{7B39CA8B-3851-334E-940B-C3AE9B08513B}" destId="{800B66FC-6222-B740-85D4-0F5543F9D31D}" srcOrd="0" destOrd="0" presId="urn:microsoft.com/office/officeart/2005/8/layout/cycle2"/>
    <dgm:cxn modelId="{7FC804E2-0FAD-594C-A9FF-FE6EF40BFCDD}" type="presOf" srcId="{28D02463-6E99-DD47-A4BC-863B60D1C168}" destId="{EE751E62-A524-7E47-9948-B31A3E4826EA}" srcOrd="0" destOrd="0" presId="urn:microsoft.com/office/officeart/2005/8/layout/cycle2"/>
    <dgm:cxn modelId="{0ADCA8EF-5629-A140-969F-B91886B3EB19}" srcId="{7B39CA8B-3851-334E-940B-C3AE9B08513B}" destId="{224B5230-E41B-9149-9396-C51223DC9865}" srcOrd="1" destOrd="0" parTransId="{80029018-E630-AC42-8A67-BEDA53E5BAE5}" sibTransId="{A221ABFE-EE13-424F-8161-3350E3048E0F}"/>
    <dgm:cxn modelId="{26CF17F4-0D8A-E64E-AFB4-553792E36FDD}" type="presOf" srcId="{706AAA27-8C56-0E45-9AB6-F8B1991A8729}" destId="{DEF946DD-281E-9745-B8B6-443D74B973B4}" srcOrd="1" destOrd="0" presId="urn:microsoft.com/office/officeart/2005/8/layout/cycle2"/>
    <dgm:cxn modelId="{E4C75FF6-1391-9E4F-B52F-6DD226EC932E}" type="presOf" srcId="{78DB7913-C3D0-FB46-B728-3F5FAB48FAAA}" destId="{453A606C-0B65-4F4F-A87F-0376D2F0AF64}" srcOrd="0" destOrd="0" presId="urn:microsoft.com/office/officeart/2005/8/layout/cycle2"/>
    <dgm:cxn modelId="{4F4934F1-D07C-A047-8BA6-4804A5C7B4FC}" type="presParOf" srcId="{800B66FC-6222-B740-85D4-0F5543F9D31D}" destId="{89D4AA0E-DAFB-AD45-9323-1BAE356CA897}" srcOrd="0" destOrd="0" presId="urn:microsoft.com/office/officeart/2005/8/layout/cycle2"/>
    <dgm:cxn modelId="{57C39BB7-6316-1043-9BCD-C0D8CC49F517}" type="presParOf" srcId="{800B66FC-6222-B740-85D4-0F5543F9D31D}" destId="{EE751E62-A524-7E47-9948-B31A3E4826EA}" srcOrd="1" destOrd="0" presId="urn:microsoft.com/office/officeart/2005/8/layout/cycle2"/>
    <dgm:cxn modelId="{A360260E-4173-DF44-8D3D-22687251B268}" type="presParOf" srcId="{EE751E62-A524-7E47-9948-B31A3E4826EA}" destId="{6ADDBCCB-89A2-6B4D-950B-E8B70D7EDC25}" srcOrd="0" destOrd="0" presId="urn:microsoft.com/office/officeart/2005/8/layout/cycle2"/>
    <dgm:cxn modelId="{854CE7B7-79FE-ED47-B872-0C8D1931A210}" type="presParOf" srcId="{800B66FC-6222-B740-85D4-0F5543F9D31D}" destId="{265128F0-2C59-0648-97C7-F952021632DB}" srcOrd="2" destOrd="0" presId="urn:microsoft.com/office/officeart/2005/8/layout/cycle2"/>
    <dgm:cxn modelId="{3E848B32-7B4B-8C47-B734-5A8418767D7F}" type="presParOf" srcId="{800B66FC-6222-B740-85D4-0F5543F9D31D}" destId="{2D5D6023-73AA-614C-9535-4CBDBF25EE5E}" srcOrd="3" destOrd="0" presId="urn:microsoft.com/office/officeart/2005/8/layout/cycle2"/>
    <dgm:cxn modelId="{2A8AC939-787A-2047-9B1C-6E0E5FC42D47}" type="presParOf" srcId="{2D5D6023-73AA-614C-9535-4CBDBF25EE5E}" destId="{D3927882-FCC1-D745-901E-0448D61E1811}" srcOrd="0" destOrd="0" presId="urn:microsoft.com/office/officeart/2005/8/layout/cycle2"/>
    <dgm:cxn modelId="{37772FD2-5CC1-CC41-9323-23D3618F74F0}" type="presParOf" srcId="{800B66FC-6222-B740-85D4-0F5543F9D31D}" destId="{E7DCF0A7-A1C2-8542-8D98-B754A4B7E433}" srcOrd="4" destOrd="0" presId="urn:microsoft.com/office/officeart/2005/8/layout/cycle2"/>
    <dgm:cxn modelId="{887B1AE7-2732-024C-83CA-95304C750BD6}" type="presParOf" srcId="{800B66FC-6222-B740-85D4-0F5543F9D31D}" destId="{D9DB4893-35EF-DE46-AD0D-2152D5A30DD0}" srcOrd="5" destOrd="0" presId="urn:microsoft.com/office/officeart/2005/8/layout/cycle2"/>
    <dgm:cxn modelId="{D1BCDFCB-4D34-264A-862C-A11CEF83D4AE}" type="presParOf" srcId="{D9DB4893-35EF-DE46-AD0D-2152D5A30DD0}" destId="{6644FBE4-ED9D-894C-91E0-EADB265C86D6}" srcOrd="0" destOrd="0" presId="urn:microsoft.com/office/officeart/2005/8/layout/cycle2"/>
    <dgm:cxn modelId="{8208BBB6-C33F-374C-9FE1-FBF7785364AD}" type="presParOf" srcId="{800B66FC-6222-B740-85D4-0F5543F9D31D}" destId="{D8201945-F95A-224C-828B-CF24DA0538B2}" srcOrd="6" destOrd="0" presId="urn:microsoft.com/office/officeart/2005/8/layout/cycle2"/>
    <dgm:cxn modelId="{03754842-1D65-5948-A3BB-DC2DB2E2291F}" type="presParOf" srcId="{800B66FC-6222-B740-85D4-0F5543F9D31D}" destId="{F0488A72-69E8-FC4D-AE96-02C13D18B55E}" srcOrd="7" destOrd="0" presId="urn:microsoft.com/office/officeart/2005/8/layout/cycle2"/>
    <dgm:cxn modelId="{29C2BCFC-064E-684C-A586-0647614D2AB8}" type="presParOf" srcId="{F0488A72-69E8-FC4D-AE96-02C13D18B55E}" destId="{DEF946DD-281E-9745-B8B6-443D74B973B4}" srcOrd="0" destOrd="0" presId="urn:microsoft.com/office/officeart/2005/8/layout/cycle2"/>
    <dgm:cxn modelId="{79374AC5-3AAB-4E44-A7B1-4CD768DBBE45}" type="presParOf" srcId="{800B66FC-6222-B740-85D4-0F5543F9D31D}" destId="{F1E5A602-2EC2-B34E-829D-255045B3D8B3}" srcOrd="8" destOrd="0" presId="urn:microsoft.com/office/officeart/2005/8/layout/cycle2"/>
    <dgm:cxn modelId="{13886761-690F-F04D-85D7-327A0904A653}" type="presParOf" srcId="{800B66FC-6222-B740-85D4-0F5543F9D31D}" destId="{4B2CECD9-5B90-9143-A1BC-BF0501F0CD50}" srcOrd="9" destOrd="0" presId="urn:microsoft.com/office/officeart/2005/8/layout/cycle2"/>
    <dgm:cxn modelId="{AC753341-DFDB-614B-9A80-F2F7080F7407}" type="presParOf" srcId="{4B2CECD9-5B90-9143-A1BC-BF0501F0CD50}" destId="{0C1FB187-3CAA-534E-AC71-827F27431F0D}" srcOrd="0" destOrd="0" presId="urn:microsoft.com/office/officeart/2005/8/layout/cycle2"/>
    <dgm:cxn modelId="{9AC69ABA-7C92-B54D-8E22-548592D55D8D}" type="presParOf" srcId="{800B66FC-6222-B740-85D4-0F5543F9D31D}" destId="{3D62928A-5E89-8342-961B-C500DE9CB0A7}" srcOrd="10" destOrd="0" presId="urn:microsoft.com/office/officeart/2005/8/layout/cycle2"/>
    <dgm:cxn modelId="{8B4FE8AE-557C-2844-9B2A-3506269FDB82}" type="presParOf" srcId="{800B66FC-6222-B740-85D4-0F5543F9D31D}" destId="{453A606C-0B65-4F4F-A87F-0376D2F0AF64}" srcOrd="11" destOrd="0" presId="urn:microsoft.com/office/officeart/2005/8/layout/cycle2"/>
    <dgm:cxn modelId="{DB648D78-EF39-2042-A669-9DA62947499A}" type="presParOf" srcId="{453A606C-0B65-4F4F-A87F-0376D2F0AF64}" destId="{8C7525CC-0B3F-B841-8D20-573ADD361534}" srcOrd="0" destOrd="0" presId="urn:microsoft.com/office/officeart/2005/8/layout/cycle2"/>
  </dgm:cxnLst>
  <dgm:bg>
    <a:noFill/>
  </dgm:bg>
  <dgm:whole>
    <a:ln>
      <a:solidFill>
        <a:srgbClr val="FF0000"/>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91FDA9-BA9A-D040-9AAB-D2BD7E99789F}" type="doc">
      <dgm:prSet loTypeId="urn:microsoft.com/office/officeart/2005/8/layout/cycle2" loCatId="" qsTypeId="urn:microsoft.com/office/officeart/2005/8/quickstyle/simple4" qsCatId="simple" csTypeId="urn:microsoft.com/office/officeart/2005/8/colors/accent1_2" csCatId="accent1" phldr="1"/>
      <dgm:spPr/>
      <dgm:t>
        <a:bodyPr/>
        <a:lstStyle/>
        <a:p>
          <a:endParaRPr lang="en-US"/>
        </a:p>
      </dgm:t>
    </dgm:pt>
    <dgm:pt modelId="{41CC51EE-B932-8946-8DDF-1CFCD8C3E7B2}">
      <dgm:prSet phldrT="[Text]" custT="1"/>
      <dgm:spPr>
        <a:solidFill>
          <a:schemeClr val="bg1">
            <a:lumMod val="85000"/>
          </a:schemeClr>
        </a:solidFill>
      </dgm:spPr>
      <dgm:t>
        <a:bodyPr/>
        <a:lstStyle/>
        <a:p>
          <a:r>
            <a:rPr lang="en-US" sz="1200" dirty="0">
              <a:solidFill>
                <a:schemeClr val="tx1"/>
              </a:solidFill>
            </a:rPr>
            <a:t>No small talk</a:t>
          </a:r>
        </a:p>
      </dgm:t>
    </dgm:pt>
    <dgm:pt modelId="{7FC1DB1D-04E3-3443-8F57-78118D75BA9B}" type="parTrans" cxnId="{4E7913DB-CAD0-AC4D-9668-0638797E8C67}">
      <dgm:prSet/>
      <dgm:spPr/>
      <dgm:t>
        <a:bodyPr/>
        <a:lstStyle/>
        <a:p>
          <a:endParaRPr lang="en-US"/>
        </a:p>
      </dgm:t>
    </dgm:pt>
    <dgm:pt modelId="{4DFC7663-C56F-9B40-8D73-BD4BADFCE7CC}" type="sibTrans" cxnId="{4E7913DB-CAD0-AC4D-9668-0638797E8C67}">
      <dgm:prSet/>
      <dgm:spPr/>
      <dgm:t>
        <a:bodyPr/>
        <a:lstStyle/>
        <a:p>
          <a:endParaRPr lang="en-US"/>
        </a:p>
      </dgm:t>
    </dgm:pt>
    <dgm:pt modelId="{38DD3E39-BC13-5A47-8B07-36342C33082B}">
      <dgm:prSet phldrT="[Text]" custT="1"/>
      <dgm:spPr>
        <a:solidFill>
          <a:schemeClr val="bg1">
            <a:lumMod val="85000"/>
          </a:schemeClr>
        </a:solidFill>
      </dgm:spPr>
      <dgm:t>
        <a:bodyPr/>
        <a:lstStyle/>
        <a:p>
          <a:r>
            <a:rPr lang="en-US" sz="1100" dirty="0">
              <a:solidFill>
                <a:schemeClr val="tx1"/>
              </a:solidFill>
            </a:rPr>
            <a:t>Begin at the end - purpose</a:t>
          </a:r>
        </a:p>
      </dgm:t>
    </dgm:pt>
    <dgm:pt modelId="{E48C2305-8192-2649-AF87-71F8153B381C}" type="parTrans" cxnId="{173DFBFF-C400-DC4B-9AB9-3CC0BF80A104}">
      <dgm:prSet/>
      <dgm:spPr/>
      <dgm:t>
        <a:bodyPr/>
        <a:lstStyle/>
        <a:p>
          <a:endParaRPr lang="en-US"/>
        </a:p>
      </dgm:t>
    </dgm:pt>
    <dgm:pt modelId="{E24C6EA3-3F21-9D49-B0E9-45F56345143C}" type="sibTrans" cxnId="{173DFBFF-C400-DC4B-9AB9-3CC0BF80A104}">
      <dgm:prSet/>
      <dgm:spPr/>
      <dgm:t>
        <a:bodyPr/>
        <a:lstStyle/>
        <a:p>
          <a:endParaRPr lang="en-US"/>
        </a:p>
      </dgm:t>
    </dgm:pt>
    <dgm:pt modelId="{F75DA6F6-EDAA-D845-A643-36C478F76222}">
      <dgm:prSet phldrT="[Text]" custT="1"/>
      <dgm:spPr>
        <a:solidFill>
          <a:schemeClr val="bg1">
            <a:lumMod val="85000"/>
          </a:schemeClr>
        </a:solidFill>
      </dgm:spPr>
      <dgm:t>
        <a:bodyPr/>
        <a:lstStyle/>
        <a:p>
          <a:r>
            <a:rPr lang="en-US" sz="800" dirty="0">
              <a:solidFill>
                <a:schemeClr val="tx1"/>
              </a:solidFill>
            </a:rPr>
            <a:t>Present:</a:t>
          </a:r>
        </a:p>
        <a:p>
          <a:r>
            <a:rPr lang="en-US" sz="800" dirty="0">
              <a:solidFill>
                <a:schemeClr val="tx1"/>
              </a:solidFill>
            </a:rPr>
            <a:t>Goals</a:t>
          </a:r>
        </a:p>
        <a:p>
          <a:r>
            <a:rPr lang="en-US" sz="800" dirty="0">
              <a:solidFill>
                <a:schemeClr val="tx1"/>
              </a:solidFill>
            </a:rPr>
            <a:t>Deliverables</a:t>
          </a:r>
        </a:p>
        <a:p>
          <a:r>
            <a:rPr lang="en-US" sz="800" dirty="0">
              <a:solidFill>
                <a:schemeClr val="tx1"/>
              </a:solidFill>
            </a:rPr>
            <a:t>Timelines</a:t>
          </a:r>
        </a:p>
        <a:p>
          <a:r>
            <a:rPr lang="en-US" sz="800" dirty="0">
              <a:solidFill>
                <a:srgbClr val="FF0000"/>
              </a:solidFill>
            </a:rPr>
            <a:t>Urgency</a:t>
          </a:r>
        </a:p>
      </dgm:t>
    </dgm:pt>
    <dgm:pt modelId="{92A77B67-B2BF-F441-9EB3-EFC1ED282DC0}" type="parTrans" cxnId="{A3659502-ECC6-1545-9897-B33164C8F0C3}">
      <dgm:prSet/>
      <dgm:spPr/>
      <dgm:t>
        <a:bodyPr/>
        <a:lstStyle/>
        <a:p>
          <a:endParaRPr lang="en-US"/>
        </a:p>
      </dgm:t>
    </dgm:pt>
    <dgm:pt modelId="{9345B451-20B4-8F46-9F4F-514259F0DB16}" type="sibTrans" cxnId="{A3659502-ECC6-1545-9897-B33164C8F0C3}">
      <dgm:prSet/>
      <dgm:spPr/>
      <dgm:t>
        <a:bodyPr/>
        <a:lstStyle/>
        <a:p>
          <a:endParaRPr lang="en-US"/>
        </a:p>
      </dgm:t>
    </dgm:pt>
    <dgm:pt modelId="{FDA19C3E-4DFA-AB45-A6B5-437203EF78CE}">
      <dgm:prSet phldrT="[Text]"/>
      <dgm:spPr>
        <a:solidFill>
          <a:schemeClr val="bg1">
            <a:lumMod val="85000"/>
          </a:schemeClr>
        </a:solidFill>
      </dgm:spPr>
      <dgm:t>
        <a:bodyPr/>
        <a:lstStyle/>
        <a:p>
          <a:r>
            <a:rPr lang="en-US" dirty="0">
              <a:solidFill>
                <a:schemeClr val="tx1"/>
              </a:solidFill>
            </a:rPr>
            <a:t>Go over info you sent. Not read</a:t>
          </a:r>
        </a:p>
      </dgm:t>
    </dgm:pt>
    <dgm:pt modelId="{35561ABA-E7B1-7A4B-BEF2-BC80EC105B4E}" type="parTrans" cxnId="{05386B8D-BE89-4A4E-8B4C-E2302825C5A6}">
      <dgm:prSet/>
      <dgm:spPr/>
      <dgm:t>
        <a:bodyPr/>
        <a:lstStyle/>
        <a:p>
          <a:endParaRPr lang="en-US"/>
        </a:p>
      </dgm:t>
    </dgm:pt>
    <dgm:pt modelId="{1862AF2A-DE4B-C746-9907-30242D366B4D}" type="sibTrans" cxnId="{05386B8D-BE89-4A4E-8B4C-E2302825C5A6}">
      <dgm:prSet/>
      <dgm:spPr/>
      <dgm:t>
        <a:bodyPr/>
        <a:lstStyle/>
        <a:p>
          <a:endParaRPr lang="en-US"/>
        </a:p>
      </dgm:t>
    </dgm:pt>
    <dgm:pt modelId="{1ECB8F1B-8E6B-884B-B718-1EBCC8EC2E02}">
      <dgm:prSet phldrT="[Text]" custT="1"/>
      <dgm:spPr>
        <a:solidFill>
          <a:schemeClr val="bg1">
            <a:lumMod val="85000"/>
          </a:schemeClr>
        </a:solidFill>
      </dgm:spPr>
      <dgm:t>
        <a:bodyPr/>
        <a:lstStyle/>
        <a:p>
          <a:r>
            <a:rPr lang="en-US" sz="1200" dirty="0">
              <a:solidFill>
                <a:schemeClr val="tx1"/>
              </a:solidFill>
            </a:rPr>
            <a:t>Move, speak &amp; act rapidly</a:t>
          </a:r>
        </a:p>
      </dgm:t>
    </dgm:pt>
    <dgm:pt modelId="{C169072F-631B-A84D-9D33-8AE4AF326D32}" type="parTrans" cxnId="{613EDE69-C927-5D44-95A9-260ACC971E5C}">
      <dgm:prSet/>
      <dgm:spPr/>
      <dgm:t>
        <a:bodyPr/>
        <a:lstStyle/>
        <a:p>
          <a:endParaRPr lang="en-US"/>
        </a:p>
      </dgm:t>
    </dgm:pt>
    <dgm:pt modelId="{33FB7A8F-071F-564C-89A7-011C3781CB72}" type="sibTrans" cxnId="{613EDE69-C927-5D44-95A9-260ACC971E5C}">
      <dgm:prSet/>
      <dgm:spPr/>
      <dgm:t>
        <a:bodyPr/>
        <a:lstStyle/>
        <a:p>
          <a:endParaRPr lang="en-US"/>
        </a:p>
      </dgm:t>
    </dgm:pt>
    <dgm:pt modelId="{DD1C9945-FC14-584C-972E-598B6F6F9A38}">
      <dgm:prSet phldrT="[Text]"/>
      <dgm:spPr>
        <a:solidFill>
          <a:schemeClr val="bg1">
            <a:lumMod val="85000"/>
          </a:schemeClr>
        </a:solidFill>
      </dgm:spPr>
      <dgm:t>
        <a:bodyPr/>
        <a:lstStyle/>
        <a:p>
          <a:r>
            <a:rPr lang="en-US" b="0" dirty="0">
              <a:solidFill>
                <a:schemeClr val="tx1"/>
              </a:solidFill>
            </a:rPr>
            <a:t>Be good to your word!</a:t>
          </a:r>
        </a:p>
      </dgm:t>
    </dgm:pt>
    <dgm:pt modelId="{76C63D59-E6B8-E347-B4FE-35C2A1644917}" type="parTrans" cxnId="{77B2545C-F788-7946-B57C-E383269DBF79}">
      <dgm:prSet/>
      <dgm:spPr/>
      <dgm:t>
        <a:bodyPr/>
        <a:lstStyle/>
        <a:p>
          <a:endParaRPr lang="en-US"/>
        </a:p>
      </dgm:t>
    </dgm:pt>
    <dgm:pt modelId="{329443B2-E396-8642-A6F2-9D2846EE02FA}" type="sibTrans" cxnId="{77B2545C-F788-7946-B57C-E383269DBF79}">
      <dgm:prSet/>
      <dgm:spPr/>
      <dgm:t>
        <a:bodyPr/>
        <a:lstStyle/>
        <a:p>
          <a:endParaRPr lang="en-US"/>
        </a:p>
      </dgm:t>
    </dgm:pt>
    <dgm:pt modelId="{2A200D22-A5E5-A241-B8A0-456EDFDFF989}">
      <dgm:prSet phldrT="[Text]" custT="1"/>
      <dgm:spPr>
        <a:solidFill>
          <a:schemeClr val="bg1">
            <a:lumMod val="85000"/>
          </a:schemeClr>
        </a:solidFill>
      </dgm:spPr>
      <dgm:t>
        <a:bodyPr/>
        <a:lstStyle/>
        <a:p>
          <a:r>
            <a:rPr lang="en-US" sz="1100" dirty="0">
              <a:solidFill>
                <a:schemeClr val="tx1"/>
              </a:solidFill>
            </a:rPr>
            <a:t>Be</a:t>
          </a:r>
          <a:r>
            <a:rPr lang="en-US" sz="1200" dirty="0">
              <a:solidFill>
                <a:schemeClr val="tx1"/>
              </a:solidFill>
            </a:rPr>
            <a:t> </a:t>
          </a:r>
          <a:r>
            <a:rPr lang="en-US" sz="1100" dirty="0">
              <a:solidFill>
                <a:schemeClr val="tx1"/>
              </a:solidFill>
            </a:rPr>
            <a:t>precise &amp; literal in language</a:t>
          </a:r>
        </a:p>
      </dgm:t>
    </dgm:pt>
    <dgm:pt modelId="{2C089B80-B03E-B247-B6CB-053B042653EB}" type="parTrans" cxnId="{CEB26856-9EE8-6D4F-AE20-D81B5B246359}">
      <dgm:prSet/>
      <dgm:spPr/>
      <dgm:t>
        <a:bodyPr/>
        <a:lstStyle/>
        <a:p>
          <a:endParaRPr lang="en-US"/>
        </a:p>
      </dgm:t>
    </dgm:pt>
    <dgm:pt modelId="{DEC615F8-0AB3-6947-9760-9BD742112E93}" type="sibTrans" cxnId="{CEB26856-9EE8-6D4F-AE20-D81B5B246359}">
      <dgm:prSet/>
      <dgm:spPr/>
      <dgm:t>
        <a:bodyPr/>
        <a:lstStyle/>
        <a:p>
          <a:endParaRPr lang="en-US"/>
        </a:p>
      </dgm:t>
    </dgm:pt>
    <dgm:pt modelId="{4F2D6033-24E0-344B-BEB5-8014FA8D1368}">
      <dgm:prSet phldrT="[Text]" custT="1"/>
      <dgm:spPr>
        <a:solidFill>
          <a:schemeClr val="bg1">
            <a:lumMod val="85000"/>
          </a:schemeClr>
        </a:solidFill>
      </dgm:spPr>
      <dgm:t>
        <a:bodyPr/>
        <a:lstStyle/>
        <a:p>
          <a:r>
            <a:rPr lang="en-US" sz="1100" dirty="0">
              <a:solidFill>
                <a:schemeClr val="tx1"/>
              </a:solidFill>
            </a:rPr>
            <a:t>Share expected results</a:t>
          </a:r>
        </a:p>
      </dgm:t>
    </dgm:pt>
    <dgm:pt modelId="{491C2553-657A-8648-B7E6-D51B413C2944}" type="parTrans" cxnId="{63C50DE9-3A11-C44D-B1CC-605B7FC981EC}">
      <dgm:prSet/>
      <dgm:spPr/>
      <dgm:t>
        <a:bodyPr/>
        <a:lstStyle/>
        <a:p>
          <a:endParaRPr lang="en-US"/>
        </a:p>
      </dgm:t>
    </dgm:pt>
    <dgm:pt modelId="{B0E953A1-9EE2-3946-9B1A-60598FE9CA73}" type="sibTrans" cxnId="{63C50DE9-3A11-C44D-B1CC-605B7FC981EC}">
      <dgm:prSet/>
      <dgm:spPr/>
      <dgm:t>
        <a:bodyPr/>
        <a:lstStyle/>
        <a:p>
          <a:endParaRPr lang="en-US"/>
        </a:p>
      </dgm:t>
    </dgm:pt>
    <dgm:pt modelId="{3C2F28C6-7883-B047-95C7-26E3440C0B93}">
      <dgm:prSet phldrT="[Text]" custT="1"/>
      <dgm:spPr>
        <a:solidFill>
          <a:schemeClr val="bg1">
            <a:lumMod val="85000"/>
          </a:schemeClr>
        </a:solidFill>
      </dgm:spPr>
      <dgm:t>
        <a:bodyPr/>
        <a:lstStyle/>
        <a:p>
          <a:r>
            <a:rPr lang="en-US" sz="1000" dirty="0">
              <a:solidFill>
                <a:schemeClr val="tx1"/>
              </a:solidFill>
            </a:rPr>
            <a:t>Use; who, what, when, where &amp; how</a:t>
          </a:r>
        </a:p>
      </dgm:t>
    </dgm:pt>
    <dgm:pt modelId="{849CABEF-A9A0-FC4D-8B97-AE38F4EDA0BB}" type="parTrans" cxnId="{2372F49D-EC73-DF4F-98BB-1A353A4EF061}">
      <dgm:prSet/>
      <dgm:spPr/>
      <dgm:t>
        <a:bodyPr/>
        <a:lstStyle/>
        <a:p>
          <a:endParaRPr lang="en-US"/>
        </a:p>
      </dgm:t>
    </dgm:pt>
    <dgm:pt modelId="{FD45E540-8884-2146-B75D-BE596171F5A3}" type="sibTrans" cxnId="{2372F49D-EC73-DF4F-98BB-1A353A4EF061}">
      <dgm:prSet/>
      <dgm:spPr/>
      <dgm:t>
        <a:bodyPr/>
        <a:lstStyle/>
        <a:p>
          <a:endParaRPr lang="en-US"/>
        </a:p>
      </dgm:t>
    </dgm:pt>
    <dgm:pt modelId="{9DE90450-2B02-EC49-BE60-017EB2735F7A}">
      <dgm:prSet phldrT="[Text]"/>
      <dgm:spPr>
        <a:solidFill>
          <a:schemeClr val="bg1">
            <a:lumMod val="85000"/>
          </a:schemeClr>
        </a:solidFill>
      </dgm:spPr>
      <dgm:t>
        <a:bodyPr/>
        <a:lstStyle/>
        <a:p>
          <a:r>
            <a:rPr lang="en-US" dirty="0">
              <a:solidFill>
                <a:schemeClr val="tx1"/>
              </a:solidFill>
            </a:rPr>
            <a:t>Praise their efforts</a:t>
          </a:r>
        </a:p>
      </dgm:t>
    </dgm:pt>
    <dgm:pt modelId="{5CA7347E-0156-9443-8911-B4B9EFD8D496}" type="parTrans" cxnId="{DC0E372A-EFEB-E14B-87FA-82D4E1C69C0E}">
      <dgm:prSet/>
      <dgm:spPr/>
      <dgm:t>
        <a:bodyPr/>
        <a:lstStyle/>
        <a:p>
          <a:endParaRPr lang="en-US"/>
        </a:p>
      </dgm:t>
    </dgm:pt>
    <dgm:pt modelId="{2578DB92-E533-6B40-B07F-4B79EDD9E3A3}" type="sibTrans" cxnId="{DC0E372A-EFEB-E14B-87FA-82D4E1C69C0E}">
      <dgm:prSet/>
      <dgm:spPr/>
      <dgm:t>
        <a:bodyPr/>
        <a:lstStyle/>
        <a:p>
          <a:endParaRPr lang="en-US"/>
        </a:p>
      </dgm:t>
    </dgm:pt>
    <dgm:pt modelId="{64AD75C5-7428-F041-BA81-A2FE64BABAAC}">
      <dgm:prSet phldrT="[Text]" custT="1"/>
      <dgm:spPr>
        <a:solidFill>
          <a:schemeClr val="bg1">
            <a:lumMod val="85000"/>
          </a:schemeClr>
        </a:solidFill>
      </dgm:spPr>
      <dgm:t>
        <a:bodyPr/>
        <a:lstStyle/>
        <a:p>
          <a:r>
            <a:rPr lang="en-US" sz="900" dirty="0">
              <a:solidFill>
                <a:schemeClr val="tx1"/>
              </a:solidFill>
            </a:rPr>
            <a:t>Reward for performance</a:t>
          </a:r>
        </a:p>
      </dgm:t>
    </dgm:pt>
    <dgm:pt modelId="{65E56D14-F65B-D243-8539-7B8E3D59AC80}" type="parTrans" cxnId="{DE47B50A-C0FC-EA4A-8ABE-E831D39BB601}">
      <dgm:prSet/>
      <dgm:spPr/>
      <dgm:t>
        <a:bodyPr/>
        <a:lstStyle/>
        <a:p>
          <a:endParaRPr lang="en-US"/>
        </a:p>
      </dgm:t>
    </dgm:pt>
    <dgm:pt modelId="{55A35266-B03E-9744-8D57-A6F3EC7ED072}" type="sibTrans" cxnId="{DE47B50A-C0FC-EA4A-8ABE-E831D39BB601}">
      <dgm:prSet/>
      <dgm:spPr/>
      <dgm:t>
        <a:bodyPr/>
        <a:lstStyle/>
        <a:p>
          <a:endParaRPr lang="en-US"/>
        </a:p>
      </dgm:t>
    </dgm:pt>
    <dgm:pt modelId="{8FA9FBDE-B794-4D42-B292-3C752644E97B}" type="pres">
      <dgm:prSet presAssocID="{5F91FDA9-BA9A-D040-9AAB-D2BD7E99789F}" presName="cycle" presStyleCnt="0">
        <dgm:presLayoutVars>
          <dgm:dir/>
          <dgm:resizeHandles val="exact"/>
        </dgm:presLayoutVars>
      </dgm:prSet>
      <dgm:spPr/>
    </dgm:pt>
    <dgm:pt modelId="{7E2B9E8A-289A-FC4A-9D1C-6099B4270AD4}" type="pres">
      <dgm:prSet presAssocID="{41CC51EE-B932-8946-8DDF-1CFCD8C3E7B2}" presName="node" presStyleLbl="node1" presStyleIdx="0" presStyleCnt="11">
        <dgm:presLayoutVars>
          <dgm:bulletEnabled val="1"/>
        </dgm:presLayoutVars>
      </dgm:prSet>
      <dgm:spPr/>
    </dgm:pt>
    <dgm:pt modelId="{C4F1DD1A-6110-5948-8A46-48F3A7EB0119}" type="pres">
      <dgm:prSet presAssocID="{4DFC7663-C56F-9B40-8D73-BD4BADFCE7CC}" presName="sibTrans" presStyleLbl="sibTrans2D1" presStyleIdx="0" presStyleCnt="11"/>
      <dgm:spPr/>
    </dgm:pt>
    <dgm:pt modelId="{B121C652-E7FD-7241-A393-9D1B124E819E}" type="pres">
      <dgm:prSet presAssocID="{4DFC7663-C56F-9B40-8D73-BD4BADFCE7CC}" presName="connectorText" presStyleLbl="sibTrans2D1" presStyleIdx="0" presStyleCnt="11"/>
      <dgm:spPr/>
    </dgm:pt>
    <dgm:pt modelId="{F25307E4-83F1-0E49-A2D0-74F0D5486D93}" type="pres">
      <dgm:prSet presAssocID="{38DD3E39-BC13-5A47-8B07-36342C33082B}" presName="node" presStyleLbl="node1" presStyleIdx="1" presStyleCnt="11">
        <dgm:presLayoutVars>
          <dgm:bulletEnabled val="1"/>
        </dgm:presLayoutVars>
      </dgm:prSet>
      <dgm:spPr/>
    </dgm:pt>
    <dgm:pt modelId="{6FF44C64-1E55-BA40-A27A-3EE5E5204FAE}" type="pres">
      <dgm:prSet presAssocID="{E24C6EA3-3F21-9D49-B0E9-45F56345143C}" presName="sibTrans" presStyleLbl="sibTrans2D1" presStyleIdx="1" presStyleCnt="11"/>
      <dgm:spPr/>
    </dgm:pt>
    <dgm:pt modelId="{407A9711-D3A5-4043-921F-5F01D5B7DD9E}" type="pres">
      <dgm:prSet presAssocID="{E24C6EA3-3F21-9D49-B0E9-45F56345143C}" presName="connectorText" presStyleLbl="sibTrans2D1" presStyleIdx="1" presStyleCnt="11"/>
      <dgm:spPr/>
    </dgm:pt>
    <dgm:pt modelId="{EDEE97A7-46D8-494D-8EB6-6269CEBEECEA}" type="pres">
      <dgm:prSet presAssocID="{F75DA6F6-EDAA-D845-A643-36C478F76222}" presName="node" presStyleLbl="node1" presStyleIdx="2" presStyleCnt="11">
        <dgm:presLayoutVars>
          <dgm:bulletEnabled val="1"/>
        </dgm:presLayoutVars>
      </dgm:prSet>
      <dgm:spPr/>
    </dgm:pt>
    <dgm:pt modelId="{06A02987-428F-B043-90F8-7AB455F178D5}" type="pres">
      <dgm:prSet presAssocID="{9345B451-20B4-8F46-9F4F-514259F0DB16}" presName="sibTrans" presStyleLbl="sibTrans2D1" presStyleIdx="2" presStyleCnt="11"/>
      <dgm:spPr/>
    </dgm:pt>
    <dgm:pt modelId="{6C086CCC-5EDE-FC45-877F-62C4699DCB57}" type="pres">
      <dgm:prSet presAssocID="{9345B451-20B4-8F46-9F4F-514259F0DB16}" presName="connectorText" presStyleLbl="sibTrans2D1" presStyleIdx="2" presStyleCnt="11"/>
      <dgm:spPr/>
    </dgm:pt>
    <dgm:pt modelId="{B20A8CF4-B3E5-A34F-98CC-6B62B629D731}" type="pres">
      <dgm:prSet presAssocID="{FDA19C3E-4DFA-AB45-A6B5-437203EF78CE}" presName="node" presStyleLbl="node1" presStyleIdx="3" presStyleCnt="11">
        <dgm:presLayoutVars>
          <dgm:bulletEnabled val="1"/>
        </dgm:presLayoutVars>
      </dgm:prSet>
      <dgm:spPr/>
    </dgm:pt>
    <dgm:pt modelId="{4C77433F-268C-154E-9924-00DD16D26A8C}" type="pres">
      <dgm:prSet presAssocID="{1862AF2A-DE4B-C746-9907-30242D366B4D}" presName="sibTrans" presStyleLbl="sibTrans2D1" presStyleIdx="3" presStyleCnt="11"/>
      <dgm:spPr/>
    </dgm:pt>
    <dgm:pt modelId="{2516F486-DEF9-2C46-96E1-FA2242D5A681}" type="pres">
      <dgm:prSet presAssocID="{1862AF2A-DE4B-C746-9907-30242D366B4D}" presName="connectorText" presStyleLbl="sibTrans2D1" presStyleIdx="3" presStyleCnt="11"/>
      <dgm:spPr/>
    </dgm:pt>
    <dgm:pt modelId="{544EF912-309D-CF4A-9608-975C4FB079F2}" type="pres">
      <dgm:prSet presAssocID="{1ECB8F1B-8E6B-884B-B718-1EBCC8EC2E02}" presName="node" presStyleLbl="node1" presStyleIdx="4" presStyleCnt="11">
        <dgm:presLayoutVars>
          <dgm:bulletEnabled val="1"/>
        </dgm:presLayoutVars>
      </dgm:prSet>
      <dgm:spPr/>
    </dgm:pt>
    <dgm:pt modelId="{7E244E47-0700-B540-A050-EAE2F8DCA9E2}" type="pres">
      <dgm:prSet presAssocID="{33FB7A8F-071F-564C-89A7-011C3781CB72}" presName="sibTrans" presStyleLbl="sibTrans2D1" presStyleIdx="4" presStyleCnt="11"/>
      <dgm:spPr/>
    </dgm:pt>
    <dgm:pt modelId="{9964D612-DCB9-8E40-A5C4-731958E27051}" type="pres">
      <dgm:prSet presAssocID="{33FB7A8F-071F-564C-89A7-011C3781CB72}" presName="connectorText" presStyleLbl="sibTrans2D1" presStyleIdx="4" presStyleCnt="11"/>
      <dgm:spPr/>
    </dgm:pt>
    <dgm:pt modelId="{9CA3348B-D646-7C4D-9883-DF146CFED2FC}" type="pres">
      <dgm:prSet presAssocID="{2A200D22-A5E5-A241-B8A0-456EDFDFF989}" presName="node" presStyleLbl="node1" presStyleIdx="5" presStyleCnt="11">
        <dgm:presLayoutVars>
          <dgm:bulletEnabled val="1"/>
        </dgm:presLayoutVars>
      </dgm:prSet>
      <dgm:spPr/>
    </dgm:pt>
    <dgm:pt modelId="{2D9451C7-EEE4-9C4E-91A2-A16E41530D3E}" type="pres">
      <dgm:prSet presAssocID="{DEC615F8-0AB3-6947-9760-9BD742112E93}" presName="sibTrans" presStyleLbl="sibTrans2D1" presStyleIdx="5" presStyleCnt="11"/>
      <dgm:spPr/>
    </dgm:pt>
    <dgm:pt modelId="{C75691DE-57D4-4743-9A85-840E103241B3}" type="pres">
      <dgm:prSet presAssocID="{DEC615F8-0AB3-6947-9760-9BD742112E93}" presName="connectorText" presStyleLbl="sibTrans2D1" presStyleIdx="5" presStyleCnt="11"/>
      <dgm:spPr/>
    </dgm:pt>
    <dgm:pt modelId="{710A4DE4-97D4-A048-9865-B369579E3DB7}" type="pres">
      <dgm:prSet presAssocID="{4F2D6033-24E0-344B-BEB5-8014FA8D1368}" presName="node" presStyleLbl="node1" presStyleIdx="6" presStyleCnt="11">
        <dgm:presLayoutVars>
          <dgm:bulletEnabled val="1"/>
        </dgm:presLayoutVars>
      </dgm:prSet>
      <dgm:spPr/>
    </dgm:pt>
    <dgm:pt modelId="{BE2D9569-0E08-4547-B4A0-5EAF9BD63BB9}" type="pres">
      <dgm:prSet presAssocID="{B0E953A1-9EE2-3946-9B1A-60598FE9CA73}" presName="sibTrans" presStyleLbl="sibTrans2D1" presStyleIdx="6" presStyleCnt="11"/>
      <dgm:spPr/>
    </dgm:pt>
    <dgm:pt modelId="{A34D6DE1-BEBC-3C4E-95CD-914632C6BF7E}" type="pres">
      <dgm:prSet presAssocID="{B0E953A1-9EE2-3946-9B1A-60598FE9CA73}" presName="connectorText" presStyleLbl="sibTrans2D1" presStyleIdx="6" presStyleCnt="11"/>
      <dgm:spPr/>
    </dgm:pt>
    <dgm:pt modelId="{115B0721-907A-EB48-9924-831289B61667}" type="pres">
      <dgm:prSet presAssocID="{3C2F28C6-7883-B047-95C7-26E3440C0B93}" presName="node" presStyleLbl="node1" presStyleIdx="7" presStyleCnt="11">
        <dgm:presLayoutVars>
          <dgm:bulletEnabled val="1"/>
        </dgm:presLayoutVars>
      </dgm:prSet>
      <dgm:spPr/>
    </dgm:pt>
    <dgm:pt modelId="{615B01C8-5390-3648-8B6C-360C0C81447F}" type="pres">
      <dgm:prSet presAssocID="{FD45E540-8884-2146-B75D-BE596171F5A3}" presName="sibTrans" presStyleLbl="sibTrans2D1" presStyleIdx="7" presStyleCnt="11"/>
      <dgm:spPr/>
    </dgm:pt>
    <dgm:pt modelId="{04A4B89D-75DB-DF4E-825C-EDAAAA76692D}" type="pres">
      <dgm:prSet presAssocID="{FD45E540-8884-2146-B75D-BE596171F5A3}" presName="connectorText" presStyleLbl="sibTrans2D1" presStyleIdx="7" presStyleCnt="11"/>
      <dgm:spPr/>
    </dgm:pt>
    <dgm:pt modelId="{A07AA92D-4511-EE45-B1EC-99D6C368BCD4}" type="pres">
      <dgm:prSet presAssocID="{9DE90450-2B02-EC49-BE60-017EB2735F7A}" presName="node" presStyleLbl="node1" presStyleIdx="8" presStyleCnt="11">
        <dgm:presLayoutVars>
          <dgm:bulletEnabled val="1"/>
        </dgm:presLayoutVars>
      </dgm:prSet>
      <dgm:spPr/>
    </dgm:pt>
    <dgm:pt modelId="{56639D85-F15B-BE40-9198-10C8C73E727C}" type="pres">
      <dgm:prSet presAssocID="{2578DB92-E533-6B40-B07F-4B79EDD9E3A3}" presName="sibTrans" presStyleLbl="sibTrans2D1" presStyleIdx="8" presStyleCnt="11"/>
      <dgm:spPr/>
    </dgm:pt>
    <dgm:pt modelId="{0DDEE987-0E7F-374C-95B7-E978D3A36E72}" type="pres">
      <dgm:prSet presAssocID="{2578DB92-E533-6B40-B07F-4B79EDD9E3A3}" presName="connectorText" presStyleLbl="sibTrans2D1" presStyleIdx="8" presStyleCnt="11"/>
      <dgm:spPr/>
    </dgm:pt>
    <dgm:pt modelId="{A68D89D6-7E99-BD41-BE26-159546B7DCF5}" type="pres">
      <dgm:prSet presAssocID="{64AD75C5-7428-F041-BA81-A2FE64BABAAC}" presName="node" presStyleLbl="node1" presStyleIdx="9" presStyleCnt="11" custScaleX="111013" custScaleY="106757">
        <dgm:presLayoutVars>
          <dgm:bulletEnabled val="1"/>
        </dgm:presLayoutVars>
      </dgm:prSet>
      <dgm:spPr/>
    </dgm:pt>
    <dgm:pt modelId="{99B6A552-0F8E-B741-8972-23BCEBB5CB41}" type="pres">
      <dgm:prSet presAssocID="{55A35266-B03E-9744-8D57-A6F3EC7ED072}" presName="sibTrans" presStyleLbl="sibTrans2D1" presStyleIdx="9" presStyleCnt="11"/>
      <dgm:spPr/>
    </dgm:pt>
    <dgm:pt modelId="{4C9752C6-4BDF-7240-92F3-2A3BEAEBE39C}" type="pres">
      <dgm:prSet presAssocID="{55A35266-B03E-9744-8D57-A6F3EC7ED072}" presName="connectorText" presStyleLbl="sibTrans2D1" presStyleIdx="9" presStyleCnt="11"/>
      <dgm:spPr/>
    </dgm:pt>
    <dgm:pt modelId="{7190AA65-739E-F144-805E-EE27D976351B}" type="pres">
      <dgm:prSet presAssocID="{DD1C9945-FC14-584C-972E-598B6F6F9A38}" presName="node" presStyleLbl="node1" presStyleIdx="10" presStyleCnt="11">
        <dgm:presLayoutVars>
          <dgm:bulletEnabled val="1"/>
        </dgm:presLayoutVars>
      </dgm:prSet>
      <dgm:spPr/>
    </dgm:pt>
    <dgm:pt modelId="{41A7522E-561B-5A4E-BEB1-3548E845C3BC}" type="pres">
      <dgm:prSet presAssocID="{329443B2-E396-8642-A6F2-9D2846EE02FA}" presName="sibTrans" presStyleLbl="sibTrans2D1" presStyleIdx="10" presStyleCnt="11"/>
      <dgm:spPr/>
    </dgm:pt>
    <dgm:pt modelId="{9E181D83-6DAE-CD45-A27B-AB4B3CA4AB5C}" type="pres">
      <dgm:prSet presAssocID="{329443B2-E396-8642-A6F2-9D2846EE02FA}" presName="connectorText" presStyleLbl="sibTrans2D1" presStyleIdx="10" presStyleCnt="11"/>
      <dgm:spPr/>
    </dgm:pt>
  </dgm:ptLst>
  <dgm:cxnLst>
    <dgm:cxn modelId="{44BA1D02-79BA-FA4B-B8B2-1336029140F0}" type="presOf" srcId="{329443B2-E396-8642-A6F2-9D2846EE02FA}" destId="{41A7522E-561B-5A4E-BEB1-3548E845C3BC}" srcOrd="0" destOrd="0" presId="urn:microsoft.com/office/officeart/2005/8/layout/cycle2"/>
    <dgm:cxn modelId="{A3659502-ECC6-1545-9897-B33164C8F0C3}" srcId="{5F91FDA9-BA9A-D040-9AAB-D2BD7E99789F}" destId="{F75DA6F6-EDAA-D845-A643-36C478F76222}" srcOrd="2" destOrd="0" parTransId="{92A77B67-B2BF-F441-9EB3-EFC1ED282DC0}" sibTransId="{9345B451-20B4-8F46-9F4F-514259F0DB16}"/>
    <dgm:cxn modelId="{D5616104-CC0A-1042-8ADF-31A8AD739B57}" type="presOf" srcId="{4F2D6033-24E0-344B-BEB5-8014FA8D1368}" destId="{710A4DE4-97D4-A048-9865-B369579E3DB7}" srcOrd="0" destOrd="0" presId="urn:microsoft.com/office/officeart/2005/8/layout/cycle2"/>
    <dgm:cxn modelId="{DE47B50A-C0FC-EA4A-8ABE-E831D39BB601}" srcId="{5F91FDA9-BA9A-D040-9AAB-D2BD7E99789F}" destId="{64AD75C5-7428-F041-BA81-A2FE64BABAAC}" srcOrd="9" destOrd="0" parTransId="{65E56D14-F65B-D243-8539-7B8E3D59AC80}" sibTransId="{55A35266-B03E-9744-8D57-A6F3EC7ED072}"/>
    <dgm:cxn modelId="{280DB30D-B62C-2841-9E6E-3863FE52C62B}" type="presOf" srcId="{4DFC7663-C56F-9B40-8D73-BD4BADFCE7CC}" destId="{C4F1DD1A-6110-5948-8A46-48F3A7EB0119}" srcOrd="0" destOrd="0" presId="urn:microsoft.com/office/officeart/2005/8/layout/cycle2"/>
    <dgm:cxn modelId="{ACDECB0E-D67C-B240-8D5E-E3F0F3ED2723}" type="presOf" srcId="{2A200D22-A5E5-A241-B8A0-456EDFDFF989}" destId="{9CA3348B-D646-7C4D-9883-DF146CFED2FC}" srcOrd="0" destOrd="0" presId="urn:microsoft.com/office/officeart/2005/8/layout/cycle2"/>
    <dgm:cxn modelId="{6F230610-83E9-A745-B691-BD8C5B6B21D7}" type="presOf" srcId="{F75DA6F6-EDAA-D845-A643-36C478F76222}" destId="{EDEE97A7-46D8-494D-8EB6-6269CEBEECEA}" srcOrd="0" destOrd="0" presId="urn:microsoft.com/office/officeart/2005/8/layout/cycle2"/>
    <dgm:cxn modelId="{54E07D10-A4FE-F541-B3AC-D599FC4F9EDD}" type="presOf" srcId="{38DD3E39-BC13-5A47-8B07-36342C33082B}" destId="{F25307E4-83F1-0E49-A2D0-74F0D5486D93}" srcOrd="0" destOrd="0" presId="urn:microsoft.com/office/officeart/2005/8/layout/cycle2"/>
    <dgm:cxn modelId="{C8568513-D04C-FB4B-9378-390D66642192}" type="presOf" srcId="{33FB7A8F-071F-564C-89A7-011C3781CB72}" destId="{7E244E47-0700-B540-A050-EAE2F8DCA9E2}" srcOrd="0" destOrd="0" presId="urn:microsoft.com/office/officeart/2005/8/layout/cycle2"/>
    <dgm:cxn modelId="{8F15F51C-F6B2-2649-AD88-B2F39A83966B}" type="presOf" srcId="{E24C6EA3-3F21-9D49-B0E9-45F56345143C}" destId="{6FF44C64-1E55-BA40-A27A-3EE5E5204FAE}" srcOrd="0" destOrd="0" presId="urn:microsoft.com/office/officeart/2005/8/layout/cycle2"/>
    <dgm:cxn modelId="{9A11B928-9ACB-F64E-8909-17E269E9A183}" type="presOf" srcId="{2578DB92-E533-6B40-B07F-4B79EDD9E3A3}" destId="{56639D85-F15B-BE40-9198-10C8C73E727C}" srcOrd="0" destOrd="0" presId="urn:microsoft.com/office/officeart/2005/8/layout/cycle2"/>
    <dgm:cxn modelId="{DC0E372A-EFEB-E14B-87FA-82D4E1C69C0E}" srcId="{5F91FDA9-BA9A-D040-9AAB-D2BD7E99789F}" destId="{9DE90450-2B02-EC49-BE60-017EB2735F7A}" srcOrd="8" destOrd="0" parTransId="{5CA7347E-0156-9443-8911-B4B9EFD8D496}" sibTransId="{2578DB92-E533-6B40-B07F-4B79EDD9E3A3}"/>
    <dgm:cxn modelId="{67AE442A-6AB3-F94E-B51F-AE73189E377D}" type="presOf" srcId="{9345B451-20B4-8F46-9F4F-514259F0DB16}" destId="{6C086CCC-5EDE-FC45-877F-62C4699DCB57}" srcOrd="1" destOrd="0" presId="urn:microsoft.com/office/officeart/2005/8/layout/cycle2"/>
    <dgm:cxn modelId="{1043BC31-D856-9A45-94A6-79492CAFCB2F}" type="presOf" srcId="{41CC51EE-B932-8946-8DDF-1CFCD8C3E7B2}" destId="{7E2B9E8A-289A-FC4A-9D1C-6099B4270AD4}" srcOrd="0" destOrd="0" presId="urn:microsoft.com/office/officeart/2005/8/layout/cycle2"/>
    <dgm:cxn modelId="{C404AB3B-6FAF-EE42-9BE9-D6437A7D77F9}" type="presOf" srcId="{329443B2-E396-8642-A6F2-9D2846EE02FA}" destId="{9E181D83-6DAE-CD45-A27B-AB4B3CA4AB5C}" srcOrd="1" destOrd="0" presId="urn:microsoft.com/office/officeart/2005/8/layout/cycle2"/>
    <dgm:cxn modelId="{F289AE3E-FCD0-C549-9200-81147A2FF0AC}" type="presOf" srcId="{4DFC7663-C56F-9B40-8D73-BD4BADFCE7CC}" destId="{B121C652-E7FD-7241-A393-9D1B124E819E}" srcOrd="1" destOrd="0" presId="urn:microsoft.com/office/officeart/2005/8/layout/cycle2"/>
    <dgm:cxn modelId="{77B2545C-F788-7946-B57C-E383269DBF79}" srcId="{5F91FDA9-BA9A-D040-9AAB-D2BD7E99789F}" destId="{DD1C9945-FC14-584C-972E-598B6F6F9A38}" srcOrd="10" destOrd="0" parTransId="{76C63D59-E6B8-E347-B4FE-35C2A1644917}" sibTransId="{329443B2-E396-8642-A6F2-9D2846EE02FA}"/>
    <dgm:cxn modelId="{EF0BC369-4F3D-084C-BD8F-A3987BD556A1}" type="presOf" srcId="{FDA19C3E-4DFA-AB45-A6B5-437203EF78CE}" destId="{B20A8CF4-B3E5-A34F-98CC-6B62B629D731}" srcOrd="0" destOrd="0" presId="urn:microsoft.com/office/officeart/2005/8/layout/cycle2"/>
    <dgm:cxn modelId="{613EDE69-C927-5D44-95A9-260ACC971E5C}" srcId="{5F91FDA9-BA9A-D040-9AAB-D2BD7E99789F}" destId="{1ECB8F1B-8E6B-884B-B718-1EBCC8EC2E02}" srcOrd="4" destOrd="0" parTransId="{C169072F-631B-A84D-9D33-8AE4AF326D32}" sibTransId="{33FB7A8F-071F-564C-89A7-011C3781CB72}"/>
    <dgm:cxn modelId="{14D8BE4B-1100-5140-A1C0-0C238C49D9C6}" type="presOf" srcId="{DEC615F8-0AB3-6947-9760-9BD742112E93}" destId="{2D9451C7-EEE4-9C4E-91A2-A16E41530D3E}" srcOrd="0" destOrd="0" presId="urn:microsoft.com/office/officeart/2005/8/layout/cycle2"/>
    <dgm:cxn modelId="{01FD8D4D-11F1-944B-BE7F-9B9813A54F2D}" type="presOf" srcId="{5F91FDA9-BA9A-D040-9AAB-D2BD7E99789F}" destId="{8FA9FBDE-B794-4D42-B292-3C752644E97B}" srcOrd="0" destOrd="0" presId="urn:microsoft.com/office/officeart/2005/8/layout/cycle2"/>
    <dgm:cxn modelId="{0D3C4951-CB47-0F49-8179-51AFB161EADD}" type="presOf" srcId="{2578DB92-E533-6B40-B07F-4B79EDD9E3A3}" destId="{0DDEE987-0E7F-374C-95B7-E978D3A36E72}" srcOrd="1" destOrd="0" presId="urn:microsoft.com/office/officeart/2005/8/layout/cycle2"/>
    <dgm:cxn modelId="{501D8274-6733-A145-8614-60F4219E0B0F}" type="presOf" srcId="{DD1C9945-FC14-584C-972E-598B6F6F9A38}" destId="{7190AA65-739E-F144-805E-EE27D976351B}" srcOrd="0" destOrd="0" presId="urn:microsoft.com/office/officeart/2005/8/layout/cycle2"/>
    <dgm:cxn modelId="{CEB26856-9EE8-6D4F-AE20-D81B5B246359}" srcId="{5F91FDA9-BA9A-D040-9AAB-D2BD7E99789F}" destId="{2A200D22-A5E5-A241-B8A0-456EDFDFF989}" srcOrd="5" destOrd="0" parTransId="{2C089B80-B03E-B247-B6CB-053B042653EB}" sibTransId="{DEC615F8-0AB3-6947-9760-9BD742112E93}"/>
    <dgm:cxn modelId="{086C7458-0551-0043-BB20-36CA616C8581}" type="presOf" srcId="{55A35266-B03E-9744-8D57-A6F3EC7ED072}" destId="{4C9752C6-4BDF-7240-92F3-2A3BEAEBE39C}" srcOrd="1" destOrd="0" presId="urn:microsoft.com/office/officeart/2005/8/layout/cycle2"/>
    <dgm:cxn modelId="{0F3DA559-80B4-484D-AA86-160788292629}" type="presOf" srcId="{3C2F28C6-7883-B047-95C7-26E3440C0B93}" destId="{115B0721-907A-EB48-9924-831289B61667}" srcOrd="0" destOrd="0" presId="urn:microsoft.com/office/officeart/2005/8/layout/cycle2"/>
    <dgm:cxn modelId="{1978417D-AA9D-8F48-83F0-7878296DCC3D}" type="presOf" srcId="{9DE90450-2B02-EC49-BE60-017EB2735F7A}" destId="{A07AA92D-4511-EE45-B1EC-99D6C368BCD4}" srcOrd="0" destOrd="0" presId="urn:microsoft.com/office/officeart/2005/8/layout/cycle2"/>
    <dgm:cxn modelId="{D30F5F7F-1C9A-144A-BF94-7176A65D8911}" type="presOf" srcId="{33FB7A8F-071F-564C-89A7-011C3781CB72}" destId="{9964D612-DCB9-8E40-A5C4-731958E27051}" srcOrd="1" destOrd="0" presId="urn:microsoft.com/office/officeart/2005/8/layout/cycle2"/>
    <dgm:cxn modelId="{5F3D4587-C303-9747-A35E-E49B12AC56BF}" type="presOf" srcId="{1862AF2A-DE4B-C746-9907-30242D366B4D}" destId="{4C77433F-268C-154E-9924-00DD16D26A8C}" srcOrd="0" destOrd="0" presId="urn:microsoft.com/office/officeart/2005/8/layout/cycle2"/>
    <dgm:cxn modelId="{05386B8D-BE89-4A4E-8B4C-E2302825C5A6}" srcId="{5F91FDA9-BA9A-D040-9AAB-D2BD7E99789F}" destId="{FDA19C3E-4DFA-AB45-A6B5-437203EF78CE}" srcOrd="3" destOrd="0" parTransId="{35561ABA-E7B1-7A4B-BEF2-BC80EC105B4E}" sibTransId="{1862AF2A-DE4B-C746-9907-30242D366B4D}"/>
    <dgm:cxn modelId="{F76D3891-A4E6-1E4D-8FA4-9C8D1853DECC}" type="presOf" srcId="{E24C6EA3-3F21-9D49-B0E9-45F56345143C}" destId="{407A9711-D3A5-4043-921F-5F01D5B7DD9E}" srcOrd="1" destOrd="0" presId="urn:microsoft.com/office/officeart/2005/8/layout/cycle2"/>
    <dgm:cxn modelId="{2372F49D-EC73-DF4F-98BB-1A353A4EF061}" srcId="{5F91FDA9-BA9A-D040-9AAB-D2BD7E99789F}" destId="{3C2F28C6-7883-B047-95C7-26E3440C0B93}" srcOrd="7" destOrd="0" parTransId="{849CABEF-A9A0-FC4D-8B97-AE38F4EDA0BB}" sibTransId="{FD45E540-8884-2146-B75D-BE596171F5A3}"/>
    <dgm:cxn modelId="{A4027DAE-36E1-CA4B-97E3-5B7539891E64}" type="presOf" srcId="{1ECB8F1B-8E6B-884B-B718-1EBCC8EC2E02}" destId="{544EF912-309D-CF4A-9608-975C4FB079F2}" srcOrd="0" destOrd="0" presId="urn:microsoft.com/office/officeart/2005/8/layout/cycle2"/>
    <dgm:cxn modelId="{F28291B7-C57D-A44F-8186-F37825775823}" type="presOf" srcId="{9345B451-20B4-8F46-9F4F-514259F0DB16}" destId="{06A02987-428F-B043-90F8-7AB455F178D5}" srcOrd="0" destOrd="0" presId="urn:microsoft.com/office/officeart/2005/8/layout/cycle2"/>
    <dgm:cxn modelId="{9CE522D6-ACB2-C34E-BD4E-CD54440CE741}" type="presOf" srcId="{FD45E540-8884-2146-B75D-BE596171F5A3}" destId="{04A4B89D-75DB-DF4E-825C-EDAAAA76692D}" srcOrd="1" destOrd="0" presId="urn:microsoft.com/office/officeart/2005/8/layout/cycle2"/>
    <dgm:cxn modelId="{4E7913DB-CAD0-AC4D-9668-0638797E8C67}" srcId="{5F91FDA9-BA9A-D040-9AAB-D2BD7E99789F}" destId="{41CC51EE-B932-8946-8DDF-1CFCD8C3E7B2}" srcOrd="0" destOrd="0" parTransId="{7FC1DB1D-04E3-3443-8F57-78118D75BA9B}" sibTransId="{4DFC7663-C56F-9B40-8D73-BD4BADFCE7CC}"/>
    <dgm:cxn modelId="{E6308FDC-5733-D14D-9C11-BFF73C1F0E29}" type="presOf" srcId="{64AD75C5-7428-F041-BA81-A2FE64BABAAC}" destId="{A68D89D6-7E99-BD41-BE26-159546B7DCF5}" srcOrd="0" destOrd="0" presId="urn:microsoft.com/office/officeart/2005/8/layout/cycle2"/>
    <dgm:cxn modelId="{34555CE0-A4D3-EB45-8521-10849BB6DCB9}" type="presOf" srcId="{55A35266-B03E-9744-8D57-A6F3EC7ED072}" destId="{99B6A552-0F8E-B741-8972-23BCEBB5CB41}" srcOrd="0" destOrd="0" presId="urn:microsoft.com/office/officeart/2005/8/layout/cycle2"/>
    <dgm:cxn modelId="{77A0ADE1-F93E-C243-AFB9-55D02E22DDEC}" type="presOf" srcId="{B0E953A1-9EE2-3946-9B1A-60598FE9CA73}" destId="{BE2D9569-0E08-4547-B4A0-5EAF9BD63BB9}" srcOrd="0" destOrd="0" presId="urn:microsoft.com/office/officeart/2005/8/layout/cycle2"/>
    <dgm:cxn modelId="{185F7EE5-42AC-3A46-ADA2-8E7A336AF42B}" type="presOf" srcId="{DEC615F8-0AB3-6947-9760-9BD742112E93}" destId="{C75691DE-57D4-4743-9A85-840E103241B3}" srcOrd="1" destOrd="0" presId="urn:microsoft.com/office/officeart/2005/8/layout/cycle2"/>
    <dgm:cxn modelId="{EE5A9EE5-22DE-6145-BC33-40B9A190E067}" type="presOf" srcId="{B0E953A1-9EE2-3946-9B1A-60598FE9CA73}" destId="{A34D6DE1-BEBC-3C4E-95CD-914632C6BF7E}" srcOrd="1" destOrd="0" presId="urn:microsoft.com/office/officeart/2005/8/layout/cycle2"/>
    <dgm:cxn modelId="{63C50DE9-3A11-C44D-B1CC-605B7FC981EC}" srcId="{5F91FDA9-BA9A-D040-9AAB-D2BD7E99789F}" destId="{4F2D6033-24E0-344B-BEB5-8014FA8D1368}" srcOrd="6" destOrd="0" parTransId="{491C2553-657A-8648-B7E6-D51B413C2944}" sibTransId="{B0E953A1-9EE2-3946-9B1A-60598FE9CA73}"/>
    <dgm:cxn modelId="{44507DE9-4847-3643-BF5B-8C335F18339B}" type="presOf" srcId="{FD45E540-8884-2146-B75D-BE596171F5A3}" destId="{615B01C8-5390-3648-8B6C-360C0C81447F}" srcOrd="0" destOrd="0" presId="urn:microsoft.com/office/officeart/2005/8/layout/cycle2"/>
    <dgm:cxn modelId="{1B0887EC-20FE-404B-9927-3336946599CC}" type="presOf" srcId="{1862AF2A-DE4B-C746-9907-30242D366B4D}" destId="{2516F486-DEF9-2C46-96E1-FA2242D5A681}" srcOrd="1" destOrd="0" presId="urn:microsoft.com/office/officeart/2005/8/layout/cycle2"/>
    <dgm:cxn modelId="{173DFBFF-C400-DC4B-9AB9-3CC0BF80A104}" srcId="{5F91FDA9-BA9A-D040-9AAB-D2BD7E99789F}" destId="{38DD3E39-BC13-5A47-8B07-36342C33082B}" srcOrd="1" destOrd="0" parTransId="{E48C2305-8192-2649-AF87-71F8153B381C}" sibTransId="{E24C6EA3-3F21-9D49-B0E9-45F56345143C}"/>
    <dgm:cxn modelId="{4ADD46A1-A766-3C47-B47A-EC8F8F69426E}" type="presParOf" srcId="{8FA9FBDE-B794-4D42-B292-3C752644E97B}" destId="{7E2B9E8A-289A-FC4A-9D1C-6099B4270AD4}" srcOrd="0" destOrd="0" presId="urn:microsoft.com/office/officeart/2005/8/layout/cycle2"/>
    <dgm:cxn modelId="{15088BA9-4949-0242-9048-A790C706534D}" type="presParOf" srcId="{8FA9FBDE-B794-4D42-B292-3C752644E97B}" destId="{C4F1DD1A-6110-5948-8A46-48F3A7EB0119}" srcOrd="1" destOrd="0" presId="urn:microsoft.com/office/officeart/2005/8/layout/cycle2"/>
    <dgm:cxn modelId="{E21AA9A5-2595-954A-BD16-5F4FDBDE6DF5}" type="presParOf" srcId="{C4F1DD1A-6110-5948-8A46-48F3A7EB0119}" destId="{B121C652-E7FD-7241-A393-9D1B124E819E}" srcOrd="0" destOrd="0" presId="urn:microsoft.com/office/officeart/2005/8/layout/cycle2"/>
    <dgm:cxn modelId="{6AB2EEDA-44DA-7C4B-9773-A85E9A43AC1F}" type="presParOf" srcId="{8FA9FBDE-B794-4D42-B292-3C752644E97B}" destId="{F25307E4-83F1-0E49-A2D0-74F0D5486D93}" srcOrd="2" destOrd="0" presId="urn:microsoft.com/office/officeart/2005/8/layout/cycle2"/>
    <dgm:cxn modelId="{699E5F75-3727-9D44-9693-852A1887F4DD}" type="presParOf" srcId="{8FA9FBDE-B794-4D42-B292-3C752644E97B}" destId="{6FF44C64-1E55-BA40-A27A-3EE5E5204FAE}" srcOrd="3" destOrd="0" presId="urn:microsoft.com/office/officeart/2005/8/layout/cycle2"/>
    <dgm:cxn modelId="{85A81304-6688-9043-BAC9-35B3790788C6}" type="presParOf" srcId="{6FF44C64-1E55-BA40-A27A-3EE5E5204FAE}" destId="{407A9711-D3A5-4043-921F-5F01D5B7DD9E}" srcOrd="0" destOrd="0" presId="urn:microsoft.com/office/officeart/2005/8/layout/cycle2"/>
    <dgm:cxn modelId="{8E753252-32A7-774B-9FE4-3933A73EB5ED}" type="presParOf" srcId="{8FA9FBDE-B794-4D42-B292-3C752644E97B}" destId="{EDEE97A7-46D8-494D-8EB6-6269CEBEECEA}" srcOrd="4" destOrd="0" presId="urn:microsoft.com/office/officeart/2005/8/layout/cycle2"/>
    <dgm:cxn modelId="{6D344CBF-E75B-3F4B-891B-78560DF79627}" type="presParOf" srcId="{8FA9FBDE-B794-4D42-B292-3C752644E97B}" destId="{06A02987-428F-B043-90F8-7AB455F178D5}" srcOrd="5" destOrd="0" presId="urn:microsoft.com/office/officeart/2005/8/layout/cycle2"/>
    <dgm:cxn modelId="{6BC005DF-0C8A-BB4C-90E2-F2801A28A0A3}" type="presParOf" srcId="{06A02987-428F-B043-90F8-7AB455F178D5}" destId="{6C086CCC-5EDE-FC45-877F-62C4699DCB57}" srcOrd="0" destOrd="0" presId="urn:microsoft.com/office/officeart/2005/8/layout/cycle2"/>
    <dgm:cxn modelId="{2C9C93C5-D70A-5A47-9D56-76F723508ADE}" type="presParOf" srcId="{8FA9FBDE-B794-4D42-B292-3C752644E97B}" destId="{B20A8CF4-B3E5-A34F-98CC-6B62B629D731}" srcOrd="6" destOrd="0" presId="urn:microsoft.com/office/officeart/2005/8/layout/cycle2"/>
    <dgm:cxn modelId="{EF8DD83C-55E7-C64B-9907-DED6A0C80379}" type="presParOf" srcId="{8FA9FBDE-B794-4D42-B292-3C752644E97B}" destId="{4C77433F-268C-154E-9924-00DD16D26A8C}" srcOrd="7" destOrd="0" presId="urn:microsoft.com/office/officeart/2005/8/layout/cycle2"/>
    <dgm:cxn modelId="{8F376A14-6456-5F49-B5B1-0BE7DBE2DFEE}" type="presParOf" srcId="{4C77433F-268C-154E-9924-00DD16D26A8C}" destId="{2516F486-DEF9-2C46-96E1-FA2242D5A681}" srcOrd="0" destOrd="0" presId="urn:microsoft.com/office/officeart/2005/8/layout/cycle2"/>
    <dgm:cxn modelId="{4881456B-2ED0-7E45-A65B-BACE5CE5011D}" type="presParOf" srcId="{8FA9FBDE-B794-4D42-B292-3C752644E97B}" destId="{544EF912-309D-CF4A-9608-975C4FB079F2}" srcOrd="8" destOrd="0" presId="urn:microsoft.com/office/officeart/2005/8/layout/cycle2"/>
    <dgm:cxn modelId="{4D31EB5E-C788-984C-AA37-A4A20FC02BB8}" type="presParOf" srcId="{8FA9FBDE-B794-4D42-B292-3C752644E97B}" destId="{7E244E47-0700-B540-A050-EAE2F8DCA9E2}" srcOrd="9" destOrd="0" presId="urn:microsoft.com/office/officeart/2005/8/layout/cycle2"/>
    <dgm:cxn modelId="{9F46146D-FC44-4F40-B9A9-1DB012CA6596}" type="presParOf" srcId="{7E244E47-0700-B540-A050-EAE2F8DCA9E2}" destId="{9964D612-DCB9-8E40-A5C4-731958E27051}" srcOrd="0" destOrd="0" presId="urn:microsoft.com/office/officeart/2005/8/layout/cycle2"/>
    <dgm:cxn modelId="{692E891A-8407-E345-ABAE-FD2950078A2A}" type="presParOf" srcId="{8FA9FBDE-B794-4D42-B292-3C752644E97B}" destId="{9CA3348B-D646-7C4D-9883-DF146CFED2FC}" srcOrd="10" destOrd="0" presId="urn:microsoft.com/office/officeart/2005/8/layout/cycle2"/>
    <dgm:cxn modelId="{1FC6F75D-27CD-E74A-8FF2-EFA28E3C3FB5}" type="presParOf" srcId="{8FA9FBDE-B794-4D42-B292-3C752644E97B}" destId="{2D9451C7-EEE4-9C4E-91A2-A16E41530D3E}" srcOrd="11" destOrd="0" presId="urn:microsoft.com/office/officeart/2005/8/layout/cycle2"/>
    <dgm:cxn modelId="{52B55C83-C53C-2C46-AA05-53069880AEB2}" type="presParOf" srcId="{2D9451C7-EEE4-9C4E-91A2-A16E41530D3E}" destId="{C75691DE-57D4-4743-9A85-840E103241B3}" srcOrd="0" destOrd="0" presId="urn:microsoft.com/office/officeart/2005/8/layout/cycle2"/>
    <dgm:cxn modelId="{AEAC5694-5F5A-A443-B7DF-3D4ECB8B0E28}" type="presParOf" srcId="{8FA9FBDE-B794-4D42-B292-3C752644E97B}" destId="{710A4DE4-97D4-A048-9865-B369579E3DB7}" srcOrd="12" destOrd="0" presId="urn:microsoft.com/office/officeart/2005/8/layout/cycle2"/>
    <dgm:cxn modelId="{657CAA31-2420-4B43-B3CC-526272994B9D}" type="presParOf" srcId="{8FA9FBDE-B794-4D42-B292-3C752644E97B}" destId="{BE2D9569-0E08-4547-B4A0-5EAF9BD63BB9}" srcOrd="13" destOrd="0" presId="urn:microsoft.com/office/officeart/2005/8/layout/cycle2"/>
    <dgm:cxn modelId="{456D62F4-76E8-7D45-9661-39A0BD28482C}" type="presParOf" srcId="{BE2D9569-0E08-4547-B4A0-5EAF9BD63BB9}" destId="{A34D6DE1-BEBC-3C4E-95CD-914632C6BF7E}" srcOrd="0" destOrd="0" presId="urn:microsoft.com/office/officeart/2005/8/layout/cycle2"/>
    <dgm:cxn modelId="{892CFFB3-7A9F-2F43-988E-BB19C5CFDBED}" type="presParOf" srcId="{8FA9FBDE-B794-4D42-B292-3C752644E97B}" destId="{115B0721-907A-EB48-9924-831289B61667}" srcOrd="14" destOrd="0" presId="urn:microsoft.com/office/officeart/2005/8/layout/cycle2"/>
    <dgm:cxn modelId="{24BE07A2-2398-0948-8389-4FAC488B1A0F}" type="presParOf" srcId="{8FA9FBDE-B794-4D42-B292-3C752644E97B}" destId="{615B01C8-5390-3648-8B6C-360C0C81447F}" srcOrd="15" destOrd="0" presId="urn:microsoft.com/office/officeart/2005/8/layout/cycle2"/>
    <dgm:cxn modelId="{C7413EE5-E2A1-7A44-9DDC-60E280DB2D2C}" type="presParOf" srcId="{615B01C8-5390-3648-8B6C-360C0C81447F}" destId="{04A4B89D-75DB-DF4E-825C-EDAAAA76692D}" srcOrd="0" destOrd="0" presId="urn:microsoft.com/office/officeart/2005/8/layout/cycle2"/>
    <dgm:cxn modelId="{E7198CAA-179A-3440-B2A0-593C9232D120}" type="presParOf" srcId="{8FA9FBDE-B794-4D42-B292-3C752644E97B}" destId="{A07AA92D-4511-EE45-B1EC-99D6C368BCD4}" srcOrd="16" destOrd="0" presId="urn:microsoft.com/office/officeart/2005/8/layout/cycle2"/>
    <dgm:cxn modelId="{E32B21B6-8ED3-5641-84E7-97377E7727EC}" type="presParOf" srcId="{8FA9FBDE-B794-4D42-B292-3C752644E97B}" destId="{56639D85-F15B-BE40-9198-10C8C73E727C}" srcOrd="17" destOrd="0" presId="urn:microsoft.com/office/officeart/2005/8/layout/cycle2"/>
    <dgm:cxn modelId="{50D80CF6-633C-5D4D-9016-6A9A17E94E72}" type="presParOf" srcId="{56639D85-F15B-BE40-9198-10C8C73E727C}" destId="{0DDEE987-0E7F-374C-95B7-E978D3A36E72}" srcOrd="0" destOrd="0" presId="urn:microsoft.com/office/officeart/2005/8/layout/cycle2"/>
    <dgm:cxn modelId="{78653CF3-02F5-6640-BD2C-1773190204B3}" type="presParOf" srcId="{8FA9FBDE-B794-4D42-B292-3C752644E97B}" destId="{A68D89D6-7E99-BD41-BE26-159546B7DCF5}" srcOrd="18" destOrd="0" presId="urn:microsoft.com/office/officeart/2005/8/layout/cycle2"/>
    <dgm:cxn modelId="{40E2B8FF-FDE3-DE47-88BF-7ECDBF295019}" type="presParOf" srcId="{8FA9FBDE-B794-4D42-B292-3C752644E97B}" destId="{99B6A552-0F8E-B741-8972-23BCEBB5CB41}" srcOrd="19" destOrd="0" presId="urn:microsoft.com/office/officeart/2005/8/layout/cycle2"/>
    <dgm:cxn modelId="{E9E3C268-1598-8C41-809C-C3734C5C8D15}" type="presParOf" srcId="{99B6A552-0F8E-B741-8972-23BCEBB5CB41}" destId="{4C9752C6-4BDF-7240-92F3-2A3BEAEBE39C}" srcOrd="0" destOrd="0" presId="urn:microsoft.com/office/officeart/2005/8/layout/cycle2"/>
    <dgm:cxn modelId="{2FAC0BC3-9F6F-7F4E-9749-7D6CCE4028D0}" type="presParOf" srcId="{8FA9FBDE-B794-4D42-B292-3C752644E97B}" destId="{7190AA65-739E-F144-805E-EE27D976351B}" srcOrd="20" destOrd="0" presId="urn:microsoft.com/office/officeart/2005/8/layout/cycle2"/>
    <dgm:cxn modelId="{213D2929-D8E4-9A4D-80DA-A9B3B4F1DA6F}" type="presParOf" srcId="{8FA9FBDE-B794-4D42-B292-3C752644E97B}" destId="{41A7522E-561B-5A4E-BEB1-3548E845C3BC}" srcOrd="21" destOrd="0" presId="urn:microsoft.com/office/officeart/2005/8/layout/cycle2"/>
    <dgm:cxn modelId="{693A3CCE-F490-7D42-8143-9656B3AEE8EF}" type="presParOf" srcId="{41A7522E-561B-5A4E-BEB1-3548E845C3BC}" destId="{9E181D83-6DAE-CD45-A27B-AB4B3CA4AB5C}"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F91FDA9-BA9A-D040-9AAB-D2BD7E99789F}" type="doc">
      <dgm:prSet loTypeId="urn:microsoft.com/office/officeart/2005/8/layout/cycle2" loCatId="" qsTypeId="urn:microsoft.com/office/officeart/2005/8/quickstyle/simple4" qsCatId="simple" csTypeId="urn:microsoft.com/office/officeart/2005/8/colors/accent1_2" csCatId="accent1" phldr="1"/>
      <dgm:spPr/>
      <dgm:t>
        <a:bodyPr/>
        <a:lstStyle/>
        <a:p>
          <a:endParaRPr lang="en-US"/>
        </a:p>
      </dgm:t>
    </dgm:pt>
    <dgm:pt modelId="{41CC51EE-B932-8946-8DDF-1CFCD8C3E7B2}">
      <dgm:prSet phldrT="[Text]" custT="1"/>
      <dgm:spPr>
        <a:solidFill>
          <a:schemeClr val="bg1">
            <a:lumMod val="85000"/>
          </a:schemeClr>
        </a:solidFill>
      </dgm:spPr>
      <dgm:t>
        <a:bodyPr/>
        <a:lstStyle/>
        <a:p>
          <a:r>
            <a:rPr lang="en-US" sz="2000" dirty="0">
              <a:solidFill>
                <a:schemeClr val="tx1"/>
              </a:solidFill>
            </a:rPr>
            <a:t>Begin with detailed plan </a:t>
          </a:r>
        </a:p>
      </dgm:t>
    </dgm:pt>
    <dgm:pt modelId="{7FC1DB1D-04E3-3443-8F57-78118D75BA9B}" type="parTrans" cxnId="{4E7913DB-CAD0-AC4D-9668-0638797E8C67}">
      <dgm:prSet/>
      <dgm:spPr/>
      <dgm:t>
        <a:bodyPr/>
        <a:lstStyle/>
        <a:p>
          <a:endParaRPr lang="en-US"/>
        </a:p>
      </dgm:t>
    </dgm:pt>
    <dgm:pt modelId="{4DFC7663-C56F-9B40-8D73-BD4BADFCE7CC}" type="sibTrans" cxnId="{4E7913DB-CAD0-AC4D-9668-0638797E8C67}">
      <dgm:prSet/>
      <dgm:spPr/>
      <dgm:t>
        <a:bodyPr/>
        <a:lstStyle/>
        <a:p>
          <a:endParaRPr lang="en-US"/>
        </a:p>
      </dgm:t>
    </dgm:pt>
    <dgm:pt modelId="{38DD3E39-BC13-5A47-8B07-36342C33082B}">
      <dgm:prSet phldrT="[Text]" custT="1"/>
      <dgm:spPr>
        <a:solidFill>
          <a:schemeClr val="bg1">
            <a:lumMod val="85000"/>
          </a:schemeClr>
        </a:solidFill>
      </dgm:spPr>
      <dgm:t>
        <a:bodyPr/>
        <a:lstStyle/>
        <a:p>
          <a:r>
            <a:rPr lang="en-US" sz="2000" dirty="0">
              <a:solidFill>
                <a:schemeClr val="tx1"/>
              </a:solidFill>
            </a:rPr>
            <a:t>Provide ways to minimize risk</a:t>
          </a:r>
        </a:p>
      </dgm:t>
    </dgm:pt>
    <dgm:pt modelId="{E48C2305-8192-2649-AF87-71F8153B381C}" type="parTrans" cxnId="{173DFBFF-C400-DC4B-9AB9-3CC0BF80A104}">
      <dgm:prSet/>
      <dgm:spPr/>
      <dgm:t>
        <a:bodyPr/>
        <a:lstStyle/>
        <a:p>
          <a:endParaRPr lang="en-US"/>
        </a:p>
      </dgm:t>
    </dgm:pt>
    <dgm:pt modelId="{E24C6EA3-3F21-9D49-B0E9-45F56345143C}" type="sibTrans" cxnId="{173DFBFF-C400-DC4B-9AB9-3CC0BF80A104}">
      <dgm:prSet/>
      <dgm:spPr/>
      <dgm:t>
        <a:bodyPr/>
        <a:lstStyle/>
        <a:p>
          <a:endParaRPr lang="en-US"/>
        </a:p>
      </dgm:t>
    </dgm:pt>
    <dgm:pt modelId="{F75DA6F6-EDAA-D845-A643-36C478F76222}">
      <dgm:prSet phldrT="[Text]" custT="1"/>
      <dgm:spPr>
        <a:solidFill>
          <a:schemeClr val="bg1">
            <a:lumMod val="85000"/>
          </a:schemeClr>
        </a:solidFill>
      </dgm:spPr>
      <dgm:t>
        <a:bodyPr/>
        <a:lstStyle/>
        <a:p>
          <a:r>
            <a:rPr lang="en-US" sz="2000" dirty="0">
              <a:solidFill>
                <a:schemeClr val="tx1"/>
              </a:solidFill>
            </a:rPr>
            <a:t>Show previous success. It has been done before</a:t>
          </a:r>
          <a:endParaRPr lang="en-US" sz="2000" dirty="0">
            <a:solidFill>
              <a:srgbClr val="FF0000"/>
            </a:solidFill>
          </a:endParaRPr>
        </a:p>
      </dgm:t>
    </dgm:pt>
    <dgm:pt modelId="{92A77B67-B2BF-F441-9EB3-EFC1ED282DC0}" type="parTrans" cxnId="{A3659502-ECC6-1545-9897-B33164C8F0C3}">
      <dgm:prSet/>
      <dgm:spPr/>
      <dgm:t>
        <a:bodyPr/>
        <a:lstStyle/>
        <a:p>
          <a:endParaRPr lang="en-US"/>
        </a:p>
      </dgm:t>
    </dgm:pt>
    <dgm:pt modelId="{9345B451-20B4-8F46-9F4F-514259F0DB16}" type="sibTrans" cxnId="{A3659502-ECC6-1545-9897-B33164C8F0C3}">
      <dgm:prSet/>
      <dgm:spPr/>
      <dgm:t>
        <a:bodyPr/>
        <a:lstStyle/>
        <a:p>
          <a:endParaRPr lang="en-US"/>
        </a:p>
      </dgm:t>
    </dgm:pt>
    <dgm:pt modelId="{FDA19C3E-4DFA-AB45-A6B5-437203EF78CE}">
      <dgm:prSet phldrT="[Text]" custT="1"/>
      <dgm:spPr>
        <a:solidFill>
          <a:schemeClr val="bg1">
            <a:lumMod val="85000"/>
          </a:schemeClr>
        </a:solidFill>
      </dgm:spPr>
      <dgm:t>
        <a:bodyPr/>
        <a:lstStyle/>
        <a:p>
          <a:r>
            <a:rPr lang="en-US" sz="2000" dirty="0">
              <a:solidFill>
                <a:schemeClr val="tx1"/>
              </a:solidFill>
            </a:rPr>
            <a:t>Send out detail ahead of time</a:t>
          </a:r>
        </a:p>
      </dgm:t>
    </dgm:pt>
    <dgm:pt modelId="{35561ABA-E7B1-7A4B-BEF2-BC80EC105B4E}" type="parTrans" cxnId="{05386B8D-BE89-4A4E-8B4C-E2302825C5A6}">
      <dgm:prSet/>
      <dgm:spPr/>
      <dgm:t>
        <a:bodyPr/>
        <a:lstStyle/>
        <a:p>
          <a:endParaRPr lang="en-US"/>
        </a:p>
      </dgm:t>
    </dgm:pt>
    <dgm:pt modelId="{1862AF2A-DE4B-C746-9907-30242D366B4D}" type="sibTrans" cxnId="{05386B8D-BE89-4A4E-8B4C-E2302825C5A6}">
      <dgm:prSet/>
      <dgm:spPr/>
      <dgm:t>
        <a:bodyPr/>
        <a:lstStyle/>
        <a:p>
          <a:endParaRPr lang="en-US"/>
        </a:p>
      </dgm:t>
    </dgm:pt>
    <dgm:pt modelId="{1ECB8F1B-8E6B-884B-B718-1EBCC8EC2E02}">
      <dgm:prSet phldrT="[Text]" custT="1"/>
      <dgm:spPr>
        <a:solidFill>
          <a:schemeClr val="bg1">
            <a:lumMod val="85000"/>
          </a:schemeClr>
        </a:solidFill>
      </dgm:spPr>
      <dgm:t>
        <a:bodyPr/>
        <a:lstStyle/>
        <a:p>
          <a:r>
            <a:rPr lang="en-US" sz="2000" dirty="0">
              <a:solidFill>
                <a:schemeClr val="tx1"/>
              </a:solidFill>
            </a:rPr>
            <a:t>Speak slowly &amp; w/o emotion</a:t>
          </a:r>
        </a:p>
      </dgm:t>
    </dgm:pt>
    <dgm:pt modelId="{C169072F-631B-A84D-9D33-8AE4AF326D32}" type="parTrans" cxnId="{613EDE69-C927-5D44-95A9-260ACC971E5C}">
      <dgm:prSet/>
      <dgm:spPr/>
      <dgm:t>
        <a:bodyPr/>
        <a:lstStyle/>
        <a:p>
          <a:endParaRPr lang="en-US"/>
        </a:p>
      </dgm:t>
    </dgm:pt>
    <dgm:pt modelId="{33FB7A8F-071F-564C-89A7-011C3781CB72}" type="sibTrans" cxnId="{613EDE69-C927-5D44-95A9-260ACC971E5C}">
      <dgm:prSet/>
      <dgm:spPr/>
      <dgm:t>
        <a:bodyPr/>
        <a:lstStyle/>
        <a:p>
          <a:endParaRPr lang="en-US"/>
        </a:p>
      </dgm:t>
    </dgm:pt>
    <dgm:pt modelId="{DD1C9945-FC14-584C-972E-598B6F6F9A38}">
      <dgm:prSet phldrT="[Text]" custT="1"/>
      <dgm:spPr>
        <a:solidFill>
          <a:schemeClr val="bg1">
            <a:lumMod val="85000"/>
          </a:schemeClr>
        </a:solidFill>
      </dgm:spPr>
      <dgm:t>
        <a:bodyPr/>
        <a:lstStyle/>
        <a:p>
          <a:r>
            <a:rPr lang="en-US" sz="2000" b="0" dirty="0">
              <a:solidFill>
                <a:schemeClr val="tx1"/>
              </a:solidFill>
            </a:rPr>
            <a:t>Do exactly what you said you would do</a:t>
          </a:r>
        </a:p>
      </dgm:t>
    </dgm:pt>
    <dgm:pt modelId="{76C63D59-E6B8-E347-B4FE-35C2A1644917}" type="parTrans" cxnId="{77B2545C-F788-7946-B57C-E383269DBF79}">
      <dgm:prSet/>
      <dgm:spPr/>
      <dgm:t>
        <a:bodyPr/>
        <a:lstStyle/>
        <a:p>
          <a:endParaRPr lang="en-US"/>
        </a:p>
      </dgm:t>
    </dgm:pt>
    <dgm:pt modelId="{329443B2-E396-8642-A6F2-9D2846EE02FA}" type="sibTrans" cxnId="{77B2545C-F788-7946-B57C-E383269DBF79}">
      <dgm:prSet/>
      <dgm:spPr/>
      <dgm:t>
        <a:bodyPr/>
        <a:lstStyle/>
        <a:p>
          <a:endParaRPr lang="en-US"/>
        </a:p>
      </dgm:t>
    </dgm:pt>
    <dgm:pt modelId="{2A200D22-A5E5-A241-B8A0-456EDFDFF989}">
      <dgm:prSet phldrT="[Text]" custT="1"/>
      <dgm:spPr>
        <a:solidFill>
          <a:schemeClr val="bg1">
            <a:lumMod val="85000"/>
          </a:schemeClr>
        </a:solidFill>
      </dgm:spPr>
      <dgm:t>
        <a:bodyPr/>
        <a:lstStyle/>
        <a:p>
          <a:r>
            <a:rPr lang="en-US" sz="2000" dirty="0">
              <a:solidFill>
                <a:schemeClr val="tx1"/>
              </a:solidFill>
            </a:rPr>
            <a:t>Use plain factual language</a:t>
          </a:r>
        </a:p>
      </dgm:t>
    </dgm:pt>
    <dgm:pt modelId="{2C089B80-B03E-B247-B6CB-053B042653EB}" type="parTrans" cxnId="{CEB26856-9EE8-6D4F-AE20-D81B5B246359}">
      <dgm:prSet/>
      <dgm:spPr/>
      <dgm:t>
        <a:bodyPr/>
        <a:lstStyle/>
        <a:p>
          <a:endParaRPr lang="en-US"/>
        </a:p>
      </dgm:t>
    </dgm:pt>
    <dgm:pt modelId="{DEC615F8-0AB3-6947-9760-9BD742112E93}" type="sibTrans" cxnId="{CEB26856-9EE8-6D4F-AE20-D81B5B246359}">
      <dgm:prSet/>
      <dgm:spPr/>
      <dgm:t>
        <a:bodyPr/>
        <a:lstStyle/>
        <a:p>
          <a:endParaRPr lang="en-US"/>
        </a:p>
      </dgm:t>
    </dgm:pt>
    <dgm:pt modelId="{4F2D6033-24E0-344B-BEB5-8014FA8D1368}">
      <dgm:prSet phldrT="[Text]" custT="1"/>
      <dgm:spPr>
        <a:solidFill>
          <a:schemeClr val="bg1">
            <a:lumMod val="85000"/>
          </a:schemeClr>
        </a:solidFill>
      </dgm:spPr>
      <dgm:t>
        <a:bodyPr/>
        <a:lstStyle/>
        <a:p>
          <a:r>
            <a:rPr lang="en-US" sz="2000" dirty="0">
              <a:solidFill>
                <a:schemeClr val="tx1"/>
              </a:solidFill>
            </a:rPr>
            <a:t>Write down their questions</a:t>
          </a:r>
        </a:p>
        <a:p>
          <a:r>
            <a:rPr lang="en-US" sz="2000" dirty="0">
              <a:solidFill>
                <a:schemeClr val="tx1"/>
              </a:solidFill>
            </a:rPr>
            <a:t>objections</a:t>
          </a:r>
        </a:p>
      </dgm:t>
    </dgm:pt>
    <dgm:pt modelId="{491C2553-657A-8648-B7E6-D51B413C2944}" type="parTrans" cxnId="{63C50DE9-3A11-C44D-B1CC-605B7FC981EC}">
      <dgm:prSet/>
      <dgm:spPr/>
      <dgm:t>
        <a:bodyPr/>
        <a:lstStyle/>
        <a:p>
          <a:endParaRPr lang="en-US"/>
        </a:p>
      </dgm:t>
    </dgm:pt>
    <dgm:pt modelId="{B0E953A1-9EE2-3946-9B1A-60598FE9CA73}" type="sibTrans" cxnId="{63C50DE9-3A11-C44D-B1CC-605B7FC981EC}">
      <dgm:prSet/>
      <dgm:spPr/>
      <dgm:t>
        <a:bodyPr/>
        <a:lstStyle/>
        <a:p>
          <a:endParaRPr lang="en-US"/>
        </a:p>
      </dgm:t>
    </dgm:pt>
    <dgm:pt modelId="{3C2F28C6-7883-B047-95C7-26E3440C0B93}">
      <dgm:prSet phldrT="[Text]" custT="1"/>
      <dgm:spPr>
        <a:solidFill>
          <a:schemeClr val="bg1">
            <a:lumMod val="85000"/>
          </a:schemeClr>
        </a:solidFill>
      </dgm:spPr>
      <dgm:t>
        <a:bodyPr/>
        <a:lstStyle/>
        <a:p>
          <a:r>
            <a:rPr lang="en-US" sz="2000" dirty="0">
              <a:solidFill>
                <a:schemeClr val="tx1"/>
              </a:solidFill>
            </a:rPr>
            <a:t>STOP &amp; FIX what appears to be missing</a:t>
          </a:r>
        </a:p>
      </dgm:t>
    </dgm:pt>
    <dgm:pt modelId="{849CABEF-A9A0-FC4D-8B97-AE38F4EDA0BB}" type="parTrans" cxnId="{2372F49D-EC73-DF4F-98BB-1A353A4EF061}">
      <dgm:prSet/>
      <dgm:spPr/>
      <dgm:t>
        <a:bodyPr/>
        <a:lstStyle/>
        <a:p>
          <a:endParaRPr lang="en-US"/>
        </a:p>
      </dgm:t>
    </dgm:pt>
    <dgm:pt modelId="{FD45E540-8884-2146-B75D-BE596171F5A3}" type="sibTrans" cxnId="{2372F49D-EC73-DF4F-98BB-1A353A4EF061}">
      <dgm:prSet/>
      <dgm:spPr/>
      <dgm:t>
        <a:bodyPr/>
        <a:lstStyle/>
        <a:p>
          <a:endParaRPr lang="en-US"/>
        </a:p>
      </dgm:t>
    </dgm:pt>
    <dgm:pt modelId="{9DE90450-2B02-EC49-BE60-017EB2735F7A}">
      <dgm:prSet phldrT="[Text]" custT="1"/>
      <dgm:spPr>
        <a:solidFill>
          <a:schemeClr val="bg1">
            <a:lumMod val="85000"/>
          </a:schemeClr>
        </a:solidFill>
      </dgm:spPr>
      <dgm:t>
        <a:bodyPr/>
        <a:lstStyle/>
        <a:p>
          <a:r>
            <a:rPr lang="en-US" sz="2000" dirty="0">
              <a:solidFill>
                <a:schemeClr val="tx1"/>
              </a:solidFill>
            </a:rPr>
            <a:t>Don’t push for rapid decisions</a:t>
          </a:r>
        </a:p>
      </dgm:t>
    </dgm:pt>
    <dgm:pt modelId="{5CA7347E-0156-9443-8911-B4B9EFD8D496}" type="parTrans" cxnId="{DC0E372A-EFEB-E14B-87FA-82D4E1C69C0E}">
      <dgm:prSet/>
      <dgm:spPr/>
      <dgm:t>
        <a:bodyPr/>
        <a:lstStyle/>
        <a:p>
          <a:endParaRPr lang="en-US"/>
        </a:p>
      </dgm:t>
    </dgm:pt>
    <dgm:pt modelId="{2578DB92-E533-6B40-B07F-4B79EDD9E3A3}" type="sibTrans" cxnId="{DC0E372A-EFEB-E14B-87FA-82D4E1C69C0E}">
      <dgm:prSet/>
      <dgm:spPr/>
      <dgm:t>
        <a:bodyPr/>
        <a:lstStyle/>
        <a:p>
          <a:endParaRPr lang="en-US"/>
        </a:p>
      </dgm:t>
    </dgm:pt>
    <dgm:pt modelId="{64AD75C5-7428-F041-BA81-A2FE64BABAAC}">
      <dgm:prSet phldrT="[Text]" custT="1"/>
      <dgm:spPr>
        <a:solidFill>
          <a:schemeClr val="bg1">
            <a:lumMod val="85000"/>
          </a:schemeClr>
        </a:solidFill>
      </dgm:spPr>
      <dgm:t>
        <a:bodyPr/>
        <a:lstStyle/>
        <a:p>
          <a:r>
            <a:rPr lang="en-US" sz="2000" dirty="0">
              <a:solidFill>
                <a:schemeClr val="tx1"/>
              </a:solidFill>
            </a:rPr>
            <a:t>Reward with stability, security</a:t>
          </a:r>
        </a:p>
      </dgm:t>
    </dgm:pt>
    <dgm:pt modelId="{65E56D14-F65B-D243-8539-7B8E3D59AC80}" type="parTrans" cxnId="{DE47B50A-C0FC-EA4A-8ABE-E831D39BB601}">
      <dgm:prSet/>
      <dgm:spPr/>
      <dgm:t>
        <a:bodyPr/>
        <a:lstStyle/>
        <a:p>
          <a:endParaRPr lang="en-US"/>
        </a:p>
      </dgm:t>
    </dgm:pt>
    <dgm:pt modelId="{55A35266-B03E-9744-8D57-A6F3EC7ED072}" type="sibTrans" cxnId="{DE47B50A-C0FC-EA4A-8ABE-E831D39BB601}">
      <dgm:prSet/>
      <dgm:spPr/>
      <dgm:t>
        <a:bodyPr/>
        <a:lstStyle/>
        <a:p>
          <a:endParaRPr lang="en-US"/>
        </a:p>
      </dgm:t>
    </dgm:pt>
    <dgm:pt modelId="{8FA9FBDE-B794-4D42-B292-3C752644E97B}" type="pres">
      <dgm:prSet presAssocID="{5F91FDA9-BA9A-D040-9AAB-D2BD7E99789F}" presName="cycle" presStyleCnt="0">
        <dgm:presLayoutVars>
          <dgm:dir/>
          <dgm:resizeHandles val="exact"/>
        </dgm:presLayoutVars>
      </dgm:prSet>
      <dgm:spPr/>
    </dgm:pt>
    <dgm:pt modelId="{7E2B9E8A-289A-FC4A-9D1C-6099B4270AD4}" type="pres">
      <dgm:prSet presAssocID="{41CC51EE-B932-8946-8DDF-1CFCD8C3E7B2}" presName="node" presStyleLbl="node1" presStyleIdx="0" presStyleCnt="11" custScaleX="148761" custRadScaleRad="117401" custRadScaleInc="-212592">
        <dgm:presLayoutVars>
          <dgm:bulletEnabled val="1"/>
        </dgm:presLayoutVars>
      </dgm:prSet>
      <dgm:spPr>
        <a:prstGeom prst="flowChartProcess">
          <a:avLst/>
        </a:prstGeom>
      </dgm:spPr>
    </dgm:pt>
    <dgm:pt modelId="{C4F1DD1A-6110-5948-8A46-48F3A7EB0119}" type="pres">
      <dgm:prSet presAssocID="{4DFC7663-C56F-9B40-8D73-BD4BADFCE7CC}" presName="sibTrans" presStyleLbl="sibTrans2D1" presStyleIdx="0" presStyleCnt="11"/>
      <dgm:spPr/>
    </dgm:pt>
    <dgm:pt modelId="{B121C652-E7FD-7241-A393-9D1B124E819E}" type="pres">
      <dgm:prSet presAssocID="{4DFC7663-C56F-9B40-8D73-BD4BADFCE7CC}" presName="connectorText" presStyleLbl="sibTrans2D1" presStyleIdx="0" presStyleCnt="11"/>
      <dgm:spPr/>
    </dgm:pt>
    <dgm:pt modelId="{F25307E4-83F1-0E49-A2D0-74F0D5486D93}" type="pres">
      <dgm:prSet presAssocID="{38DD3E39-BC13-5A47-8B07-36342C33082B}" presName="node" presStyleLbl="node1" presStyleIdx="1" presStyleCnt="11" custScaleX="176874" custRadScaleRad="104692" custRadScaleInc="-94914">
        <dgm:presLayoutVars>
          <dgm:bulletEnabled val="1"/>
        </dgm:presLayoutVars>
      </dgm:prSet>
      <dgm:spPr>
        <a:prstGeom prst="flowChartProcess">
          <a:avLst/>
        </a:prstGeom>
      </dgm:spPr>
    </dgm:pt>
    <dgm:pt modelId="{6FF44C64-1E55-BA40-A27A-3EE5E5204FAE}" type="pres">
      <dgm:prSet presAssocID="{E24C6EA3-3F21-9D49-B0E9-45F56345143C}" presName="sibTrans" presStyleLbl="sibTrans2D1" presStyleIdx="1" presStyleCnt="11"/>
      <dgm:spPr/>
    </dgm:pt>
    <dgm:pt modelId="{407A9711-D3A5-4043-921F-5F01D5B7DD9E}" type="pres">
      <dgm:prSet presAssocID="{E24C6EA3-3F21-9D49-B0E9-45F56345143C}" presName="connectorText" presStyleLbl="sibTrans2D1" presStyleIdx="1" presStyleCnt="11"/>
      <dgm:spPr/>
    </dgm:pt>
    <dgm:pt modelId="{EDEE97A7-46D8-494D-8EB6-6269CEBEECEA}" type="pres">
      <dgm:prSet presAssocID="{F75DA6F6-EDAA-D845-A643-36C478F76222}" presName="node" presStyleLbl="node1" presStyleIdx="2" presStyleCnt="11" custScaleX="201684" custScaleY="143205" custRadScaleRad="162672" custRadScaleInc="-58547">
        <dgm:presLayoutVars>
          <dgm:bulletEnabled val="1"/>
        </dgm:presLayoutVars>
      </dgm:prSet>
      <dgm:spPr>
        <a:prstGeom prst="flowChartProcess">
          <a:avLst/>
        </a:prstGeom>
      </dgm:spPr>
    </dgm:pt>
    <dgm:pt modelId="{06A02987-428F-B043-90F8-7AB455F178D5}" type="pres">
      <dgm:prSet presAssocID="{9345B451-20B4-8F46-9F4F-514259F0DB16}" presName="sibTrans" presStyleLbl="sibTrans2D1" presStyleIdx="2" presStyleCnt="11"/>
      <dgm:spPr/>
    </dgm:pt>
    <dgm:pt modelId="{6C086CCC-5EDE-FC45-877F-62C4699DCB57}" type="pres">
      <dgm:prSet presAssocID="{9345B451-20B4-8F46-9F4F-514259F0DB16}" presName="connectorText" presStyleLbl="sibTrans2D1" presStyleIdx="2" presStyleCnt="11"/>
      <dgm:spPr/>
    </dgm:pt>
    <dgm:pt modelId="{B20A8CF4-B3E5-A34F-98CC-6B62B629D731}" type="pres">
      <dgm:prSet presAssocID="{FDA19C3E-4DFA-AB45-A6B5-437203EF78CE}" presName="node" presStyleLbl="node1" presStyleIdx="3" presStyleCnt="11" custScaleX="218064" custRadScaleRad="190605" custRadScaleInc="-98701">
        <dgm:presLayoutVars>
          <dgm:bulletEnabled val="1"/>
        </dgm:presLayoutVars>
      </dgm:prSet>
      <dgm:spPr>
        <a:prstGeom prst="flowChartProcess">
          <a:avLst/>
        </a:prstGeom>
      </dgm:spPr>
    </dgm:pt>
    <dgm:pt modelId="{4C77433F-268C-154E-9924-00DD16D26A8C}" type="pres">
      <dgm:prSet presAssocID="{1862AF2A-DE4B-C746-9907-30242D366B4D}" presName="sibTrans" presStyleLbl="sibTrans2D1" presStyleIdx="3" presStyleCnt="11"/>
      <dgm:spPr/>
    </dgm:pt>
    <dgm:pt modelId="{2516F486-DEF9-2C46-96E1-FA2242D5A681}" type="pres">
      <dgm:prSet presAssocID="{1862AF2A-DE4B-C746-9907-30242D366B4D}" presName="connectorText" presStyleLbl="sibTrans2D1" presStyleIdx="3" presStyleCnt="11"/>
      <dgm:spPr/>
    </dgm:pt>
    <dgm:pt modelId="{544EF912-309D-CF4A-9608-975C4FB079F2}" type="pres">
      <dgm:prSet presAssocID="{1ECB8F1B-8E6B-884B-B718-1EBCC8EC2E02}" presName="node" presStyleLbl="node1" presStyleIdx="4" presStyleCnt="11" custScaleX="209333" custRadScaleRad="175871" custRadScaleInc="-187248">
        <dgm:presLayoutVars>
          <dgm:bulletEnabled val="1"/>
        </dgm:presLayoutVars>
      </dgm:prSet>
      <dgm:spPr>
        <a:prstGeom prst="flowChartProcess">
          <a:avLst/>
        </a:prstGeom>
      </dgm:spPr>
    </dgm:pt>
    <dgm:pt modelId="{7E244E47-0700-B540-A050-EAE2F8DCA9E2}" type="pres">
      <dgm:prSet presAssocID="{33FB7A8F-071F-564C-89A7-011C3781CB72}" presName="sibTrans" presStyleLbl="sibTrans2D1" presStyleIdx="4" presStyleCnt="11"/>
      <dgm:spPr/>
    </dgm:pt>
    <dgm:pt modelId="{9964D612-DCB9-8E40-A5C4-731958E27051}" type="pres">
      <dgm:prSet presAssocID="{33FB7A8F-071F-564C-89A7-011C3781CB72}" presName="connectorText" presStyleLbl="sibTrans2D1" presStyleIdx="4" presStyleCnt="11"/>
      <dgm:spPr/>
    </dgm:pt>
    <dgm:pt modelId="{9CA3348B-D646-7C4D-9883-DF146CFED2FC}" type="pres">
      <dgm:prSet presAssocID="{2A200D22-A5E5-A241-B8A0-456EDFDFF989}" presName="node" presStyleLbl="node1" presStyleIdx="5" presStyleCnt="11" custScaleX="193611" custRadScaleRad="153029" custRadScaleInc="-245609">
        <dgm:presLayoutVars>
          <dgm:bulletEnabled val="1"/>
        </dgm:presLayoutVars>
      </dgm:prSet>
      <dgm:spPr>
        <a:prstGeom prst="flowChartProcess">
          <a:avLst/>
        </a:prstGeom>
      </dgm:spPr>
    </dgm:pt>
    <dgm:pt modelId="{2D9451C7-EEE4-9C4E-91A2-A16E41530D3E}" type="pres">
      <dgm:prSet presAssocID="{DEC615F8-0AB3-6947-9760-9BD742112E93}" presName="sibTrans" presStyleLbl="sibTrans2D1" presStyleIdx="5" presStyleCnt="11"/>
      <dgm:spPr/>
    </dgm:pt>
    <dgm:pt modelId="{C75691DE-57D4-4743-9A85-840E103241B3}" type="pres">
      <dgm:prSet presAssocID="{DEC615F8-0AB3-6947-9760-9BD742112E93}" presName="connectorText" presStyleLbl="sibTrans2D1" presStyleIdx="5" presStyleCnt="11"/>
      <dgm:spPr/>
    </dgm:pt>
    <dgm:pt modelId="{710A4DE4-97D4-A048-9865-B369579E3DB7}" type="pres">
      <dgm:prSet presAssocID="{4F2D6033-24E0-344B-BEB5-8014FA8D1368}" presName="node" presStyleLbl="node1" presStyleIdx="6" presStyleCnt="11" custScaleX="226324" custRadScaleRad="97337" custRadScaleInc="-214939">
        <dgm:presLayoutVars>
          <dgm:bulletEnabled val="1"/>
        </dgm:presLayoutVars>
      </dgm:prSet>
      <dgm:spPr>
        <a:prstGeom prst="flowChartProcess">
          <a:avLst/>
        </a:prstGeom>
      </dgm:spPr>
    </dgm:pt>
    <dgm:pt modelId="{BE2D9569-0E08-4547-B4A0-5EAF9BD63BB9}" type="pres">
      <dgm:prSet presAssocID="{B0E953A1-9EE2-3946-9B1A-60598FE9CA73}" presName="sibTrans" presStyleLbl="sibTrans2D1" presStyleIdx="6" presStyleCnt="11"/>
      <dgm:spPr/>
    </dgm:pt>
    <dgm:pt modelId="{A34D6DE1-BEBC-3C4E-95CD-914632C6BF7E}" type="pres">
      <dgm:prSet presAssocID="{B0E953A1-9EE2-3946-9B1A-60598FE9CA73}" presName="connectorText" presStyleLbl="sibTrans2D1" presStyleIdx="6" presStyleCnt="11"/>
      <dgm:spPr/>
    </dgm:pt>
    <dgm:pt modelId="{115B0721-907A-EB48-9924-831289B61667}" type="pres">
      <dgm:prSet presAssocID="{3C2F28C6-7883-B047-95C7-26E3440C0B93}" presName="node" presStyleLbl="node1" presStyleIdx="7" presStyleCnt="11" custScaleX="230081" custRadScaleRad="124032" custRadScaleInc="-41695">
        <dgm:presLayoutVars>
          <dgm:bulletEnabled val="1"/>
        </dgm:presLayoutVars>
      </dgm:prSet>
      <dgm:spPr>
        <a:prstGeom prst="flowChartProcess">
          <a:avLst/>
        </a:prstGeom>
      </dgm:spPr>
    </dgm:pt>
    <dgm:pt modelId="{615B01C8-5390-3648-8B6C-360C0C81447F}" type="pres">
      <dgm:prSet presAssocID="{FD45E540-8884-2146-B75D-BE596171F5A3}" presName="sibTrans" presStyleLbl="sibTrans2D1" presStyleIdx="7" presStyleCnt="11"/>
      <dgm:spPr/>
    </dgm:pt>
    <dgm:pt modelId="{04A4B89D-75DB-DF4E-825C-EDAAAA76692D}" type="pres">
      <dgm:prSet presAssocID="{FD45E540-8884-2146-B75D-BE596171F5A3}" presName="connectorText" presStyleLbl="sibTrans2D1" presStyleIdx="7" presStyleCnt="11"/>
      <dgm:spPr/>
    </dgm:pt>
    <dgm:pt modelId="{A07AA92D-4511-EE45-B1EC-99D6C368BCD4}" type="pres">
      <dgm:prSet presAssocID="{9DE90450-2B02-EC49-BE60-017EB2735F7A}" presName="node" presStyleLbl="node1" presStyleIdx="8" presStyleCnt="11" custScaleX="211196" custRadScaleRad="199006" custRadScaleInc="-62365">
        <dgm:presLayoutVars>
          <dgm:bulletEnabled val="1"/>
        </dgm:presLayoutVars>
      </dgm:prSet>
      <dgm:spPr>
        <a:prstGeom prst="flowChartProcess">
          <a:avLst/>
        </a:prstGeom>
      </dgm:spPr>
    </dgm:pt>
    <dgm:pt modelId="{56639D85-F15B-BE40-9198-10C8C73E727C}" type="pres">
      <dgm:prSet presAssocID="{2578DB92-E533-6B40-B07F-4B79EDD9E3A3}" presName="sibTrans" presStyleLbl="sibTrans2D1" presStyleIdx="8" presStyleCnt="11"/>
      <dgm:spPr/>
    </dgm:pt>
    <dgm:pt modelId="{0DDEE987-0E7F-374C-95B7-E978D3A36E72}" type="pres">
      <dgm:prSet presAssocID="{2578DB92-E533-6B40-B07F-4B79EDD9E3A3}" presName="connectorText" presStyleLbl="sibTrans2D1" presStyleIdx="8" presStyleCnt="11"/>
      <dgm:spPr/>
    </dgm:pt>
    <dgm:pt modelId="{A68D89D6-7E99-BD41-BE26-159546B7DCF5}" type="pres">
      <dgm:prSet presAssocID="{64AD75C5-7428-F041-BA81-A2FE64BABAAC}" presName="node" presStyleLbl="node1" presStyleIdx="9" presStyleCnt="11" custScaleX="234278" custScaleY="69178" custRadScaleRad="180233" custRadScaleInc="-169252">
        <dgm:presLayoutVars>
          <dgm:bulletEnabled val="1"/>
        </dgm:presLayoutVars>
      </dgm:prSet>
      <dgm:spPr>
        <a:prstGeom prst="flowChartProcess">
          <a:avLst/>
        </a:prstGeom>
      </dgm:spPr>
    </dgm:pt>
    <dgm:pt modelId="{99B6A552-0F8E-B741-8972-23BCEBB5CB41}" type="pres">
      <dgm:prSet presAssocID="{55A35266-B03E-9744-8D57-A6F3EC7ED072}" presName="sibTrans" presStyleLbl="sibTrans2D1" presStyleIdx="9" presStyleCnt="11"/>
      <dgm:spPr/>
    </dgm:pt>
    <dgm:pt modelId="{4C9752C6-4BDF-7240-92F3-2A3BEAEBE39C}" type="pres">
      <dgm:prSet presAssocID="{55A35266-B03E-9744-8D57-A6F3EC7ED072}" presName="connectorText" presStyleLbl="sibTrans2D1" presStyleIdx="9" presStyleCnt="11"/>
      <dgm:spPr/>
    </dgm:pt>
    <dgm:pt modelId="{7190AA65-739E-F144-805E-EE27D976351B}" type="pres">
      <dgm:prSet presAssocID="{DD1C9945-FC14-584C-972E-598B6F6F9A38}" presName="node" presStyleLbl="node1" presStyleIdx="10" presStyleCnt="11" custScaleX="196607" custRadScaleRad="176960" custRadScaleInc="-257842">
        <dgm:presLayoutVars>
          <dgm:bulletEnabled val="1"/>
        </dgm:presLayoutVars>
      </dgm:prSet>
      <dgm:spPr>
        <a:prstGeom prst="flowChartProcess">
          <a:avLst/>
        </a:prstGeom>
      </dgm:spPr>
    </dgm:pt>
    <dgm:pt modelId="{41A7522E-561B-5A4E-BEB1-3548E845C3BC}" type="pres">
      <dgm:prSet presAssocID="{329443B2-E396-8642-A6F2-9D2846EE02FA}" presName="sibTrans" presStyleLbl="sibTrans2D1" presStyleIdx="10" presStyleCnt="11"/>
      <dgm:spPr/>
    </dgm:pt>
    <dgm:pt modelId="{9E181D83-6DAE-CD45-A27B-AB4B3CA4AB5C}" type="pres">
      <dgm:prSet presAssocID="{329443B2-E396-8642-A6F2-9D2846EE02FA}" presName="connectorText" presStyleLbl="sibTrans2D1" presStyleIdx="10" presStyleCnt="11"/>
      <dgm:spPr/>
    </dgm:pt>
  </dgm:ptLst>
  <dgm:cxnLst>
    <dgm:cxn modelId="{210B8F00-16E3-584B-B950-32F90DE30335}" type="presOf" srcId="{329443B2-E396-8642-A6F2-9D2846EE02FA}" destId="{41A7522E-561B-5A4E-BEB1-3548E845C3BC}" srcOrd="0" destOrd="0" presId="urn:microsoft.com/office/officeart/2005/8/layout/cycle2"/>
    <dgm:cxn modelId="{A3659502-ECC6-1545-9897-B33164C8F0C3}" srcId="{5F91FDA9-BA9A-D040-9AAB-D2BD7E99789F}" destId="{F75DA6F6-EDAA-D845-A643-36C478F76222}" srcOrd="2" destOrd="0" parTransId="{92A77B67-B2BF-F441-9EB3-EFC1ED282DC0}" sibTransId="{9345B451-20B4-8F46-9F4F-514259F0DB16}"/>
    <dgm:cxn modelId="{DE47B50A-C0FC-EA4A-8ABE-E831D39BB601}" srcId="{5F91FDA9-BA9A-D040-9AAB-D2BD7E99789F}" destId="{64AD75C5-7428-F041-BA81-A2FE64BABAAC}" srcOrd="9" destOrd="0" parTransId="{65E56D14-F65B-D243-8539-7B8E3D59AC80}" sibTransId="{55A35266-B03E-9744-8D57-A6F3EC7ED072}"/>
    <dgm:cxn modelId="{648D0210-291F-FE49-9023-57DB5022CC2B}" type="presOf" srcId="{2578DB92-E533-6B40-B07F-4B79EDD9E3A3}" destId="{56639D85-F15B-BE40-9198-10C8C73E727C}" srcOrd="0" destOrd="0" presId="urn:microsoft.com/office/officeart/2005/8/layout/cycle2"/>
    <dgm:cxn modelId="{6551C315-AA7E-9E4A-B0B0-B160DEFA5B1E}" type="presOf" srcId="{38DD3E39-BC13-5A47-8B07-36342C33082B}" destId="{F25307E4-83F1-0E49-A2D0-74F0D5486D93}" srcOrd="0" destOrd="0" presId="urn:microsoft.com/office/officeart/2005/8/layout/cycle2"/>
    <dgm:cxn modelId="{628E7F1C-BE1B-F94C-8162-A465DD62FE38}" type="presOf" srcId="{E24C6EA3-3F21-9D49-B0E9-45F56345143C}" destId="{407A9711-D3A5-4043-921F-5F01D5B7DD9E}" srcOrd="1" destOrd="0" presId="urn:microsoft.com/office/officeart/2005/8/layout/cycle2"/>
    <dgm:cxn modelId="{A98EED22-FCB7-D243-B64D-7FCC3A82174C}" type="presOf" srcId="{B0E953A1-9EE2-3946-9B1A-60598FE9CA73}" destId="{A34D6DE1-BEBC-3C4E-95CD-914632C6BF7E}" srcOrd="1" destOrd="0" presId="urn:microsoft.com/office/officeart/2005/8/layout/cycle2"/>
    <dgm:cxn modelId="{DE1FA223-9C74-9345-AB99-CFB03A3BE377}" type="presOf" srcId="{329443B2-E396-8642-A6F2-9D2846EE02FA}" destId="{9E181D83-6DAE-CD45-A27B-AB4B3CA4AB5C}" srcOrd="1" destOrd="0" presId="urn:microsoft.com/office/officeart/2005/8/layout/cycle2"/>
    <dgm:cxn modelId="{C646F528-2F6B-FB41-B9BE-540B6FD53FCA}" type="presOf" srcId="{64AD75C5-7428-F041-BA81-A2FE64BABAAC}" destId="{A68D89D6-7E99-BD41-BE26-159546B7DCF5}" srcOrd="0" destOrd="0" presId="urn:microsoft.com/office/officeart/2005/8/layout/cycle2"/>
    <dgm:cxn modelId="{DC0E372A-EFEB-E14B-87FA-82D4E1C69C0E}" srcId="{5F91FDA9-BA9A-D040-9AAB-D2BD7E99789F}" destId="{9DE90450-2B02-EC49-BE60-017EB2735F7A}" srcOrd="8" destOrd="0" parTransId="{5CA7347E-0156-9443-8911-B4B9EFD8D496}" sibTransId="{2578DB92-E533-6B40-B07F-4B79EDD9E3A3}"/>
    <dgm:cxn modelId="{C4625D2A-858B-DC46-9280-9A663A038279}" type="presOf" srcId="{B0E953A1-9EE2-3946-9B1A-60598FE9CA73}" destId="{BE2D9569-0E08-4547-B4A0-5EAF9BD63BB9}" srcOrd="0" destOrd="0" presId="urn:microsoft.com/office/officeart/2005/8/layout/cycle2"/>
    <dgm:cxn modelId="{7127882B-2D53-314F-9AAB-1B571AC01F65}" type="presOf" srcId="{33FB7A8F-071F-564C-89A7-011C3781CB72}" destId="{9964D612-DCB9-8E40-A5C4-731958E27051}" srcOrd="1" destOrd="0" presId="urn:microsoft.com/office/officeart/2005/8/layout/cycle2"/>
    <dgm:cxn modelId="{BAD2193B-821E-B748-B416-5C43350BBCF0}" type="presOf" srcId="{F75DA6F6-EDAA-D845-A643-36C478F76222}" destId="{EDEE97A7-46D8-494D-8EB6-6269CEBEECEA}" srcOrd="0" destOrd="0" presId="urn:microsoft.com/office/officeart/2005/8/layout/cycle2"/>
    <dgm:cxn modelId="{D62C443F-74C2-6243-BAE7-2733F5A1DF91}" type="presOf" srcId="{2A200D22-A5E5-A241-B8A0-456EDFDFF989}" destId="{9CA3348B-D646-7C4D-9883-DF146CFED2FC}" srcOrd="0" destOrd="0" presId="urn:microsoft.com/office/officeart/2005/8/layout/cycle2"/>
    <dgm:cxn modelId="{F53B3D5C-0359-8648-9F1E-BEC8FB9137C8}" type="presOf" srcId="{1862AF2A-DE4B-C746-9907-30242D366B4D}" destId="{2516F486-DEF9-2C46-96E1-FA2242D5A681}" srcOrd="1" destOrd="0" presId="urn:microsoft.com/office/officeart/2005/8/layout/cycle2"/>
    <dgm:cxn modelId="{77B2545C-F788-7946-B57C-E383269DBF79}" srcId="{5F91FDA9-BA9A-D040-9AAB-D2BD7E99789F}" destId="{DD1C9945-FC14-584C-972E-598B6F6F9A38}" srcOrd="10" destOrd="0" parTransId="{76C63D59-E6B8-E347-B4FE-35C2A1644917}" sibTransId="{329443B2-E396-8642-A6F2-9D2846EE02FA}"/>
    <dgm:cxn modelId="{7A4C8B5D-1FB4-FB40-830B-B96132B882A2}" type="presOf" srcId="{9345B451-20B4-8F46-9F4F-514259F0DB16}" destId="{06A02987-428F-B043-90F8-7AB455F178D5}" srcOrd="0" destOrd="0" presId="urn:microsoft.com/office/officeart/2005/8/layout/cycle2"/>
    <dgm:cxn modelId="{7FE6F15E-A548-2E4E-BEC1-448F81CCB966}" type="presOf" srcId="{FD45E540-8884-2146-B75D-BE596171F5A3}" destId="{04A4B89D-75DB-DF4E-825C-EDAAAA76692D}" srcOrd="1" destOrd="0" presId="urn:microsoft.com/office/officeart/2005/8/layout/cycle2"/>
    <dgm:cxn modelId="{D669A541-D355-8F4C-9F85-F3BC5DDCE520}" type="presOf" srcId="{4DFC7663-C56F-9B40-8D73-BD4BADFCE7CC}" destId="{C4F1DD1A-6110-5948-8A46-48F3A7EB0119}" srcOrd="0" destOrd="0" presId="urn:microsoft.com/office/officeart/2005/8/layout/cycle2"/>
    <dgm:cxn modelId="{F2F88B45-7BEA-4043-BE3C-72F2D0E6A3BC}" type="presOf" srcId="{9345B451-20B4-8F46-9F4F-514259F0DB16}" destId="{6C086CCC-5EDE-FC45-877F-62C4699DCB57}" srcOrd="1" destOrd="0" presId="urn:microsoft.com/office/officeart/2005/8/layout/cycle2"/>
    <dgm:cxn modelId="{613EDE69-C927-5D44-95A9-260ACC971E5C}" srcId="{5F91FDA9-BA9A-D040-9AAB-D2BD7E99789F}" destId="{1ECB8F1B-8E6B-884B-B718-1EBCC8EC2E02}" srcOrd="4" destOrd="0" parTransId="{C169072F-631B-A84D-9D33-8AE4AF326D32}" sibTransId="{33FB7A8F-071F-564C-89A7-011C3781CB72}"/>
    <dgm:cxn modelId="{86E5316F-1C53-A840-BC0D-716BF321C522}" type="presOf" srcId="{DD1C9945-FC14-584C-972E-598B6F6F9A38}" destId="{7190AA65-739E-F144-805E-EE27D976351B}" srcOrd="0" destOrd="0" presId="urn:microsoft.com/office/officeart/2005/8/layout/cycle2"/>
    <dgm:cxn modelId="{96C5B973-E148-3543-AD70-5B7302DA2DA5}" type="presOf" srcId="{33FB7A8F-071F-564C-89A7-011C3781CB72}" destId="{7E244E47-0700-B540-A050-EAE2F8DCA9E2}" srcOrd="0" destOrd="0" presId="urn:microsoft.com/office/officeart/2005/8/layout/cycle2"/>
    <dgm:cxn modelId="{CEB26856-9EE8-6D4F-AE20-D81B5B246359}" srcId="{5F91FDA9-BA9A-D040-9AAB-D2BD7E99789F}" destId="{2A200D22-A5E5-A241-B8A0-456EDFDFF989}" srcOrd="5" destOrd="0" parTransId="{2C089B80-B03E-B247-B6CB-053B042653EB}" sibTransId="{DEC615F8-0AB3-6947-9760-9BD742112E93}"/>
    <dgm:cxn modelId="{C9C9917A-835F-0542-8225-791B46E59DB5}" type="presOf" srcId="{2578DB92-E533-6B40-B07F-4B79EDD9E3A3}" destId="{0DDEE987-0E7F-374C-95B7-E978D3A36E72}" srcOrd="1" destOrd="0" presId="urn:microsoft.com/office/officeart/2005/8/layout/cycle2"/>
    <dgm:cxn modelId="{F14EBD7A-8DD6-2445-8E69-D5217D62648B}" type="presOf" srcId="{FD45E540-8884-2146-B75D-BE596171F5A3}" destId="{615B01C8-5390-3648-8B6C-360C0C81447F}" srcOrd="0" destOrd="0" presId="urn:microsoft.com/office/officeart/2005/8/layout/cycle2"/>
    <dgm:cxn modelId="{4854617F-4FFE-BC41-A7A4-8D2748173FD4}" type="presOf" srcId="{41CC51EE-B932-8946-8DDF-1CFCD8C3E7B2}" destId="{7E2B9E8A-289A-FC4A-9D1C-6099B4270AD4}" srcOrd="0" destOrd="0" presId="urn:microsoft.com/office/officeart/2005/8/layout/cycle2"/>
    <dgm:cxn modelId="{8C994E7F-EA91-F048-A720-22F627608A81}" type="presOf" srcId="{4F2D6033-24E0-344B-BEB5-8014FA8D1368}" destId="{710A4DE4-97D4-A048-9865-B369579E3DB7}" srcOrd="0" destOrd="0" presId="urn:microsoft.com/office/officeart/2005/8/layout/cycle2"/>
    <dgm:cxn modelId="{35CCC088-4E23-2740-BB8F-CC15B9CFDA54}" type="presOf" srcId="{DEC615F8-0AB3-6947-9760-9BD742112E93}" destId="{2D9451C7-EEE4-9C4E-91A2-A16E41530D3E}" srcOrd="0" destOrd="0" presId="urn:microsoft.com/office/officeart/2005/8/layout/cycle2"/>
    <dgm:cxn modelId="{57856189-638F-6B4C-954E-DE248E0EFEF2}" type="presOf" srcId="{55A35266-B03E-9744-8D57-A6F3EC7ED072}" destId="{99B6A552-0F8E-B741-8972-23BCEBB5CB41}" srcOrd="0" destOrd="0" presId="urn:microsoft.com/office/officeart/2005/8/layout/cycle2"/>
    <dgm:cxn modelId="{05386B8D-BE89-4A4E-8B4C-E2302825C5A6}" srcId="{5F91FDA9-BA9A-D040-9AAB-D2BD7E99789F}" destId="{FDA19C3E-4DFA-AB45-A6B5-437203EF78CE}" srcOrd="3" destOrd="0" parTransId="{35561ABA-E7B1-7A4B-BEF2-BC80EC105B4E}" sibTransId="{1862AF2A-DE4B-C746-9907-30242D366B4D}"/>
    <dgm:cxn modelId="{2372F49D-EC73-DF4F-98BB-1A353A4EF061}" srcId="{5F91FDA9-BA9A-D040-9AAB-D2BD7E99789F}" destId="{3C2F28C6-7883-B047-95C7-26E3440C0B93}" srcOrd="7" destOrd="0" parTransId="{849CABEF-A9A0-FC4D-8B97-AE38F4EDA0BB}" sibTransId="{FD45E540-8884-2146-B75D-BE596171F5A3}"/>
    <dgm:cxn modelId="{C5E03DA6-2B5C-7C46-80D3-C3EA0F01F118}" type="presOf" srcId="{1862AF2A-DE4B-C746-9907-30242D366B4D}" destId="{4C77433F-268C-154E-9924-00DD16D26A8C}" srcOrd="0" destOrd="0" presId="urn:microsoft.com/office/officeart/2005/8/layout/cycle2"/>
    <dgm:cxn modelId="{C8B655AA-3E50-C64C-9928-ED7E8DA1EBA2}" type="presOf" srcId="{9DE90450-2B02-EC49-BE60-017EB2735F7A}" destId="{A07AA92D-4511-EE45-B1EC-99D6C368BCD4}" srcOrd="0" destOrd="0" presId="urn:microsoft.com/office/officeart/2005/8/layout/cycle2"/>
    <dgm:cxn modelId="{BA92A2AA-B3A0-3246-A77E-0B1BFD020D76}" type="presOf" srcId="{3C2F28C6-7883-B047-95C7-26E3440C0B93}" destId="{115B0721-907A-EB48-9924-831289B61667}" srcOrd="0" destOrd="0" presId="urn:microsoft.com/office/officeart/2005/8/layout/cycle2"/>
    <dgm:cxn modelId="{9DECBDAF-E5BC-4D4B-BF0E-8A2FFC399047}" type="presOf" srcId="{55A35266-B03E-9744-8D57-A6F3EC7ED072}" destId="{4C9752C6-4BDF-7240-92F3-2A3BEAEBE39C}" srcOrd="1" destOrd="0" presId="urn:microsoft.com/office/officeart/2005/8/layout/cycle2"/>
    <dgm:cxn modelId="{3A8DDAC2-952D-1C4E-B026-18B40EA61BCF}" type="presOf" srcId="{DEC615F8-0AB3-6947-9760-9BD742112E93}" destId="{C75691DE-57D4-4743-9A85-840E103241B3}" srcOrd="1" destOrd="0" presId="urn:microsoft.com/office/officeart/2005/8/layout/cycle2"/>
    <dgm:cxn modelId="{CF70A7CC-FFC1-7844-91BE-4EA151708956}" type="presOf" srcId="{FDA19C3E-4DFA-AB45-A6B5-437203EF78CE}" destId="{B20A8CF4-B3E5-A34F-98CC-6B62B629D731}" srcOrd="0" destOrd="0" presId="urn:microsoft.com/office/officeart/2005/8/layout/cycle2"/>
    <dgm:cxn modelId="{29AB02D9-3152-764F-B60F-E5E63F3FDDDE}" type="presOf" srcId="{4DFC7663-C56F-9B40-8D73-BD4BADFCE7CC}" destId="{B121C652-E7FD-7241-A393-9D1B124E819E}" srcOrd="1" destOrd="0" presId="urn:microsoft.com/office/officeart/2005/8/layout/cycle2"/>
    <dgm:cxn modelId="{4E7913DB-CAD0-AC4D-9668-0638797E8C67}" srcId="{5F91FDA9-BA9A-D040-9AAB-D2BD7E99789F}" destId="{41CC51EE-B932-8946-8DDF-1CFCD8C3E7B2}" srcOrd="0" destOrd="0" parTransId="{7FC1DB1D-04E3-3443-8F57-78118D75BA9B}" sibTransId="{4DFC7663-C56F-9B40-8D73-BD4BADFCE7CC}"/>
    <dgm:cxn modelId="{75675CDC-176C-AD4D-AA63-3656ABF600F7}" type="presOf" srcId="{5F91FDA9-BA9A-D040-9AAB-D2BD7E99789F}" destId="{8FA9FBDE-B794-4D42-B292-3C752644E97B}" srcOrd="0" destOrd="0" presId="urn:microsoft.com/office/officeart/2005/8/layout/cycle2"/>
    <dgm:cxn modelId="{E7ADA7E1-4103-4E49-9899-45B4809CBF63}" type="presOf" srcId="{1ECB8F1B-8E6B-884B-B718-1EBCC8EC2E02}" destId="{544EF912-309D-CF4A-9608-975C4FB079F2}" srcOrd="0" destOrd="0" presId="urn:microsoft.com/office/officeart/2005/8/layout/cycle2"/>
    <dgm:cxn modelId="{63C50DE9-3A11-C44D-B1CC-605B7FC981EC}" srcId="{5F91FDA9-BA9A-D040-9AAB-D2BD7E99789F}" destId="{4F2D6033-24E0-344B-BEB5-8014FA8D1368}" srcOrd="6" destOrd="0" parTransId="{491C2553-657A-8648-B7E6-D51B413C2944}" sibTransId="{B0E953A1-9EE2-3946-9B1A-60598FE9CA73}"/>
    <dgm:cxn modelId="{A1EBA4F3-358E-6A43-8113-84B0A0C9C65A}" type="presOf" srcId="{E24C6EA3-3F21-9D49-B0E9-45F56345143C}" destId="{6FF44C64-1E55-BA40-A27A-3EE5E5204FAE}" srcOrd="0" destOrd="0" presId="urn:microsoft.com/office/officeart/2005/8/layout/cycle2"/>
    <dgm:cxn modelId="{173DFBFF-C400-DC4B-9AB9-3CC0BF80A104}" srcId="{5F91FDA9-BA9A-D040-9AAB-D2BD7E99789F}" destId="{38DD3E39-BC13-5A47-8B07-36342C33082B}" srcOrd="1" destOrd="0" parTransId="{E48C2305-8192-2649-AF87-71F8153B381C}" sibTransId="{E24C6EA3-3F21-9D49-B0E9-45F56345143C}"/>
    <dgm:cxn modelId="{450D7C07-FB4E-2642-A143-4B26214F5194}" type="presParOf" srcId="{8FA9FBDE-B794-4D42-B292-3C752644E97B}" destId="{7E2B9E8A-289A-FC4A-9D1C-6099B4270AD4}" srcOrd="0" destOrd="0" presId="urn:microsoft.com/office/officeart/2005/8/layout/cycle2"/>
    <dgm:cxn modelId="{989AB570-AE10-1D4F-AAD0-085161894FC0}" type="presParOf" srcId="{8FA9FBDE-B794-4D42-B292-3C752644E97B}" destId="{C4F1DD1A-6110-5948-8A46-48F3A7EB0119}" srcOrd="1" destOrd="0" presId="urn:microsoft.com/office/officeart/2005/8/layout/cycle2"/>
    <dgm:cxn modelId="{3C491C25-02FF-0747-A434-6883547A9A9E}" type="presParOf" srcId="{C4F1DD1A-6110-5948-8A46-48F3A7EB0119}" destId="{B121C652-E7FD-7241-A393-9D1B124E819E}" srcOrd="0" destOrd="0" presId="urn:microsoft.com/office/officeart/2005/8/layout/cycle2"/>
    <dgm:cxn modelId="{D4628479-6090-A94B-872C-3FC2907D1ABD}" type="presParOf" srcId="{8FA9FBDE-B794-4D42-B292-3C752644E97B}" destId="{F25307E4-83F1-0E49-A2D0-74F0D5486D93}" srcOrd="2" destOrd="0" presId="urn:microsoft.com/office/officeart/2005/8/layout/cycle2"/>
    <dgm:cxn modelId="{2B547C46-0750-C64B-8AF7-2C5F282C3E3B}" type="presParOf" srcId="{8FA9FBDE-B794-4D42-B292-3C752644E97B}" destId="{6FF44C64-1E55-BA40-A27A-3EE5E5204FAE}" srcOrd="3" destOrd="0" presId="urn:microsoft.com/office/officeart/2005/8/layout/cycle2"/>
    <dgm:cxn modelId="{DC9AEED5-8670-2045-B139-CFA0878D4F12}" type="presParOf" srcId="{6FF44C64-1E55-BA40-A27A-3EE5E5204FAE}" destId="{407A9711-D3A5-4043-921F-5F01D5B7DD9E}" srcOrd="0" destOrd="0" presId="urn:microsoft.com/office/officeart/2005/8/layout/cycle2"/>
    <dgm:cxn modelId="{9225148B-907E-C546-BF94-DED351769B28}" type="presParOf" srcId="{8FA9FBDE-B794-4D42-B292-3C752644E97B}" destId="{EDEE97A7-46D8-494D-8EB6-6269CEBEECEA}" srcOrd="4" destOrd="0" presId="urn:microsoft.com/office/officeart/2005/8/layout/cycle2"/>
    <dgm:cxn modelId="{42256B85-0A5B-8C4A-AC3C-1072ADDB54A2}" type="presParOf" srcId="{8FA9FBDE-B794-4D42-B292-3C752644E97B}" destId="{06A02987-428F-B043-90F8-7AB455F178D5}" srcOrd="5" destOrd="0" presId="urn:microsoft.com/office/officeart/2005/8/layout/cycle2"/>
    <dgm:cxn modelId="{13D60A82-A454-444E-977B-3F31F96E9186}" type="presParOf" srcId="{06A02987-428F-B043-90F8-7AB455F178D5}" destId="{6C086CCC-5EDE-FC45-877F-62C4699DCB57}" srcOrd="0" destOrd="0" presId="urn:microsoft.com/office/officeart/2005/8/layout/cycle2"/>
    <dgm:cxn modelId="{A44279CB-52E6-564B-B8C6-C80FCD38CED2}" type="presParOf" srcId="{8FA9FBDE-B794-4D42-B292-3C752644E97B}" destId="{B20A8CF4-B3E5-A34F-98CC-6B62B629D731}" srcOrd="6" destOrd="0" presId="urn:microsoft.com/office/officeart/2005/8/layout/cycle2"/>
    <dgm:cxn modelId="{098834C9-A848-6A42-9236-E720057341E8}" type="presParOf" srcId="{8FA9FBDE-B794-4D42-B292-3C752644E97B}" destId="{4C77433F-268C-154E-9924-00DD16D26A8C}" srcOrd="7" destOrd="0" presId="urn:microsoft.com/office/officeart/2005/8/layout/cycle2"/>
    <dgm:cxn modelId="{EDF0DE04-D56B-A642-93FC-D6E47AED15B2}" type="presParOf" srcId="{4C77433F-268C-154E-9924-00DD16D26A8C}" destId="{2516F486-DEF9-2C46-96E1-FA2242D5A681}" srcOrd="0" destOrd="0" presId="urn:microsoft.com/office/officeart/2005/8/layout/cycle2"/>
    <dgm:cxn modelId="{43342213-F0D5-F64D-BC9D-38335B09DB76}" type="presParOf" srcId="{8FA9FBDE-B794-4D42-B292-3C752644E97B}" destId="{544EF912-309D-CF4A-9608-975C4FB079F2}" srcOrd="8" destOrd="0" presId="urn:microsoft.com/office/officeart/2005/8/layout/cycle2"/>
    <dgm:cxn modelId="{0F4BD427-31BC-7049-B459-B1797C7669C0}" type="presParOf" srcId="{8FA9FBDE-B794-4D42-B292-3C752644E97B}" destId="{7E244E47-0700-B540-A050-EAE2F8DCA9E2}" srcOrd="9" destOrd="0" presId="urn:microsoft.com/office/officeart/2005/8/layout/cycle2"/>
    <dgm:cxn modelId="{FD71B190-D8C3-BA4B-8CF4-10790618AFE4}" type="presParOf" srcId="{7E244E47-0700-B540-A050-EAE2F8DCA9E2}" destId="{9964D612-DCB9-8E40-A5C4-731958E27051}" srcOrd="0" destOrd="0" presId="urn:microsoft.com/office/officeart/2005/8/layout/cycle2"/>
    <dgm:cxn modelId="{32D16778-C103-3B41-9061-9A5E3D87D18E}" type="presParOf" srcId="{8FA9FBDE-B794-4D42-B292-3C752644E97B}" destId="{9CA3348B-D646-7C4D-9883-DF146CFED2FC}" srcOrd="10" destOrd="0" presId="urn:microsoft.com/office/officeart/2005/8/layout/cycle2"/>
    <dgm:cxn modelId="{0750F4F0-26B1-344E-9E19-C85EEFBA565F}" type="presParOf" srcId="{8FA9FBDE-B794-4D42-B292-3C752644E97B}" destId="{2D9451C7-EEE4-9C4E-91A2-A16E41530D3E}" srcOrd="11" destOrd="0" presId="urn:microsoft.com/office/officeart/2005/8/layout/cycle2"/>
    <dgm:cxn modelId="{9E828E98-C3C4-3F49-BD49-B5A928E4CEE5}" type="presParOf" srcId="{2D9451C7-EEE4-9C4E-91A2-A16E41530D3E}" destId="{C75691DE-57D4-4743-9A85-840E103241B3}" srcOrd="0" destOrd="0" presId="urn:microsoft.com/office/officeart/2005/8/layout/cycle2"/>
    <dgm:cxn modelId="{9F1A6CA9-E1A9-524E-8595-324A018249B4}" type="presParOf" srcId="{8FA9FBDE-B794-4D42-B292-3C752644E97B}" destId="{710A4DE4-97D4-A048-9865-B369579E3DB7}" srcOrd="12" destOrd="0" presId="urn:microsoft.com/office/officeart/2005/8/layout/cycle2"/>
    <dgm:cxn modelId="{184D7EC3-58EC-234E-84A7-6232FB86E0F8}" type="presParOf" srcId="{8FA9FBDE-B794-4D42-B292-3C752644E97B}" destId="{BE2D9569-0E08-4547-B4A0-5EAF9BD63BB9}" srcOrd="13" destOrd="0" presId="urn:microsoft.com/office/officeart/2005/8/layout/cycle2"/>
    <dgm:cxn modelId="{A845F4BD-F9F9-B94F-B342-B69F38B79123}" type="presParOf" srcId="{BE2D9569-0E08-4547-B4A0-5EAF9BD63BB9}" destId="{A34D6DE1-BEBC-3C4E-95CD-914632C6BF7E}" srcOrd="0" destOrd="0" presId="urn:microsoft.com/office/officeart/2005/8/layout/cycle2"/>
    <dgm:cxn modelId="{844541DE-55E2-E046-A292-242B323FF9BA}" type="presParOf" srcId="{8FA9FBDE-B794-4D42-B292-3C752644E97B}" destId="{115B0721-907A-EB48-9924-831289B61667}" srcOrd="14" destOrd="0" presId="urn:microsoft.com/office/officeart/2005/8/layout/cycle2"/>
    <dgm:cxn modelId="{5EC00F97-692C-5F49-8CD4-851E32B372F3}" type="presParOf" srcId="{8FA9FBDE-B794-4D42-B292-3C752644E97B}" destId="{615B01C8-5390-3648-8B6C-360C0C81447F}" srcOrd="15" destOrd="0" presId="urn:microsoft.com/office/officeart/2005/8/layout/cycle2"/>
    <dgm:cxn modelId="{F4E4B084-85F1-D048-8A13-2174E549A7B5}" type="presParOf" srcId="{615B01C8-5390-3648-8B6C-360C0C81447F}" destId="{04A4B89D-75DB-DF4E-825C-EDAAAA76692D}" srcOrd="0" destOrd="0" presId="urn:microsoft.com/office/officeart/2005/8/layout/cycle2"/>
    <dgm:cxn modelId="{ABC87247-3A7B-654E-B00A-809948D523E2}" type="presParOf" srcId="{8FA9FBDE-B794-4D42-B292-3C752644E97B}" destId="{A07AA92D-4511-EE45-B1EC-99D6C368BCD4}" srcOrd="16" destOrd="0" presId="urn:microsoft.com/office/officeart/2005/8/layout/cycle2"/>
    <dgm:cxn modelId="{3340E62F-8B13-0648-B443-C74DB7BC85B4}" type="presParOf" srcId="{8FA9FBDE-B794-4D42-B292-3C752644E97B}" destId="{56639D85-F15B-BE40-9198-10C8C73E727C}" srcOrd="17" destOrd="0" presId="urn:microsoft.com/office/officeart/2005/8/layout/cycle2"/>
    <dgm:cxn modelId="{48AC80B7-03FA-7C4F-AE25-E88F330C3C2C}" type="presParOf" srcId="{56639D85-F15B-BE40-9198-10C8C73E727C}" destId="{0DDEE987-0E7F-374C-95B7-E978D3A36E72}" srcOrd="0" destOrd="0" presId="urn:microsoft.com/office/officeart/2005/8/layout/cycle2"/>
    <dgm:cxn modelId="{2BBBCA5B-0FA9-7844-86DC-91EDCD8BCC91}" type="presParOf" srcId="{8FA9FBDE-B794-4D42-B292-3C752644E97B}" destId="{A68D89D6-7E99-BD41-BE26-159546B7DCF5}" srcOrd="18" destOrd="0" presId="urn:microsoft.com/office/officeart/2005/8/layout/cycle2"/>
    <dgm:cxn modelId="{459F4E4C-6F9C-694C-95AE-7A0144977B58}" type="presParOf" srcId="{8FA9FBDE-B794-4D42-B292-3C752644E97B}" destId="{99B6A552-0F8E-B741-8972-23BCEBB5CB41}" srcOrd="19" destOrd="0" presId="urn:microsoft.com/office/officeart/2005/8/layout/cycle2"/>
    <dgm:cxn modelId="{6E673F65-1EE9-4645-B3B4-D90327D9479D}" type="presParOf" srcId="{99B6A552-0F8E-B741-8972-23BCEBB5CB41}" destId="{4C9752C6-4BDF-7240-92F3-2A3BEAEBE39C}" srcOrd="0" destOrd="0" presId="urn:microsoft.com/office/officeart/2005/8/layout/cycle2"/>
    <dgm:cxn modelId="{E7167CF9-6C65-2749-BB88-F7E99742C25C}" type="presParOf" srcId="{8FA9FBDE-B794-4D42-B292-3C752644E97B}" destId="{7190AA65-739E-F144-805E-EE27D976351B}" srcOrd="20" destOrd="0" presId="urn:microsoft.com/office/officeart/2005/8/layout/cycle2"/>
    <dgm:cxn modelId="{F06C9546-AB2E-2847-A96D-6C8B600BC04A}" type="presParOf" srcId="{8FA9FBDE-B794-4D42-B292-3C752644E97B}" destId="{41A7522E-561B-5A4E-BEB1-3548E845C3BC}" srcOrd="21" destOrd="0" presId="urn:microsoft.com/office/officeart/2005/8/layout/cycle2"/>
    <dgm:cxn modelId="{964C5A40-3F05-EE4D-AE83-AAF0FBA07CE6}" type="presParOf" srcId="{41A7522E-561B-5A4E-BEB1-3548E845C3BC}" destId="{9E181D83-6DAE-CD45-A27B-AB4B3CA4AB5C}"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F91FDA9-BA9A-D040-9AAB-D2BD7E99789F}" type="doc">
      <dgm:prSet loTypeId="urn:microsoft.com/office/officeart/2005/8/layout/cycle2" loCatId="" qsTypeId="urn:microsoft.com/office/officeart/2005/8/quickstyle/simple4" qsCatId="simple" csTypeId="urn:microsoft.com/office/officeart/2005/8/colors/accent1_2" csCatId="accent1" phldr="1"/>
      <dgm:spPr/>
      <dgm:t>
        <a:bodyPr/>
        <a:lstStyle/>
        <a:p>
          <a:endParaRPr lang="en-US"/>
        </a:p>
      </dgm:t>
    </dgm:pt>
    <dgm:pt modelId="{41CC51EE-B932-8946-8DDF-1CFCD8C3E7B2}">
      <dgm:prSet phldrT="[Text]" custT="1"/>
      <dgm:spPr>
        <a:solidFill>
          <a:schemeClr val="bg1">
            <a:lumMod val="85000"/>
          </a:schemeClr>
        </a:solidFill>
      </dgm:spPr>
      <dgm:t>
        <a:bodyPr/>
        <a:lstStyle/>
        <a:p>
          <a:r>
            <a:rPr lang="en-US" sz="2000" dirty="0">
              <a:solidFill>
                <a:schemeClr val="tx1"/>
              </a:solidFill>
            </a:rPr>
            <a:t>Start with the Big Picture</a:t>
          </a:r>
        </a:p>
      </dgm:t>
    </dgm:pt>
    <dgm:pt modelId="{7FC1DB1D-04E3-3443-8F57-78118D75BA9B}" type="parTrans" cxnId="{4E7913DB-CAD0-AC4D-9668-0638797E8C67}">
      <dgm:prSet/>
      <dgm:spPr/>
      <dgm:t>
        <a:bodyPr/>
        <a:lstStyle/>
        <a:p>
          <a:endParaRPr lang="en-US"/>
        </a:p>
      </dgm:t>
    </dgm:pt>
    <dgm:pt modelId="{4DFC7663-C56F-9B40-8D73-BD4BADFCE7CC}" type="sibTrans" cxnId="{4E7913DB-CAD0-AC4D-9668-0638797E8C67}">
      <dgm:prSet/>
      <dgm:spPr/>
      <dgm:t>
        <a:bodyPr/>
        <a:lstStyle/>
        <a:p>
          <a:endParaRPr lang="en-US"/>
        </a:p>
      </dgm:t>
    </dgm:pt>
    <dgm:pt modelId="{38DD3E39-BC13-5A47-8B07-36342C33082B}">
      <dgm:prSet phldrT="[Text]" custT="1"/>
      <dgm:spPr>
        <a:solidFill>
          <a:schemeClr val="bg1">
            <a:lumMod val="85000"/>
          </a:schemeClr>
        </a:solidFill>
      </dgm:spPr>
      <dgm:t>
        <a:bodyPr/>
        <a:lstStyle/>
        <a:p>
          <a:r>
            <a:rPr lang="en-US" sz="2000" dirty="0">
              <a:solidFill>
                <a:schemeClr val="tx1"/>
              </a:solidFill>
            </a:rPr>
            <a:t>No details unless asked</a:t>
          </a:r>
        </a:p>
      </dgm:t>
    </dgm:pt>
    <dgm:pt modelId="{E48C2305-8192-2649-AF87-71F8153B381C}" type="parTrans" cxnId="{173DFBFF-C400-DC4B-9AB9-3CC0BF80A104}">
      <dgm:prSet/>
      <dgm:spPr/>
      <dgm:t>
        <a:bodyPr/>
        <a:lstStyle/>
        <a:p>
          <a:endParaRPr lang="en-US"/>
        </a:p>
      </dgm:t>
    </dgm:pt>
    <dgm:pt modelId="{E24C6EA3-3F21-9D49-B0E9-45F56345143C}" type="sibTrans" cxnId="{173DFBFF-C400-DC4B-9AB9-3CC0BF80A104}">
      <dgm:prSet/>
      <dgm:spPr/>
      <dgm:t>
        <a:bodyPr/>
        <a:lstStyle/>
        <a:p>
          <a:endParaRPr lang="en-US"/>
        </a:p>
      </dgm:t>
    </dgm:pt>
    <dgm:pt modelId="{F75DA6F6-EDAA-D845-A643-36C478F76222}">
      <dgm:prSet phldrT="[Text]" custT="1"/>
      <dgm:spPr>
        <a:solidFill>
          <a:schemeClr val="bg1">
            <a:lumMod val="85000"/>
          </a:schemeClr>
        </a:solidFill>
      </dgm:spPr>
      <dgm:t>
        <a:bodyPr/>
        <a:lstStyle/>
        <a:p>
          <a:r>
            <a:rPr lang="en-US" sz="2000" dirty="0">
              <a:solidFill>
                <a:schemeClr val="tx1"/>
              </a:solidFill>
            </a:rPr>
            <a:t>Give options - not just your idea</a:t>
          </a:r>
          <a:endParaRPr lang="en-US" sz="2000" dirty="0">
            <a:solidFill>
              <a:srgbClr val="FF0000"/>
            </a:solidFill>
          </a:endParaRPr>
        </a:p>
      </dgm:t>
    </dgm:pt>
    <dgm:pt modelId="{92A77B67-B2BF-F441-9EB3-EFC1ED282DC0}" type="parTrans" cxnId="{A3659502-ECC6-1545-9897-B33164C8F0C3}">
      <dgm:prSet/>
      <dgm:spPr/>
      <dgm:t>
        <a:bodyPr/>
        <a:lstStyle/>
        <a:p>
          <a:endParaRPr lang="en-US"/>
        </a:p>
      </dgm:t>
    </dgm:pt>
    <dgm:pt modelId="{9345B451-20B4-8F46-9F4F-514259F0DB16}" type="sibTrans" cxnId="{A3659502-ECC6-1545-9897-B33164C8F0C3}">
      <dgm:prSet/>
      <dgm:spPr/>
      <dgm:t>
        <a:bodyPr/>
        <a:lstStyle/>
        <a:p>
          <a:endParaRPr lang="en-US"/>
        </a:p>
      </dgm:t>
    </dgm:pt>
    <dgm:pt modelId="{FDA19C3E-4DFA-AB45-A6B5-437203EF78CE}">
      <dgm:prSet phldrT="[Text]" custT="1"/>
      <dgm:spPr>
        <a:solidFill>
          <a:schemeClr val="bg1">
            <a:lumMod val="85000"/>
          </a:schemeClr>
        </a:solidFill>
      </dgm:spPr>
      <dgm:t>
        <a:bodyPr/>
        <a:lstStyle/>
        <a:p>
          <a:r>
            <a:rPr lang="en-US" sz="2000" dirty="0">
              <a:solidFill>
                <a:schemeClr val="tx1"/>
              </a:solidFill>
            </a:rPr>
            <a:t>If interest is expressed – let them talk</a:t>
          </a:r>
        </a:p>
      </dgm:t>
    </dgm:pt>
    <dgm:pt modelId="{35561ABA-E7B1-7A4B-BEF2-BC80EC105B4E}" type="parTrans" cxnId="{05386B8D-BE89-4A4E-8B4C-E2302825C5A6}">
      <dgm:prSet/>
      <dgm:spPr/>
      <dgm:t>
        <a:bodyPr/>
        <a:lstStyle/>
        <a:p>
          <a:endParaRPr lang="en-US"/>
        </a:p>
      </dgm:t>
    </dgm:pt>
    <dgm:pt modelId="{1862AF2A-DE4B-C746-9907-30242D366B4D}" type="sibTrans" cxnId="{05386B8D-BE89-4A4E-8B4C-E2302825C5A6}">
      <dgm:prSet/>
      <dgm:spPr/>
      <dgm:t>
        <a:bodyPr/>
        <a:lstStyle/>
        <a:p>
          <a:endParaRPr lang="en-US"/>
        </a:p>
      </dgm:t>
    </dgm:pt>
    <dgm:pt modelId="{1ECB8F1B-8E6B-884B-B718-1EBCC8EC2E02}">
      <dgm:prSet phldrT="[Text]" custT="1"/>
      <dgm:spPr>
        <a:solidFill>
          <a:schemeClr val="bg1">
            <a:lumMod val="85000"/>
          </a:schemeClr>
        </a:solidFill>
      </dgm:spPr>
      <dgm:t>
        <a:bodyPr/>
        <a:lstStyle/>
        <a:p>
          <a:r>
            <a:rPr lang="en-US" sz="2000" dirty="0">
              <a:solidFill>
                <a:schemeClr val="tx1"/>
              </a:solidFill>
            </a:rPr>
            <a:t>Speak with emotion and conviction</a:t>
          </a:r>
        </a:p>
      </dgm:t>
    </dgm:pt>
    <dgm:pt modelId="{C169072F-631B-A84D-9D33-8AE4AF326D32}" type="parTrans" cxnId="{613EDE69-C927-5D44-95A9-260ACC971E5C}">
      <dgm:prSet/>
      <dgm:spPr/>
      <dgm:t>
        <a:bodyPr/>
        <a:lstStyle/>
        <a:p>
          <a:endParaRPr lang="en-US"/>
        </a:p>
      </dgm:t>
    </dgm:pt>
    <dgm:pt modelId="{33FB7A8F-071F-564C-89A7-011C3781CB72}" type="sibTrans" cxnId="{613EDE69-C927-5D44-95A9-260ACC971E5C}">
      <dgm:prSet/>
      <dgm:spPr/>
      <dgm:t>
        <a:bodyPr/>
        <a:lstStyle/>
        <a:p>
          <a:endParaRPr lang="en-US"/>
        </a:p>
      </dgm:t>
    </dgm:pt>
    <dgm:pt modelId="{DD1C9945-FC14-584C-972E-598B6F6F9A38}">
      <dgm:prSet phldrT="[Text]" custT="1"/>
      <dgm:spPr>
        <a:solidFill>
          <a:schemeClr val="bg1">
            <a:lumMod val="85000"/>
          </a:schemeClr>
        </a:solidFill>
      </dgm:spPr>
      <dgm:t>
        <a:bodyPr/>
        <a:lstStyle/>
        <a:p>
          <a:r>
            <a:rPr lang="en-US" sz="2000" b="0" dirty="0">
              <a:solidFill>
                <a:schemeClr val="tx1"/>
              </a:solidFill>
            </a:rPr>
            <a:t>Express admiration and be available when needed</a:t>
          </a:r>
        </a:p>
      </dgm:t>
    </dgm:pt>
    <dgm:pt modelId="{76C63D59-E6B8-E347-B4FE-35C2A1644917}" type="parTrans" cxnId="{77B2545C-F788-7946-B57C-E383269DBF79}">
      <dgm:prSet/>
      <dgm:spPr/>
      <dgm:t>
        <a:bodyPr/>
        <a:lstStyle/>
        <a:p>
          <a:endParaRPr lang="en-US"/>
        </a:p>
      </dgm:t>
    </dgm:pt>
    <dgm:pt modelId="{329443B2-E396-8642-A6F2-9D2846EE02FA}" type="sibTrans" cxnId="{77B2545C-F788-7946-B57C-E383269DBF79}">
      <dgm:prSet/>
      <dgm:spPr/>
      <dgm:t>
        <a:bodyPr/>
        <a:lstStyle/>
        <a:p>
          <a:endParaRPr lang="en-US"/>
        </a:p>
      </dgm:t>
    </dgm:pt>
    <dgm:pt modelId="{2A200D22-A5E5-A241-B8A0-456EDFDFF989}">
      <dgm:prSet phldrT="[Text]" custT="1"/>
      <dgm:spPr>
        <a:solidFill>
          <a:schemeClr val="bg1">
            <a:lumMod val="85000"/>
          </a:schemeClr>
        </a:solidFill>
      </dgm:spPr>
      <dgm:t>
        <a:bodyPr/>
        <a:lstStyle/>
        <a:p>
          <a:r>
            <a:rPr lang="en-US" sz="2000" dirty="0">
              <a:solidFill>
                <a:schemeClr val="tx1"/>
              </a:solidFill>
            </a:rPr>
            <a:t>Ask what they think at each stage</a:t>
          </a:r>
        </a:p>
      </dgm:t>
    </dgm:pt>
    <dgm:pt modelId="{2C089B80-B03E-B247-B6CB-053B042653EB}" type="parTrans" cxnId="{CEB26856-9EE8-6D4F-AE20-D81B5B246359}">
      <dgm:prSet/>
      <dgm:spPr/>
      <dgm:t>
        <a:bodyPr/>
        <a:lstStyle/>
        <a:p>
          <a:endParaRPr lang="en-US"/>
        </a:p>
      </dgm:t>
    </dgm:pt>
    <dgm:pt modelId="{DEC615F8-0AB3-6947-9760-9BD742112E93}" type="sibTrans" cxnId="{CEB26856-9EE8-6D4F-AE20-D81B5B246359}">
      <dgm:prSet/>
      <dgm:spPr/>
      <dgm:t>
        <a:bodyPr/>
        <a:lstStyle/>
        <a:p>
          <a:endParaRPr lang="en-US"/>
        </a:p>
      </dgm:t>
    </dgm:pt>
    <dgm:pt modelId="{4F2D6033-24E0-344B-BEB5-8014FA8D1368}">
      <dgm:prSet phldrT="[Text]" custT="1"/>
      <dgm:spPr>
        <a:solidFill>
          <a:schemeClr val="bg1">
            <a:lumMod val="85000"/>
          </a:schemeClr>
        </a:solidFill>
      </dgm:spPr>
      <dgm:t>
        <a:bodyPr/>
        <a:lstStyle/>
        <a:p>
          <a:r>
            <a:rPr lang="en-US" sz="2000" dirty="0">
              <a:solidFill>
                <a:schemeClr val="tx1"/>
              </a:solidFill>
            </a:rPr>
            <a:t>If a decision is indicated confirm it</a:t>
          </a:r>
        </a:p>
      </dgm:t>
    </dgm:pt>
    <dgm:pt modelId="{491C2553-657A-8648-B7E6-D51B413C2944}" type="parTrans" cxnId="{63C50DE9-3A11-C44D-B1CC-605B7FC981EC}">
      <dgm:prSet/>
      <dgm:spPr/>
      <dgm:t>
        <a:bodyPr/>
        <a:lstStyle/>
        <a:p>
          <a:endParaRPr lang="en-US"/>
        </a:p>
      </dgm:t>
    </dgm:pt>
    <dgm:pt modelId="{B0E953A1-9EE2-3946-9B1A-60598FE9CA73}" type="sibTrans" cxnId="{63C50DE9-3A11-C44D-B1CC-605B7FC981EC}">
      <dgm:prSet/>
      <dgm:spPr/>
      <dgm:t>
        <a:bodyPr/>
        <a:lstStyle/>
        <a:p>
          <a:endParaRPr lang="en-US"/>
        </a:p>
      </dgm:t>
    </dgm:pt>
    <dgm:pt modelId="{3C2F28C6-7883-B047-95C7-26E3440C0B93}">
      <dgm:prSet phldrT="[Text]" custT="1"/>
      <dgm:spPr>
        <a:solidFill>
          <a:schemeClr val="bg1">
            <a:lumMod val="85000"/>
          </a:schemeClr>
        </a:solidFill>
      </dgm:spPr>
      <dgm:t>
        <a:bodyPr/>
        <a:lstStyle/>
        <a:p>
          <a:r>
            <a:rPr lang="en-US" sz="2000" dirty="0">
              <a:solidFill>
                <a:schemeClr val="tx1"/>
              </a:solidFill>
            </a:rPr>
            <a:t>Be careful taking initiative without approval</a:t>
          </a:r>
        </a:p>
      </dgm:t>
    </dgm:pt>
    <dgm:pt modelId="{849CABEF-A9A0-FC4D-8B97-AE38F4EDA0BB}" type="parTrans" cxnId="{2372F49D-EC73-DF4F-98BB-1A353A4EF061}">
      <dgm:prSet/>
      <dgm:spPr/>
      <dgm:t>
        <a:bodyPr/>
        <a:lstStyle/>
        <a:p>
          <a:endParaRPr lang="en-US"/>
        </a:p>
      </dgm:t>
    </dgm:pt>
    <dgm:pt modelId="{FD45E540-8884-2146-B75D-BE596171F5A3}" type="sibTrans" cxnId="{2372F49D-EC73-DF4F-98BB-1A353A4EF061}">
      <dgm:prSet/>
      <dgm:spPr/>
      <dgm:t>
        <a:bodyPr/>
        <a:lstStyle/>
        <a:p>
          <a:endParaRPr lang="en-US"/>
        </a:p>
      </dgm:t>
    </dgm:pt>
    <dgm:pt modelId="{9DE90450-2B02-EC49-BE60-017EB2735F7A}">
      <dgm:prSet phldrT="[Text]" custT="1"/>
      <dgm:spPr>
        <a:solidFill>
          <a:schemeClr val="bg1">
            <a:lumMod val="85000"/>
          </a:schemeClr>
        </a:solidFill>
      </dgm:spPr>
      <dgm:t>
        <a:bodyPr/>
        <a:lstStyle/>
        <a:p>
          <a:r>
            <a:rPr lang="en-US" sz="2000" dirty="0">
              <a:solidFill>
                <a:schemeClr val="tx1"/>
              </a:solidFill>
            </a:rPr>
            <a:t>Do not confront in a group</a:t>
          </a:r>
        </a:p>
      </dgm:t>
    </dgm:pt>
    <dgm:pt modelId="{5CA7347E-0156-9443-8911-B4B9EFD8D496}" type="parTrans" cxnId="{DC0E372A-EFEB-E14B-87FA-82D4E1C69C0E}">
      <dgm:prSet/>
      <dgm:spPr/>
      <dgm:t>
        <a:bodyPr/>
        <a:lstStyle/>
        <a:p>
          <a:endParaRPr lang="en-US"/>
        </a:p>
      </dgm:t>
    </dgm:pt>
    <dgm:pt modelId="{2578DB92-E533-6B40-B07F-4B79EDD9E3A3}" type="sibTrans" cxnId="{DC0E372A-EFEB-E14B-87FA-82D4E1C69C0E}">
      <dgm:prSet/>
      <dgm:spPr/>
      <dgm:t>
        <a:bodyPr/>
        <a:lstStyle/>
        <a:p>
          <a:endParaRPr lang="en-US"/>
        </a:p>
      </dgm:t>
    </dgm:pt>
    <dgm:pt modelId="{64AD75C5-7428-F041-BA81-A2FE64BABAAC}">
      <dgm:prSet phldrT="[Text]" custT="1"/>
      <dgm:spPr>
        <a:solidFill>
          <a:schemeClr val="bg1">
            <a:lumMod val="85000"/>
          </a:schemeClr>
        </a:solidFill>
      </dgm:spPr>
      <dgm:t>
        <a:bodyPr/>
        <a:lstStyle/>
        <a:p>
          <a:r>
            <a:rPr lang="en-US" sz="2000" dirty="0">
              <a:solidFill>
                <a:schemeClr val="tx1"/>
              </a:solidFill>
            </a:rPr>
            <a:t>Express disagreements as questions</a:t>
          </a:r>
        </a:p>
      </dgm:t>
    </dgm:pt>
    <dgm:pt modelId="{65E56D14-F65B-D243-8539-7B8E3D59AC80}" type="parTrans" cxnId="{DE47B50A-C0FC-EA4A-8ABE-E831D39BB601}">
      <dgm:prSet/>
      <dgm:spPr/>
      <dgm:t>
        <a:bodyPr/>
        <a:lstStyle/>
        <a:p>
          <a:endParaRPr lang="en-US"/>
        </a:p>
      </dgm:t>
    </dgm:pt>
    <dgm:pt modelId="{55A35266-B03E-9744-8D57-A6F3EC7ED072}" type="sibTrans" cxnId="{DE47B50A-C0FC-EA4A-8ABE-E831D39BB601}">
      <dgm:prSet/>
      <dgm:spPr/>
      <dgm:t>
        <a:bodyPr/>
        <a:lstStyle/>
        <a:p>
          <a:endParaRPr lang="en-US"/>
        </a:p>
      </dgm:t>
    </dgm:pt>
    <dgm:pt modelId="{8FA9FBDE-B794-4D42-B292-3C752644E97B}" type="pres">
      <dgm:prSet presAssocID="{5F91FDA9-BA9A-D040-9AAB-D2BD7E99789F}" presName="cycle" presStyleCnt="0">
        <dgm:presLayoutVars>
          <dgm:dir/>
          <dgm:resizeHandles val="exact"/>
        </dgm:presLayoutVars>
      </dgm:prSet>
      <dgm:spPr/>
    </dgm:pt>
    <dgm:pt modelId="{7E2B9E8A-289A-FC4A-9D1C-6099B4270AD4}" type="pres">
      <dgm:prSet presAssocID="{41CC51EE-B932-8946-8DDF-1CFCD8C3E7B2}" presName="node" presStyleLbl="node1" presStyleIdx="0" presStyleCnt="11" custScaleX="148761" custRadScaleRad="117401" custRadScaleInc="-212592">
        <dgm:presLayoutVars>
          <dgm:bulletEnabled val="1"/>
        </dgm:presLayoutVars>
      </dgm:prSet>
      <dgm:spPr>
        <a:prstGeom prst="flowChartProcess">
          <a:avLst/>
        </a:prstGeom>
      </dgm:spPr>
    </dgm:pt>
    <dgm:pt modelId="{C4F1DD1A-6110-5948-8A46-48F3A7EB0119}" type="pres">
      <dgm:prSet presAssocID="{4DFC7663-C56F-9B40-8D73-BD4BADFCE7CC}" presName="sibTrans" presStyleLbl="sibTrans2D1" presStyleIdx="0" presStyleCnt="11"/>
      <dgm:spPr/>
    </dgm:pt>
    <dgm:pt modelId="{B121C652-E7FD-7241-A393-9D1B124E819E}" type="pres">
      <dgm:prSet presAssocID="{4DFC7663-C56F-9B40-8D73-BD4BADFCE7CC}" presName="connectorText" presStyleLbl="sibTrans2D1" presStyleIdx="0" presStyleCnt="11"/>
      <dgm:spPr/>
    </dgm:pt>
    <dgm:pt modelId="{F25307E4-83F1-0E49-A2D0-74F0D5486D93}" type="pres">
      <dgm:prSet presAssocID="{38DD3E39-BC13-5A47-8B07-36342C33082B}" presName="node" presStyleLbl="node1" presStyleIdx="1" presStyleCnt="11" custScaleX="176874" custRadScaleRad="104692" custRadScaleInc="-94914">
        <dgm:presLayoutVars>
          <dgm:bulletEnabled val="1"/>
        </dgm:presLayoutVars>
      </dgm:prSet>
      <dgm:spPr>
        <a:prstGeom prst="flowChartProcess">
          <a:avLst/>
        </a:prstGeom>
      </dgm:spPr>
    </dgm:pt>
    <dgm:pt modelId="{6FF44C64-1E55-BA40-A27A-3EE5E5204FAE}" type="pres">
      <dgm:prSet presAssocID="{E24C6EA3-3F21-9D49-B0E9-45F56345143C}" presName="sibTrans" presStyleLbl="sibTrans2D1" presStyleIdx="1" presStyleCnt="11"/>
      <dgm:spPr/>
    </dgm:pt>
    <dgm:pt modelId="{407A9711-D3A5-4043-921F-5F01D5B7DD9E}" type="pres">
      <dgm:prSet presAssocID="{E24C6EA3-3F21-9D49-B0E9-45F56345143C}" presName="connectorText" presStyleLbl="sibTrans2D1" presStyleIdx="1" presStyleCnt="11"/>
      <dgm:spPr/>
    </dgm:pt>
    <dgm:pt modelId="{EDEE97A7-46D8-494D-8EB6-6269CEBEECEA}" type="pres">
      <dgm:prSet presAssocID="{F75DA6F6-EDAA-D845-A643-36C478F76222}" presName="node" presStyleLbl="node1" presStyleIdx="2" presStyleCnt="11" custScaleX="201684" custScaleY="98608" custRadScaleRad="162672" custRadScaleInc="-58547">
        <dgm:presLayoutVars>
          <dgm:bulletEnabled val="1"/>
        </dgm:presLayoutVars>
      </dgm:prSet>
      <dgm:spPr>
        <a:prstGeom prst="flowChartProcess">
          <a:avLst/>
        </a:prstGeom>
      </dgm:spPr>
    </dgm:pt>
    <dgm:pt modelId="{06A02987-428F-B043-90F8-7AB455F178D5}" type="pres">
      <dgm:prSet presAssocID="{9345B451-20B4-8F46-9F4F-514259F0DB16}" presName="sibTrans" presStyleLbl="sibTrans2D1" presStyleIdx="2" presStyleCnt="11"/>
      <dgm:spPr/>
    </dgm:pt>
    <dgm:pt modelId="{6C086CCC-5EDE-FC45-877F-62C4699DCB57}" type="pres">
      <dgm:prSet presAssocID="{9345B451-20B4-8F46-9F4F-514259F0DB16}" presName="connectorText" presStyleLbl="sibTrans2D1" presStyleIdx="2" presStyleCnt="11"/>
      <dgm:spPr/>
    </dgm:pt>
    <dgm:pt modelId="{B20A8CF4-B3E5-A34F-98CC-6B62B629D731}" type="pres">
      <dgm:prSet presAssocID="{FDA19C3E-4DFA-AB45-A6B5-437203EF78CE}" presName="node" presStyleLbl="node1" presStyleIdx="3" presStyleCnt="11" custScaleX="218064" custRadScaleRad="190605" custRadScaleInc="-98701">
        <dgm:presLayoutVars>
          <dgm:bulletEnabled val="1"/>
        </dgm:presLayoutVars>
      </dgm:prSet>
      <dgm:spPr>
        <a:prstGeom prst="flowChartProcess">
          <a:avLst/>
        </a:prstGeom>
      </dgm:spPr>
    </dgm:pt>
    <dgm:pt modelId="{4C77433F-268C-154E-9924-00DD16D26A8C}" type="pres">
      <dgm:prSet presAssocID="{1862AF2A-DE4B-C746-9907-30242D366B4D}" presName="sibTrans" presStyleLbl="sibTrans2D1" presStyleIdx="3" presStyleCnt="11"/>
      <dgm:spPr/>
    </dgm:pt>
    <dgm:pt modelId="{2516F486-DEF9-2C46-96E1-FA2242D5A681}" type="pres">
      <dgm:prSet presAssocID="{1862AF2A-DE4B-C746-9907-30242D366B4D}" presName="connectorText" presStyleLbl="sibTrans2D1" presStyleIdx="3" presStyleCnt="11"/>
      <dgm:spPr/>
    </dgm:pt>
    <dgm:pt modelId="{544EF912-309D-CF4A-9608-975C4FB079F2}" type="pres">
      <dgm:prSet presAssocID="{1ECB8F1B-8E6B-884B-B718-1EBCC8EC2E02}" presName="node" presStyleLbl="node1" presStyleIdx="4" presStyleCnt="11" custScaleX="209333" custRadScaleRad="175871" custRadScaleInc="-187248">
        <dgm:presLayoutVars>
          <dgm:bulletEnabled val="1"/>
        </dgm:presLayoutVars>
      </dgm:prSet>
      <dgm:spPr>
        <a:prstGeom prst="flowChartProcess">
          <a:avLst/>
        </a:prstGeom>
      </dgm:spPr>
    </dgm:pt>
    <dgm:pt modelId="{7E244E47-0700-B540-A050-EAE2F8DCA9E2}" type="pres">
      <dgm:prSet presAssocID="{33FB7A8F-071F-564C-89A7-011C3781CB72}" presName="sibTrans" presStyleLbl="sibTrans2D1" presStyleIdx="4" presStyleCnt="11"/>
      <dgm:spPr/>
    </dgm:pt>
    <dgm:pt modelId="{9964D612-DCB9-8E40-A5C4-731958E27051}" type="pres">
      <dgm:prSet presAssocID="{33FB7A8F-071F-564C-89A7-011C3781CB72}" presName="connectorText" presStyleLbl="sibTrans2D1" presStyleIdx="4" presStyleCnt="11"/>
      <dgm:spPr/>
    </dgm:pt>
    <dgm:pt modelId="{9CA3348B-D646-7C4D-9883-DF146CFED2FC}" type="pres">
      <dgm:prSet presAssocID="{2A200D22-A5E5-A241-B8A0-456EDFDFF989}" presName="node" presStyleLbl="node1" presStyleIdx="5" presStyleCnt="11" custScaleX="193611" custRadScaleRad="169841" custRadScaleInc="-254316">
        <dgm:presLayoutVars>
          <dgm:bulletEnabled val="1"/>
        </dgm:presLayoutVars>
      </dgm:prSet>
      <dgm:spPr>
        <a:prstGeom prst="flowChartProcess">
          <a:avLst/>
        </a:prstGeom>
      </dgm:spPr>
    </dgm:pt>
    <dgm:pt modelId="{2D9451C7-EEE4-9C4E-91A2-A16E41530D3E}" type="pres">
      <dgm:prSet presAssocID="{DEC615F8-0AB3-6947-9760-9BD742112E93}" presName="sibTrans" presStyleLbl="sibTrans2D1" presStyleIdx="5" presStyleCnt="11"/>
      <dgm:spPr/>
    </dgm:pt>
    <dgm:pt modelId="{C75691DE-57D4-4743-9A85-840E103241B3}" type="pres">
      <dgm:prSet presAssocID="{DEC615F8-0AB3-6947-9760-9BD742112E93}" presName="connectorText" presStyleLbl="sibTrans2D1" presStyleIdx="5" presStyleCnt="11"/>
      <dgm:spPr/>
    </dgm:pt>
    <dgm:pt modelId="{710A4DE4-97D4-A048-9865-B369579E3DB7}" type="pres">
      <dgm:prSet presAssocID="{4F2D6033-24E0-344B-BEB5-8014FA8D1368}" presName="node" presStyleLbl="node1" presStyleIdx="6" presStyleCnt="11" custScaleX="249482" custScaleY="73874" custRadScaleRad="99184" custRadScaleInc="-232764">
        <dgm:presLayoutVars>
          <dgm:bulletEnabled val="1"/>
        </dgm:presLayoutVars>
      </dgm:prSet>
      <dgm:spPr>
        <a:prstGeom prst="flowChartProcess">
          <a:avLst/>
        </a:prstGeom>
      </dgm:spPr>
    </dgm:pt>
    <dgm:pt modelId="{BE2D9569-0E08-4547-B4A0-5EAF9BD63BB9}" type="pres">
      <dgm:prSet presAssocID="{B0E953A1-9EE2-3946-9B1A-60598FE9CA73}" presName="sibTrans" presStyleLbl="sibTrans2D1" presStyleIdx="6" presStyleCnt="11"/>
      <dgm:spPr/>
    </dgm:pt>
    <dgm:pt modelId="{A34D6DE1-BEBC-3C4E-95CD-914632C6BF7E}" type="pres">
      <dgm:prSet presAssocID="{B0E953A1-9EE2-3946-9B1A-60598FE9CA73}" presName="connectorText" presStyleLbl="sibTrans2D1" presStyleIdx="6" presStyleCnt="11"/>
      <dgm:spPr/>
    </dgm:pt>
    <dgm:pt modelId="{115B0721-907A-EB48-9924-831289B61667}" type="pres">
      <dgm:prSet presAssocID="{3C2F28C6-7883-B047-95C7-26E3440C0B93}" presName="node" presStyleLbl="node1" presStyleIdx="7" presStyleCnt="11" custScaleX="230081" custRadScaleRad="118799" custRadScaleInc="-59145">
        <dgm:presLayoutVars>
          <dgm:bulletEnabled val="1"/>
        </dgm:presLayoutVars>
      </dgm:prSet>
      <dgm:spPr>
        <a:prstGeom prst="flowChartProcess">
          <a:avLst/>
        </a:prstGeom>
      </dgm:spPr>
    </dgm:pt>
    <dgm:pt modelId="{615B01C8-5390-3648-8B6C-360C0C81447F}" type="pres">
      <dgm:prSet presAssocID="{FD45E540-8884-2146-B75D-BE596171F5A3}" presName="sibTrans" presStyleLbl="sibTrans2D1" presStyleIdx="7" presStyleCnt="11" custLinFactNeighborX="-2084"/>
      <dgm:spPr/>
    </dgm:pt>
    <dgm:pt modelId="{04A4B89D-75DB-DF4E-825C-EDAAAA76692D}" type="pres">
      <dgm:prSet presAssocID="{FD45E540-8884-2146-B75D-BE596171F5A3}" presName="connectorText" presStyleLbl="sibTrans2D1" presStyleIdx="7" presStyleCnt="11"/>
      <dgm:spPr/>
    </dgm:pt>
    <dgm:pt modelId="{A07AA92D-4511-EE45-B1EC-99D6C368BCD4}" type="pres">
      <dgm:prSet presAssocID="{9DE90450-2B02-EC49-BE60-017EB2735F7A}" presName="node" presStyleLbl="node1" presStyleIdx="8" presStyleCnt="11" custScaleX="211196" custScaleY="67225" custRadScaleRad="199006" custRadScaleInc="-62365">
        <dgm:presLayoutVars>
          <dgm:bulletEnabled val="1"/>
        </dgm:presLayoutVars>
      </dgm:prSet>
      <dgm:spPr>
        <a:prstGeom prst="flowChartProcess">
          <a:avLst/>
        </a:prstGeom>
      </dgm:spPr>
    </dgm:pt>
    <dgm:pt modelId="{56639D85-F15B-BE40-9198-10C8C73E727C}" type="pres">
      <dgm:prSet presAssocID="{2578DB92-E533-6B40-B07F-4B79EDD9E3A3}" presName="sibTrans" presStyleLbl="sibTrans2D1" presStyleIdx="8" presStyleCnt="11"/>
      <dgm:spPr/>
    </dgm:pt>
    <dgm:pt modelId="{0DDEE987-0E7F-374C-95B7-E978D3A36E72}" type="pres">
      <dgm:prSet presAssocID="{2578DB92-E533-6B40-B07F-4B79EDD9E3A3}" presName="connectorText" presStyleLbl="sibTrans2D1" presStyleIdx="8" presStyleCnt="11"/>
      <dgm:spPr/>
    </dgm:pt>
    <dgm:pt modelId="{A68D89D6-7E99-BD41-BE26-159546B7DCF5}" type="pres">
      <dgm:prSet presAssocID="{64AD75C5-7428-F041-BA81-A2FE64BABAAC}" presName="node" presStyleLbl="node1" presStyleIdx="9" presStyleCnt="11" custScaleX="256736" custScaleY="103420" custRadScaleRad="180233" custRadScaleInc="-169252">
        <dgm:presLayoutVars>
          <dgm:bulletEnabled val="1"/>
        </dgm:presLayoutVars>
      </dgm:prSet>
      <dgm:spPr>
        <a:prstGeom prst="flowChartProcess">
          <a:avLst/>
        </a:prstGeom>
      </dgm:spPr>
    </dgm:pt>
    <dgm:pt modelId="{99B6A552-0F8E-B741-8972-23BCEBB5CB41}" type="pres">
      <dgm:prSet presAssocID="{55A35266-B03E-9744-8D57-A6F3EC7ED072}" presName="sibTrans" presStyleLbl="sibTrans2D1" presStyleIdx="9" presStyleCnt="11"/>
      <dgm:spPr/>
    </dgm:pt>
    <dgm:pt modelId="{4C9752C6-4BDF-7240-92F3-2A3BEAEBE39C}" type="pres">
      <dgm:prSet presAssocID="{55A35266-B03E-9744-8D57-A6F3EC7ED072}" presName="connectorText" presStyleLbl="sibTrans2D1" presStyleIdx="9" presStyleCnt="11"/>
      <dgm:spPr/>
    </dgm:pt>
    <dgm:pt modelId="{7190AA65-739E-F144-805E-EE27D976351B}" type="pres">
      <dgm:prSet presAssocID="{DD1C9945-FC14-584C-972E-598B6F6F9A38}" presName="node" presStyleLbl="node1" presStyleIdx="10" presStyleCnt="11" custScaleX="305065" custRadScaleRad="176960" custRadScaleInc="-257842">
        <dgm:presLayoutVars>
          <dgm:bulletEnabled val="1"/>
        </dgm:presLayoutVars>
      </dgm:prSet>
      <dgm:spPr>
        <a:prstGeom prst="flowChartProcess">
          <a:avLst/>
        </a:prstGeom>
      </dgm:spPr>
    </dgm:pt>
    <dgm:pt modelId="{41A7522E-561B-5A4E-BEB1-3548E845C3BC}" type="pres">
      <dgm:prSet presAssocID="{329443B2-E396-8642-A6F2-9D2846EE02FA}" presName="sibTrans" presStyleLbl="sibTrans2D1" presStyleIdx="10" presStyleCnt="11"/>
      <dgm:spPr/>
    </dgm:pt>
    <dgm:pt modelId="{9E181D83-6DAE-CD45-A27B-AB4B3CA4AB5C}" type="pres">
      <dgm:prSet presAssocID="{329443B2-E396-8642-A6F2-9D2846EE02FA}" presName="connectorText" presStyleLbl="sibTrans2D1" presStyleIdx="10" presStyleCnt="11"/>
      <dgm:spPr/>
    </dgm:pt>
  </dgm:ptLst>
  <dgm:cxnLst>
    <dgm:cxn modelId="{210B8F00-16E3-584B-B950-32F90DE30335}" type="presOf" srcId="{329443B2-E396-8642-A6F2-9D2846EE02FA}" destId="{41A7522E-561B-5A4E-BEB1-3548E845C3BC}" srcOrd="0" destOrd="0" presId="urn:microsoft.com/office/officeart/2005/8/layout/cycle2"/>
    <dgm:cxn modelId="{A3659502-ECC6-1545-9897-B33164C8F0C3}" srcId="{5F91FDA9-BA9A-D040-9AAB-D2BD7E99789F}" destId="{F75DA6F6-EDAA-D845-A643-36C478F76222}" srcOrd="2" destOrd="0" parTransId="{92A77B67-B2BF-F441-9EB3-EFC1ED282DC0}" sibTransId="{9345B451-20B4-8F46-9F4F-514259F0DB16}"/>
    <dgm:cxn modelId="{DE47B50A-C0FC-EA4A-8ABE-E831D39BB601}" srcId="{5F91FDA9-BA9A-D040-9AAB-D2BD7E99789F}" destId="{64AD75C5-7428-F041-BA81-A2FE64BABAAC}" srcOrd="9" destOrd="0" parTransId="{65E56D14-F65B-D243-8539-7B8E3D59AC80}" sibTransId="{55A35266-B03E-9744-8D57-A6F3EC7ED072}"/>
    <dgm:cxn modelId="{648D0210-291F-FE49-9023-57DB5022CC2B}" type="presOf" srcId="{2578DB92-E533-6B40-B07F-4B79EDD9E3A3}" destId="{56639D85-F15B-BE40-9198-10C8C73E727C}" srcOrd="0" destOrd="0" presId="urn:microsoft.com/office/officeart/2005/8/layout/cycle2"/>
    <dgm:cxn modelId="{6551C315-AA7E-9E4A-B0B0-B160DEFA5B1E}" type="presOf" srcId="{38DD3E39-BC13-5A47-8B07-36342C33082B}" destId="{F25307E4-83F1-0E49-A2D0-74F0D5486D93}" srcOrd="0" destOrd="0" presId="urn:microsoft.com/office/officeart/2005/8/layout/cycle2"/>
    <dgm:cxn modelId="{628E7F1C-BE1B-F94C-8162-A465DD62FE38}" type="presOf" srcId="{E24C6EA3-3F21-9D49-B0E9-45F56345143C}" destId="{407A9711-D3A5-4043-921F-5F01D5B7DD9E}" srcOrd="1" destOrd="0" presId="urn:microsoft.com/office/officeart/2005/8/layout/cycle2"/>
    <dgm:cxn modelId="{A98EED22-FCB7-D243-B64D-7FCC3A82174C}" type="presOf" srcId="{B0E953A1-9EE2-3946-9B1A-60598FE9CA73}" destId="{A34D6DE1-BEBC-3C4E-95CD-914632C6BF7E}" srcOrd="1" destOrd="0" presId="urn:microsoft.com/office/officeart/2005/8/layout/cycle2"/>
    <dgm:cxn modelId="{DE1FA223-9C74-9345-AB99-CFB03A3BE377}" type="presOf" srcId="{329443B2-E396-8642-A6F2-9D2846EE02FA}" destId="{9E181D83-6DAE-CD45-A27B-AB4B3CA4AB5C}" srcOrd="1" destOrd="0" presId="urn:microsoft.com/office/officeart/2005/8/layout/cycle2"/>
    <dgm:cxn modelId="{C646F528-2F6B-FB41-B9BE-540B6FD53FCA}" type="presOf" srcId="{64AD75C5-7428-F041-BA81-A2FE64BABAAC}" destId="{A68D89D6-7E99-BD41-BE26-159546B7DCF5}" srcOrd="0" destOrd="0" presId="urn:microsoft.com/office/officeart/2005/8/layout/cycle2"/>
    <dgm:cxn modelId="{DC0E372A-EFEB-E14B-87FA-82D4E1C69C0E}" srcId="{5F91FDA9-BA9A-D040-9AAB-D2BD7E99789F}" destId="{9DE90450-2B02-EC49-BE60-017EB2735F7A}" srcOrd="8" destOrd="0" parTransId="{5CA7347E-0156-9443-8911-B4B9EFD8D496}" sibTransId="{2578DB92-E533-6B40-B07F-4B79EDD9E3A3}"/>
    <dgm:cxn modelId="{C4625D2A-858B-DC46-9280-9A663A038279}" type="presOf" srcId="{B0E953A1-9EE2-3946-9B1A-60598FE9CA73}" destId="{BE2D9569-0E08-4547-B4A0-5EAF9BD63BB9}" srcOrd="0" destOrd="0" presId="urn:microsoft.com/office/officeart/2005/8/layout/cycle2"/>
    <dgm:cxn modelId="{7127882B-2D53-314F-9AAB-1B571AC01F65}" type="presOf" srcId="{33FB7A8F-071F-564C-89A7-011C3781CB72}" destId="{9964D612-DCB9-8E40-A5C4-731958E27051}" srcOrd="1" destOrd="0" presId="urn:microsoft.com/office/officeart/2005/8/layout/cycle2"/>
    <dgm:cxn modelId="{BAD2193B-821E-B748-B416-5C43350BBCF0}" type="presOf" srcId="{F75DA6F6-EDAA-D845-A643-36C478F76222}" destId="{EDEE97A7-46D8-494D-8EB6-6269CEBEECEA}" srcOrd="0" destOrd="0" presId="urn:microsoft.com/office/officeart/2005/8/layout/cycle2"/>
    <dgm:cxn modelId="{D62C443F-74C2-6243-BAE7-2733F5A1DF91}" type="presOf" srcId="{2A200D22-A5E5-A241-B8A0-456EDFDFF989}" destId="{9CA3348B-D646-7C4D-9883-DF146CFED2FC}" srcOrd="0" destOrd="0" presId="urn:microsoft.com/office/officeart/2005/8/layout/cycle2"/>
    <dgm:cxn modelId="{F53B3D5C-0359-8648-9F1E-BEC8FB9137C8}" type="presOf" srcId="{1862AF2A-DE4B-C746-9907-30242D366B4D}" destId="{2516F486-DEF9-2C46-96E1-FA2242D5A681}" srcOrd="1" destOrd="0" presId="urn:microsoft.com/office/officeart/2005/8/layout/cycle2"/>
    <dgm:cxn modelId="{77B2545C-F788-7946-B57C-E383269DBF79}" srcId="{5F91FDA9-BA9A-D040-9AAB-D2BD7E99789F}" destId="{DD1C9945-FC14-584C-972E-598B6F6F9A38}" srcOrd="10" destOrd="0" parTransId="{76C63D59-E6B8-E347-B4FE-35C2A1644917}" sibTransId="{329443B2-E396-8642-A6F2-9D2846EE02FA}"/>
    <dgm:cxn modelId="{7A4C8B5D-1FB4-FB40-830B-B96132B882A2}" type="presOf" srcId="{9345B451-20B4-8F46-9F4F-514259F0DB16}" destId="{06A02987-428F-B043-90F8-7AB455F178D5}" srcOrd="0" destOrd="0" presId="urn:microsoft.com/office/officeart/2005/8/layout/cycle2"/>
    <dgm:cxn modelId="{7FE6F15E-A548-2E4E-BEC1-448F81CCB966}" type="presOf" srcId="{FD45E540-8884-2146-B75D-BE596171F5A3}" destId="{04A4B89D-75DB-DF4E-825C-EDAAAA76692D}" srcOrd="1" destOrd="0" presId="urn:microsoft.com/office/officeart/2005/8/layout/cycle2"/>
    <dgm:cxn modelId="{D669A541-D355-8F4C-9F85-F3BC5DDCE520}" type="presOf" srcId="{4DFC7663-C56F-9B40-8D73-BD4BADFCE7CC}" destId="{C4F1DD1A-6110-5948-8A46-48F3A7EB0119}" srcOrd="0" destOrd="0" presId="urn:microsoft.com/office/officeart/2005/8/layout/cycle2"/>
    <dgm:cxn modelId="{F2F88B45-7BEA-4043-BE3C-72F2D0E6A3BC}" type="presOf" srcId="{9345B451-20B4-8F46-9F4F-514259F0DB16}" destId="{6C086CCC-5EDE-FC45-877F-62C4699DCB57}" srcOrd="1" destOrd="0" presId="urn:microsoft.com/office/officeart/2005/8/layout/cycle2"/>
    <dgm:cxn modelId="{613EDE69-C927-5D44-95A9-260ACC971E5C}" srcId="{5F91FDA9-BA9A-D040-9AAB-D2BD7E99789F}" destId="{1ECB8F1B-8E6B-884B-B718-1EBCC8EC2E02}" srcOrd="4" destOrd="0" parTransId="{C169072F-631B-A84D-9D33-8AE4AF326D32}" sibTransId="{33FB7A8F-071F-564C-89A7-011C3781CB72}"/>
    <dgm:cxn modelId="{86E5316F-1C53-A840-BC0D-716BF321C522}" type="presOf" srcId="{DD1C9945-FC14-584C-972E-598B6F6F9A38}" destId="{7190AA65-739E-F144-805E-EE27D976351B}" srcOrd="0" destOrd="0" presId="urn:microsoft.com/office/officeart/2005/8/layout/cycle2"/>
    <dgm:cxn modelId="{96C5B973-E148-3543-AD70-5B7302DA2DA5}" type="presOf" srcId="{33FB7A8F-071F-564C-89A7-011C3781CB72}" destId="{7E244E47-0700-B540-A050-EAE2F8DCA9E2}" srcOrd="0" destOrd="0" presId="urn:microsoft.com/office/officeart/2005/8/layout/cycle2"/>
    <dgm:cxn modelId="{CEB26856-9EE8-6D4F-AE20-D81B5B246359}" srcId="{5F91FDA9-BA9A-D040-9AAB-D2BD7E99789F}" destId="{2A200D22-A5E5-A241-B8A0-456EDFDFF989}" srcOrd="5" destOrd="0" parTransId="{2C089B80-B03E-B247-B6CB-053B042653EB}" sibTransId="{DEC615F8-0AB3-6947-9760-9BD742112E93}"/>
    <dgm:cxn modelId="{C9C9917A-835F-0542-8225-791B46E59DB5}" type="presOf" srcId="{2578DB92-E533-6B40-B07F-4B79EDD9E3A3}" destId="{0DDEE987-0E7F-374C-95B7-E978D3A36E72}" srcOrd="1" destOrd="0" presId="urn:microsoft.com/office/officeart/2005/8/layout/cycle2"/>
    <dgm:cxn modelId="{F14EBD7A-8DD6-2445-8E69-D5217D62648B}" type="presOf" srcId="{FD45E540-8884-2146-B75D-BE596171F5A3}" destId="{615B01C8-5390-3648-8B6C-360C0C81447F}" srcOrd="0" destOrd="0" presId="urn:microsoft.com/office/officeart/2005/8/layout/cycle2"/>
    <dgm:cxn modelId="{4854617F-4FFE-BC41-A7A4-8D2748173FD4}" type="presOf" srcId="{41CC51EE-B932-8946-8DDF-1CFCD8C3E7B2}" destId="{7E2B9E8A-289A-FC4A-9D1C-6099B4270AD4}" srcOrd="0" destOrd="0" presId="urn:microsoft.com/office/officeart/2005/8/layout/cycle2"/>
    <dgm:cxn modelId="{8C994E7F-EA91-F048-A720-22F627608A81}" type="presOf" srcId="{4F2D6033-24E0-344B-BEB5-8014FA8D1368}" destId="{710A4DE4-97D4-A048-9865-B369579E3DB7}" srcOrd="0" destOrd="0" presId="urn:microsoft.com/office/officeart/2005/8/layout/cycle2"/>
    <dgm:cxn modelId="{35CCC088-4E23-2740-BB8F-CC15B9CFDA54}" type="presOf" srcId="{DEC615F8-0AB3-6947-9760-9BD742112E93}" destId="{2D9451C7-EEE4-9C4E-91A2-A16E41530D3E}" srcOrd="0" destOrd="0" presId="urn:microsoft.com/office/officeart/2005/8/layout/cycle2"/>
    <dgm:cxn modelId="{57856189-638F-6B4C-954E-DE248E0EFEF2}" type="presOf" srcId="{55A35266-B03E-9744-8D57-A6F3EC7ED072}" destId="{99B6A552-0F8E-B741-8972-23BCEBB5CB41}" srcOrd="0" destOrd="0" presId="urn:microsoft.com/office/officeart/2005/8/layout/cycle2"/>
    <dgm:cxn modelId="{05386B8D-BE89-4A4E-8B4C-E2302825C5A6}" srcId="{5F91FDA9-BA9A-D040-9AAB-D2BD7E99789F}" destId="{FDA19C3E-4DFA-AB45-A6B5-437203EF78CE}" srcOrd="3" destOrd="0" parTransId="{35561ABA-E7B1-7A4B-BEF2-BC80EC105B4E}" sibTransId="{1862AF2A-DE4B-C746-9907-30242D366B4D}"/>
    <dgm:cxn modelId="{2372F49D-EC73-DF4F-98BB-1A353A4EF061}" srcId="{5F91FDA9-BA9A-D040-9AAB-D2BD7E99789F}" destId="{3C2F28C6-7883-B047-95C7-26E3440C0B93}" srcOrd="7" destOrd="0" parTransId="{849CABEF-A9A0-FC4D-8B97-AE38F4EDA0BB}" sibTransId="{FD45E540-8884-2146-B75D-BE596171F5A3}"/>
    <dgm:cxn modelId="{C5E03DA6-2B5C-7C46-80D3-C3EA0F01F118}" type="presOf" srcId="{1862AF2A-DE4B-C746-9907-30242D366B4D}" destId="{4C77433F-268C-154E-9924-00DD16D26A8C}" srcOrd="0" destOrd="0" presId="urn:microsoft.com/office/officeart/2005/8/layout/cycle2"/>
    <dgm:cxn modelId="{C8B655AA-3E50-C64C-9928-ED7E8DA1EBA2}" type="presOf" srcId="{9DE90450-2B02-EC49-BE60-017EB2735F7A}" destId="{A07AA92D-4511-EE45-B1EC-99D6C368BCD4}" srcOrd="0" destOrd="0" presId="urn:microsoft.com/office/officeart/2005/8/layout/cycle2"/>
    <dgm:cxn modelId="{BA92A2AA-B3A0-3246-A77E-0B1BFD020D76}" type="presOf" srcId="{3C2F28C6-7883-B047-95C7-26E3440C0B93}" destId="{115B0721-907A-EB48-9924-831289B61667}" srcOrd="0" destOrd="0" presId="urn:microsoft.com/office/officeart/2005/8/layout/cycle2"/>
    <dgm:cxn modelId="{9DECBDAF-E5BC-4D4B-BF0E-8A2FFC399047}" type="presOf" srcId="{55A35266-B03E-9744-8D57-A6F3EC7ED072}" destId="{4C9752C6-4BDF-7240-92F3-2A3BEAEBE39C}" srcOrd="1" destOrd="0" presId="urn:microsoft.com/office/officeart/2005/8/layout/cycle2"/>
    <dgm:cxn modelId="{3A8DDAC2-952D-1C4E-B026-18B40EA61BCF}" type="presOf" srcId="{DEC615F8-0AB3-6947-9760-9BD742112E93}" destId="{C75691DE-57D4-4743-9A85-840E103241B3}" srcOrd="1" destOrd="0" presId="urn:microsoft.com/office/officeart/2005/8/layout/cycle2"/>
    <dgm:cxn modelId="{CF70A7CC-FFC1-7844-91BE-4EA151708956}" type="presOf" srcId="{FDA19C3E-4DFA-AB45-A6B5-437203EF78CE}" destId="{B20A8CF4-B3E5-A34F-98CC-6B62B629D731}" srcOrd="0" destOrd="0" presId="urn:microsoft.com/office/officeart/2005/8/layout/cycle2"/>
    <dgm:cxn modelId="{29AB02D9-3152-764F-B60F-E5E63F3FDDDE}" type="presOf" srcId="{4DFC7663-C56F-9B40-8D73-BD4BADFCE7CC}" destId="{B121C652-E7FD-7241-A393-9D1B124E819E}" srcOrd="1" destOrd="0" presId="urn:microsoft.com/office/officeart/2005/8/layout/cycle2"/>
    <dgm:cxn modelId="{4E7913DB-CAD0-AC4D-9668-0638797E8C67}" srcId="{5F91FDA9-BA9A-D040-9AAB-D2BD7E99789F}" destId="{41CC51EE-B932-8946-8DDF-1CFCD8C3E7B2}" srcOrd="0" destOrd="0" parTransId="{7FC1DB1D-04E3-3443-8F57-78118D75BA9B}" sibTransId="{4DFC7663-C56F-9B40-8D73-BD4BADFCE7CC}"/>
    <dgm:cxn modelId="{75675CDC-176C-AD4D-AA63-3656ABF600F7}" type="presOf" srcId="{5F91FDA9-BA9A-D040-9AAB-D2BD7E99789F}" destId="{8FA9FBDE-B794-4D42-B292-3C752644E97B}" srcOrd="0" destOrd="0" presId="urn:microsoft.com/office/officeart/2005/8/layout/cycle2"/>
    <dgm:cxn modelId="{E7ADA7E1-4103-4E49-9899-45B4809CBF63}" type="presOf" srcId="{1ECB8F1B-8E6B-884B-B718-1EBCC8EC2E02}" destId="{544EF912-309D-CF4A-9608-975C4FB079F2}" srcOrd="0" destOrd="0" presId="urn:microsoft.com/office/officeart/2005/8/layout/cycle2"/>
    <dgm:cxn modelId="{63C50DE9-3A11-C44D-B1CC-605B7FC981EC}" srcId="{5F91FDA9-BA9A-D040-9AAB-D2BD7E99789F}" destId="{4F2D6033-24E0-344B-BEB5-8014FA8D1368}" srcOrd="6" destOrd="0" parTransId="{491C2553-657A-8648-B7E6-D51B413C2944}" sibTransId="{B0E953A1-9EE2-3946-9B1A-60598FE9CA73}"/>
    <dgm:cxn modelId="{A1EBA4F3-358E-6A43-8113-84B0A0C9C65A}" type="presOf" srcId="{E24C6EA3-3F21-9D49-B0E9-45F56345143C}" destId="{6FF44C64-1E55-BA40-A27A-3EE5E5204FAE}" srcOrd="0" destOrd="0" presId="urn:microsoft.com/office/officeart/2005/8/layout/cycle2"/>
    <dgm:cxn modelId="{173DFBFF-C400-DC4B-9AB9-3CC0BF80A104}" srcId="{5F91FDA9-BA9A-D040-9AAB-D2BD7E99789F}" destId="{38DD3E39-BC13-5A47-8B07-36342C33082B}" srcOrd="1" destOrd="0" parTransId="{E48C2305-8192-2649-AF87-71F8153B381C}" sibTransId="{E24C6EA3-3F21-9D49-B0E9-45F56345143C}"/>
    <dgm:cxn modelId="{450D7C07-FB4E-2642-A143-4B26214F5194}" type="presParOf" srcId="{8FA9FBDE-B794-4D42-B292-3C752644E97B}" destId="{7E2B9E8A-289A-FC4A-9D1C-6099B4270AD4}" srcOrd="0" destOrd="0" presId="urn:microsoft.com/office/officeart/2005/8/layout/cycle2"/>
    <dgm:cxn modelId="{989AB570-AE10-1D4F-AAD0-085161894FC0}" type="presParOf" srcId="{8FA9FBDE-B794-4D42-B292-3C752644E97B}" destId="{C4F1DD1A-6110-5948-8A46-48F3A7EB0119}" srcOrd="1" destOrd="0" presId="urn:microsoft.com/office/officeart/2005/8/layout/cycle2"/>
    <dgm:cxn modelId="{3C491C25-02FF-0747-A434-6883547A9A9E}" type="presParOf" srcId="{C4F1DD1A-6110-5948-8A46-48F3A7EB0119}" destId="{B121C652-E7FD-7241-A393-9D1B124E819E}" srcOrd="0" destOrd="0" presId="urn:microsoft.com/office/officeart/2005/8/layout/cycle2"/>
    <dgm:cxn modelId="{D4628479-6090-A94B-872C-3FC2907D1ABD}" type="presParOf" srcId="{8FA9FBDE-B794-4D42-B292-3C752644E97B}" destId="{F25307E4-83F1-0E49-A2D0-74F0D5486D93}" srcOrd="2" destOrd="0" presId="urn:microsoft.com/office/officeart/2005/8/layout/cycle2"/>
    <dgm:cxn modelId="{2B547C46-0750-C64B-8AF7-2C5F282C3E3B}" type="presParOf" srcId="{8FA9FBDE-B794-4D42-B292-3C752644E97B}" destId="{6FF44C64-1E55-BA40-A27A-3EE5E5204FAE}" srcOrd="3" destOrd="0" presId="urn:microsoft.com/office/officeart/2005/8/layout/cycle2"/>
    <dgm:cxn modelId="{DC9AEED5-8670-2045-B139-CFA0878D4F12}" type="presParOf" srcId="{6FF44C64-1E55-BA40-A27A-3EE5E5204FAE}" destId="{407A9711-D3A5-4043-921F-5F01D5B7DD9E}" srcOrd="0" destOrd="0" presId="urn:microsoft.com/office/officeart/2005/8/layout/cycle2"/>
    <dgm:cxn modelId="{9225148B-907E-C546-BF94-DED351769B28}" type="presParOf" srcId="{8FA9FBDE-B794-4D42-B292-3C752644E97B}" destId="{EDEE97A7-46D8-494D-8EB6-6269CEBEECEA}" srcOrd="4" destOrd="0" presId="urn:microsoft.com/office/officeart/2005/8/layout/cycle2"/>
    <dgm:cxn modelId="{42256B85-0A5B-8C4A-AC3C-1072ADDB54A2}" type="presParOf" srcId="{8FA9FBDE-B794-4D42-B292-3C752644E97B}" destId="{06A02987-428F-B043-90F8-7AB455F178D5}" srcOrd="5" destOrd="0" presId="urn:microsoft.com/office/officeart/2005/8/layout/cycle2"/>
    <dgm:cxn modelId="{13D60A82-A454-444E-977B-3F31F96E9186}" type="presParOf" srcId="{06A02987-428F-B043-90F8-7AB455F178D5}" destId="{6C086CCC-5EDE-FC45-877F-62C4699DCB57}" srcOrd="0" destOrd="0" presId="urn:microsoft.com/office/officeart/2005/8/layout/cycle2"/>
    <dgm:cxn modelId="{A44279CB-52E6-564B-B8C6-C80FCD38CED2}" type="presParOf" srcId="{8FA9FBDE-B794-4D42-B292-3C752644E97B}" destId="{B20A8CF4-B3E5-A34F-98CC-6B62B629D731}" srcOrd="6" destOrd="0" presId="urn:microsoft.com/office/officeart/2005/8/layout/cycle2"/>
    <dgm:cxn modelId="{098834C9-A848-6A42-9236-E720057341E8}" type="presParOf" srcId="{8FA9FBDE-B794-4D42-B292-3C752644E97B}" destId="{4C77433F-268C-154E-9924-00DD16D26A8C}" srcOrd="7" destOrd="0" presId="urn:microsoft.com/office/officeart/2005/8/layout/cycle2"/>
    <dgm:cxn modelId="{EDF0DE04-D56B-A642-93FC-D6E47AED15B2}" type="presParOf" srcId="{4C77433F-268C-154E-9924-00DD16D26A8C}" destId="{2516F486-DEF9-2C46-96E1-FA2242D5A681}" srcOrd="0" destOrd="0" presId="urn:microsoft.com/office/officeart/2005/8/layout/cycle2"/>
    <dgm:cxn modelId="{43342213-F0D5-F64D-BC9D-38335B09DB76}" type="presParOf" srcId="{8FA9FBDE-B794-4D42-B292-3C752644E97B}" destId="{544EF912-309D-CF4A-9608-975C4FB079F2}" srcOrd="8" destOrd="0" presId="urn:microsoft.com/office/officeart/2005/8/layout/cycle2"/>
    <dgm:cxn modelId="{0F4BD427-31BC-7049-B459-B1797C7669C0}" type="presParOf" srcId="{8FA9FBDE-B794-4D42-B292-3C752644E97B}" destId="{7E244E47-0700-B540-A050-EAE2F8DCA9E2}" srcOrd="9" destOrd="0" presId="urn:microsoft.com/office/officeart/2005/8/layout/cycle2"/>
    <dgm:cxn modelId="{FD71B190-D8C3-BA4B-8CF4-10790618AFE4}" type="presParOf" srcId="{7E244E47-0700-B540-A050-EAE2F8DCA9E2}" destId="{9964D612-DCB9-8E40-A5C4-731958E27051}" srcOrd="0" destOrd="0" presId="urn:microsoft.com/office/officeart/2005/8/layout/cycle2"/>
    <dgm:cxn modelId="{32D16778-C103-3B41-9061-9A5E3D87D18E}" type="presParOf" srcId="{8FA9FBDE-B794-4D42-B292-3C752644E97B}" destId="{9CA3348B-D646-7C4D-9883-DF146CFED2FC}" srcOrd="10" destOrd="0" presId="urn:microsoft.com/office/officeart/2005/8/layout/cycle2"/>
    <dgm:cxn modelId="{0750F4F0-26B1-344E-9E19-C85EEFBA565F}" type="presParOf" srcId="{8FA9FBDE-B794-4D42-B292-3C752644E97B}" destId="{2D9451C7-EEE4-9C4E-91A2-A16E41530D3E}" srcOrd="11" destOrd="0" presId="urn:microsoft.com/office/officeart/2005/8/layout/cycle2"/>
    <dgm:cxn modelId="{9E828E98-C3C4-3F49-BD49-B5A928E4CEE5}" type="presParOf" srcId="{2D9451C7-EEE4-9C4E-91A2-A16E41530D3E}" destId="{C75691DE-57D4-4743-9A85-840E103241B3}" srcOrd="0" destOrd="0" presId="urn:microsoft.com/office/officeart/2005/8/layout/cycle2"/>
    <dgm:cxn modelId="{9F1A6CA9-E1A9-524E-8595-324A018249B4}" type="presParOf" srcId="{8FA9FBDE-B794-4D42-B292-3C752644E97B}" destId="{710A4DE4-97D4-A048-9865-B369579E3DB7}" srcOrd="12" destOrd="0" presId="urn:microsoft.com/office/officeart/2005/8/layout/cycle2"/>
    <dgm:cxn modelId="{184D7EC3-58EC-234E-84A7-6232FB86E0F8}" type="presParOf" srcId="{8FA9FBDE-B794-4D42-B292-3C752644E97B}" destId="{BE2D9569-0E08-4547-B4A0-5EAF9BD63BB9}" srcOrd="13" destOrd="0" presId="urn:microsoft.com/office/officeart/2005/8/layout/cycle2"/>
    <dgm:cxn modelId="{A845F4BD-F9F9-B94F-B342-B69F38B79123}" type="presParOf" srcId="{BE2D9569-0E08-4547-B4A0-5EAF9BD63BB9}" destId="{A34D6DE1-BEBC-3C4E-95CD-914632C6BF7E}" srcOrd="0" destOrd="0" presId="urn:microsoft.com/office/officeart/2005/8/layout/cycle2"/>
    <dgm:cxn modelId="{844541DE-55E2-E046-A292-242B323FF9BA}" type="presParOf" srcId="{8FA9FBDE-B794-4D42-B292-3C752644E97B}" destId="{115B0721-907A-EB48-9924-831289B61667}" srcOrd="14" destOrd="0" presId="urn:microsoft.com/office/officeart/2005/8/layout/cycle2"/>
    <dgm:cxn modelId="{5EC00F97-692C-5F49-8CD4-851E32B372F3}" type="presParOf" srcId="{8FA9FBDE-B794-4D42-B292-3C752644E97B}" destId="{615B01C8-5390-3648-8B6C-360C0C81447F}" srcOrd="15" destOrd="0" presId="urn:microsoft.com/office/officeart/2005/8/layout/cycle2"/>
    <dgm:cxn modelId="{F4E4B084-85F1-D048-8A13-2174E549A7B5}" type="presParOf" srcId="{615B01C8-5390-3648-8B6C-360C0C81447F}" destId="{04A4B89D-75DB-DF4E-825C-EDAAAA76692D}" srcOrd="0" destOrd="0" presId="urn:microsoft.com/office/officeart/2005/8/layout/cycle2"/>
    <dgm:cxn modelId="{ABC87247-3A7B-654E-B00A-809948D523E2}" type="presParOf" srcId="{8FA9FBDE-B794-4D42-B292-3C752644E97B}" destId="{A07AA92D-4511-EE45-B1EC-99D6C368BCD4}" srcOrd="16" destOrd="0" presId="urn:microsoft.com/office/officeart/2005/8/layout/cycle2"/>
    <dgm:cxn modelId="{3340E62F-8B13-0648-B443-C74DB7BC85B4}" type="presParOf" srcId="{8FA9FBDE-B794-4D42-B292-3C752644E97B}" destId="{56639D85-F15B-BE40-9198-10C8C73E727C}" srcOrd="17" destOrd="0" presId="urn:microsoft.com/office/officeart/2005/8/layout/cycle2"/>
    <dgm:cxn modelId="{48AC80B7-03FA-7C4F-AE25-E88F330C3C2C}" type="presParOf" srcId="{56639D85-F15B-BE40-9198-10C8C73E727C}" destId="{0DDEE987-0E7F-374C-95B7-E978D3A36E72}" srcOrd="0" destOrd="0" presId="urn:microsoft.com/office/officeart/2005/8/layout/cycle2"/>
    <dgm:cxn modelId="{2BBBCA5B-0FA9-7844-86DC-91EDCD8BCC91}" type="presParOf" srcId="{8FA9FBDE-B794-4D42-B292-3C752644E97B}" destId="{A68D89D6-7E99-BD41-BE26-159546B7DCF5}" srcOrd="18" destOrd="0" presId="urn:microsoft.com/office/officeart/2005/8/layout/cycle2"/>
    <dgm:cxn modelId="{459F4E4C-6F9C-694C-95AE-7A0144977B58}" type="presParOf" srcId="{8FA9FBDE-B794-4D42-B292-3C752644E97B}" destId="{99B6A552-0F8E-B741-8972-23BCEBB5CB41}" srcOrd="19" destOrd="0" presId="urn:microsoft.com/office/officeart/2005/8/layout/cycle2"/>
    <dgm:cxn modelId="{6E673F65-1EE9-4645-B3B4-D90327D9479D}" type="presParOf" srcId="{99B6A552-0F8E-B741-8972-23BCEBB5CB41}" destId="{4C9752C6-4BDF-7240-92F3-2A3BEAEBE39C}" srcOrd="0" destOrd="0" presId="urn:microsoft.com/office/officeart/2005/8/layout/cycle2"/>
    <dgm:cxn modelId="{E7167CF9-6C65-2749-BB88-F7E99742C25C}" type="presParOf" srcId="{8FA9FBDE-B794-4D42-B292-3C752644E97B}" destId="{7190AA65-739E-F144-805E-EE27D976351B}" srcOrd="20" destOrd="0" presId="urn:microsoft.com/office/officeart/2005/8/layout/cycle2"/>
    <dgm:cxn modelId="{F06C9546-AB2E-2847-A96D-6C8B600BC04A}" type="presParOf" srcId="{8FA9FBDE-B794-4D42-B292-3C752644E97B}" destId="{41A7522E-561B-5A4E-BEB1-3548E845C3BC}" srcOrd="21" destOrd="0" presId="urn:microsoft.com/office/officeart/2005/8/layout/cycle2"/>
    <dgm:cxn modelId="{964C5A40-3F05-EE4D-AE83-AAF0FBA07CE6}" type="presParOf" srcId="{41A7522E-561B-5A4E-BEB1-3548E845C3BC}" destId="{9E181D83-6DAE-CD45-A27B-AB4B3CA4AB5C}"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F91FDA9-BA9A-D040-9AAB-D2BD7E99789F}" type="doc">
      <dgm:prSet loTypeId="urn:microsoft.com/office/officeart/2005/8/layout/cycle2" loCatId="" qsTypeId="urn:microsoft.com/office/officeart/2005/8/quickstyle/simple4" qsCatId="simple" csTypeId="urn:microsoft.com/office/officeart/2005/8/colors/accent1_2" csCatId="accent1" phldr="1"/>
      <dgm:spPr/>
      <dgm:t>
        <a:bodyPr/>
        <a:lstStyle/>
        <a:p>
          <a:endParaRPr lang="en-US"/>
        </a:p>
      </dgm:t>
    </dgm:pt>
    <dgm:pt modelId="{41CC51EE-B932-8946-8DDF-1CFCD8C3E7B2}">
      <dgm:prSet phldrT="[Text]" custT="1"/>
      <dgm:spPr>
        <a:solidFill>
          <a:schemeClr val="bg1">
            <a:lumMod val="85000"/>
          </a:schemeClr>
        </a:solidFill>
      </dgm:spPr>
      <dgm:t>
        <a:bodyPr/>
        <a:lstStyle/>
        <a:p>
          <a:r>
            <a:rPr lang="en-US" sz="2000" dirty="0">
              <a:solidFill>
                <a:schemeClr val="tx1"/>
              </a:solidFill>
            </a:rPr>
            <a:t>Always warm up. Share from the heart.</a:t>
          </a:r>
        </a:p>
      </dgm:t>
    </dgm:pt>
    <dgm:pt modelId="{7FC1DB1D-04E3-3443-8F57-78118D75BA9B}" type="parTrans" cxnId="{4E7913DB-CAD0-AC4D-9668-0638797E8C67}">
      <dgm:prSet/>
      <dgm:spPr/>
      <dgm:t>
        <a:bodyPr/>
        <a:lstStyle/>
        <a:p>
          <a:endParaRPr lang="en-US"/>
        </a:p>
      </dgm:t>
    </dgm:pt>
    <dgm:pt modelId="{4DFC7663-C56F-9B40-8D73-BD4BADFCE7CC}" type="sibTrans" cxnId="{4E7913DB-CAD0-AC4D-9668-0638797E8C67}">
      <dgm:prSet/>
      <dgm:spPr/>
      <dgm:t>
        <a:bodyPr/>
        <a:lstStyle/>
        <a:p>
          <a:endParaRPr lang="en-US"/>
        </a:p>
      </dgm:t>
    </dgm:pt>
    <dgm:pt modelId="{38DD3E39-BC13-5A47-8B07-36342C33082B}">
      <dgm:prSet phldrT="[Text]" custT="1"/>
      <dgm:spPr>
        <a:solidFill>
          <a:schemeClr val="bg1">
            <a:lumMod val="85000"/>
          </a:schemeClr>
        </a:solidFill>
      </dgm:spPr>
      <dgm:t>
        <a:bodyPr/>
        <a:lstStyle/>
        <a:p>
          <a:r>
            <a:rPr lang="en-US" sz="2000" dirty="0">
              <a:solidFill>
                <a:schemeClr val="tx1"/>
              </a:solidFill>
            </a:rPr>
            <a:t>Be a source of information on people</a:t>
          </a:r>
        </a:p>
      </dgm:t>
    </dgm:pt>
    <dgm:pt modelId="{E48C2305-8192-2649-AF87-71F8153B381C}" type="parTrans" cxnId="{173DFBFF-C400-DC4B-9AB9-3CC0BF80A104}">
      <dgm:prSet/>
      <dgm:spPr/>
      <dgm:t>
        <a:bodyPr/>
        <a:lstStyle/>
        <a:p>
          <a:endParaRPr lang="en-US"/>
        </a:p>
      </dgm:t>
    </dgm:pt>
    <dgm:pt modelId="{E24C6EA3-3F21-9D49-B0E9-45F56345143C}" type="sibTrans" cxnId="{173DFBFF-C400-DC4B-9AB9-3CC0BF80A104}">
      <dgm:prSet/>
      <dgm:spPr/>
      <dgm:t>
        <a:bodyPr/>
        <a:lstStyle/>
        <a:p>
          <a:endParaRPr lang="en-US"/>
        </a:p>
      </dgm:t>
    </dgm:pt>
    <dgm:pt modelId="{F75DA6F6-EDAA-D845-A643-36C478F76222}">
      <dgm:prSet phldrT="[Text]" custT="1"/>
      <dgm:spPr>
        <a:solidFill>
          <a:schemeClr val="bg1">
            <a:lumMod val="85000"/>
          </a:schemeClr>
        </a:solidFill>
      </dgm:spPr>
      <dgm:t>
        <a:bodyPr/>
        <a:lstStyle/>
        <a:p>
          <a:r>
            <a:rPr lang="en-US" sz="2000" dirty="0">
              <a:solidFill>
                <a:schemeClr val="tx1"/>
              </a:solidFill>
            </a:rPr>
            <a:t>Share what others think about your ideas.</a:t>
          </a:r>
        </a:p>
      </dgm:t>
    </dgm:pt>
    <dgm:pt modelId="{92A77B67-B2BF-F441-9EB3-EFC1ED282DC0}" type="parTrans" cxnId="{A3659502-ECC6-1545-9897-B33164C8F0C3}">
      <dgm:prSet/>
      <dgm:spPr/>
      <dgm:t>
        <a:bodyPr/>
        <a:lstStyle/>
        <a:p>
          <a:endParaRPr lang="en-US"/>
        </a:p>
      </dgm:t>
    </dgm:pt>
    <dgm:pt modelId="{9345B451-20B4-8F46-9F4F-514259F0DB16}" type="sibTrans" cxnId="{A3659502-ECC6-1545-9897-B33164C8F0C3}">
      <dgm:prSet/>
      <dgm:spPr/>
      <dgm:t>
        <a:bodyPr/>
        <a:lstStyle/>
        <a:p>
          <a:endParaRPr lang="en-US"/>
        </a:p>
      </dgm:t>
    </dgm:pt>
    <dgm:pt modelId="{FDA19C3E-4DFA-AB45-A6B5-437203EF78CE}">
      <dgm:prSet phldrT="[Text]" custT="1"/>
      <dgm:spPr>
        <a:solidFill>
          <a:schemeClr val="bg1">
            <a:lumMod val="85000"/>
          </a:schemeClr>
        </a:solidFill>
      </dgm:spPr>
      <dgm:t>
        <a:bodyPr/>
        <a:lstStyle/>
        <a:p>
          <a:r>
            <a:rPr lang="en-US" sz="2000" dirty="0">
              <a:solidFill>
                <a:schemeClr val="tx1"/>
              </a:solidFill>
            </a:rPr>
            <a:t>Make sure you align with those in power</a:t>
          </a:r>
        </a:p>
      </dgm:t>
    </dgm:pt>
    <dgm:pt modelId="{35561ABA-E7B1-7A4B-BEF2-BC80EC105B4E}" type="parTrans" cxnId="{05386B8D-BE89-4A4E-8B4C-E2302825C5A6}">
      <dgm:prSet/>
      <dgm:spPr/>
      <dgm:t>
        <a:bodyPr/>
        <a:lstStyle/>
        <a:p>
          <a:endParaRPr lang="en-US"/>
        </a:p>
      </dgm:t>
    </dgm:pt>
    <dgm:pt modelId="{1862AF2A-DE4B-C746-9907-30242D366B4D}" type="sibTrans" cxnId="{05386B8D-BE89-4A4E-8B4C-E2302825C5A6}">
      <dgm:prSet/>
      <dgm:spPr/>
      <dgm:t>
        <a:bodyPr/>
        <a:lstStyle/>
        <a:p>
          <a:endParaRPr lang="en-US"/>
        </a:p>
      </dgm:t>
    </dgm:pt>
    <dgm:pt modelId="{1ECB8F1B-8E6B-884B-B718-1EBCC8EC2E02}">
      <dgm:prSet phldrT="[Text]" custT="1"/>
      <dgm:spPr>
        <a:solidFill>
          <a:schemeClr val="bg1">
            <a:lumMod val="85000"/>
          </a:schemeClr>
        </a:solidFill>
      </dgm:spPr>
      <dgm:t>
        <a:bodyPr/>
        <a:lstStyle/>
        <a:p>
          <a:r>
            <a:rPr lang="en-US" sz="2000" dirty="0">
              <a:solidFill>
                <a:schemeClr val="tx1"/>
              </a:solidFill>
            </a:rPr>
            <a:t>If stories don’t match you lose credibility</a:t>
          </a:r>
        </a:p>
      </dgm:t>
    </dgm:pt>
    <dgm:pt modelId="{C169072F-631B-A84D-9D33-8AE4AF326D32}" type="parTrans" cxnId="{613EDE69-C927-5D44-95A9-260ACC971E5C}">
      <dgm:prSet/>
      <dgm:spPr/>
      <dgm:t>
        <a:bodyPr/>
        <a:lstStyle/>
        <a:p>
          <a:endParaRPr lang="en-US"/>
        </a:p>
      </dgm:t>
    </dgm:pt>
    <dgm:pt modelId="{33FB7A8F-071F-564C-89A7-011C3781CB72}" type="sibTrans" cxnId="{613EDE69-C927-5D44-95A9-260ACC971E5C}">
      <dgm:prSet/>
      <dgm:spPr/>
      <dgm:t>
        <a:bodyPr/>
        <a:lstStyle/>
        <a:p>
          <a:endParaRPr lang="en-US"/>
        </a:p>
      </dgm:t>
    </dgm:pt>
    <dgm:pt modelId="{DD1C9945-FC14-584C-972E-598B6F6F9A38}">
      <dgm:prSet phldrT="[Text]" custT="1"/>
      <dgm:spPr>
        <a:solidFill>
          <a:schemeClr val="bg1">
            <a:lumMod val="85000"/>
          </a:schemeClr>
        </a:solidFill>
      </dgm:spPr>
      <dgm:t>
        <a:bodyPr/>
        <a:lstStyle/>
        <a:p>
          <a:r>
            <a:rPr lang="en-US" sz="2000" b="0" dirty="0">
              <a:solidFill>
                <a:schemeClr val="tx1"/>
              </a:solidFill>
            </a:rPr>
            <a:t>Listen actively</a:t>
          </a:r>
        </a:p>
      </dgm:t>
    </dgm:pt>
    <dgm:pt modelId="{76C63D59-E6B8-E347-B4FE-35C2A1644917}" type="parTrans" cxnId="{77B2545C-F788-7946-B57C-E383269DBF79}">
      <dgm:prSet/>
      <dgm:spPr/>
      <dgm:t>
        <a:bodyPr/>
        <a:lstStyle/>
        <a:p>
          <a:endParaRPr lang="en-US"/>
        </a:p>
      </dgm:t>
    </dgm:pt>
    <dgm:pt modelId="{329443B2-E396-8642-A6F2-9D2846EE02FA}" type="sibTrans" cxnId="{77B2545C-F788-7946-B57C-E383269DBF79}">
      <dgm:prSet/>
      <dgm:spPr/>
      <dgm:t>
        <a:bodyPr/>
        <a:lstStyle/>
        <a:p>
          <a:endParaRPr lang="en-US"/>
        </a:p>
      </dgm:t>
    </dgm:pt>
    <dgm:pt modelId="{2A200D22-A5E5-A241-B8A0-456EDFDFF989}">
      <dgm:prSet phldrT="[Text]" custT="1"/>
      <dgm:spPr>
        <a:solidFill>
          <a:schemeClr val="bg1">
            <a:lumMod val="85000"/>
          </a:schemeClr>
        </a:solidFill>
      </dgm:spPr>
      <dgm:t>
        <a:bodyPr/>
        <a:lstStyle/>
        <a:p>
          <a:r>
            <a:rPr lang="en-US" sz="2000" dirty="0">
              <a:solidFill>
                <a:schemeClr val="tx1"/>
              </a:solidFill>
            </a:rPr>
            <a:t>Talk slowly and with conviction</a:t>
          </a:r>
        </a:p>
      </dgm:t>
    </dgm:pt>
    <dgm:pt modelId="{2C089B80-B03E-B247-B6CB-053B042653EB}" type="parTrans" cxnId="{CEB26856-9EE8-6D4F-AE20-D81B5B246359}">
      <dgm:prSet/>
      <dgm:spPr/>
      <dgm:t>
        <a:bodyPr/>
        <a:lstStyle/>
        <a:p>
          <a:endParaRPr lang="en-US"/>
        </a:p>
      </dgm:t>
    </dgm:pt>
    <dgm:pt modelId="{DEC615F8-0AB3-6947-9760-9BD742112E93}" type="sibTrans" cxnId="{CEB26856-9EE8-6D4F-AE20-D81B5B246359}">
      <dgm:prSet/>
      <dgm:spPr/>
      <dgm:t>
        <a:bodyPr/>
        <a:lstStyle/>
        <a:p>
          <a:endParaRPr lang="en-US"/>
        </a:p>
      </dgm:t>
    </dgm:pt>
    <dgm:pt modelId="{4F2D6033-24E0-344B-BEB5-8014FA8D1368}">
      <dgm:prSet phldrT="[Text]" custT="1"/>
      <dgm:spPr>
        <a:solidFill>
          <a:schemeClr val="bg1">
            <a:lumMod val="85000"/>
          </a:schemeClr>
        </a:solidFill>
      </dgm:spPr>
      <dgm:t>
        <a:bodyPr/>
        <a:lstStyle/>
        <a:p>
          <a:r>
            <a:rPr lang="en-US" sz="2000" dirty="0">
              <a:solidFill>
                <a:schemeClr val="tx1"/>
              </a:solidFill>
            </a:rPr>
            <a:t>Invite to ask others about your idea</a:t>
          </a:r>
        </a:p>
      </dgm:t>
    </dgm:pt>
    <dgm:pt modelId="{491C2553-657A-8648-B7E6-D51B413C2944}" type="parTrans" cxnId="{63C50DE9-3A11-C44D-B1CC-605B7FC981EC}">
      <dgm:prSet/>
      <dgm:spPr/>
      <dgm:t>
        <a:bodyPr/>
        <a:lstStyle/>
        <a:p>
          <a:endParaRPr lang="en-US"/>
        </a:p>
      </dgm:t>
    </dgm:pt>
    <dgm:pt modelId="{B0E953A1-9EE2-3946-9B1A-60598FE9CA73}" type="sibTrans" cxnId="{63C50DE9-3A11-C44D-B1CC-605B7FC981EC}">
      <dgm:prSet/>
      <dgm:spPr/>
      <dgm:t>
        <a:bodyPr/>
        <a:lstStyle/>
        <a:p>
          <a:endParaRPr lang="en-US"/>
        </a:p>
      </dgm:t>
    </dgm:pt>
    <dgm:pt modelId="{3C2F28C6-7883-B047-95C7-26E3440C0B93}">
      <dgm:prSet phldrT="[Text]" custT="1"/>
      <dgm:spPr>
        <a:solidFill>
          <a:schemeClr val="bg1">
            <a:lumMod val="85000"/>
          </a:schemeClr>
        </a:solidFill>
      </dgm:spPr>
      <dgm:t>
        <a:bodyPr/>
        <a:lstStyle/>
        <a:p>
          <a:r>
            <a:rPr lang="en-US" sz="2000" dirty="0">
              <a:solidFill>
                <a:schemeClr val="tx1"/>
              </a:solidFill>
            </a:rPr>
            <a:t>Stay calm when situations get heated</a:t>
          </a:r>
        </a:p>
      </dgm:t>
    </dgm:pt>
    <dgm:pt modelId="{849CABEF-A9A0-FC4D-8B97-AE38F4EDA0BB}" type="parTrans" cxnId="{2372F49D-EC73-DF4F-98BB-1A353A4EF061}">
      <dgm:prSet/>
      <dgm:spPr/>
      <dgm:t>
        <a:bodyPr/>
        <a:lstStyle/>
        <a:p>
          <a:endParaRPr lang="en-US"/>
        </a:p>
      </dgm:t>
    </dgm:pt>
    <dgm:pt modelId="{FD45E540-8884-2146-B75D-BE596171F5A3}" type="sibTrans" cxnId="{2372F49D-EC73-DF4F-98BB-1A353A4EF061}">
      <dgm:prSet/>
      <dgm:spPr/>
      <dgm:t>
        <a:bodyPr/>
        <a:lstStyle/>
        <a:p>
          <a:endParaRPr lang="en-US"/>
        </a:p>
      </dgm:t>
    </dgm:pt>
    <dgm:pt modelId="{9DE90450-2B02-EC49-BE60-017EB2735F7A}">
      <dgm:prSet phldrT="[Text]" custT="1"/>
      <dgm:spPr>
        <a:solidFill>
          <a:schemeClr val="bg1">
            <a:lumMod val="85000"/>
          </a:schemeClr>
        </a:solidFill>
      </dgm:spPr>
      <dgm:t>
        <a:bodyPr/>
        <a:lstStyle/>
        <a:p>
          <a:r>
            <a:rPr lang="en-US" sz="2000" dirty="0">
              <a:solidFill>
                <a:schemeClr val="tx1"/>
              </a:solidFill>
            </a:rPr>
            <a:t>Do not push for a rapid decision</a:t>
          </a:r>
        </a:p>
      </dgm:t>
    </dgm:pt>
    <dgm:pt modelId="{5CA7347E-0156-9443-8911-B4B9EFD8D496}" type="parTrans" cxnId="{DC0E372A-EFEB-E14B-87FA-82D4E1C69C0E}">
      <dgm:prSet/>
      <dgm:spPr/>
      <dgm:t>
        <a:bodyPr/>
        <a:lstStyle/>
        <a:p>
          <a:endParaRPr lang="en-US"/>
        </a:p>
      </dgm:t>
    </dgm:pt>
    <dgm:pt modelId="{2578DB92-E533-6B40-B07F-4B79EDD9E3A3}" type="sibTrans" cxnId="{DC0E372A-EFEB-E14B-87FA-82D4E1C69C0E}">
      <dgm:prSet/>
      <dgm:spPr/>
      <dgm:t>
        <a:bodyPr/>
        <a:lstStyle/>
        <a:p>
          <a:endParaRPr lang="en-US"/>
        </a:p>
      </dgm:t>
    </dgm:pt>
    <dgm:pt modelId="{64AD75C5-7428-F041-BA81-A2FE64BABAAC}">
      <dgm:prSet phldrT="[Text]" custT="1"/>
      <dgm:spPr>
        <a:solidFill>
          <a:schemeClr val="bg1">
            <a:lumMod val="85000"/>
          </a:schemeClr>
        </a:solidFill>
      </dgm:spPr>
      <dgm:t>
        <a:bodyPr/>
        <a:lstStyle/>
        <a:p>
          <a:r>
            <a:rPr lang="en-US" sz="2000" dirty="0">
              <a:solidFill>
                <a:schemeClr val="tx1"/>
              </a:solidFill>
            </a:rPr>
            <a:t>Express disagreements as questions</a:t>
          </a:r>
        </a:p>
      </dgm:t>
    </dgm:pt>
    <dgm:pt modelId="{65E56D14-F65B-D243-8539-7B8E3D59AC80}" type="parTrans" cxnId="{DE47B50A-C0FC-EA4A-8ABE-E831D39BB601}">
      <dgm:prSet/>
      <dgm:spPr/>
      <dgm:t>
        <a:bodyPr/>
        <a:lstStyle/>
        <a:p>
          <a:endParaRPr lang="en-US"/>
        </a:p>
      </dgm:t>
    </dgm:pt>
    <dgm:pt modelId="{55A35266-B03E-9744-8D57-A6F3EC7ED072}" type="sibTrans" cxnId="{DE47B50A-C0FC-EA4A-8ABE-E831D39BB601}">
      <dgm:prSet/>
      <dgm:spPr/>
      <dgm:t>
        <a:bodyPr/>
        <a:lstStyle/>
        <a:p>
          <a:endParaRPr lang="en-US"/>
        </a:p>
      </dgm:t>
    </dgm:pt>
    <dgm:pt modelId="{8FA9FBDE-B794-4D42-B292-3C752644E97B}" type="pres">
      <dgm:prSet presAssocID="{5F91FDA9-BA9A-D040-9AAB-D2BD7E99789F}" presName="cycle" presStyleCnt="0">
        <dgm:presLayoutVars>
          <dgm:dir/>
          <dgm:resizeHandles val="exact"/>
        </dgm:presLayoutVars>
      </dgm:prSet>
      <dgm:spPr/>
    </dgm:pt>
    <dgm:pt modelId="{7E2B9E8A-289A-FC4A-9D1C-6099B4270AD4}" type="pres">
      <dgm:prSet presAssocID="{41CC51EE-B932-8946-8DDF-1CFCD8C3E7B2}" presName="node" presStyleLbl="node1" presStyleIdx="0" presStyleCnt="11" custScaleX="168798" custScaleY="122853" custRadScaleRad="117401" custRadScaleInc="-212592">
        <dgm:presLayoutVars>
          <dgm:bulletEnabled val="1"/>
        </dgm:presLayoutVars>
      </dgm:prSet>
      <dgm:spPr>
        <a:prstGeom prst="flowChartProcess">
          <a:avLst/>
        </a:prstGeom>
      </dgm:spPr>
    </dgm:pt>
    <dgm:pt modelId="{C4F1DD1A-6110-5948-8A46-48F3A7EB0119}" type="pres">
      <dgm:prSet presAssocID="{4DFC7663-C56F-9B40-8D73-BD4BADFCE7CC}" presName="sibTrans" presStyleLbl="sibTrans2D1" presStyleIdx="0" presStyleCnt="11"/>
      <dgm:spPr/>
    </dgm:pt>
    <dgm:pt modelId="{B121C652-E7FD-7241-A393-9D1B124E819E}" type="pres">
      <dgm:prSet presAssocID="{4DFC7663-C56F-9B40-8D73-BD4BADFCE7CC}" presName="connectorText" presStyleLbl="sibTrans2D1" presStyleIdx="0" presStyleCnt="11"/>
      <dgm:spPr/>
    </dgm:pt>
    <dgm:pt modelId="{F25307E4-83F1-0E49-A2D0-74F0D5486D93}" type="pres">
      <dgm:prSet presAssocID="{38DD3E39-BC13-5A47-8B07-36342C33082B}" presName="node" presStyleLbl="node1" presStyleIdx="1" presStyleCnt="11" custScaleX="205139" custScaleY="110922" custRadScaleRad="104692" custRadScaleInc="-94914">
        <dgm:presLayoutVars>
          <dgm:bulletEnabled val="1"/>
        </dgm:presLayoutVars>
      </dgm:prSet>
      <dgm:spPr>
        <a:prstGeom prst="flowChartProcess">
          <a:avLst/>
        </a:prstGeom>
      </dgm:spPr>
    </dgm:pt>
    <dgm:pt modelId="{6FF44C64-1E55-BA40-A27A-3EE5E5204FAE}" type="pres">
      <dgm:prSet presAssocID="{E24C6EA3-3F21-9D49-B0E9-45F56345143C}" presName="sibTrans" presStyleLbl="sibTrans2D1" presStyleIdx="1" presStyleCnt="11"/>
      <dgm:spPr/>
    </dgm:pt>
    <dgm:pt modelId="{407A9711-D3A5-4043-921F-5F01D5B7DD9E}" type="pres">
      <dgm:prSet presAssocID="{E24C6EA3-3F21-9D49-B0E9-45F56345143C}" presName="connectorText" presStyleLbl="sibTrans2D1" presStyleIdx="1" presStyleCnt="11"/>
      <dgm:spPr/>
    </dgm:pt>
    <dgm:pt modelId="{EDEE97A7-46D8-494D-8EB6-6269CEBEECEA}" type="pres">
      <dgm:prSet presAssocID="{F75DA6F6-EDAA-D845-A643-36C478F76222}" presName="node" presStyleLbl="node1" presStyleIdx="2" presStyleCnt="11" custScaleX="241889" custScaleY="98608" custRadScaleRad="166937" custRadScaleInc="-54004">
        <dgm:presLayoutVars>
          <dgm:bulletEnabled val="1"/>
        </dgm:presLayoutVars>
      </dgm:prSet>
      <dgm:spPr>
        <a:prstGeom prst="flowChartProcess">
          <a:avLst/>
        </a:prstGeom>
      </dgm:spPr>
    </dgm:pt>
    <dgm:pt modelId="{06A02987-428F-B043-90F8-7AB455F178D5}" type="pres">
      <dgm:prSet presAssocID="{9345B451-20B4-8F46-9F4F-514259F0DB16}" presName="sibTrans" presStyleLbl="sibTrans2D1" presStyleIdx="2" presStyleCnt="11"/>
      <dgm:spPr/>
    </dgm:pt>
    <dgm:pt modelId="{6C086CCC-5EDE-FC45-877F-62C4699DCB57}" type="pres">
      <dgm:prSet presAssocID="{9345B451-20B4-8F46-9F4F-514259F0DB16}" presName="connectorText" presStyleLbl="sibTrans2D1" presStyleIdx="2" presStyleCnt="11"/>
      <dgm:spPr/>
    </dgm:pt>
    <dgm:pt modelId="{B20A8CF4-B3E5-A34F-98CC-6B62B629D731}" type="pres">
      <dgm:prSet presAssocID="{FDA19C3E-4DFA-AB45-A6B5-437203EF78CE}" presName="node" presStyleLbl="node1" presStyleIdx="3" presStyleCnt="11" custScaleX="218064" custRadScaleRad="190605" custRadScaleInc="-98701">
        <dgm:presLayoutVars>
          <dgm:bulletEnabled val="1"/>
        </dgm:presLayoutVars>
      </dgm:prSet>
      <dgm:spPr>
        <a:prstGeom prst="flowChartProcess">
          <a:avLst/>
        </a:prstGeom>
      </dgm:spPr>
    </dgm:pt>
    <dgm:pt modelId="{4C77433F-268C-154E-9924-00DD16D26A8C}" type="pres">
      <dgm:prSet presAssocID="{1862AF2A-DE4B-C746-9907-30242D366B4D}" presName="sibTrans" presStyleLbl="sibTrans2D1" presStyleIdx="3" presStyleCnt="11"/>
      <dgm:spPr/>
    </dgm:pt>
    <dgm:pt modelId="{2516F486-DEF9-2C46-96E1-FA2242D5A681}" type="pres">
      <dgm:prSet presAssocID="{1862AF2A-DE4B-C746-9907-30242D366B4D}" presName="connectorText" presStyleLbl="sibTrans2D1" presStyleIdx="3" presStyleCnt="11"/>
      <dgm:spPr/>
    </dgm:pt>
    <dgm:pt modelId="{544EF912-309D-CF4A-9608-975C4FB079F2}" type="pres">
      <dgm:prSet presAssocID="{1ECB8F1B-8E6B-884B-B718-1EBCC8EC2E02}" presName="node" presStyleLbl="node1" presStyleIdx="4" presStyleCnt="11" custScaleX="209333" custRadScaleRad="175871" custRadScaleInc="-187248">
        <dgm:presLayoutVars>
          <dgm:bulletEnabled val="1"/>
        </dgm:presLayoutVars>
      </dgm:prSet>
      <dgm:spPr>
        <a:prstGeom prst="flowChartProcess">
          <a:avLst/>
        </a:prstGeom>
      </dgm:spPr>
    </dgm:pt>
    <dgm:pt modelId="{7E244E47-0700-B540-A050-EAE2F8DCA9E2}" type="pres">
      <dgm:prSet presAssocID="{33FB7A8F-071F-564C-89A7-011C3781CB72}" presName="sibTrans" presStyleLbl="sibTrans2D1" presStyleIdx="4" presStyleCnt="11"/>
      <dgm:spPr/>
    </dgm:pt>
    <dgm:pt modelId="{9964D612-DCB9-8E40-A5C4-731958E27051}" type="pres">
      <dgm:prSet presAssocID="{33FB7A8F-071F-564C-89A7-011C3781CB72}" presName="connectorText" presStyleLbl="sibTrans2D1" presStyleIdx="4" presStyleCnt="11"/>
      <dgm:spPr/>
    </dgm:pt>
    <dgm:pt modelId="{9CA3348B-D646-7C4D-9883-DF146CFED2FC}" type="pres">
      <dgm:prSet presAssocID="{2A200D22-A5E5-A241-B8A0-456EDFDFF989}" presName="node" presStyleLbl="node1" presStyleIdx="5" presStyleCnt="11" custScaleX="193611" custRadScaleRad="169841" custRadScaleInc="-254316">
        <dgm:presLayoutVars>
          <dgm:bulletEnabled val="1"/>
        </dgm:presLayoutVars>
      </dgm:prSet>
      <dgm:spPr>
        <a:prstGeom prst="flowChartProcess">
          <a:avLst/>
        </a:prstGeom>
      </dgm:spPr>
    </dgm:pt>
    <dgm:pt modelId="{2D9451C7-EEE4-9C4E-91A2-A16E41530D3E}" type="pres">
      <dgm:prSet presAssocID="{DEC615F8-0AB3-6947-9760-9BD742112E93}" presName="sibTrans" presStyleLbl="sibTrans2D1" presStyleIdx="5" presStyleCnt="11"/>
      <dgm:spPr/>
    </dgm:pt>
    <dgm:pt modelId="{C75691DE-57D4-4743-9A85-840E103241B3}" type="pres">
      <dgm:prSet presAssocID="{DEC615F8-0AB3-6947-9760-9BD742112E93}" presName="connectorText" presStyleLbl="sibTrans2D1" presStyleIdx="5" presStyleCnt="11"/>
      <dgm:spPr/>
    </dgm:pt>
    <dgm:pt modelId="{710A4DE4-97D4-A048-9865-B369579E3DB7}" type="pres">
      <dgm:prSet presAssocID="{4F2D6033-24E0-344B-BEB5-8014FA8D1368}" presName="node" presStyleLbl="node1" presStyleIdx="6" presStyleCnt="11" custScaleX="249482" custScaleY="73874" custRadScaleRad="99184" custRadScaleInc="-232764">
        <dgm:presLayoutVars>
          <dgm:bulletEnabled val="1"/>
        </dgm:presLayoutVars>
      </dgm:prSet>
      <dgm:spPr>
        <a:prstGeom prst="flowChartProcess">
          <a:avLst/>
        </a:prstGeom>
      </dgm:spPr>
    </dgm:pt>
    <dgm:pt modelId="{BE2D9569-0E08-4547-B4A0-5EAF9BD63BB9}" type="pres">
      <dgm:prSet presAssocID="{B0E953A1-9EE2-3946-9B1A-60598FE9CA73}" presName="sibTrans" presStyleLbl="sibTrans2D1" presStyleIdx="6" presStyleCnt="11"/>
      <dgm:spPr/>
    </dgm:pt>
    <dgm:pt modelId="{A34D6DE1-BEBC-3C4E-95CD-914632C6BF7E}" type="pres">
      <dgm:prSet presAssocID="{B0E953A1-9EE2-3946-9B1A-60598FE9CA73}" presName="connectorText" presStyleLbl="sibTrans2D1" presStyleIdx="6" presStyleCnt="11"/>
      <dgm:spPr/>
    </dgm:pt>
    <dgm:pt modelId="{115B0721-907A-EB48-9924-831289B61667}" type="pres">
      <dgm:prSet presAssocID="{3C2F28C6-7883-B047-95C7-26E3440C0B93}" presName="node" presStyleLbl="node1" presStyleIdx="7" presStyleCnt="11" custScaleX="230081" custRadScaleRad="118799" custRadScaleInc="-59145">
        <dgm:presLayoutVars>
          <dgm:bulletEnabled val="1"/>
        </dgm:presLayoutVars>
      </dgm:prSet>
      <dgm:spPr>
        <a:prstGeom prst="flowChartProcess">
          <a:avLst/>
        </a:prstGeom>
      </dgm:spPr>
    </dgm:pt>
    <dgm:pt modelId="{615B01C8-5390-3648-8B6C-360C0C81447F}" type="pres">
      <dgm:prSet presAssocID="{FD45E540-8884-2146-B75D-BE596171F5A3}" presName="sibTrans" presStyleLbl="sibTrans2D1" presStyleIdx="7" presStyleCnt="11" custLinFactNeighborX="-2084"/>
      <dgm:spPr/>
    </dgm:pt>
    <dgm:pt modelId="{04A4B89D-75DB-DF4E-825C-EDAAAA76692D}" type="pres">
      <dgm:prSet presAssocID="{FD45E540-8884-2146-B75D-BE596171F5A3}" presName="connectorText" presStyleLbl="sibTrans2D1" presStyleIdx="7" presStyleCnt="11"/>
      <dgm:spPr/>
    </dgm:pt>
    <dgm:pt modelId="{A07AA92D-4511-EE45-B1EC-99D6C368BCD4}" type="pres">
      <dgm:prSet presAssocID="{9DE90450-2B02-EC49-BE60-017EB2735F7A}" presName="node" presStyleLbl="node1" presStyleIdx="8" presStyleCnt="11" custScaleX="211196" custScaleY="106493" custRadScaleRad="199006" custRadScaleInc="-62365">
        <dgm:presLayoutVars>
          <dgm:bulletEnabled val="1"/>
        </dgm:presLayoutVars>
      </dgm:prSet>
      <dgm:spPr>
        <a:prstGeom prst="flowChartProcess">
          <a:avLst/>
        </a:prstGeom>
      </dgm:spPr>
    </dgm:pt>
    <dgm:pt modelId="{56639D85-F15B-BE40-9198-10C8C73E727C}" type="pres">
      <dgm:prSet presAssocID="{2578DB92-E533-6B40-B07F-4B79EDD9E3A3}" presName="sibTrans" presStyleLbl="sibTrans2D1" presStyleIdx="8" presStyleCnt="11"/>
      <dgm:spPr/>
    </dgm:pt>
    <dgm:pt modelId="{0DDEE987-0E7F-374C-95B7-E978D3A36E72}" type="pres">
      <dgm:prSet presAssocID="{2578DB92-E533-6B40-B07F-4B79EDD9E3A3}" presName="connectorText" presStyleLbl="sibTrans2D1" presStyleIdx="8" presStyleCnt="11"/>
      <dgm:spPr/>
    </dgm:pt>
    <dgm:pt modelId="{A68D89D6-7E99-BD41-BE26-159546B7DCF5}" type="pres">
      <dgm:prSet presAssocID="{64AD75C5-7428-F041-BA81-A2FE64BABAAC}" presName="node" presStyleLbl="node1" presStyleIdx="9" presStyleCnt="11" custScaleX="256736" custScaleY="103420" custRadScaleRad="180233" custRadScaleInc="-169252">
        <dgm:presLayoutVars>
          <dgm:bulletEnabled val="1"/>
        </dgm:presLayoutVars>
      </dgm:prSet>
      <dgm:spPr>
        <a:prstGeom prst="flowChartProcess">
          <a:avLst/>
        </a:prstGeom>
      </dgm:spPr>
    </dgm:pt>
    <dgm:pt modelId="{99B6A552-0F8E-B741-8972-23BCEBB5CB41}" type="pres">
      <dgm:prSet presAssocID="{55A35266-B03E-9744-8D57-A6F3EC7ED072}" presName="sibTrans" presStyleLbl="sibTrans2D1" presStyleIdx="9" presStyleCnt="11"/>
      <dgm:spPr/>
    </dgm:pt>
    <dgm:pt modelId="{4C9752C6-4BDF-7240-92F3-2A3BEAEBE39C}" type="pres">
      <dgm:prSet presAssocID="{55A35266-B03E-9744-8D57-A6F3EC7ED072}" presName="connectorText" presStyleLbl="sibTrans2D1" presStyleIdx="9" presStyleCnt="11"/>
      <dgm:spPr/>
    </dgm:pt>
    <dgm:pt modelId="{7190AA65-739E-F144-805E-EE27D976351B}" type="pres">
      <dgm:prSet presAssocID="{DD1C9945-FC14-584C-972E-598B6F6F9A38}" presName="node" presStyleLbl="node1" presStyleIdx="10" presStyleCnt="11" custScaleX="305065" custRadScaleRad="176960" custRadScaleInc="-257842">
        <dgm:presLayoutVars>
          <dgm:bulletEnabled val="1"/>
        </dgm:presLayoutVars>
      </dgm:prSet>
      <dgm:spPr>
        <a:prstGeom prst="flowChartProcess">
          <a:avLst/>
        </a:prstGeom>
      </dgm:spPr>
    </dgm:pt>
    <dgm:pt modelId="{41A7522E-561B-5A4E-BEB1-3548E845C3BC}" type="pres">
      <dgm:prSet presAssocID="{329443B2-E396-8642-A6F2-9D2846EE02FA}" presName="sibTrans" presStyleLbl="sibTrans2D1" presStyleIdx="10" presStyleCnt="11"/>
      <dgm:spPr/>
    </dgm:pt>
    <dgm:pt modelId="{9E181D83-6DAE-CD45-A27B-AB4B3CA4AB5C}" type="pres">
      <dgm:prSet presAssocID="{329443B2-E396-8642-A6F2-9D2846EE02FA}" presName="connectorText" presStyleLbl="sibTrans2D1" presStyleIdx="10" presStyleCnt="11"/>
      <dgm:spPr/>
    </dgm:pt>
  </dgm:ptLst>
  <dgm:cxnLst>
    <dgm:cxn modelId="{210B8F00-16E3-584B-B950-32F90DE30335}" type="presOf" srcId="{329443B2-E396-8642-A6F2-9D2846EE02FA}" destId="{41A7522E-561B-5A4E-BEB1-3548E845C3BC}" srcOrd="0" destOrd="0" presId="urn:microsoft.com/office/officeart/2005/8/layout/cycle2"/>
    <dgm:cxn modelId="{A3659502-ECC6-1545-9897-B33164C8F0C3}" srcId="{5F91FDA9-BA9A-D040-9AAB-D2BD7E99789F}" destId="{F75DA6F6-EDAA-D845-A643-36C478F76222}" srcOrd="2" destOrd="0" parTransId="{92A77B67-B2BF-F441-9EB3-EFC1ED282DC0}" sibTransId="{9345B451-20B4-8F46-9F4F-514259F0DB16}"/>
    <dgm:cxn modelId="{DE47B50A-C0FC-EA4A-8ABE-E831D39BB601}" srcId="{5F91FDA9-BA9A-D040-9AAB-D2BD7E99789F}" destId="{64AD75C5-7428-F041-BA81-A2FE64BABAAC}" srcOrd="9" destOrd="0" parTransId="{65E56D14-F65B-D243-8539-7B8E3D59AC80}" sibTransId="{55A35266-B03E-9744-8D57-A6F3EC7ED072}"/>
    <dgm:cxn modelId="{648D0210-291F-FE49-9023-57DB5022CC2B}" type="presOf" srcId="{2578DB92-E533-6B40-B07F-4B79EDD9E3A3}" destId="{56639D85-F15B-BE40-9198-10C8C73E727C}" srcOrd="0" destOrd="0" presId="urn:microsoft.com/office/officeart/2005/8/layout/cycle2"/>
    <dgm:cxn modelId="{6551C315-AA7E-9E4A-B0B0-B160DEFA5B1E}" type="presOf" srcId="{38DD3E39-BC13-5A47-8B07-36342C33082B}" destId="{F25307E4-83F1-0E49-A2D0-74F0D5486D93}" srcOrd="0" destOrd="0" presId="urn:microsoft.com/office/officeart/2005/8/layout/cycle2"/>
    <dgm:cxn modelId="{628E7F1C-BE1B-F94C-8162-A465DD62FE38}" type="presOf" srcId="{E24C6EA3-3F21-9D49-B0E9-45F56345143C}" destId="{407A9711-D3A5-4043-921F-5F01D5B7DD9E}" srcOrd="1" destOrd="0" presId="urn:microsoft.com/office/officeart/2005/8/layout/cycle2"/>
    <dgm:cxn modelId="{A98EED22-FCB7-D243-B64D-7FCC3A82174C}" type="presOf" srcId="{B0E953A1-9EE2-3946-9B1A-60598FE9CA73}" destId="{A34D6DE1-BEBC-3C4E-95CD-914632C6BF7E}" srcOrd="1" destOrd="0" presId="urn:microsoft.com/office/officeart/2005/8/layout/cycle2"/>
    <dgm:cxn modelId="{DE1FA223-9C74-9345-AB99-CFB03A3BE377}" type="presOf" srcId="{329443B2-E396-8642-A6F2-9D2846EE02FA}" destId="{9E181D83-6DAE-CD45-A27B-AB4B3CA4AB5C}" srcOrd="1" destOrd="0" presId="urn:microsoft.com/office/officeart/2005/8/layout/cycle2"/>
    <dgm:cxn modelId="{C646F528-2F6B-FB41-B9BE-540B6FD53FCA}" type="presOf" srcId="{64AD75C5-7428-F041-BA81-A2FE64BABAAC}" destId="{A68D89D6-7E99-BD41-BE26-159546B7DCF5}" srcOrd="0" destOrd="0" presId="urn:microsoft.com/office/officeart/2005/8/layout/cycle2"/>
    <dgm:cxn modelId="{DC0E372A-EFEB-E14B-87FA-82D4E1C69C0E}" srcId="{5F91FDA9-BA9A-D040-9AAB-D2BD7E99789F}" destId="{9DE90450-2B02-EC49-BE60-017EB2735F7A}" srcOrd="8" destOrd="0" parTransId="{5CA7347E-0156-9443-8911-B4B9EFD8D496}" sibTransId="{2578DB92-E533-6B40-B07F-4B79EDD9E3A3}"/>
    <dgm:cxn modelId="{C4625D2A-858B-DC46-9280-9A663A038279}" type="presOf" srcId="{B0E953A1-9EE2-3946-9B1A-60598FE9CA73}" destId="{BE2D9569-0E08-4547-B4A0-5EAF9BD63BB9}" srcOrd="0" destOrd="0" presId="urn:microsoft.com/office/officeart/2005/8/layout/cycle2"/>
    <dgm:cxn modelId="{7127882B-2D53-314F-9AAB-1B571AC01F65}" type="presOf" srcId="{33FB7A8F-071F-564C-89A7-011C3781CB72}" destId="{9964D612-DCB9-8E40-A5C4-731958E27051}" srcOrd="1" destOrd="0" presId="urn:microsoft.com/office/officeart/2005/8/layout/cycle2"/>
    <dgm:cxn modelId="{BAD2193B-821E-B748-B416-5C43350BBCF0}" type="presOf" srcId="{F75DA6F6-EDAA-D845-A643-36C478F76222}" destId="{EDEE97A7-46D8-494D-8EB6-6269CEBEECEA}" srcOrd="0" destOrd="0" presId="urn:microsoft.com/office/officeart/2005/8/layout/cycle2"/>
    <dgm:cxn modelId="{D62C443F-74C2-6243-BAE7-2733F5A1DF91}" type="presOf" srcId="{2A200D22-A5E5-A241-B8A0-456EDFDFF989}" destId="{9CA3348B-D646-7C4D-9883-DF146CFED2FC}" srcOrd="0" destOrd="0" presId="urn:microsoft.com/office/officeart/2005/8/layout/cycle2"/>
    <dgm:cxn modelId="{F53B3D5C-0359-8648-9F1E-BEC8FB9137C8}" type="presOf" srcId="{1862AF2A-DE4B-C746-9907-30242D366B4D}" destId="{2516F486-DEF9-2C46-96E1-FA2242D5A681}" srcOrd="1" destOrd="0" presId="urn:microsoft.com/office/officeart/2005/8/layout/cycle2"/>
    <dgm:cxn modelId="{77B2545C-F788-7946-B57C-E383269DBF79}" srcId="{5F91FDA9-BA9A-D040-9AAB-D2BD7E99789F}" destId="{DD1C9945-FC14-584C-972E-598B6F6F9A38}" srcOrd="10" destOrd="0" parTransId="{76C63D59-E6B8-E347-B4FE-35C2A1644917}" sibTransId="{329443B2-E396-8642-A6F2-9D2846EE02FA}"/>
    <dgm:cxn modelId="{7A4C8B5D-1FB4-FB40-830B-B96132B882A2}" type="presOf" srcId="{9345B451-20B4-8F46-9F4F-514259F0DB16}" destId="{06A02987-428F-B043-90F8-7AB455F178D5}" srcOrd="0" destOrd="0" presId="urn:microsoft.com/office/officeart/2005/8/layout/cycle2"/>
    <dgm:cxn modelId="{7FE6F15E-A548-2E4E-BEC1-448F81CCB966}" type="presOf" srcId="{FD45E540-8884-2146-B75D-BE596171F5A3}" destId="{04A4B89D-75DB-DF4E-825C-EDAAAA76692D}" srcOrd="1" destOrd="0" presId="urn:microsoft.com/office/officeart/2005/8/layout/cycle2"/>
    <dgm:cxn modelId="{D669A541-D355-8F4C-9F85-F3BC5DDCE520}" type="presOf" srcId="{4DFC7663-C56F-9B40-8D73-BD4BADFCE7CC}" destId="{C4F1DD1A-6110-5948-8A46-48F3A7EB0119}" srcOrd="0" destOrd="0" presId="urn:microsoft.com/office/officeart/2005/8/layout/cycle2"/>
    <dgm:cxn modelId="{F2F88B45-7BEA-4043-BE3C-72F2D0E6A3BC}" type="presOf" srcId="{9345B451-20B4-8F46-9F4F-514259F0DB16}" destId="{6C086CCC-5EDE-FC45-877F-62C4699DCB57}" srcOrd="1" destOrd="0" presId="urn:microsoft.com/office/officeart/2005/8/layout/cycle2"/>
    <dgm:cxn modelId="{613EDE69-C927-5D44-95A9-260ACC971E5C}" srcId="{5F91FDA9-BA9A-D040-9AAB-D2BD7E99789F}" destId="{1ECB8F1B-8E6B-884B-B718-1EBCC8EC2E02}" srcOrd="4" destOrd="0" parTransId="{C169072F-631B-A84D-9D33-8AE4AF326D32}" sibTransId="{33FB7A8F-071F-564C-89A7-011C3781CB72}"/>
    <dgm:cxn modelId="{86E5316F-1C53-A840-BC0D-716BF321C522}" type="presOf" srcId="{DD1C9945-FC14-584C-972E-598B6F6F9A38}" destId="{7190AA65-739E-F144-805E-EE27D976351B}" srcOrd="0" destOrd="0" presId="urn:microsoft.com/office/officeart/2005/8/layout/cycle2"/>
    <dgm:cxn modelId="{96C5B973-E148-3543-AD70-5B7302DA2DA5}" type="presOf" srcId="{33FB7A8F-071F-564C-89A7-011C3781CB72}" destId="{7E244E47-0700-B540-A050-EAE2F8DCA9E2}" srcOrd="0" destOrd="0" presId="urn:microsoft.com/office/officeart/2005/8/layout/cycle2"/>
    <dgm:cxn modelId="{CEB26856-9EE8-6D4F-AE20-D81B5B246359}" srcId="{5F91FDA9-BA9A-D040-9AAB-D2BD7E99789F}" destId="{2A200D22-A5E5-A241-B8A0-456EDFDFF989}" srcOrd="5" destOrd="0" parTransId="{2C089B80-B03E-B247-B6CB-053B042653EB}" sibTransId="{DEC615F8-0AB3-6947-9760-9BD742112E93}"/>
    <dgm:cxn modelId="{C9C9917A-835F-0542-8225-791B46E59DB5}" type="presOf" srcId="{2578DB92-E533-6B40-B07F-4B79EDD9E3A3}" destId="{0DDEE987-0E7F-374C-95B7-E978D3A36E72}" srcOrd="1" destOrd="0" presId="urn:microsoft.com/office/officeart/2005/8/layout/cycle2"/>
    <dgm:cxn modelId="{F14EBD7A-8DD6-2445-8E69-D5217D62648B}" type="presOf" srcId="{FD45E540-8884-2146-B75D-BE596171F5A3}" destId="{615B01C8-5390-3648-8B6C-360C0C81447F}" srcOrd="0" destOrd="0" presId="urn:microsoft.com/office/officeart/2005/8/layout/cycle2"/>
    <dgm:cxn modelId="{4854617F-4FFE-BC41-A7A4-8D2748173FD4}" type="presOf" srcId="{41CC51EE-B932-8946-8DDF-1CFCD8C3E7B2}" destId="{7E2B9E8A-289A-FC4A-9D1C-6099B4270AD4}" srcOrd="0" destOrd="0" presId="urn:microsoft.com/office/officeart/2005/8/layout/cycle2"/>
    <dgm:cxn modelId="{8C994E7F-EA91-F048-A720-22F627608A81}" type="presOf" srcId="{4F2D6033-24E0-344B-BEB5-8014FA8D1368}" destId="{710A4DE4-97D4-A048-9865-B369579E3DB7}" srcOrd="0" destOrd="0" presId="urn:microsoft.com/office/officeart/2005/8/layout/cycle2"/>
    <dgm:cxn modelId="{35CCC088-4E23-2740-BB8F-CC15B9CFDA54}" type="presOf" srcId="{DEC615F8-0AB3-6947-9760-9BD742112E93}" destId="{2D9451C7-EEE4-9C4E-91A2-A16E41530D3E}" srcOrd="0" destOrd="0" presId="urn:microsoft.com/office/officeart/2005/8/layout/cycle2"/>
    <dgm:cxn modelId="{57856189-638F-6B4C-954E-DE248E0EFEF2}" type="presOf" srcId="{55A35266-B03E-9744-8D57-A6F3EC7ED072}" destId="{99B6A552-0F8E-B741-8972-23BCEBB5CB41}" srcOrd="0" destOrd="0" presId="urn:microsoft.com/office/officeart/2005/8/layout/cycle2"/>
    <dgm:cxn modelId="{05386B8D-BE89-4A4E-8B4C-E2302825C5A6}" srcId="{5F91FDA9-BA9A-D040-9AAB-D2BD7E99789F}" destId="{FDA19C3E-4DFA-AB45-A6B5-437203EF78CE}" srcOrd="3" destOrd="0" parTransId="{35561ABA-E7B1-7A4B-BEF2-BC80EC105B4E}" sibTransId="{1862AF2A-DE4B-C746-9907-30242D366B4D}"/>
    <dgm:cxn modelId="{2372F49D-EC73-DF4F-98BB-1A353A4EF061}" srcId="{5F91FDA9-BA9A-D040-9AAB-D2BD7E99789F}" destId="{3C2F28C6-7883-B047-95C7-26E3440C0B93}" srcOrd="7" destOrd="0" parTransId="{849CABEF-A9A0-FC4D-8B97-AE38F4EDA0BB}" sibTransId="{FD45E540-8884-2146-B75D-BE596171F5A3}"/>
    <dgm:cxn modelId="{C5E03DA6-2B5C-7C46-80D3-C3EA0F01F118}" type="presOf" srcId="{1862AF2A-DE4B-C746-9907-30242D366B4D}" destId="{4C77433F-268C-154E-9924-00DD16D26A8C}" srcOrd="0" destOrd="0" presId="urn:microsoft.com/office/officeart/2005/8/layout/cycle2"/>
    <dgm:cxn modelId="{C8B655AA-3E50-C64C-9928-ED7E8DA1EBA2}" type="presOf" srcId="{9DE90450-2B02-EC49-BE60-017EB2735F7A}" destId="{A07AA92D-4511-EE45-B1EC-99D6C368BCD4}" srcOrd="0" destOrd="0" presId="urn:microsoft.com/office/officeart/2005/8/layout/cycle2"/>
    <dgm:cxn modelId="{BA92A2AA-B3A0-3246-A77E-0B1BFD020D76}" type="presOf" srcId="{3C2F28C6-7883-B047-95C7-26E3440C0B93}" destId="{115B0721-907A-EB48-9924-831289B61667}" srcOrd="0" destOrd="0" presId="urn:microsoft.com/office/officeart/2005/8/layout/cycle2"/>
    <dgm:cxn modelId="{9DECBDAF-E5BC-4D4B-BF0E-8A2FFC399047}" type="presOf" srcId="{55A35266-B03E-9744-8D57-A6F3EC7ED072}" destId="{4C9752C6-4BDF-7240-92F3-2A3BEAEBE39C}" srcOrd="1" destOrd="0" presId="urn:microsoft.com/office/officeart/2005/8/layout/cycle2"/>
    <dgm:cxn modelId="{3A8DDAC2-952D-1C4E-B026-18B40EA61BCF}" type="presOf" srcId="{DEC615F8-0AB3-6947-9760-9BD742112E93}" destId="{C75691DE-57D4-4743-9A85-840E103241B3}" srcOrd="1" destOrd="0" presId="urn:microsoft.com/office/officeart/2005/8/layout/cycle2"/>
    <dgm:cxn modelId="{CF70A7CC-FFC1-7844-91BE-4EA151708956}" type="presOf" srcId="{FDA19C3E-4DFA-AB45-A6B5-437203EF78CE}" destId="{B20A8CF4-B3E5-A34F-98CC-6B62B629D731}" srcOrd="0" destOrd="0" presId="urn:microsoft.com/office/officeart/2005/8/layout/cycle2"/>
    <dgm:cxn modelId="{29AB02D9-3152-764F-B60F-E5E63F3FDDDE}" type="presOf" srcId="{4DFC7663-C56F-9B40-8D73-BD4BADFCE7CC}" destId="{B121C652-E7FD-7241-A393-9D1B124E819E}" srcOrd="1" destOrd="0" presId="urn:microsoft.com/office/officeart/2005/8/layout/cycle2"/>
    <dgm:cxn modelId="{4E7913DB-CAD0-AC4D-9668-0638797E8C67}" srcId="{5F91FDA9-BA9A-D040-9AAB-D2BD7E99789F}" destId="{41CC51EE-B932-8946-8DDF-1CFCD8C3E7B2}" srcOrd="0" destOrd="0" parTransId="{7FC1DB1D-04E3-3443-8F57-78118D75BA9B}" sibTransId="{4DFC7663-C56F-9B40-8D73-BD4BADFCE7CC}"/>
    <dgm:cxn modelId="{75675CDC-176C-AD4D-AA63-3656ABF600F7}" type="presOf" srcId="{5F91FDA9-BA9A-D040-9AAB-D2BD7E99789F}" destId="{8FA9FBDE-B794-4D42-B292-3C752644E97B}" srcOrd="0" destOrd="0" presId="urn:microsoft.com/office/officeart/2005/8/layout/cycle2"/>
    <dgm:cxn modelId="{E7ADA7E1-4103-4E49-9899-45B4809CBF63}" type="presOf" srcId="{1ECB8F1B-8E6B-884B-B718-1EBCC8EC2E02}" destId="{544EF912-309D-CF4A-9608-975C4FB079F2}" srcOrd="0" destOrd="0" presId="urn:microsoft.com/office/officeart/2005/8/layout/cycle2"/>
    <dgm:cxn modelId="{63C50DE9-3A11-C44D-B1CC-605B7FC981EC}" srcId="{5F91FDA9-BA9A-D040-9AAB-D2BD7E99789F}" destId="{4F2D6033-24E0-344B-BEB5-8014FA8D1368}" srcOrd="6" destOrd="0" parTransId="{491C2553-657A-8648-B7E6-D51B413C2944}" sibTransId="{B0E953A1-9EE2-3946-9B1A-60598FE9CA73}"/>
    <dgm:cxn modelId="{A1EBA4F3-358E-6A43-8113-84B0A0C9C65A}" type="presOf" srcId="{E24C6EA3-3F21-9D49-B0E9-45F56345143C}" destId="{6FF44C64-1E55-BA40-A27A-3EE5E5204FAE}" srcOrd="0" destOrd="0" presId="urn:microsoft.com/office/officeart/2005/8/layout/cycle2"/>
    <dgm:cxn modelId="{173DFBFF-C400-DC4B-9AB9-3CC0BF80A104}" srcId="{5F91FDA9-BA9A-D040-9AAB-D2BD7E99789F}" destId="{38DD3E39-BC13-5A47-8B07-36342C33082B}" srcOrd="1" destOrd="0" parTransId="{E48C2305-8192-2649-AF87-71F8153B381C}" sibTransId="{E24C6EA3-3F21-9D49-B0E9-45F56345143C}"/>
    <dgm:cxn modelId="{450D7C07-FB4E-2642-A143-4B26214F5194}" type="presParOf" srcId="{8FA9FBDE-B794-4D42-B292-3C752644E97B}" destId="{7E2B9E8A-289A-FC4A-9D1C-6099B4270AD4}" srcOrd="0" destOrd="0" presId="urn:microsoft.com/office/officeart/2005/8/layout/cycle2"/>
    <dgm:cxn modelId="{989AB570-AE10-1D4F-AAD0-085161894FC0}" type="presParOf" srcId="{8FA9FBDE-B794-4D42-B292-3C752644E97B}" destId="{C4F1DD1A-6110-5948-8A46-48F3A7EB0119}" srcOrd="1" destOrd="0" presId="urn:microsoft.com/office/officeart/2005/8/layout/cycle2"/>
    <dgm:cxn modelId="{3C491C25-02FF-0747-A434-6883547A9A9E}" type="presParOf" srcId="{C4F1DD1A-6110-5948-8A46-48F3A7EB0119}" destId="{B121C652-E7FD-7241-A393-9D1B124E819E}" srcOrd="0" destOrd="0" presId="urn:microsoft.com/office/officeart/2005/8/layout/cycle2"/>
    <dgm:cxn modelId="{D4628479-6090-A94B-872C-3FC2907D1ABD}" type="presParOf" srcId="{8FA9FBDE-B794-4D42-B292-3C752644E97B}" destId="{F25307E4-83F1-0E49-A2D0-74F0D5486D93}" srcOrd="2" destOrd="0" presId="urn:microsoft.com/office/officeart/2005/8/layout/cycle2"/>
    <dgm:cxn modelId="{2B547C46-0750-C64B-8AF7-2C5F282C3E3B}" type="presParOf" srcId="{8FA9FBDE-B794-4D42-B292-3C752644E97B}" destId="{6FF44C64-1E55-BA40-A27A-3EE5E5204FAE}" srcOrd="3" destOrd="0" presId="urn:microsoft.com/office/officeart/2005/8/layout/cycle2"/>
    <dgm:cxn modelId="{DC9AEED5-8670-2045-B139-CFA0878D4F12}" type="presParOf" srcId="{6FF44C64-1E55-BA40-A27A-3EE5E5204FAE}" destId="{407A9711-D3A5-4043-921F-5F01D5B7DD9E}" srcOrd="0" destOrd="0" presId="urn:microsoft.com/office/officeart/2005/8/layout/cycle2"/>
    <dgm:cxn modelId="{9225148B-907E-C546-BF94-DED351769B28}" type="presParOf" srcId="{8FA9FBDE-B794-4D42-B292-3C752644E97B}" destId="{EDEE97A7-46D8-494D-8EB6-6269CEBEECEA}" srcOrd="4" destOrd="0" presId="urn:microsoft.com/office/officeart/2005/8/layout/cycle2"/>
    <dgm:cxn modelId="{42256B85-0A5B-8C4A-AC3C-1072ADDB54A2}" type="presParOf" srcId="{8FA9FBDE-B794-4D42-B292-3C752644E97B}" destId="{06A02987-428F-B043-90F8-7AB455F178D5}" srcOrd="5" destOrd="0" presId="urn:microsoft.com/office/officeart/2005/8/layout/cycle2"/>
    <dgm:cxn modelId="{13D60A82-A454-444E-977B-3F31F96E9186}" type="presParOf" srcId="{06A02987-428F-B043-90F8-7AB455F178D5}" destId="{6C086CCC-5EDE-FC45-877F-62C4699DCB57}" srcOrd="0" destOrd="0" presId="urn:microsoft.com/office/officeart/2005/8/layout/cycle2"/>
    <dgm:cxn modelId="{A44279CB-52E6-564B-B8C6-C80FCD38CED2}" type="presParOf" srcId="{8FA9FBDE-B794-4D42-B292-3C752644E97B}" destId="{B20A8CF4-B3E5-A34F-98CC-6B62B629D731}" srcOrd="6" destOrd="0" presId="urn:microsoft.com/office/officeart/2005/8/layout/cycle2"/>
    <dgm:cxn modelId="{098834C9-A848-6A42-9236-E720057341E8}" type="presParOf" srcId="{8FA9FBDE-B794-4D42-B292-3C752644E97B}" destId="{4C77433F-268C-154E-9924-00DD16D26A8C}" srcOrd="7" destOrd="0" presId="urn:microsoft.com/office/officeart/2005/8/layout/cycle2"/>
    <dgm:cxn modelId="{EDF0DE04-D56B-A642-93FC-D6E47AED15B2}" type="presParOf" srcId="{4C77433F-268C-154E-9924-00DD16D26A8C}" destId="{2516F486-DEF9-2C46-96E1-FA2242D5A681}" srcOrd="0" destOrd="0" presId="urn:microsoft.com/office/officeart/2005/8/layout/cycle2"/>
    <dgm:cxn modelId="{43342213-F0D5-F64D-BC9D-38335B09DB76}" type="presParOf" srcId="{8FA9FBDE-B794-4D42-B292-3C752644E97B}" destId="{544EF912-309D-CF4A-9608-975C4FB079F2}" srcOrd="8" destOrd="0" presId="urn:microsoft.com/office/officeart/2005/8/layout/cycle2"/>
    <dgm:cxn modelId="{0F4BD427-31BC-7049-B459-B1797C7669C0}" type="presParOf" srcId="{8FA9FBDE-B794-4D42-B292-3C752644E97B}" destId="{7E244E47-0700-B540-A050-EAE2F8DCA9E2}" srcOrd="9" destOrd="0" presId="urn:microsoft.com/office/officeart/2005/8/layout/cycle2"/>
    <dgm:cxn modelId="{FD71B190-D8C3-BA4B-8CF4-10790618AFE4}" type="presParOf" srcId="{7E244E47-0700-B540-A050-EAE2F8DCA9E2}" destId="{9964D612-DCB9-8E40-A5C4-731958E27051}" srcOrd="0" destOrd="0" presId="urn:microsoft.com/office/officeart/2005/8/layout/cycle2"/>
    <dgm:cxn modelId="{32D16778-C103-3B41-9061-9A5E3D87D18E}" type="presParOf" srcId="{8FA9FBDE-B794-4D42-B292-3C752644E97B}" destId="{9CA3348B-D646-7C4D-9883-DF146CFED2FC}" srcOrd="10" destOrd="0" presId="urn:microsoft.com/office/officeart/2005/8/layout/cycle2"/>
    <dgm:cxn modelId="{0750F4F0-26B1-344E-9E19-C85EEFBA565F}" type="presParOf" srcId="{8FA9FBDE-B794-4D42-B292-3C752644E97B}" destId="{2D9451C7-EEE4-9C4E-91A2-A16E41530D3E}" srcOrd="11" destOrd="0" presId="urn:microsoft.com/office/officeart/2005/8/layout/cycle2"/>
    <dgm:cxn modelId="{9E828E98-C3C4-3F49-BD49-B5A928E4CEE5}" type="presParOf" srcId="{2D9451C7-EEE4-9C4E-91A2-A16E41530D3E}" destId="{C75691DE-57D4-4743-9A85-840E103241B3}" srcOrd="0" destOrd="0" presId="urn:microsoft.com/office/officeart/2005/8/layout/cycle2"/>
    <dgm:cxn modelId="{9F1A6CA9-E1A9-524E-8595-324A018249B4}" type="presParOf" srcId="{8FA9FBDE-B794-4D42-B292-3C752644E97B}" destId="{710A4DE4-97D4-A048-9865-B369579E3DB7}" srcOrd="12" destOrd="0" presId="urn:microsoft.com/office/officeart/2005/8/layout/cycle2"/>
    <dgm:cxn modelId="{184D7EC3-58EC-234E-84A7-6232FB86E0F8}" type="presParOf" srcId="{8FA9FBDE-B794-4D42-B292-3C752644E97B}" destId="{BE2D9569-0E08-4547-B4A0-5EAF9BD63BB9}" srcOrd="13" destOrd="0" presId="urn:microsoft.com/office/officeart/2005/8/layout/cycle2"/>
    <dgm:cxn modelId="{A845F4BD-F9F9-B94F-B342-B69F38B79123}" type="presParOf" srcId="{BE2D9569-0E08-4547-B4A0-5EAF9BD63BB9}" destId="{A34D6DE1-BEBC-3C4E-95CD-914632C6BF7E}" srcOrd="0" destOrd="0" presId="urn:microsoft.com/office/officeart/2005/8/layout/cycle2"/>
    <dgm:cxn modelId="{844541DE-55E2-E046-A292-242B323FF9BA}" type="presParOf" srcId="{8FA9FBDE-B794-4D42-B292-3C752644E97B}" destId="{115B0721-907A-EB48-9924-831289B61667}" srcOrd="14" destOrd="0" presId="urn:microsoft.com/office/officeart/2005/8/layout/cycle2"/>
    <dgm:cxn modelId="{5EC00F97-692C-5F49-8CD4-851E32B372F3}" type="presParOf" srcId="{8FA9FBDE-B794-4D42-B292-3C752644E97B}" destId="{615B01C8-5390-3648-8B6C-360C0C81447F}" srcOrd="15" destOrd="0" presId="urn:microsoft.com/office/officeart/2005/8/layout/cycle2"/>
    <dgm:cxn modelId="{F4E4B084-85F1-D048-8A13-2174E549A7B5}" type="presParOf" srcId="{615B01C8-5390-3648-8B6C-360C0C81447F}" destId="{04A4B89D-75DB-DF4E-825C-EDAAAA76692D}" srcOrd="0" destOrd="0" presId="urn:microsoft.com/office/officeart/2005/8/layout/cycle2"/>
    <dgm:cxn modelId="{ABC87247-3A7B-654E-B00A-809948D523E2}" type="presParOf" srcId="{8FA9FBDE-B794-4D42-B292-3C752644E97B}" destId="{A07AA92D-4511-EE45-B1EC-99D6C368BCD4}" srcOrd="16" destOrd="0" presId="urn:microsoft.com/office/officeart/2005/8/layout/cycle2"/>
    <dgm:cxn modelId="{3340E62F-8B13-0648-B443-C74DB7BC85B4}" type="presParOf" srcId="{8FA9FBDE-B794-4D42-B292-3C752644E97B}" destId="{56639D85-F15B-BE40-9198-10C8C73E727C}" srcOrd="17" destOrd="0" presId="urn:microsoft.com/office/officeart/2005/8/layout/cycle2"/>
    <dgm:cxn modelId="{48AC80B7-03FA-7C4F-AE25-E88F330C3C2C}" type="presParOf" srcId="{56639D85-F15B-BE40-9198-10C8C73E727C}" destId="{0DDEE987-0E7F-374C-95B7-E978D3A36E72}" srcOrd="0" destOrd="0" presId="urn:microsoft.com/office/officeart/2005/8/layout/cycle2"/>
    <dgm:cxn modelId="{2BBBCA5B-0FA9-7844-86DC-91EDCD8BCC91}" type="presParOf" srcId="{8FA9FBDE-B794-4D42-B292-3C752644E97B}" destId="{A68D89D6-7E99-BD41-BE26-159546B7DCF5}" srcOrd="18" destOrd="0" presId="urn:microsoft.com/office/officeart/2005/8/layout/cycle2"/>
    <dgm:cxn modelId="{459F4E4C-6F9C-694C-95AE-7A0144977B58}" type="presParOf" srcId="{8FA9FBDE-B794-4D42-B292-3C752644E97B}" destId="{99B6A552-0F8E-B741-8972-23BCEBB5CB41}" srcOrd="19" destOrd="0" presId="urn:microsoft.com/office/officeart/2005/8/layout/cycle2"/>
    <dgm:cxn modelId="{6E673F65-1EE9-4645-B3B4-D90327D9479D}" type="presParOf" srcId="{99B6A552-0F8E-B741-8972-23BCEBB5CB41}" destId="{4C9752C6-4BDF-7240-92F3-2A3BEAEBE39C}" srcOrd="0" destOrd="0" presId="urn:microsoft.com/office/officeart/2005/8/layout/cycle2"/>
    <dgm:cxn modelId="{E7167CF9-6C65-2749-BB88-F7E99742C25C}" type="presParOf" srcId="{8FA9FBDE-B794-4D42-B292-3C752644E97B}" destId="{7190AA65-739E-F144-805E-EE27D976351B}" srcOrd="20" destOrd="0" presId="urn:microsoft.com/office/officeart/2005/8/layout/cycle2"/>
    <dgm:cxn modelId="{F06C9546-AB2E-2847-A96D-6C8B600BC04A}" type="presParOf" srcId="{8FA9FBDE-B794-4D42-B292-3C752644E97B}" destId="{41A7522E-561B-5A4E-BEB1-3548E845C3BC}" srcOrd="21" destOrd="0" presId="urn:microsoft.com/office/officeart/2005/8/layout/cycle2"/>
    <dgm:cxn modelId="{964C5A40-3F05-EE4D-AE83-AAF0FBA07CE6}" type="presParOf" srcId="{41A7522E-561B-5A4E-BEB1-3548E845C3BC}" destId="{9E181D83-6DAE-CD45-A27B-AB4B3CA4AB5C}"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D4AA0E-DAFB-AD45-9323-1BAE356CA897}">
      <dsp:nvSpPr>
        <dsp:cNvPr id="0" name=""/>
        <dsp:cNvSpPr/>
      </dsp:nvSpPr>
      <dsp:spPr>
        <a:xfrm>
          <a:off x="2831721" y="0"/>
          <a:ext cx="1313289" cy="1222504"/>
        </a:xfrm>
        <a:prstGeom prst="ellipse">
          <a:avLst/>
        </a:prstGeom>
        <a:solidFill>
          <a:srgbClr val="FFFF00"/>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tx1"/>
              </a:solidFill>
            </a:rPr>
            <a:t>1. What managers should know about leadership &amp; management</a:t>
          </a:r>
        </a:p>
      </dsp:txBody>
      <dsp:txXfrm>
        <a:off x="3024048" y="179032"/>
        <a:ext cx="928635" cy="864440"/>
      </dsp:txXfrm>
    </dsp:sp>
    <dsp:sp modelId="{EE751E62-A524-7E47-9948-B31A3E4826EA}">
      <dsp:nvSpPr>
        <dsp:cNvPr id="0" name=""/>
        <dsp:cNvSpPr/>
      </dsp:nvSpPr>
      <dsp:spPr>
        <a:xfrm rot="1800000">
          <a:off x="4130847" y="859739"/>
          <a:ext cx="288737" cy="411603"/>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136650" y="920405"/>
        <a:ext cx="202116" cy="246961"/>
      </dsp:txXfrm>
    </dsp:sp>
    <dsp:sp modelId="{265128F0-2C59-0648-97C7-F952021632DB}">
      <dsp:nvSpPr>
        <dsp:cNvPr id="0" name=""/>
        <dsp:cNvSpPr/>
      </dsp:nvSpPr>
      <dsp:spPr>
        <a:xfrm>
          <a:off x="4419576" y="916749"/>
          <a:ext cx="1313289" cy="1222504"/>
        </a:xfrm>
        <a:prstGeom prst="ellipse">
          <a:avLst/>
        </a:prstGeom>
        <a:solidFill>
          <a:srgbClr val="FFFF00"/>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tx1"/>
              </a:solidFill>
            </a:rPr>
            <a:t>2. What managers should know about themselves</a:t>
          </a:r>
        </a:p>
      </dsp:txBody>
      <dsp:txXfrm>
        <a:off x="4611903" y="1095781"/>
        <a:ext cx="928635" cy="864440"/>
      </dsp:txXfrm>
    </dsp:sp>
    <dsp:sp modelId="{2D5D6023-73AA-614C-9535-4CBDBF25EE5E}">
      <dsp:nvSpPr>
        <dsp:cNvPr id="0" name=""/>
        <dsp:cNvSpPr/>
      </dsp:nvSpPr>
      <dsp:spPr>
        <a:xfrm rot="5400000">
          <a:off x="4914307" y="2229783"/>
          <a:ext cx="323825" cy="411603"/>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962881" y="2263531"/>
        <a:ext cx="226678" cy="246961"/>
      </dsp:txXfrm>
    </dsp:sp>
    <dsp:sp modelId="{E7DCF0A7-A1C2-8542-8D98-B754A4B7E433}">
      <dsp:nvSpPr>
        <dsp:cNvPr id="0" name=""/>
        <dsp:cNvSpPr/>
      </dsp:nvSpPr>
      <dsp:spPr>
        <a:xfrm>
          <a:off x="4419576" y="2750246"/>
          <a:ext cx="1313289" cy="1222504"/>
        </a:xfrm>
        <a:prstGeom prst="ellipse">
          <a:avLst/>
        </a:prstGeom>
        <a:solidFill>
          <a:srgbClr val="FFFF00"/>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tx1"/>
              </a:solidFill>
            </a:rPr>
            <a:t>3. What managers should know about working with others</a:t>
          </a:r>
        </a:p>
      </dsp:txBody>
      <dsp:txXfrm>
        <a:off x="4611903" y="2929278"/>
        <a:ext cx="928635" cy="864440"/>
      </dsp:txXfrm>
    </dsp:sp>
    <dsp:sp modelId="{D9DB4893-35EF-DE46-AD0D-2152D5A30DD0}">
      <dsp:nvSpPr>
        <dsp:cNvPr id="0" name=""/>
        <dsp:cNvSpPr/>
      </dsp:nvSpPr>
      <dsp:spPr>
        <a:xfrm rot="9000000">
          <a:off x="4145001" y="3609985"/>
          <a:ext cx="288737" cy="411603"/>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4225819" y="3670651"/>
        <a:ext cx="202116" cy="246961"/>
      </dsp:txXfrm>
    </dsp:sp>
    <dsp:sp modelId="{D8201945-F95A-224C-828B-CF24DA0538B2}">
      <dsp:nvSpPr>
        <dsp:cNvPr id="0" name=""/>
        <dsp:cNvSpPr/>
      </dsp:nvSpPr>
      <dsp:spPr>
        <a:xfrm>
          <a:off x="2831721" y="3666994"/>
          <a:ext cx="1313289" cy="1222504"/>
        </a:xfrm>
        <a:prstGeom prst="ellipse">
          <a:avLst/>
        </a:prstGeom>
        <a:solidFill>
          <a:srgbClr val="FFFF00"/>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tx1"/>
              </a:solidFill>
            </a:rPr>
            <a:t>4. What managers should know about strengthening their management style</a:t>
          </a:r>
        </a:p>
      </dsp:txBody>
      <dsp:txXfrm>
        <a:off x="3024048" y="3846026"/>
        <a:ext cx="928635" cy="864440"/>
      </dsp:txXfrm>
    </dsp:sp>
    <dsp:sp modelId="{F0488A72-69E8-FC4D-AE96-02C13D18B55E}">
      <dsp:nvSpPr>
        <dsp:cNvPr id="0" name=""/>
        <dsp:cNvSpPr/>
      </dsp:nvSpPr>
      <dsp:spPr>
        <a:xfrm rot="12600000">
          <a:off x="2557147" y="3618156"/>
          <a:ext cx="288737" cy="411603"/>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2637965" y="3722132"/>
        <a:ext cx="202116" cy="246961"/>
      </dsp:txXfrm>
    </dsp:sp>
    <dsp:sp modelId="{F1E5A602-2EC2-B34E-829D-255045B3D8B3}">
      <dsp:nvSpPr>
        <dsp:cNvPr id="0" name=""/>
        <dsp:cNvSpPr/>
      </dsp:nvSpPr>
      <dsp:spPr>
        <a:xfrm>
          <a:off x="1243866" y="2750246"/>
          <a:ext cx="1313289" cy="1222504"/>
        </a:xfrm>
        <a:prstGeom prst="ellipse">
          <a:avLst/>
        </a:prstGeom>
        <a:solidFill>
          <a:srgbClr val="FFFF00"/>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tx1"/>
              </a:solidFill>
            </a:rPr>
            <a:t>5. What managers should know about development of others</a:t>
          </a:r>
        </a:p>
      </dsp:txBody>
      <dsp:txXfrm>
        <a:off x="1436193" y="2929278"/>
        <a:ext cx="928635" cy="864440"/>
      </dsp:txXfrm>
    </dsp:sp>
    <dsp:sp modelId="{4B2CECD9-5B90-9143-A1BC-BF0501F0CD50}">
      <dsp:nvSpPr>
        <dsp:cNvPr id="0" name=""/>
        <dsp:cNvSpPr/>
      </dsp:nvSpPr>
      <dsp:spPr>
        <a:xfrm rot="16200000">
          <a:off x="1738598" y="2248113"/>
          <a:ext cx="323825" cy="411603"/>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1787172" y="2379008"/>
        <a:ext cx="226678" cy="246961"/>
      </dsp:txXfrm>
    </dsp:sp>
    <dsp:sp modelId="{3D62928A-5E89-8342-961B-C500DE9CB0A7}">
      <dsp:nvSpPr>
        <dsp:cNvPr id="0" name=""/>
        <dsp:cNvSpPr/>
      </dsp:nvSpPr>
      <dsp:spPr>
        <a:xfrm>
          <a:off x="1243866" y="916749"/>
          <a:ext cx="1313289" cy="1222504"/>
        </a:xfrm>
        <a:prstGeom prst="ellipse">
          <a:avLst/>
        </a:prstGeom>
        <a:solidFill>
          <a:srgbClr val="FFFF00"/>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tx1"/>
              </a:solidFill>
            </a:rPr>
            <a:t>6. Practical tools for leaders and managers</a:t>
          </a:r>
        </a:p>
      </dsp:txBody>
      <dsp:txXfrm>
        <a:off x="1436193" y="1095781"/>
        <a:ext cx="928635" cy="864440"/>
      </dsp:txXfrm>
    </dsp:sp>
    <dsp:sp modelId="{453A606C-0B65-4F4F-A87F-0376D2F0AF64}">
      <dsp:nvSpPr>
        <dsp:cNvPr id="0" name=""/>
        <dsp:cNvSpPr/>
      </dsp:nvSpPr>
      <dsp:spPr>
        <a:xfrm rot="19800000">
          <a:off x="2542993" y="867911"/>
          <a:ext cx="288737" cy="411603"/>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548796" y="971887"/>
        <a:ext cx="202116" cy="2469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2B9E8A-289A-FC4A-9D1C-6099B4270AD4}">
      <dsp:nvSpPr>
        <dsp:cNvPr id="0" name=""/>
        <dsp:cNvSpPr/>
      </dsp:nvSpPr>
      <dsp:spPr>
        <a:xfrm>
          <a:off x="3744887" y="370"/>
          <a:ext cx="892224" cy="892224"/>
        </a:xfrm>
        <a:prstGeom prst="ellipse">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rPr>
            <a:t>No small talk</a:t>
          </a:r>
        </a:p>
      </dsp:txBody>
      <dsp:txXfrm>
        <a:off x="3875550" y="131033"/>
        <a:ext cx="630898" cy="630898"/>
      </dsp:txXfrm>
    </dsp:sp>
    <dsp:sp modelId="{C4F1DD1A-6110-5948-8A46-48F3A7EB0119}">
      <dsp:nvSpPr>
        <dsp:cNvPr id="0" name=""/>
        <dsp:cNvSpPr/>
      </dsp:nvSpPr>
      <dsp:spPr>
        <a:xfrm rot="981818">
          <a:off x="4708581" y="482669"/>
          <a:ext cx="236861" cy="301125"/>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4710020" y="532884"/>
        <a:ext cx="165803" cy="180675"/>
      </dsp:txXfrm>
    </dsp:sp>
    <dsp:sp modelId="{F25307E4-83F1-0E49-A2D0-74F0D5486D93}">
      <dsp:nvSpPr>
        <dsp:cNvPr id="0" name=""/>
        <dsp:cNvSpPr/>
      </dsp:nvSpPr>
      <dsp:spPr>
        <a:xfrm>
          <a:off x="5029775" y="377647"/>
          <a:ext cx="892224" cy="892224"/>
        </a:xfrm>
        <a:prstGeom prst="ellipse">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tx1"/>
              </a:solidFill>
            </a:rPr>
            <a:t>Begin at the end - purpose</a:t>
          </a:r>
        </a:p>
      </dsp:txBody>
      <dsp:txXfrm>
        <a:off x="5160438" y="508310"/>
        <a:ext cx="630898" cy="630898"/>
      </dsp:txXfrm>
    </dsp:sp>
    <dsp:sp modelId="{6FF44C64-1E55-BA40-A27A-3EE5E5204FAE}">
      <dsp:nvSpPr>
        <dsp:cNvPr id="0" name=""/>
        <dsp:cNvSpPr/>
      </dsp:nvSpPr>
      <dsp:spPr>
        <a:xfrm rot="2945455">
          <a:off x="5791540" y="1174154"/>
          <a:ext cx="236861" cy="301125"/>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5803802" y="1207528"/>
        <a:ext cx="165803" cy="180675"/>
      </dsp:txXfrm>
    </dsp:sp>
    <dsp:sp modelId="{EDEE97A7-46D8-494D-8EB6-6269CEBEECEA}">
      <dsp:nvSpPr>
        <dsp:cNvPr id="0" name=""/>
        <dsp:cNvSpPr/>
      </dsp:nvSpPr>
      <dsp:spPr>
        <a:xfrm>
          <a:off x="5906720" y="1389696"/>
          <a:ext cx="892224" cy="892224"/>
        </a:xfrm>
        <a:prstGeom prst="ellipse">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chemeClr val="tx1"/>
              </a:solidFill>
            </a:rPr>
            <a:t>Present:</a:t>
          </a:r>
        </a:p>
        <a:p>
          <a:pPr marL="0" lvl="0" indent="0" algn="ctr" defTabSz="355600">
            <a:lnSpc>
              <a:spcPct val="90000"/>
            </a:lnSpc>
            <a:spcBef>
              <a:spcPct val="0"/>
            </a:spcBef>
            <a:spcAft>
              <a:spcPct val="35000"/>
            </a:spcAft>
            <a:buNone/>
          </a:pPr>
          <a:r>
            <a:rPr lang="en-US" sz="800" kern="1200" dirty="0">
              <a:solidFill>
                <a:schemeClr val="tx1"/>
              </a:solidFill>
            </a:rPr>
            <a:t>Goals</a:t>
          </a:r>
        </a:p>
        <a:p>
          <a:pPr marL="0" lvl="0" indent="0" algn="ctr" defTabSz="355600">
            <a:lnSpc>
              <a:spcPct val="90000"/>
            </a:lnSpc>
            <a:spcBef>
              <a:spcPct val="0"/>
            </a:spcBef>
            <a:spcAft>
              <a:spcPct val="35000"/>
            </a:spcAft>
            <a:buNone/>
          </a:pPr>
          <a:r>
            <a:rPr lang="en-US" sz="800" kern="1200" dirty="0">
              <a:solidFill>
                <a:schemeClr val="tx1"/>
              </a:solidFill>
            </a:rPr>
            <a:t>Deliverables</a:t>
          </a:r>
        </a:p>
        <a:p>
          <a:pPr marL="0" lvl="0" indent="0" algn="ctr" defTabSz="355600">
            <a:lnSpc>
              <a:spcPct val="90000"/>
            </a:lnSpc>
            <a:spcBef>
              <a:spcPct val="0"/>
            </a:spcBef>
            <a:spcAft>
              <a:spcPct val="35000"/>
            </a:spcAft>
            <a:buNone/>
          </a:pPr>
          <a:r>
            <a:rPr lang="en-US" sz="800" kern="1200" dirty="0">
              <a:solidFill>
                <a:schemeClr val="tx1"/>
              </a:solidFill>
            </a:rPr>
            <a:t>Timelines</a:t>
          </a:r>
        </a:p>
        <a:p>
          <a:pPr marL="0" lvl="0" indent="0" algn="ctr" defTabSz="355600">
            <a:lnSpc>
              <a:spcPct val="90000"/>
            </a:lnSpc>
            <a:spcBef>
              <a:spcPct val="0"/>
            </a:spcBef>
            <a:spcAft>
              <a:spcPct val="35000"/>
            </a:spcAft>
            <a:buNone/>
          </a:pPr>
          <a:r>
            <a:rPr lang="en-US" sz="800" kern="1200" dirty="0">
              <a:solidFill>
                <a:srgbClr val="FF0000"/>
              </a:solidFill>
            </a:rPr>
            <a:t>Urgency</a:t>
          </a:r>
        </a:p>
      </dsp:txBody>
      <dsp:txXfrm>
        <a:off x="6037383" y="1520359"/>
        <a:ext cx="630898" cy="630898"/>
      </dsp:txXfrm>
    </dsp:sp>
    <dsp:sp modelId="{06A02987-428F-B043-90F8-7AB455F178D5}">
      <dsp:nvSpPr>
        <dsp:cNvPr id="0" name=""/>
        <dsp:cNvSpPr/>
      </dsp:nvSpPr>
      <dsp:spPr>
        <a:xfrm rot="4909091">
          <a:off x="6328737" y="2341361"/>
          <a:ext cx="236861" cy="301125"/>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6359210" y="2366419"/>
        <a:ext cx="165803" cy="180675"/>
      </dsp:txXfrm>
    </dsp:sp>
    <dsp:sp modelId="{B20A8CF4-B3E5-A34F-98CC-6B62B629D731}">
      <dsp:nvSpPr>
        <dsp:cNvPr id="0" name=""/>
        <dsp:cNvSpPr/>
      </dsp:nvSpPr>
      <dsp:spPr>
        <a:xfrm>
          <a:off x="6097299" y="2715197"/>
          <a:ext cx="892224" cy="892224"/>
        </a:xfrm>
        <a:prstGeom prst="ellipse">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tx1"/>
              </a:solidFill>
            </a:rPr>
            <a:t>Go over info you sent. Not read</a:t>
          </a:r>
        </a:p>
      </dsp:txBody>
      <dsp:txXfrm>
        <a:off x="6227962" y="2845860"/>
        <a:ext cx="630898" cy="630898"/>
      </dsp:txXfrm>
    </dsp:sp>
    <dsp:sp modelId="{4C77433F-268C-154E-9924-00DD16D26A8C}">
      <dsp:nvSpPr>
        <dsp:cNvPr id="0" name=""/>
        <dsp:cNvSpPr/>
      </dsp:nvSpPr>
      <dsp:spPr>
        <a:xfrm rot="6872727">
          <a:off x="6149618" y="3613708"/>
          <a:ext cx="236861" cy="301125"/>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6199906" y="3641615"/>
        <a:ext cx="165803" cy="180675"/>
      </dsp:txXfrm>
    </dsp:sp>
    <dsp:sp modelId="{544EF912-309D-CF4A-9608-975C4FB079F2}">
      <dsp:nvSpPr>
        <dsp:cNvPr id="0" name=""/>
        <dsp:cNvSpPr/>
      </dsp:nvSpPr>
      <dsp:spPr>
        <a:xfrm>
          <a:off x="5541003" y="3933315"/>
          <a:ext cx="892224" cy="892224"/>
        </a:xfrm>
        <a:prstGeom prst="ellipse">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rPr>
            <a:t>Move, speak &amp; act rapidly</a:t>
          </a:r>
        </a:p>
      </dsp:txBody>
      <dsp:txXfrm>
        <a:off x="5671666" y="4063978"/>
        <a:ext cx="630898" cy="630898"/>
      </dsp:txXfrm>
    </dsp:sp>
    <dsp:sp modelId="{7E244E47-0700-B540-A050-EAE2F8DCA9E2}">
      <dsp:nvSpPr>
        <dsp:cNvPr id="0" name=""/>
        <dsp:cNvSpPr/>
      </dsp:nvSpPr>
      <dsp:spPr>
        <a:xfrm rot="8836364">
          <a:off x="5311049" y="4587235"/>
          <a:ext cx="236861" cy="301125"/>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5376467" y="4628252"/>
        <a:ext cx="165803" cy="180675"/>
      </dsp:txXfrm>
    </dsp:sp>
    <dsp:sp modelId="{9CA3348B-D646-7C4D-9883-DF146CFED2FC}">
      <dsp:nvSpPr>
        <dsp:cNvPr id="0" name=""/>
        <dsp:cNvSpPr/>
      </dsp:nvSpPr>
      <dsp:spPr>
        <a:xfrm>
          <a:off x="4414453" y="4657305"/>
          <a:ext cx="892224" cy="892224"/>
        </a:xfrm>
        <a:prstGeom prst="ellipse">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tx1"/>
              </a:solidFill>
            </a:rPr>
            <a:t>Be</a:t>
          </a:r>
          <a:r>
            <a:rPr lang="en-US" sz="1200" kern="1200" dirty="0">
              <a:solidFill>
                <a:schemeClr val="tx1"/>
              </a:solidFill>
            </a:rPr>
            <a:t> </a:t>
          </a:r>
          <a:r>
            <a:rPr lang="en-US" sz="1100" kern="1200" dirty="0">
              <a:solidFill>
                <a:schemeClr val="tx1"/>
              </a:solidFill>
            </a:rPr>
            <a:t>precise &amp; literal in language</a:t>
          </a:r>
        </a:p>
      </dsp:txBody>
      <dsp:txXfrm>
        <a:off x="4545116" y="4787968"/>
        <a:ext cx="630898" cy="630898"/>
      </dsp:txXfrm>
    </dsp:sp>
    <dsp:sp modelId="{2D9451C7-EEE4-9C4E-91A2-A16E41530D3E}">
      <dsp:nvSpPr>
        <dsp:cNvPr id="0" name=""/>
        <dsp:cNvSpPr/>
      </dsp:nvSpPr>
      <dsp:spPr>
        <a:xfrm rot="10800000">
          <a:off x="4079273" y="4952854"/>
          <a:ext cx="236861" cy="301125"/>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4150331" y="5013079"/>
        <a:ext cx="165803" cy="180675"/>
      </dsp:txXfrm>
    </dsp:sp>
    <dsp:sp modelId="{710A4DE4-97D4-A048-9865-B369579E3DB7}">
      <dsp:nvSpPr>
        <dsp:cNvPr id="0" name=""/>
        <dsp:cNvSpPr/>
      </dsp:nvSpPr>
      <dsp:spPr>
        <a:xfrm>
          <a:off x="3075321" y="4657305"/>
          <a:ext cx="892224" cy="892224"/>
        </a:xfrm>
        <a:prstGeom prst="ellipse">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tx1"/>
              </a:solidFill>
            </a:rPr>
            <a:t>Share expected results</a:t>
          </a:r>
        </a:p>
      </dsp:txBody>
      <dsp:txXfrm>
        <a:off x="3205984" y="4787968"/>
        <a:ext cx="630898" cy="630898"/>
      </dsp:txXfrm>
    </dsp:sp>
    <dsp:sp modelId="{BE2D9569-0E08-4547-B4A0-5EAF9BD63BB9}">
      <dsp:nvSpPr>
        <dsp:cNvPr id="0" name=""/>
        <dsp:cNvSpPr/>
      </dsp:nvSpPr>
      <dsp:spPr>
        <a:xfrm rot="12763636">
          <a:off x="2845367" y="4594484"/>
          <a:ext cx="236861" cy="301125"/>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2910785" y="4673917"/>
        <a:ext cx="165803" cy="180675"/>
      </dsp:txXfrm>
    </dsp:sp>
    <dsp:sp modelId="{115B0721-907A-EB48-9924-831289B61667}">
      <dsp:nvSpPr>
        <dsp:cNvPr id="0" name=""/>
        <dsp:cNvSpPr/>
      </dsp:nvSpPr>
      <dsp:spPr>
        <a:xfrm>
          <a:off x="1948771" y="3933315"/>
          <a:ext cx="892224" cy="892224"/>
        </a:xfrm>
        <a:prstGeom prst="ellipse">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rPr>
            <a:t>Use; who, what, when, where &amp; how</a:t>
          </a:r>
        </a:p>
      </dsp:txBody>
      <dsp:txXfrm>
        <a:off x="2079434" y="4063978"/>
        <a:ext cx="630898" cy="630898"/>
      </dsp:txXfrm>
    </dsp:sp>
    <dsp:sp modelId="{615B01C8-5390-3648-8B6C-360C0C81447F}">
      <dsp:nvSpPr>
        <dsp:cNvPr id="0" name=""/>
        <dsp:cNvSpPr/>
      </dsp:nvSpPr>
      <dsp:spPr>
        <a:xfrm rot="14727273">
          <a:off x="2001090" y="3625903"/>
          <a:ext cx="236861" cy="301125"/>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2051378" y="3718446"/>
        <a:ext cx="165803" cy="180675"/>
      </dsp:txXfrm>
    </dsp:sp>
    <dsp:sp modelId="{A07AA92D-4511-EE45-B1EC-99D6C368BCD4}">
      <dsp:nvSpPr>
        <dsp:cNvPr id="0" name=""/>
        <dsp:cNvSpPr/>
      </dsp:nvSpPr>
      <dsp:spPr>
        <a:xfrm>
          <a:off x="1392476" y="2715197"/>
          <a:ext cx="892224" cy="892224"/>
        </a:xfrm>
        <a:prstGeom prst="ellipse">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tx1"/>
              </a:solidFill>
            </a:rPr>
            <a:t>Praise their efforts</a:t>
          </a:r>
        </a:p>
      </dsp:txBody>
      <dsp:txXfrm>
        <a:off x="1523139" y="2845860"/>
        <a:ext cx="630898" cy="630898"/>
      </dsp:txXfrm>
    </dsp:sp>
    <dsp:sp modelId="{56639D85-F15B-BE40-9198-10C8C73E727C}">
      <dsp:nvSpPr>
        <dsp:cNvPr id="0" name=""/>
        <dsp:cNvSpPr/>
      </dsp:nvSpPr>
      <dsp:spPr>
        <a:xfrm rot="16690909">
          <a:off x="1820471" y="2369277"/>
          <a:ext cx="220692" cy="301125"/>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1848864" y="2462269"/>
        <a:ext cx="154484" cy="180675"/>
      </dsp:txXfrm>
    </dsp:sp>
    <dsp:sp modelId="{A68D89D6-7E99-BD41-BE26-159546B7DCF5}">
      <dsp:nvSpPr>
        <dsp:cNvPr id="0" name=""/>
        <dsp:cNvSpPr/>
      </dsp:nvSpPr>
      <dsp:spPr>
        <a:xfrm>
          <a:off x="1533924" y="1359552"/>
          <a:ext cx="990485" cy="952512"/>
        </a:xfrm>
        <a:prstGeom prst="ellipse">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Reward for performance</a:t>
          </a:r>
        </a:p>
      </dsp:txBody>
      <dsp:txXfrm>
        <a:off x="1678977" y="1499044"/>
        <a:ext cx="700379" cy="673528"/>
      </dsp:txXfrm>
    </dsp:sp>
    <dsp:sp modelId="{99B6A552-0F8E-B741-8972-23BCEBB5CB41}">
      <dsp:nvSpPr>
        <dsp:cNvPr id="0" name=""/>
        <dsp:cNvSpPr/>
      </dsp:nvSpPr>
      <dsp:spPr>
        <a:xfrm rot="18654545">
          <a:off x="2367713" y="1169491"/>
          <a:ext cx="216713" cy="301125"/>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378932" y="1254283"/>
        <a:ext cx="151699" cy="180675"/>
      </dsp:txXfrm>
    </dsp:sp>
    <dsp:sp modelId="{7190AA65-739E-F144-805E-EE27D976351B}">
      <dsp:nvSpPr>
        <dsp:cNvPr id="0" name=""/>
        <dsp:cNvSpPr/>
      </dsp:nvSpPr>
      <dsp:spPr>
        <a:xfrm>
          <a:off x="2459999" y="377647"/>
          <a:ext cx="892224" cy="892224"/>
        </a:xfrm>
        <a:prstGeom prst="ellipse">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0" kern="1200" dirty="0">
              <a:solidFill>
                <a:schemeClr val="tx1"/>
              </a:solidFill>
            </a:rPr>
            <a:t>Be good to your word!</a:t>
          </a:r>
        </a:p>
      </dsp:txBody>
      <dsp:txXfrm>
        <a:off x="2590662" y="508310"/>
        <a:ext cx="630898" cy="630898"/>
      </dsp:txXfrm>
    </dsp:sp>
    <dsp:sp modelId="{41A7522E-561B-5A4E-BEB1-3548E845C3BC}">
      <dsp:nvSpPr>
        <dsp:cNvPr id="0" name=""/>
        <dsp:cNvSpPr/>
      </dsp:nvSpPr>
      <dsp:spPr>
        <a:xfrm rot="20618182">
          <a:off x="3423693" y="486446"/>
          <a:ext cx="236861" cy="301125"/>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425132" y="556681"/>
        <a:ext cx="165803" cy="1806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2B9E8A-289A-FC4A-9D1C-6099B4270AD4}">
      <dsp:nvSpPr>
        <dsp:cNvPr id="0" name=""/>
        <dsp:cNvSpPr/>
      </dsp:nvSpPr>
      <dsp:spPr>
        <a:xfrm>
          <a:off x="3066803" y="85432"/>
          <a:ext cx="1325893"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Begin with detailed plan </a:t>
          </a:r>
        </a:p>
      </dsp:txBody>
      <dsp:txXfrm>
        <a:off x="3066803" y="85432"/>
        <a:ext cx="1325893" cy="891291"/>
      </dsp:txXfrm>
    </dsp:sp>
    <dsp:sp modelId="{C4F1DD1A-6110-5948-8A46-48F3A7EB0119}">
      <dsp:nvSpPr>
        <dsp:cNvPr id="0" name=""/>
        <dsp:cNvSpPr/>
      </dsp:nvSpPr>
      <dsp:spPr>
        <a:xfrm rot="21473900">
          <a:off x="4585042" y="340727"/>
          <a:ext cx="466444"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585072" y="402544"/>
        <a:ext cx="376201" cy="180486"/>
      </dsp:txXfrm>
    </dsp:sp>
    <dsp:sp modelId="{F25307E4-83F1-0E49-A2D0-74F0D5486D93}">
      <dsp:nvSpPr>
        <dsp:cNvPr id="0" name=""/>
        <dsp:cNvSpPr/>
      </dsp:nvSpPr>
      <dsp:spPr>
        <a:xfrm>
          <a:off x="5269547" y="0"/>
          <a:ext cx="1576462"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Provide ways to minimize risk</a:t>
          </a:r>
        </a:p>
      </dsp:txBody>
      <dsp:txXfrm>
        <a:off x="5269547" y="0"/>
        <a:ext cx="1576462" cy="891291"/>
      </dsp:txXfrm>
    </dsp:sp>
    <dsp:sp modelId="{6FF44C64-1E55-BA40-A27A-3EE5E5204FAE}">
      <dsp:nvSpPr>
        <dsp:cNvPr id="0" name=""/>
        <dsp:cNvSpPr/>
      </dsp:nvSpPr>
      <dsp:spPr>
        <a:xfrm rot="289384">
          <a:off x="7011142" y="393483"/>
          <a:ext cx="421914"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7011302" y="449851"/>
        <a:ext cx="331671" cy="180486"/>
      </dsp:txXfrm>
    </dsp:sp>
    <dsp:sp modelId="{EDEE97A7-46D8-494D-8EB6-6269CEBEECEA}">
      <dsp:nvSpPr>
        <dsp:cNvPr id="0" name=""/>
        <dsp:cNvSpPr/>
      </dsp:nvSpPr>
      <dsp:spPr>
        <a:xfrm>
          <a:off x="7624341" y="15480"/>
          <a:ext cx="1797591" cy="1276373"/>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Show previous success. It has been done before</a:t>
          </a:r>
          <a:endParaRPr lang="en-US" sz="2000" kern="1200" dirty="0">
            <a:solidFill>
              <a:srgbClr val="FF0000"/>
            </a:solidFill>
          </a:endParaRPr>
        </a:p>
      </dsp:txBody>
      <dsp:txXfrm>
        <a:off x="7624341" y="15480"/>
        <a:ext cx="1797591" cy="1276373"/>
      </dsp:txXfrm>
    </dsp:sp>
    <dsp:sp modelId="{06A02987-428F-B043-90F8-7AB455F178D5}">
      <dsp:nvSpPr>
        <dsp:cNvPr id="0" name=""/>
        <dsp:cNvSpPr/>
      </dsp:nvSpPr>
      <dsp:spPr>
        <a:xfrm rot="3154106">
          <a:off x="8973341" y="1335598"/>
          <a:ext cx="373783"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991037" y="1359930"/>
        <a:ext cx="283540" cy="180486"/>
      </dsp:txXfrm>
    </dsp:sp>
    <dsp:sp modelId="{B20A8CF4-B3E5-A34F-98CC-6B62B629D731}">
      <dsp:nvSpPr>
        <dsp:cNvPr id="0" name=""/>
        <dsp:cNvSpPr/>
      </dsp:nvSpPr>
      <dsp:spPr>
        <a:xfrm>
          <a:off x="8731059" y="1749264"/>
          <a:ext cx="1943585"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Send out detail ahead of time</a:t>
          </a:r>
        </a:p>
      </dsp:txBody>
      <dsp:txXfrm>
        <a:off x="8731059" y="1749264"/>
        <a:ext cx="1943585" cy="891291"/>
      </dsp:txXfrm>
    </dsp:sp>
    <dsp:sp modelId="{4C77433F-268C-154E-9924-00DD16D26A8C}">
      <dsp:nvSpPr>
        <dsp:cNvPr id="0" name=""/>
        <dsp:cNvSpPr/>
      </dsp:nvSpPr>
      <dsp:spPr>
        <a:xfrm rot="6060183">
          <a:off x="9439574" y="2724017"/>
          <a:ext cx="262312"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9486431" y="2745555"/>
        <a:ext cx="183618" cy="180486"/>
      </dsp:txXfrm>
    </dsp:sp>
    <dsp:sp modelId="{544EF912-309D-CF4A-9608-975C4FB079F2}">
      <dsp:nvSpPr>
        <dsp:cNvPr id="0" name=""/>
        <dsp:cNvSpPr/>
      </dsp:nvSpPr>
      <dsp:spPr>
        <a:xfrm>
          <a:off x="8502921" y="3122716"/>
          <a:ext cx="1865766"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Speak slowly &amp; w/o emotion</a:t>
          </a:r>
        </a:p>
      </dsp:txBody>
      <dsp:txXfrm>
        <a:off x="8502921" y="3122716"/>
        <a:ext cx="1865766" cy="891291"/>
      </dsp:txXfrm>
    </dsp:sp>
    <dsp:sp modelId="{7E244E47-0700-B540-A050-EAE2F8DCA9E2}">
      <dsp:nvSpPr>
        <dsp:cNvPr id="0" name=""/>
        <dsp:cNvSpPr/>
      </dsp:nvSpPr>
      <dsp:spPr>
        <a:xfrm rot="7834021">
          <a:off x="8746784" y="4043652"/>
          <a:ext cx="306715"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8821250" y="4069538"/>
        <a:ext cx="216472" cy="180486"/>
      </dsp:txXfrm>
    </dsp:sp>
    <dsp:sp modelId="{9CA3348B-D646-7C4D-9883-DF146CFED2FC}">
      <dsp:nvSpPr>
        <dsp:cNvPr id="0" name=""/>
        <dsp:cNvSpPr/>
      </dsp:nvSpPr>
      <dsp:spPr>
        <a:xfrm>
          <a:off x="7494570" y="4382391"/>
          <a:ext cx="1725637"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Use plain factual language</a:t>
          </a:r>
        </a:p>
      </dsp:txBody>
      <dsp:txXfrm>
        <a:off x="7494570" y="4382391"/>
        <a:ext cx="1725637" cy="891291"/>
      </dsp:txXfrm>
    </dsp:sp>
    <dsp:sp modelId="{2D9451C7-EEE4-9C4E-91A2-A16E41530D3E}">
      <dsp:nvSpPr>
        <dsp:cNvPr id="0" name=""/>
        <dsp:cNvSpPr/>
      </dsp:nvSpPr>
      <dsp:spPr>
        <a:xfrm rot="10522254">
          <a:off x="7170929" y="4764121"/>
          <a:ext cx="236561"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7241781" y="4821419"/>
        <a:ext cx="165593" cy="180486"/>
      </dsp:txXfrm>
    </dsp:sp>
    <dsp:sp modelId="{710A4DE4-97D4-A048-9865-B369579E3DB7}">
      <dsp:nvSpPr>
        <dsp:cNvPr id="0" name=""/>
        <dsp:cNvSpPr/>
      </dsp:nvSpPr>
      <dsp:spPr>
        <a:xfrm>
          <a:off x="5059408" y="4567760"/>
          <a:ext cx="2017205"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Write down their questions</a:t>
          </a:r>
        </a:p>
        <a:p>
          <a:pPr marL="0" lvl="0" indent="0" algn="ctr" defTabSz="889000">
            <a:lnSpc>
              <a:spcPct val="90000"/>
            </a:lnSpc>
            <a:spcBef>
              <a:spcPct val="0"/>
            </a:spcBef>
            <a:spcAft>
              <a:spcPct val="35000"/>
            </a:spcAft>
            <a:buNone/>
          </a:pPr>
          <a:r>
            <a:rPr lang="en-US" sz="2000" kern="1200" dirty="0">
              <a:solidFill>
                <a:schemeClr val="tx1"/>
              </a:solidFill>
            </a:rPr>
            <a:t>objections</a:t>
          </a:r>
        </a:p>
      </dsp:txBody>
      <dsp:txXfrm>
        <a:off x="5059408" y="4567760"/>
        <a:ext cx="2017205" cy="891291"/>
      </dsp:txXfrm>
    </dsp:sp>
    <dsp:sp modelId="{BE2D9569-0E08-4547-B4A0-5EAF9BD63BB9}">
      <dsp:nvSpPr>
        <dsp:cNvPr id="0" name=""/>
        <dsp:cNvSpPr/>
      </dsp:nvSpPr>
      <dsp:spPr>
        <a:xfrm rot="10810633">
          <a:off x="4538015" y="4858838"/>
          <a:ext cx="368469"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4628258" y="4919140"/>
        <a:ext cx="278226" cy="180486"/>
      </dsp:txXfrm>
    </dsp:sp>
    <dsp:sp modelId="{115B0721-907A-EB48-9924-831289B61667}">
      <dsp:nvSpPr>
        <dsp:cNvPr id="0" name=""/>
        <dsp:cNvSpPr/>
      </dsp:nvSpPr>
      <dsp:spPr>
        <a:xfrm>
          <a:off x="2313545" y="4559319"/>
          <a:ext cx="2050691"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STOP &amp; FIX what appears to be missing</a:t>
          </a:r>
        </a:p>
      </dsp:txBody>
      <dsp:txXfrm>
        <a:off x="2313545" y="4559319"/>
        <a:ext cx="2050691" cy="891291"/>
      </dsp:txXfrm>
    </dsp:sp>
    <dsp:sp modelId="{615B01C8-5390-3648-8B6C-360C0C81447F}">
      <dsp:nvSpPr>
        <dsp:cNvPr id="0" name=""/>
        <dsp:cNvSpPr/>
      </dsp:nvSpPr>
      <dsp:spPr>
        <a:xfrm rot="11762799">
          <a:off x="1922215" y="4505636"/>
          <a:ext cx="407129"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2010700" y="4578270"/>
        <a:ext cx="316886" cy="180486"/>
      </dsp:txXfrm>
    </dsp:sp>
    <dsp:sp modelId="{A07AA92D-4511-EE45-B1EC-99D6C368BCD4}">
      <dsp:nvSpPr>
        <dsp:cNvPr id="0" name=""/>
        <dsp:cNvSpPr/>
      </dsp:nvSpPr>
      <dsp:spPr>
        <a:xfrm>
          <a:off x="0" y="3869674"/>
          <a:ext cx="1882371"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Don’t push for rapid decisions</a:t>
          </a:r>
        </a:p>
      </dsp:txBody>
      <dsp:txXfrm>
        <a:off x="0" y="3869674"/>
        <a:ext cx="1882371" cy="891291"/>
      </dsp:txXfrm>
    </dsp:sp>
    <dsp:sp modelId="{56639D85-F15B-BE40-9198-10C8C73E727C}">
      <dsp:nvSpPr>
        <dsp:cNvPr id="0" name=""/>
        <dsp:cNvSpPr/>
      </dsp:nvSpPr>
      <dsp:spPr>
        <a:xfrm rot="16480758">
          <a:off x="863803" y="3475522"/>
          <a:ext cx="267619"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900671" y="3575693"/>
        <a:ext cx="187333" cy="180486"/>
      </dsp:txXfrm>
    </dsp:sp>
    <dsp:sp modelId="{A68D89D6-7E99-BD41-BE26-159546B7DCF5}">
      <dsp:nvSpPr>
        <dsp:cNvPr id="0" name=""/>
        <dsp:cNvSpPr/>
      </dsp:nvSpPr>
      <dsp:spPr>
        <a:xfrm>
          <a:off x="4" y="2750262"/>
          <a:ext cx="2088099" cy="616577"/>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Reward with stability, security</a:t>
          </a:r>
        </a:p>
      </dsp:txBody>
      <dsp:txXfrm>
        <a:off x="4" y="2750262"/>
        <a:ext cx="2088099" cy="616577"/>
      </dsp:txXfrm>
    </dsp:sp>
    <dsp:sp modelId="{99B6A552-0F8E-B741-8972-23BCEBB5CB41}">
      <dsp:nvSpPr>
        <dsp:cNvPr id="0" name=""/>
        <dsp:cNvSpPr/>
      </dsp:nvSpPr>
      <dsp:spPr>
        <a:xfrm rot="16754016">
          <a:off x="984533" y="2319954"/>
          <a:ext cx="310280"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022414" y="2424653"/>
        <a:ext cx="220037" cy="180486"/>
      </dsp:txXfrm>
    </dsp:sp>
    <dsp:sp modelId="{7190AA65-739E-F144-805E-EE27D976351B}">
      <dsp:nvSpPr>
        <dsp:cNvPr id="0" name=""/>
        <dsp:cNvSpPr/>
      </dsp:nvSpPr>
      <dsp:spPr>
        <a:xfrm>
          <a:off x="384082" y="1282992"/>
          <a:ext cx="1752340"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rPr>
            <a:t>Do exactly what you said you would do</a:t>
          </a:r>
        </a:p>
      </dsp:txBody>
      <dsp:txXfrm>
        <a:off x="384082" y="1282992"/>
        <a:ext cx="1752340" cy="891291"/>
      </dsp:txXfrm>
    </dsp:sp>
    <dsp:sp modelId="{41A7522E-561B-5A4E-BEB1-3548E845C3BC}">
      <dsp:nvSpPr>
        <dsp:cNvPr id="0" name=""/>
        <dsp:cNvSpPr/>
      </dsp:nvSpPr>
      <dsp:spPr>
        <a:xfrm rot="20047762">
          <a:off x="2141583" y="965496"/>
          <a:ext cx="764394"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2146105" y="1045346"/>
        <a:ext cx="674151" cy="1804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2B9E8A-289A-FC4A-9D1C-6099B4270AD4}">
      <dsp:nvSpPr>
        <dsp:cNvPr id="0" name=""/>
        <dsp:cNvSpPr/>
      </dsp:nvSpPr>
      <dsp:spPr>
        <a:xfrm>
          <a:off x="3072964" y="85432"/>
          <a:ext cx="1325893"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Start with the Big Picture</a:t>
          </a:r>
        </a:p>
      </dsp:txBody>
      <dsp:txXfrm>
        <a:off x="3072964" y="85432"/>
        <a:ext cx="1325893" cy="891291"/>
      </dsp:txXfrm>
    </dsp:sp>
    <dsp:sp modelId="{C4F1DD1A-6110-5948-8A46-48F3A7EB0119}">
      <dsp:nvSpPr>
        <dsp:cNvPr id="0" name=""/>
        <dsp:cNvSpPr/>
      </dsp:nvSpPr>
      <dsp:spPr>
        <a:xfrm rot="21473900">
          <a:off x="4591203" y="340727"/>
          <a:ext cx="466444"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591233" y="402544"/>
        <a:ext cx="376201" cy="180486"/>
      </dsp:txXfrm>
    </dsp:sp>
    <dsp:sp modelId="{F25307E4-83F1-0E49-A2D0-74F0D5486D93}">
      <dsp:nvSpPr>
        <dsp:cNvPr id="0" name=""/>
        <dsp:cNvSpPr/>
      </dsp:nvSpPr>
      <dsp:spPr>
        <a:xfrm>
          <a:off x="5275708" y="0"/>
          <a:ext cx="1576462"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No details unless asked</a:t>
          </a:r>
        </a:p>
      </dsp:txBody>
      <dsp:txXfrm>
        <a:off x="5275708" y="0"/>
        <a:ext cx="1576462" cy="891291"/>
      </dsp:txXfrm>
    </dsp:sp>
    <dsp:sp modelId="{6FF44C64-1E55-BA40-A27A-3EE5E5204FAE}">
      <dsp:nvSpPr>
        <dsp:cNvPr id="0" name=""/>
        <dsp:cNvSpPr/>
      </dsp:nvSpPr>
      <dsp:spPr>
        <a:xfrm rot="289384">
          <a:off x="7018796" y="393761"/>
          <a:ext cx="425538"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7018956" y="450129"/>
        <a:ext cx="335295" cy="180486"/>
      </dsp:txXfrm>
    </dsp:sp>
    <dsp:sp modelId="{EDEE97A7-46D8-494D-8EB6-6269CEBEECEA}">
      <dsp:nvSpPr>
        <dsp:cNvPr id="0" name=""/>
        <dsp:cNvSpPr/>
      </dsp:nvSpPr>
      <dsp:spPr>
        <a:xfrm>
          <a:off x="7630502" y="214225"/>
          <a:ext cx="1797591" cy="878884"/>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Give options - not just your idea</a:t>
          </a:r>
          <a:endParaRPr lang="en-US" sz="2000" kern="1200" dirty="0">
            <a:solidFill>
              <a:srgbClr val="FF0000"/>
            </a:solidFill>
          </a:endParaRPr>
        </a:p>
      </dsp:txBody>
      <dsp:txXfrm>
        <a:off x="7630502" y="214225"/>
        <a:ext cx="1797591" cy="878884"/>
      </dsp:txXfrm>
    </dsp:sp>
    <dsp:sp modelId="{06A02987-428F-B043-90F8-7AB455F178D5}">
      <dsp:nvSpPr>
        <dsp:cNvPr id="0" name=""/>
        <dsp:cNvSpPr/>
      </dsp:nvSpPr>
      <dsp:spPr>
        <a:xfrm rot="3162789">
          <a:off x="8868546" y="1258801"/>
          <a:ext cx="472089"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886333" y="1283064"/>
        <a:ext cx="381846" cy="180486"/>
      </dsp:txXfrm>
    </dsp:sp>
    <dsp:sp modelId="{B20A8CF4-B3E5-A34F-98CC-6B62B629D731}">
      <dsp:nvSpPr>
        <dsp:cNvPr id="0" name=""/>
        <dsp:cNvSpPr/>
      </dsp:nvSpPr>
      <dsp:spPr>
        <a:xfrm>
          <a:off x="8731059" y="1749264"/>
          <a:ext cx="1943585"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If interest is expressed – let them talk</a:t>
          </a:r>
        </a:p>
      </dsp:txBody>
      <dsp:txXfrm>
        <a:off x="8731059" y="1749264"/>
        <a:ext cx="1943585" cy="891291"/>
      </dsp:txXfrm>
    </dsp:sp>
    <dsp:sp modelId="{4C77433F-268C-154E-9924-00DD16D26A8C}">
      <dsp:nvSpPr>
        <dsp:cNvPr id="0" name=""/>
        <dsp:cNvSpPr/>
      </dsp:nvSpPr>
      <dsp:spPr>
        <a:xfrm rot="6045310">
          <a:off x="9442777" y="2724017"/>
          <a:ext cx="262004"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9489411" y="2745569"/>
        <a:ext cx="183403" cy="180486"/>
      </dsp:txXfrm>
    </dsp:sp>
    <dsp:sp modelId="{544EF912-309D-CF4A-9608-975C4FB079F2}">
      <dsp:nvSpPr>
        <dsp:cNvPr id="0" name=""/>
        <dsp:cNvSpPr/>
      </dsp:nvSpPr>
      <dsp:spPr>
        <a:xfrm>
          <a:off x="8509083" y="3122716"/>
          <a:ext cx="1865766"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Speak with emotion and conviction</a:t>
          </a:r>
        </a:p>
      </dsp:txBody>
      <dsp:txXfrm>
        <a:off x="8509083" y="3122716"/>
        <a:ext cx="1865766" cy="891291"/>
      </dsp:txXfrm>
    </dsp:sp>
    <dsp:sp modelId="{7E244E47-0700-B540-A050-EAE2F8DCA9E2}">
      <dsp:nvSpPr>
        <dsp:cNvPr id="0" name=""/>
        <dsp:cNvSpPr/>
      </dsp:nvSpPr>
      <dsp:spPr>
        <a:xfrm rot="6979908">
          <a:off x="8943374" y="4108713"/>
          <a:ext cx="313442"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9008510" y="4128435"/>
        <a:ext cx="223199" cy="180486"/>
      </dsp:txXfrm>
    </dsp:sp>
    <dsp:sp modelId="{9CA3348B-D646-7C4D-9883-DF146CFED2FC}">
      <dsp:nvSpPr>
        <dsp:cNvPr id="0" name=""/>
        <dsp:cNvSpPr/>
      </dsp:nvSpPr>
      <dsp:spPr>
        <a:xfrm>
          <a:off x="7888490" y="4518204"/>
          <a:ext cx="1725637"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Ask what they think at each stage</a:t>
          </a:r>
        </a:p>
      </dsp:txBody>
      <dsp:txXfrm>
        <a:off x="7888490" y="4518204"/>
        <a:ext cx="1725637" cy="891291"/>
      </dsp:txXfrm>
    </dsp:sp>
    <dsp:sp modelId="{2D9451C7-EEE4-9C4E-91A2-A16E41530D3E}">
      <dsp:nvSpPr>
        <dsp:cNvPr id="0" name=""/>
        <dsp:cNvSpPr/>
      </dsp:nvSpPr>
      <dsp:spPr>
        <a:xfrm rot="10733225">
          <a:off x="7454997" y="4835647"/>
          <a:ext cx="306803"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7545231" y="4894933"/>
        <a:ext cx="216560" cy="180486"/>
      </dsp:txXfrm>
    </dsp:sp>
    <dsp:sp modelId="{710A4DE4-97D4-A048-9865-B369579E3DB7}">
      <dsp:nvSpPr>
        <dsp:cNvPr id="0" name=""/>
        <dsp:cNvSpPr/>
      </dsp:nvSpPr>
      <dsp:spPr>
        <a:xfrm>
          <a:off x="5089109" y="4684179"/>
          <a:ext cx="2223611" cy="658432"/>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If a decision is indicated confirm it</a:t>
          </a:r>
        </a:p>
      </dsp:txBody>
      <dsp:txXfrm>
        <a:off x="5089109" y="4684179"/>
        <a:ext cx="2223611" cy="658432"/>
      </dsp:txXfrm>
    </dsp:sp>
    <dsp:sp modelId="{BE2D9569-0E08-4547-B4A0-5EAF9BD63BB9}">
      <dsp:nvSpPr>
        <dsp:cNvPr id="0" name=""/>
        <dsp:cNvSpPr/>
      </dsp:nvSpPr>
      <dsp:spPr>
        <a:xfrm rot="10810905">
          <a:off x="4692672" y="4858650"/>
          <a:ext cx="280194"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4776730" y="4918945"/>
        <a:ext cx="196136" cy="180486"/>
      </dsp:txXfrm>
    </dsp:sp>
    <dsp:sp modelId="{115B0721-907A-EB48-9924-831289B61667}">
      <dsp:nvSpPr>
        <dsp:cNvPr id="0" name=""/>
        <dsp:cNvSpPr/>
      </dsp:nvSpPr>
      <dsp:spPr>
        <a:xfrm>
          <a:off x="2509842" y="4559294"/>
          <a:ext cx="2050691"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Be careful taking initiative without approval</a:t>
          </a:r>
        </a:p>
      </dsp:txBody>
      <dsp:txXfrm>
        <a:off x="2509842" y="4559294"/>
        <a:ext cx="2050691" cy="891291"/>
      </dsp:txXfrm>
    </dsp:sp>
    <dsp:sp modelId="{615B01C8-5390-3648-8B6C-360C0C81447F}">
      <dsp:nvSpPr>
        <dsp:cNvPr id="0" name=""/>
        <dsp:cNvSpPr/>
      </dsp:nvSpPr>
      <dsp:spPr>
        <a:xfrm rot="11693268">
          <a:off x="1892222" y="4493453"/>
          <a:ext cx="546731"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1980950" y="4565208"/>
        <a:ext cx="456488" cy="180486"/>
      </dsp:txXfrm>
    </dsp:sp>
    <dsp:sp modelId="{A07AA92D-4511-EE45-B1EC-99D6C368BCD4}">
      <dsp:nvSpPr>
        <dsp:cNvPr id="0" name=""/>
        <dsp:cNvSpPr/>
      </dsp:nvSpPr>
      <dsp:spPr>
        <a:xfrm>
          <a:off x="0" y="4015734"/>
          <a:ext cx="1882371" cy="599170"/>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Do not confront in a group</a:t>
          </a:r>
        </a:p>
      </dsp:txBody>
      <dsp:txXfrm>
        <a:off x="0" y="4015734"/>
        <a:ext cx="1882371" cy="599170"/>
      </dsp:txXfrm>
    </dsp:sp>
    <dsp:sp modelId="{56639D85-F15B-BE40-9198-10C8C73E727C}">
      <dsp:nvSpPr>
        <dsp:cNvPr id="0" name=""/>
        <dsp:cNvSpPr/>
      </dsp:nvSpPr>
      <dsp:spPr>
        <a:xfrm rot="16750387">
          <a:off x="894887" y="3624357"/>
          <a:ext cx="267178"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928575" y="3724083"/>
        <a:ext cx="187025" cy="180486"/>
      </dsp:txXfrm>
    </dsp:sp>
    <dsp:sp modelId="{A68D89D6-7E99-BD41-BE26-159546B7DCF5}">
      <dsp:nvSpPr>
        <dsp:cNvPr id="0" name=""/>
        <dsp:cNvSpPr/>
      </dsp:nvSpPr>
      <dsp:spPr>
        <a:xfrm>
          <a:off x="0" y="2597664"/>
          <a:ext cx="2288265" cy="921773"/>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Express disagreements as questions</a:t>
          </a:r>
        </a:p>
      </dsp:txBody>
      <dsp:txXfrm>
        <a:off x="0" y="2597664"/>
        <a:ext cx="2288265" cy="921773"/>
      </dsp:txXfrm>
    </dsp:sp>
    <dsp:sp modelId="{99B6A552-0F8E-B741-8972-23BCEBB5CB41}">
      <dsp:nvSpPr>
        <dsp:cNvPr id="0" name=""/>
        <dsp:cNvSpPr/>
      </dsp:nvSpPr>
      <dsp:spPr>
        <a:xfrm rot="16751942">
          <a:off x="1137905" y="2242118"/>
          <a:ext cx="228176"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166660" y="2336066"/>
        <a:ext cx="159723" cy="180486"/>
      </dsp:txXfrm>
    </dsp:sp>
    <dsp:sp modelId="{7190AA65-739E-F144-805E-EE27D976351B}">
      <dsp:nvSpPr>
        <dsp:cNvPr id="0" name=""/>
        <dsp:cNvSpPr/>
      </dsp:nvSpPr>
      <dsp:spPr>
        <a:xfrm>
          <a:off x="0" y="1282992"/>
          <a:ext cx="2719017"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rPr>
            <a:t>Express admiration and be available when needed</a:t>
          </a:r>
        </a:p>
      </dsp:txBody>
      <dsp:txXfrm>
        <a:off x="0" y="1282992"/>
        <a:ext cx="2719017" cy="891291"/>
      </dsp:txXfrm>
    </dsp:sp>
    <dsp:sp modelId="{41A7522E-561B-5A4E-BEB1-3548E845C3BC}">
      <dsp:nvSpPr>
        <dsp:cNvPr id="0" name=""/>
        <dsp:cNvSpPr/>
      </dsp:nvSpPr>
      <dsp:spPr>
        <a:xfrm rot="19995284">
          <a:off x="2308761" y="934674"/>
          <a:ext cx="655611"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2313588" y="1015142"/>
        <a:ext cx="565368" cy="1804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2B9E8A-289A-FC4A-9D1C-6099B4270AD4}">
      <dsp:nvSpPr>
        <dsp:cNvPr id="0" name=""/>
        <dsp:cNvSpPr/>
      </dsp:nvSpPr>
      <dsp:spPr>
        <a:xfrm>
          <a:off x="2983670" y="34510"/>
          <a:ext cx="1504481" cy="1094977"/>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Always warm up. Share from the heart.</a:t>
          </a:r>
        </a:p>
      </dsp:txBody>
      <dsp:txXfrm>
        <a:off x="2983670" y="34510"/>
        <a:ext cx="1504481" cy="1094977"/>
      </dsp:txXfrm>
    </dsp:sp>
    <dsp:sp modelId="{C4F1DD1A-6110-5948-8A46-48F3A7EB0119}">
      <dsp:nvSpPr>
        <dsp:cNvPr id="0" name=""/>
        <dsp:cNvSpPr/>
      </dsp:nvSpPr>
      <dsp:spPr>
        <a:xfrm rot="21473889">
          <a:off x="4633301" y="392191"/>
          <a:ext cx="352500"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633331" y="454008"/>
        <a:ext cx="262257" cy="180486"/>
      </dsp:txXfrm>
    </dsp:sp>
    <dsp:sp modelId="{F25307E4-83F1-0E49-A2D0-74F0D5486D93}">
      <dsp:nvSpPr>
        <dsp:cNvPr id="0" name=""/>
        <dsp:cNvSpPr/>
      </dsp:nvSpPr>
      <dsp:spPr>
        <a:xfrm>
          <a:off x="5149747" y="2240"/>
          <a:ext cx="1828385" cy="988637"/>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Be a source of information on people</a:t>
          </a:r>
        </a:p>
      </dsp:txBody>
      <dsp:txXfrm>
        <a:off x="5149747" y="2240"/>
        <a:ext cx="1828385" cy="988637"/>
      </dsp:txXfrm>
    </dsp:sp>
    <dsp:sp modelId="{6FF44C64-1E55-BA40-A27A-3EE5E5204FAE}">
      <dsp:nvSpPr>
        <dsp:cNvPr id="0" name=""/>
        <dsp:cNvSpPr/>
      </dsp:nvSpPr>
      <dsp:spPr>
        <a:xfrm rot="258167">
          <a:off x="7103670" y="436627"/>
          <a:ext cx="325469"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7103797" y="493404"/>
        <a:ext cx="235226" cy="180486"/>
      </dsp:txXfrm>
    </dsp:sp>
    <dsp:sp modelId="{EDEE97A7-46D8-494D-8EB6-6269CEBEECEA}">
      <dsp:nvSpPr>
        <dsp:cNvPr id="0" name=""/>
        <dsp:cNvSpPr/>
      </dsp:nvSpPr>
      <dsp:spPr>
        <a:xfrm>
          <a:off x="7563867" y="251076"/>
          <a:ext cx="2155935" cy="878884"/>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Share what others think about your ideas.</a:t>
          </a:r>
        </a:p>
      </dsp:txBody>
      <dsp:txXfrm>
        <a:off x="7563867" y="251076"/>
        <a:ext cx="2155935" cy="878884"/>
      </dsp:txXfrm>
    </dsp:sp>
    <dsp:sp modelId="{06A02987-428F-B043-90F8-7AB455F178D5}">
      <dsp:nvSpPr>
        <dsp:cNvPr id="0" name=""/>
        <dsp:cNvSpPr/>
      </dsp:nvSpPr>
      <dsp:spPr>
        <a:xfrm rot="3341918">
          <a:off x="8937773" y="1306199"/>
          <a:ext cx="453353"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957466" y="1329087"/>
        <a:ext cx="363110" cy="180486"/>
      </dsp:txXfrm>
    </dsp:sp>
    <dsp:sp modelId="{B20A8CF4-B3E5-A34F-98CC-6B62B629D731}">
      <dsp:nvSpPr>
        <dsp:cNvPr id="0" name=""/>
        <dsp:cNvSpPr/>
      </dsp:nvSpPr>
      <dsp:spPr>
        <a:xfrm>
          <a:off x="8731059" y="1800186"/>
          <a:ext cx="1943585"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Make sure you align with those in power</a:t>
          </a:r>
        </a:p>
      </dsp:txBody>
      <dsp:txXfrm>
        <a:off x="8731059" y="1800186"/>
        <a:ext cx="1943585" cy="891291"/>
      </dsp:txXfrm>
    </dsp:sp>
    <dsp:sp modelId="{4C77433F-268C-154E-9924-00DD16D26A8C}">
      <dsp:nvSpPr>
        <dsp:cNvPr id="0" name=""/>
        <dsp:cNvSpPr/>
      </dsp:nvSpPr>
      <dsp:spPr>
        <a:xfrm rot="6045310">
          <a:off x="9442777" y="2774938"/>
          <a:ext cx="262004"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9489411" y="2796490"/>
        <a:ext cx="183403" cy="180486"/>
      </dsp:txXfrm>
    </dsp:sp>
    <dsp:sp modelId="{544EF912-309D-CF4A-9608-975C4FB079F2}">
      <dsp:nvSpPr>
        <dsp:cNvPr id="0" name=""/>
        <dsp:cNvSpPr/>
      </dsp:nvSpPr>
      <dsp:spPr>
        <a:xfrm>
          <a:off x="8509083" y="3173638"/>
          <a:ext cx="1865766"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If stories don’t match you lose credibility</a:t>
          </a:r>
        </a:p>
      </dsp:txBody>
      <dsp:txXfrm>
        <a:off x="8509083" y="3173638"/>
        <a:ext cx="1865766" cy="891291"/>
      </dsp:txXfrm>
    </dsp:sp>
    <dsp:sp modelId="{7E244E47-0700-B540-A050-EAE2F8DCA9E2}">
      <dsp:nvSpPr>
        <dsp:cNvPr id="0" name=""/>
        <dsp:cNvSpPr/>
      </dsp:nvSpPr>
      <dsp:spPr>
        <a:xfrm rot="6979908">
          <a:off x="8943374" y="4159635"/>
          <a:ext cx="313442"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9008510" y="4179357"/>
        <a:ext cx="223199" cy="180486"/>
      </dsp:txXfrm>
    </dsp:sp>
    <dsp:sp modelId="{9CA3348B-D646-7C4D-9883-DF146CFED2FC}">
      <dsp:nvSpPr>
        <dsp:cNvPr id="0" name=""/>
        <dsp:cNvSpPr/>
      </dsp:nvSpPr>
      <dsp:spPr>
        <a:xfrm>
          <a:off x="7888490" y="4569126"/>
          <a:ext cx="1725637"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Talk slowly and with conviction</a:t>
          </a:r>
        </a:p>
      </dsp:txBody>
      <dsp:txXfrm>
        <a:off x="7888490" y="4569126"/>
        <a:ext cx="1725637" cy="891291"/>
      </dsp:txXfrm>
    </dsp:sp>
    <dsp:sp modelId="{2D9451C7-EEE4-9C4E-91A2-A16E41530D3E}">
      <dsp:nvSpPr>
        <dsp:cNvPr id="0" name=""/>
        <dsp:cNvSpPr/>
      </dsp:nvSpPr>
      <dsp:spPr>
        <a:xfrm rot="10733225">
          <a:off x="7454997" y="4886569"/>
          <a:ext cx="306803"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7545231" y="4945855"/>
        <a:ext cx="216560" cy="180486"/>
      </dsp:txXfrm>
    </dsp:sp>
    <dsp:sp modelId="{710A4DE4-97D4-A048-9865-B369579E3DB7}">
      <dsp:nvSpPr>
        <dsp:cNvPr id="0" name=""/>
        <dsp:cNvSpPr/>
      </dsp:nvSpPr>
      <dsp:spPr>
        <a:xfrm>
          <a:off x="5089109" y="4735101"/>
          <a:ext cx="2223611" cy="658432"/>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Invite to ask others about your idea</a:t>
          </a:r>
        </a:p>
      </dsp:txBody>
      <dsp:txXfrm>
        <a:off x="5089109" y="4735101"/>
        <a:ext cx="2223611" cy="658432"/>
      </dsp:txXfrm>
    </dsp:sp>
    <dsp:sp modelId="{BE2D9569-0E08-4547-B4A0-5EAF9BD63BB9}">
      <dsp:nvSpPr>
        <dsp:cNvPr id="0" name=""/>
        <dsp:cNvSpPr/>
      </dsp:nvSpPr>
      <dsp:spPr>
        <a:xfrm rot="10810905">
          <a:off x="4692672" y="4909572"/>
          <a:ext cx="280194"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4776730" y="4969867"/>
        <a:ext cx="196136" cy="180486"/>
      </dsp:txXfrm>
    </dsp:sp>
    <dsp:sp modelId="{115B0721-907A-EB48-9924-831289B61667}">
      <dsp:nvSpPr>
        <dsp:cNvPr id="0" name=""/>
        <dsp:cNvSpPr/>
      </dsp:nvSpPr>
      <dsp:spPr>
        <a:xfrm>
          <a:off x="2509842" y="4610215"/>
          <a:ext cx="2050691"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Stay calm when situations get heated</a:t>
          </a:r>
        </a:p>
      </dsp:txBody>
      <dsp:txXfrm>
        <a:off x="2509842" y="4610215"/>
        <a:ext cx="2050691" cy="891291"/>
      </dsp:txXfrm>
    </dsp:sp>
    <dsp:sp modelId="{615B01C8-5390-3648-8B6C-360C0C81447F}">
      <dsp:nvSpPr>
        <dsp:cNvPr id="0" name=""/>
        <dsp:cNvSpPr/>
      </dsp:nvSpPr>
      <dsp:spPr>
        <a:xfrm rot="11693268">
          <a:off x="1977134" y="4558581"/>
          <a:ext cx="486305"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2065862" y="4630336"/>
        <a:ext cx="396062" cy="180486"/>
      </dsp:txXfrm>
    </dsp:sp>
    <dsp:sp modelId="{A07AA92D-4511-EE45-B1EC-99D6C368BCD4}">
      <dsp:nvSpPr>
        <dsp:cNvPr id="0" name=""/>
        <dsp:cNvSpPr/>
      </dsp:nvSpPr>
      <dsp:spPr>
        <a:xfrm>
          <a:off x="0" y="3891660"/>
          <a:ext cx="1882371" cy="949162"/>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Do not push for a rapid decision</a:t>
          </a:r>
        </a:p>
      </dsp:txBody>
      <dsp:txXfrm>
        <a:off x="0" y="3891660"/>
        <a:ext cx="1882371" cy="949162"/>
      </dsp:txXfrm>
    </dsp:sp>
    <dsp:sp modelId="{56639D85-F15B-BE40-9198-10C8C73E727C}">
      <dsp:nvSpPr>
        <dsp:cNvPr id="0" name=""/>
        <dsp:cNvSpPr/>
      </dsp:nvSpPr>
      <dsp:spPr>
        <a:xfrm rot="16750387">
          <a:off x="956003" y="3585758"/>
          <a:ext cx="173857"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977924" y="3671665"/>
        <a:ext cx="121700" cy="180486"/>
      </dsp:txXfrm>
    </dsp:sp>
    <dsp:sp modelId="{A68D89D6-7E99-BD41-BE26-159546B7DCF5}">
      <dsp:nvSpPr>
        <dsp:cNvPr id="0" name=""/>
        <dsp:cNvSpPr/>
      </dsp:nvSpPr>
      <dsp:spPr>
        <a:xfrm>
          <a:off x="0" y="2648586"/>
          <a:ext cx="2288265" cy="921773"/>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Express disagreements as questions</a:t>
          </a:r>
        </a:p>
      </dsp:txBody>
      <dsp:txXfrm>
        <a:off x="0" y="2648586"/>
        <a:ext cx="2288265" cy="921773"/>
      </dsp:txXfrm>
    </dsp:sp>
    <dsp:sp modelId="{99B6A552-0F8E-B741-8972-23BCEBB5CB41}">
      <dsp:nvSpPr>
        <dsp:cNvPr id="0" name=""/>
        <dsp:cNvSpPr/>
      </dsp:nvSpPr>
      <dsp:spPr>
        <a:xfrm rot="16751942">
          <a:off x="1137905" y="2293040"/>
          <a:ext cx="228176"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166660" y="2386988"/>
        <a:ext cx="159723" cy="180486"/>
      </dsp:txXfrm>
    </dsp:sp>
    <dsp:sp modelId="{7190AA65-739E-F144-805E-EE27D976351B}">
      <dsp:nvSpPr>
        <dsp:cNvPr id="0" name=""/>
        <dsp:cNvSpPr/>
      </dsp:nvSpPr>
      <dsp:spPr>
        <a:xfrm>
          <a:off x="0" y="1333914"/>
          <a:ext cx="2719017" cy="891291"/>
        </a:xfrm>
        <a:prstGeom prst="flowChartProcess">
          <a:avLst/>
        </a:prstGeom>
        <a:solidFill>
          <a:schemeClr val="bg1">
            <a:lumMod val="8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rPr>
            <a:t>Listen actively</a:t>
          </a:r>
        </a:p>
      </dsp:txBody>
      <dsp:txXfrm>
        <a:off x="0" y="1333914"/>
        <a:ext cx="2719017" cy="891291"/>
      </dsp:txXfrm>
    </dsp:sp>
    <dsp:sp modelId="{41A7522E-561B-5A4E-BEB1-3548E845C3BC}">
      <dsp:nvSpPr>
        <dsp:cNvPr id="0" name=""/>
        <dsp:cNvSpPr/>
      </dsp:nvSpPr>
      <dsp:spPr>
        <a:xfrm rot="19995284">
          <a:off x="2292192" y="1007107"/>
          <a:ext cx="603374" cy="300810"/>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2297019" y="1087575"/>
        <a:ext cx="513131" cy="180486"/>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E096F78-00F7-46C0-B4E6-2D72E17EE119}"/>
              </a:ext>
            </a:extLst>
          </p:cNvPr>
          <p:cNvSpPr>
            <a:spLocks noGrp="1"/>
          </p:cNvSpPr>
          <p:nvPr>
            <p:ph type="sldNum" sz="quarter" idx="3"/>
          </p:nvPr>
        </p:nvSpPr>
        <p:spPr>
          <a:xfrm>
            <a:off x="3940175" y="8842375"/>
            <a:ext cx="3013075" cy="466725"/>
          </a:xfrm>
          <a:prstGeom prst="rect">
            <a:avLst/>
          </a:prstGeom>
        </p:spPr>
        <p:txBody>
          <a:bodyPr vert="horz" lIns="91440" tIns="45720" rIns="91440" bIns="45720" rtlCol="0" anchor="b"/>
          <a:lstStyle>
            <a:lvl1pPr algn="r">
              <a:defRPr sz="1200"/>
            </a:lvl1pPr>
          </a:lstStyle>
          <a:p>
            <a:r>
              <a:rPr lang="en-US" dirty="0"/>
              <a:t>1</a:t>
            </a:r>
          </a:p>
        </p:txBody>
      </p:sp>
    </p:spTree>
    <p:extLst>
      <p:ext uri="{BB962C8B-B14F-4D97-AF65-F5344CB8AC3E}">
        <p14:creationId xmlns:p14="http://schemas.microsoft.com/office/powerpoint/2010/main" val="421109379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1"/>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39466" y="0"/>
            <a:ext cx="3013763" cy="467071"/>
          </a:xfrm>
          <a:prstGeom prst="rect">
            <a:avLst/>
          </a:prstGeom>
        </p:spPr>
        <p:txBody>
          <a:bodyPr vert="horz" lIns="93177" tIns="46589" rIns="93177" bIns="46589" rtlCol="0"/>
          <a:lstStyle>
            <a:lvl1pPr algn="r">
              <a:defRPr sz="1200"/>
            </a:lvl1pPr>
          </a:lstStyle>
          <a:p>
            <a:fld id="{B0898B74-F4AC-44EF-90F7-7AE45C1EEF1F}" type="datetime1">
              <a:rPr lang="en-US" smtClean="0"/>
              <a:t>5/24/2019</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695484" y="4480004"/>
            <a:ext cx="5563870" cy="3665459"/>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13763" cy="46707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7070"/>
          </a:xfrm>
          <a:prstGeom prst="rect">
            <a:avLst/>
          </a:prstGeom>
        </p:spPr>
        <p:txBody>
          <a:bodyPr vert="horz" lIns="93177" tIns="46589" rIns="93177" bIns="46589" rtlCol="0" anchor="b"/>
          <a:lstStyle>
            <a:lvl1pPr algn="r">
              <a:defRPr sz="1200"/>
            </a:lvl1pPr>
          </a:lstStyle>
          <a:p>
            <a:fld id="{24EF2F91-4323-B74D-B79D-021650C5EEF6}" type="slidenum">
              <a:rPr lang="en-US" smtClean="0"/>
              <a:t>‹#›</a:t>
            </a:fld>
            <a:endParaRPr lang="en-US"/>
          </a:p>
        </p:txBody>
      </p:sp>
    </p:spTree>
    <p:extLst>
      <p:ext uri="{BB962C8B-B14F-4D97-AF65-F5344CB8AC3E}">
        <p14:creationId xmlns:p14="http://schemas.microsoft.com/office/powerpoint/2010/main" val="900774407"/>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4650" y="698500"/>
            <a:ext cx="6205538" cy="3490913"/>
          </a:xfrm>
        </p:spPr>
      </p:sp>
      <p:sp>
        <p:nvSpPr>
          <p:cNvPr id="3" name="Notes Placeholder 2"/>
          <p:cNvSpPr>
            <a:spLocks noGrp="1"/>
          </p:cNvSpPr>
          <p:nvPr>
            <p:ph type="body" idx="1"/>
          </p:nvPr>
        </p:nvSpPr>
        <p:spPr/>
        <p:txBody>
          <a:bodyPr/>
          <a:lstStyle/>
          <a:p>
            <a:endParaRPr lang="en-US" dirty="0"/>
          </a:p>
        </p:txBody>
      </p:sp>
      <p:sp>
        <p:nvSpPr>
          <p:cNvPr id="6" name="Date Placeholder 5">
            <a:extLst>
              <a:ext uri="{FF2B5EF4-FFF2-40B4-BE49-F238E27FC236}">
                <a16:creationId xmlns:a16="http://schemas.microsoft.com/office/drawing/2014/main" id="{461BC3C9-0C6E-4DCF-8114-297B4A94C4DC}"/>
              </a:ext>
            </a:extLst>
          </p:cNvPr>
          <p:cNvSpPr>
            <a:spLocks noGrp="1"/>
          </p:cNvSpPr>
          <p:nvPr>
            <p:ph type="dt" idx="1"/>
          </p:nvPr>
        </p:nvSpPr>
        <p:spPr/>
        <p:txBody>
          <a:bodyPr/>
          <a:lstStyle/>
          <a:p>
            <a:fld id="{801EB5EC-BAF1-4D82-84FD-7A7A087AB350}" type="datetime1">
              <a:rPr lang="en-US" smtClean="0"/>
              <a:t>5/24/2019</a:t>
            </a:fld>
            <a:endParaRPr lang="en-US"/>
          </a:p>
        </p:txBody>
      </p:sp>
      <p:sp>
        <p:nvSpPr>
          <p:cNvPr id="7" name="Slide Number Placeholder 6">
            <a:extLst>
              <a:ext uri="{FF2B5EF4-FFF2-40B4-BE49-F238E27FC236}">
                <a16:creationId xmlns:a16="http://schemas.microsoft.com/office/drawing/2014/main" id="{9590954F-7F35-41FA-93D3-CE778B2F69A2}"/>
              </a:ext>
            </a:extLst>
          </p:cNvPr>
          <p:cNvSpPr>
            <a:spLocks noGrp="1"/>
          </p:cNvSpPr>
          <p:nvPr>
            <p:ph type="sldNum" sz="quarter" idx="5"/>
          </p:nvPr>
        </p:nvSpPr>
        <p:spPr/>
        <p:txBody>
          <a:bodyPr/>
          <a:lstStyle/>
          <a:p>
            <a:fld id="{24EF2F91-4323-B74D-B79D-021650C5EEF6}" type="slidenum">
              <a:rPr lang="en-US" smtClean="0"/>
              <a:t>1</a:t>
            </a:fld>
            <a:endParaRPr lang="en-US"/>
          </a:p>
        </p:txBody>
      </p:sp>
    </p:spTree>
    <p:extLst>
      <p:ext uri="{BB962C8B-B14F-4D97-AF65-F5344CB8AC3E}">
        <p14:creationId xmlns:p14="http://schemas.microsoft.com/office/powerpoint/2010/main" val="1703230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4650" y="698500"/>
            <a:ext cx="6205538" cy="3490913"/>
          </a:xfrm>
        </p:spPr>
      </p:sp>
      <p:sp>
        <p:nvSpPr>
          <p:cNvPr id="3" name="Notes Placeholder 2"/>
          <p:cNvSpPr>
            <a:spLocks noGrp="1"/>
          </p:cNvSpPr>
          <p:nvPr>
            <p:ph type="body" idx="1"/>
          </p:nvPr>
        </p:nvSpPr>
        <p:spPr/>
        <p:txBody>
          <a:bodyPr/>
          <a:lstStyle/>
          <a:p>
            <a:endParaRPr lang="en-US" dirty="0"/>
          </a:p>
        </p:txBody>
      </p:sp>
      <p:sp>
        <p:nvSpPr>
          <p:cNvPr id="6" name="Date Placeholder 5">
            <a:extLst>
              <a:ext uri="{FF2B5EF4-FFF2-40B4-BE49-F238E27FC236}">
                <a16:creationId xmlns:a16="http://schemas.microsoft.com/office/drawing/2014/main" id="{1FD6ABB2-1D25-4F2E-B69F-391FBAE39D53}"/>
              </a:ext>
            </a:extLst>
          </p:cNvPr>
          <p:cNvSpPr>
            <a:spLocks noGrp="1"/>
          </p:cNvSpPr>
          <p:nvPr>
            <p:ph type="dt" idx="1"/>
          </p:nvPr>
        </p:nvSpPr>
        <p:spPr/>
        <p:txBody>
          <a:bodyPr/>
          <a:lstStyle/>
          <a:p>
            <a:fld id="{F5E4A1A7-28EF-4129-9437-9C27BA994D44}" type="datetime1">
              <a:rPr lang="en-US" smtClean="0"/>
              <a:t>5/24/2019</a:t>
            </a:fld>
            <a:endParaRPr lang="en-US"/>
          </a:p>
        </p:txBody>
      </p:sp>
      <p:sp>
        <p:nvSpPr>
          <p:cNvPr id="7" name="Slide Number Placeholder 6">
            <a:extLst>
              <a:ext uri="{FF2B5EF4-FFF2-40B4-BE49-F238E27FC236}">
                <a16:creationId xmlns:a16="http://schemas.microsoft.com/office/drawing/2014/main" id="{343CF76F-6C35-4549-8E47-7CC6E6F06583}"/>
              </a:ext>
            </a:extLst>
          </p:cNvPr>
          <p:cNvSpPr>
            <a:spLocks noGrp="1"/>
          </p:cNvSpPr>
          <p:nvPr>
            <p:ph type="sldNum" sz="quarter" idx="5"/>
          </p:nvPr>
        </p:nvSpPr>
        <p:spPr/>
        <p:txBody>
          <a:bodyPr/>
          <a:lstStyle/>
          <a:p>
            <a:fld id="{24EF2F91-4323-B74D-B79D-021650C5EEF6}" type="slidenum">
              <a:rPr lang="en-US" smtClean="0"/>
              <a:t>2</a:t>
            </a:fld>
            <a:endParaRPr lang="en-US"/>
          </a:p>
        </p:txBody>
      </p:sp>
    </p:spTree>
    <p:extLst>
      <p:ext uri="{BB962C8B-B14F-4D97-AF65-F5344CB8AC3E}">
        <p14:creationId xmlns:p14="http://schemas.microsoft.com/office/powerpoint/2010/main" val="749417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4650" y="698500"/>
            <a:ext cx="6205538" cy="3490913"/>
          </a:xfrm>
        </p:spPr>
      </p:sp>
      <p:sp>
        <p:nvSpPr>
          <p:cNvPr id="3" name="Notes Placeholder 2"/>
          <p:cNvSpPr>
            <a:spLocks noGrp="1"/>
          </p:cNvSpPr>
          <p:nvPr>
            <p:ph type="body" idx="1"/>
          </p:nvPr>
        </p:nvSpPr>
        <p:spPr/>
        <p:txBody>
          <a:bodyPr/>
          <a:lstStyle/>
          <a:p>
            <a:endParaRPr lang="en-US"/>
          </a:p>
        </p:txBody>
      </p:sp>
      <p:sp>
        <p:nvSpPr>
          <p:cNvPr id="6" name="Date Placeholder 5">
            <a:extLst>
              <a:ext uri="{FF2B5EF4-FFF2-40B4-BE49-F238E27FC236}">
                <a16:creationId xmlns:a16="http://schemas.microsoft.com/office/drawing/2014/main" id="{1130DC8B-6EA7-43EA-A155-4851FB0AB6EF}"/>
              </a:ext>
            </a:extLst>
          </p:cNvPr>
          <p:cNvSpPr>
            <a:spLocks noGrp="1"/>
          </p:cNvSpPr>
          <p:nvPr>
            <p:ph type="dt" idx="1"/>
          </p:nvPr>
        </p:nvSpPr>
        <p:spPr/>
        <p:txBody>
          <a:bodyPr/>
          <a:lstStyle/>
          <a:p>
            <a:fld id="{1F783161-A7B2-44D5-A4B2-68EABC7C30E5}" type="datetime1">
              <a:rPr lang="en-US" smtClean="0"/>
              <a:t>5/24/2019</a:t>
            </a:fld>
            <a:endParaRPr lang="en-US"/>
          </a:p>
        </p:txBody>
      </p:sp>
      <p:sp>
        <p:nvSpPr>
          <p:cNvPr id="7" name="Slide Number Placeholder 6">
            <a:extLst>
              <a:ext uri="{FF2B5EF4-FFF2-40B4-BE49-F238E27FC236}">
                <a16:creationId xmlns:a16="http://schemas.microsoft.com/office/drawing/2014/main" id="{CC2EB9CE-768D-47FB-83C4-959C74035E94}"/>
              </a:ext>
            </a:extLst>
          </p:cNvPr>
          <p:cNvSpPr>
            <a:spLocks noGrp="1"/>
          </p:cNvSpPr>
          <p:nvPr>
            <p:ph type="sldNum" sz="quarter" idx="5"/>
          </p:nvPr>
        </p:nvSpPr>
        <p:spPr/>
        <p:txBody>
          <a:bodyPr/>
          <a:lstStyle/>
          <a:p>
            <a:fld id="{24EF2F91-4323-B74D-B79D-021650C5EEF6}" type="slidenum">
              <a:rPr lang="en-US" smtClean="0"/>
              <a:t>3</a:t>
            </a:fld>
            <a:endParaRPr lang="en-US"/>
          </a:p>
        </p:txBody>
      </p:sp>
    </p:spTree>
    <p:extLst>
      <p:ext uri="{BB962C8B-B14F-4D97-AF65-F5344CB8AC3E}">
        <p14:creationId xmlns:p14="http://schemas.microsoft.com/office/powerpoint/2010/main" val="310753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4650" y="698500"/>
            <a:ext cx="6205538" cy="3490913"/>
          </a:xfrm>
        </p:spPr>
      </p:sp>
      <p:sp>
        <p:nvSpPr>
          <p:cNvPr id="3" name="Notes Placeholder 2"/>
          <p:cNvSpPr>
            <a:spLocks noGrp="1"/>
          </p:cNvSpPr>
          <p:nvPr>
            <p:ph type="body" idx="1"/>
          </p:nvPr>
        </p:nvSpPr>
        <p:spPr/>
        <p:txBody>
          <a:bodyPr/>
          <a:lstStyle/>
          <a:p>
            <a:endParaRPr lang="en-US"/>
          </a:p>
        </p:txBody>
      </p:sp>
      <p:sp>
        <p:nvSpPr>
          <p:cNvPr id="6" name="Date Placeholder 5">
            <a:extLst>
              <a:ext uri="{FF2B5EF4-FFF2-40B4-BE49-F238E27FC236}">
                <a16:creationId xmlns:a16="http://schemas.microsoft.com/office/drawing/2014/main" id="{9BCD1D0D-2308-403B-881A-DBE766203DB1}"/>
              </a:ext>
            </a:extLst>
          </p:cNvPr>
          <p:cNvSpPr>
            <a:spLocks noGrp="1"/>
          </p:cNvSpPr>
          <p:nvPr>
            <p:ph type="dt" idx="1"/>
          </p:nvPr>
        </p:nvSpPr>
        <p:spPr/>
        <p:txBody>
          <a:bodyPr/>
          <a:lstStyle/>
          <a:p>
            <a:fld id="{2083BF05-B66E-453F-B232-53978D6AC3AB}" type="datetime1">
              <a:rPr lang="en-US" smtClean="0"/>
              <a:t>5/24/2019</a:t>
            </a:fld>
            <a:endParaRPr lang="en-US"/>
          </a:p>
        </p:txBody>
      </p:sp>
      <p:sp>
        <p:nvSpPr>
          <p:cNvPr id="7" name="Slide Number Placeholder 6">
            <a:extLst>
              <a:ext uri="{FF2B5EF4-FFF2-40B4-BE49-F238E27FC236}">
                <a16:creationId xmlns:a16="http://schemas.microsoft.com/office/drawing/2014/main" id="{E81F5517-018B-436E-89E2-22E7A9E211C2}"/>
              </a:ext>
            </a:extLst>
          </p:cNvPr>
          <p:cNvSpPr>
            <a:spLocks noGrp="1"/>
          </p:cNvSpPr>
          <p:nvPr>
            <p:ph type="sldNum" sz="quarter" idx="5"/>
          </p:nvPr>
        </p:nvSpPr>
        <p:spPr/>
        <p:txBody>
          <a:bodyPr/>
          <a:lstStyle/>
          <a:p>
            <a:fld id="{24EF2F91-4323-B74D-B79D-021650C5EEF6}" type="slidenum">
              <a:rPr lang="en-US" smtClean="0"/>
              <a:t>4</a:t>
            </a:fld>
            <a:endParaRPr lang="en-US"/>
          </a:p>
        </p:txBody>
      </p:sp>
    </p:spTree>
    <p:extLst>
      <p:ext uri="{BB962C8B-B14F-4D97-AF65-F5344CB8AC3E}">
        <p14:creationId xmlns:p14="http://schemas.microsoft.com/office/powerpoint/2010/main" val="586577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3" name="Rectangle 2"/>
          <p:cNvSpPr>
            <a:spLocks noGrp="1" noRot="1" noChangeAspect="1" noChangeArrowheads="1" noTextEdit="1"/>
          </p:cNvSpPr>
          <p:nvPr>
            <p:ph type="sldImg"/>
          </p:nvPr>
        </p:nvSpPr>
        <p:spPr>
          <a:xfrm>
            <a:off x="382588" y="703263"/>
            <a:ext cx="6184900" cy="3479800"/>
          </a:xfrm>
        </p:spPr>
      </p:sp>
      <p:sp>
        <p:nvSpPr>
          <p:cNvPr id="220164" name="Rectangle 3"/>
          <p:cNvSpPr>
            <a:spLocks noGrp="1" noChangeArrowheads="1"/>
          </p:cNvSpPr>
          <p:nvPr>
            <p:ph type="body" idx="1"/>
          </p:nvPr>
        </p:nvSpPr>
        <p:spPr>
          <a:xfrm>
            <a:off x="925702" y="4420209"/>
            <a:ext cx="5101824" cy="4190710"/>
          </a:xfrm>
          <a:noFill/>
          <a:ln/>
        </p:spPr>
        <p:txBody>
          <a:bodyPr/>
          <a:lstStyle/>
          <a:p>
            <a:endParaRPr lang="en-US"/>
          </a:p>
        </p:txBody>
      </p:sp>
      <p:sp>
        <p:nvSpPr>
          <p:cNvPr id="4" name="Date Placeholder 3">
            <a:extLst>
              <a:ext uri="{FF2B5EF4-FFF2-40B4-BE49-F238E27FC236}">
                <a16:creationId xmlns:a16="http://schemas.microsoft.com/office/drawing/2014/main" id="{27EF6E4E-53D7-45C0-906F-35A8538A9506}"/>
              </a:ext>
            </a:extLst>
          </p:cNvPr>
          <p:cNvSpPr>
            <a:spLocks noGrp="1"/>
          </p:cNvSpPr>
          <p:nvPr>
            <p:ph type="dt" idx="1"/>
          </p:nvPr>
        </p:nvSpPr>
        <p:spPr/>
        <p:txBody>
          <a:bodyPr/>
          <a:lstStyle/>
          <a:p>
            <a:fld id="{5AE81914-CA9D-4382-B4D0-8B18BC23976D}" type="datetime1">
              <a:rPr lang="en-US" smtClean="0"/>
              <a:t>5/24/2019</a:t>
            </a:fld>
            <a:endParaRPr lang="en-US"/>
          </a:p>
        </p:txBody>
      </p:sp>
      <p:sp>
        <p:nvSpPr>
          <p:cNvPr id="5" name="Slide Number Placeholder 4">
            <a:extLst>
              <a:ext uri="{FF2B5EF4-FFF2-40B4-BE49-F238E27FC236}">
                <a16:creationId xmlns:a16="http://schemas.microsoft.com/office/drawing/2014/main" id="{E09FAB50-47DE-4AB4-913B-86F443087575}"/>
              </a:ext>
            </a:extLst>
          </p:cNvPr>
          <p:cNvSpPr>
            <a:spLocks noGrp="1"/>
          </p:cNvSpPr>
          <p:nvPr>
            <p:ph type="sldNum" sz="quarter" idx="5"/>
          </p:nvPr>
        </p:nvSpPr>
        <p:spPr/>
        <p:txBody>
          <a:bodyPr/>
          <a:lstStyle/>
          <a:p>
            <a:fld id="{24EF2F91-4323-B74D-B79D-021650C5EEF6}" type="slidenum">
              <a:rPr lang="en-US" smtClean="0"/>
              <a:t>7</a:t>
            </a:fld>
            <a:endParaRPr lang="en-US"/>
          </a:p>
        </p:txBody>
      </p:sp>
    </p:spTree>
    <p:extLst>
      <p:ext uri="{BB962C8B-B14F-4D97-AF65-F5344CB8AC3E}">
        <p14:creationId xmlns:p14="http://schemas.microsoft.com/office/powerpoint/2010/main" val="1893899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9" name="Rectangle 2"/>
          <p:cNvSpPr>
            <a:spLocks noGrp="1" noRot="1" noChangeAspect="1" noChangeArrowheads="1" noTextEdit="1"/>
          </p:cNvSpPr>
          <p:nvPr>
            <p:ph type="sldImg"/>
          </p:nvPr>
        </p:nvSpPr>
        <p:spPr>
          <a:xfrm>
            <a:off x="382588" y="703263"/>
            <a:ext cx="6183312" cy="3479800"/>
          </a:xfrm>
        </p:spPr>
      </p:sp>
      <p:sp>
        <p:nvSpPr>
          <p:cNvPr id="224260" name="Rectangle 3"/>
          <p:cNvSpPr>
            <a:spLocks noGrp="1" noChangeArrowheads="1"/>
          </p:cNvSpPr>
          <p:nvPr>
            <p:ph type="body" idx="1"/>
          </p:nvPr>
        </p:nvSpPr>
        <p:spPr>
          <a:xfrm>
            <a:off x="925702" y="4420209"/>
            <a:ext cx="5101824" cy="4190710"/>
          </a:xfrm>
          <a:noFill/>
          <a:ln/>
        </p:spPr>
        <p:txBody>
          <a:bodyPr/>
          <a:lstStyle/>
          <a:p>
            <a:endParaRPr lang="en-US"/>
          </a:p>
        </p:txBody>
      </p:sp>
      <p:sp>
        <p:nvSpPr>
          <p:cNvPr id="3" name="Date Placeholder 2">
            <a:extLst>
              <a:ext uri="{FF2B5EF4-FFF2-40B4-BE49-F238E27FC236}">
                <a16:creationId xmlns:a16="http://schemas.microsoft.com/office/drawing/2014/main" id="{A3A1E42B-D779-4B7C-95FE-B45744D746D6}"/>
              </a:ext>
            </a:extLst>
          </p:cNvPr>
          <p:cNvSpPr>
            <a:spLocks noGrp="1"/>
          </p:cNvSpPr>
          <p:nvPr>
            <p:ph type="dt" idx="1"/>
          </p:nvPr>
        </p:nvSpPr>
        <p:spPr/>
        <p:txBody>
          <a:bodyPr/>
          <a:lstStyle/>
          <a:p>
            <a:fld id="{B1992CA2-0FFE-4048-96D4-54CE60888EC5}" type="datetime1">
              <a:rPr lang="en-US" smtClean="0"/>
              <a:t>5/24/2019</a:t>
            </a:fld>
            <a:endParaRPr lang="en-US"/>
          </a:p>
        </p:txBody>
      </p:sp>
      <p:sp>
        <p:nvSpPr>
          <p:cNvPr id="4" name="Slide Number Placeholder 3">
            <a:extLst>
              <a:ext uri="{FF2B5EF4-FFF2-40B4-BE49-F238E27FC236}">
                <a16:creationId xmlns:a16="http://schemas.microsoft.com/office/drawing/2014/main" id="{B75686B8-B755-4D2F-AB4A-BBA61684A8E8}"/>
              </a:ext>
            </a:extLst>
          </p:cNvPr>
          <p:cNvSpPr>
            <a:spLocks noGrp="1"/>
          </p:cNvSpPr>
          <p:nvPr>
            <p:ph type="sldNum" sz="quarter" idx="5"/>
          </p:nvPr>
        </p:nvSpPr>
        <p:spPr/>
        <p:txBody>
          <a:bodyPr/>
          <a:lstStyle/>
          <a:p>
            <a:fld id="{24EF2F91-4323-B74D-B79D-021650C5EEF6}" type="slidenum">
              <a:rPr lang="en-US" smtClean="0"/>
              <a:t>8</a:t>
            </a:fld>
            <a:endParaRPr lang="en-US"/>
          </a:p>
        </p:txBody>
      </p:sp>
    </p:spTree>
    <p:extLst>
      <p:ext uri="{BB962C8B-B14F-4D97-AF65-F5344CB8AC3E}">
        <p14:creationId xmlns:p14="http://schemas.microsoft.com/office/powerpoint/2010/main" val="1298116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Rot="1" noChangeAspect="1" noChangeArrowheads="1" noTextEdit="1"/>
          </p:cNvSpPr>
          <p:nvPr>
            <p:ph type="sldImg"/>
          </p:nvPr>
        </p:nvSpPr>
        <p:spPr>
          <a:xfrm>
            <a:off x="-1457325" y="914400"/>
            <a:ext cx="8047038" cy="4527550"/>
          </a:xfrm>
          <a:solidFill>
            <a:srgbClr val="FFFFFF"/>
          </a:solidFill>
          <a:ln/>
        </p:spPr>
      </p:sp>
      <p:sp>
        <p:nvSpPr>
          <p:cNvPr id="5" name="Notes Placeholder 4"/>
          <p:cNvSpPr>
            <a:spLocks noGrp="1"/>
          </p:cNvSpPr>
          <p:nvPr>
            <p:ph type="body" sz="quarter" idx="10"/>
          </p:nvPr>
        </p:nvSpPr>
        <p:spPr/>
        <p:txBody>
          <a:bodyPr>
            <a:normAutofit fontScale="92500" lnSpcReduction="20000"/>
          </a:bodyPr>
          <a:lstStyle/>
          <a:p>
            <a:r>
              <a:rPr lang="en-US" sz="1100" dirty="0"/>
              <a:t>Turns out that quad companies have developed four core management capabilities. </a:t>
            </a:r>
          </a:p>
          <a:p>
            <a:endParaRPr lang="en-US" sz="1100" dirty="0"/>
          </a:p>
          <a:p>
            <a:r>
              <a:rPr lang="en-US" sz="1100" dirty="0"/>
              <a:t>First is to Produce Results </a:t>
            </a:r>
          </a:p>
          <a:p>
            <a:r>
              <a:rPr lang="en-US" sz="1100" dirty="0"/>
              <a:t>Old saying – 3 kinds of people; make, watch, wonder,</a:t>
            </a:r>
          </a:p>
          <a:p>
            <a:r>
              <a:rPr lang="en-US" sz="1100" dirty="0"/>
              <a:t>trick question</a:t>
            </a:r>
          </a:p>
          <a:p>
            <a:r>
              <a:rPr lang="en-US" sz="1100" dirty="0"/>
              <a:t>Developed by all those activities to choose, understand and serve clients. </a:t>
            </a:r>
          </a:p>
          <a:p>
            <a:endParaRPr lang="en-US" sz="1100" dirty="0"/>
          </a:p>
          <a:p>
            <a:r>
              <a:rPr lang="en-US" sz="1100" dirty="0"/>
              <a:t>Developed by all those activities focused on getting organized and building out the infrastructure needed to support the business consistently delivered quality products and optimal cost. A builds lean mean machines by focusing on systems, structures, process, methods, tools.  Capture learning curve, minimize mistakes and inefficiency. </a:t>
            </a:r>
          </a:p>
          <a:p>
            <a:endParaRPr lang="en-US" sz="1100" dirty="0"/>
          </a:p>
          <a:p>
            <a:r>
              <a:rPr lang="en-US" sz="1100" dirty="0"/>
              <a:t>Once you figure our your customers and finally get things running right, what happens? Change happens.   3</a:t>
            </a:r>
            <a:r>
              <a:rPr lang="en-US" sz="1100" baseline="30000" dirty="0"/>
              <a:t>rd</a:t>
            </a:r>
            <a:r>
              <a:rPr lang="en-US" sz="1100" dirty="0"/>
              <a:t> roles is to develop capability to change. </a:t>
            </a:r>
          </a:p>
          <a:p>
            <a:endParaRPr lang="en-US" sz="1100" dirty="0"/>
          </a:p>
          <a:p>
            <a:r>
              <a:rPr lang="en-US" sz="1100" dirty="0"/>
              <a:t>Many companies strong at P, A and E but are not quad because they are weak in the 4</a:t>
            </a:r>
            <a:r>
              <a:rPr lang="en-US" sz="1100" baseline="30000" dirty="0"/>
              <a:t>th</a:t>
            </a:r>
            <a:r>
              <a:rPr lang="en-US" sz="1100" dirty="0"/>
              <a:t> role.</a:t>
            </a:r>
          </a:p>
          <a:p>
            <a:r>
              <a:rPr lang="en-US" sz="1100" dirty="0"/>
              <a:t>Case in point – Eagle computer. Catholic church, Every organization needs a little religion to be their best. 4</a:t>
            </a:r>
            <a:r>
              <a:rPr lang="en-US" sz="1100" baseline="30000" dirty="0"/>
              <a:t>th</a:t>
            </a:r>
            <a:r>
              <a:rPr lang="en-US" sz="1100" dirty="0"/>
              <a:t> role is to build that religion. </a:t>
            </a:r>
          </a:p>
          <a:p>
            <a:r>
              <a:rPr lang="en-US" sz="1100" dirty="0"/>
              <a:t>Developed by all those activities focused on build a strong corporate culture and the human capital side of the business, attract and retain a strong team, deep bench, so that no one or few person indispensible to success.    </a:t>
            </a:r>
          </a:p>
          <a:p>
            <a:r>
              <a:rPr lang="en-US" sz="1100" dirty="0"/>
              <a:t>Hand versus chair. Organic consciousness, most important finger, lose finger</a:t>
            </a:r>
          </a:p>
          <a:p>
            <a:r>
              <a:rPr lang="en-US" sz="1100" dirty="0"/>
              <a:t>Clues = how people talk about org “they” have a problem over in sales”,</a:t>
            </a:r>
          </a:p>
          <a:p>
            <a:r>
              <a:rPr lang="en-US" sz="1100" dirty="0"/>
              <a:t>I Role = least understand of all the roles, but also the most important. Want to know how to predict the success  of your company?  Look at the quality of your strategies and products?  No look at the strength of your management team; strong team handle big problems, weak = little. </a:t>
            </a:r>
          </a:p>
          <a:p>
            <a:endParaRPr lang="en-US" sz="1100" dirty="0"/>
          </a:p>
          <a:p>
            <a:r>
              <a:rPr lang="en-US" sz="1100" dirty="0"/>
              <a:t>Together all 4 roles are necessary and sufficient conditions for becoming a quad company.  If one of your goals is profit will be profitable ST and LT. </a:t>
            </a:r>
          </a:p>
          <a:p>
            <a:endParaRPr lang="en-US" sz="1100" dirty="0"/>
          </a:p>
          <a:p>
            <a:endParaRPr lang="en-US" sz="1100" dirty="0"/>
          </a:p>
          <a:p>
            <a:endParaRPr lang="en-US" sz="1100" dirty="0"/>
          </a:p>
          <a:p>
            <a:endParaRPr lang="en-US" sz="1100" dirty="0"/>
          </a:p>
        </p:txBody>
      </p:sp>
      <p:sp>
        <p:nvSpPr>
          <p:cNvPr id="3" name="Date Placeholder 2">
            <a:extLst>
              <a:ext uri="{FF2B5EF4-FFF2-40B4-BE49-F238E27FC236}">
                <a16:creationId xmlns:a16="http://schemas.microsoft.com/office/drawing/2014/main" id="{B4F6407C-4CFB-44C7-9D34-A2A620718E53}"/>
              </a:ext>
            </a:extLst>
          </p:cNvPr>
          <p:cNvSpPr>
            <a:spLocks noGrp="1"/>
          </p:cNvSpPr>
          <p:nvPr>
            <p:ph type="dt" idx="1"/>
          </p:nvPr>
        </p:nvSpPr>
        <p:spPr/>
        <p:txBody>
          <a:bodyPr/>
          <a:lstStyle/>
          <a:p>
            <a:fld id="{8BFA6C33-EC31-4B93-A063-D0619F3CCD2C}" type="datetime1">
              <a:rPr lang="en-US" smtClean="0"/>
              <a:t>5/24/2019</a:t>
            </a:fld>
            <a:endParaRPr lang="en-US"/>
          </a:p>
        </p:txBody>
      </p:sp>
      <p:sp>
        <p:nvSpPr>
          <p:cNvPr id="4" name="Slide Number Placeholder 3">
            <a:extLst>
              <a:ext uri="{FF2B5EF4-FFF2-40B4-BE49-F238E27FC236}">
                <a16:creationId xmlns:a16="http://schemas.microsoft.com/office/drawing/2014/main" id="{6D14DF34-7E70-46E9-9F4F-7F76C5E2B489}"/>
              </a:ext>
            </a:extLst>
          </p:cNvPr>
          <p:cNvSpPr>
            <a:spLocks noGrp="1"/>
          </p:cNvSpPr>
          <p:nvPr>
            <p:ph type="sldNum" sz="quarter" idx="5"/>
          </p:nvPr>
        </p:nvSpPr>
        <p:spPr/>
        <p:txBody>
          <a:bodyPr/>
          <a:lstStyle/>
          <a:p>
            <a:fld id="{24EF2F91-4323-B74D-B79D-021650C5EEF6}" type="slidenum">
              <a:rPr lang="en-US" smtClean="0"/>
              <a:t>9</a:t>
            </a:fld>
            <a:endParaRPr lang="en-US"/>
          </a:p>
        </p:txBody>
      </p:sp>
    </p:spTree>
    <p:extLst>
      <p:ext uri="{BB962C8B-B14F-4D97-AF65-F5344CB8AC3E}">
        <p14:creationId xmlns:p14="http://schemas.microsoft.com/office/powerpoint/2010/main" val="1980540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Rot="1" noChangeAspect="1" noChangeArrowheads="1" noTextEdit="1"/>
          </p:cNvSpPr>
          <p:nvPr>
            <p:ph type="sldImg"/>
          </p:nvPr>
        </p:nvSpPr>
        <p:spPr>
          <a:xfrm>
            <a:off x="-1457325" y="914400"/>
            <a:ext cx="8047038" cy="4527550"/>
          </a:xfrm>
          <a:solidFill>
            <a:srgbClr val="FFFFFF"/>
          </a:solidFill>
          <a:ln/>
        </p:spPr>
      </p:sp>
      <p:sp>
        <p:nvSpPr>
          <p:cNvPr id="5" name="Notes Placeholder 4"/>
          <p:cNvSpPr>
            <a:spLocks noGrp="1"/>
          </p:cNvSpPr>
          <p:nvPr>
            <p:ph type="body" sz="quarter" idx="10"/>
          </p:nvPr>
        </p:nvSpPr>
        <p:spPr/>
        <p:txBody>
          <a:bodyPr>
            <a:normAutofit fontScale="92500" lnSpcReduction="20000"/>
          </a:bodyPr>
          <a:lstStyle/>
          <a:p>
            <a:r>
              <a:rPr lang="en-US" sz="1100" dirty="0"/>
              <a:t>Turns out that quad companies have developed four core management capabilities. </a:t>
            </a:r>
          </a:p>
          <a:p>
            <a:endParaRPr lang="en-US" sz="1100" dirty="0"/>
          </a:p>
          <a:p>
            <a:r>
              <a:rPr lang="en-US" sz="1100" dirty="0"/>
              <a:t>First is to Produce Results </a:t>
            </a:r>
          </a:p>
          <a:p>
            <a:r>
              <a:rPr lang="en-US" sz="1100" dirty="0"/>
              <a:t>Old saying – 3 kinds of people; make, watch, wonder,</a:t>
            </a:r>
          </a:p>
          <a:p>
            <a:r>
              <a:rPr lang="en-US" sz="1100" dirty="0"/>
              <a:t>trick question</a:t>
            </a:r>
          </a:p>
          <a:p>
            <a:r>
              <a:rPr lang="en-US" sz="1100" dirty="0"/>
              <a:t>Developed by all those activities to choose, understand and serve clients. </a:t>
            </a:r>
          </a:p>
          <a:p>
            <a:endParaRPr lang="en-US" sz="1100" dirty="0"/>
          </a:p>
          <a:p>
            <a:r>
              <a:rPr lang="en-US" sz="1100" dirty="0"/>
              <a:t>Developed by all those activities focused on getting organized and building out the infrastructure needed to support the business consistently delivered quality products and optimal cost. A builds lean mean machines by focusing on systems, structures, process, methods, tools.  Capture learning curve, minimize mistakes and inefficiency. </a:t>
            </a:r>
          </a:p>
          <a:p>
            <a:endParaRPr lang="en-US" sz="1100" dirty="0"/>
          </a:p>
          <a:p>
            <a:r>
              <a:rPr lang="en-US" sz="1100" dirty="0"/>
              <a:t>Once you figure our your customers and finally get things running right, what happens? Change happens.   3</a:t>
            </a:r>
            <a:r>
              <a:rPr lang="en-US" sz="1100" baseline="30000" dirty="0"/>
              <a:t>rd</a:t>
            </a:r>
            <a:r>
              <a:rPr lang="en-US" sz="1100" dirty="0"/>
              <a:t> roles is to develop capability to change. </a:t>
            </a:r>
          </a:p>
          <a:p>
            <a:endParaRPr lang="en-US" sz="1100" dirty="0"/>
          </a:p>
          <a:p>
            <a:r>
              <a:rPr lang="en-US" sz="1100" dirty="0"/>
              <a:t>Many companies strong at P, A and E but are not quad because they are weak in the 4</a:t>
            </a:r>
            <a:r>
              <a:rPr lang="en-US" sz="1100" baseline="30000" dirty="0"/>
              <a:t>th</a:t>
            </a:r>
            <a:r>
              <a:rPr lang="en-US" sz="1100" dirty="0"/>
              <a:t> role.</a:t>
            </a:r>
          </a:p>
          <a:p>
            <a:r>
              <a:rPr lang="en-US" sz="1100" dirty="0"/>
              <a:t>Case in point – Eagle computer. Catholic church, Every organization needs a little religion to be their best. 4</a:t>
            </a:r>
            <a:r>
              <a:rPr lang="en-US" sz="1100" baseline="30000" dirty="0"/>
              <a:t>th</a:t>
            </a:r>
            <a:r>
              <a:rPr lang="en-US" sz="1100" dirty="0"/>
              <a:t> role is to build that religion. </a:t>
            </a:r>
          </a:p>
          <a:p>
            <a:r>
              <a:rPr lang="en-US" sz="1100" dirty="0"/>
              <a:t>Developed by all those activities focused on build a strong corporate culture and the human capital side of the business, attract and retain a strong team, deep bench, so that no one or few person indispensible to success.    </a:t>
            </a:r>
          </a:p>
          <a:p>
            <a:r>
              <a:rPr lang="en-US" sz="1100" dirty="0"/>
              <a:t>Hand versus chair. Organic consciousness, most important finger, lose finger</a:t>
            </a:r>
          </a:p>
          <a:p>
            <a:r>
              <a:rPr lang="en-US" sz="1100" dirty="0"/>
              <a:t>Clues = how people talk about org “they” have a problem over in sales”,</a:t>
            </a:r>
          </a:p>
          <a:p>
            <a:r>
              <a:rPr lang="en-US" sz="1100" dirty="0"/>
              <a:t>I Role = least understand of all the roles, but also the most important. Want to know how to predict the success  of your company?  Look at the quality of your strategies and products?  No look at the strength of your management team; strong team handle big problems, weak = little. </a:t>
            </a:r>
          </a:p>
          <a:p>
            <a:endParaRPr lang="en-US" sz="1100" dirty="0"/>
          </a:p>
          <a:p>
            <a:r>
              <a:rPr lang="en-US" sz="1100" dirty="0"/>
              <a:t>Together all 4 roles are necessary and sufficient conditions for becoming a quad company.  If one of your goals is profit will be profitable ST and LT. </a:t>
            </a:r>
          </a:p>
          <a:p>
            <a:endParaRPr lang="en-US" sz="1100" dirty="0"/>
          </a:p>
          <a:p>
            <a:endParaRPr lang="en-US" sz="1100" dirty="0"/>
          </a:p>
          <a:p>
            <a:endParaRPr lang="en-US" sz="1100" dirty="0"/>
          </a:p>
          <a:p>
            <a:endParaRPr lang="en-US" sz="1100" dirty="0"/>
          </a:p>
        </p:txBody>
      </p:sp>
      <p:sp>
        <p:nvSpPr>
          <p:cNvPr id="3" name="Date Placeholder 2">
            <a:extLst>
              <a:ext uri="{FF2B5EF4-FFF2-40B4-BE49-F238E27FC236}">
                <a16:creationId xmlns:a16="http://schemas.microsoft.com/office/drawing/2014/main" id="{7E9BAC3D-1EED-4F8B-9FFD-2C2BC24D15F8}"/>
              </a:ext>
            </a:extLst>
          </p:cNvPr>
          <p:cNvSpPr>
            <a:spLocks noGrp="1"/>
          </p:cNvSpPr>
          <p:nvPr>
            <p:ph type="dt" idx="1"/>
          </p:nvPr>
        </p:nvSpPr>
        <p:spPr/>
        <p:txBody>
          <a:bodyPr/>
          <a:lstStyle/>
          <a:p>
            <a:fld id="{846105C9-59B3-4152-862C-CEBC45C9316D}" type="datetime1">
              <a:rPr lang="en-US" smtClean="0"/>
              <a:t>5/24/2019</a:t>
            </a:fld>
            <a:endParaRPr lang="en-US"/>
          </a:p>
        </p:txBody>
      </p:sp>
      <p:sp>
        <p:nvSpPr>
          <p:cNvPr id="4" name="Slide Number Placeholder 3">
            <a:extLst>
              <a:ext uri="{FF2B5EF4-FFF2-40B4-BE49-F238E27FC236}">
                <a16:creationId xmlns:a16="http://schemas.microsoft.com/office/drawing/2014/main" id="{3FCE44FA-FFB3-4F2D-AD29-EDAAC05CD98E}"/>
              </a:ext>
            </a:extLst>
          </p:cNvPr>
          <p:cNvSpPr>
            <a:spLocks noGrp="1"/>
          </p:cNvSpPr>
          <p:nvPr>
            <p:ph type="sldNum" sz="quarter" idx="5"/>
          </p:nvPr>
        </p:nvSpPr>
        <p:spPr/>
        <p:txBody>
          <a:bodyPr/>
          <a:lstStyle/>
          <a:p>
            <a:fld id="{24EF2F91-4323-B74D-B79D-021650C5EEF6}" type="slidenum">
              <a:rPr lang="en-US" smtClean="0"/>
              <a:t>12</a:t>
            </a:fld>
            <a:endParaRPr lang="en-US"/>
          </a:p>
        </p:txBody>
      </p:sp>
    </p:spTree>
    <p:extLst>
      <p:ext uri="{BB962C8B-B14F-4D97-AF65-F5344CB8AC3E}">
        <p14:creationId xmlns:p14="http://schemas.microsoft.com/office/powerpoint/2010/main" val="36648689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2"/>
          <p:cNvSpPr>
            <a:spLocks noGrp="1" noRot="1" noChangeAspect="1" noChangeArrowheads="1" noTextEdit="1"/>
          </p:cNvSpPr>
          <p:nvPr>
            <p:ph type="sldImg"/>
          </p:nvPr>
        </p:nvSpPr>
        <p:spPr>
          <a:xfrm>
            <a:off x="412750" y="715963"/>
            <a:ext cx="6294438" cy="3541712"/>
          </a:xfrm>
          <a:ln/>
        </p:spPr>
      </p:sp>
      <p:sp>
        <p:nvSpPr>
          <p:cNvPr id="249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lv-LV">
              <a:latin typeface="Times New Roman" pitchFamily="18" charset="0"/>
              <a:ea typeface="ＭＳ Ｐゴシック" pitchFamily="34" charset="-128"/>
            </a:endParaRPr>
          </a:p>
        </p:txBody>
      </p:sp>
      <p:sp>
        <p:nvSpPr>
          <p:cNvPr id="3" name="Date Placeholder 2">
            <a:extLst>
              <a:ext uri="{FF2B5EF4-FFF2-40B4-BE49-F238E27FC236}">
                <a16:creationId xmlns:a16="http://schemas.microsoft.com/office/drawing/2014/main" id="{E9F63543-20E1-40A6-987E-2689CBB29C53}"/>
              </a:ext>
            </a:extLst>
          </p:cNvPr>
          <p:cNvSpPr>
            <a:spLocks noGrp="1"/>
          </p:cNvSpPr>
          <p:nvPr>
            <p:ph type="dt" idx="1"/>
          </p:nvPr>
        </p:nvSpPr>
        <p:spPr/>
        <p:txBody>
          <a:bodyPr/>
          <a:lstStyle/>
          <a:p>
            <a:fld id="{71CF7C47-6FBD-4AF8-87B8-4BC9DE4A092B}" type="datetime1">
              <a:rPr lang="en-US" smtClean="0"/>
              <a:t>5/24/2019</a:t>
            </a:fld>
            <a:endParaRPr lang="en-US"/>
          </a:p>
        </p:txBody>
      </p:sp>
      <p:sp>
        <p:nvSpPr>
          <p:cNvPr id="4" name="Slide Number Placeholder 3">
            <a:extLst>
              <a:ext uri="{FF2B5EF4-FFF2-40B4-BE49-F238E27FC236}">
                <a16:creationId xmlns:a16="http://schemas.microsoft.com/office/drawing/2014/main" id="{E82324C6-C96D-49B9-804D-89F3A22F8AD0}"/>
              </a:ext>
            </a:extLst>
          </p:cNvPr>
          <p:cNvSpPr>
            <a:spLocks noGrp="1"/>
          </p:cNvSpPr>
          <p:nvPr>
            <p:ph type="sldNum" sz="quarter" idx="5"/>
          </p:nvPr>
        </p:nvSpPr>
        <p:spPr/>
        <p:txBody>
          <a:bodyPr/>
          <a:lstStyle/>
          <a:p>
            <a:fld id="{24EF2F91-4323-B74D-B79D-021650C5EEF6}" type="slidenum">
              <a:rPr lang="en-US" smtClean="0"/>
              <a:t>13</a:t>
            </a:fld>
            <a:endParaRPr lang="en-US"/>
          </a:p>
        </p:txBody>
      </p:sp>
    </p:spTree>
    <p:extLst>
      <p:ext uri="{BB962C8B-B14F-4D97-AF65-F5344CB8AC3E}">
        <p14:creationId xmlns:p14="http://schemas.microsoft.com/office/powerpoint/2010/main" val="998705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3" name="Rectangle 2"/>
          <p:cNvSpPr>
            <a:spLocks noGrp="1" noRot="1" noChangeAspect="1" noChangeArrowheads="1" noTextEdit="1"/>
          </p:cNvSpPr>
          <p:nvPr>
            <p:ph type="sldImg"/>
          </p:nvPr>
        </p:nvSpPr>
        <p:spPr>
          <a:xfrm>
            <a:off x="412750" y="715963"/>
            <a:ext cx="6294438" cy="3541712"/>
          </a:xfrm>
          <a:ln/>
        </p:spPr>
      </p:sp>
      <p:sp>
        <p:nvSpPr>
          <p:cNvPr id="250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lv-LV">
              <a:latin typeface="Times New Roman" pitchFamily="18" charset="0"/>
              <a:ea typeface="ＭＳ Ｐゴシック" pitchFamily="34" charset="-128"/>
            </a:endParaRPr>
          </a:p>
        </p:txBody>
      </p:sp>
      <p:sp>
        <p:nvSpPr>
          <p:cNvPr id="3" name="Date Placeholder 2">
            <a:extLst>
              <a:ext uri="{FF2B5EF4-FFF2-40B4-BE49-F238E27FC236}">
                <a16:creationId xmlns:a16="http://schemas.microsoft.com/office/drawing/2014/main" id="{D9C20F74-C8A2-47D5-B788-A69155A066CD}"/>
              </a:ext>
            </a:extLst>
          </p:cNvPr>
          <p:cNvSpPr>
            <a:spLocks noGrp="1"/>
          </p:cNvSpPr>
          <p:nvPr>
            <p:ph type="dt" idx="1"/>
          </p:nvPr>
        </p:nvSpPr>
        <p:spPr/>
        <p:txBody>
          <a:bodyPr/>
          <a:lstStyle/>
          <a:p>
            <a:fld id="{29281520-8156-418A-8A4F-5004EC7D3D20}" type="datetime1">
              <a:rPr lang="en-US" smtClean="0"/>
              <a:t>5/24/2019</a:t>
            </a:fld>
            <a:endParaRPr lang="en-US"/>
          </a:p>
        </p:txBody>
      </p:sp>
      <p:sp>
        <p:nvSpPr>
          <p:cNvPr id="4" name="Slide Number Placeholder 3">
            <a:extLst>
              <a:ext uri="{FF2B5EF4-FFF2-40B4-BE49-F238E27FC236}">
                <a16:creationId xmlns:a16="http://schemas.microsoft.com/office/drawing/2014/main" id="{9E2E005C-5326-42C8-99D8-96394BCB91B1}"/>
              </a:ext>
            </a:extLst>
          </p:cNvPr>
          <p:cNvSpPr>
            <a:spLocks noGrp="1"/>
          </p:cNvSpPr>
          <p:nvPr>
            <p:ph type="sldNum" sz="quarter" idx="5"/>
          </p:nvPr>
        </p:nvSpPr>
        <p:spPr/>
        <p:txBody>
          <a:bodyPr/>
          <a:lstStyle/>
          <a:p>
            <a:fld id="{24EF2F91-4323-B74D-B79D-021650C5EEF6}" type="slidenum">
              <a:rPr lang="en-US" smtClean="0"/>
              <a:t>14</a:t>
            </a:fld>
            <a:endParaRPr lang="en-US"/>
          </a:p>
        </p:txBody>
      </p:sp>
    </p:spTree>
    <p:extLst>
      <p:ext uri="{BB962C8B-B14F-4D97-AF65-F5344CB8AC3E}">
        <p14:creationId xmlns:p14="http://schemas.microsoft.com/office/powerpoint/2010/main" val="1573378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2"/>
          <p:cNvSpPr>
            <a:spLocks noGrp="1" noRot="1" noChangeAspect="1" noChangeArrowheads="1" noTextEdit="1"/>
          </p:cNvSpPr>
          <p:nvPr>
            <p:ph type="sldImg"/>
          </p:nvPr>
        </p:nvSpPr>
        <p:spPr>
          <a:xfrm>
            <a:off x="444500" y="714375"/>
            <a:ext cx="6288088" cy="3536950"/>
          </a:xfrm>
          <a:ln/>
        </p:spPr>
      </p:sp>
      <p:sp>
        <p:nvSpPr>
          <p:cNvPr id="249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lv-LV">
              <a:latin typeface="Times New Roman" pitchFamily="18" charset="0"/>
              <a:ea typeface="ＭＳ Ｐゴシック" pitchFamily="34" charset="-128"/>
            </a:endParaRPr>
          </a:p>
        </p:txBody>
      </p:sp>
      <p:sp>
        <p:nvSpPr>
          <p:cNvPr id="3" name="Date Placeholder 2">
            <a:extLst>
              <a:ext uri="{FF2B5EF4-FFF2-40B4-BE49-F238E27FC236}">
                <a16:creationId xmlns:a16="http://schemas.microsoft.com/office/drawing/2014/main" id="{E5C3C9DE-59B2-43D9-A31B-846AFEC3CEA7}"/>
              </a:ext>
            </a:extLst>
          </p:cNvPr>
          <p:cNvSpPr>
            <a:spLocks noGrp="1"/>
          </p:cNvSpPr>
          <p:nvPr>
            <p:ph type="dt" idx="1"/>
          </p:nvPr>
        </p:nvSpPr>
        <p:spPr/>
        <p:txBody>
          <a:bodyPr/>
          <a:lstStyle/>
          <a:p>
            <a:fld id="{6DEA4087-37B1-479A-B961-9B44CC1300AB}" type="datetime1">
              <a:rPr lang="en-US" smtClean="0"/>
              <a:t>5/24/2019</a:t>
            </a:fld>
            <a:endParaRPr lang="en-US"/>
          </a:p>
        </p:txBody>
      </p:sp>
      <p:sp>
        <p:nvSpPr>
          <p:cNvPr id="4" name="Slide Number Placeholder 3">
            <a:extLst>
              <a:ext uri="{FF2B5EF4-FFF2-40B4-BE49-F238E27FC236}">
                <a16:creationId xmlns:a16="http://schemas.microsoft.com/office/drawing/2014/main" id="{DAB95019-713B-4F41-BB28-B97F8CC05D7C}"/>
              </a:ext>
            </a:extLst>
          </p:cNvPr>
          <p:cNvSpPr>
            <a:spLocks noGrp="1"/>
          </p:cNvSpPr>
          <p:nvPr>
            <p:ph type="sldNum" sz="quarter" idx="5"/>
          </p:nvPr>
        </p:nvSpPr>
        <p:spPr/>
        <p:txBody>
          <a:bodyPr/>
          <a:lstStyle/>
          <a:p>
            <a:fld id="{24EF2F91-4323-B74D-B79D-021650C5EEF6}" type="slidenum">
              <a:rPr lang="en-US" smtClean="0"/>
              <a:t>20</a:t>
            </a:fld>
            <a:endParaRPr lang="en-US"/>
          </a:p>
        </p:txBody>
      </p:sp>
    </p:spTree>
    <p:extLst>
      <p:ext uri="{BB962C8B-B14F-4D97-AF65-F5344CB8AC3E}">
        <p14:creationId xmlns:p14="http://schemas.microsoft.com/office/powerpoint/2010/main" val="10603425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3" name="Rectangle 2"/>
          <p:cNvSpPr>
            <a:spLocks noGrp="1" noRot="1" noChangeAspect="1" noChangeArrowheads="1" noTextEdit="1"/>
          </p:cNvSpPr>
          <p:nvPr>
            <p:ph type="sldImg"/>
          </p:nvPr>
        </p:nvSpPr>
        <p:spPr>
          <a:xfrm>
            <a:off x="444500" y="714375"/>
            <a:ext cx="6288088" cy="3536950"/>
          </a:xfrm>
          <a:ln/>
        </p:spPr>
      </p:sp>
      <p:sp>
        <p:nvSpPr>
          <p:cNvPr id="250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lv-LV">
              <a:latin typeface="Times New Roman" pitchFamily="18" charset="0"/>
              <a:ea typeface="ＭＳ Ｐゴシック" pitchFamily="34" charset="-128"/>
            </a:endParaRPr>
          </a:p>
        </p:txBody>
      </p:sp>
      <p:sp>
        <p:nvSpPr>
          <p:cNvPr id="3" name="Date Placeholder 2">
            <a:extLst>
              <a:ext uri="{FF2B5EF4-FFF2-40B4-BE49-F238E27FC236}">
                <a16:creationId xmlns:a16="http://schemas.microsoft.com/office/drawing/2014/main" id="{72AFD016-A845-4E05-850A-4E1777ECE485}"/>
              </a:ext>
            </a:extLst>
          </p:cNvPr>
          <p:cNvSpPr>
            <a:spLocks noGrp="1"/>
          </p:cNvSpPr>
          <p:nvPr>
            <p:ph type="dt" idx="1"/>
          </p:nvPr>
        </p:nvSpPr>
        <p:spPr/>
        <p:txBody>
          <a:bodyPr/>
          <a:lstStyle/>
          <a:p>
            <a:fld id="{52016760-3487-4E3F-9FB0-51E478B76193}" type="datetime1">
              <a:rPr lang="en-US" smtClean="0"/>
              <a:t>5/24/2019</a:t>
            </a:fld>
            <a:endParaRPr lang="en-US"/>
          </a:p>
        </p:txBody>
      </p:sp>
      <p:sp>
        <p:nvSpPr>
          <p:cNvPr id="4" name="Slide Number Placeholder 3">
            <a:extLst>
              <a:ext uri="{FF2B5EF4-FFF2-40B4-BE49-F238E27FC236}">
                <a16:creationId xmlns:a16="http://schemas.microsoft.com/office/drawing/2014/main" id="{34FEAE6D-8E1D-45FA-AB21-82E8BCC1B466}"/>
              </a:ext>
            </a:extLst>
          </p:cNvPr>
          <p:cNvSpPr>
            <a:spLocks noGrp="1"/>
          </p:cNvSpPr>
          <p:nvPr>
            <p:ph type="sldNum" sz="quarter" idx="5"/>
          </p:nvPr>
        </p:nvSpPr>
        <p:spPr/>
        <p:txBody>
          <a:bodyPr/>
          <a:lstStyle/>
          <a:p>
            <a:fld id="{24EF2F91-4323-B74D-B79D-021650C5EEF6}" type="slidenum">
              <a:rPr lang="en-US" smtClean="0"/>
              <a:t>21</a:t>
            </a:fld>
            <a:endParaRPr lang="en-US"/>
          </a:p>
        </p:txBody>
      </p:sp>
    </p:spTree>
    <p:extLst>
      <p:ext uri="{BB962C8B-B14F-4D97-AF65-F5344CB8AC3E}">
        <p14:creationId xmlns:p14="http://schemas.microsoft.com/office/powerpoint/2010/main" val="2519158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2"/>
          <p:cNvSpPr>
            <a:spLocks noGrp="1" noRot="1" noChangeAspect="1" noChangeArrowheads="1" noTextEdit="1"/>
          </p:cNvSpPr>
          <p:nvPr>
            <p:ph type="sldImg"/>
          </p:nvPr>
        </p:nvSpPr>
        <p:spPr>
          <a:xfrm>
            <a:off x="444500" y="714375"/>
            <a:ext cx="6288088" cy="3536950"/>
          </a:xfrm>
          <a:ln/>
        </p:spPr>
      </p:sp>
      <p:sp>
        <p:nvSpPr>
          <p:cNvPr id="249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lv-LV">
              <a:latin typeface="Times New Roman" pitchFamily="18" charset="0"/>
              <a:ea typeface="ＭＳ Ｐゴシック" pitchFamily="34" charset="-128"/>
            </a:endParaRPr>
          </a:p>
        </p:txBody>
      </p:sp>
      <p:sp>
        <p:nvSpPr>
          <p:cNvPr id="3" name="Date Placeholder 2">
            <a:extLst>
              <a:ext uri="{FF2B5EF4-FFF2-40B4-BE49-F238E27FC236}">
                <a16:creationId xmlns:a16="http://schemas.microsoft.com/office/drawing/2014/main" id="{99F93A6F-43A4-4C4B-A675-B5BDD06A638B}"/>
              </a:ext>
            </a:extLst>
          </p:cNvPr>
          <p:cNvSpPr>
            <a:spLocks noGrp="1"/>
          </p:cNvSpPr>
          <p:nvPr>
            <p:ph type="dt" idx="1"/>
          </p:nvPr>
        </p:nvSpPr>
        <p:spPr/>
        <p:txBody>
          <a:bodyPr/>
          <a:lstStyle/>
          <a:p>
            <a:fld id="{9A3BC04A-7544-4A5B-8866-5AD2F6F25DE7}" type="datetime1">
              <a:rPr lang="en-US" smtClean="0"/>
              <a:t>5/24/2019</a:t>
            </a:fld>
            <a:endParaRPr lang="en-US"/>
          </a:p>
        </p:txBody>
      </p:sp>
      <p:sp>
        <p:nvSpPr>
          <p:cNvPr id="4" name="Slide Number Placeholder 3">
            <a:extLst>
              <a:ext uri="{FF2B5EF4-FFF2-40B4-BE49-F238E27FC236}">
                <a16:creationId xmlns:a16="http://schemas.microsoft.com/office/drawing/2014/main" id="{E3982FCC-A69E-4DA4-B206-56D79FC0566F}"/>
              </a:ext>
            </a:extLst>
          </p:cNvPr>
          <p:cNvSpPr>
            <a:spLocks noGrp="1"/>
          </p:cNvSpPr>
          <p:nvPr>
            <p:ph type="sldNum" sz="quarter" idx="5"/>
          </p:nvPr>
        </p:nvSpPr>
        <p:spPr/>
        <p:txBody>
          <a:bodyPr/>
          <a:lstStyle/>
          <a:p>
            <a:fld id="{24EF2F91-4323-B74D-B79D-021650C5EEF6}" type="slidenum">
              <a:rPr lang="en-US" smtClean="0"/>
              <a:t>27</a:t>
            </a:fld>
            <a:endParaRPr lang="en-US"/>
          </a:p>
        </p:txBody>
      </p:sp>
    </p:spTree>
    <p:extLst>
      <p:ext uri="{BB962C8B-B14F-4D97-AF65-F5344CB8AC3E}">
        <p14:creationId xmlns:p14="http://schemas.microsoft.com/office/powerpoint/2010/main" val="9987055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a:p>
        </p:txBody>
      </p:sp>
      <p:sp>
        <p:nvSpPr>
          <p:cNvPr id="6" name="Date Placeholder 5">
            <a:extLst>
              <a:ext uri="{FF2B5EF4-FFF2-40B4-BE49-F238E27FC236}">
                <a16:creationId xmlns:a16="http://schemas.microsoft.com/office/drawing/2014/main" id="{1FD373A9-F845-4720-95CE-CF5391AB136C}"/>
              </a:ext>
            </a:extLst>
          </p:cNvPr>
          <p:cNvSpPr>
            <a:spLocks noGrp="1"/>
          </p:cNvSpPr>
          <p:nvPr>
            <p:ph type="dt" idx="1"/>
          </p:nvPr>
        </p:nvSpPr>
        <p:spPr/>
        <p:txBody>
          <a:bodyPr/>
          <a:lstStyle/>
          <a:p>
            <a:fld id="{91CEAEC7-B50B-4F56-909A-5B5D3139BC4B}" type="datetime1">
              <a:rPr lang="en-US" smtClean="0"/>
              <a:t>5/24/2019</a:t>
            </a:fld>
            <a:endParaRPr lang="en-US"/>
          </a:p>
        </p:txBody>
      </p:sp>
      <p:sp>
        <p:nvSpPr>
          <p:cNvPr id="7" name="Slide Number Placeholder 6">
            <a:extLst>
              <a:ext uri="{FF2B5EF4-FFF2-40B4-BE49-F238E27FC236}">
                <a16:creationId xmlns:a16="http://schemas.microsoft.com/office/drawing/2014/main" id="{82108348-8A6B-4B6A-92FC-3A2F2D2402CD}"/>
              </a:ext>
            </a:extLst>
          </p:cNvPr>
          <p:cNvSpPr>
            <a:spLocks noGrp="1"/>
          </p:cNvSpPr>
          <p:nvPr>
            <p:ph type="sldNum" sz="quarter" idx="5"/>
          </p:nvPr>
        </p:nvSpPr>
        <p:spPr/>
        <p:txBody>
          <a:bodyPr/>
          <a:lstStyle/>
          <a:p>
            <a:fld id="{24EF2F91-4323-B74D-B79D-021650C5EEF6}" type="slidenum">
              <a:rPr lang="en-US" smtClean="0"/>
              <a:t>29</a:t>
            </a:fld>
            <a:endParaRPr lang="en-US"/>
          </a:p>
        </p:txBody>
      </p:sp>
    </p:spTree>
    <p:extLst>
      <p:ext uri="{BB962C8B-B14F-4D97-AF65-F5344CB8AC3E}">
        <p14:creationId xmlns:p14="http://schemas.microsoft.com/office/powerpoint/2010/main" val="23989953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2"/>
          <p:cNvSpPr>
            <a:spLocks noGrp="1" noRot="1" noChangeAspect="1" noChangeArrowheads="1" noTextEdit="1"/>
          </p:cNvSpPr>
          <p:nvPr>
            <p:ph type="sldImg"/>
          </p:nvPr>
        </p:nvSpPr>
        <p:spPr>
          <a:xfrm>
            <a:off x="444500" y="714375"/>
            <a:ext cx="6288088" cy="3536950"/>
          </a:xfrm>
          <a:ln/>
        </p:spPr>
      </p:sp>
      <p:sp>
        <p:nvSpPr>
          <p:cNvPr id="249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t-LT" altLang="lv-LV">
              <a:latin typeface="Times New Roman" pitchFamily="18" charset="0"/>
              <a:ea typeface="ＭＳ Ｐゴシック" pitchFamily="34" charset="-128"/>
            </a:endParaRPr>
          </a:p>
        </p:txBody>
      </p:sp>
      <p:sp>
        <p:nvSpPr>
          <p:cNvPr id="3" name="Date Placeholder 2">
            <a:extLst>
              <a:ext uri="{FF2B5EF4-FFF2-40B4-BE49-F238E27FC236}">
                <a16:creationId xmlns:a16="http://schemas.microsoft.com/office/drawing/2014/main" id="{8AB71455-6925-4F18-A59D-5CF3DEF437C7}"/>
              </a:ext>
            </a:extLst>
          </p:cNvPr>
          <p:cNvSpPr>
            <a:spLocks noGrp="1"/>
          </p:cNvSpPr>
          <p:nvPr>
            <p:ph type="dt" idx="1"/>
          </p:nvPr>
        </p:nvSpPr>
        <p:spPr/>
        <p:txBody>
          <a:bodyPr/>
          <a:lstStyle/>
          <a:p>
            <a:fld id="{7D0D5992-A9F5-4B19-9A1B-3D7440A2A2DF}" type="datetime1">
              <a:rPr lang="en-US" smtClean="0"/>
              <a:t>5/24/2019</a:t>
            </a:fld>
            <a:endParaRPr lang="en-US"/>
          </a:p>
        </p:txBody>
      </p:sp>
      <p:sp>
        <p:nvSpPr>
          <p:cNvPr id="4" name="Slide Number Placeholder 3">
            <a:extLst>
              <a:ext uri="{FF2B5EF4-FFF2-40B4-BE49-F238E27FC236}">
                <a16:creationId xmlns:a16="http://schemas.microsoft.com/office/drawing/2014/main" id="{27FF5E5E-CB18-4691-B5A3-4FF8C8B62AB3}"/>
              </a:ext>
            </a:extLst>
          </p:cNvPr>
          <p:cNvSpPr>
            <a:spLocks noGrp="1"/>
          </p:cNvSpPr>
          <p:nvPr>
            <p:ph type="sldNum" sz="quarter" idx="5"/>
          </p:nvPr>
        </p:nvSpPr>
        <p:spPr/>
        <p:txBody>
          <a:bodyPr/>
          <a:lstStyle/>
          <a:p>
            <a:fld id="{24EF2F91-4323-B74D-B79D-021650C5EEF6}" type="slidenum">
              <a:rPr lang="en-US" smtClean="0"/>
              <a:t>33</a:t>
            </a:fld>
            <a:endParaRPr lang="en-US"/>
          </a:p>
        </p:txBody>
      </p:sp>
    </p:spTree>
    <p:extLst>
      <p:ext uri="{BB962C8B-B14F-4D97-AF65-F5344CB8AC3E}">
        <p14:creationId xmlns:p14="http://schemas.microsoft.com/office/powerpoint/2010/main" val="998705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a:p>
        </p:txBody>
      </p:sp>
      <p:sp>
        <p:nvSpPr>
          <p:cNvPr id="6" name="Date Placeholder 5">
            <a:extLst>
              <a:ext uri="{FF2B5EF4-FFF2-40B4-BE49-F238E27FC236}">
                <a16:creationId xmlns:a16="http://schemas.microsoft.com/office/drawing/2014/main" id="{6D8DD79F-FD18-44B9-8223-DF055D3C5A69}"/>
              </a:ext>
            </a:extLst>
          </p:cNvPr>
          <p:cNvSpPr>
            <a:spLocks noGrp="1"/>
          </p:cNvSpPr>
          <p:nvPr>
            <p:ph type="dt" idx="1"/>
          </p:nvPr>
        </p:nvSpPr>
        <p:spPr/>
        <p:txBody>
          <a:bodyPr/>
          <a:lstStyle/>
          <a:p>
            <a:fld id="{9EDC2F1D-0E01-4696-A014-81756B5C4867}" type="datetime1">
              <a:rPr lang="en-US" smtClean="0"/>
              <a:t>5/24/2019</a:t>
            </a:fld>
            <a:endParaRPr lang="en-US"/>
          </a:p>
        </p:txBody>
      </p:sp>
      <p:sp>
        <p:nvSpPr>
          <p:cNvPr id="7" name="Slide Number Placeholder 6">
            <a:extLst>
              <a:ext uri="{FF2B5EF4-FFF2-40B4-BE49-F238E27FC236}">
                <a16:creationId xmlns:a16="http://schemas.microsoft.com/office/drawing/2014/main" id="{CA85D54E-AEC8-4566-9BF3-88E7BAE31BCE}"/>
              </a:ext>
            </a:extLst>
          </p:cNvPr>
          <p:cNvSpPr>
            <a:spLocks noGrp="1"/>
          </p:cNvSpPr>
          <p:nvPr>
            <p:ph type="sldNum" sz="quarter" idx="5"/>
          </p:nvPr>
        </p:nvSpPr>
        <p:spPr/>
        <p:txBody>
          <a:bodyPr/>
          <a:lstStyle/>
          <a:p>
            <a:fld id="{24EF2F91-4323-B74D-B79D-021650C5EEF6}" type="slidenum">
              <a:rPr lang="en-US" smtClean="0"/>
              <a:t>35</a:t>
            </a:fld>
            <a:endParaRPr lang="en-US"/>
          </a:p>
        </p:txBody>
      </p:sp>
    </p:spTree>
    <p:extLst>
      <p:ext uri="{BB962C8B-B14F-4D97-AF65-F5344CB8AC3E}">
        <p14:creationId xmlns:p14="http://schemas.microsoft.com/office/powerpoint/2010/main" val="23989953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F6D840B-28A2-4B38-8F2A-B7442EA3351D}"/>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52800A15-5080-40F0-A747-38BCAFBF02C6}"/>
              </a:ext>
            </a:extLst>
          </p:cNvPr>
          <p:cNvSpPr>
            <a:spLocks noGrp="1" noChangeArrowheads="1"/>
          </p:cNvSpPr>
          <p:nvPr>
            <p:ph type="body" idx="1"/>
          </p:nvPr>
        </p:nvSpPr>
        <p:spPr>
          <a:xfrm>
            <a:off x="685800" y="4325938"/>
            <a:ext cx="5486400" cy="40973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en-US">
              <a:latin typeface="Times New Roman" panose="02020603050405020304" pitchFamily="18" charset="0"/>
              <a:ea typeface="MS PGothic" panose="020B0600070205080204" pitchFamily="34" charset="-128"/>
            </a:endParaRPr>
          </a:p>
        </p:txBody>
      </p:sp>
      <p:sp>
        <p:nvSpPr>
          <p:cNvPr id="3" name="Date Placeholder 2">
            <a:extLst>
              <a:ext uri="{FF2B5EF4-FFF2-40B4-BE49-F238E27FC236}">
                <a16:creationId xmlns:a16="http://schemas.microsoft.com/office/drawing/2014/main" id="{F828ECCF-A01E-44AB-B3D4-E252F9CE65F2}"/>
              </a:ext>
            </a:extLst>
          </p:cNvPr>
          <p:cNvSpPr>
            <a:spLocks noGrp="1"/>
          </p:cNvSpPr>
          <p:nvPr>
            <p:ph type="dt" idx="1"/>
          </p:nvPr>
        </p:nvSpPr>
        <p:spPr/>
        <p:txBody>
          <a:bodyPr/>
          <a:lstStyle/>
          <a:p>
            <a:fld id="{CA1E1758-1472-4E01-90CB-D50452A1B125}" type="datetime1">
              <a:rPr lang="en-US" smtClean="0"/>
              <a:t>5/24/2019</a:t>
            </a:fld>
            <a:endParaRPr lang="en-US"/>
          </a:p>
        </p:txBody>
      </p:sp>
      <p:sp>
        <p:nvSpPr>
          <p:cNvPr id="4" name="Slide Number Placeholder 3">
            <a:extLst>
              <a:ext uri="{FF2B5EF4-FFF2-40B4-BE49-F238E27FC236}">
                <a16:creationId xmlns:a16="http://schemas.microsoft.com/office/drawing/2014/main" id="{824F96A8-4C9E-40A1-961C-66AA8A1A89DC}"/>
              </a:ext>
            </a:extLst>
          </p:cNvPr>
          <p:cNvSpPr>
            <a:spLocks noGrp="1"/>
          </p:cNvSpPr>
          <p:nvPr>
            <p:ph type="sldNum" sz="quarter" idx="5"/>
          </p:nvPr>
        </p:nvSpPr>
        <p:spPr/>
        <p:txBody>
          <a:bodyPr/>
          <a:lstStyle/>
          <a:p>
            <a:fld id="{24EF2F91-4323-B74D-B79D-021650C5EEF6}" type="slidenum">
              <a:rPr lang="en-US" smtClean="0"/>
              <a:t>38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57247B7-DD42-4853-A52D-0B2AA0E1B93F}"/>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04F8CD7E-AA98-4A8B-8788-ED8E9B16380C}"/>
              </a:ext>
            </a:extLst>
          </p:cNvPr>
          <p:cNvSpPr>
            <a:spLocks noGrp="1" noChangeArrowheads="1"/>
          </p:cNvSpPr>
          <p:nvPr>
            <p:ph type="body" idx="1"/>
          </p:nvPr>
        </p:nvSpPr>
        <p:spPr>
          <a:xfrm>
            <a:off x="685800" y="4325938"/>
            <a:ext cx="5486400" cy="40973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en-US">
              <a:latin typeface="Times New Roman" panose="02020603050405020304" pitchFamily="18" charset="0"/>
              <a:ea typeface="MS PGothic" panose="020B0600070205080204" pitchFamily="34" charset="-128"/>
            </a:endParaRPr>
          </a:p>
        </p:txBody>
      </p:sp>
      <p:sp>
        <p:nvSpPr>
          <p:cNvPr id="3" name="Date Placeholder 2">
            <a:extLst>
              <a:ext uri="{FF2B5EF4-FFF2-40B4-BE49-F238E27FC236}">
                <a16:creationId xmlns:a16="http://schemas.microsoft.com/office/drawing/2014/main" id="{09E168AC-4FCB-4327-AF08-B0729D4A98D9}"/>
              </a:ext>
            </a:extLst>
          </p:cNvPr>
          <p:cNvSpPr>
            <a:spLocks noGrp="1"/>
          </p:cNvSpPr>
          <p:nvPr>
            <p:ph type="dt" idx="1"/>
          </p:nvPr>
        </p:nvSpPr>
        <p:spPr/>
        <p:txBody>
          <a:bodyPr/>
          <a:lstStyle/>
          <a:p>
            <a:fld id="{04D29623-96AA-4D76-BFDC-E83C8319F67B}" type="datetime1">
              <a:rPr lang="en-US" smtClean="0"/>
              <a:t>5/24/2019</a:t>
            </a:fld>
            <a:endParaRPr lang="en-US"/>
          </a:p>
        </p:txBody>
      </p:sp>
      <p:sp>
        <p:nvSpPr>
          <p:cNvPr id="4" name="Slide Number Placeholder 3">
            <a:extLst>
              <a:ext uri="{FF2B5EF4-FFF2-40B4-BE49-F238E27FC236}">
                <a16:creationId xmlns:a16="http://schemas.microsoft.com/office/drawing/2014/main" id="{9364FFEE-EE8C-4B26-96F6-6CE22519813C}"/>
              </a:ext>
            </a:extLst>
          </p:cNvPr>
          <p:cNvSpPr>
            <a:spLocks noGrp="1"/>
          </p:cNvSpPr>
          <p:nvPr>
            <p:ph type="sldNum" sz="quarter" idx="5"/>
          </p:nvPr>
        </p:nvSpPr>
        <p:spPr/>
        <p:txBody>
          <a:bodyPr/>
          <a:lstStyle/>
          <a:p>
            <a:fld id="{24EF2F91-4323-B74D-B79D-021650C5EEF6}" type="slidenum">
              <a:rPr lang="en-US" smtClean="0"/>
              <a:t>39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3075" name="Rectangle 3"/>
          <p:cNvSpPr>
            <a:spLocks noGrp="1" noChangeArrowheads="1"/>
          </p:cNvSpPr>
          <p:nvPr>
            <p:ph type="subTitle" idx="1" hasCustomPrompt="1"/>
          </p:nvPr>
        </p:nvSpPr>
        <p:spPr>
          <a:xfrm>
            <a:off x="2946400" y="5562600"/>
            <a:ext cx="6502400" cy="533400"/>
          </a:xfrm>
        </p:spPr>
        <p:txBody>
          <a:bodyPr/>
          <a:lstStyle>
            <a:lvl1pPr marL="0" indent="0" algn="ctr">
              <a:buFontTx/>
              <a:buNone/>
              <a:defRPr sz="2400" baseline="0">
                <a:solidFill>
                  <a:srgbClr val="002060"/>
                </a:solidFill>
                <a:latin typeface="Calibri" pitchFamily="34" charset="0"/>
              </a:defRPr>
            </a:lvl1pPr>
          </a:lstStyle>
          <a:p>
            <a:r>
              <a:rPr lang="en-US" dirty="0"/>
              <a:t>October 2013</a:t>
            </a:r>
          </a:p>
        </p:txBody>
      </p:sp>
      <p:sp>
        <p:nvSpPr>
          <p:cNvPr id="8" name="Text Placeholder 7"/>
          <p:cNvSpPr>
            <a:spLocks noGrp="1"/>
          </p:cNvSpPr>
          <p:nvPr>
            <p:ph type="body" sz="quarter" idx="10"/>
          </p:nvPr>
        </p:nvSpPr>
        <p:spPr>
          <a:xfrm>
            <a:off x="3251200" y="4038600"/>
            <a:ext cx="6197600" cy="137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2" descr="Image result for mailigen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77765" y="-108715"/>
            <a:ext cx="1580648" cy="1185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606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267200" y="109868"/>
            <a:ext cx="7416800" cy="609600"/>
          </a:xfrm>
        </p:spPr>
        <p:txBody>
          <a:bodyPr/>
          <a:lstStyle>
            <a:lvl1pPr>
              <a:defRPr>
                <a:latin typeface="Calibr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508001" y="990600"/>
            <a:ext cx="11175999" cy="533400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9"/>
          <p:cNvSpPr>
            <a:spLocks noGrp="1"/>
          </p:cNvSpPr>
          <p:nvPr>
            <p:ph type="sldNum" sz="quarter" idx="11"/>
          </p:nvPr>
        </p:nvSpPr>
        <p:spPr/>
        <p:txBody>
          <a:bodyPr/>
          <a:lstStyle>
            <a:lvl1pPr>
              <a:defRPr>
                <a:solidFill>
                  <a:schemeClr val="tx1"/>
                </a:solidFill>
              </a:defRPr>
            </a:lvl1pPr>
          </a:lstStyle>
          <a:p>
            <a:fld id="{7D094EDF-0033-47CF-8A3D-E294DA342974}" type="slidenum">
              <a:rPr lang="en-US" smtClean="0"/>
              <a:pPr/>
              <a:t>‹#›</a:t>
            </a:fld>
            <a:endParaRPr lang="en-US" dirty="0"/>
          </a:p>
        </p:txBody>
      </p:sp>
      <p:sp>
        <p:nvSpPr>
          <p:cNvPr id="6" name="Footer Placeholder 1"/>
          <p:cNvSpPr>
            <a:spLocks noGrp="1"/>
          </p:cNvSpPr>
          <p:nvPr>
            <p:ph type="ftr" sz="quarter" idx="3"/>
          </p:nvPr>
        </p:nvSpPr>
        <p:spPr>
          <a:xfrm>
            <a:off x="3149600" y="6462396"/>
            <a:ext cx="6019800" cy="243205"/>
          </a:xfrm>
          <a:prstGeom prst="rect">
            <a:avLst/>
          </a:prstGeom>
        </p:spPr>
        <p:txBody>
          <a:bodyPr vert="horz" lIns="91440" tIns="45720" rIns="91440" bIns="45720" rtlCol="0" anchor="ctr"/>
          <a:lstStyle>
            <a:lvl1pPr algn="ctr">
              <a:defRPr sz="1000">
                <a:solidFill>
                  <a:schemeClr val="tx1"/>
                </a:solidFill>
                <a:latin typeface="Calibri" panose="020F0502020204030204" pitchFamily="34" charset="0"/>
              </a:defRPr>
            </a:lvl1pPr>
          </a:lstStyle>
          <a:p>
            <a:endParaRPr lang="en-US" dirty="0"/>
          </a:p>
        </p:txBody>
      </p:sp>
    </p:spTree>
    <p:extLst>
      <p:ext uri="{BB962C8B-B14F-4D97-AF65-F5344CB8AC3E}">
        <p14:creationId xmlns:p14="http://schemas.microsoft.com/office/powerpoint/2010/main" val="650990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0886AA72-033A-4233-A062-5C5F48B3A5FC}" type="slidenum">
              <a:rPr lang="en-US" smtClean="0"/>
              <a:pPr/>
              <a:t>‹#›</a:t>
            </a:fld>
            <a:endParaRPr lang="en-US" dirty="0"/>
          </a:p>
        </p:txBody>
      </p:sp>
      <p:sp>
        <p:nvSpPr>
          <p:cNvPr id="6" name="Footer Placeholder 1"/>
          <p:cNvSpPr>
            <a:spLocks noGrp="1"/>
          </p:cNvSpPr>
          <p:nvPr>
            <p:ph type="ftr" sz="quarter" idx="3"/>
          </p:nvPr>
        </p:nvSpPr>
        <p:spPr>
          <a:xfrm>
            <a:off x="3149600" y="6462396"/>
            <a:ext cx="6019800" cy="243205"/>
          </a:xfrm>
          <a:prstGeom prst="rect">
            <a:avLst/>
          </a:prstGeom>
        </p:spPr>
        <p:txBody>
          <a:bodyPr vert="horz" lIns="91440" tIns="45720" rIns="91440" bIns="45720" rtlCol="0" anchor="ctr"/>
          <a:lstStyle>
            <a:lvl1pPr algn="ctr">
              <a:defRPr sz="1000">
                <a:solidFill>
                  <a:schemeClr val="tx1"/>
                </a:solidFill>
                <a:latin typeface="Calibri" panose="020F0502020204030204" pitchFamily="34" charset="0"/>
              </a:defRPr>
            </a:lvl1pPr>
          </a:lstStyle>
          <a:p>
            <a:endParaRPr lang="en-US" dirty="0"/>
          </a:p>
        </p:txBody>
      </p:sp>
    </p:spTree>
    <p:extLst>
      <p:ext uri="{BB962C8B-B14F-4D97-AF65-F5344CB8AC3E}">
        <p14:creationId xmlns:p14="http://schemas.microsoft.com/office/powerpoint/2010/main" val="1258860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990600"/>
            <a:ext cx="5384800" cy="5334000"/>
          </a:xfrm>
          <a:ln>
            <a:solidFill>
              <a:schemeClr val="tx1"/>
            </a:solidFill>
          </a:ln>
        </p:spPr>
        <p:txBody>
          <a:bodyPr/>
          <a:lstStyle>
            <a:lvl1pPr>
              <a:buClr>
                <a:schemeClr val="tx1"/>
              </a:buClr>
              <a:defRPr sz="2400"/>
            </a:lvl1pPr>
            <a:lvl2pPr>
              <a:defRPr sz="2000"/>
            </a:lvl2pPr>
            <a:lvl3pPr>
              <a:defRPr sz="1800"/>
            </a:lvl3pPr>
            <a:lvl4pPr>
              <a:buClr>
                <a:schemeClr val="bg2">
                  <a:lumMod val="60000"/>
                  <a:lumOff val="40000"/>
                </a:schemeClr>
              </a:buCl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990600"/>
            <a:ext cx="5588000" cy="5334000"/>
          </a:xfrm>
          <a:ln>
            <a:solidFill>
              <a:schemeClr val="tx1"/>
            </a:solidFill>
          </a:ln>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6547BE82-A756-4BF6-9A16-16A78DEDBB11}" type="slidenum">
              <a:rPr lang="en-US" smtClean="0"/>
              <a:pPr/>
              <a:t>‹#›</a:t>
            </a:fld>
            <a:endParaRPr lang="en-US" dirty="0"/>
          </a:p>
        </p:txBody>
      </p:sp>
      <p:sp>
        <p:nvSpPr>
          <p:cNvPr id="8" name="Footer Placeholder 1"/>
          <p:cNvSpPr>
            <a:spLocks noGrp="1"/>
          </p:cNvSpPr>
          <p:nvPr>
            <p:ph type="ftr" sz="quarter" idx="3"/>
          </p:nvPr>
        </p:nvSpPr>
        <p:spPr>
          <a:xfrm>
            <a:off x="3149600" y="6462396"/>
            <a:ext cx="6019800" cy="243205"/>
          </a:xfrm>
          <a:prstGeom prst="rect">
            <a:avLst/>
          </a:prstGeom>
        </p:spPr>
        <p:txBody>
          <a:bodyPr vert="horz" lIns="91440" tIns="45720" rIns="91440" bIns="45720" rtlCol="0" anchor="ctr"/>
          <a:lstStyle>
            <a:lvl1pPr algn="ctr">
              <a:defRPr sz="1000">
                <a:solidFill>
                  <a:schemeClr val="tx1"/>
                </a:solidFill>
                <a:latin typeface="Calibri" panose="020F0502020204030204" pitchFamily="34" charset="0"/>
              </a:defRPr>
            </a:lvl1pPr>
          </a:lstStyle>
          <a:p>
            <a:endParaRPr lang="en-US" dirty="0"/>
          </a:p>
        </p:txBody>
      </p:sp>
    </p:spTree>
    <p:extLst>
      <p:ext uri="{BB962C8B-B14F-4D97-AF65-F5344CB8AC3E}">
        <p14:creationId xmlns:p14="http://schemas.microsoft.com/office/powerpoint/2010/main" val="1013793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9201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174985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10970684" cy="1143000"/>
          </a:xfrm>
        </p:spPr>
        <p:txBody>
          <a:bodyPr/>
          <a:lstStyle/>
          <a:p>
            <a:r>
              <a:rPr lang="en-US"/>
              <a:t>Click to edit Master title style</a:t>
            </a:r>
          </a:p>
        </p:txBody>
      </p:sp>
    </p:spTree>
    <p:extLst>
      <p:ext uri="{BB962C8B-B14F-4D97-AF65-F5344CB8AC3E}">
        <p14:creationId xmlns:p14="http://schemas.microsoft.com/office/powerpoint/2010/main" val="1116849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909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866933"/>
      </p:ext>
    </p:extLst>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Титульный слайд">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9C3EAB29-BAD8-4A9B-A362-69CB4691738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8313" y="222250"/>
            <a:ext cx="2085975"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94D109F7-6CB9-410C-8EC9-F550C3907AEB}"/>
              </a:ext>
            </a:extLst>
          </p:cNvPr>
          <p:cNvCxnSpPr>
            <a:cxnSpLocks/>
          </p:cNvCxnSpPr>
          <p:nvPr userDrawn="1"/>
        </p:nvCxnSpPr>
        <p:spPr>
          <a:xfrm>
            <a:off x="2833688" y="641350"/>
            <a:ext cx="7599362" cy="0"/>
          </a:xfrm>
          <a:prstGeom prst="line">
            <a:avLst/>
          </a:prstGeom>
          <a:ln w="3175"/>
        </p:spPr>
        <p:style>
          <a:lnRef idx="1">
            <a:schemeClr val="dk1"/>
          </a:lnRef>
          <a:fillRef idx="0">
            <a:schemeClr val="dk1"/>
          </a:fillRef>
          <a:effectRef idx="0">
            <a:schemeClr val="dk1"/>
          </a:effectRef>
          <a:fontRef idx="minor">
            <a:schemeClr val="tx1"/>
          </a:fontRef>
        </p:style>
      </p:cxnSp>
      <p:sp>
        <p:nvSpPr>
          <p:cNvPr id="4" name="TextBox 10">
            <a:extLst>
              <a:ext uri="{FF2B5EF4-FFF2-40B4-BE49-F238E27FC236}">
                <a16:creationId xmlns:a16="http://schemas.microsoft.com/office/drawing/2014/main" id="{A19B38FF-7EB2-4EB1-8888-1F0D0E614B93}"/>
              </a:ext>
            </a:extLst>
          </p:cNvPr>
          <p:cNvSpPr txBox="1">
            <a:spLocks noChangeArrowheads="1"/>
          </p:cNvSpPr>
          <p:nvPr userDrawn="1"/>
        </p:nvSpPr>
        <p:spPr bwMode="auto">
          <a:xfrm>
            <a:off x="304800" y="6435725"/>
            <a:ext cx="280828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defRPr/>
            </a:pPr>
            <a:r>
              <a:rPr lang="en-US" altLang="en-US" sz="1200">
                <a:latin typeface="Adobe Garamond Pro"/>
              </a:rPr>
              <a:t>Ichak Adizes © 1971-2017</a:t>
            </a:r>
          </a:p>
        </p:txBody>
      </p:sp>
      <p:cxnSp>
        <p:nvCxnSpPr>
          <p:cNvPr id="5" name="Straight Connector 4">
            <a:extLst>
              <a:ext uri="{FF2B5EF4-FFF2-40B4-BE49-F238E27FC236}">
                <a16:creationId xmlns:a16="http://schemas.microsoft.com/office/drawing/2014/main" id="{91F2AA03-8337-41F0-9153-6DC973CE7E84}"/>
              </a:ext>
            </a:extLst>
          </p:cNvPr>
          <p:cNvCxnSpPr/>
          <p:nvPr userDrawn="1"/>
        </p:nvCxnSpPr>
        <p:spPr>
          <a:xfrm flipV="1">
            <a:off x="463550" y="6273800"/>
            <a:ext cx="1693863" cy="0"/>
          </a:xfrm>
          <a:prstGeom prst="line">
            <a:avLst/>
          </a:prstGeom>
          <a:ln w="31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94251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2" descr="Image result for mailigen logo"/>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377765" y="-57439"/>
            <a:ext cx="1580648" cy="1185486"/>
          </a:xfrm>
          <a:prstGeom prst="rect">
            <a:avLst/>
          </a:prstGeom>
          <a:noFill/>
          <a:extLst>
            <a:ext uri="{909E8E84-426E-40DD-AFC4-6F175D3DCCD1}">
              <a14:hiddenFill xmlns:a14="http://schemas.microsoft.com/office/drawing/2010/main">
                <a:solidFill>
                  <a:srgbClr val="FFFFFF"/>
                </a:solidFill>
              </a14:hiddenFill>
            </a:ext>
          </a:extLst>
        </p:spPr>
      </p:pic>
      <p:sp>
        <p:nvSpPr>
          <p:cNvPr id="1026" name="Rectangle 2"/>
          <p:cNvSpPr>
            <a:spLocks noGrp="1" noChangeArrowheads="1"/>
          </p:cNvSpPr>
          <p:nvPr>
            <p:ph type="title"/>
          </p:nvPr>
        </p:nvSpPr>
        <p:spPr bwMode="auto">
          <a:xfrm>
            <a:off x="2743200" y="118732"/>
            <a:ext cx="8912445" cy="609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Rectangle 3"/>
          <p:cNvSpPr>
            <a:spLocks noGrp="1" noChangeArrowheads="1"/>
          </p:cNvSpPr>
          <p:nvPr>
            <p:ph type="body" idx="1"/>
          </p:nvPr>
        </p:nvSpPr>
        <p:spPr bwMode="auto">
          <a:xfrm>
            <a:off x="508000" y="990600"/>
            <a:ext cx="11277600" cy="5410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33" name="Rectangle 9"/>
          <p:cNvSpPr>
            <a:spLocks noGrp="1" noChangeArrowheads="1"/>
          </p:cNvSpPr>
          <p:nvPr>
            <p:ph type="sldNum" sz="quarter" idx="4"/>
          </p:nvPr>
        </p:nvSpPr>
        <p:spPr bwMode="auto">
          <a:xfrm>
            <a:off x="10927909" y="6447889"/>
            <a:ext cx="8128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solidFill>
                  <a:schemeClr val="accent2">
                    <a:lumMod val="50000"/>
                  </a:schemeClr>
                </a:solidFill>
                <a:latin typeface="Calibri" pitchFamily="34" charset="0"/>
              </a:defRPr>
            </a:lvl1pPr>
          </a:lstStyle>
          <a:p>
            <a:fld id="{7D094EDF-0033-47CF-8A3D-E294DA342974}" type="slidenum">
              <a:rPr lang="en-US" smtClean="0"/>
              <a:pPr/>
              <a:t>‹#›</a:t>
            </a:fld>
            <a:endParaRPr lang="en-US" dirty="0"/>
          </a:p>
        </p:txBody>
      </p:sp>
      <p:cxnSp>
        <p:nvCxnSpPr>
          <p:cNvPr id="5" name="Straight Connector 4"/>
          <p:cNvCxnSpPr/>
          <p:nvPr userDrawn="1"/>
        </p:nvCxnSpPr>
        <p:spPr>
          <a:xfrm>
            <a:off x="508000" y="861132"/>
            <a:ext cx="112776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Rectangle 2"/>
          <p:cNvSpPr>
            <a:spLocks noChangeArrowheads="1"/>
          </p:cNvSpPr>
          <p:nvPr userDrawn="1"/>
        </p:nvSpPr>
        <p:spPr bwMode="auto">
          <a:xfrm>
            <a:off x="4072467" y="6569075"/>
            <a:ext cx="4064000" cy="274638"/>
          </a:xfrm>
          <a:prstGeom prst="rect">
            <a:avLst/>
          </a:prstGeom>
          <a:noFill/>
          <a:ln w="12600">
            <a:noFill/>
            <a:miter lim="800000"/>
            <a:headEnd/>
            <a:tailEnd/>
          </a:ln>
          <a:effectLst/>
        </p:spPr>
        <p:txBody>
          <a:bodyPr lIns="90000" tIns="55584" rIns="90000" bIns="45000">
            <a:prstTxWarp prst="textNoShape">
              <a:avLst/>
            </a:prstTxWarp>
          </a:bodyPr>
          <a:lstStyle/>
          <a:p>
            <a:pPr algn="ctr" hangingPunct="0">
              <a:lnSpc>
                <a:spcPct val="93000"/>
              </a:lnSpc>
              <a:spcBef>
                <a:spcPts val="900"/>
              </a:spcBef>
              <a:buClr>
                <a:srgbClr val="000000"/>
              </a:buClr>
              <a:buSzPct val="100000"/>
              <a:buFont typeface="Times New Roman" pitchFamily="84" charset="0"/>
              <a:buNone/>
              <a:tabLst>
                <a:tab pos="723900" algn="l"/>
                <a:tab pos="1447800" algn="l"/>
                <a:tab pos="2171700" algn="l"/>
                <a:tab pos="2895600" algn="l"/>
              </a:tabLst>
            </a:pPr>
            <a:r>
              <a:rPr lang="en-US" sz="1200" dirty="0">
                <a:solidFill>
                  <a:srgbClr val="000000"/>
                </a:solidFill>
              </a:rPr>
              <a:t>©Adizes Institute 2019</a:t>
            </a:r>
          </a:p>
        </p:txBody>
      </p:sp>
      <p:pic>
        <p:nvPicPr>
          <p:cNvPr id="4" name="Picture 3">
            <a:extLst>
              <a:ext uri="{FF2B5EF4-FFF2-40B4-BE49-F238E27FC236}">
                <a16:creationId xmlns:a16="http://schemas.microsoft.com/office/drawing/2014/main" id="{71718806-C30D-4B63-B398-60645CD1C03D}"/>
              </a:ext>
            </a:extLst>
          </p:cNvPr>
          <p:cNvPicPr>
            <a:picLocks noChangeAspect="1"/>
          </p:cNvPicPr>
          <p:nvPr userDrawn="1"/>
        </p:nvPicPr>
        <p:blipFill>
          <a:blip r:embed="rId13"/>
          <a:stretch>
            <a:fillRect/>
          </a:stretch>
        </p:blipFill>
        <p:spPr>
          <a:xfrm>
            <a:off x="694173" y="6176857"/>
            <a:ext cx="1598652" cy="540576"/>
          </a:xfrm>
          <a:prstGeom prst="rect">
            <a:avLst/>
          </a:prstGeom>
        </p:spPr>
      </p:pic>
    </p:spTree>
    <p:extLst>
      <p:ext uri="{BB962C8B-B14F-4D97-AF65-F5344CB8AC3E}">
        <p14:creationId xmlns:p14="http://schemas.microsoft.com/office/powerpoint/2010/main" val="12085966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ftr="0"/>
  <p:txStyles>
    <p:titleStyle>
      <a:lvl1pPr algn="r" rtl="0" eaLnBrk="1" fontAlgn="base" hangingPunct="1">
        <a:spcBef>
          <a:spcPct val="0"/>
        </a:spcBef>
        <a:spcAft>
          <a:spcPct val="0"/>
        </a:spcAft>
        <a:defRPr sz="2800">
          <a:solidFill>
            <a:schemeClr val="accent2">
              <a:lumMod val="50000"/>
            </a:schemeClr>
          </a:solidFill>
          <a:latin typeface="Calibri" pitchFamily="34" charset="0"/>
          <a:ea typeface="+mj-ea"/>
          <a:cs typeface="+mj-cs"/>
        </a:defRPr>
      </a:lvl1pPr>
      <a:lvl2pPr algn="l" rtl="0" eaLnBrk="1" fontAlgn="base" hangingPunct="1">
        <a:spcBef>
          <a:spcPct val="0"/>
        </a:spcBef>
        <a:spcAft>
          <a:spcPct val="0"/>
        </a:spcAft>
        <a:defRPr sz="3600">
          <a:solidFill>
            <a:srgbClr val="212747"/>
          </a:solidFill>
          <a:latin typeface="Arial" charset="0"/>
        </a:defRPr>
      </a:lvl2pPr>
      <a:lvl3pPr algn="l" rtl="0" eaLnBrk="1" fontAlgn="base" hangingPunct="1">
        <a:spcBef>
          <a:spcPct val="0"/>
        </a:spcBef>
        <a:spcAft>
          <a:spcPct val="0"/>
        </a:spcAft>
        <a:defRPr sz="3600">
          <a:solidFill>
            <a:srgbClr val="212747"/>
          </a:solidFill>
          <a:latin typeface="Arial" charset="0"/>
        </a:defRPr>
      </a:lvl3pPr>
      <a:lvl4pPr algn="l" rtl="0" eaLnBrk="1" fontAlgn="base" hangingPunct="1">
        <a:spcBef>
          <a:spcPct val="0"/>
        </a:spcBef>
        <a:spcAft>
          <a:spcPct val="0"/>
        </a:spcAft>
        <a:defRPr sz="3600">
          <a:solidFill>
            <a:srgbClr val="212747"/>
          </a:solidFill>
          <a:latin typeface="Arial" charset="0"/>
        </a:defRPr>
      </a:lvl4pPr>
      <a:lvl5pPr algn="l" rtl="0" eaLnBrk="1" fontAlgn="base" hangingPunct="1">
        <a:spcBef>
          <a:spcPct val="0"/>
        </a:spcBef>
        <a:spcAft>
          <a:spcPct val="0"/>
        </a:spcAft>
        <a:defRPr sz="3600">
          <a:solidFill>
            <a:srgbClr val="212747"/>
          </a:solidFill>
          <a:latin typeface="Arial" charset="0"/>
        </a:defRPr>
      </a:lvl5pPr>
      <a:lvl6pPr marL="457200" algn="l" rtl="0" eaLnBrk="1" fontAlgn="base" hangingPunct="1">
        <a:spcBef>
          <a:spcPct val="0"/>
        </a:spcBef>
        <a:spcAft>
          <a:spcPct val="0"/>
        </a:spcAft>
        <a:defRPr sz="3600">
          <a:solidFill>
            <a:srgbClr val="212747"/>
          </a:solidFill>
          <a:latin typeface="Arial" charset="0"/>
        </a:defRPr>
      </a:lvl6pPr>
      <a:lvl7pPr marL="914400" algn="l" rtl="0" eaLnBrk="1" fontAlgn="base" hangingPunct="1">
        <a:spcBef>
          <a:spcPct val="0"/>
        </a:spcBef>
        <a:spcAft>
          <a:spcPct val="0"/>
        </a:spcAft>
        <a:defRPr sz="3600">
          <a:solidFill>
            <a:srgbClr val="212747"/>
          </a:solidFill>
          <a:latin typeface="Arial" charset="0"/>
        </a:defRPr>
      </a:lvl7pPr>
      <a:lvl8pPr marL="1371600" algn="l" rtl="0" eaLnBrk="1" fontAlgn="base" hangingPunct="1">
        <a:spcBef>
          <a:spcPct val="0"/>
        </a:spcBef>
        <a:spcAft>
          <a:spcPct val="0"/>
        </a:spcAft>
        <a:defRPr sz="3600">
          <a:solidFill>
            <a:srgbClr val="212747"/>
          </a:solidFill>
          <a:latin typeface="Arial" charset="0"/>
        </a:defRPr>
      </a:lvl8pPr>
      <a:lvl9pPr marL="1828800" algn="l" rtl="0" eaLnBrk="1" fontAlgn="base" hangingPunct="1">
        <a:spcBef>
          <a:spcPct val="0"/>
        </a:spcBef>
        <a:spcAft>
          <a:spcPct val="0"/>
        </a:spcAft>
        <a:defRPr sz="3600">
          <a:solidFill>
            <a:srgbClr val="212747"/>
          </a:solidFill>
          <a:latin typeface="Arial" charset="0"/>
        </a:defRPr>
      </a:lvl9pPr>
    </p:titleStyle>
    <p:bodyStyle>
      <a:lvl1pPr marL="342900" indent="-342900" algn="l" rtl="0" eaLnBrk="1" fontAlgn="base" hangingPunct="1">
        <a:spcBef>
          <a:spcPct val="20000"/>
        </a:spcBef>
        <a:spcAft>
          <a:spcPct val="0"/>
        </a:spcAft>
        <a:buClr>
          <a:schemeClr val="tx1"/>
        </a:buClr>
        <a:buChar char="•"/>
        <a:defRPr sz="2400">
          <a:solidFill>
            <a:srgbClr val="212747"/>
          </a:solidFill>
          <a:latin typeface="Calibri" pitchFamily="34" charset="0"/>
          <a:ea typeface="+mn-ea"/>
          <a:cs typeface="+mn-cs"/>
        </a:defRPr>
      </a:lvl1pPr>
      <a:lvl2pPr marL="742950" indent="-285750" algn="l" rtl="0" eaLnBrk="1" fontAlgn="base" hangingPunct="1">
        <a:spcBef>
          <a:spcPct val="20000"/>
        </a:spcBef>
        <a:spcAft>
          <a:spcPct val="0"/>
        </a:spcAft>
        <a:buClr>
          <a:schemeClr val="accent2"/>
        </a:buClr>
        <a:buChar char="–"/>
        <a:defRPr sz="2000">
          <a:solidFill>
            <a:srgbClr val="212747"/>
          </a:solidFill>
          <a:latin typeface="Calibri" pitchFamily="34" charset="0"/>
        </a:defRPr>
      </a:lvl2pPr>
      <a:lvl3pPr marL="1143000" indent="-228600" algn="l" rtl="0" eaLnBrk="1" fontAlgn="base" hangingPunct="1">
        <a:spcBef>
          <a:spcPct val="20000"/>
        </a:spcBef>
        <a:spcAft>
          <a:spcPct val="0"/>
        </a:spcAft>
        <a:buClr>
          <a:srgbClr val="FFC000"/>
        </a:buClr>
        <a:buChar char="•"/>
        <a:defRPr sz="1800">
          <a:solidFill>
            <a:srgbClr val="212747"/>
          </a:solidFill>
          <a:latin typeface="Calibri" pitchFamily="34" charset="0"/>
        </a:defRPr>
      </a:lvl3pPr>
      <a:lvl4pPr marL="1600200" indent="-228600" algn="l" rtl="0" eaLnBrk="1" fontAlgn="base" hangingPunct="1">
        <a:spcBef>
          <a:spcPct val="20000"/>
        </a:spcBef>
        <a:spcAft>
          <a:spcPct val="0"/>
        </a:spcAft>
        <a:buClr>
          <a:srgbClr val="FF0000"/>
        </a:buClr>
        <a:buChar char="–"/>
        <a:defRPr sz="1600">
          <a:solidFill>
            <a:srgbClr val="212747"/>
          </a:solidFill>
          <a:latin typeface="Calibri" pitchFamily="34" charset="0"/>
        </a:defRPr>
      </a:lvl4pPr>
      <a:lvl5pPr marL="2057400" indent="-228600" algn="l" rtl="0" eaLnBrk="1" fontAlgn="base" hangingPunct="1">
        <a:spcBef>
          <a:spcPct val="20000"/>
        </a:spcBef>
        <a:spcAft>
          <a:spcPct val="0"/>
        </a:spcAft>
        <a:buChar char="»"/>
        <a:defRPr sz="1600">
          <a:solidFill>
            <a:srgbClr val="212747"/>
          </a:solidFill>
          <a:latin typeface="Calibri" pitchFamily="34" charset="0"/>
        </a:defRPr>
      </a:lvl5pPr>
      <a:lvl6pPr marL="2514600" indent="-228600" algn="l" rtl="0" eaLnBrk="1" fontAlgn="base" hangingPunct="1">
        <a:spcBef>
          <a:spcPct val="20000"/>
        </a:spcBef>
        <a:spcAft>
          <a:spcPct val="0"/>
        </a:spcAft>
        <a:buChar char="»"/>
        <a:defRPr>
          <a:solidFill>
            <a:srgbClr val="212747"/>
          </a:solidFill>
          <a:latin typeface="+mn-lt"/>
        </a:defRPr>
      </a:lvl6pPr>
      <a:lvl7pPr marL="2971800" indent="-228600" algn="l" rtl="0" eaLnBrk="1" fontAlgn="base" hangingPunct="1">
        <a:spcBef>
          <a:spcPct val="20000"/>
        </a:spcBef>
        <a:spcAft>
          <a:spcPct val="0"/>
        </a:spcAft>
        <a:buChar char="»"/>
        <a:defRPr>
          <a:solidFill>
            <a:srgbClr val="212747"/>
          </a:solidFill>
          <a:latin typeface="+mn-lt"/>
        </a:defRPr>
      </a:lvl7pPr>
      <a:lvl8pPr marL="3429000" indent="-228600" algn="l" rtl="0" eaLnBrk="1" fontAlgn="base" hangingPunct="1">
        <a:spcBef>
          <a:spcPct val="20000"/>
        </a:spcBef>
        <a:spcAft>
          <a:spcPct val="0"/>
        </a:spcAft>
        <a:buChar char="»"/>
        <a:defRPr>
          <a:solidFill>
            <a:srgbClr val="212747"/>
          </a:solidFill>
          <a:latin typeface="+mn-lt"/>
        </a:defRPr>
      </a:lvl8pPr>
      <a:lvl9pPr marL="3886200" indent="-228600" algn="l" rtl="0" eaLnBrk="1" fontAlgn="base" hangingPunct="1">
        <a:spcBef>
          <a:spcPct val="20000"/>
        </a:spcBef>
        <a:spcAft>
          <a:spcPct val="0"/>
        </a:spcAft>
        <a:buChar char="»"/>
        <a:defRPr>
          <a:solidFill>
            <a:srgbClr val="212747"/>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vmlDrawing" Target="../drawings/vmlDrawing1.vml"/><Relationship Id="rId5" Type="http://schemas.openxmlformats.org/officeDocument/2006/relationships/image" Target="../media/image7.png"/><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8.wmf"/><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9.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1.wmf"/><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9.xml"/><Relationship Id="rId1" Type="http://schemas.openxmlformats.org/officeDocument/2006/relationships/vmlDrawing" Target="../drawings/vmlDrawing3.v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image" Target="../media/image13.emf"/><Relationship Id="rId7" Type="http://schemas.openxmlformats.org/officeDocument/2006/relationships/image" Target="../media/image17.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6.emf"/><Relationship Id="rId11" Type="http://schemas.openxmlformats.org/officeDocument/2006/relationships/image" Target="../media/image21.emf"/><Relationship Id="rId5" Type="http://schemas.openxmlformats.org/officeDocument/2006/relationships/image" Target="../media/image15.emf"/><Relationship Id="rId10" Type="http://schemas.openxmlformats.org/officeDocument/2006/relationships/image" Target="../media/image20.emf"/><Relationship Id="rId4" Type="http://schemas.openxmlformats.org/officeDocument/2006/relationships/image" Target="../media/image14.emf"/><Relationship Id="rId9" Type="http://schemas.openxmlformats.org/officeDocument/2006/relationships/image" Target="../media/image19.emf"/></Relationships>
</file>

<file path=ppt/slides/_rels/slide30.xml.rels><?xml version="1.0" encoding="UTF-8" standalone="yes"?>
<Relationships xmlns="http://schemas.openxmlformats.org/package/2006/relationships"><Relationship Id="rId3" Type="http://schemas.openxmlformats.org/officeDocument/2006/relationships/image" Target="../media/image23.emf"/><Relationship Id="rId7" Type="http://schemas.openxmlformats.org/officeDocument/2006/relationships/image" Target="../media/image27.emf"/><Relationship Id="rId2" Type="http://schemas.openxmlformats.org/officeDocument/2006/relationships/image" Target="../media/image22.emf"/><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image" Target="../media/image25.emf"/><Relationship Id="rId4" Type="http://schemas.openxmlformats.org/officeDocument/2006/relationships/image" Target="../media/image24.emf"/></Relationships>
</file>

<file path=ppt/slides/_rels/slide31.xml.rels><?xml version="1.0" encoding="UTF-8" standalone="yes"?>
<Relationships xmlns="http://schemas.openxmlformats.org/package/2006/relationships"><Relationship Id="rId3" Type="http://schemas.openxmlformats.org/officeDocument/2006/relationships/image" Target="../media/image29.emf"/><Relationship Id="rId7" Type="http://schemas.openxmlformats.org/officeDocument/2006/relationships/image" Target="../media/image33.emf"/><Relationship Id="rId2" Type="http://schemas.openxmlformats.org/officeDocument/2006/relationships/image" Target="../media/image28.emf"/><Relationship Id="rId1" Type="http://schemas.openxmlformats.org/officeDocument/2006/relationships/slideLayout" Target="../slideLayouts/slideLayout2.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image" Target="../media/image30.emf"/></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4.wmf"/><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9.xml"/><Relationship Id="rId1" Type="http://schemas.openxmlformats.org/officeDocument/2006/relationships/vmlDrawing" Target="../drawings/vmlDrawing4.v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image" Target="../media/image13.emf"/><Relationship Id="rId7" Type="http://schemas.openxmlformats.org/officeDocument/2006/relationships/image" Target="../media/image17.e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6.emf"/><Relationship Id="rId11" Type="http://schemas.openxmlformats.org/officeDocument/2006/relationships/image" Target="../media/image21.emf"/><Relationship Id="rId5" Type="http://schemas.openxmlformats.org/officeDocument/2006/relationships/image" Target="../media/image15.emf"/><Relationship Id="rId10" Type="http://schemas.openxmlformats.org/officeDocument/2006/relationships/image" Target="../media/image20.emf"/><Relationship Id="rId4" Type="http://schemas.openxmlformats.org/officeDocument/2006/relationships/image" Target="../media/image14.emf"/><Relationship Id="rId9" Type="http://schemas.openxmlformats.org/officeDocument/2006/relationships/image" Target="../media/image19.emf"/></Relationships>
</file>

<file path=ppt/slides/_rels/slide36.xml.rels><?xml version="1.0" encoding="UTF-8" standalone="yes"?>
<Relationships xmlns="http://schemas.openxmlformats.org/package/2006/relationships"><Relationship Id="rId3" Type="http://schemas.openxmlformats.org/officeDocument/2006/relationships/image" Target="../media/image23.emf"/><Relationship Id="rId7" Type="http://schemas.openxmlformats.org/officeDocument/2006/relationships/image" Target="../media/image27.emf"/><Relationship Id="rId2" Type="http://schemas.openxmlformats.org/officeDocument/2006/relationships/image" Target="../media/image22.emf"/><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image" Target="../media/image25.emf"/><Relationship Id="rId4" Type="http://schemas.openxmlformats.org/officeDocument/2006/relationships/image" Target="../media/image24.emf"/></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4.wmf"/><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29465" y="1525450"/>
            <a:ext cx="7772400" cy="2033829"/>
          </a:xfrm>
        </p:spPr>
        <p:txBody>
          <a:bodyPr/>
          <a:lstStyle/>
          <a:p>
            <a:pPr algn="ctr"/>
            <a:r>
              <a:rPr lang="lv-LV" sz="3600" i="1" dirty="0">
                <a:solidFill>
                  <a:srgbClr val="FF0000"/>
                </a:solidFill>
              </a:rPr>
              <a:t>Growing Incredible </a:t>
            </a:r>
            <a:r>
              <a:rPr lang="en-US" sz="3600" i="1" dirty="0">
                <a:solidFill>
                  <a:srgbClr val="FF0000"/>
                </a:solidFill>
              </a:rPr>
              <a:t>Managers: </a:t>
            </a:r>
            <a:br>
              <a:rPr lang="en-US" sz="3600" i="1" dirty="0">
                <a:solidFill>
                  <a:srgbClr val="FF0000"/>
                </a:solidFill>
              </a:rPr>
            </a:br>
            <a:br>
              <a:rPr lang="en-US" sz="2400" i="1" dirty="0">
                <a:solidFill>
                  <a:srgbClr val="FF0000"/>
                </a:solidFill>
              </a:rPr>
            </a:br>
            <a:endParaRPr lang="en-US" dirty="0">
              <a:solidFill>
                <a:srgbClr val="FF0000"/>
              </a:solidFill>
            </a:endParaRPr>
          </a:p>
        </p:txBody>
      </p:sp>
      <p:sp>
        <p:nvSpPr>
          <p:cNvPr id="3" name="Subtitle 2"/>
          <p:cNvSpPr>
            <a:spLocks noGrp="1"/>
          </p:cNvSpPr>
          <p:nvPr>
            <p:ph type="subTitle" idx="1"/>
          </p:nvPr>
        </p:nvSpPr>
        <p:spPr>
          <a:xfrm>
            <a:off x="2025349" y="2538450"/>
            <a:ext cx="8360564" cy="3511075"/>
          </a:xfrm>
        </p:spPr>
        <p:txBody>
          <a:bodyPr/>
          <a:lstStyle/>
          <a:p>
            <a:r>
              <a:rPr lang="en-US" i="1" dirty="0"/>
              <a:t>A Workshop Series Designed to Develop</a:t>
            </a:r>
          </a:p>
          <a:p>
            <a:r>
              <a:rPr lang="en-US" i="1" dirty="0"/>
              <a:t>Managers and Leaders for Mailigen</a:t>
            </a:r>
          </a:p>
          <a:p>
            <a:endParaRPr lang="lv-LV" sz="1800" i="1" dirty="0"/>
          </a:p>
          <a:p>
            <a:endParaRPr lang="lv-LV" sz="1800" i="1" dirty="0"/>
          </a:p>
          <a:p>
            <a:r>
              <a:rPr lang="en-US" sz="1800" dirty="0"/>
              <a:t>Prepared by </a:t>
            </a:r>
          </a:p>
          <a:p>
            <a:r>
              <a:rPr lang="lv-LV" sz="2000" dirty="0" err="1"/>
              <a:t>Greg</a:t>
            </a:r>
            <a:r>
              <a:rPr lang="lv-LV" sz="2000" dirty="0"/>
              <a:t> Mathers</a:t>
            </a:r>
            <a:r>
              <a:rPr lang="en-US" sz="2000" dirty="0"/>
              <a:t>, Certified Adizes Senior Associate</a:t>
            </a:r>
          </a:p>
          <a:p>
            <a:r>
              <a:rPr lang="en-US" sz="2000" dirty="0"/>
              <a:t>May-July 2019</a:t>
            </a:r>
          </a:p>
          <a:p>
            <a:endParaRPr lang="en-US" sz="2000" dirty="0"/>
          </a:p>
          <a:p>
            <a:endParaRPr lang="en-US" i="1" dirty="0"/>
          </a:p>
        </p:txBody>
      </p:sp>
      <p:pic>
        <p:nvPicPr>
          <p:cNvPr id="4" name="Picture 22"/>
          <p:cNvPicPr>
            <a:picLocks noChangeAspect="1" noChangeArrowheads="1"/>
          </p:cNvPicPr>
          <p:nvPr/>
        </p:nvPicPr>
        <p:blipFill>
          <a:blip r:embed="rId3" cstate="print"/>
          <a:srcRect/>
          <a:stretch>
            <a:fillRect/>
          </a:stretch>
        </p:blipFill>
        <p:spPr bwMode="auto">
          <a:xfrm>
            <a:off x="6656749" y="1"/>
            <a:ext cx="3472492" cy="1801269"/>
          </a:xfrm>
          <a:prstGeom prst="rect">
            <a:avLst/>
          </a:prstGeom>
          <a:noFill/>
          <a:ln w="12700">
            <a:noFill/>
            <a:miter lim="800000"/>
            <a:headEnd/>
            <a:tailEnd/>
          </a:ln>
        </p:spPr>
      </p:pic>
    </p:spTree>
    <p:extLst>
      <p:ext uri="{BB962C8B-B14F-4D97-AF65-F5344CB8AC3E}">
        <p14:creationId xmlns:p14="http://schemas.microsoft.com/office/powerpoint/2010/main" val="286137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84600" y="214357"/>
            <a:ext cx="7354455" cy="457200"/>
          </a:xfrm>
        </p:spPr>
        <p:txBody>
          <a:bodyPr/>
          <a:lstStyle/>
          <a:p>
            <a:r>
              <a:rPr lang="en-US" dirty="0"/>
              <a:t>Introduction to “</a:t>
            </a:r>
            <a:r>
              <a:rPr lang="lv-LV" dirty="0"/>
              <a:t>Growing Incredible </a:t>
            </a:r>
            <a:r>
              <a:rPr lang="en-US" dirty="0"/>
              <a:t>Managers”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517554640"/>
              </p:ext>
            </p:extLst>
          </p:nvPr>
        </p:nvGraphicFramePr>
        <p:xfrm>
          <a:off x="2832100" y="1371600"/>
          <a:ext cx="6976732" cy="4889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p:cNvSpPr txBox="1"/>
          <p:nvPr/>
        </p:nvSpPr>
        <p:spPr>
          <a:xfrm>
            <a:off x="5336492" y="3190787"/>
            <a:ext cx="1967948" cy="1500411"/>
          </a:xfrm>
          <a:prstGeom prst="rect">
            <a:avLst/>
          </a:prstGeom>
          <a:noFill/>
        </p:spPr>
        <p:txBody>
          <a:bodyPr wrap="square" rtlCol="0">
            <a:spAutoFit/>
          </a:bodyPr>
          <a:lstStyle/>
          <a:p>
            <a:pPr algn="ctr"/>
            <a:r>
              <a:rPr lang="en-US" sz="1050" i="1" dirty="0"/>
              <a:t>“The proof of leadership is found in the followers. People listen to what someone has to say not necessarily because of the message, but because of their respect for the messenger” </a:t>
            </a:r>
          </a:p>
          <a:p>
            <a:pPr algn="ctr"/>
            <a:endParaRPr lang="en-US" sz="900" i="1" dirty="0"/>
          </a:p>
          <a:p>
            <a:pPr algn="ctr"/>
            <a:r>
              <a:rPr lang="en-US" sz="900" i="1" dirty="0"/>
              <a:t>John Maxwell</a:t>
            </a:r>
          </a:p>
        </p:txBody>
      </p:sp>
    </p:spTree>
    <p:extLst>
      <p:ext uri="{BB962C8B-B14F-4D97-AF65-F5344CB8AC3E}">
        <p14:creationId xmlns:p14="http://schemas.microsoft.com/office/powerpoint/2010/main" val="1296686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89D4AA0E-DAFB-AD45-9323-1BAE356CA897}"/>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EE751E62-A524-7E47-9948-B31A3E4826EA}"/>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graphicEl>
                                              <a:dgm id="{265128F0-2C59-0648-97C7-F952021632DB}"/>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2D5D6023-73AA-614C-9535-4CBDBF25EE5E}"/>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graphicEl>
                                              <a:dgm id="{E7DCF0A7-A1C2-8542-8D98-B754A4B7E433}"/>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D9DB4893-35EF-DE46-AD0D-2152D5A30DD0}"/>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graphicEl>
                                              <a:dgm id="{D8201945-F95A-224C-828B-CF24DA0538B2}"/>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graphicEl>
                                              <a:dgm id="{F0488A72-69E8-FC4D-AE96-02C13D18B55E}"/>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graphicEl>
                                              <a:dgm id="{F1E5A602-2EC2-B34E-829D-255045B3D8B3}"/>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graphicEl>
                                              <a:dgm id="{4B2CECD9-5B90-9143-A1BC-BF0501F0CD50}"/>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graphicEl>
                                              <a:dgm id="{3D62928A-5E89-8342-961B-C500DE9CB0A7}"/>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graphicEl>
                                              <a:dgm id="{453A606C-0B65-4F4F-A87F-0376D2F0AF64}"/>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7646" y="104113"/>
            <a:ext cx="4124840" cy="746589"/>
          </a:xfrm>
        </p:spPr>
        <p:txBody>
          <a:bodyPr>
            <a:normAutofit/>
          </a:bodyPr>
          <a:lstStyle/>
          <a:p>
            <a:pPr algn="ctr"/>
            <a:r>
              <a:rPr lang="en-US" sz="3200" dirty="0"/>
              <a:t>Expectations</a:t>
            </a:r>
          </a:p>
        </p:txBody>
      </p:sp>
      <p:sp>
        <p:nvSpPr>
          <p:cNvPr id="3" name="Content Placeholder 2"/>
          <p:cNvSpPr>
            <a:spLocks noGrp="1"/>
          </p:cNvSpPr>
          <p:nvPr>
            <p:ph idx="1"/>
          </p:nvPr>
        </p:nvSpPr>
        <p:spPr/>
        <p:txBody>
          <a:bodyPr/>
          <a:lstStyle/>
          <a:p>
            <a:r>
              <a:rPr lang="en-US" dirty="0"/>
              <a:t>Share your expectations for our time together</a:t>
            </a:r>
          </a:p>
        </p:txBody>
      </p:sp>
      <p:pic>
        <p:nvPicPr>
          <p:cNvPr id="4" name="Picture 3" descr="Flip-Chart-Easel-Pro.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7302" y="2161834"/>
            <a:ext cx="2025523" cy="4162766"/>
          </a:xfrm>
          <a:prstGeom prst="rect">
            <a:avLst/>
          </a:prstGeom>
        </p:spPr>
      </p:pic>
      <p:pic>
        <p:nvPicPr>
          <p:cNvPr id="5" name="Picture 4"/>
          <p:cNvPicPr>
            <a:picLocks noChangeAspect="1"/>
          </p:cNvPicPr>
          <p:nvPr/>
        </p:nvPicPr>
        <p:blipFill>
          <a:blip r:embed="rId4"/>
          <a:stretch>
            <a:fillRect/>
          </a:stretch>
        </p:blipFill>
        <p:spPr>
          <a:xfrm>
            <a:off x="6663629" y="2391505"/>
            <a:ext cx="1826646" cy="3308731"/>
          </a:xfrm>
          <a:prstGeom prst="rect">
            <a:avLst/>
          </a:prstGeom>
        </p:spPr>
      </p:pic>
    </p:spTree>
    <p:extLst>
      <p:ext uri="{BB962C8B-B14F-4D97-AF65-F5344CB8AC3E}">
        <p14:creationId xmlns:p14="http://schemas.microsoft.com/office/powerpoint/2010/main" val="1654169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alpha val="2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09799" y="720390"/>
            <a:ext cx="7772400" cy="1002394"/>
          </a:xfrm>
        </p:spPr>
        <p:txBody>
          <a:bodyPr/>
          <a:lstStyle/>
          <a:p>
            <a:pPr algn="ctr"/>
            <a:br>
              <a:rPr lang="en-US" sz="3200" dirty="0">
                <a:solidFill>
                  <a:srgbClr val="FF0000"/>
                </a:solidFill>
              </a:rPr>
            </a:br>
            <a:br>
              <a:rPr lang="en-US" sz="3200" dirty="0">
                <a:solidFill>
                  <a:srgbClr val="FF0000"/>
                </a:solidFill>
              </a:rPr>
            </a:br>
            <a:br>
              <a:rPr lang="en-US" sz="3200" dirty="0">
                <a:solidFill>
                  <a:srgbClr val="FF0000"/>
                </a:solidFill>
              </a:rPr>
            </a:br>
            <a:r>
              <a:rPr lang="en-US" sz="3200" dirty="0">
                <a:solidFill>
                  <a:srgbClr val="FF0000"/>
                </a:solidFill>
              </a:rPr>
              <a:t>Section 1: </a:t>
            </a:r>
            <a:r>
              <a:rPr lang="en-US" sz="3200" dirty="0">
                <a:solidFill>
                  <a:srgbClr val="000000"/>
                </a:solidFill>
              </a:rPr>
              <a:t>What </a:t>
            </a:r>
            <a:r>
              <a:rPr lang="en-US" sz="3200" i="1" dirty="0">
                <a:solidFill>
                  <a:srgbClr val="000000"/>
                </a:solidFill>
              </a:rPr>
              <a:t>Managers </a:t>
            </a:r>
            <a:r>
              <a:rPr lang="en-US" sz="3200" dirty="0">
                <a:solidFill>
                  <a:srgbClr val="000000"/>
                </a:solidFill>
              </a:rPr>
              <a:t>Should Know About Leadership and Management</a:t>
            </a:r>
          </a:p>
        </p:txBody>
      </p:sp>
      <p:sp>
        <p:nvSpPr>
          <p:cNvPr id="3" name="Subtitle 2"/>
          <p:cNvSpPr>
            <a:spLocks noGrp="1"/>
          </p:cNvSpPr>
          <p:nvPr>
            <p:ph type="subTitle" idx="1"/>
          </p:nvPr>
        </p:nvSpPr>
        <p:spPr>
          <a:xfrm>
            <a:off x="2209800" y="2641749"/>
            <a:ext cx="8255609" cy="4557970"/>
          </a:xfrm>
        </p:spPr>
        <p:txBody>
          <a:bodyPr/>
          <a:lstStyle/>
          <a:p>
            <a:pPr marL="457200" indent="-457200" algn="l">
              <a:buFont typeface="Arial"/>
              <a:buChar char="•"/>
            </a:pPr>
            <a:r>
              <a:rPr lang="en-US" dirty="0"/>
              <a:t>Introductions and Expectations</a:t>
            </a:r>
          </a:p>
          <a:p>
            <a:pPr marL="457200" indent="-457200" algn="l">
              <a:buFont typeface="Arial"/>
              <a:buChar char="•"/>
            </a:pPr>
            <a:r>
              <a:rPr lang="en-US" dirty="0"/>
              <a:t>What is Expected from Leaders/Managers?</a:t>
            </a:r>
          </a:p>
          <a:p>
            <a:pPr marL="457200" indent="-457200" algn="l">
              <a:buFont typeface="Arial"/>
              <a:buChar char="•"/>
            </a:pPr>
            <a:r>
              <a:rPr lang="en-US" dirty="0"/>
              <a:t>The Basics of Management</a:t>
            </a:r>
          </a:p>
          <a:p>
            <a:pPr marL="457200" indent="-457200" algn="l">
              <a:buFont typeface="Arial"/>
              <a:buChar char="•"/>
            </a:pPr>
            <a:r>
              <a:rPr lang="en-US" dirty="0"/>
              <a:t>The </a:t>
            </a:r>
            <a:r>
              <a:rPr lang="en-US" dirty="0">
                <a:solidFill>
                  <a:srgbClr val="FF0000"/>
                </a:solidFill>
              </a:rPr>
              <a:t>4 Roles of Management </a:t>
            </a:r>
          </a:p>
          <a:p>
            <a:pPr marL="457200" indent="-457200" algn="l">
              <a:buFont typeface="Arial"/>
              <a:buChar char="•"/>
            </a:pPr>
            <a:r>
              <a:rPr lang="en-US" dirty="0"/>
              <a:t>The Impact of “Change”</a:t>
            </a:r>
          </a:p>
          <a:p>
            <a:pPr marL="457200" indent="-457200" algn="l">
              <a:buFont typeface="Arial"/>
              <a:buChar char="•"/>
            </a:pPr>
            <a:r>
              <a:rPr lang="en-US" dirty="0"/>
              <a:t>What is Change Management and Why is it Necessary?</a:t>
            </a:r>
          </a:p>
          <a:p>
            <a:pPr marL="457200" indent="-457200" algn="l">
              <a:buFont typeface="Arial"/>
              <a:buChar char="•"/>
            </a:pPr>
            <a:r>
              <a:rPr lang="en-US" dirty="0"/>
              <a:t>Cause and Effect in Any System (Blueprint Diagram)</a:t>
            </a:r>
          </a:p>
        </p:txBody>
      </p:sp>
      <p:grpSp>
        <p:nvGrpSpPr>
          <p:cNvPr id="8" name="Group 7"/>
          <p:cNvGrpSpPr/>
          <p:nvPr/>
        </p:nvGrpSpPr>
        <p:grpSpPr>
          <a:xfrm>
            <a:off x="8650003" y="183972"/>
            <a:ext cx="1332197" cy="1332197"/>
            <a:chOff x="3524901" y="1400"/>
            <a:chExt cx="1332197" cy="1332197"/>
          </a:xfrm>
          <a:solidFill>
            <a:srgbClr val="FFFF00"/>
          </a:solidFill>
        </p:grpSpPr>
        <p:sp>
          <p:nvSpPr>
            <p:cNvPr id="11" name="Oval 10"/>
            <p:cNvSpPr/>
            <p:nvPr/>
          </p:nvSpPr>
          <p:spPr>
            <a:xfrm>
              <a:off x="3524901" y="1400"/>
              <a:ext cx="1332197" cy="1332197"/>
            </a:xfrm>
            <a:prstGeom prst="ellipse">
              <a:avLst/>
            </a:prstGeom>
            <a:grpFill/>
            <a:ln>
              <a:solidFill>
                <a:srgbClr val="FF0000"/>
              </a:solidFill>
            </a:ln>
          </p:spPr>
          <p:style>
            <a:lnRef idx="0">
              <a:scrgbClr r="0" g="0" b="0"/>
            </a:lnRef>
            <a:fillRef idx="3">
              <a:scrgbClr r="0" g="0" b="0"/>
            </a:fillRef>
            <a:effectRef idx="2">
              <a:schemeClr val="accent1">
                <a:hueOff val="0"/>
                <a:satOff val="0"/>
                <a:lumOff val="0"/>
                <a:alphaOff val="0"/>
              </a:schemeClr>
            </a:effectRef>
            <a:fontRef idx="minor">
              <a:schemeClr val="lt1"/>
            </a:fontRef>
          </p:style>
        </p:sp>
        <p:sp>
          <p:nvSpPr>
            <p:cNvPr id="12" name="Oval 4"/>
            <p:cNvSpPr/>
            <p:nvPr/>
          </p:nvSpPr>
          <p:spPr>
            <a:xfrm>
              <a:off x="3719997" y="196496"/>
              <a:ext cx="942005" cy="9420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3970" tIns="13970" rIns="13970" bIns="13970" numCol="1" spcCol="1270" anchor="ctr" anchorCtr="0">
              <a:noAutofit/>
            </a:bodyPr>
            <a:lstStyle/>
            <a:p>
              <a:pPr algn="ctr" defTabSz="488950">
                <a:lnSpc>
                  <a:spcPct val="90000"/>
                </a:lnSpc>
                <a:spcBef>
                  <a:spcPct val="0"/>
                </a:spcBef>
                <a:spcAft>
                  <a:spcPct val="35000"/>
                </a:spcAft>
              </a:pPr>
              <a:r>
                <a:rPr lang="en-US" sz="1100" dirty="0">
                  <a:solidFill>
                    <a:schemeClr val="tx1"/>
                  </a:solidFill>
                </a:rPr>
                <a:t>1. What managers should know about leadership &amp; management</a:t>
              </a:r>
            </a:p>
          </p:txBody>
        </p:sp>
      </p:grpSp>
    </p:spTree>
    <p:extLst>
      <p:ext uri="{BB962C8B-B14F-4D97-AF65-F5344CB8AC3E}">
        <p14:creationId xmlns:p14="http://schemas.microsoft.com/office/powerpoint/2010/main" val="476501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Outcomes</a:t>
            </a:r>
          </a:p>
        </p:txBody>
      </p:sp>
      <p:sp>
        <p:nvSpPr>
          <p:cNvPr id="3" name="Content Placeholder 2"/>
          <p:cNvSpPr>
            <a:spLocks noGrp="1"/>
          </p:cNvSpPr>
          <p:nvPr>
            <p:ph idx="1"/>
          </p:nvPr>
        </p:nvSpPr>
        <p:spPr/>
        <p:txBody>
          <a:bodyPr/>
          <a:lstStyle/>
          <a:p>
            <a:r>
              <a:rPr lang="en-US" sz="2600" dirty="0"/>
              <a:t>Increase management capacity to;</a:t>
            </a:r>
          </a:p>
          <a:p>
            <a:pPr lvl="1"/>
            <a:r>
              <a:rPr lang="en-US" sz="2400" dirty="0"/>
              <a:t>Manage results, manage people, manage culture and manage change</a:t>
            </a:r>
          </a:p>
          <a:p>
            <a:pPr lvl="2"/>
            <a:r>
              <a:rPr lang="en-US" sz="2200" dirty="0"/>
              <a:t>Work with people</a:t>
            </a:r>
          </a:p>
          <a:p>
            <a:pPr lvl="2"/>
            <a:r>
              <a:rPr lang="en-US" sz="2200" dirty="0"/>
              <a:t>Build complimentary high performance teams</a:t>
            </a:r>
          </a:p>
          <a:p>
            <a:pPr lvl="2"/>
            <a:r>
              <a:rPr lang="en-US" sz="2200" dirty="0"/>
              <a:t>Empower people</a:t>
            </a:r>
          </a:p>
          <a:p>
            <a:pPr lvl="2"/>
            <a:r>
              <a:rPr lang="en-US" sz="2200" dirty="0"/>
              <a:t>Assess individual and team performance</a:t>
            </a:r>
          </a:p>
          <a:p>
            <a:pPr lvl="2"/>
            <a:r>
              <a:rPr lang="en-US" sz="2200" dirty="0"/>
              <a:t>Understand the causes of conflict and how to manage conflict</a:t>
            </a:r>
          </a:p>
          <a:p>
            <a:pPr lvl="2"/>
            <a:r>
              <a:rPr lang="en-US" sz="2200" dirty="0"/>
              <a:t>Handle increased authority</a:t>
            </a:r>
          </a:p>
          <a:p>
            <a:pPr lvl="2"/>
            <a:r>
              <a:rPr lang="en-US" sz="2200" dirty="0"/>
              <a:t>Effectively make decisions</a:t>
            </a:r>
          </a:p>
          <a:p>
            <a:pPr lvl="2"/>
            <a:r>
              <a:rPr lang="en-US" sz="2200" dirty="0"/>
              <a:t>Implement decisions efficiently</a:t>
            </a:r>
          </a:p>
          <a:p>
            <a:pPr lvl="2"/>
            <a:r>
              <a:rPr lang="en-US" sz="2200" dirty="0"/>
              <a:t>Understand cause and effect in any system</a:t>
            </a:r>
            <a:endParaRPr lang="en-US" dirty="0"/>
          </a:p>
          <a:p>
            <a:pPr lvl="1"/>
            <a:endParaRPr lang="en-US" dirty="0"/>
          </a:p>
        </p:txBody>
      </p:sp>
    </p:spTree>
    <p:extLst>
      <p:ext uri="{BB962C8B-B14F-4D97-AF65-F5344CB8AC3E}">
        <p14:creationId xmlns:p14="http://schemas.microsoft.com/office/powerpoint/2010/main" val="146483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3"/>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role of management</a:t>
            </a:r>
          </a:p>
        </p:txBody>
      </p:sp>
      <p:sp>
        <p:nvSpPr>
          <p:cNvPr id="3" name="Content Placeholder 2"/>
          <p:cNvSpPr>
            <a:spLocks noGrp="1"/>
          </p:cNvSpPr>
          <p:nvPr>
            <p:ph idx="1"/>
          </p:nvPr>
        </p:nvSpPr>
        <p:spPr/>
        <p:txBody>
          <a:bodyPr/>
          <a:lstStyle/>
          <a:p>
            <a:r>
              <a:rPr lang="en-US" i="1" dirty="0"/>
              <a:t>“Organizational management is born when a task evolves </a:t>
            </a:r>
            <a:r>
              <a:rPr lang="en-US" i="1" dirty="0">
                <a:solidFill>
                  <a:srgbClr val="FF0000"/>
                </a:solidFill>
              </a:rPr>
              <a:t>that cannot be performed </a:t>
            </a:r>
            <a:r>
              <a:rPr lang="en-US" i="1" dirty="0"/>
              <a:t>by one person alone. </a:t>
            </a:r>
            <a:endParaRPr lang="en-US" sz="1600" dirty="0"/>
          </a:p>
          <a:p>
            <a:r>
              <a:rPr lang="en-US" dirty="0"/>
              <a:t>Why is a leader not necessarily a good manager and vice versa?</a:t>
            </a:r>
          </a:p>
          <a:p>
            <a:pPr lvl="1"/>
            <a:r>
              <a:rPr lang="en-US" b="1" dirty="0"/>
              <a:t>From your experience</a:t>
            </a:r>
            <a:r>
              <a:rPr lang="en-US" dirty="0"/>
              <a:t>, describe a “leadership style” that was easily prone to mismanagement?</a:t>
            </a:r>
          </a:p>
          <a:p>
            <a:r>
              <a:rPr lang="en-US" dirty="0"/>
              <a:t>Why is management necessary? What does it mean to manage well?</a:t>
            </a:r>
          </a:p>
          <a:p>
            <a:pPr marL="0" indent="0">
              <a:buNone/>
            </a:pPr>
            <a:endParaRPr lang="en-US" dirty="0"/>
          </a:p>
        </p:txBody>
      </p:sp>
    </p:spTree>
    <p:extLst>
      <p:ext uri="{BB962C8B-B14F-4D97-AF65-F5344CB8AC3E}">
        <p14:creationId xmlns:p14="http://schemas.microsoft.com/office/powerpoint/2010/main" val="932429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ular Callout 4"/>
          <p:cNvSpPr/>
          <p:nvPr/>
        </p:nvSpPr>
        <p:spPr>
          <a:xfrm>
            <a:off x="7688842" y="1349410"/>
            <a:ext cx="2675541" cy="3575696"/>
          </a:xfrm>
          <a:prstGeom prst="wedgeRoundRectCallout">
            <a:avLst>
              <a:gd name="adj1" fmla="val -96409"/>
              <a:gd name="adj2" fmla="val -20597"/>
              <a:gd name="adj3" fmla="val 16667"/>
            </a:avLst>
          </a:prstGeom>
          <a:solidFill>
            <a:schemeClr val="bg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0000"/>
                </a:solidFill>
              </a:rPr>
              <a:t>An organization is made up of systems and sub systems. </a:t>
            </a:r>
            <a:r>
              <a:rPr lang="en-US" b="1" dirty="0">
                <a:solidFill>
                  <a:srgbClr val="FF0000"/>
                </a:solidFill>
              </a:rPr>
              <a:t>Change</a:t>
            </a:r>
            <a:r>
              <a:rPr lang="en-US" b="1" dirty="0">
                <a:solidFill>
                  <a:srgbClr val="000000"/>
                </a:solidFill>
              </a:rPr>
              <a:t> causes these systems to fall apart -</a:t>
            </a:r>
            <a:r>
              <a:rPr lang="en-US" b="1" dirty="0">
                <a:solidFill>
                  <a:srgbClr val="FF0000"/>
                </a:solidFill>
              </a:rPr>
              <a:t>disintegrate</a:t>
            </a:r>
            <a:r>
              <a:rPr lang="en-US" b="1" dirty="0">
                <a:solidFill>
                  <a:srgbClr val="000000"/>
                </a:solidFill>
              </a:rPr>
              <a:t> at </a:t>
            </a:r>
            <a:r>
              <a:rPr lang="en-US" b="1" i="1" dirty="0">
                <a:solidFill>
                  <a:srgbClr val="000000"/>
                </a:solidFill>
              </a:rPr>
              <a:t>different rates</a:t>
            </a:r>
            <a:r>
              <a:rPr lang="en-US" b="1" dirty="0">
                <a:solidFill>
                  <a:srgbClr val="000000"/>
                </a:solidFill>
              </a:rPr>
              <a:t>. Management is required to facilitate </a:t>
            </a:r>
            <a:r>
              <a:rPr lang="en-US" b="1" dirty="0">
                <a:solidFill>
                  <a:srgbClr val="FF0000"/>
                </a:solidFill>
              </a:rPr>
              <a:t>the </a:t>
            </a:r>
            <a:r>
              <a:rPr lang="en-US" b="1" u="sng" dirty="0">
                <a:solidFill>
                  <a:srgbClr val="FF0000"/>
                </a:solidFill>
              </a:rPr>
              <a:t>re-integration</a:t>
            </a:r>
            <a:r>
              <a:rPr lang="en-US" b="1" u="sng" dirty="0">
                <a:solidFill>
                  <a:srgbClr val="000000"/>
                </a:solidFill>
              </a:rPr>
              <a:t> </a:t>
            </a:r>
            <a:r>
              <a:rPr lang="en-US" b="1" dirty="0">
                <a:solidFill>
                  <a:srgbClr val="000000"/>
                </a:solidFill>
              </a:rPr>
              <a:t>process  </a:t>
            </a:r>
            <a:endParaRPr lang="en-US" b="1" i="1" dirty="0">
              <a:solidFill>
                <a:srgbClr val="000000"/>
              </a:solidFill>
            </a:endParaRPr>
          </a:p>
        </p:txBody>
      </p:sp>
      <p:sp>
        <p:nvSpPr>
          <p:cNvPr id="66564" name="Rectangle 4"/>
          <p:cNvSpPr>
            <a:spLocks noGrp="1" noChangeArrowheads="1"/>
          </p:cNvSpPr>
          <p:nvPr>
            <p:ph type="ctrTitle"/>
          </p:nvPr>
        </p:nvSpPr>
        <p:spPr>
          <a:xfrm>
            <a:off x="4450704" y="1876426"/>
            <a:ext cx="2132013" cy="606425"/>
          </a:xfrm>
          <a:solidFill>
            <a:srgbClr val="FFFFFF">
              <a:alpha val="0"/>
            </a:srgbClr>
          </a:solidFill>
        </p:spPr>
        <p:txBody>
          <a:bodyPr>
            <a:normAutofit/>
          </a:bodyPr>
          <a:lstStyle/>
          <a:p>
            <a:pPr algn="ctr" eaLnBrk="1">
              <a:defRPr/>
            </a:pPr>
            <a:r>
              <a:rPr lang="en-US" sz="3200" b="1" dirty="0">
                <a:solidFill>
                  <a:schemeClr val="tx1"/>
                </a:solidFill>
                <a:effectLst>
                  <a:outerShdw blurRad="38100" dist="38100" dir="2700000" algn="tl">
                    <a:srgbClr val="C0C0C0"/>
                  </a:outerShdw>
                </a:effectLst>
                <a:latin typeface="Tahoma" pitchFamily="34" charset="0"/>
              </a:rPr>
              <a:t>change</a:t>
            </a:r>
          </a:p>
        </p:txBody>
      </p:sp>
      <p:sp>
        <p:nvSpPr>
          <p:cNvPr id="66565" name="AutoShape 5"/>
          <p:cNvSpPr>
            <a:spLocks noChangeArrowheads="1"/>
          </p:cNvSpPr>
          <p:nvPr/>
        </p:nvSpPr>
        <p:spPr bwMode="auto">
          <a:xfrm>
            <a:off x="5451814" y="3661447"/>
            <a:ext cx="227012" cy="379412"/>
          </a:xfrm>
          <a:prstGeom prst="downArrow">
            <a:avLst>
              <a:gd name="adj1" fmla="val 50000"/>
              <a:gd name="adj2" fmla="val 41783"/>
            </a:avLst>
          </a:prstGeom>
          <a:solidFill>
            <a:srgbClr val="FF0033"/>
          </a:solidFill>
          <a:ln w="12700">
            <a:solidFill>
              <a:schemeClr val="tx1"/>
            </a:solidFill>
            <a:miter lim="800000"/>
            <a:headEnd type="none" w="sm" len="sm"/>
            <a:tailEnd type="none" w="sm" len="sm"/>
          </a:ln>
        </p:spPr>
        <p:txBody>
          <a:bodyPr wrap="none" anchor="ctr"/>
          <a:lstStyle/>
          <a:p>
            <a:endParaRPr lang="en-US"/>
          </a:p>
        </p:txBody>
      </p:sp>
      <p:sp>
        <p:nvSpPr>
          <p:cNvPr id="51206" name="AutoShape 7"/>
          <p:cNvSpPr>
            <a:spLocks noChangeArrowheads="1"/>
          </p:cNvSpPr>
          <p:nvPr/>
        </p:nvSpPr>
        <p:spPr bwMode="auto">
          <a:xfrm>
            <a:off x="5431736" y="2670176"/>
            <a:ext cx="227012" cy="379413"/>
          </a:xfrm>
          <a:prstGeom prst="downArrow">
            <a:avLst>
              <a:gd name="adj1" fmla="val 50000"/>
              <a:gd name="adj2" fmla="val 41783"/>
            </a:avLst>
          </a:prstGeom>
          <a:solidFill>
            <a:srgbClr val="FF0033"/>
          </a:solidFill>
          <a:ln w="12700">
            <a:solidFill>
              <a:schemeClr val="tx1"/>
            </a:solidFill>
            <a:miter lim="800000"/>
            <a:headEnd type="none" w="sm" len="sm"/>
            <a:tailEnd type="none" w="sm" len="sm"/>
          </a:ln>
        </p:spPr>
        <p:txBody>
          <a:bodyPr wrap="none" anchor="ctr"/>
          <a:lstStyle/>
          <a:p>
            <a:endParaRPr lang="en-US"/>
          </a:p>
        </p:txBody>
      </p:sp>
      <p:sp>
        <p:nvSpPr>
          <p:cNvPr id="66568" name="Rectangle 8"/>
          <p:cNvSpPr>
            <a:spLocks noChangeArrowheads="1"/>
          </p:cNvSpPr>
          <p:nvPr/>
        </p:nvSpPr>
        <p:spPr bwMode="auto">
          <a:xfrm>
            <a:off x="4629509" y="4040860"/>
            <a:ext cx="1897062" cy="606425"/>
          </a:xfrm>
          <a:prstGeom prst="rect">
            <a:avLst/>
          </a:prstGeom>
          <a:noFill/>
          <a:ln w="9525">
            <a:noFill/>
            <a:miter lim="800000"/>
            <a:headEnd/>
            <a:tailEnd/>
          </a:ln>
          <a:effectLst/>
        </p:spPr>
        <p:txBody>
          <a:bodyPr lIns="92075" tIns="46038" rIns="92075" bIns="46038" anchor="ctr"/>
          <a:lstStyle/>
          <a:p>
            <a:pPr algn="ctr">
              <a:defRPr/>
            </a:pPr>
            <a:r>
              <a:rPr lang="en-US" sz="2400" b="1" dirty="0">
                <a:effectLst>
                  <a:outerShdw blurRad="38100" dist="38100" dir="2700000" algn="tl">
                    <a:srgbClr val="C0C0C0"/>
                  </a:outerShdw>
                </a:effectLst>
                <a:latin typeface="Tahoma" pitchFamily="34" charset="0"/>
              </a:rPr>
              <a:t>manage</a:t>
            </a:r>
          </a:p>
        </p:txBody>
      </p:sp>
      <p:sp>
        <p:nvSpPr>
          <p:cNvPr id="66572" name="Rectangle 12"/>
          <p:cNvSpPr>
            <a:spLocks noChangeArrowheads="1"/>
          </p:cNvSpPr>
          <p:nvPr/>
        </p:nvSpPr>
        <p:spPr bwMode="auto">
          <a:xfrm>
            <a:off x="4390336" y="3048001"/>
            <a:ext cx="2352675" cy="606425"/>
          </a:xfrm>
          <a:prstGeom prst="rect">
            <a:avLst/>
          </a:prstGeom>
          <a:noFill/>
          <a:ln w="9525">
            <a:noFill/>
            <a:miter lim="800000"/>
            <a:headEnd/>
            <a:tailEnd/>
          </a:ln>
          <a:effectLst/>
        </p:spPr>
        <p:txBody>
          <a:bodyPr lIns="92075" tIns="46038" rIns="92075" bIns="46038" anchor="ctr"/>
          <a:lstStyle/>
          <a:p>
            <a:pPr algn="ctr">
              <a:defRPr/>
            </a:pPr>
            <a:r>
              <a:rPr lang="en-US" sz="2400" b="1" dirty="0">
                <a:effectLst>
                  <a:outerShdw blurRad="38100" dist="38100" dir="2700000" algn="tl">
                    <a:srgbClr val="C0C0C0"/>
                  </a:outerShdw>
                </a:effectLst>
                <a:latin typeface="Tahoma" pitchFamily="34" charset="0"/>
              </a:rPr>
              <a:t>problems</a:t>
            </a:r>
          </a:p>
        </p:txBody>
      </p:sp>
      <p:sp>
        <p:nvSpPr>
          <p:cNvPr id="2" name="Rectangle 1"/>
          <p:cNvSpPr/>
          <p:nvPr/>
        </p:nvSpPr>
        <p:spPr>
          <a:xfrm>
            <a:off x="2453751" y="171137"/>
            <a:ext cx="7284498" cy="584776"/>
          </a:xfrm>
          <a:prstGeom prst="rect">
            <a:avLst/>
          </a:prstGeom>
        </p:spPr>
        <p:txBody>
          <a:bodyPr wrap="square">
            <a:spAutoFit/>
          </a:bodyPr>
          <a:lstStyle/>
          <a:p>
            <a:pPr algn="ctr"/>
            <a:r>
              <a:rPr lang="en-US" sz="3200" b="1" dirty="0">
                <a:solidFill>
                  <a:schemeClr val="accent2">
                    <a:lumMod val="50000"/>
                  </a:schemeClr>
                </a:solidFill>
                <a:latin typeface="Calibri" pitchFamily="34" charset="0"/>
                <a:ea typeface="+mj-ea"/>
                <a:cs typeface="+mj-cs"/>
              </a:rPr>
              <a:t>WHY IS MANAGEMENT NECESSARY?</a:t>
            </a:r>
          </a:p>
        </p:txBody>
      </p:sp>
      <p:sp>
        <p:nvSpPr>
          <p:cNvPr id="3" name="Oval Callout 2"/>
          <p:cNvSpPr/>
          <p:nvPr/>
        </p:nvSpPr>
        <p:spPr>
          <a:xfrm>
            <a:off x="1636521" y="2482850"/>
            <a:ext cx="2643704" cy="1810500"/>
          </a:xfrm>
          <a:prstGeom prst="wedgeEllipseCallout">
            <a:avLst>
              <a:gd name="adj1" fmla="val 58068"/>
              <a:gd name="adj2" fmla="val -3619"/>
            </a:avLst>
          </a:prstGeom>
          <a:solidFill>
            <a:schemeClr val="bg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i="1" dirty="0">
                <a:solidFill>
                  <a:srgbClr val="000000"/>
                </a:solidFill>
              </a:rPr>
              <a:t>Opportunity</a:t>
            </a:r>
            <a:r>
              <a:rPr lang="en-US" b="1" dirty="0">
                <a:solidFill>
                  <a:srgbClr val="000000"/>
                </a:solidFill>
              </a:rPr>
              <a:t> or </a:t>
            </a:r>
            <a:r>
              <a:rPr lang="en-US" b="1" i="1" dirty="0">
                <a:solidFill>
                  <a:srgbClr val="000000"/>
                </a:solidFill>
              </a:rPr>
              <a:t>threat  </a:t>
            </a:r>
            <a:r>
              <a:rPr lang="en-US" b="1" dirty="0">
                <a:solidFill>
                  <a:srgbClr val="000000"/>
                </a:solidFill>
              </a:rPr>
              <a:t>often depends on our </a:t>
            </a:r>
            <a:r>
              <a:rPr lang="en-US" b="1" u="sng" dirty="0">
                <a:solidFill>
                  <a:srgbClr val="000000"/>
                </a:solidFill>
              </a:rPr>
              <a:t>attitude</a:t>
            </a:r>
            <a:r>
              <a:rPr lang="en-US" b="1" dirty="0">
                <a:solidFill>
                  <a:srgbClr val="000000"/>
                </a:solidFill>
              </a:rPr>
              <a:t> and managerial skill &amp; style</a:t>
            </a:r>
            <a:endParaRPr lang="en-US" b="1" i="1" dirty="0">
              <a:solidFill>
                <a:srgbClr val="000000"/>
              </a:solidFill>
            </a:endParaRPr>
          </a:p>
        </p:txBody>
      </p:sp>
      <p:sp>
        <p:nvSpPr>
          <p:cNvPr id="4" name="Oval Callout 3"/>
          <p:cNvSpPr/>
          <p:nvPr/>
        </p:nvSpPr>
        <p:spPr>
          <a:xfrm>
            <a:off x="1640835" y="947270"/>
            <a:ext cx="2329000" cy="1236864"/>
          </a:xfrm>
          <a:prstGeom prst="wedgeEllipseCallout">
            <a:avLst>
              <a:gd name="adj1" fmla="val 81298"/>
              <a:gd name="adj2" fmla="val 47578"/>
            </a:avLst>
          </a:prstGeom>
          <a:solidFill>
            <a:schemeClr val="bg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FF0000"/>
                </a:solidFill>
              </a:rPr>
              <a:t>Change is </a:t>
            </a:r>
          </a:p>
          <a:p>
            <a:pPr algn="ctr"/>
            <a:r>
              <a:rPr lang="en-US" b="1" i="1" dirty="0">
                <a:solidFill>
                  <a:srgbClr val="FF0000"/>
                </a:solidFill>
              </a:rPr>
              <a:t>constant and accelerating</a:t>
            </a:r>
          </a:p>
        </p:txBody>
      </p:sp>
      <p:sp>
        <p:nvSpPr>
          <p:cNvPr id="15" name="Oval Callout 14"/>
          <p:cNvSpPr/>
          <p:nvPr/>
        </p:nvSpPr>
        <p:spPr>
          <a:xfrm>
            <a:off x="1832358" y="4660648"/>
            <a:ext cx="2796103" cy="1858309"/>
          </a:xfrm>
          <a:prstGeom prst="wedgeEllipseCallout">
            <a:avLst>
              <a:gd name="adj1" fmla="val 63805"/>
              <a:gd name="adj2" fmla="val -101746"/>
            </a:avLst>
          </a:prstGeom>
          <a:solidFill>
            <a:schemeClr val="bg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0000"/>
                </a:solidFill>
              </a:rPr>
              <a:t>Do we have a </a:t>
            </a:r>
            <a:r>
              <a:rPr lang="en-US" b="1" i="1" dirty="0">
                <a:solidFill>
                  <a:srgbClr val="000000"/>
                </a:solidFill>
              </a:rPr>
              <a:t>problem? </a:t>
            </a:r>
            <a:r>
              <a:rPr lang="en-US" b="1" dirty="0">
                <a:solidFill>
                  <a:srgbClr val="000000"/>
                </a:solidFill>
              </a:rPr>
              <a:t>Can we turn that problem into an </a:t>
            </a:r>
            <a:r>
              <a:rPr lang="en-US" b="1" i="1" dirty="0">
                <a:solidFill>
                  <a:srgbClr val="000000"/>
                </a:solidFill>
              </a:rPr>
              <a:t>opportunity?  </a:t>
            </a:r>
          </a:p>
        </p:txBody>
      </p:sp>
      <p:sp>
        <p:nvSpPr>
          <p:cNvPr id="16" name="Oval Callout 15"/>
          <p:cNvSpPr/>
          <p:nvPr/>
        </p:nvSpPr>
        <p:spPr>
          <a:xfrm>
            <a:off x="5799371" y="4925106"/>
            <a:ext cx="2482387" cy="1593850"/>
          </a:xfrm>
          <a:prstGeom prst="wedgeEllipseCallout">
            <a:avLst>
              <a:gd name="adj1" fmla="val -25694"/>
              <a:gd name="adj2" fmla="val -131745"/>
            </a:avLst>
          </a:prstGeom>
          <a:solidFill>
            <a:schemeClr val="bg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0000"/>
                </a:solidFill>
              </a:rPr>
              <a:t>There are no </a:t>
            </a:r>
            <a:r>
              <a:rPr lang="en-US" b="1" i="1" dirty="0">
                <a:solidFill>
                  <a:srgbClr val="000000"/>
                </a:solidFill>
              </a:rPr>
              <a:t>opportunities</a:t>
            </a:r>
            <a:r>
              <a:rPr lang="en-US" b="1" dirty="0">
                <a:solidFill>
                  <a:srgbClr val="000000"/>
                </a:solidFill>
              </a:rPr>
              <a:t> without </a:t>
            </a:r>
            <a:r>
              <a:rPr lang="en-US" b="1" i="1" dirty="0">
                <a:solidFill>
                  <a:srgbClr val="000000"/>
                </a:solidFill>
              </a:rPr>
              <a:t>problems  </a:t>
            </a:r>
          </a:p>
        </p:txBody>
      </p:sp>
      <p:grpSp>
        <p:nvGrpSpPr>
          <p:cNvPr id="6" name="Group 5"/>
          <p:cNvGrpSpPr/>
          <p:nvPr/>
        </p:nvGrpSpPr>
        <p:grpSpPr>
          <a:xfrm>
            <a:off x="6268788" y="2142863"/>
            <a:ext cx="901465" cy="2271976"/>
            <a:chOff x="6179580" y="2142863"/>
            <a:chExt cx="901465" cy="2271976"/>
          </a:xfrm>
        </p:grpSpPr>
        <p:sp>
          <p:nvSpPr>
            <p:cNvPr id="66571" name="Rectangle 11"/>
            <p:cNvSpPr>
              <a:spLocks noChangeArrowheads="1"/>
            </p:cNvSpPr>
            <p:nvPr/>
          </p:nvSpPr>
          <p:spPr bwMode="auto">
            <a:xfrm rot="-5400000">
              <a:off x="5925212" y="3259005"/>
              <a:ext cx="2230704" cy="80963"/>
            </a:xfrm>
            <a:prstGeom prst="rect">
              <a:avLst/>
            </a:prstGeom>
            <a:solidFill>
              <a:srgbClr val="FF0033"/>
            </a:solidFill>
            <a:ln w="12700">
              <a:noFill/>
              <a:miter lim="800000"/>
              <a:headEnd type="none" w="sm" len="sm"/>
              <a:tailEnd type="none" w="sm" len="sm"/>
            </a:ln>
          </p:spPr>
          <p:txBody>
            <a:bodyPr wrap="none" anchor="ctr"/>
            <a:lstStyle/>
            <a:p>
              <a:endParaRPr lang="en-US"/>
            </a:p>
          </p:txBody>
        </p:sp>
        <p:sp>
          <p:nvSpPr>
            <p:cNvPr id="66569" name="AutoShape 9"/>
            <p:cNvSpPr>
              <a:spLocks noChangeArrowheads="1"/>
            </p:cNvSpPr>
            <p:nvPr/>
          </p:nvSpPr>
          <p:spPr bwMode="auto">
            <a:xfrm>
              <a:off x="6392444" y="2142863"/>
              <a:ext cx="682625" cy="152400"/>
            </a:xfrm>
            <a:prstGeom prst="leftArrow">
              <a:avLst>
                <a:gd name="adj1" fmla="val 50000"/>
                <a:gd name="adj2" fmla="val 111979"/>
              </a:avLst>
            </a:prstGeom>
            <a:solidFill>
              <a:srgbClr val="FF0033"/>
            </a:solidFill>
            <a:ln w="12700">
              <a:noFill/>
              <a:miter lim="800000"/>
              <a:headEnd type="none" w="sm" len="sm"/>
              <a:tailEnd type="none" w="sm" len="sm"/>
            </a:ln>
          </p:spPr>
          <p:txBody>
            <a:bodyPr wrap="none" anchor="ctr"/>
            <a:lstStyle/>
            <a:p>
              <a:endParaRPr lang="en-US"/>
            </a:p>
          </p:txBody>
        </p:sp>
        <p:sp>
          <p:nvSpPr>
            <p:cNvPr id="66570" name="Rectangle 10"/>
            <p:cNvSpPr>
              <a:spLocks noChangeArrowheads="1"/>
            </p:cNvSpPr>
            <p:nvPr/>
          </p:nvSpPr>
          <p:spPr bwMode="auto">
            <a:xfrm>
              <a:off x="6179580" y="4338638"/>
              <a:ext cx="860985" cy="76200"/>
            </a:xfrm>
            <a:prstGeom prst="rect">
              <a:avLst/>
            </a:prstGeom>
            <a:solidFill>
              <a:srgbClr val="FF0033"/>
            </a:solidFill>
            <a:ln w="12700">
              <a:noFill/>
              <a:miter lim="800000"/>
              <a:headEnd type="none" w="sm" len="sm"/>
              <a:tailEnd type="none" w="sm" len="sm"/>
            </a:ln>
          </p:spPr>
          <p:txBody>
            <a:bodyPr wrap="none" anchor="ctr"/>
            <a:lstStyle/>
            <a:p>
              <a:endParaRPr lang="en-US"/>
            </a:p>
          </p:txBody>
        </p:sp>
      </p:grpSp>
      <p:sp>
        <p:nvSpPr>
          <p:cNvPr id="17" name="Rectangle 12"/>
          <p:cNvSpPr>
            <a:spLocks noChangeArrowheads="1"/>
          </p:cNvSpPr>
          <p:nvPr/>
        </p:nvSpPr>
        <p:spPr bwMode="auto">
          <a:xfrm>
            <a:off x="3601841" y="3044286"/>
            <a:ext cx="3872577" cy="606425"/>
          </a:xfrm>
          <a:prstGeom prst="rect">
            <a:avLst/>
          </a:prstGeom>
          <a:noFill/>
          <a:ln w="9525">
            <a:noFill/>
            <a:miter lim="800000"/>
            <a:headEnd/>
            <a:tailEnd/>
          </a:ln>
          <a:effectLst/>
        </p:spPr>
        <p:txBody>
          <a:bodyPr lIns="92075" tIns="46038" rIns="92075" bIns="46038" anchor="ctr"/>
          <a:lstStyle/>
          <a:p>
            <a:pPr algn="ctr">
              <a:defRPr/>
            </a:pPr>
            <a:r>
              <a:rPr lang="en-US" sz="2400" b="1" dirty="0">
                <a:effectLst>
                  <a:outerShdw blurRad="38100" dist="38100" dir="2700000" algn="tl">
                    <a:srgbClr val="C0C0C0"/>
                  </a:outerShdw>
                </a:effectLst>
                <a:latin typeface="Tahoma" pitchFamily="34" charset="0"/>
              </a:rPr>
              <a:t>Problems/opportunities</a:t>
            </a:r>
          </a:p>
        </p:txBody>
      </p:sp>
      <p:sp>
        <p:nvSpPr>
          <p:cNvPr id="18" name="Rectangle 12"/>
          <p:cNvSpPr>
            <a:spLocks noChangeArrowheads="1"/>
          </p:cNvSpPr>
          <p:nvPr/>
        </p:nvSpPr>
        <p:spPr bwMode="auto">
          <a:xfrm>
            <a:off x="3620429" y="3051720"/>
            <a:ext cx="3872577" cy="606425"/>
          </a:xfrm>
          <a:prstGeom prst="rect">
            <a:avLst/>
          </a:prstGeom>
          <a:noFill/>
          <a:ln w="9525">
            <a:noFill/>
            <a:miter lim="800000"/>
            <a:headEnd/>
            <a:tailEnd/>
          </a:ln>
          <a:effectLst/>
        </p:spPr>
        <p:txBody>
          <a:bodyPr lIns="92075" tIns="46038" rIns="92075" bIns="46038" anchor="ctr"/>
          <a:lstStyle/>
          <a:p>
            <a:pPr algn="ctr">
              <a:defRPr/>
            </a:pPr>
            <a:r>
              <a:rPr lang="en-US" sz="2400" b="1" dirty="0" err="1">
                <a:effectLst>
                  <a:outerShdw blurRad="38100" dist="38100" dir="2700000" algn="tl">
                    <a:srgbClr val="C0C0C0"/>
                  </a:outerShdw>
                </a:effectLst>
                <a:latin typeface="Tahoma" pitchFamily="34" charset="0"/>
              </a:rPr>
              <a:t>opporthreats</a:t>
            </a:r>
            <a:endParaRPr lang="en-US" sz="2400" b="1" dirty="0">
              <a:effectLst>
                <a:outerShdw blurRad="38100" dist="38100" dir="2700000" algn="tl">
                  <a:srgbClr val="C0C0C0"/>
                </a:outerShdw>
              </a:effectLst>
              <a:latin typeface="Tahoma" pitchFamily="34" charset="0"/>
            </a:endParaRPr>
          </a:p>
        </p:txBody>
      </p:sp>
    </p:spTree>
    <p:extLst>
      <p:ext uri="{BB962C8B-B14F-4D97-AF65-F5344CB8AC3E}">
        <p14:creationId xmlns:p14="http://schemas.microsoft.com/office/powerpoint/2010/main" val="115019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0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572"/>
                                        </p:tgtEl>
                                        <p:attrNameLst>
                                          <p:attrName>style.visibility</p:attrName>
                                        </p:attrNameLst>
                                      </p:cBhvr>
                                      <p:to>
                                        <p:strVal val="visible"/>
                                      </p:to>
                                    </p:set>
                                  </p:childTnLst>
                                  <p:subTnLst>
                                    <p:set>
                                      <p:cBhvr override="childStyle">
                                        <p:cTn dur="1" fill="hold" display="0" masterRel="nextClick" afterEffect="1"/>
                                        <p:tgtEl>
                                          <p:spTgt spid="6657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6565"/>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6656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6564" grpId="0" animBg="1"/>
      <p:bldP spid="66565" grpId="0" animBg="1"/>
      <p:bldP spid="51206" grpId="0" animBg="1"/>
      <p:bldP spid="66568" grpId="0"/>
      <p:bldP spid="66572" grpId="0"/>
      <p:bldP spid="3" grpId="0" animBg="1"/>
      <p:bldP spid="4" grpId="0" animBg="1"/>
      <p:bldP spid="15" grpId="0" animBg="1"/>
      <p:bldP spid="16" grpId="0" animBg="1"/>
      <p:bldP spid="17"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7448551" y="4795838"/>
            <a:ext cx="685800" cy="379412"/>
          </a:xfrm>
          <a:prstGeom prst="rect">
            <a:avLst/>
          </a:prstGeom>
          <a:solidFill>
            <a:srgbClr val="FF0000">
              <a:alpha val="79999"/>
            </a:srgbClr>
          </a:solidFill>
          <a:ln w="12700" algn="ctr">
            <a:noFill/>
            <a:miter lim="800000"/>
            <a:headEnd type="none" w="sm" len="sm"/>
            <a:tailEnd type="none" w="sm" len="sm"/>
          </a:ln>
        </p:spPr>
        <p:txBody>
          <a:bodyPr wrap="none" anchor="ctr"/>
          <a:lstStyle/>
          <a:p>
            <a:endParaRPr lang="en-US">
              <a:solidFill>
                <a:srgbClr val="000000"/>
              </a:solidFill>
            </a:endParaRPr>
          </a:p>
        </p:txBody>
      </p:sp>
      <p:sp>
        <p:nvSpPr>
          <p:cNvPr id="74755" name="Rectangle 3"/>
          <p:cNvSpPr>
            <a:spLocks noChangeArrowheads="1"/>
          </p:cNvSpPr>
          <p:nvPr/>
        </p:nvSpPr>
        <p:spPr bwMode="auto">
          <a:xfrm>
            <a:off x="4046539" y="4795838"/>
            <a:ext cx="1366837" cy="379412"/>
          </a:xfrm>
          <a:prstGeom prst="rect">
            <a:avLst/>
          </a:prstGeom>
          <a:solidFill>
            <a:srgbClr val="FF0000">
              <a:alpha val="79999"/>
            </a:srgbClr>
          </a:solidFill>
          <a:ln w="12700" algn="ctr">
            <a:noFill/>
            <a:miter lim="800000"/>
            <a:headEnd type="none" w="sm" len="sm"/>
            <a:tailEnd type="none" w="sm" len="sm"/>
          </a:ln>
        </p:spPr>
        <p:txBody>
          <a:bodyPr wrap="none" anchor="ctr"/>
          <a:lstStyle/>
          <a:p>
            <a:endParaRPr lang="en-US">
              <a:solidFill>
                <a:srgbClr val="000000"/>
              </a:solidFill>
            </a:endParaRPr>
          </a:p>
        </p:txBody>
      </p:sp>
      <p:sp>
        <p:nvSpPr>
          <p:cNvPr id="55300" name="Rectangle 4"/>
          <p:cNvSpPr>
            <a:spLocks noChangeArrowheads="1"/>
          </p:cNvSpPr>
          <p:nvPr/>
        </p:nvSpPr>
        <p:spPr bwMode="auto">
          <a:xfrm>
            <a:off x="2286000" y="5867400"/>
            <a:ext cx="1905000" cy="457200"/>
          </a:xfrm>
          <a:prstGeom prst="rect">
            <a:avLst/>
          </a:prstGeom>
          <a:noFill/>
          <a:ln w="9525">
            <a:noFill/>
            <a:miter lim="800000"/>
            <a:headEnd/>
            <a:tailEnd/>
          </a:ln>
        </p:spPr>
        <p:txBody>
          <a:bodyPr wrap="none" anchor="ctr"/>
          <a:lstStyle/>
          <a:p>
            <a:endParaRPr lang="en-US"/>
          </a:p>
        </p:txBody>
      </p:sp>
      <p:sp>
        <p:nvSpPr>
          <p:cNvPr id="55302" name="AutoShape 6"/>
          <p:cNvSpPr>
            <a:spLocks noChangeArrowheads="1"/>
          </p:cNvSpPr>
          <p:nvPr/>
        </p:nvSpPr>
        <p:spPr bwMode="auto">
          <a:xfrm>
            <a:off x="6021388" y="2441576"/>
            <a:ext cx="227012" cy="379413"/>
          </a:xfrm>
          <a:prstGeom prst="downArrow">
            <a:avLst>
              <a:gd name="adj1" fmla="val 50000"/>
              <a:gd name="adj2" fmla="val 41783"/>
            </a:avLst>
          </a:prstGeom>
          <a:solidFill>
            <a:srgbClr val="FF0033"/>
          </a:solidFill>
          <a:ln w="12700">
            <a:solidFill>
              <a:schemeClr val="tx1"/>
            </a:solidFill>
            <a:miter lim="800000"/>
            <a:headEnd type="none" w="sm" len="sm"/>
            <a:tailEnd type="none" w="sm" len="sm"/>
          </a:ln>
        </p:spPr>
        <p:txBody>
          <a:bodyPr wrap="none" anchor="ctr"/>
          <a:lstStyle/>
          <a:p>
            <a:endParaRPr lang="en-US">
              <a:solidFill>
                <a:srgbClr val="000000"/>
              </a:solidFill>
            </a:endParaRPr>
          </a:p>
        </p:txBody>
      </p:sp>
      <p:sp>
        <p:nvSpPr>
          <p:cNvPr id="55303" name="AutoShape 7"/>
          <p:cNvSpPr>
            <a:spLocks noChangeArrowheads="1"/>
          </p:cNvSpPr>
          <p:nvPr/>
        </p:nvSpPr>
        <p:spPr bwMode="auto">
          <a:xfrm>
            <a:off x="6021388" y="1520450"/>
            <a:ext cx="227012" cy="379412"/>
          </a:xfrm>
          <a:prstGeom prst="downArrow">
            <a:avLst>
              <a:gd name="adj1" fmla="val 50000"/>
              <a:gd name="adj2" fmla="val 41783"/>
            </a:avLst>
          </a:prstGeom>
          <a:solidFill>
            <a:srgbClr val="FF0033"/>
          </a:solidFill>
          <a:ln w="12700">
            <a:solidFill>
              <a:schemeClr val="tx1"/>
            </a:solidFill>
            <a:miter lim="800000"/>
            <a:headEnd type="none" w="sm" len="sm"/>
            <a:tailEnd type="none" w="sm" len="sm"/>
          </a:ln>
        </p:spPr>
        <p:txBody>
          <a:bodyPr wrap="none" anchor="ctr"/>
          <a:lstStyle/>
          <a:p>
            <a:endParaRPr lang="en-US">
              <a:solidFill>
                <a:schemeClr val="bg1"/>
              </a:solidFill>
            </a:endParaRPr>
          </a:p>
        </p:txBody>
      </p:sp>
      <p:sp>
        <p:nvSpPr>
          <p:cNvPr id="74761" name="Rectangle 9"/>
          <p:cNvSpPr>
            <a:spLocks noChangeArrowheads="1"/>
          </p:cNvSpPr>
          <p:nvPr/>
        </p:nvSpPr>
        <p:spPr bwMode="auto">
          <a:xfrm>
            <a:off x="5181601" y="1752601"/>
            <a:ext cx="2014537" cy="606425"/>
          </a:xfrm>
          <a:prstGeom prst="rect">
            <a:avLst/>
          </a:prstGeom>
          <a:noFill/>
          <a:ln w="9525">
            <a:noFill/>
            <a:miter lim="800000"/>
            <a:headEnd/>
            <a:tailEnd/>
          </a:ln>
          <a:effectLst/>
        </p:spPr>
        <p:txBody>
          <a:bodyPr lIns="92075" tIns="46038" rIns="92075" bIns="46038" anchor="ctr"/>
          <a:lstStyle/>
          <a:p>
            <a:pPr>
              <a:defRPr/>
            </a:pPr>
            <a:r>
              <a:rPr lang="en-US" sz="2000" b="1" dirty="0" err="1">
                <a:solidFill>
                  <a:srgbClr val="000000"/>
                </a:solidFill>
                <a:effectLst>
                  <a:outerShdw blurRad="38100" dist="38100" dir="2700000" algn="tl">
                    <a:srgbClr val="C0C0C0"/>
                  </a:outerShdw>
                </a:effectLst>
                <a:latin typeface="Tahoma" pitchFamily="34" charset="0"/>
              </a:rPr>
              <a:t>opporthreats</a:t>
            </a:r>
            <a:endParaRPr lang="en-US" sz="2000" b="1" dirty="0">
              <a:solidFill>
                <a:srgbClr val="000000"/>
              </a:solidFill>
              <a:effectLst>
                <a:outerShdw blurRad="38100" dist="38100" dir="2700000" algn="tl">
                  <a:srgbClr val="C0C0C0"/>
                </a:outerShdw>
              </a:effectLst>
              <a:latin typeface="Tahoma" pitchFamily="34" charset="0"/>
            </a:endParaRPr>
          </a:p>
        </p:txBody>
      </p:sp>
      <p:sp>
        <p:nvSpPr>
          <p:cNvPr id="74762" name="AutoShape 10"/>
          <p:cNvSpPr>
            <a:spLocks noChangeArrowheads="1"/>
          </p:cNvSpPr>
          <p:nvPr/>
        </p:nvSpPr>
        <p:spPr bwMode="auto">
          <a:xfrm rot="2073200">
            <a:off x="5401147" y="3263668"/>
            <a:ext cx="255172" cy="519817"/>
          </a:xfrm>
          <a:prstGeom prst="downArrow">
            <a:avLst>
              <a:gd name="adj1" fmla="val 50000"/>
              <a:gd name="adj2" fmla="val 41783"/>
            </a:avLst>
          </a:prstGeom>
          <a:solidFill>
            <a:srgbClr val="FF0033"/>
          </a:solidFill>
          <a:ln w="12700">
            <a:solidFill>
              <a:schemeClr val="tx1"/>
            </a:solidFill>
            <a:miter lim="800000"/>
            <a:headEnd type="none" w="sm" len="sm"/>
            <a:tailEnd type="none" w="sm" len="sm"/>
          </a:ln>
        </p:spPr>
        <p:txBody>
          <a:bodyPr wrap="none" anchor="ctr"/>
          <a:lstStyle/>
          <a:p>
            <a:endParaRPr lang="en-US">
              <a:solidFill>
                <a:srgbClr val="000000"/>
              </a:solidFill>
            </a:endParaRPr>
          </a:p>
        </p:txBody>
      </p:sp>
      <p:sp>
        <p:nvSpPr>
          <p:cNvPr id="74763" name="AutoShape 11"/>
          <p:cNvSpPr>
            <a:spLocks noChangeArrowheads="1"/>
          </p:cNvSpPr>
          <p:nvPr/>
        </p:nvSpPr>
        <p:spPr bwMode="auto">
          <a:xfrm rot="-1909037">
            <a:off x="6476805" y="3350817"/>
            <a:ext cx="261144" cy="504445"/>
          </a:xfrm>
          <a:prstGeom prst="downArrow">
            <a:avLst>
              <a:gd name="adj1" fmla="val 50000"/>
              <a:gd name="adj2" fmla="val 41783"/>
            </a:avLst>
          </a:prstGeom>
          <a:solidFill>
            <a:srgbClr val="FF0033"/>
          </a:solidFill>
          <a:ln w="12700">
            <a:solidFill>
              <a:schemeClr val="tx1"/>
            </a:solidFill>
            <a:miter lim="800000"/>
            <a:headEnd type="none" w="sm" len="sm"/>
            <a:tailEnd type="none" w="sm" len="sm"/>
          </a:ln>
        </p:spPr>
        <p:txBody>
          <a:bodyPr wrap="none" anchor="ctr"/>
          <a:lstStyle/>
          <a:p>
            <a:endParaRPr lang="en-US">
              <a:solidFill>
                <a:srgbClr val="000000"/>
              </a:solidFill>
            </a:endParaRPr>
          </a:p>
        </p:txBody>
      </p:sp>
      <p:sp>
        <p:nvSpPr>
          <p:cNvPr id="74764" name="Rectangle 12"/>
          <p:cNvSpPr>
            <a:spLocks noChangeArrowheads="1"/>
          </p:cNvSpPr>
          <p:nvPr/>
        </p:nvSpPr>
        <p:spPr bwMode="auto">
          <a:xfrm>
            <a:off x="4648200" y="3657601"/>
            <a:ext cx="1439862" cy="606425"/>
          </a:xfrm>
          <a:prstGeom prst="rect">
            <a:avLst/>
          </a:prstGeom>
          <a:noFill/>
          <a:ln w="9525">
            <a:noFill/>
            <a:miter lim="800000"/>
            <a:headEnd/>
            <a:tailEnd/>
          </a:ln>
          <a:effectLst/>
        </p:spPr>
        <p:txBody>
          <a:bodyPr lIns="92075" tIns="46038" rIns="92075" bIns="46038" anchor="ctr"/>
          <a:lstStyle/>
          <a:p>
            <a:pPr>
              <a:defRPr/>
            </a:pPr>
            <a:r>
              <a:rPr lang="en-US" sz="2000" b="1" dirty="0">
                <a:solidFill>
                  <a:srgbClr val="000000"/>
                </a:solidFill>
                <a:effectLst>
                  <a:outerShdw blurRad="38100" dist="38100" dir="2700000" algn="tl">
                    <a:srgbClr val="C0C0C0"/>
                  </a:outerShdw>
                </a:effectLst>
                <a:latin typeface="Tahoma" pitchFamily="34" charset="0"/>
              </a:rPr>
              <a:t>decide</a:t>
            </a:r>
          </a:p>
        </p:txBody>
      </p:sp>
      <p:sp>
        <p:nvSpPr>
          <p:cNvPr id="74765" name="Rectangle 13"/>
          <p:cNvSpPr>
            <a:spLocks noChangeArrowheads="1"/>
          </p:cNvSpPr>
          <p:nvPr/>
        </p:nvSpPr>
        <p:spPr bwMode="auto">
          <a:xfrm>
            <a:off x="6248401" y="3656014"/>
            <a:ext cx="1897063" cy="606425"/>
          </a:xfrm>
          <a:prstGeom prst="rect">
            <a:avLst/>
          </a:prstGeom>
          <a:noFill/>
          <a:ln w="9525">
            <a:noFill/>
            <a:miter lim="800000"/>
            <a:headEnd/>
            <a:tailEnd/>
          </a:ln>
          <a:effectLst/>
        </p:spPr>
        <p:txBody>
          <a:bodyPr lIns="92075" tIns="46038" rIns="92075" bIns="46038" anchor="ctr"/>
          <a:lstStyle/>
          <a:p>
            <a:pPr>
              <a:defRPr/>
            </a:pPr>
            <a:r>
              <a:rPr lang="en-US" sz="2000" b="1" dirty="0">
                <a:solidFill>
                  <a:srgbClr val="000000"/>
                </a:solidFill>
                <a:effectLst>
                  <a:outerShdw blurRad="38100" dist="38100" dir="2700000" algn="tl">
                    <a:srgbClr val="C0C0C0"/>
                  </a:outerShdw>
                </a:effectLst>
                <a:latin typeface="Tahoma" pitchFamily="34" charset="0"/>
              </a:rPr>
              <a:t>implement</a:t>
            </a:r>
          </a:p>
        </p:txBody>
      </p:sp>
      <p:sp>
        <p:nvSpPr>
          <p:cNvPr id="74766" name="Rectangle 14"/>
          <p:cNvSpPr>
            <a:spLocks noChangeArrowheads="1"/>
          </p:cNvSpPr>
          <p:nvPr/>
        </p:nvSpPr>
        <p:spPr bwMode="auto">
          <a:xfrm>
            <a:off x="4918508" y="4262438"/>
            <a:ext cx="109537" cy="379412"/>
          </a:xfrm>
          <a:prstGeom prst="rect">
            <a:avLst/>
          </a:prstGeom>
          <a:solidFill>
            <a:srgbClr val="FF0033"/>
          </a:solidFill>
          <a:ln w="12700" algn="ctr">
            <a:solidFill>
              <a:schemeClr val="tx1"/>
            </a:solidFill>
            <a:miter lim="800000"/>
            <a:headEnd type="none" w="sm" len="sm"/>
            <a:tailEnd type="none" w="sm" len="sm"/>
          </a:ln>
        </p:spPr>
        <p:txBody>
          <a:bodyPr wrap="none" anchor="ctr"/>
          <a:lstStyle/>
          <a:p>
            <a:endParaRPr lang="en-US">
              <a:solidFill>
                <a:srgbClr val="000000"/>
              </a:solidFill>
            </a:endParaRPr>
          </a:p>
        </p:txBody>
      </p:sp>
      <p:sp>
        <p:nvSpPr>
          <p:cNvPr id="74767" name="Rectangle 15"/>
          <p:cNvSpPr>
            <a:spLocks noChangeArrowheads="1"/>
          </p:cNvSpPr>
          <p:nvPr/>
        </p:nvSpPr>
        <p:spPr bwMode="auto">
          <a:xfrm>
            <a:off x="7081839" y="4262438"/>
            <a:ext cx="109537" cy="379412"/>
          </a:xfrm>
          <a:prstGeom prst="rect">
            <a:avLst/>
          </a:prstGeom>
          <a:solidFill>
            <a:srgbClr val="FF0033"/>
          </a:solidFill>
          <a:ln w="12700" algn="ctr">
            <a:solidFill>
              <a:schemeClr val="tx1"/>
            </a:solidFill>
            <a:miter lim="800000"/>
            <a:headEnd type="none" w="sm" len="sm"/>
            <a:tailEnd type="none" w="sm" len="sm"/>
          </a:ln>
        </p:spPr>
        <p:txBody>
          <a:bodyPr wrap="none" anchor="ctr"/>
          <a:lstStyle/>
          <a:p>
            <a:endParaRPr lang="en-US">
              <a:solidFill>
                <a:srgbClr val="000000"/>
              </a:solidFill>
            </a:endParaRPr>
          </a:p>
        </p:txBody>
      </p:sp>
      <p:sp>
        <p:nvSpPr>
          <p:cNvPr id="74768" name="Rectangle 16"/>
          <p:cNvSpPr>
            <a:spLocks noChangeArrowheads="1"/>
          </p:cNvSpPr>
          <p:nvPr/>
        </p:nvSpPr>
        <p:spPr bwMode="auto">
          <a:xfrm>
            <a:off x="4191000" y="4648201"/>
            <a:ext cx="1744662" cy="606425"/>
          </a:xfrm>
          <a:prstGeom prst="rect">
            <a:avLst/>
          </a:prstGeom>
          <a:noFill/>
          <a:ln w="9525">
            <a:noFill/>
            <a:miter lim="800000"/>
            <a:headEnd/>
            <a:tailEnd/>
          </a:ln>
          <a:effectLst/>
        </p:spPr>
        <p:txBody>
          <a:bodyPr lIns="92075" tIns="46038" rIns="92075" bIns="46038" anchor="ctr"/>
          <a:lstStyle/>
          <a:p>
            <a:pPr>
              <a:defRPr/>
            </a:pPr>
            <a:r>
              <a:rPr lang="en-US" sz="2000" b="1" dirty="0">
                <a:solidFill>
                  <a:srgbClr val="000000"/>
                </a:solidFill>
                <a:effectLst>
                  <a:outerShdw blurRad="38100" dist="38100" dir="2700000" algn="tl">
                    <a:srgbClr val="C0C0C0"/>
                  </a:outerShdw>
                </a:effectLst>
                <a:latin typeface="Tahoma" pitchFamily="34" charset="0"/>
              </a:rPr>
              <a:t>democracy</a:t>
            </a:r>
          </a:p>
        </p:txBody>
      </p:sp>
      <p:sp>
        <p:nvSpPr>
          <p:cNvPr id="74769" name="Rectangle 17"/>
          <p:cNvSpPr>
            <a:spLocks noChangeArrowheads="1"/>
          </p:cNvSpPr>
          <p:nvPr/>
        </p:nvSpPr>
        <p:spPr bwMode="auto">
          <a:xfrm>
            <a:off x="6400801" y="4648201"/>
            <a:ext cx="2125663" cy="606425"/>
          </a:xfrm>
          <a:prstGeom prst="rect">
            <a:avLst/>
          </a:prstGeom>
          <a:noFill/>
          <a:ln w="9525">
            <a:noFill/>
            <a:miter lim="800000"/>
            <a:headEnd/>
            <a:tailEnd/>
          </a:ln>
          <a:effectLst/>
        </p:spPr>
        <p:txBody>
          <a:bodyPr lIns="92075" tIns="46038" rIns="92075" bIns="46038" anchor="ctr"/>
          <a:lstStyle/>
          <a:p>
            <a:pPr>
              <a:defRPr/>
            </a:pPr>
            <a:r>
              <a:rPr lang="en-US" sz="2000" b="1" dirty="0">
                <a:solidFill>
                  <a:srgbClr val="000000"/>
                </a:solidFill>
                <a:effectLst>
                  <a:outerShdw blurRad="38100" dist="38100" dir="2700000" algn="tl">
                    <a:srgbClr val="C0C0C0"/>
                  </a:outerShdw>
                </a:effectLst>
                <a:latin typeface="Tahoma" pitchFamily="34" charset="0"/>
              </a:rPr>
              <a:t>dictatorship</a:t>
            </a:r>
          </a:p>
        </p:txBody>
      </p:sp>
      <p:sp>
        <p:nvSpPr>
          <p:cNvPr id="74770" name="Text Box 18"/>
          <p:cNvSpPr txBox="1">
            <a:spLocks noChangeArrowheads="1"/>
          </p:cNvSpPr>
          <p:nvPr/>
        </p:nvSpPr>
        <p:spPr bwMode="auto">
          <a:xfrm>
            <a:off x="4038601" y="5562601"/>
            <a:ext cx="4332287" cy="701675"/>
          </a:xfrm>
          <a:prstGeom prst="rect">
            <a:avLst/>
          </a:prstGeom>
          <a:solidFill>
            <a:srgbClr val="FF0000"/>
          </a:solidFill>
          <a:ln w="12700" algn="ctr">
            <a:noFill/>
            <a:miter lim="800000"/>
            <a:headEnd type="none" w="sm" len="sm"/>
            <a:tailEnd type="none" w="sm" len="sm"/>
          </a:ln>
          <a:effectLst/>
        </p:spPr>
        <p:txBody>
          <a:bodyPr wrap="square">
            <a:spAutoFit/>
          </a:bodyPr>
          <a:lstStyle/>
          <a:p>
            <a:pPr algn="ctr" eaLnBrk="0">
              <a:lnSpc>
                <a:spcPct val="100000"/>
              </a:lnSpc>
              <a:spcBef>
                <a:spcPct val="50000"/>
              </a:spcBef>
              <a:buClrTx/>
              <a:buSzTx/>
              <a:buFontTx/>
              <a:buNone/>
              <a:defRPr/>
            </a:pPr>
            <a:r>
              <a:rPr lang="en-US" sz="4000" b="1" dirty="0">
                <a:solidFill>
                  <a:srgbClr val="000000"/>
                </a:solidFill>
                <a:effectLst>
                  <a:outerShdw blurRad="38100" dist="38100" dir="2700000" algn="tl">
                    <a:srgbClr val="FFFFFF"/>
                  </a:outerShdw>
                </a:effectLst>
                <a:latin typeface="Tahoma" pitchFamily="34" charset="0"/>
              </a:rPr>
              <a:t>Democraship</a:t>
            </a:r>
          </a:p>
        </p:txBody>
      </p:sp>
      <p:sp>
        <p:nvSpPr>
          <p:cNvPr id="74771" name="Rectangle 19"/>
          <p:cNvSpPr>
            <a:spLocks noChangeArrowheads="1"/>
          </p:cNvSpPr>
          <p:nvPr/>
        </p:nvSpPr>
        <p:spPr bwMode="auto">
          <a:xfrm>
            <a:off x="5562600" y="2819401"/>
            <a:ext cx="1447800" cy="606425"/>
          </a:xfrm>
          <a:prstGeom prst="rect">
            <a:avLst/>
          </a:prstGeom>
          <a:noFill/>
          <a:ln w="9525">
            <a:noFill/>
            <a:miter lim="800000"/>
            <a:headEnd/>
            <a:tailEnd/>
          </a:ln>
          <a:effectLst/>
        </p:spPr>
        <p:txBody>
          <a:bodyPr lIns="92075" tIns="46038" rIns="92075" bIns="46038" anchor="ctr"/>
          <a:lstStyle/>
          <a:p>
            <a:pPr>
              <a:defRPr/>
            </a:pPr>
            <a:r>
              <a:rPr lang="en-US" sz="2000" b="1" dirty="0">
                <a:solidFill>
                  <a:srgbClr val="000000"/>
                </a:solidFill>
                <a:effectLst>
                  <a:outerShdw blurRad="38100" dist="38100" dir="2700000" algn="tl">
                    <a:srgbClr val="C0C0C0"/>
                  </a:outerShdw>
                </a:effectLst>
                <a:latin typeface="Tahoma" pitchFamily="34" charset="0"/>
              </a:rPr>
              <a:t>manage</a:t>
            </a:r>
          </a:p>
        </p:txBody>
      </p:sp>
      <p:sp>
        <p:nvSpPr>
          <p:cNvPr id="23" name="Rectangle 2"/>
          <p:cNvSpPr txBox="1">
            <a:spLocks noChangeArrowheads="1"/>
          </p:cNvSpPr>
          <p:nvPr/>
        </p:nvSpPr>
        <p:spPr>
          <a:xfrm>
            <a:off x="5133975" y="949126"/>
            <a:ext cx="2057400" cy="533400"/>
          </a:xfrm>
          <a:prstGeom prst="rect">
            <a:avLst/>
          </a:prstGeom>
          <a:solidFill>
            <a:srgbClr val="FFFFFF"/>
          </a:solidFill>
        </p:spPr>
        <p:txBody>
          <a:bodyPr vert="horz" lIns="91440" tIns="45720" rIns="91440" bIns="45720" rtlCol="0" anchor="ctr">
            <a:normAutofit fontScale="82500" lnSpcReduction="20000"/>
          </a:bodyPr>
          <a:lstStyle>
            <a:lvl1pPr algn="ctr" defTabSz="457200" rtl="0" eaLnBrk="1" latinLnBrk="0" hangingPunct="1">
              <a:spcBef>
                <a:spcPct val="0"/>
              </a:spcBef>
              <a:buNone/>
              <a:defRPr sz="4400" kern="1200">
                <a:solidFill>
                  <a:srgbClr val="FFFFFF"/>
                </a:solidFill>
                <a:latin typeface="+mj-lt"/>
                <a:ea typeface="+mj-ea"/>
                <a:cs typeface="+mj-cs"/>
              </a:defRPr>
            </a:lvl1pPr>
          </a:lstStyle>
          <a:p>
            <a:r>
              <a:rPr lang="en-US" b="1" dirty="0">
                <a:solidFill>
                  <a:srgbClr val="FF0000"/>
                </a:solidFill>
              </a:rPr>
              <a:t>change</a:t>
            </a:r>
          </a:p>
        </p:txBody>
      </p:sp>
      <p:sp>
        <p:nvSpPr>
          <p:cNvPr id="3" name="TextBox 2"/>
          <p:cNvSpPr txBox="1"/>
          <p:nvPr/>
        </p:nvSpPr>
        <p:spPr>
          <a:xfrm>
            <a:off x="3833254" y="179588"/>
            <a:ext cx="6478737" cy="523220"/>
          </a:xfrm>
          <a:prstGeom prst="rect">
            <a:avLst/>
          </a:prstGeom>
          <a:noFill/>
        </p:spPr>
        <p:txBody>
          <a:bodyPr wrap="square" rtlCol="0">
            <a:spAutoFit/>
          </a:bodyPr>
          <a:lstStyle/>
          <a:p>
            <a:pPr algn="ctr"/>
            <a:r>
              <a:rPr lang="en-US" sz="2800" dirty="0"/>
              <a:t>What Does it Mean to Manage Well?</a:t>
            </a:r>
          </a:p>
        </p:txBody>
      </p:sp>
      <p:sp>
        <p:nvSpPr>
          <p:cNvPr id="2" name="Oval Callout 1"/>
          <p:cNvSpPr/>
          <p:nvPr/>
        </p:nvSpPr>
        <p:spPr bwMode="auto">
          <a:xfrm>
            <a:off x="2602184" y="2192734"/>
            <a:ext cx="2046017" cy="840547"/>
          </a:xfrm>
          <a:prstGeom prst="wedgeEllipseCallout">
            <a:avLst>
              <a:gd name="adj1" fmla="val 58212"/>
              <a:gd name="adj2" fmla="val 133152"/>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hangingPunct="0">
              <a:lnSpc>
                <a:spcPct val="93000"/>
              </a:lnSpc>
              <a:spcBef>
                <a:spcPct val="0"/>
              </a:spcBef>
              <a:spcAft>
                <a:spcPct val="0"/>
              </a:spcAft>
              <a:buClr>
                <a:srgbClr val="000000"/>
              </a:buClr>
              <a:buSzPct val="100000"/>
            </a:pPr>
            <a:r>
              <a:rPr lang="en-US" dirty="0">
                <a:latin typeface="Arial" pitchFamily="-66" charset="0"/>
                <a:ea typeface="Arial Unicode MS" pitchFamily="-66" charset="0"/>
                <a:cs typeface="Arial Unicode MS" pitchFamily="-66" charset="0"/>
              </a:rPr>
              <a:t>What makes a </a:t>
            </a:r>
          </a:p>
          <a:p>
            <a:pPr algn="ctr" fontAlgn="base" hangingPunct="0">
              <a:lnSpc>
                <a:spcPct val="93000"/>
              </a:lnSpc>
              <a:spcBef>
                <a:spcPct val="0"/>
              </a:spcBef>
              <a:spcAft>
                <a:spcPct val="0"/>
              </a:spcAft>
              <a:buClr>
                <a:srgbClr val="000000"/>
              </a:buClr>
              <a:buSzPct val="100000"/>
            </a:pPr>
            <a:r>
              <a:rPr lang="en-US" dirty="0">
                <a:latin typeface="Arial" pitchFamily="-66" charset="0"/>
                <a:ea typeface="Arial Unicode MS" pitchFamily="-66" charset="0"/>
                <a:cs typeface="Arial Unicode MS" pitchFamily="-66" charset="0"/>
              </a:rPr>
              <a:t>good decision?</a:t>
            </a:r>
          </a:p>
        </p:txBody>
      </p:sp>
      <p:sp>
        <p:nvSpPr>
          <p:cNvPr id="21" name="Oval Callout 20"/>
          <p:cNvSpPr/>
          <p:nvPr/>
        </p:nvSpPr>
        <p:spPr bwMode="auto">
          <a:xfrm>
            <a:off x="7621588" y="2080728"/>
            <a:ext cx="2094690" cy="927172"/>
          </a:xfrm>
          <a:prstGeom prst="wedgeEllipseCallout">
            <a:avLst>
              <a:gd name="adj1" fmla="val -58534"/>
              <a:gd name="adj2" fmla="val 143143"/>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hangingPunct="0">
              <a:lnSpc>
                <a:spcPct val="93000"/>
              </a:lnSpc>
              <a:spcBef>
                <a:spcPct val="0"/>
              </a:spcBef>
              <a:spcAft>
                <a:spcPct val="0"/>
              </a:spcAft>
              <a:buClr>
                <a:srgbClr val="000000"/>
              </a:buClr>
              <a:buSzPct val="100000"/>
            </a:pPr>
            <a:r>
              <a:rPr lang="en-US" dirty="0">
                <a:latin typeface="Arial" pitchFamily="-66" charset="0"/>
                <a:ea typeface="Arial Unicode MS" pitchFamily="-66" charset="0"/>
                <a:cs typeface="Arial Unicode MS" pitchFamily="-66" charset="0"/>
              </a:rPr>
              <a:t>Why are many </a:t>
            </a:r>
          </a:p>
          <a:p>
            <a:pPr algn="ctr" fontAlgn="base" hangingPunct="0">
              <a:lnSpc>
                <a:spcPct val="93000"/>
              </a:lnSpc>
              <a:spcBef>
                <a:spcPct val="0"/>
              </a:spcBef>
              <a:spcAft>
                <a:spcPct val="0"/>
              </a:spcAft>
              <a:buClr>
                <a:srgbClr val="000000"/>
              </a:buClr>
              <a:buSzPct val="100000"/>
            </a:pPr>
            <a:r>
              <a:rPr lang="en-US" dirty="0">
                <a:latin typeface="Arial" pitchFamily="-66" charset="0"/>
                <a:ea typeface="Arial Unicode MS" pitchFamily="-66" charset="0"/>
                <a:cs typeface="Arial Unicode MS" pitchFamily="-66" charset="0"/>
              </a:rPr>
              <a:t>decisions not </a:t>
            </a:r>
          </a:p>
          <a:p>
            <a:pPr algn="ctr" fontAlgn="base" hangingPunct="0">
              <a:lnSpc>
                <a:spcPct val="93000"/>
              </a:lnSpc>
              <a:spcBef>
                <a:spcPct val="0"/>
              </a:spcBef>
              <a:spcAft>
                <a:spcPct val="0"/>
              </a:spcAft>
              <a:buClr>
                <a:srgbClr val="000000"/>
              </a:buClr>
              <a:buSzPct val="100000"/>
            </a:pPr>
            <a:r>
              <a:rPr lang="en-US" dirty="0">
                <a:latin typeface="Arial" pitchFamily="-66" charset="0"/>
                <a:ea typeface="Arial Unicode MS" pitchFamily="-66" charset="0"/>
                <a:cs typeface="Arial Unicode MS" pitchFamily="-66" charset="0"/>
              </a:rPr>
              <a:t>implemented?</a:t>
            </a:r>
          </a:p>
        </p:txBody>
      </p:sp>
    </p:spTree>
    <p:extLst>
      <p:ext uri="{BB962C8B-B14F-4D97-AF65-F5344CB8AC3E}">
        <p14:creationId xmlns:p14="http://schemas.microsoft.com/office/powerpoint/2010/main" val="771188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76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476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4763"/>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747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4766"/>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7476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74767"/>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7476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47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475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47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animBg="1"/>
      <p:bldP spid="74755" grpId="0" animBg="1"/>
      <p:bldP spid="74762" grpId="0" animBg="1"/>
      <p:bldP spid="74763" grpId="0" animBg="1"/>
      <p:bldP spid="74764" grpId="0"/>
      <p:bldP spid="74765" grpId="0"/>
      <p:bldP spid="74766" grpId="0" animBg="1"/>
      <p:bldP spid="74767" grpId="0" animBg="1"/>
      <p:bldP spid="74768" grpId="0"/>
      <p:bldP spid="74769" grpId="0"/>
      <p:bldP spid="74770" grpId="0" animBg="1"/>
      <p:bldP spid="2"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505369" y="129579"/>
            <a:ext cx="7269016" cy="609600"/>
          </a:xfrm>
        </p:spPr>
        <p:txBody>
          <a:bodyPr/>
          <a:lstStyle/>
          <a:p>
            <a:pPr algn="ctr"/>
            <a:r>
              <a:rPr lang="en-US" sz="3200" b="1" dirty="0"/>
              <a:t>Well Managed Organizations Do 4 Things</a:t>
            </a:r>
          </a:p>
        </p:txBody>
      </p:sp>
      <p:sp>
        <p:nvSpPr>
          <p:cNvPr id="33" name="Rectangle 4">
            <a:extLst>
              <a:ext uri="{FF2B5EF4-FFF2-40B4-BE49-F238E27FC236}">
                <a16:creationId xmlns:a16="http://schemas.microsoft.com/office/drawing/2014/main" id="{288F40CB-16C7-4D88-A846-A88467C03454}"/>
              </a:ext>
            </a:extLst>
          </p:cNvPr>
          <p:cNvSpPr txBox="1">
            <a:spLocks noChangeArrowheads="1"/>
          </p:cNvSpPr>
          <p:nvPr/>
        </p:nvSpPr>
        <p:spPr bwMode="auto">
          <a:xfrm>
            <a:off x="8244033" y="1486891"/>
            <a:ext cx="1517650" cy="606425"/>
          </a:xfrm>
          <a:prstGeom prst="rect">
            <a:avLst/>
          </a:prstGeom>
          <a:solidFill>
            <a:srgbClr val="FFFFFF">
              <a:alpha val="0"/>
            </a:srgbClr>
          </a:solidFill>
          <a:ln>
            <a:miter lim="800000"/>
            <a:headEnd/>
            <a:tailEnd/>
          </a:ln>
        </p:spPr>
        <p:txBody>
          <a:bodyPr/>
          <a:lstStyle/>
          <a:p>
            <a:pPr algn="r">
              <a:defRPr/>
            </a:pPr>
            <a:r>
              <a:rPr lang="en-US" sz="2400" b="1" kern="0" dirty="0">
                <a:effectLst>
                  <a:outerShdw blurRad="38100" dist="38100" dir="2700000" algn="tl">
                    <a:srgbClr val="C0C0C0"/>
                  </a:outerShdw>
                </a:effectLst>
                <a:latin typeface="Tahoma" pitchFamily="34" charset="0"/>
                <a:ea typeface="+mj-ea"/>
                <a:cs typeface="+mj-cs"/>
              </a:rPr>
              <a:t>effective</a:t>
            </a:r>
          </a:p>
        </p:txBody>
      </p:sp>
      <p:sp>
        <p:nvSpPr>
          <p:cNvPr id="34" name="Rectangle 26">
            <a:extLst>
              <a:ext uri="{FF2B5EF4-FFF2-40B4-BE49-F238E27FC236}">
                <a16:creationId xmlns:a16="http://schemas.microsoft.com/office/drawing/2014/main" id="{0814CD82-794E-401A-971B-07BDD9FBA929}"/>
              </a:ext>
            </a:extLst>
          </p:cNvPr>
          <p:cNvSpPr>
            <a:spLocks noChangeArrowheads="1"/>
          </p:cNvSpPr>
          <p:nvPr/>
        </p:nvSpPr>
        <p:spPr bwMode="auto">
          <a:xfrm>
            <a:off x="8167833" y="4764809"/>
            <a:ext cx="1593850"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efficient</a:t>
            </a:r>
          </a:p>
        </p:txBody>
      </p:sp>
      <p:sp>
        <p:nvSpPr>
          <p:cNvPr id="40" name="Rectangle 27">
            <a:extLst>
              <a:ext uri="{FF2B5EF4-FFF2-40B4-BE49-F238E27FC236}">
                <a16:creationId xmlns:a16="http://schemas.microsoft.com/office/drawing/2014/main" id="{A12A1489-1C02-45ED-A922-594D80299AA8}"/>
              </a:ext>
            </a:extLst>
          </p:cNvPr>
          <p:cNvSpPr>
            <a:spLocks noChangeArrowheads="1"/>
          </p:cNvSpPr>
          <p:nvPr/>
        </p:nvSpPr>
        <p:spPr bwMode="auto">
          <a:xfrm>
            <a:off x="8078933" y="3696691"/>
            <a:ext cx="1682750"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effective</a:t>
            </a:r>
          </a:p>
        </p:txBody>
      </p:sp>
      <p:sp>
        <p:nvSpPr>
          <p:cNvPr id="41" name="Rectangle 28">
            <a:extLst>
              <a:ext uri="{FF2B5EF4-FFF2-40B4-BE49-F238E27FC236}">
                <a16:creationId xmlns:a16="http://schemas.microsoft.com/office/drawing/2014/main" id="{8112F467-81AF-4A00-B9B4-1D2D597E3A93}"/>
              </a:ext>
            </a:extLst>
          </p:cNvPr>
          <p:cNvSpPr>
            <a:spLocks noChangeArrowheads="1"/>
          </p:cNvSpPr>
          <p:nvPr/>
        </p:nvSpPr>
        <p:spPr bwMode="auto">
          <a:xfrm>
            <a:off x="8171008" y="2553691"/>
            <a:ext cx="1590675"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efficient</a:t>
            </a:r>
          </a:p>
        </p:txBody>
      </p:sp>
      <p:sp>
        <p:nvSpPr>
          <p:cNvPr id="42" name="Text Box 29">
            <a:extLst>
              <a:ext uri="{FF2B5EF4-FFF2-40B4-BE49-F238E27FC236}">
                <a16:creationId xmlns:a16="http://schemas.microsoft.com/office/drawing/2014/main" id="{AD5825B2-360C-470B-B58F-4425D1A14D23}"/>
              </a:ext>
            </a:extLst>
          </p:cNvPr>
          <p:cNvSpPr txBox="1">
            <a:spLocks noChangeArrowheads="1"/>
          </p:cNvSpPr>
          <p:nvPr/>
        </p:nvSpPr>
        <p:spPr bwMode="auto">
          <a:xfrm>
            <a:off x="10024787" y="1798883"/>
            <a:ext cx="1231900" cy="830263"/>
          </a:xfrm>
          <a:prstGeom prst="rect">
            <a:avLst/>
          </a:prstGeom>
          <a:noFill/>
          <a:ln w="12700" algn="ctr">
            <a:noFill/>
            <a:miter lim="800000"/>
            <a:headEnd type="none" w="sm" len="sm"/>
            <a:tailEnd type="none" w="sm" len="sm"/>
          </a:ln>
          <a:effectLst/>
        </p:spPr>
        <p:txBody>
          <a:bodyPr>
            <a:spAutoFit/>
          </a:bodyPr>
          <a:lstStyle/>
          <a:p>
            <a:pPr algn="ctr">
              <a:spcBef>
                <a:spcPct val="50000"/>
              </a:spcBef>
              <a:defRPr/>
            </a:pPr>
            <a:r>
              <a:rPr lang="en-US" sz="2400" b="1" dirty="0">
                <a:effectLst>
                  <a:outerShdw blurRad="38100" dist="38100" dir="2700000" algn="tl">
                    <a:srgbClr val="C0C0C0"/>
                  </a:outerShdw>
                </a:effectLst>
                <a:latin typeface="Tahoma" pitchFamily="34" charset="0"/>
              </a:rPr>
              <a:t>short run</a:t>
            </a:r>
          </a:p>
        </p:txBody>
      </p:sp>
      <p:sp>
        <p:nvSpPr>
          <p:cNvPr id="43" name="Text Box 30">
            <a:extLst>
              <a:ext uri="{FF2B5EF4-FFF2-40B4-BE49-F238E27FC236}">
                <a16:creationId xmlns:a16="http://schemas.microsoft.com/office/drawing/2014/main" id="{C871E727-91EC-49FC-8657-7FF5A6C89CC3}"/>
              </a:ext>
            </a:extLst>
          </p:cNvPr>
          <p:cNvSpPr txBox="1">
            <a:spLocks noChangeArrowheads="1"/>
          </p:cNvSpPr>
          <p:nvPr/>
        </p:nvSpPr>
        <p:spPr bwMode="auto">
          <a:xfrm>
            <a:off x="10007535" y="4035995"/>
            <a:ext cx="1231900" cy="828675"/>
          </a:xfrm>
          <a:prstGeom prst="rect">
            <a:avLst/>
          </a:prstGeom>
          <a:noFill/>
          <a:ln w="12700" algn="ctr">
            <a:noFill/>
            <a:miter lim="800000"/>
            <a:headEnd type="none" w="sm" len="sm"/>
            <a:tailEnd type="none" w="sm" len="sm"/>
          </a:ln>
          <a:effectLst/>
        </p:spPr>
        <p:txBody>
          <a:bodyPr>
            <a:spAutoFit/>
          </a:bodyPr>
          <a:lstStyle/>
          <a:p>
            <a:pPr algn="ctr">
              <a:spcBef>
                <a:spcPct val="50000"/>
              </a:spcBef>
              <a:defRPr/>
            </a:pPr>
            <a:r>
              <a:rPr lang="en-US" sz="2400" b="1" dirty="0">
                <a:effectLst>
                  <a:outerShdw blurRad="38100" dist="38100" dir="2700000" algn="tl">
                    <a:srgbClr val="C0C0C0"/>
                  </a:outerShdw>
                </a:effectLst>
                <a:latin typeface="Tahoma" pitchFamily="34" charset="0"/>
              </a:rPr>
              <a:t>long run</a:t>
            </a:r>
          </a:p>
        </p:txBody>
      </p:sp>
      <p:sp>
        <p:nvSpPr>
          <p:cNvPr id="44" name="AutoShape 31"/>
          <p:cNvSpPr>
            <a:spLocks/>
          </p:cNvSpPr>
          <p:nvPr/>
        </p:nvSpPr>
        <p:spPr bwMode="auto">
          <a:xfrm>
            <a:off x="9852171" y="1604516"/>
            <a:ext cx="379412" cy="1325413"/>
          </a:xfrm>
          <a:prstGeom prst="rightBrace">
            <a:avLst>
              <a:gd name="adj1" fmla="val 26674"/>
              <a:gd name="adj2" fmla="val 50000"/>
            </a:avLst>
          </a:prstGeom>
          <a:noFill/>
          <a:ln w="508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solidFill>
                <a:srgbClr val="FF0033"/>
              </a:solidFill>
            </a:endParaRPr>
          </a:p>
        </p:txBody>
      </p:sp>
      <p:sp>
        <p:nvSpPr>
          <p:cNvPr id="45" name="AutoShape 32"/>
          <p:cNvSpPr>
            <a:spLocks/>
          </p:cNvSpPr>
          <p:nvPr/>
        </p:nvSpPr>
        <p:spPr bwMode="auto">
          <a:xfrm>
            <a:off x="9852171" y="3795626"/>
            <a:ext cx="379412" cy="1356237"/>
          </a:xfrm>
          <a:prstGeom prst="rightBrace">
            <a:avLst>
              <a:gd name="adj1" fmla="val 26674"/>
              <a:gd name="adj2" fmla="val 50000"/>
            </a:avLst>
          </a:prstGeom>
          <a:noFill/>
          <a:ln w="508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solidFill>
                <a:srgbClr val="FF0033"/>
              </a:solidFill>
            </a:endParaRPr>
          </a:p>
        </p:txBody>
      </p:sp>
      <p:sp>
        <p:nvSpPr>
          <p:cNvPr id="46" name="TextBox 45">
            <a:extLst>
              <a:ext uri="{FF2B5EF4-FFF2-40B4-BE49-F238E27FC236}">
                <a16:creationId xmlns:a16="http://schemas.microsoft.com/office/drawing/2014/main" id="{C085F584-BE3B-4F74-963F-85B8D097CD8B}"/>
              </a:ext>
            </a:extLst>
          </p:cNvPr>
          <p:cNvSpPr txBox="1"/>
          <p:nvPr/>
        </p:nvSpPr>
        <p:spPr>
          <a:xfrm>
            <a:off x="767055" y="1496416"/>
            <a:ext cx="976312" cy="523875"/>
          </a:xfrm>
          <a:prstGeom prst="rect">
            <a:avLst/>
          </a:prstGeom>
          <a:noFill/>
        </p:spPr>
        <p:txBody>
          <a:bodyPr>
            <a:spAutoFit/>
          </a:bodyPr>
          <a:lstStyle/>
          <a:p>
            <a:pPr algn="ctr">
              <a:defRPr/>
            </a:pPr>
            <a:r>
              <a:rPr lang="en-US" sz="2800" b="1" dirty="0">
                <a:solidFill>
                  <a:srgbClr val="FF0033"/>
                </a:solidFill>
                <a:effectLst>
                  <a:outerShdw blurRad="38100" dist="38100" dir="2700000" algn="tl">
                    <a:srgbClr val="C0C0C0"/>
                  </a:outerShdw>
                </a:effectLst>
                <a:latin typeface="Tahoma" pitchFamily="34" charset="0"/>
              </a:rPr>
              <a:t>(P)</a:t>
            </a:r>
            <a:endParaRPr lang="en-US" sz="2400" dirty="0">
              <a:latin typeface="Times New Roman" pitchFamily="95" charset="0"/>
            </a:endParaRPr>
          </a:p>
        </p:txBody>
      </p:sp>
      <p:sp>
        <p:nvSpPr>
          <p:cNvPr id="47" name="TextBox 46">
            <a:extLst>
              <a:ext uri="{FF2B5EF4-FFF2-40B4-BE49-F238E27FC236}">
                <a16:creationId xmlns:a16="http://schemas.microsoft.com/office/drawing/2014/main" id="{0FB4D4BD-0509-4B00-83EC-A8EECF923C7C}"/>
              </a:ext>
            </a:extLst>
          </p:cNvPr>
          <p:cNvSpPr txBox="1"/>
          <p:nvPr/>
        </p:nvSpPr>
        <p:spPr>
          <a:xfrm>
            <a:off x="828967" y="2477491"/>
            <a:ext cx="836613" cy="892175"/>
          </a:xfrm>
          <a:prstGeom prst="rect">
            <a:avLst/>
          </a:prstGeom>
          <a:noFill/>
        </p:spPr>
        <p:txBody>
          <a:bodyPr wrap="none">
            <a:spAutoFit/>
          </a:bodyPr>
          <a:lstStyle/>
          <a:p>
            <a:pPr algn="ctr">
              <a:defRPr/>
            </a:pPr>
            <a:r>
              <a:rPr lang="en-US" sz="3200" b="1" dirty="0">
                <a:solidFill>
                  <a:srgbClr val="FF0033"/>
                </a:solidFill>
                <a:effectLst>
                  <a:outerShdw blurRad="38100" dist="38100" dir="2700000" algn="tl">
                    <a:srgbClr val="C0C0C0"/>
                  </a:outerShdw>
                </a:effectLst>
                <a:latin typeface="Tahoma" pitchFamily="34" charset="0"/>
              </a:rPr>
              <a:t>(A)</a:t>
            </a:r>
            <a:endParaRPr lang="en-US" sz="2800" b="1" dirty="0">
              <a:effectLst>
                <a:outerShdw blurRad="38100" dist="38100" dir="2700000" algn="tl">
                  <a:srgbClr val="C0C0C0"/>
                </a:outerShdw>
              </a:effectLst>
              <a:latin typeface="Tahoma" pitchFamily="34" charset="0"/>
            </a:endParaRPr>
          </a:p>
          <a:p>
            <a:pPr algn="ctr">
              <a:defRPr/>
            </a:pPr>
            <a:endParaRPr lang="en-US" dirty="0">
              <a:latin typeface="Times New Roman" pitchFamily="95" charset="0"/>
            </a:endParaRPr>
          </a:p>
        </p:txBody>
      </p:sp>
      <p:sp>
        <p:nvSpPr>
          <p:cNvPr id="48" name="TextBox 47">
            <a:extLst>
              <a:ext uri="{FF2B5EF4-FFF2-40B4-BE49-F238E27FC236}">
                <a16:creationId xmlns:a16="http://schemas.microsoft.com/office/drawing/2014/main" id="{2C16A830-B0B5-424F-ADC1-5283C5577A4F}"/>
              </a:ext>
            </a:extLst>
          </p:cNvPr>
          <p:cNvSpPr txBox="1"/>
          <p:nvPr/>
        </p:nvSpPr>
        <p:spPr>
          <a:xfrm>
            <a:off x="857542" y="3620491"/>
            <a:ext cx="809625" cy="892175"/>
          </a:xfrm>
          <a:prstGeom prst="rect">
            <a:avLst/>
          </a:prstGeom>
          <a:noFill/>
        </p:spPr>
        <p:txBody>
          <a:bodyPr wrap="none">
            <a:spAutoFit/>
          </a:bodyPr>
          <a:lstStyle/>
          <a:p>
            <a:pPr algn="ctr">
              <a:defRPr/>
            </a:pPr>
            <a:r>
              <a:rPr lang="en-US" sz="3200" b="1" dirty="0">
                <a:solidFill>
                  <a:srgbClr val="FF0033"/>
                </a:solidFill>
                <a:effectLst>
                  <a:outerShdw blurRad="38100" dist="38100" dir="2700000" algn="tl">
                    <a:srgbClr val="C0C0C0"/>
                  </a:outerShdw>
                </a:effectLst>
                <a:latin typeface="Tahoma" pitchFamily="34" charset="0"/>
              </a:rPr>
              <a:t>(E)</a:t>
            </a:r>
            <a:endParaRPr lang="en-US" sz="2800" b="1" dirty="0">
              <a:effectLst>
                <a:outerShdw blurRad="38100" dist="38100" dir="2700000" algn="tl">
                  <a:srgbClr val="C0C0C0"/>
                </a:outerShdw>
              </a:effectLst>
              <a:latin typeface="Tahoma" pitchFamily="34" charset="0"/>
            </a:endParaRPr>
          </a:p>
          <a:p>
            <a:pPr algn="ctr">
              <a:defRPr/>
            </a:pPr>
            <a:endParaRPr lang="en-US" dirty="0">
              <a:latin typeface="Times New Roman" pitchFamily="95" charset="0"/>
            </a:endParaRPr>
          </a:p>
        </p:txBody>
      </p:sp>
      <p:sp>
        <p:nvSpPr>
          <p:cNvPr id="49" name="TextBox 48">
            <a:extLst>
              <a:ext uri="{FF2B5EF4-FFF2-40B4-BE49-F238E27FC236}">
                <a16:creationId xmlns:a16="http://schemas.microsoft.com/office/drawing/2014/main" id="{D2B3A496-9266-455C-915F-51B092F73F18}"/>
              </a:ext>
            </a:extLst>
          </p:cNvPr>
          <p:cNvSpPr txBox="1"/>
          <p:nvPr/>
        </p:nvSpPr>
        <p:spPr>
          <a:xfrm>
            <a:off x="828967" y="4831754"/>
            <a:ext cx="755650" cy="893762"/>
          </a:xfrm>
          <a:prstGeom prst="rect">
            <a:avLst/>
          </a:prstGeom>
          <a:noFill/>
        </p:spPr>
        <p:txBody>
          <a:bodyPr wrap="none">
            <a:spAutoFit/>
          </a:bodyPr>
          <a:lstStyle/>
          <a:p>
            <a:pPr algn="ctr">
              <a:defRPr/>
            </a:pPr>
            <a:r>
              <a:rPr lang="en-US" sz="3200" b="1" dirty="0">
                <a:solidFill>
                  <a:srgbClr val="FF0033"/>
                </a:solidFill>
                <a:effectLst>
                  <a:outerShdw blurRad="38100" dist="38100" dir="2700000" algn="tl">
                    <a:srgbClr val="C0C0C0"/>
                  </a:outerShdw>
                </a:effectLst>
                <a:latin typeface="Tahoma" pitchFamily="34" charset="0"/>
              </a:rPr>
              <a:t>(I)</a:t>
            </a:r>
            <a:endParaRPr lang="en-US" sz="2800" b="1" dirty="0">
              <a:effectLst>
                <a:outerShdw blurRad="38100" dist="38100" dir="2700000" algn="tl">
                  <a:srgbClr val="C0C0C0"/>
                </a:outerShdw>
              </a:effectLst>
              <a:latin typeface="Tahoma" pitchFamily="34" charset="0"/>
            </a:endParaRPr>
          </a:p>
          <a:p>
            <a:pPr algn="ctr">
              <a:defRPr/>
            </a:pPr>
            <a:endParaRPr lang="en-US" dirty="0">
              <a:latin typeface="Times New Roman" pitchFamily="95" charset="0"/>
            </a:endParaRPr>
          </a:p>
        </p:txBody>
      </p:sp>
      <p:sp>
        <p:nvSpPr>
          <p:cNvPr id="50" name="TextBox 49"/>
          <p:cNvSpPr txBox="1">
            <a:spLocks noChangeArrowheads="1"/>
          </p:cNvSpPr>
          <p:nvPr/>
        </p:nvSpPr>
        <p:spPr bwMode="auto">
          <a:xfrm>
            <a:off x="1438567" y="1486891"/>
            <a:ext cx="3155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cs typeface="Tahoma" panose="020B0604030504040204" pitchFamily="34" charset="0"/>
              </a:rPr>
              <a:t>rovide client needs</a:t>
            </a:r>
          </a:p>
        </p:txBody>
      </p:sp>
      <p:sp>
        <p:nvSpPr>
          <p:cNvPr id="51" name="TextBox 50"/>
          <p:cNvSpPr txBox="1">
            <a:spLocks noChangeArrowheads="1"/>
          </p:cNvSpPr>
          <p:nvPr/>
        </p:nvSpPr>
        <p:spPr bwMode="auto">
          <a:xfrm>
            <a:off x="1514767" y="2553691"/>
            <a:ext cx="1647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cs typeface="Tahoma" panose="020B0604030504040204" pitchFamily="34" charset="0"/>
              </a:rPr>
              <a:t>dminister</a:t>
            </a:r>
          </a:p>
        </p:txBody>
      </p:sp>
      <p:sp>
        <p:nvSpPr>
          <p:cNvPr id="52" name="TextBox 51"/>
          <p:cNvSpPr txBox="1">
            <a:spLocks noChangeArrowheads="1"/>
          </p:cNvSpPr>
          <p:nvPr/>
        </p:nvSpPr>
        <p:spPr bwMode="auto">
          <a:xfrm>
            <a:off x="1514767" y="3706216"/>
            <a:ext cx="2058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cs typeface="Tahoma" panose="020B0604030504040204" pitchFamily="34" charset="0"/>
              </a:rPr>
              <a:t>ntrepreneur</a:t>
            </a:r>
          </a:p>
        </p:txBody>
      </p:sp>
      <p:sp>
        <p:nvSpPr>
          <p:cNvPr id="53" name="TextBox 52"/>
          <p:cNvSpPr txBox="1">
            <a:spLocks noChangeArrowheads="1"/>
          </p:cNvSpPr>
          <p:nvPr/>
        </p:nvSpPr>
        <p:spPr bwMode="auto">
          <a:xfrm>
            <a:off x="1446505" y="4847359"/>
            <a:ext cx="1516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cs typeface="Tahoma" panose="020B0604030504040204" pitchFamily="34" charset="0"/>
              </a:rPr>
              <a:t>ntegrate</a:t>
            </a:r>
          </a:p>
        </p:txBody>
      </p:sp>
      <p:sp>
        <p:nvSpPr>
          <p:cNvPr id="54" name="Rectangle 33"/>
          <p:cNvSpPr>
            <a:spLocks noChangeArrowheads="1"/>
          </p:cNvSpPr>
          <p:nvPr/>
        </p:nvSpPr>
        <p:spPr bwMode="auto">
          <a:xfrm>
            <a:off x="7744695" y="1715491"/>
            <a:ext cx="303213" cy="74613"/>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55" name="Rectangle 37">
            <a:extLst>
              <a:ext uri="{FF2B5EF4-FFF2-40B4-BE49-F238E27FC236}">
                <a16:creationId xmlns:a16="http://schemas.microsoft.com/office/drawing/2014/main" id="{CCD5C3FC-96CD-4521-98E9-C834A4A3D87C}"/>
              </a:ext>
            </a:extLst>
          </p:cNvPr>
          <p:cNvSpPr>
            <a:spLocks noChangeArrowheads="1"/>
          </p:cNvSpPr>
          <p:nvPr/>
        </p:nvSpPr>
        <p:spPr bwMode="auto">
          <a:xfrm>
            <a:off x="5664636" y="1504354"/>
            <a:ext cx="1746250"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functional</a:t>
            </a:r>
          </a:p>
        </p:txBody>
      </p:sp>
      <p:sp>
        <p:nvSpPr>
          <p:cNvPr id="56" name="Rectangle 45"/>
          <p:cNvSpPr>
            <a:spLocks noChangeArrowheads="1"/>
          </p:cNvSpPr>
          <p:nvPr/>
        </p:nvSpPr>
        <p:spPr bwMode="auto">
          <a:xfrm>
            <a:off x="4927746" y="1731366"/>
            <a:ext cx="303212" cy="74613"/>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57" name="Rectangle 34"/>
          <p:cNvSpPr>
            <a:spLocks noChangeArrowheads="1"/>
          </p:cNvSpPr>
          <p:nvPr/>
        </p:nvSpPr>
        <p:spPr bwMode="auto">
          <a:xfrm>
            <a:off x="7744695" y="2782291"/>
            <a:ext cx="303213" cy="74613"/>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58" name="Rectangle 41">
            <a:extLst>
              <a:ext uri="{FF2B5EF4-FFF2-40B4-BE49-F238E27FC236}">
                <a16:creationId xmlns:a16="http://schemas.microsoft.com/office/drawing/2014/main" id="{9479475A-CCF5-455B-B510-47BAEECD6C71}"/>
              </a:ext>
            </a:extLst>
          </p:cNvPr>
          <p:cNvSpPr>
            <a:spLocks noChangeArrowheads="1"/>
          </p:cNvSpPr>
          <p:nvPr/>
        </p:nvSpPr>
        <p:spPr bwMode="auto">
          <a:xfrm>
            <a:off x="5513823" y="2566391"/>
            <a:ext cx="1935163"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systematic</a:t>
            </a:r>
          </a:p>
        </p:txBody>
      </p:sp>
      <p:sp>
        <p:nvSpPr>
          <p:cNvPr id="59" name="Rectangle 46"/>
          <p:cNvSpPr>
            <a:spLocks noChangeArrowheads="1"/>
          </p:cNvSpPr>
          <p:nvPr/>
        </p:nvSpPr>
        <p:spPr bwMode="auto">
          <a:xfrm>
            <a:off x="4927746" y="2793404"/>
            <a:ext cx="303212" cy="74612"/>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60" name="Rectangle 36"/>
          <p:cNvSpPr>
            <a:spLocks noChangeArrowheads="1"/>
          </p:cNvSpPr>
          <p:nvPr/>
        </p:nvSpPr>
        <p:spPr bwMode="auto">
          <a:xfrm>
            <a:off x="7744695" y="3925291"/>
            <a:ext cx="303213" cy="76200"/>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61" name="Rectangle 40">
            <a:extLst>
              <a:ext uri="{FF2B5EF4-FFF2-40B4-BE49-F238E27FC236}">
                <a16:creationId xmlns:a16="http://schemas.microsoft.com/office/drawing/2014/main" id="{3B1B2BEE-6326-4407-9CEC-E2DA6D4A3969}"/>
              </a:ext>
            </a:extLst>
          </p:cNvPr>
          <p:cNvSpPr>
            <a:spLocks noChangeArrowheads="1"/>
          </p:cNvSpPr>
          <p:nvPr/>
        </p:nvSpPr>
        <p:spPr bwMode="auto">
          <a:xfrm>
            <a:off x="5548748" y="3704629"/>
            <a:ext cx="1746250"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proactive</a:t>
            </a:r>
          </a:p>
        </p:txBody>
      </p:sp>
      <p:sp>
        <p:nvSpPr>
          <p:cNvPr id="62" name="Rectangle 48"/>
          <p:cNvSpPr>
            <a:spLocks noChangeArrowheads="1"/>
          </p:cNvSpPr>
          <p:nvPr/>
        </p:nvSpPr>
        <p:spPr bwMode="auto">
          <a:xfrm>
            <a:off x="4927746" y="3931641"/>
            <a:ext cx="303212" cy="76200"/>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63" name="Rectangle 35"/>
          <p:cNvSpPr>
            <a:spLocks noChangeArrowheads="1"/>
          </p:cNvSpPr>
          <p:nvPr/>
        </p:nvSpPr>
        <p:spPr bwMode="auto">
          <a:xfrm>
            <a:off x="7744695" y="4993409"/>
            <a:ext cx="303213" cy="74613"/>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64" name="Rectangle 39">
            <a:extLst>
              <a:ext uri="{FF2B5EF4-FFF2-40B4-BE49-F238E27FC236}">
                <a16:creationId xmlns:a16="http://schemas.microsoft.com/office/drawing/2014/main" id="{A4D61970-189D-4265-A9F9-D12724500E7F}"/>
              </a:ext>
            </a:extLst>
          </p:cNvPr>
          <p:cNvSpPr>
            <a:spLocks noChangeArrowheads="1"/>
          </p:cNvSpPr>
          <p:nvPr/>
        </p:nvSpPr>
        <p:spPr bwMode="auto">
          <a:xfrm>
            <a:off x="5243948" y="4761634"/>
            <a:ext cx="1746250"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organic</a:t>
            </a:r>
          </a:p>
        </p:txBody>
      </p:sp>
      <p:sp>
        <p:nvSpPr>
          <p:cNvPr id="65" name="Rectangle 47"/>
          <p:cNvSpPr>
            <a:spLocks noChangeArrowheads="1"/>
          </p:cNvSpPr>
          <p:nvPr/>
        </p:nvSpPr>
        <p:spPr bwMode="auto">
          <a:xfrm>
            <a:off x="4927746" y="4993409"/>
            <a:ext cx="303212" cy="74613"/>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66" name="TextBox 65"/>
          <p:cNvSpPr txBox="1">
            <a:spLocks noChangeArrowheads="1"/>
          </p:cNvSpPr>
          <p:nvPr/>
        </p:nvSpPr>
        <p:spPr bwMode="auto">
          <a:xfrm>
            <a:off x="1448092" y="1486891"/>
            <a:ext cx="12573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cs typeface="Tahoma" panose="020B0604030504040204" pitchFamily="34" charset="0"/>
              </a:rPr>
              <a:t>urpose</a:t>
            </a:r>
          </a:p>
        </p:txBody>
      </p:sp>
    </p:spTree>
    <p:extLst>
      <p:ext uri="{BB962C8B-B14F-4D97-AF65-F5344CB8AC3E}">
        <p14:creationId xmlns:p14="http://schemas.microsoft.com/office/powerpoint/2010/main" val="395083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
                                        </p:tgtEl>
                                        <p:attrNameLst>
                                          <p:attrName>style.visibility</p:attrName>
                                        </p:attrNameLst>
                                      </p:cBhvr>
                                      <p:to>
                                        <p:strVal val="visible"/>
                                      </p:to>
                                    </p:set>
                                  </p:childTnLst>
                                  <p:subTnLst>
                                    <p:set>
                                      <p:cBhvr override="childStyle">
                                        <p:cTn dur="1" fill="hold" display="0" masterRel="nextClick" afterEffect="1"/>
                                        <p:tgtEl>
                                          <p:spTgt spid="66"/>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40" grpId="0" animBg="1"/>
      <p:bldP spid="41" grpId="0" animBg="1"/>
      <p:bldP spid="42" grpId="0"/>
      <p:bldP spid="43" grpId="0"/>
      <p:bldP spid="44" grpId="0" animBg="1"/>
      <p:bldP spid="45" grpId="0" animBg="1"/>
      <p:bldP spid="46" grpId="0"/>
      <p:bldP spid="47" grpId="0"/>
      <p:bldP spid="48" grpId="0"/>
      <p:bldP spid="49" grpId="0"/>
      <p:bldP spid="50" grpId="0"/>
      <p:bldP spid="51" grpId="0"/>
      <p:bldP spid="52" grpId="0"/>
      <p:bldP spid="53" grpId="0"/>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5"/>
          <p:cNvSpPr txBox="1">
            <a:spLocks noChangeArrowheads="1"/>
          </p:cNvSpPr>
          <p:nvPr/>
        </p:nvSpPr>
        <p:spPr bwMode="auto">
          <a:xfrm>
            <a:off x="1385624" y="1700761"/>
            <a:ext cx="10085294" cy="4401205"/>
          </a:xfrm>
          <a:prstGeom prst="rect">
            <a:avLst/>
          </a:prstGeom>
          <a:noFill/>
          <a:ln w="12700">
            <a:noFill/>
            <a:miter lim="800000"/>
            <a:headEnd type="none" w="sm" len="sm"/>
            <a:tailEnd type="none" w="sm" len="sm"/>
          </a:ln>
          <a:effectLst/>
        </p:spPr>
        <p:txBody>
          <a:bodyPr wrap="square">
            <a:spAutoFit/>
          </a:bodyPr>
          <a:lstStyle/>
          <a:p>
            <a:pPr algn="ctr">
              <a:spcBef>
                <a:spcPct val="50000"/>
              </a:spcBef>
              <a:defRPr/>
            </a:pPr>
            <a:r>
              <a:rPr lang="en-US" sz="2800" b="1" dirty="0">
                <a:solidFill>
                  <a:srgbClr val="FF0000"/>
                </a:solidFill>
                <a:latin typeface="Calibri" panose="020F0502020204030204" pitchFamily="34" charset="0"/>
              </a:rPr>
              <a:t>Result when all 4 PAEI roles are performed; </a:t>
            </a:r>
          </a:p>
          <a:p>
            <a:pPr algn="ctr">
              <a:spcBef>
                <a:spcPct val="50000"/>
              </a:spcBef>
              <a:defRPr/>
            </a:pPr>
            <a:r>
              <a:rPr lang="en-US" sz="2800" b="1" dirty="0">
                <a:solidFill>
                  <a:srgbClr val="009900"/>
                </a:solidFill>
                <a:latin typeface="Calibri" panose="020F0502020204030204" pitchFamily="34" charset="0"/>
              </a:rPr>
              <a:t>Client satisfaction (value added) improves</a:t>
            </a:r>
          </a:p>
          <a:p>
            <a:pPr algn="ctr">
              <a:spcBef>
                <a:spcPct val="50000"/>
              </a:spcBef>
              <a:defRPr/>
            </a:pPr>
            <a:r>
              <a:rPr lang="en-US" sz="2800" b="1" dirty="0">
                <a:solidFill>
                  <a:srgbClr val="009900"/>
                </a:solidFill>
                <a:latin typeface="Calibri" panose="020F0502020204030204" pitchFamily="34" charset="0"/>
              </a:rPr>
              <a:t>Costs are optimized</a:t>
            </a:r>
          </a:p>
          <a:p>
            <a:pPr algn="ctr">
              <a:spcBef>
                <a:spcPct val="50000"/>
              </a:spcBef>
              <a:defRPr/>
            </a:pPr>
            <a:r>
              <a:rPr lang="en-US" sz="2800" b="1" dirty="0">
                <a:solidFill>
                  <a:srgbClr val="009900"/>
                </a:solidFill>
                <a:latin typeface="Calibri" panose="020F0502020204030204" pitchFamily="34" charset="0"/>
              </a:rPr>
              <a:t>Innovation and change is better managed</a:t>
            </a:r>
          </a:p>
          <a:p>
            <a:pPr algn="ctr">
              <a:spcBef>
                <a:spcPct val="50000"/>
              </a:spcBef>
              <a:defRPr/>
            </a:pPr>
            <a:r>
              <a:rPr lang="en-US" sz="2800" b="1" dirty="0">
                <a:solidFill>
                  <a:srgbClr val="009900"/>
                </a:solidFill>
                <a:latin typeface="Calibri" panose="020F0502020204030204" pitchFamily="34" charset="0"/>
              </a:rPr>
              <a:t>Employee engagement and satisfaction grows</a:t>
            </a:r>
          </a:p>
          <a:p>
            <a:pPr algn="ctr">
              <a:spcBef>
                <a:spcPct val="50000"/>
              </a:spcBef>
              <a:defRPr/>
            </a:pPr>
            <a:r>
              <a:rPr lang="en-US" sz="2800" b="1" dirty="0">
                <a:solidFill>
                  <a:srgbClr val="009900"/>
                </a:solidFill>
                <a:latin typeface="Calibri" panose="020F0502020204030204" pitchFamily="34" charset="0"/>
              </a:rPr>
              <a:t>Revenues and profits improve</a:t>
            </a:r>
          </a:p>
          <a:p>
            <a:pPr algn="ctr">
              <a:spcBef>
                <a:spcPct val="50000"/>
              </a:spcBef>
              <a:defRPr/>
            </a:pPr>
            <a:endParaRPr lang="en-US" sz="2800" b="1" dirty="0">
              <a:solidFill>
                <a:srgbClr val="009900"/>
              </a:solidFill>
              <a:latin typeface="Calibri" panose="020F0502020204030204" pitchFamily="34" charset="0"/>
            </a:endParaRPr>
          </a:p>
        </p:txBody>
      </p:sp>
      <p:sp>
        <p:nvSpPr>
          <p:cNvPr id="4" name="Title 1"/>
          <p:cNvSpPr>
            <a:spLocks noGrp="1"/>
          </p:cNvSpPr>
          <p:nvPr>
            <p:ph type="title"/>
          </p:nvPr>
        </p:nvSpPr>
        <p:spPr>
          <a:xfrm>
            <a:off x="3615226" y="176676"/>
            <a:ext cx="4961547" cy="609600"/>
          </a:xfrm>
        </p:spPr>
        <p:txBody>
          <a:bodyPr/>
          <a:lstStyle/>
          <a:p>
            <a:pPr algn="ctr"/>
            <a:r>
              <a:rPr lang="en-US" sz="3200" b="1" dirty="0"/>
              <a:t>THE OUTCOME</a:t>
            </a:r>
          </a:p>
        </p:txBody>
      </p:sp>
    </p:spTree>
    <p:extLst>
      <p:ext uri="{BB962C8B-B14F-4D97-AF65-F5344CB8AC3E}">
        <p14:creationId xmlns:p14="http://schemas.microsoft.com/office/powerpoint/2010/main" val="3912495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5226" y="295713"/>
            <a:ext cx="4961547" cy="609600"/>
          </a:xfrm>
        </p:spPr>
        <p:txBody>
          <a:bodyPr/>
          <a:lstStyle/>
          <a:p>
            <a:pPr algn="ctr"/>
            <a:r>
              <a:rPr lang="en-US" sz="3200" b="1" dirty="0"/>
              <a:t>THE PROBLEM</a:t>
            </a:r>
          </a:p>
        </p:txBody>
      </p:sp>
      <p:sp>
        <p:nvSpPr>
          <p:cNvPr id="3" name="Rectangle 2">
            <a:extLst>
              <a:ext uri="{FF2B5EF4-FFF2-40B4-BE49-F238E27FC236}">
                <a16:creationId xmlns:a16="http://schemas.microsoft.com/office/drawing/2014/main" id="{C058E312-4484-43D7-BAE6-C772F2B019F2}"/>
              </a:ext>
            </a:extLst>
          </p:cNvPr>
          <p:cNvSpPr>
            <a:spLocks noChangeArrowheads="1"/>
          </p:cNvSpPr>
          <p:nvPr/>
        </p:nvSpPr>
        <p:spPr bwMode="auto">
          <a:xfrm>
            <a:off x="2111375" y="1031875"/>
            <a:ext cx="7969250" cy="835025"/>
          </a:xfrm>
          <a:prstGeom prst="rect">
            <a:avLst/>
          </a:prstGeom>
          <a:noFill/>
          <a:ln w="9525">
            <a:noFill/>
            <a:miter lim="800000"/>
            <a:headEnd/>
            <a:tailEnd/>
          </a:ln>
          <a:effectLst/>
        </p:spPr>
        <p:txBody>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defRPr/>
            </a:pPr>
            <a:r>
              <a:rPr lang="en-US" altLang="en-US" sz="3600" b="1" dirty="0">
                <a:effectLst>
                  <a:outerShdw blurRad="38100" dist="38100" dir="2700000" algn="tl">
                    <a:srgbClr val="C0C0C0"/>
                  </a:outerShdw>
                </a:effectLst>
              </a:rPr>
              <a:t>(</a:t>
            </a:r>
            <a:r>
              <a:rPr lang="en-US" altLang="en-US" sz="3600" b="1" dirty="0" err="1">
                <a:effectLst>
                  <a:outerShdw blurRad="38100" dist="38100" dir="2700000" algn="tl">
                    <a:srgbClr val="C0C0C0"/>
                  </a:outerShdw>
                </a:effectLst>
              </a:rPr>
              <a:t>PAEI</a:t>
            </a:r>
            <a:r>
              <a:rPr lang="en-US" altLang="en-US" sz="3600" b="1" dirty="0">
                <a:effectLst>
                  <a:outerShdw blurRad="38100" dist="38100" dir="2700000" algn="tl">
                    <a:srgbClr val="C0C0C0"/>
                  </a:outerShdw>
                </a:effectLst>
              </a:rPr>
              <a:t>) Roles are incompatible</a:t>
            </a:r>
          </a:p>
        </p:txBody>
      </p:sp>
      <p:sp>
        <p:nvSpPr>
          <p:cNvPr id="4" name="Text Box 3">
            <a:extLst>
              <a:ext uri="{FF2B5EF4-FFF2-40B4-BE49-F238E27FC236}">
                <a16:creationId xmlns:a16="http://schemas.microsoft.com/office/drawing/2014/main" id="{C53E5ED9-AB78-4493-A037-9DDEE1830CFA}"/>
              </a:ext>
            </a:extLst>
          </p:cNvPr>
          <p:cNvSpPr txBox="1">
            <a:spLocks noChangeArrowheads="1"/>
          </p:cNvSpPr>
          <p:nvPr/>
        </p:nvSpPr>
        <p:spPr bwMode="auto">
          <a:xfrm>
            <a:off x="5111750" y="1869784"/>
            <a:ext cx="3187700" cy="4540250"/>
          </a:xfrm>
          <a:prstGeom prst="rect">
            <a:avLst/>
          </a:prstGeom>
          <a:noFill/>
          <a:ln w="12700" algn="ctr">
            <a:noFill/>
            <a:miter lim="800000"/>
            <a:headEnd type="none" w="sm" len="sm"/>
            <a:tailEnd type="none" w="sm" len="sm"/>
          </a:ln>
          <a:effec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defRPr/>
            </a:pPr>
            <a:r>
              <a:rPr lang="en-US" altLang="en-US" sz="3400" b="1" dirty="0">
                <a:effectLst>
                  <a:outerShdw blurRad="38100" dist="38100" dir="2700000" algn="tl">
                    <a:srgbClr val="C0C0C0"/>
                  </a:outerShdw>
                </a:effectLst>
                <a:latin typeface="Tahoma" panose="020B0604030504040204" pitchFamily="34" charset="0"/>
              </a:rPr>
              <a:t>P  </a:t>
            </a:r>
            <a:r>
              <a:rPr lang="en-US" altLang="en-US" sz="3400" b="1" dirty="0">
                <a:solidFill>
                  <a:srgbClr val="FF0033"/>
                </a:solidFill>
                <a:effectLst>
                  <a:outerShdw blurRad="38100" dist="38100" dir="2700000" algn="tl">
                    <a:srgbClr val="C0C0C0"/>
                  </a:outerShdw>
                </a:effectLst>
                <a:latin typeface="Wingdings" panose="05000000000000000000" pitchFamily="2" charset="2"/>
              </a:rPr>
              <a:t>ó</a:t>
            </a:r>
            <a:r>
              <a:rPr lang="en-US" altLang="en-US" sz="3400" b="1" dirty="0">
                <a:effectLst>
                  <a:outerShdw blurRad="38100" dist="38100" dir="2700000" algn="tl">
                    <a:srgbClr val="C0C0C0"/>
                  </a:outerShdw>
                </a:effectLst>
                <a:latin typeface="Tahoma" panose="020B0604030504040204" pitchFamily="34" charset="0"/>
              </a:rPr>
              <a:t>  A</a:t>
            </a:r>
          </a:p>
          <a:p>
            <a:pPr>
              <a:spcBef>
                <a:spcPct val="50000"/>
              </a:spcBef>
              <a:defRPr/>
            </a:pPr>
            <a:r>
              <a:rPr lang="en-US" altLang="en-US" sz="3400" b="1" dirty="0">
                <a:effectLst>
                  <a:outerShdw blurRad="38100" dist="38100" dir="2700000" algn="tl">
                    <a:srgbClr val="C0C0C0"/>
                  </a:outerShdw>
                </a:effectLst>
                <a:latin typeface="Tahoma" panose="020B0604030504040204" pitchFamily="34" charset="0"/>
              </a:rPr>
              <a:t>P  </a:t>
            </a:r>
            <a:r>
              <a:rPr lang="en-US" altLang="en-US" sz="3400" b="1" dirty="0">
                <a:solidFill>
                  <a:srgbClr val="FF0033"/>
                </a:solidFill>
                <a:effectLst>
                  <a:outerShdw blurRad="38100" dist="38100" dir="2700000" algn="tl">
                    <a:srgbClr val="C0C0C0"/>
                  </a:outerShdw>
                </a:effectLst>
                <a:latin typeface="Wingdings" panose="05000000000000000000" pitchFamily="2" charset="2"/>
              </a:rPr>
              <a:t>ó</a:t>
            </a:r>
            <a:r>
              <a:rPr lang="en-US" altLang="en-US" sz="3400" b="1" dirty="0">
                <a:effectLst>
                  <a:outerShdw blurRad="38100" dist="38100" dir="2700000" algn="tl">
                    <a:srgbClr val="C0C0C0"/>
                  </a:outerShdw>
                </a:effectLst>
                <a:latin typeface="Tahoma" panose="020B0604030504040204" pitchFamily="34" charset="0"/>
              </a:rPr>
              <a:t>  E</a:t>
            </a:r>
          </a:p>
          <a:p>
            <a:pPr>
              <a:spcBef>
                <a:spcPct val="50000"/>
              </a:spcBef>
              <a:defRPr/>
            </a:pPr>
            <a:r>
              <a:rPr lang="en-US" altLang="en-US" sz="3400" b="1" dirty="0">
                <a:effectLst>
                  <a:outerShdw blurRad="38100" dist="38100" dir="2700000" algn="tl">
                    <a:srgbClr val="C0C0C0"/>
                  </a:outerShdw>
                </a:effectLst>
                <a:latin typeface="Tahoma" panose="020B0604030504040204" pitchFamily="34" charset="0"/>
              </a:rPr>
              <a:t>E  </a:t>
            </a:r>
            <a:r>
              <a:rPr lang="en-US" altLang="en-US" sz="3400" b="1" dirty="0">
                <a:solidFill>
                  <a:srgbClr val="FF0033"/>
                </a:solidFill>
                <a:effectLst>
                  <a:outerShdw blurRad="38100" dist="38100" dir="2700000" algn="tl">
                    <a:srgbClr val="C0C0C0"/>
                  </a:outerShdw>
                </a:effectLst>
                <a:latin typeface="Wingdings" panose="05000000000000000000" pitchFamily="2" charset="2"/>
              </a:rPr>
              <a:t>ó</a:t>
            </a:r>
            <a:r>
              <a:rPr lang="en-US" altLang="en-US" sz="3400" b="1" dirty="0">
                <a:effectLst>
                  <a:outerShdw blurRad="38100" dist="38100" dir="2700000" algn="tl">
                    <a:srgbClr val="C0C0C0"/>
                  </a:outerShdw>
                </a:effectLst>
                <a:latin typeface="Tahoma" panose="020B0604030504040204" pitchFamily="34" charset="0"/>
              </a:rPr>
              <a:t>  I</a:t>
            </a:r>
          </a:p>
          <a:p>
            <a:pPr>
              <a:spcBef>
                <a:spcPct val="50000"/>
              </a:spcBef>
              <a:defRPr/>
            </a:pPr>
            <a:r>
              <a:rPr lang="en-US" altLang="en-US" sz="3400" b="1" dirty="0">
                <a:effectLst>
                  <a:outerShdw blurRad="38100" dist="38100" dir="2700000" algn="tl">
                    <a:srgbClr val="C0C0C0"/>
                  </a:outerShdw>
                </a:effectLst>
                <a:latin typeface="Tahoma" panose="020B0604030504040204" pitchFamily="34" charset="0"/>
              </a:rPr>
              <a:t>E  </a:t>
            </a:r>
            <a:r>
              <a:rPr lang="en-US" altLang="en-US" sz="3400" b="1" dirty="0">
                <a:solidFill>
                  <a:srgbClr val="FF0033"/>
                </a:solidFill>
                <a:effectLst>
                  <a:outerShdw blurRad="38100" dist="38100" dir="2700000" algn="tl">
                    <a:srgbClr val="C0C0C0"/>
                  </a:outerShdw>
                </a:effectLst>
                <a:latin typeface="Wingdings" panose="05000000000000000000" pitchFamily="2" charset="2"/>
              </a:rPr>
              <a:t>ó</a:t>
            </a:r>
            <a:r>
              <a:rPr lang="en-US" altLang="en-US" sz="3400" b="1" dirty="0">
                <a:effectLst>
                  <a:outerShdw blurRad="38100" dist="38100" dir="2700000" algn="tl">
                    <a:srgbClr val="C0C0C0"/>
                  </a:outerShdw>
                </a:effectLst>
                <a:latin typeface="Tahoma" panose="020B0604030504040204" pitchFamily="34" charset="0"/>
              </a:rPr>
              <a:t>  A</a:t>
            </a:r>
          </a:p>
          <a:p>
            <a:pPr>
              <a:spcBef>
                <a:spcPct val="50000"/>
              </a:spcBef>
              <a:defRPr/>
            </a:pPr>
            <a:r>
              <a:rPr lang="en-US" altLang="en-US" sz="3400" b="1" dirty="0">
                <a:effectLst>
                  <a:outerShdw blurRad="38100" dist="38100" dir="2700000" algn="tl">
                    <a:srgbClr val="C0C0C0"/>
                  </a:outerShdw>
                </a:effectLst>
                <a:latin typeface="Tahoma" panose="020B0604030504040204" pitchFamily="34" charset="0"/>
              </a:rPr>
              <a:t>P  </a:t>
            </a:r>
            <a:r>
              <a:rPr lang="en-US" altLang="en-US" sz="3400" b="1" dirty="0">
                <a:solidFill>
                  <a:srgbClr val="FF0033"/>
                </a:solidFill>
                <a:effectLst>
                  <a:outerShdw blurRad="38100" dist="38100" dir="2700000" algn="tl">
                    <a:srgbClr val="C0C0C0"/>
                  </a:outerShdw>
                </a:effectLst>
                <a:latin typeface="Wingdings" panose="05000000000000000000" pitchFamily="2" charset="2"/>
              </a:rPr>
              <a:t>ó</a:t>
            </a:r>
            <a:r>
              <a:rPr lang="en-US" altLang="en-US" sz="3400" b="1" dirty="0">
                <a:effectLst>
                  <a:outerShdw blurRad="38100" dist="38100" dir="2700000" algn="tl">
                    <a:srgbClr val="C0C0C0"/>
                  </a:outerShdw>
                </a:effectLst>
                <a:latin typeface="Tahoma" panose="020B0604030504040204" pitchFamily="34" charset="0"/>
              </a:rPr>
              <a:t>  I</a:t>
            </a:r>
          </a:p>
          <a:p>
            <a:pPr>
              <a:spcBef>
                <a:spcPct val="50000"/>
              </a:spcBef>
              <a:defRPr/>
            </a:pPr>
            <a:r>
              <a:rPr lang="en-US" altLang="en-US" sz="3400" b="1" dirty="0">
                <a:effectLst>
                  <a:outerShdw blurRad="38100" dist="38100" dir="2700000" algn="tl">
                    <a:srgbClr val="C0C0C0"/>
                  </a:outerShdw>
                </a:effectLst>
                <a:latin typeface="Tahoma" panose="020B0604030504040204" pitchFamily="34" charset="0"/>
              </a:rPr>
              <a:t>A  </a:t>
            </a:r>
            <a:r>
              <a:rPr lang="en-US" altLang="en-US" sz="3400" b="1" dirty="0">
                <a:solidFill>
                  <a:srgbClr val="FF0033"/>
                </a:solidFill>
                <a:effectLst>
                  <a:outerShdw blurRad="38100" dist="38100" dir="2700000" algn="tl">
                    <a:srgbClr val="C0C0C0"/>
                  </a:outerShdw>
                </a:effectLst>
                <a:latin typeface="Wingdings" panose="05000000000000000000" pitchFamily="2" charset="2"/>
              </a:rPr>
              <a:t>ó</a:t>
            </a:r>
            <a:r>
              <a:rPr lang="en-US" altLang="en-US" sz="3400" b="1" dirty="0">
                <a:effectLst>
                  <a:outerShdw blurRad="38100" dist="38100" dir="2700000" algn="tl">
                    <a:srgbClr val="C0C0C0"/>
                  </a:outerShdw>
                </a:effectLst>
                <a:latin typeface="Tahoma" panose="020B0604030504040204" pitchFamily="34" charset="0"/>
              </a:rPr>
              <a:t>  I</a:t>
            </a:r>
          </a:p>
        </p:txBody>
      </p:sp>
    </p:spTree>
    <p:extLst>
      <p:ext uri="{BB962C8B-B14F-4D97-AF65-F5344CB8AC3E}">
        <p14:creationId xmlns:p14="http://schemas.microsoft.com/office/powerpoint/2010/main" val="3073086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505369" y="129579"/>
            <a:ext cx="7269016" cy="609600"/>
          </a:xfrm>
        </p:spPr>
        <p:txBody>
          <a:bodyPr/>
          <a:lstStyle/>
          <a:p>
            <a:pPr algn="ctr"/>
            <a:r>
              <a:rPr lang="en-US" sz="3200" b="1" dirty="0"/>
              <a:t>Well Managed Organizations Do 4 Things</a:t>
            </a:r>
          </a:p>
        </p:txBody>
      </p:sp>
      <p:sp>
        <p:nvSpPr>
          <p:cNvPr id="33" name="Rectangle 4">
            <a:extLst>
              <a:ext uri="{FF2B5EF4-FFF2-40B4-BE49-F238E27FC236}">
                <a16:creationId xmlns:a16="http://schemas.microsoft.com/office/drawing/2014/main" id="{288F40CB-16C7-4D88-A846-A88467C03454}"/>
              </a:ext>
            </a:extLst>
          </p:cNvPr>
          <p:cNvSpPr txBox="1">
            <a:spLocks noChangeArrowheads="1"/>
          </p:cNvSpPr>
          <p:nvPr/>
        </p:nvSpPr>
        <p:spPr bwMode="auto">
          <a:xfrm>
            <a:off x="8244033" y="1486891"/>
            <a:ext cx="1517650" cy="606425"/>
          </a:xfrm>
          <a:prstGeom prst="rect">
            <a:avLst/>
          </a:prstGeom>
          <a:solidFill>
            <a:srgbClr val="FFFFFF">
              <a:alpha val="0"/>
            </a:srgbClr>
          </a:solidFill>
          <a:ln>
            <a:miter lim="800000"/>
            <a:headEnd/>
            <a:tailEnd/>
          </a:ln>
        </p:spPr>
        <p:txBody>
          <a:bodyPr/>
          <a:lstStyle/>
          <a:p>
            <a:pPr algn="r">
              <a:defRPr/>
            </a:pPr>
            <a:r>
              <a:rPr lang="en-US" sz="2400" b="1" kern="0" dirty="0">
                <a:effectLst>
                  <a:outerShdw blurRad="38100" dist="38100" dir="2700000" algn="tl">
                    <a:srgbClr val="C0C0C0"/>
                  </a:outerShdw>
                </a:effectLst>
                <a:latin typeface="Tahoma" pitchFamily="34" charset="0"/>
                <a:ea typeface="+mj-ea"/>
                <a:cs typeface="+mj-cs"/>
              </a:rPr>
              <a:t>effective</a:t>
            </a:r>
          </a:p>
        </p:txBody>
      </p:sp>
      <p:sp>
        <p:nvSpPr>
          <p:cNvPr id="34" name="Rectangle 26">
            <a:extLst>
              <a:ext uri="{FF2B5EF4-FFF2-40B4-BE49-F238E27FC236}">
                <a16:creationId xmlns:a16="http://schemas.microsoft.com/office/drawing/2014/main" id="{0814CD82-794E-401A-971B-07BDD9FBA929}"/>
              </a:ext>
            </a:extLst>
          </p:cNvPr>
          <p:cNvSpPr>
            <a:spLocks noChangeArrowheads="1"/>
          </p:cNvSpPr>
          <p:nvPr/>
        </p:nvSpPr>
        <p:spPr bwMode="auto">
          <a:xfrm>
            <a:off x="8167833" y="4764809"/>
            <a:ext cx="1593850"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efficient</a:t>
            </a:r>
          </a:p>
        </p:txBody>
      </p:sp>
      <p:sp>
        <p:nvSpPr>
          <p:cNvPr id="40" name="Rectangle 27">
            <a:extLst>
              <a:ext uri="{FF2B5EF4-FFF2-40B4-BE49-F238E27FC236}">
                <a16:creationId xmlns:a16="http://schemas.microsoft.com/office/drawing/2014/main" id="{A12A1489-1C02-45ED-A922-594D80299AA8}"/>
              </a:ext>
            </a:extLst>
          </p:cNvPr>
          <p:cNvSpPr>
            <a:spLocks noChangeArrowheads="1"/>
          </p:cNvSpPr>
          <p:nvPr/>
        </p:nvSpPr>
        <p:spPr bwMode="auto">
          <a:xfrm>
            <a:off x="8078933" y="3696691"/>
            <a:ext cx="1682750"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effective</a:t>
            </a:r>
          </a:p>
        </p:txBody>
      </p:sp>
      <p:sp>
        <p:nvSpPr>
          <p:cNvPr id="41" name="Rectangle 28">
            <a:extLst>
              <a:ext uri="{FF2B5EF4-FFF2-40B4-BE49-F238E27FC236}">
                <a16:creationId xmlns:a16="http://schemas.microsoft.com/office/drawing/2014/main" id="{8112F467-81AF-4A00-B9B4-1D2D597E3A93}"/>
              </a:ext>
            </a:extLst>
          </p:cNvPr>
          <p:cNvSpPr>
            <a:spLocks noChangeArrowheads="1"/>
          </p:cNvSpPr>
          <p:nvPr/>
        </p:nvSpPr>
        <p:spPr bwMode="auto">
          <a:xfrm>
            <a:off x="8171008" y="2553691"/>
            <a:ext cx="1590675"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efficient</a:t>
            </a:r>
          </a:p>
        </p:txBody>
      </p:sp>
      <p:sp>
        <p:nvSpPr>
          <p:cNvPr id="42" name="Text Box 29">
            <a:extLst>
              <a:ext uri="{FF2B5EF4-FFF2-40B4-BE49-F238E27FC236}">
                <a16:creationId xmlns:a16="http://schemas.microsoft.com/office/drawing/2014/main" id="{AD5825B2-360C-470B-B58F-4425D1A14D23}"/>
              </a:ext>
            </a:extLst>
          </p:cNvPr>
          <p:cNvSpPr txBox="1">
            <a:spLocks noChangeArrowheads="1"/>
          </p:cNvSpPr>
          <p:nvPr/>
        </p:nvSpPr>
        <p:spPr bwMode="auto">
          <a:xfrm>
            <a:off x="10024787" y="1798883"/>
            <a:ext cx="1231900" cy="830263"/>
          </a:xfrm>
          <a:prstGeom prst="rect">
            <a:avLst/>
          </a:prstGeom>
          <a:noFill/>
          <a:ln w="12700" algn="ctr">
            <a:noFill/>
            <a:miter lim="800000"/>
            <a:headEnd type="none" w="sm" len="sm"/>
            <a:tailEnd type="none" w="sm" len="sm"/>
          </a:ln>
          <a:effectLst/>
        </p:spPr>
        <p:txBody>
          <a:bodyPr>
            <a:spAutoFit/>
          </a:bodyPr>
          <a:lstStyle/>
          <a:p>
            <a:pPr algn="ctr">
              <a:spcBef>
                <a:spcPct val="50000"/>
              </a:spcBef>
              <a:defRPr/>
            </a:pPr>
            <a:r>
              <a:rPr lang="en-US" sz="2400" b="1" dirty="0">
                <a:effectLst>
                  <a:outerShdw blurRad="38100" dist="38100" dir="2700000" algn="tl">
                    <a:srgbClr val="C0C0C0"/>
                  </a:outerShdw>
                </a:effectLst>
                <a:latin typeface="Tahoma" pitchFamily="34" charset="0"/>
              </a:rPr>
              <a:t>short run</a:t>
            </a:r>
          </a:p>
        </p:txBody>
      </p:sp>
      <p:sp>
        <p:nvSpPr>
          <p:cNvPr id="43" name="Text Box 30">
            <a:extLst>
              <a:ext uri="{FF2B5EF4-FFF2-40B4-BE49-F238E27FC236}">
                <a16:creationId xmlns:a16="http://schemas.microsoft.com/office/drawing/2014/main" id="{C871E727-91EC-49FC-8657-7FF5A6C89CC3}"/>
              </a:ext>
            </a:extLst>
          </p:cNvPr>
          <p:cNvSpPr txBox="1">
            <a:spLocks noChangeArrowheads="1"/>
          </p:cNvSpPr>
          <p:nvPr/>
        </p:nvSpPr>
        <p:spPr bwMode="auto">
          <a:xfrm>
            <a:off x="10007535" y="4035995"/>
            <a:ext cx="1231900" cy="828675"/>
          </a:xfrm>
          <a:prstGeom prst="rect">
            <a:avLst/>
          </a:prstGeom>
          <a:noFill/>
          <a:ln w="12700" algn="ctr">
            <a:noFill/>
            <a:miter lim="800000"/>
            <a:headEnd type="none" w="sm" len="sm"/>
            <a:tailEnd type="none" w="sm" len="sm"/>
          </a:ln>
          <a:effectLst/>
        </p:spPr>
        <p:txBody>
          <a:bodyPr>
            <a:spAutoFit/>
          </a:bodyPr>
          <a:lstStyle/>
          <a:p>
            <a:pPr algn="ctr">
              <a:spcBef>
                <a:spcPct val="50000"/>
              </a:spcBef>
              <a:defRPr/>
            </a:pPr>
            <a:r>
              <a:rPr lang="en-US" sz="2400" b="1" dirty="0">
                <a:effectLst>
                  <a:outerShdw blurRad="38100" dist="38100" dir="2700000" algn="tl">
                    <a:srgbClr val="C0C0C0"/>
                  </a:outerShdw>
                </a:effectLst>
                <a:latin typeface="Tahoma" pitchFamily="34" charset="0"/>
              </a:rPr>
              <a:t>long run</a:t>
            </a:r>
          </a:p>
        </p:txBody>
      </p:sp>
      <p:sp>
        <p:nvSpPr>
          <p:cNvPr id="44" name="AutoShape 31"/>
          <p:cNvSpPr>
            <a:spLocks/>
          </p:cNvSpPr>
          <p:nvPr/>
        </p:nvSpPr>
        <p:spPr bwMode="auto">
          <a:xfrm>
            <a:off x="9852171" y="1604516"/>
            <a:ext cx="379412" cy="1325413"/>
          </a:xfrm>
          <a:prstGeom prst="rightBrace">
            <a:avLst>
              <a:gd name="adj1" fmla="val 26674"/>
              <a:gd name="adj2" fmla="val 50000"/>
            </a:avLst>
          </a:prstGeom>
          <a:noFill/>
          <a:ln w="508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solidFill>
                <a:srgbClr val="FF0033"/>
              </a:solidFill>
            </a:endParaRPr>
          </a:p>
        </p:txBody>
      </p:sp>
      <p:sp>
        <p:nvSpPr>
          <p:cNvPr id="45" name="AutoShape 32"/>
          <p:cNvSpPr>
            <a:spLocks/>
          </p:cNvSpPr>
          <p:nvPr/>
        </p:nvSpPr>
        <p:spPr bwMode="auto">
          <a:xfrm>
            <a:off x="9852171" y="3795626"/>
            <a:ext cx="379412" cy="1356237"/>
          </a:xfrm>
          <a:prstGeom prst="rightBrace">
            <a:avLst>
              <a:gd name="adj1" fmla="val 26674"/>
              <a:gd name="adj2" fmla="val 50000"/>
            </a:avLst>
          </a:prstGeom>
          <a:noFill/>
          <a:ln w="508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solidFill>
                <a:srgbClr val="FF0033"/>
              </a:solidFill>
            </a:endParaRPr>
          </a:p>
        </p:txBody>
      </p:sp>
      <p:sp>
        <p:nvSpPr>
          <p:cNvPr id="46" name="TextBox 45">
            <a:extLst>
              <a:ext uri="{FF2B5EF4-FFF2-40B4-BE49-F238E27FC236}">
                <a16:creationId xmlns:a16="http://schemas.microsoft.com/office/drawing/2014/main" id="{C085F584-BE3B-4F74-963F-85B8D097CD8B}"/>
              </a:ext>
            </a:extLst>
          </p:cNvPr>
          <p:cNvSpPr txBox="1"/>
          <p:nvPr/>
        </p:nvSpPr>
        <p:spPr>
          <a:xfrm>
            <a:off x="767055" y="1496416"/>
            <a:ext cx="976312" cy="523875"/>
          </a:xfrm>
          <a:prstGeom prst="rect">
            <a:avLst/>
          </a:prstGeom>
          <a:noFill/>
        </p:spPr>
        <p:txBody>
          <a:bodyPr>
            <a:spAutoFit/>
          </a:bodyPr>
          <a:lstStyle/>
          <a:p>
            <a:pPr algn="ctr">
              <a:defRPr/>
            </a:pPr>
            <a:r>
              <a:rPr lang="en-US" sz="2800" b="1" dirty="0">
                <a:solidFill>
                  <a:srgbClr val="FF0033"/>
                </a:solidFill>
                <a:effectLst>
                  <a:outerShdw blurRad="38100" dist="38100" dir="2700000" algn="tl">
                    <a:srgbClr val="C0C0C0"/>
                  </a:outerShdw>
                </a:effectLst>
                <a:latin typeface="Tahoma" pitchFamily="34" charset="0"/>
              </a:rPr>
              <a:t>(P)</a:t>
            </a:r>
            <a:endParaRPr lang="en-US" sz="2400" dirty="0">
              <a:latin typeface="Times New Roman" pitchFamily="95" charset="0"/>
            </a:endParaRPr>
          </a:p>
        </p:txBody>
      </p:sp>
      <p:sp>
        <p:nvSpPr>
          <p:cNvPr id="47" name="TextBox 46">
            <a:extLst>
              <a:ext uri="{FF2B5EF4-FFF2-40B4-BE49-F238E27FC236}">
                <a16:creationId xmlns:a16="http://schemas.microsoft.com/office/drawing/2014/main" id="{0FB4D4BD-0509-4B00-83EC-A8EECF923C7C}"/>
              </a:ext>
            </a:extLst>
          </p:cNvPr>
          <p:cNvSpPr txBox="1"/>
          <p:nvPr/>
        </p:nvSpPr>
        <p:spPr>
          <a:xfrm>
            <a:off x="828967" y="2477491"/>
            <a:ext cx="836613" cy="892175"/>
          </a:xfrm>
          <a:prstGeom prst="rect">
            <a:avLst/>
          </a:prstGeom>
          <a:noFill/>
        </p:spPr>
        <p:txBody>
          <a:bodyPr wrap="none">
            <a:spAutoFit/>
          </a:bodyPr>
          <a:lstStyle/>
          <a:p>
            <a:pPr algn="ctr">
              <a:defRPr/>
            </a:pPr>
            <a:r>
              <a:rPr lang="en-US" sz="3200" b="1" dirty="0">
                <a:solidFill>
                  <a:srgbClr val="FF0033"/>
                </a:solidFill>
                <a:effectLst>
                  <a:outerShdw blurRad="38100" dist="38100" dir="2700000" algn="tl">
                    <a:srgbClr val="C0C0C0"/>
                  </a:outerShdw>
                </a:effectLst>
                <a:latin typeface="Tahoma" pitchFamily="34" charset="0"/>
              </a:rPr>
              <a:t>(A)</a:t>
            </a:r>
            <a:endParaRPr lang="en-US" sz="2800" b="1" dirty="0">
              <a:effectLst>
                <a:outerShdw blurRad="38100" dist="38100" dir="2700000" algn="tl">
                  <a:srgbClr val="C0C0C0"/>
                </a:outerShdw>
              </a:effectLst>
              <a:latin typeface="Tahoma" pitchFamily="34" charset="0"/>
            </a:endParaRPr>
          </a:p>
          <a:p>
            <a:pPr algn="ctr">
              <a:defRPr/>
            </a:pPr>
            <a:endParaRPr lang="en-US" dirty="0">
              <a:latin typeface="Times New Roman" pitchFamily="95" charset="0"/>
            </a:endParaRPr>
          </a:p>
        </p:txBody>
      </p:sp>
      <p:sp>
        <p:nvSpPr>
          <p:cNvPr id="48" name="TextBox 47">
            <a:extLst>
              <a:ext uri="{FF2B5EF4-FFF2-40B4-BE49-F238E27FC236}">
                <a16:creationId xmlns:a16="http://schemas.microsoft.com/office/drawing/2014/main" id="{2C16A830-B0B5-424F-ADC1-5283C5577A4F}"/>
              </a:ext>
            </a:extLst>
          </p:cNvPr>
          <p:cNvSpPr txBox="1"/>
          <p:nvPr/>
        </p:nvSpPr>
        <p:spPr>
          <a:xfrm>
            <a:off x="857542" y="3620491"/>
            <a:ext cx="809625" cy="892175"/>
          </a:xfrm>
          <a:prstGeom prst="rect">
            <a:avLst/>
          </a:prstGeom>
          <a:noFill/>
        </p:spPr>
        <p:txBody>
          <a:bodyPr wrap="none">
            <a:spAutoFit/>
          </a:bodyPr>
          <a:lstStyle/>
          <a:p>
            <a:pPr algn="ctr">
              <a:defRPr/>
            </a:pPr>
            <a:r>
              <a:rPr lang="en-US" sz="3200" b="1" dirty="0">
                <a:solidFill>
                  <a:srgbClr val="FF0033"/>
                </a:solidFill>
                <a:effectLst>
                  <a:outerShdw blurRad="38100" dist="38100" dir="2700000" algn="tl">
                    <a:srgbClr val="C0C0C0"/>
                  </a:outerShdw>
                </a:effectLst>
                <a:latin typeface="Tahoma" pitchFamily="34" charset="0"/>
              </a:rPr>
              <a:t>(E)</a:t>
            </a:r>
            <a:endParaRPr lang="en-US" sz="2800" b="1" dirty="0">
              <a:effectLst>
                <a:outerShdw blurRad="38100" dist="38100" dir="2700000" algn="tl">
                  <a:srgbClr val="C0C0C0"/>
                </a:outerShdw>
              </a:effectLst>
              <a:latin typeface="Tahoma" pitchFamily="34" charset="0"/>
            </a:endParaRPr>
          </a:p>
          <a:p>
            <a:pPr algn="ctr">
              <a:defRPr/>
            </a:pPr>
            <a:endParaRPr lang="en-US" dirty="0">
              <a:latin typeface="Times New Roman" pitchFamily="95" charset="0"/>
            </a:endParaRPr>
          </a:p>
        </p:txBody>
      </p:sp>
      <p:sp>
        <p:nvSpPr>
          <p:cNvPr id="49" name="TextBox 48">
            <a:extLst>
              <a:ext uri="{FF2B5EF4-FFF2-40B4-BE49-F238E27FC236}">
                <a16:creationId xmlns:a16="http://schemas.microsoft.com/office/drawing/2014/main" id="{D2B3A496-9266-455C-915F-51B092F73F18}"/>
              </a:ext>
            </a:extLst>
          </p:cNvPr>
          <p:cNvSpPr txBox="1"/>
          <p:nvPr/>
        </p:nvSpPr>
        <p:spPr>
          <a:xfrm>
            <a:off x="828967" y="4831754"/>
            <a:ext cx="755650" cy="893762"/>
          </a:xfrm>
          <a:prstGeom prst="rect">
            <a:avLst/>
          </a:prstGeom>
          <a:noFill/>
        </p:spPr>
        <p:txBody>
          <a:bodyPr wrap="none">
            <a:spAutoFit/>
          </a:bodyPr>
          <a:lstStyle/>
          <a:p>
            <a:pPr algn="ctr">
              <a:defRPr/>
            </a:pPr>
            <a:r>
              <a:rPr lang="en-US" sz="3200" b="1" dirty="0">
                <a:solidFill>
                  <a:srgbClr val="FF0033"/>
                </a:solidFill>
                <a:effectLst>
                  <a:outerShdw blurRad="38100" dist="38100" dir="2700000" algn="tl">
                    <a:srgbClr val="C0C0C0"/>
                  </a:outerShdw>
                </a:effectLst>
                <a:latin typeface="Tahoma" pitchFamily="34" charset="0"/>
              </a:rPr>
              <a:t>(I)</a:t>
            </a:r>
            <a:endParaRPr lang="en-US" sz="2800" b="1" dirty="0">
              <a:effectLst>
                <a:outerShdw blurRad="38100" dist="38100" dir="2700000" algn="tl">
                  <a:srgbClr val="C0C0C0"/>
                </a:outerShdw>
              </a:effectLst>
              <a:latin typeface="Tahoma" pitchFamily="34" charset="0"/>
            </a:endParaRPr>
          </a:p>
          <a:p>
            <a:pPr algn="ctr">
              <a:defRPr/>
            </a:pPr>
            <a:endParaRPr lang="en-US" dirty="0">
              <a:latin typeface="Times New Roman" pitchFamily="95" charset="0"/>
            </a:endParaRPr>
          </a:p>
        </p:txBody>
      </p:sp>
      <p:sp>
        <p:nvSpPr>
          <p:cNvPr id="50" name="TextBox 49"/>
          <p:cNvSpPr txBox="1">
            <a:spLocks noChangeArrowheads="1"/>
          </p:cNvSpPr>
          <p:nvPr/>
        </p:nvSpPr>
        <p:spPr bwMode="auto">
          <a:xfrm>
            <a:off x="1438567" y="1486891"/>
            <a:ext cx="3155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cs typeface="Tahoma" panose="020B0604030504040204" pitchFamily="34" charset="0"/>
              </a:rPr>
              <a:t>rovide client needs</a:t>
            </a:r>
          </a:p>
        </p:txBody>
      </p:sp>
      <p:sp>
        <p:nvSpPr>
          <p:cNvPr id="51" name="TextBox 50"/>
          <p:cNvSpPr txBox="1">
            <a:spLocks noChangeArrowheads="1"/>
          </p:cNvSpPr>
          <p:nvPr/>
        </p:nvSpPr>
        <p:spPr bwMode="auto">
          <a:xfrm>
            <a:off x="1514767" y="2553691"/>
            <a:ext cx="1647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cs typeface="Tahoma" panose="020B0604030504040204" pitchFamily="34" charset="0"/>
              </a:rPr>
              <a:t>dminister</a:t>
            </a:r>
          </a:p>
        </p:txBody>
      </p:sp>
      <p:sp>
        <p:nvSpPr>
          <p:cNvPr id="52" name="TextBox 51"/>
          <p:cNvSpPr txBox="1">
            <a:spLocks noChangeArrowheads="1"/>
          </p:cNvSpPr>
          <p:nvPr/>
        </p:nvSpPr>
        <p:spPr bwMode="auto">
          <a:xfrm>
            <a:off x="1514767" y="3706216"/>
            <a:ext cx="2058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cs typeface="Tahoma" panose="020B0604030504040204" pitchFamily="34" charset="0"/>
              </a:rPr>
              <a:t>ntrepreneur</a:t>
            </a:r>
          </a:p>
        </p:txBody>
      </p:sp>
      <p:sp>
        <p:nvSpPr>
          <p:cNvPr id="53" name="TextBox 52"/>
          <p:cNvSpPr txBox="1">
            <a:spLocks noChangeArrowheads="1"/>
          </p:cNvSpPr>
          <p:nvPr/>
        </p:nvSpPr>
        <p:spPr bwMode="auto">
          <a:xfrm>
            <a:off x="1446505" y="4847359"/>
            <a:ext cx="1516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cs typeface="Tahoma" panose="020B0604030504040204" pitchFamily="34" charset="0"/>
              </a:rPr>
              <a:t>ntegrate</a:t>
            </a:r>
          </a:p>
        </p:txBody>
      </p:sp>
      <p:sp>
        <p:nvSpPr>
          <p:cNvPr id="54" name="Rectangle 33"/>
          <p:cNvSpPr>
            <a:spLocks noChangeArrowheads="1"/>
          </p:cNvSpPr>
          <p:nvPr/>
        </p:nvSpPr>
        <p:spPr bwMode="auto">
          <a:xfrm>
            <a:off x="7744695" y="1715491"/>
            <a:ext cx="303213" cy="74613"/>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55" name="Rectangle 37">
            <a:extLst>
              <a:ext uri="{FF2B5EF4-FFF2-40B4-BE49-F238E27FC236}">
                <a16:creationId xmlns:a16="http://schemas.microsoft.com/office/drawing/2014/main" id="{CCD5C3FC-96CD-4521-98E9-C834A4A3D87C}"/>
              </a:ext>
            </a:extLst>
          </p:cNvPr>
          <p:cNvSpPr>
            <a:spLocks noChangeArrowheads="1"/>
          </p:cNvSpPr>
          <p:nvPr/>
        </p:nvSpPr>
        <p:spPr bwMode="auto">
          <a:xfrm>
            <a:off x="5664636" y="1504354"/>
            <a:ext cx="1746250"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functional</a:t>
            </a:r>
          </a:p>
        </p:txBody>
      </p:sp>
      <p:sp>
        <p:nvSpPr>
          <p:cNvPr id="56" name="Rectangle 45"/>
          <p:cNvSpPr>
            <a:spLocks noChangeArrowheads="1"/>
          </p:cNvSpPr>
          <p:nvPr/>
        </p:nvSpPr>
        <p:spPr bwMode="auto">
          <a:xfrm>
            <a:off x="4927746" y="1731366"/>
            <a:ext cx="303212" cy="74613"/>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57" name="Rectangle 34"/>
          <p:cNvSpPr>
            <a:spLocks noChangeArrowheads="1"/>
          </p:cNvSpPr>
          <p:nvPr/>
        </p:nvSpPr>
        <p:spPr bwMode="auto">
          <a:xfrm>
            <a:off x="7744695" y="2782291"/>
            <a:ext cx="303213" cy="74613"/>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58" name="Rectangle 41">
            <a:extLst>
              <a:ext uri="{FF2B5EF4-FFF2-40B4-BE49-F238E27FC236}">
                <a16:creationId xmlns:a16="http://schemas.microsoft.com/office/drawing/2014/main" id="{9479475A-CCF5-455B-B510-47BAEECD6C71}"/>
              </a:ext>
            </a:extLst>
          </p:cNvPr>
          <p:cNvSpPr>
            <a:spLocks noChangeArrowheads="1"/>
          </p:cNvSpPr>
          <p:nvPr/>
        </p:nvSpPr>
        <p:spPr bwMode="auto">
          <a:xfrm>
            <a:off x="5513823" y="2566391"/>
            <a:ext cx="1935163"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systematic</a:t>
            </a:r>
          </a:p>
        </p:txBody>
      </p:sp>
      <p:sp>
        <p:nvSpPr>
          <p:cNvPr id="59" name="Rectangle 46"/>
          <p:cNvSpPr>
            <a:spLocks noChangeArrowheads="1"/>
          </p:cNvSpPr>
          <p:nvPr/>
        </p:nvSpPr>
        <p:spPr bwMode="auto">
          <a:xfrm>
            <a:off x="4927746" y="2793404"/>
            <a:ext cx="303212" cy="74612"/>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60" name="Rectangle 36"/>
          <p:cNvSpPr>
            <a:spLocks noChangeArrowheads="1"/>
          </p:cNvSpPr>
          <p:nvPr/>
        </p:nvSpPr>
        <p:spPr bwMode="auto">
          <a:xfrm>
            <a:off x="7744695" y="3925291"/>
            <a:ext cx="303213" cy="76200"/>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61" name="Rectangle 40">
            <a:extLst>
              <a:ext uri="{FF2B5EF4-FFF2-40B4-BE49-F238E27FC236}">
                <a16:creationId xmlns:a16="http://schemas.microsoft.com/office/drawing/2014/main" id="{3B1B2BEE-6326-4407-9CEC-E2DA6D4A3969}"/>
              </a:ext>
            </a:extLst>
          </p:cNvPr>
          <p:cNvSpPr>
            <a:spLocks noChangeArrowheads="1"/>
          </p:cNvSpPr>
          <p:nvPr/>
        </p:nvSpPr>
        <p:spPr bwMode="auto">
          <a:xfrm>
            <a:off x="5548748" y="3704629"/>
            <a:ext cx="1746250"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proactive</a:t>
            </a:r>
          </a:p>
        </p:txBody>
      </p:sp>
      <p:sp>
        <p:nvSpPr>
          <p:cNvPr id="62" name="Rectangle 48"/>
          <p:cNvSpPr>
            <a:spLocks noChangeArrowheads="1"/>
          </p:cNvSpPr>
          <p:nvPr/>
        </p:nvSpPr>
        <p:spPr bwMode="auto">
          <a:xfrm>
            <a:off x="4927746" y="3931641"/>
            <a:ext cx="303212" cy="76200"/>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63" name="Rectangle 35"/>
          <p:cNvSpPr>
            <a:spLocks noChangeArrowheads="1"/>
          </p:cNvSpPr>
          <p:nvPr/>
        </p:nvSpPr>
        <p:spPr bwMode="auto">
          <a:xfrm>
            <a:off x="7744695" y="4993409"/>
            <a:ext cx="303213" cy="74613"/>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64" name="Rectangle 39">
            <a:extLst>
              <a:ext uri="{FF2B5EF4-FFF2-40B4-BE49-F238E27FC236}">
                <a16:creationId xmlns:a16="http://schemas.microsoft.com/office/drawing/2014/main" id="{A4D61970-189D-4265-A9F9-D12724500E7F}"/>
              </a:ext>
            </a:extLst>
          </p:cNvPr>
          <p:cNvSpPr>
            <a:spLocks noChangeArrowheads="1"/>
          </p:cNvSpPr>
          <p:nvPr/>
        </p:nvSpPr>
        <p:spPr bwMode="auto">
          <a:xfrm>
            <a:off x="5243948" y="4761634"/>
            <a:ext cx="1746250" cy="606425"/>
          </a:xfrm>
          <a:prstGeom prst="rect">
            <a:avLst/>
          </a:prstGeom>
          <a:solidFill>
            <a:srgbClr val="FFFFFF">
              <a:alpha val="0"/>
            </a:srgbClr>
          </a:solidFill>
          <a:ln w="9525">
            <a:noFill/>
            <a:miter lim="800000"/>
            <a:headEnd/>
            <a:tailEnd/>
          </a:ln>
        </p:spPr>
        <p:txBody>
          <a:bodyPr/>
          <a:lstStyle/>
          <a:p>
            <a:pPr algn="r">
              <a:defRPr/>
            </a:pPr>
            <a:r>
              <a:rPr lang="en-US" sz="2400" b="1" dirty="0">
                <a:effectLst>
                  <a:outerShdw blurRad="38100" dist="38100" dir="2700000" algn="tl">
                    <a:srgbClr val="C0C0C0"/>
                  </a:outerShdw>
                </a:effectLst>
                <a:latin typeface="Tahoma" pitchFamily="34" charset="0"/>
              </a:rPr>
              <a:t>organic</a:t>
            </a:r>
          </a:p>
        </p:txBody>
      </p:sp>
      <p:sp>
        <p:nvSpPr>
          <p:cNvPr id="65" name="Rectangle 47"/>
          <p:cNvSpPr>
            <a:spLocks noChangeArrowheads="1"/>
          </p:cNvSpPr>
          <p:nvPr/>
        </p:nvSpPr>
        <p:spPr bwMode="auto">
          <a:xfrm>
            <a:off x="4927746" y="4993409"/>
            <a:ext cx="303212" cy="74613"/>
          </a:xfrm>
          <a:prstGeom prst="rect">
            <a:avLst/>
          </a:prstGeom>
          <a:solidFill>
            <a:srgbClr val="FF0033"/>
          </a:solidFill>
          <a:ln w="12700" algn="ctr">
            <a:solidFill>
              <a:schemeClr val="tx1"/>
            </a:solidFill>
            <a:miter lim="800000"/>
            <a:headEnd type="none" w="sm" len="sm"/>
            <a:tailEnd type="none" w="sm" len="sm"/>
          </a:ln>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Tree>
    <p:extLst>
      <p:ext uri="{BB962C8B-B14F-4D97-AF65-F5344CB8AC3E}">
        <p14:creationId xmlns:p14="http://schemas.microsoft.com/office/powerpoint/2010/main" val="1097316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6" name="Text Box 4"/>
          <p:cNvSpPr txBox="1">
            <a:spLocks noChangeArrowheads="1"/>
          </p:cNvSpPr>
          <p:nvPr/>
        </p:nvSpPr>
        <p:spPr bwMode="auto">
          <a:xfrm>
            <a:off x="3641222" y="2052639"/>
            <a:ext cx="15151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Results</a:t>
            </a:r>
            <a:br>
              <a:rPr lang="en-US" altLang="lv-LV" sz="2800" dirty="0">
                <a:latin typeface="Tahoma" pitchFamily="34" charset="0"/>
              </a:rPr>
            </a:br>
            <a:r>
              <a:rPr lang="en-US" altLang="lv-LV" dirty="0">
                <a:latin typeface="Tahoma" pitchFamily="34" charset="0"/>
              </a:rPr>
              <a:t>(what)</a:t>
            </a:r>
          </a:p>
        </p:txBody>
      </p:sp>
      <p:sp>
        <p:nvSpPr>
          <p:cNvPr id="530437" name="Text Box 5"/>
          <p:cNvSpPr txBox="1">
            <a:spLocks noChangeArrowheads="1"/>
          </p:cNvSpPr>
          <p:nvPr/>
        </p:nvSpPr>
        <p:spPr bwMode="auto">
          <a:xfrm>
            <a:off x="5399160" y="2052639"/>
            <a:ext cx="9412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Fast</a:t>
            </a:r>
          </a:p>
        </p:txBody>
      </p:sp>
      <p:sp>
        <p:nvSpPr>
          <p:cNvPr id="530438" name="Text Box 6"/>
          <p:cNvSpPr txBox="1">
            <a:spLocks noChangeArrowheads="1"/>
          </p:cNvSpPr>
          <p:nvPr/>
        </p:nvSpPr>
        <p:spPr bwMode="auto">
          <a:xfrm>
            <a:off x="6629465" y="2052639"/>
            <a:ext cx="15279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Narrow</a:t>
            </a:r>
          </a:p>
        </p:txBody>
      </p:sp>
      <p:sp>
        <p:nvSpPr>
          <p:cNvPr id="530439" name="Text Box 7"/>
          <p:cNvSpPr txBox="1">
            <a:spLocks noChangeArrowheads="1"/>
          </p:cNvSpPr>
          <p:nvPr/>
        </p:nvSpPr>
        <p:spPr bwMode="auto">
          <a:xfrm>
            <a:off x="8166945" y="2052639"/>
            <a:ext cx="24593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Lone Ranger</a:t>
            </a:r>
          </a:p>
        </p:txBody>
      </p:sp>
      <p:sp>
        <p:nvSpPr>
          <p:cNvPr id="71687" name="Text Box 29"/>
          <p:cNvSpPr txBox="1">
            <a:spLocks noChangeArrowheads="1"/>
          </p:cNvSpPr>
          <p:nvPr/>
        </p:nvSpPr>
        <p:spPr bwMode="auto">
          <a:xfrm>
            <a:off x="1615709" y="1492251"/>
            <a:ext cx="12747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solidFill>
                  <a:srgbClr val="FF0033"/>
                </a:solidFill>
                <a:latin typeface="Tahoma" pitchFamily="34" charset="0"/>
              </a:rPr>
              <a:t>Styles</a:t>
            </a:r>
          </a:p>
        </p:txBody>
      </p:sp>
      <p:sp>
        <p:nvSpPr>
          <p:cNvPr id="71688" name="Text Box 30"/>
          <p:cNvSpPr txBox="1">
            <a:spLocks noChangeArrowheads="1"/>
          </p:cNvSpPr>
          <p:nvPr/>
        </p:nvSpPr>
        <p:spPr bwMode="auto">
          <a:xfrm>
            <a:off x="3691054" y="1522414"/>
            <a:ext cx="1217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Focus</a:t>
            </a:r>
          </a:p>
        </p:txBody>
      </p:sp>
      <p:sp>
        <p:nvSpPr>
          <p:cNvPr id="71689" name="Text Box 31"/>
          <p:cNvSpPr txBox="1">
            <a:spLocks noChangeArrowheads="1"/>
          </p:cNvSpPr>
          <p:nvPr/>
        </p:nvSpPr>
        <p:spPr bwMode="auto">
          <a:xfrm>
            <a:off x="5177847" y="1522414"/>
            <a:ext cx="12907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Speed</a:t>
            </a:r>
          </a:p>
        </p:txBody>
      </p:sp>
      <p:sp>
        <p:nvSpPr>
          <p:cNvPr id="71690" name="Text Box 32"/>
          <p:cNvSpPr txBox="1">
            <a:spLocks noChangeArrowheads="1"/>
          </p:cNvSpPr>
          <p:nvPr/>
        </p:nvSpPr>
        <p:spPr bwMode="auto">
          <a:xfrm>
            <a:off x="6655847" y="1522414"/>
            <a:ext cx="12795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Vision</a:t>
            </a:r>
          </a:p>
        </p:txBody>
      </p:sp>
      <p:sp>
        <p:nvSpPr>
          <p:cNvPr id="71691" name="Text Box 33"/>
          <p:cNvSpPr txBox="1">
            <a:spLocks noChangeArrowheads="1"/>
          </p:cNvSpPr>
          <p:nvPr/>
        </p:nvSpPr>
        <p:spPr bwMode="auto">
          <a:xfrm>
            <a:off x="8226182" y="1524001"/>
            <a:ext cx="19768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Nickname</a:t>
            </a:r>
          </a:p>
        </p:txBody>
      </p:sp>
      <p:sp>
        <p:nvSpPr>
          <p:cNvPr id="71692" name="Text Box 34"/>
          <p:cNvSpPr txBox="1">
            <a:spLocks noChangeArrowheads="1"/>
          </p:cNvSpPr>
          <p:nvPr/>
        </p:nvSpPr>
        <p:spPr bwMode="auto">
          <a:xfrm>
            <a:off x="1612779" y="1076326"/>
            <a:ext cx="3174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solidFill>
                  <a:srgbClr val="FF0033"/>
                </a:solidFill>
                <a:latin typeface="Tahoma" pitchFamily="34" charset="0"/>
              </a:rPr>
              <a:t>Mismanagement</a:t>
            </a:r>
          </a:p>
        </p:txBody>
      </p:sp>
      <p:sp>
        <p:nvSpPr>
          <p:cNvPr id="13" name="Text Box 22">
            <a:extLst>
              <a:ext uri="{FF2B5EF4-FFF2-40B4-BE49-F238E27FC236}">
                <a16:creationId xmlns:a16="http://schemas.microsoft.com/office/drawing/2014/main" id="{D4EE2D99-EB8A-4A8B-845E-6239B30A0D9B}"/>
              </a:ext>
            </a:extLst>
          </p:cNvPr>
          <p:cNvSpPr txBox="1">
            <a:spLocks noChangeArrowheads="1"/>
          </p:cNvSpPr>
          <p:nvPr/>
        </p:nvSpPr>
        <p:spPr bwMode="auto">
          <a:xfrm>
            <a:off x="1808168" y="2054225"/>
            <a:ext cx="1247457" cy="523220"/>
          </a:xfrm>
          <a:prstGeom prst="rect">
            <a:avLst/>
          </a:prstGeom>
          <a:noFill/>
          <a:ln w="9525">
            <a:noFill/>
            <a:miter lim="800000"/>
            <a:headEnd/>
            <a:tailEnd/>
          </a:ln>
          <a:effectLst/>
        </p:spPr>
        <p:txBody>
          <a:bodyPr wrap="none">
            <a:spAutoFit/>
          </a:bodyPr>
          <a:lstStyle/>
          <a:p>
            <a:pPr algn="ctr">
              <a:defRPr/>
            </a:pPr>
            <a:r>
              <a:rPr lang="en-US" sz="2800" b="1" dirty="0">
                <a:effectLst>
                  <a:outerShdw blurRad="38100" dist="38100" dir="2700000" algn="tl">
                    <a:srgbClr val="C0C0C0"/>
                  </a:outerShdw>
                </a:effectLst>
                <a:latin typeface="Tahoma" pitchFamily="34" charset="0"/>
              </a:rPr>
              <a:t>P</a:t>
            </a:r>
            <a:r>
              <a:rPr lang="en-US" sz="2800" b="1" dirty="0">
                <a:solidFill>
                  <a:srgbClr val="FF0033"/>
                </a:solidFill>
                <a:effectLst>
                  <a:outerShdw blurRad="38100" dist="38100" dir="2700000" algn="tl">
                    <a:srgbClr val="C0C0C0"/>
                  </a:outerShdw>
                </a:effectLst>
                <a:latin typeface="Tahoma" pitchFamily="34" charset="0"/>
              </a:rPr>
              <a:t>ØØØ</a:t>
            </a:r>
          </a:p>
        </p:txBody>
      </p:sp>
    </p:spTree>
    <p:extLst>
      <p:ext uri="{BB962C8B-B14F-4D97-AF65-F5344CB8AC3E}">
        <p14:creationId xmlns:p14="http://schemas.microsoft.com/office/powerpoint/2010/main" val="3594925036"/>
      </p:ext>
    </p:extLst>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043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043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043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04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436" grpId="0" autoUpdateAnimBg="0"/>
      <p:bldP spid="530437" grpId="0" autoUpdateAnimBg="0"/>
      <p:bldP spid="530438" grpId="0" autoUpdateAnimBg="0"/>
      <p:bldP spid="53043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Text Box 2"/>
          <p:cNvSpPr txBox="1">
            <a:spLocks noChangeArrowheads="1"/>
          </p:cNvSpPr>
          <p:nvPr/>
        </p:nvSpPr>
        <p:spPr bwMode="auto">
          <a:xfrm>
            <a:off x="1921861" y="1911352"/>
            <a:ext cx="7589079" cy="384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28600" indent="-228600"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a:spcBef>
                <a:spcPct val="20000"/>
              </a:spcBef>
              <a:spcAft>
                <a:spcPct val="20000"/>
              </a:spcAft>
              <a:buFontTx/>
              <a:buChar char="•"/>
            </a:pPr>
            <a:r>
              <a:rPr lang="en-US" altLang="lv-LV" dirty="0">
                <a:solidFill>
                  <a:schemeClr val="accent2"/>
                </a:solidFill>
              </a:rPr>
              <a:t>Works very hard: FISH (First In, Still Here)</a:t>
            </a:r>
          </a:p>
          <a:p>
            <a:pPr>
              <a:spcBef>
                <a:spcPct val="20000"/>
              </a:spcBef>
              <a:spcAft>
                <a:spcPct val="20000"/>
              </a:spcAft>
              <a:buFontTx/>
              <a:buChar char="•"/>
            </a:pPr>
            <a:r>
              <a:rPr lang="en-US" altLang="lv-LV" dirty="0">
                <a:solidFill>
                  <a:schemeClr val="accent2"/>
                </a:solidFill>
              </a:rPr>
              <a:t>Subordinates are go-</a:t>
            </a:r>
            <a:r>
              <a:rPr lang="en-US" altLang="lv-LV" dirty="0" err="1">
                <a:solidFill>
                  <a:schemeClr val="accent2"/>
                </a:solidFill>
              </a:rPr>
              <a:t>fors</a:t>
            </a:r>
            <a:endParaRPr lang="en-US" altLang="lv-LV" dirty="0">
              <a:solidFill>
                <a:schemeClr val="accent2"/>
              </a:solidFill>
            </a:endParaRPr>
          </a:p>
          <a:p>
            <a:pPr>
              <a:spcBef>
                <a:spcPct val="20000"/>
              </a:spcBef>
              <a:spcAft>
                <a:spcPct val="20000"/>
              </a:spcAft>
              <a:buFontTx/>
              <a:buChar char="•"/>
            </a:pPr>
            <a:r>
              <a:rPr lang="en-US" altLang="lv-LV" dirty="0">
                <a:solidFill>
                  <a:schemeClr val="accent2"/>
                </a:solidFill>
              </a:rPr>
              <a:t>Short-term planning range, short-term perspective</a:t>
            </a:r>
          </a:p>
          <a:p>
            <a:pPr>
              <a:spcBef>
                <a:spcPct val="20000"/>
              </a:spcBef>
              <a:spcAft>
                <a:spcPct val="20000"/>
              </a:spcAft>
              <a:buFontTx/>
              <a:buChar char="•"/>
            </a:pPr>
            <a:r>
              <a:rPr lang="en-US" altLang="lv-LV" dirty="0">
                <a:solidFill>
                  <a:schemeClr val="accent2"/>
                </a:solidFill>
              </a:rPr>
              <a:t>Does not train</a:t>
            </a:r>
          </a:p>
          <a:p>
            <a:pPr>
              <a:spcBef>
                <a:spcPct val="20000"/>
              </a:spcBef>
              <a:spcAft>
                <a:spcPct val="20000"/>
              </a:spcAft>
              <a:buFontTx/>
              <a:buChar char="•"/>
            </a:pPr>
            <a:r>
              <a:rPr lang="en-US" altLang="lv-LV" dirty="0">
                <a:solidFill>
                  <a:schemeClr val="accent2"/>
                </a:solidFill>
              </a:rPr>
              <a:t>Does not delegate</a:t>
            </a:r>
          </a:p>
          <a:p>
            <a:pPr>
              <a:spcBef>
                <a:spcPct val="20000"/>
              </a:spcBef>
              <a:spcAft>
                <a:spcPct val="20000"/>
              </a:spcAft>
              <a:buFontTx/>
              <a:buChar char="•"/>
            </a:pPr>
            <a:r>
              <a:rPr lang="en-US" altLang="lv-LV" dirty="0">
                <a:solidFill>
                  <a:schemeClr val="accent2"/>
                </a:solidFill>
              </a:rPr>
              <a:t>No planning, analyzing, thinking</a:t>
            </a:r>
          </a:p>
          <a:p>
            <a:pPr>
              <a:spcBef>
                <a:spcPct val="20000"/>
              </a:spcBef>
              <a:spcAft>
                <a:spcPct val="20000"/>
              </a:spcAft>
              <a:buFontTx/>
              <a:buChar char="•"/>
            </a:pPr>
            <a:r>
              <a:rPr lang="en-US" altLang="lv-LV" dirty="0">
                <a:solidFill>
                  <a:schemeClr val="accent2"/>
                </a:solidFill>
              </a:rPr>
              <a:t>Sees no opportunities nor threats</a:t>
            </a:r>
          </a:p>
          <a:p>
            <a:pPr>
              <a:spcBef>
                <a:spcPct val="20000"/>
              </a:spcBef>
              <a:spcAft>
                <a:spcPct val="20000"/>
              </a:spcAft>
              <a:buFontTx/>
              <a:buChar char="•"/>
            </a:pPr>
            <a:r>
              <a:rPr lang="en-US" altLang="lv-LV" dirty="0">
                <a:solidFill>
                  <a:schemeClr val="accent2"/>
                </a:solidFill>
              </a:rPr>
              <a:t>Busy solving today’s problems</a:t>
            </a:r>
          </a:p>
          <a:p>
            <a:pPr>
              <a:spcBef>
                <a:spcPct val="20000"/>
              </a:spcBef>
              <a:spcAft>
                <a:spcPct val="20000"/>
              </a:spcAft>
              <a:buFontTx/>
              <a:buChar char="•"/>
            </a:pPr>
            <a:r>
              <a:rPr lang="en-US" altLang="lv-LV" dirty="0">
                <a:solidFill>
                  <a:schemeClr val="accent2"/>
                </a:solidFill>
              </a:rPr>
              <a:t>No staff meetings</a:t>
            </a:r>
          </a:p>
        </p:txBody>
      </p:sp>
      <p:graphicFrame>
        <p:nvGraphicFramePr>
          <p:cNvPr id="72707" name="Object 2"/>
          <p:cNvGraphicFramePr>
            <a:graphicFrameLocks noChangeAspect="1"/>
          </p:cNvGraphicFramePr>
          <p:nvPr>
            <p:extLst>
              <p:ext uri="{D42A27DB-BD31-4B8C-83A1-F6EECF244321}">
                <p14:modId xmlns:p14="http://schemas.microsoft.com/office/powerpoint/2010/main" val="2522426524"/>
              </p:ext>
            </p:extLst>
          </p:nvPr>
        </p:nvGraphicFramePr>
        <p:xfrm>
          <a:off x="6705707" y="2781767"/>
          <a:ext cx="4211337" cy="3619033"/>
        </p:xfrm>
        <a:graphic>
          <a:graphicData uri="http://schemas.openxmlformats.org/presentationml/2006/ole">
            <mc:AlternateContent xmlns:mc="http://schemas.openxmlformats.org/markup-compatibility/2006">
              <mc:Choice xmlns:v="urn:schemas-microsoft-com:vml" Requires="v">
                <p:oleObj spid="_x0000_s5141" name="Image" r:id="rId4" imgW="4828803" imgH="5387928" progId="">
                  <p:embed/>
                </p:oleObj>
              </mc:Choice>
              <mc:Fallback>
                <p:oleObj name="Image" r:id="rId4" imgW="4828803" imgH="5387928" progId="">
                  <p:embed/>
                  <p:pic>
                    <p:nvPicPr>
                      <p:cNvPr id="72707"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5707" y="2781767"/>
                        <a:ext cx="4211337" cy="3619033"/>
                      </a:xfrm>
                      <a:prstGeom prst="rect">
                        <a:avLst/>
                      </a:prstGeom>
                      <a:noFill/>
                      <a:ln>
                        <a:noFill/>
                      </a:ln>
                      <a:effectLst/>
                      <a:extLst/>
                    </p:spPr>
                  </p:pic>
                </p:oleObj>
              </mc:Fallback>
            </mc:AlternateContent>
          </a:graphicData>
        </a:graphic>
      </p:graphicFrame>
      <p:sp>
        <p:nvSpPr>
          <p:cNvPr id="5" name="Rectangle 4">
            <a:extLst>
              <a:ext uri="{FF2B5EF4-FFF2-40B4-BE49-F238E27FC236}">
                <a16:creationId xmlns:a16="http://schemas.microsoft.com/office/drawing/2014/main" id="{A09F218F-1AD4-49F1-914A-F17844D28A50}"/>
              </a:ext>
            </a:extLst>
          </p:cNvPr>
          <p:cNvSpPr>
            <a:spLocks noChangeArrowheads="1"/>
          </p:cNvSpPr>
          <p:nvPr/>
        </p:nvSpPr>
        <p:spPr bwMode="auto">
          <a:xfrm>
            <a:off x="3910478" y="1267062"/>
            <a:ext cx="3876675" cy="427037"/>
          </a:xfrm>
          <a:prstGeom prst="rect">
            <a:avLst/>
          </a:prstGeom>
          <a:noFill/>
          <a:ln w="12700" algn="ctr">
            <a:noFill/>
            <a:miter lim="800000"/>
            <a:headEnd type="none" w="sm" len="sm"/>
            <a:tailEnd type="none" w="sm" len="sm"/>
          </a:ln>
          <a:effectLst/>
        </p:spPr>
        <p:txBody>
          <a:bodyPr wrap="none">
            <a:spAutoFit/>
          </a:bodyPr>
          <a:lstStyle/>
          <a:p>
            <a:pPr algn="ctr">
              <a:defRPr/>
            </a:pPr>
            <a:r>
              <a:rPr lang="en-US" sz="2200" b="1" dirty="0">
                <a:solidFill>
                  <a:srgbClr val="FF0033"/>
                </a:solidFill>
                <a:effectLst>
                  <a:outerShdw blurRad="38100" dist="38100" dir="2700000" algn="tl">
                    <a:srgbClr val="C0C0C0"/>
                  </a:outerShdw>
                </a:effectLst>
              </a:rPr>
              <a:t>P</a:t>
            </a:r>
            <a:r>
              <a:rPr lang="en-US" sz="2200" b="1" dirty="0">
                <a:solidFill>
                  <a:srgbClr val="FF0000"/>
                </a:solidFill>
                <a:effectLst>
                  <a:outerShdw blurRad="38100" dist="38100" dir="2700000" algn="tl">
                    <a:srgbClr val="C0C0C0"/>
                  </a:outerShdw>
                </a:effectLst>
              </a:rPr>
              <a:t>ØØØ  </a:t>
            </a:r>
            <a:r>
              <a:rPr lang="en-US" sz="2200" b="1" dirty="0">
                <a:solidFill>
                  <a:srgbClr val="FF0033"/>
                </a:solidFill>
                <a:effectLst>
                  <a:outerShdw blurRad="38100" dist="38100" dir="2700000" algn="tl">
                    <a:srgbClr val="C0C0C0"/>
                  </a:outerShdw>
                </a:effectLst>
              </a:rPr>
              <a:t>THE LONE RANGER</a:t>
            </a:r>
          </a:p>
        </p:txBody>
      </p:sp>
    </p:spTree>
    <p:extLst>
      <p:ext uri="{BB962C8B-B14F-4D97-AF65-F5344CB8AC3E}">
        <p14:creationId xmlns:p14="http://schemas.microsoft.com/office/powerpoint/2010/main" val="3383024092"/>
      </p:ext>
    </p:extLst>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941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941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2941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2941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2941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29410">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29410">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29410">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5294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85120" y="278448"/>
            <a:ext cx="7092002" cy="265276"/>
          </a:xfrm>
        </p:spPr>
        <p:txBody>
          <a:bodyPr>
            <a:noAutofit/>
          </a:bodyPr>
          <a:lstStyle/>
          <a:p>
            <a:r>
              <a:rPr lang="en-US" dirty="0"/>
              <a:t>Prescriptive </a:t>
            </a:r>
            <a:r>
              <a:rPr lang="en-US" dirty="0" err="1"/>
              <a:t>Paei</a:t>
            </a:r>
            <a:r>
              <a:rPr lang="en-US" dirty="0"/>
              <a:t> - Producers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467743428"/>
              </p:ext>
            </p:extLst>
          </p:nvPr>
        </p:nvGraphicFramePr>
        <p:xfrm>
          <a:off x="923988" y="1265116"/>
          <a:ext cx="10639362" cy="4328160"/>
        </p:xfrm>
        <a:graphic>
          <a:graphicData uri="http://schemas.openxmlformats.org/drawingml/2006/table">
            <a:tbl>
              <a:tblPr firstRow="1" bandRow="1">
                <a:tableStyleId>{ED083AE6-46FA-4A59-8FB0-9F97EB10719F}</a:tableStyleId>
              </a:tblPr>
              <a:tblGrid>
                <a:gridCol w="1685862">
                  <a:extLst>
                    <a:ext uri="{9D8B030D-6E8A-4147-A177-3AD203B41FA5}">
                      <a16:colId xmlns:a16="http://schemas.microsoft.com/office/drawing/2014/main" val="20000"/>
                    </a:ext>
                  </a:extLst>
                </a:gridCol>
                <a:gridCol w="2968176">
                  <a:extLst>
                    <a:ext uri="{9D8B030D-6E8A-4147-A177-3AD203B41FA5}">
                      <a16:colId xmlns:a16="http://schemas.microsoft.com/office/drawing/2014/main" val="20001"/>
                    </a:ext>
                  </a:extLst>
                </a:gridCol>
                <a:gridCol w="412781">
                  <a:extLst>
                    <a:ext uri="{9D8B030D-6E8A-4147-A177-3AD203B41FA5}">
                      <a16:colId xmlns:a16="http://schemas.microsoft.com/office/drawing/2014/main" val="20002"/>
                    </a:ext>
                  </a:extLst>
                </a:gridCol>
                <a:gridCol w="2146462">
                  <a:extLst>
                    <a:ext uri="{9D8B030D-6E8A-4147-A177-3AD203B41FA5}">
                      <a16:colId xmlns:a16="http://schemas.microsoft.com/office/drawing/2014/main" val="20003"/>
                    </a:ext>
                  </a:extLst>
                </a:gridCol>
                <a:gridCol w="3426081">
                  <a:extLst>
                    <a:ext uri="{9D8B030D-6E8A-4147-A177-3AD203B41FA5}">
                      <a16:colId xmlns:a16="http://schemas.microsoft.com/office/drawing/2014/main" val="20004"/>
                    </a:ext>
                  </a:extLst>
                </a:gridCol>
              </a:tblGrid>
              <a:tr h="370840">
                <a:tc>
                  <a:txBody>
                    <a:bodyPr/>
                    <a:lstStyle/>
                    <a:p>
                      <a:pPr algn="ctr"/>
                      <a:r>
                        <a:rPr lang="en-US" sz="2000" dirty="0"/>
                        <a:t>Style/Traits</a:t>
                      </a:r>
                      <a:endParaRPr lang="en-US" sz="2000" dirty="0">
                        <a:solidFill>
                          <a:srgbClr val="000000"/>
                        </a:solidFill>
                      </a:endParaRPr>
                    </a:p>
                  </a:txBody>
                  <a:tcPr/>
                </a:tc>
                <a:tc>
                  <a:txBody>
                    <a:bodyPr/>
                    <a:lstStyle/>
                    <a:p>
                      <a:pPr algn="ctr"/>
                      <a:endParaRPr lang="en-US" sz="2000" dirty="0">
                        <a:solidFill>
                          <a:srgbClr val="000000"/>
                        </a:solidFill>
                      </a:endParaRPr>
                    </a:p>
                  </a:txBody>
                  <a:tcPr/>
                </a:tc>
                <a:tc>
                  <a:txBody>
                    <a:bodyPr/>
                    <a:lstStyle/>
                    <a:p>
                      <a:pPr algn="ctr"/>
                      <a:endParaRPr lang="en-US" sz="2000" dirty="0">
                        <a:solidFill>
                          <a:srgbClr val="00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Style/Traits</a:t>
                      </a:r>
                      <a:endParaRPr lang="en-US" sz="2000" dirty="0">
                        <a:solidFill>
                          <a:srgbClr val="000000"/>
                        </a:solidFill>
                      </a:endParaRPr>
                    </a:p>
                  </a:txBody>
                  <a:tcPr/>
                </a:tc>
                <a:tc>
                  <a:txBody>
                    <a:bodyPr/>
                    <a:lstStyle/>
                    <a:p>
                      <a:pPr algn="ctr"/>
                      <a:endParaRPr lang="en-US" sz="2000" dirty="0">
                        <a:solidFill>
                          <a:srgbClr val="000000"/>
                        </a:solidFill>
                      </a:endParaRPr>
                    </a:p>
                  </a:txBody>
                  <a:tcPr/>
                </a:tc>
                <a:extLst>
                  <a:ext uri="{0D108BD9-81ED-4DB2-BD59-A6C34878D82A}">
                    <a16:rowId xmlns:a16="http://schemas.microsoft.com/office/drawing/2014/main" val="10000"/>
                  </a:ext>
                </a:extLst>
              </a:tr>
              <a:tr h="370840">
                <a:tc>
                  <a:txBody>
                    <a:bodyPr/>
                    <a:lstStyle/>
                    <a:p>
                      <a:pPr algn="ctr"/>
                      <a:r>
                        <a:rPr lang="en-US" sz="2000" dirty="0"/>
                        <a:t>Teamwork</a:t>
                      </a:r>
                    </a:p>
                  </a:txBody>
                  <a:tcPr anchor="ctr"/>
                </a:tc>
                <a:tc>
                  <a:txBody>
                    <a:bodyPr/>
                    <a:lstStyle/>
                    <a:p>
                      <a:r>
                        <a:rPr lang="en-US" sz="2000" dirty="0"/>
                        <a:t>Telling people what to do does not mean you have a team</a:t>
                      </a:r>
                    </a:p>
                  </a:txBody>
                  <a:tcPr/>
                </a:tc>
                <a:tc>
                  <a:txBody>
                    <a:bodyPr/>
                    <a:lstStyle/>
                    <a:p>
                      <a:endParaRPr lang="en-US" sz="2000"/>
                    </a:p>
                  </a:txBody>
                  <a:tcPr anchor="ctr"/>
                </a:tc>
                <a:tc>
                  <a:txBody>
                    <a:bodyPr/>
                    <a:lstStyle/>
                    <a:p>
                      <a:pPr algn="ctr"/>
                      <a:r>
                        <a:rPr lang="en-US" sz="2000" dirty="0"/>
                        <a:t>Gathering Support</a:t>
                      </a:r>
                    </a:p>
                  </a:txBody>
                  <a:tcPr anchor="ctr"/>
                </a:tc>
                <a:tc>
                  <a:txBody>
                    <a:bodyPr/>
                    <a:lstStyle/>
                    <a:p>
                      <a:r>
                        <a:rPr lang="en-US" sz="2000" dirty="0"/>
                        <a:t>Don’t make unilateral decisions. Try to build agreement</a:t>
                      </a:r>
                    </a:p>
                  </a:txBody>
                  <a:tcPr/>
                </a:tc>
                <a:extLst>
                  <a:ext uri="{0D108BD9-81ED-4DB2-BD59-A6C34878D82A}">
                    <a16:rowId xmlns:a16="http://schemas.microsoft.com/office/drawing/2014/main" val="10001"/>
                  </a:ext>
                </a:extLst>
              </a:tr>
              <a:tr h="370840">
                <a:tc>
                  <a:txBody>
                    <a:bodyPr/>
                    <a:lstStyle/>
                    <a:p>
                      <a:pPr algn="ctr"/>
                      <a:r>
                        <a:rPr lang="en-US" sz="2000" dirty="0"/>
                        <a:t>Meetings</a:t>
                      </a:r>
                    </a:p>
                  </a:txBody>
                  <a:tcPr anchor="ctr"/>
                </a:tc>
                <a:tc>
                  <a:txBody>
                    <a:bodyPr/>
                    <a:lstStyle/>
                    <a:p>
                      <a:r>
                        <a:rPr lang="en-US" sz="2000" dirty="0"/>
                        <a:t>Not having meetings forces people to have meetings in the corridors</a:t>
                      </a:r>
                    </a:p>
                  </a:txBody>
                  <a:tcPr/>
                </a:tc>
                <a:tc>
                  <a:txBody>
                    <a:bodyPr/>
                    <a:lstStyle/>
                    <a:p>
                      <a:endParaRPr lang="en-US" sz="2000"/>
                    </a:p>
                  </a:txBody>
                  <a:tcPr anchor="ctr"/>
                </a:tc>
                <a:tc>
                  <a:txBody>
                    <a:bodyPr/>
                    <a:lstStyle/>
                    <a:p>
                      <a:pPr algn="ctr"/>
                      <a:r>
                        <a:rPr lang="en-US" sz="2000" dirty="0"/>
                        <a:t>Seeking Agreement (1)</a:t>
                      </a:r>
                    </a:p>
                  </a:txBody>
                  <a:tcPr anchor="ctr"/>
                </a:tc>
                <a:tc>
                  <a:txBody>
                    <a:bodyPr/>
                    <a:lstStyle/>
                    <a:p>
                      <a:r>
                        <a:rPr lang="en-US" sz="2000" dirty="0"/>
                        <a:t>There is much to learn from people who discuss problems rather than jump to fix them the quickest way they can</a:t>
                      </a:r>
                    </a:p>
                  </a:txBody>
                  <a:tcPr/>
                </a:tc>
                <a:extLst>
                  <a:ext uri="{0D108BD9-81ED-4DB2-BD59-A6C34878D82A}">
                    <a16:rowId xmlns:a16="http://schemas.microsoft.com/office/drawing/2014/main" val="2417326463"/>
                  </a:ext>
                </a:extLst>
              </a:tr>
              <a:tr h="370840">
                <a:tc>
                  <a:txBody>
                    <a:bodyPr/>
                    <a:lstStyle/>
                    <a:p>
                      <a:pPr algn="ctr"/>
                      <a:r>
                        <a:rPr lang="en-US" sz="2000" dirty="0"/>
                        <a:t>Listening</a:t>
                      </a:r>
                    </a:p>
                  </a:txBody>
                  <a:tcPr anchor="ctr"/>
                </a:tc>
                <a:tc>
                  <a:txBody>
                    <a:bodyPr/>
                    <a:lstStyle/>
                    <a:p>
                      <a:r>
                        <a:rPr lang="en-US" sz="2000" dirty="0"/>
                        <a:t>Don’t tell them,</a:t>
                      </a:r>
                      <a:r>
                        <a:rPr lang="en-US" sz="2000" baseline="0" dirty="0"/>
                        <a:t> “Call me when you finish.” To have a team, you have to follow along</a:t>
                      </a:r>
                      <a:endParaRPr lang="en-US" sz="2000" dirty="0"/>
                    </a:p>
                  </a:txBody>
                  <a:tcPr/>
                </a:tc>
                <a:tc>
                  <a:txBody>
                    <a:bodyPr/>
                    <a:lstStyle/>
                    <a:p>
                      <a:endParaRPr lang="en-US" sz="2000"/>
                    </a:p>
                  </a:txBody>
                  <a:tcPr anchor="ctr"/>
                </a:tc>
                <a:tc>
                  <a:txBody>
                    <a:bodyPr/>
                    <a:lstStyle/>
                    <a:p>
                      <a:pPr algn="ctr"/>
                      <a:r>
                        <a:rPr lang="en-US" sz="2000" dirty="0"/>
                        <a:t>Seeking Agreement (2)</a:t>
                      </a:r>
                    </a:p>
                  </a:txBody>
                  <a:tcPr anchor="ctr"/>
                </a:tc>
                <a:tc>
                  <a:txBody>
                    <a:bodyPr/>
                    <a:lstStyle/>
                    <a:p>
                      <a:r>
                        <a:rPr lang="en-US" sz="2000" dirty="0"/>
                        <a:t>Coming from others “Yes” does not always mean yes; “no” does not always mean no</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28043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48058" y="148876"/>
            <a:ext cx="7465271" cy="409179"/>
          </a:xfrm>
        </p:spPr>
        <p:txBody>
          <a:bodyPr>
            <a:noAutofit/>
          </a:bodyPr>
          <a:lstStyle/>
          <a:p>
            <a:r>
              <a:rPr lang="en-US" sz="3200" dirty="0"/>
              <a:t>Prescriptive </a:t>
            </a:r>
            <a:r>
              <a:rPr lang="en-US" sz="3200" dirty="0" err="1"/>
              <a:t>Paei</a:t>
            </a:r>
            <a:r>
              <a:rPr lang="en-US" sz="3200" dirty="0"/>
              <a:t> - Producers</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666489245"/>
              </p:ext>
            </p:extLst>
          </p:nvPr>
        </p:nvGraphicFramePr>
        <p:xfrm>
          <a:off x="529253" y="1253171"/>
          <a:ext cx="10972800" cy="3413760"/>
        </p:xfrm>
        <a:graphic>
          <a:graphicData uri="http://schemas.openxmlformats.org/drawingml/2006/table">
            <a:tbl>
              <a:tblPr firstRow="1" bandRow="1">
                <a:tableStyleId>{ED083AE6-46FA-4A59-8FB0-9F97EB10719F}</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53727">
                  <a:extLst>
                    <a:ext uri="{9D8B030D-6E8A-4147-A177-3AD203B41FA5}">
                      <a16:colId xmlns:a16="http://schemas.microsoft.com/office/drawing/2014/main" val="20002"/>
                    </a:ext>
                  </a:extLst>
                </a:gridCol>
                <a:gridCol w="1866900">
                  <a:extLst>
                    <a:ext uri="{9D8B030D-6E8A-4147-A177-3AD203B41FA5}">
                      <a16:colId xmlns:a16="http://schemas.microsoft.com/office/drawing/2014/main" val="20003"/>
                    </a:ext>
                  </a:extLst>
                </a:gridCol>
                <a:gridCol w="4263053">
                  <a:extLst>
                    <a:ext uri="{9D8B030D-6E8A-4147-A177-3AD203B41FA5}">
                      <a16:colId xmlns:a16="http://schemas.microsoft.com/office/drawing/2014/main" val="20004"/>
                    </a:ext>
                  </a:extLst>
                </a:gridCol>
              </a:tblGrid>
              <a:tr h="370840">
                <a:tc>
                  <a:txBody>
                    <a:bodyPr/>
                    <a:lstStyle/>
                    <a:p>
                      <a:pPr algn="ctr"/>
                      <a:r>
                        <a:rPr lang="en-US" sz="2000" dirty="0"/>
                        <a:t>Style/Traits</a:t>
                      </a:r>
                      <a:endParaRPr lang="en-US" sz="2000" dirty="0">
                        <a:solidFill>
                          <a:srgbClr val="000000"/>
                        </a:solidFill>
                      </a:endParaRPr>
                    </a:p>
                  </a:txBody>
                  <a:tcPr/>
                </a:tc>
                <a:tc>
                  <a:txBody>
                    <a:bodyPr/>
                    <a:lstStyle/>
                    <a:p>
                      <a:pPr algn="ctr"/>
                      <a:endParaRPr lang="en-US" sz="2000" dirty="0">
                        <a:solidFill>
                          <a:srgbClr val="000000"/>
                        </a:solidFill>
                      </a:endParaRPr>
                    </a:p>
                  </a:txBody>
                  <a:tcPr/>
                </a:tc>
                <a:tc>
                  <a:txBody>
                    <a:bodyPr/>
                    <a:lstStyle/>
                    <a:p>
                      <a:pPr algn="ctr"/>
                      <a:endParaRPr lang="en-US" sz="2000" dirty="0">
                        <a:solidFill>
                          <a:srgbClr val="00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Style/Traits</a:t>
                      </a:r>
                      <a:endParaRPr lang="en-US" sz="2000" dirty="0">
                        <a:solidFill>
                          <a:srgbClr val="000000"/>
                        </a:solidFill>
                      </a:endParaRPr>
                    </a:p>
                  </a:txBody>
                  <a:tcPr/>
                </a:tc>
                <a:tc>
                  <a:txBody>
                    <a:bodyPr/>
                    <a:lstStyle/>
                    <a:p>
                      <a:pPr algn="ctr"/>
                      <a:endParaRPr lang="en-US" sz="2000" dirty="0">
                        <a:solidFill>
                          <a:srgbClr val="000000"/>
                        </a:solidFill>
                      </a:endParaRPr>
                    </a:p>
                  </a:txBody>
                  <a:tcPr/>
                </a:tc>
                <a:extLst>
                  <a:ext uri="{0D108BD9-81ED-4DB2-BD59-A6C34878D82A}">
                    <a16:rowId xmlns:a16="http://schemas.microsoft.com/office/drawing/2014/main" val="10000"/>
                  </a:ext>
                </a:extLst>
              </a:tr>
              <a:tr h="370840">
                <a:tc>
                  <a:txBody>
                    <a:bodyPr/>
                    <a:lstStyle/>
                    <a:p>
                      <a:pPr algn="ctr"/>
                      <a:r>
                        <a:rPr lang="en-US" sz="2000" dirty="0"/>
                        <a:t>Getting Along</a:t>
                      </a:r>
                    </a:p>
                  </a:txBody>
                  <a:tcPr anchor="ctr"/>
                </a:tc>
                <a:tc>
                  <a:txBody>
                    <a:bodyPr/>
                    <a:lstStyle/>
                    <a:p>
                      <a:r>
                        <a:rPr lang="en-US" sz="2000" dirty="0"/>
                        <a:t>Slow down for others to catch up</a:t>
                      </a:r>
                    </a:p>
                  </a:txBody>
                  <a:tcPr/>
                </a:tc>
                <a:tc>
                  <a:txBody>
                    <a:bodyPr/>
                    <a:lstStyle/>
                    <a:p>
                      <a:endParaRPr lang="en-US" sz="2000" dirty="0"/>
                    </a:p>
                  </a:txBody>
                  <a:tcPr/>
                </a:tc>
                <a:tc>
                  <a:txBody>
                    <a:bodyPr/>
                    <a:lstStyle/>
                    <a:p>
                      <a:pPr algn="ctr"/>
                      <a:r>
                        <a:rPr lang="en-US" sz="2000" dirty="0"/>
                        <a:t>Hiring (1)</a:t>
                      </a:r>
                    </a:p>
                  </a:txBody>
                  <a:tcPr anchor="ctr"/>
                </a:tc>
                <a:tc>
                  <a:txBody>
                    <a:bodyPr/>
                    <a:lstStyle/>
                    <a:p>
                      <a:r>
                        <a:rPr lang="en-US" sz="2000" dirty="0"/>
                        <a:t>Do not hire and promote people because of their</a:t>
                      </a:r>
                      <a:r>
                        <a:rPr lang="en-US" sz="2000" baseline="0" dirty="0"/>
                        <a:t> performance – in spite of their personality</a:t>
                      </a:r>
                      <a:endParaRPr lang="en-US" sz="2000" dirty="0"/>
                    </a:p>
                  </a:txBody>
                  <a:tcPr/>
                </a:tc>
                <a:extLst>
                  <a:ext uri="{0D108BD9-81ED-4DB2-BD59-A6C34878D82A}">
                    <a16:rowId xmlns:a16="http://schemas.microsoft.com/office/drawing/2014/main" val="10001"/>
                  </a:ext>
                </a:extLst>
              </a:tr>
              <a:tr h="370840">
                <a:tc>
                  <a:txBody>
                    <a:bodyPr/>
                    <a:lstStyle/>
                    <a:p>
                      <a:pPr algn="ctr"/>
                      <a:r>
                        <a:rPr lang="en-US" sz="2000" dirty="0"/>
                        <a:t>Controlling Emotions</a:t>
                      </a:r>
                    </a:p>
                  </a:txBody>
                  <a:tcPr anchor="ctr"/>
                </a:tc>
                <a:tc>
                  <a:txBody>
                    <a:bodyPr/>
                    <a:lstStyle/>
                    <a:p>
                      <a:r>
                        <a:rPr lang="en-US" sz="2000" dirty="0"/>
                        <a:t>When the gut is engaged, the mouth should stay closed</a:t>
                      </a:r>
                    </a:p>
                  </a:txBody>
                  <a:tcPr/>
                </a:tc>
                <a:tc>
                  <a:txBody>
                    <a:bodyPr/>
                    <a:lstStyle/>
                    <a:p>
                      <a:endParaRPr lang="en-US" sz="2000" dirty="0"/>
                    </a:p>
                  </a:txBody>
                  <a:tcPr/>
                </a:tc>
                <a:tc>
                  <a:txBody>
                    <a:bodyPr/>
                    <a:lstStyle/>
                    <a:p>
                      <a:pPr algn="ctr"/>
                      <a:r>
                        <a:rPr lang="en-US" sz="2000" dirty="0"/>
                        <a:t>Hiring (2)</a:t>
                      </a:r>
                    </a:p>
                  </a:txBody>
                  <a:tcPr anchor="ctr"/>
                </a:tc>
                <a:tc>
                  <a:txBody>
                    <a:bodyPr/>
                    <a:lstStyle/>
                    <a:p>
                      <a:r>
                        <a:rPr lang="en-US" sz="2000" dirty="0"/>
                        <a:t>Surrounding yourself with errand boys and gofers</a:t>
                      </a:r>
                      <a:r>
                        <a:rPr lang="en-US" sz="2000" baseline="0" dirty="0"/>
                        <a:t> is never going to free you</a:t>
                      </a:r>
                      <a:endParaRPr lang="en-US" sz="2000" dirty="0"/>
                    </a:p>
                  </a:txBody>
                  <a:tcPr/>
                </a:tc>
                <a:extLst>
                  <a:ext uri="{0D108BD9-81ED-4DB2-BD59-A6C34878D82A}">
                    <a16:rowId xmlns:a16="http://schemas.microsoft.com/office/drawing/2014/main" val="1914333706"/>
                  </a:ext>
                </a:extLst>
              </a:tr>
              <a:tr h="370840">
                <a:tc>
                  <a:txBody>
                    <a:bodyPr/>
                    <a:lstStyle/>
                    <a:p>
                      <a:endParaRPr lang="en-US" dirty="0"/>
                    </a:p>
                  </a:txBody>
                  <a:tcPr anchor="ctr"/>
                </a:tc>
                <a:tc>
                  <a:txBody>
                    <a:bodyPr/>
                    <a:lstStyle/>
                    <a:p>
                      <a:endParaRPr lang="en-US" dirty="0"/>
                    </a:p>
                  </a:txBody>
                  <a:tcPr/>
                </a:tc>
                <a:tc>
                  <a:txBody>
                    <a:bodyPr/>
                    <a:lstStyle/>
                    <a:p>
                      <a:endParaRPr lang="en-US" sz="2000" dirty="0"/>
                    </a:p>
                  </a:txBody>
                  <a:tcPr/>
                </a:tc>
                <a:tc>
                  <a:txBody>
                    <a:bodyPr/>
                    <a:lstStyle/>
                    <a:p>
                      <a:pPr algn="ctr"/>
                      <a:r>
                        <a:rPr lang="en-US" sz="2000" dirty="0"/>
                        <a:t>Hiring (3)</a:t>
                      </a:r>
                    </a:p>
                  </a:txBody>
                  <a:tcPr anchor="ctr"/>
                </a:tc>
                <a:tc>
                  <a:txBody>
                    <a:bodyPr/>
                    <a:lstStyle/>
                    <a:p>
                      <a:r>
                        <a:rPr lang="en-US" sz="2000" dirty="0"/>
                        <a:t>Hire someone who</a:t>
                      </a:r>
                      <a:r>
                        <a:rPr lang="en-US" sz="2000" baseline="0" dirty="0"/>
                        <a:t> will also train for you</a:t>
                      </a:r>
                      <a:endParaRPr lang="en-US" sz="20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55663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332504" y="330178"/>
            <a:ext cx="7759244" cy="265276"/>
          </a:xfrm>
        </p:spPr>
        <p:txBody>
          <a:bodyPr>
            <a:noAutofit/>
          </a:bodyPr>
          <a:lstStyle/>
          <a:p>
            <a:r>
              <a:rPr lang="en-US" dirty="0"/>
              <a:t>Prescriptive </a:t>
            </a:r>
            <a:r>
              <a:rPr lang="en-US" dirty="0" err="1"/>
              <a:t>Paei</a:t>
            </a:r>
            <a:r>
              <a:rPr lang="en-US" dirty="0"/>
              <a:t> - Producers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844239049"/>
              </p:ext>
            </p:extLst>
          </p:nvPr>
        </p:nvGraphicFramePr>
        <p:xfrm>
          <a:off x="651510" y="1136716"/>
          <a:ext cx="11068049" cy="5029200"/>
        </p:xfrm>
        <a:graphic>
          <a:graphicData uri="http://schemas.openxmlformats.org/drawingml/2006/table">
            <a:tbl>
              <a:tblPr firstRow="1" bandRow="1">
                <a:tableStyleId>{ED083AE6-46FA-4A59-8FB0-9F97EB10719F}</a:tableStyleId>
              </a:tblPr>
              <a:tblGrid>
                <a:gridCol w="1905000">
                  <a:extLst>
                    <a:ext uri="{9D8B030D-6E8A-4147-A177-3AD203B41FA5}">
                      <a16:colId xmlns:a16="http://schemas.microsoft.com/office/drawing/2014/main" val="20000"/>
                    </a:ext>
                  </a:extLst>
                </a:gridCol>
                <a:gridCol w="30861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3486149">
                  <a:extLst>
                    <a:ext uri="{9D8B030D-6E8A-4147-A177-3AD203B41FA5}">
                      <a16:colId xmlns:a16="http://schemas.microsoft.com/office/drawing/2014/main" val="20004"/>
                    </a:ext>
                  </a:extLst>
                </a:gridCol>
              </a:tblGrid>
              <a:tr h="370840">
                <a:tc>
                  <a:txBody>
                    <a:bodyPr/>
                    <a:lstStyle/>
                    <a:p>
                      <a:pPr algn="ctr"/>
                      <a:r>
                        <a:rPr lang="en-US" sz="2000" dirty="0"/>
                        <a:t>Style/Traits</a:t>
                      </a:r>
                      <a:endParaRPr lang="en-US" sz="2000" dirty="0">
                        <a:solidFill>
                          <a:srgbClr val="000000"/>
                        </a:solidFill>
                      </a:endParaRPr>
                    </a:p>
                  </a:txBody>
                  <a:tcPr/>
                </a:tc>
                <a:tc>
                  <a:txBody>
                    <a:bodyPr/>
                    <a:lstStyle/>
                    <a:p>
                      <a:pPr algn="ctr"/>
                      <a:endParaRPr lang="en-US" sz="2000" dirty="0">
                        <a:solidFill>
                          <a:srgbClr val="000000"/>
                        </a:solidFill>
                      </a:endParaRPr>
                    </a:p>
                  </a:txBody>
                  <a:tcPr/>
                </a:tc>
                <a:tc>
                  <a:txBody>
                    <a:bodyPr/>
                    <a:lstStyle/>
                    <a:p>
                      <a:pPr algn="ctr"/>
                      <a:endParaRPr lang="en-US" sz="2000" dirty="0">
                        <a:solidFill>
                          <a:srgbClr val="000000"/>
                        </a:solidFill>
                      </a:endParaRPr>
                    </a:p>
                  </a:txBody>
                  <a:tcPr/>
                </a:tc>
                <a:tc>
                  <a:txBody>
                    <a:bodyPr/>
                    <a:lstStyle/>
                    <a:p>
                      <a:pPr algn="ctr"/>
                      <a:r>
                        <a:rPr lang="en-US" sz="2000" dirty="0"/>
                        <a:t>Style/Traits</a:t>
                      </a:r>
                      <a:endParaRPr lang="en-US" sz="2000" dirty="0">
                        <a:solidFill>
                          <a:srgbClr val="000000"/>
                        </a:solidFill>
                      </a:endParaRPr>
                    </a:p>
                  </a:txBody>
                  <a:tcPr/>
                </a:tc>
                <a:tc>
                  <a:txBody>
                    <a:bodyPr/>
                    <a:lstStyle/>
                    <a:p>
                      <a:pPr algn="ctr"/>
                      <a:endParaRPr lang="en-US" sz="2000" dirty="0">
                        <a:solidFill>
                          <a:srgbClr val="000000"/>
                        </a:solidFill>
                      </a:endParaRPr>
                    </a:p>
                  </a:txBody>
                  <a:tcPr/>
                </a:tc>
                <a:extLst>
                  <a:ext uri="{0D108BD9-81ED-4DB2-BD59-A6C34878D82A}">
                    <a16:rowId xmlns:a16="http://schemas.microsoft.com/office/drawing/2014/main" val="10000"/>
                  </a:ext>
                </a:extLst>
              </a:tr>
              <a:tr h="370840">
                <a:tc>
                  <a:txBody>
                    <a:bodyPr/>
                    <a:lstStyle/>
                    <a:p>
                      <a:pPr algn="ctr"/>
                      <a:r>
                        <a:rPr lang="en-US" sz="2000" dirty="0"/>
                        <a:t>Subordinates Arriving and leaving Work</a:t>
                      </a:r>
                    </a:p>
                  </a:txBody>
                  <a:tcPr anchor="ctr"/>
                </a:tc>
                <a:tc>
                  <a:txBody>
                    <a:bodyPr/>
                    <a:lstStyle/>
                    <a:p>
                      <a:r>
                        <a:rPr lang="en-US" sz="2000" dirty="0"/>
                        <a:t>Coming to work first and leaving last does not mean they are getting a</a:t>
                      </a:r>
                      <a:r>
                        <a:rPr lang="en-US" sz="2000" baseline="0" dirty="0"/>
                        <a:t> lot accomplished</a:t>
                      </a:r>
                      <a:endParaRPr lang="en-US" sz="2000" dirty="0"/>
                    </a:p>
                  </a:txBody>
                  <a:tcPr/>
                </a:tc>
                <a:tc>
                  <a:txBody>
                    <a:bodyPr/>
                    <a:lstStyle/>
                    <a:p>
                      <a:endParaRPr lang="en-US" sz="2000" dirty="0"/>
                    </a:p>
                  </a:txBody>
                  <a:tcPr/>
                </a:tc>
                <a:tc>
                  <a:txBody>
                    <a:bodyPr/>
                    <a:lstStyle/>
                    <a:p>
                      <a:pPr algn="ctr"/>
                      <a:r>
                        <a:rPr lang="en-US" sz="2000" dirty="0"/>
                        <a:t>Staff Relations (2)</a:t>
                      </a:r>
                    </a:p>
                  </a:txBody>
                  <a:tcPr anchor="ctr"/>
                </a:tc>
                <a:tc>
                  <a:txBody>
                    <a:bodyPr/>
                    <a:lstStyle/>
                    <a:p>
                      <a:r>
                        <a:rPr lang="en-US" sz="2000" dirty="0"/>
                        <a:t>It helps no-one, especially you to say, “I love to manage. It’s people I can’t stand!” People come with management</a:t>
                      </a:r>
                    </a:p>
                  </a:txBody>
                  <a:tcPr/>
                </a:tc>
                <a:extLst>
                  <a:ext uri="{0D108BD9-81ED-4DB2-BD59-A6C34878D82A}">
                    <a16:rowId xmlns:a16="http://schemas.microsoft.com/office/drawing/2014/main" val="10001"/>
                  </a:ext>
                </a:extLst>
              </a:tr>
              <a:tr h="370840">
                <a:tc>
                  <a:txBody>
                    <a:bodyPr/>
                    <a:lstStyle/>
                    <a:p>
                      <a:pPr algn="ctr"/>
                      <a:r>
                        <a:rPr lang="en-US" sz="2000" dirty="0"/>
                        <a:t>Meetings vs. Memos</a:t>
                      </a:r>
                    </a:p>
                  </a:txBody>
                  <a:tcPr anchor="ctr"/>
                </a:tc>
                <a:tc>
                  <a:txBody>
                    <a:bodyPr/>
                    <a:lstStyle/>
                    <a:p>
                      <a:r>
                        <a:rPr lang="en-US" sz="2000" dirty="0"/>
                        <a:t>Meetings do have a purpose</a:t>
                      </a:r>
                    </a:p>
                  </a:txBody>
                  <a:tcPr/>
                </a:tc>
                <a:tc>
                  <a:txBody>
                    <a:bodyPr/>
                    <a:lstStyle/>
                    <a:p>
                      <a:endParaRPr lang="en-US" sz="2000" dirty="0"/>
                    </a:p>
                  </a:txBody>
                  <a:tcPr/>
                </a:tc>
                <a:tc>
                  <a:txBody>
                    <a:bodyPr/>
                    <a:lstStyle/>
                    <a:p>
                      <a:pPr algn="ctr"/>
                      <a:r>
                        <a:rPr lang="en-US" sz="2000" dirty="0"/>
                        <a:t>Popularity</a:t>
                      </a:r>
                    </a:p>
                  </a:txBody>
                  <a:tcPr anchor="ctr"/>
                </a:tc>
                <a:tc>
                  <a:txBody>
                    <a:bodyPr/>
                    <a:lstStyle/>
                    <a:p>
                      <a:r>
                        <a:rPr lang="en-US" sz="2000" dirty="0"/>
                        <a:t>Being popular</a:t>
                      </a:r>
                      <a:r>
                        <a:rPr lang="en-US" sz="2000" baseline="0" dirty="0"/>
                        <a:t> can improve your effectiveness later on</a:t>
                      </a:r>
                      <a:endParaRPr lang="en-US" sz="2000" dirty="0"/>
                    </a:p>
                  </a:txBody>
                  <a:tcPr/>
                </a:tc>
                <a:extLst>
                  <a:ext uri="{0D108BD9-81ED-4DB2-BD59-A6C34878D82A}">
                    <a16:rowId xmlns:a16="http://schemas.microsoft.com/office/drawing/2014/main" val="10002"/>
                  </a:ext>
                </a:extLst>
              </a:tr>
              <a:tr h="370840">
                <a:tc>
                  <a:txBody>
                    <a:bodyPr/>
                    <a:lstStyle/>
                    <a:p>
                      <a:pPr algn="ctr"/>
                      <a:r>
                        <a:rPr lang="en-US" sz="2000" dirty="0"/>
                        <a:t>Staff Relations (1)</a:t>
                      </a:r>
                    </a:p>
                  </a:txBody>
                  <a:tcPr anchor="ctr"/>
                </a:tc>
                <a:tc>
                  <a:txBody>
                    <a:bodyPr/>
                    <a:lstStyle/>
                    <a:p>
                      <a:r>
                        <a:rPr lang="en-US" sz="2000" dirty="0"/>
                        <a:t>Easy does it. You do not need a two-by-four to</a:t>
                      </a:r>
                      <a:r>
                        <a:rPr lang="en-US" sz="2000" baseline="0" dirty="0"/>
                        <a:t> get subordinates to do something</a:t>
                      </a:r>
                      <a:endParaRPr lang="en-US" sz="2000" dirty="0"/>
                    </a:p>
                  </a:txBody>
                  <a:tcPr/>
                </a:tc>
                <a:tc>
                  <a:txBody>
                    <a:bodyPr/>
                    <a:lstStyle/>
                    <a:p>
                      <a:endParaRPr lang="en-US" sz="2000" dirty="0"/>
                    </a:p>
                  </a:txBody>
                  <a:tcPr/>
                </a:tc>
                <a:tc>
                  <a:txBody>
                    <a:bodyPr/>
                    <a:lstStyle/>
                    <a:p>
                      <a:pPr algn="ctr"/>
                      <a:r>
                        <a:rPr lang="en-US" sz="2000" dirty="0"/>
                        <a:t>Delegating</a:t>
                      </a:r>
                    </a:p>
                  </a:txBody>
                  <a:tcPr anchor="ctr"/>
                </a:tc>
                <a:tc>
                  <a:txBody>
                    <a:bodyPr/>
                    <a:lstStyle/>
                    <a:p>
                      <a:r>
                        <a:rPr lang="en-US" sz="2000" dirty="0"/>
                        <a:t>Delegating</a:t>
                      </a:r>
                      <a:r>
                        <a:rPr lang="en-US" sz="2000" baseline="0" dirty="0"/>
                        <a:t> is a sign of a good manager. Do those things that only YOU can do not ALL the things you can do</a:t>
                      </a:r>
                      <a:endParaRPr lang="en-US" sz="2000" dirty="0"/>
                    </a:p>
                  </a:txBody>
                  <a:tcPr/>
                </a:tc>
                <a:extLst>
                  <a:ext uri="{0D108BD9-81ED-4DB2-BD59-A6C34878D82A}">
                    <a16:rowId xmlns:a16="http://schemas.microsoft.com/office/drawing/2014/main" val="10003"/>
                  </a:ext>
                </a:extLst>
              </a:tr>
              <a:tr h="370840">
                <a:tc>
                  <a:txBody>
                    <a:bodyPr/>
                    <a:lstStyle/>
                    <a:p>
                      <a:endParaRPr lang="en-US"/>
                    </a:p>
                  </a:txBody>
                  <a:tcPr anchor="ctr"/>
                </a:tc>
                <a:tc>
                  <a:txBody>
                    <a:bodyPr/>
                    <a:lstStyle/>
                    <a:p>
                      <a:endParaRPr lang="en-US" dirty="0"/>
                    </a:p>
                  </a:txBody>
                  <a:tcPr/>
                </a:tc>
                <a:tc>
                  <a:txBody>
                    <a:bodyPr/>
                    <a:lstStyle/>
                    <a:p>
                      <a:endParaRPr lang="en-US" sz="2000" dirty="0"/>
                    </a:p>
                  </a:txBody>
                  <a:tcPr/>
                </a:tc>
                <a:tc>
                  <a:txBody>
                    <a:bodyPr/>
                    <a:lstStyle/>
                    <a:p>
                      <a:pPr algn="ctr"/>
                      <a:r>
                        <a:rPr lang="en-US" sz="2000" dirty="0"/>
                        <a:t>Training</a:t>
                      </a:r>
                    </a:p>
                  </a:txBody>
                  <a:tcPr anchor="ctr"/>
                </a:tc>
                <a:tc>
                  <a:txBody>
                    <a:bodyPr/>
                    <a:lstStyle/>
                    <a:p>
                      <a:r>
                        <a:rPr lang="en-US" sz="2000" dirty="0"/>
                        <a:t>“Do as I do” is not an effective training strategy</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47514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a:t>
            </a:r>
            <a:r>
              <a:rPr lang="en-US" dirty="0" err="1"/>
              <a:t>Paei</a:t>
            </a:r>
            <a:r>
              <a:rPr lang="en-US" dirty="0"/>
              <a:t> - Producers</a:t>
            </a:r>
          </a:p>
        </p:txBody>
      </p:sp>
      <p:graphicFrame>
        <p:nvGraphicFramePr>
          <p:cNvPr id="6" name="Content Placeholder 5"/>
          <p:cNvGraphicFramePr>
            <a:graphicFrameLocks noGrp="1"/>
          </p:cNvGraphicFramePr>
          <p:nvPr>
            <p:ph idx="1"/>
            <p:extLst/>
          </p:nvPr>
        </p:nvGraphicFramePr>
        <p:xfrm>
          <a:off x="1905000" y="990600"/>
          <a:ext cx="8382000" cy="5549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3"/>
          <p:cNvPicPr>
            <a:picLocks noChangeArrowheads="1"/>
          </p:cNvPicPr>
          <p:nvPr/>
        </p:nvPicPr>
        <p:blipFill>
          <a:blip r:embed="rId7" cstate="print"/>
          <a:srcRect/>
          <a:stretch>
            <a:fillRect/>
          </a:stretch>
        </p:blipFill>
        <p:spPr bwMode="auto">
          <a:xfrm>
            <a:off x="5009716" y="2714595"/>
            <a:ext cx="1967017" cy="1886011"/>
          </a:xfrm>
          <a:prstGeom prst="rect">
            <a:avLst/>
          </a:prstGeom>
          <a:noFill/>
          <a:ln w="12700">
            <a:noFill/>
            <a:miter lim="800000"/>
            <a:headEnd/>
            <a:tailEnd/>
          </a:ln>
        </p:spPr>
      </p:pic>
      <p:sp>
        <p:nvSpPr>
          <p:cNvPr id="9" name="Rounded Rectangular Callout 8"/>
          <p:cNvSpPr/>
          <p:nvPr/>
        </p:nvSpPr>
        <p:spPr>
          <a:xfrm>
            <a:off x="4882715" y="109868"/>
            <a:ext cx="914400" cy="612648"/>
          </a:xfrm>
          <a:prstGeom prst="wedgeRoundRectCallout">
            <a:avLst>
              <a:gd name="adj1" fmla="val 50001"/>
              <a:gd name="adj2" fmla="val 110179"/>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Too busy to talk</a:t>
            </a:r>
          </a:p>
        </p:txBody>
      </p:sp>
      <p:sp>
        <p:nvSpPr>
          <p:cNvPr id="10" name="Rounded Rectangular Callout 9"/>
          <p:cNvSpPr/>
          <p:nvPr/>
        </p:nvSpPr>
        <p:spPr>
          <a:xfrm>
            <a:off x="2133601" y="4947990"/>
            <a:ext cx="1311339" cy="894010"/>
          </a:xfrm>
          <a:prstGeom prst="wedgeRoundRectCallout">
            <a:avLst>
              <a:gd name="adj1" fmla="val 75917"/>
              <a:gd name="adj2" fmla="val 732"/>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If delegation required</a:t>
            </a:r>
          </a:p>
        </p:txBody>
      </p:sp>
      <p:sp>
        <p:nvSpPr>
          <p:cNvPr id="11" name="Rounded Rectangular Callout 10"/>
          <p:cNvSpPr/>
          <p:nvPr/>
        </p:nvSpPr>
        <p:spPr>
          <a:xfrm>
            <a:off x="8540315" y="5567156"/>
            <a:ext cx="1924485" cy="880732"/>
          </a:xfrm>
          <a:prstGeom prst="wedgeRoundRectCallout">
            <a:avLst>
              <a:gd name="adj1" fmla="val -102898"/>
              <a:gd name="adj2" fmla="val 1384"/>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Set an end time for the meeting. I need 10 min. of your time to deal with a “crisis”</a:t>
            </a:r>
          </a:p>
        </p:txBody>
      </p:sp>
      <p:sp>
        <p:nvSpPr>
          <p:cNvPr id="12" name="Rounded Rectangular Callout 11"/>
          <p:cNvSpPr/>
          <p:nvPr/>
        </p:nvSpPr>
        <p:spPr>
          <a:xfrm>
            <a:off x="9271606" y="3657600"/>
            <a:ext cx="1297753" cy="803009"/>
          </a:xfrm>
          <a:prstGeom prst="wedgeRoundRectCallout">
            <a:avLst>
              <a:gd name="adj1" fmla="val -75252"/>
              <a:gd name="adj2" fmla="val 9694"/>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They didn’t read it. Won’t admit</a:t>
            </a:r>
          </a:p>
        </p:txBody>
      </p:sp>
      <p:sp>
        <p:nvSpPr>
          <p:cNvPr id="13" name="Rounded Rectangular Callout 12"/>
          <p:cNvSpPr/>
          <p:nvPr/>
        </p:nvSpPr>
        <p:spPr>
          <a:xfrm>
            <a:off x="8349815" y="1393952"/>
            <a:ext cx="914400" cy="612648"/>
          </a:xfrm>
          <a:prstGeom prst="wedgeRoundRectCallout">
            <a:avLst>
              <a:gd name="adj1" fmla="val -93055"/>
              <a:gd name="adj2" fmla="val 72865"/>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What is the end game?</a:t>
            </a:r>
          </a:p>
        </p:txBody>
      </p:sp>
      <p:sp>
        <p:nvSpPr>
          <p:cNvPr id="14" name="Rounded Rectangular Callout 13"/>
          <p:cNvSpPr/>
          <p:nvPr/>
        </p:nvSpPr>
        <p:spPr>
          <a:xfrm>
            <a:off x="1727202" y="2966790"/>
            <a:ext cx="1485899" cy="1059110"/>
          </a:xfrm>
          <a:prstGeom prst="wedgeRoundRectCallout">
            <a:avLst>
              <a:gd name="adj1" fmla="val 78306"/>
              <a:gd name="adj2" fmla="val -14635"/>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They feel rewarded when you tell them how hard they work</a:t>
            </a:r>
          </a:p>
        </p:txBody>
      </p:sp>
      <p:sp>
        <p:nvSpPr>
          <p:cNvPr id="15" name="Rounded Rectangular Callout 14"/>
          <p:cNvSpPr/>
          <p:nvPr/>
        </p:nvSpPr>
        <p:spPr>
          <a:xfrm>
            <a:off x="2032000" y="990600"/>
            <a:ext cx="1565340" cy="889000"/>
          </a:xfrm>
          <a:prstGeom prst="wedgeRoundRectCallout">
            <a:avLst>
              <a:gd name="adj1" fmla="val 97402"/>
              <a:gd name="adj2" fmla="val 23650"/>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Your “yes” means “yes”. Your “no” means “no”</a:t>
            </a:r>
          </a:p>
        </p:txBody>
      </p:sp>
    </p:spTree>
    <p:extLst>
      <p:ext uri="{BB962C8B-B14F-4D97-AF65-F5344CB8AC3E}">
        <p14:creationId xmlns:p14="http://schemas.microsoft.com/office/powerpoint/2010/main" val="1701905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7E2B9E8A-289A-FC4A-9D1C-6099B4270AD4}"/>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C4F1DD1A-6110-5948-8A46-48F3A7EB0119}"/>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graphicEl>
                                              <a:dgm id="{F25307E4-83F1-0E49-A2D0-74F0D5486D93}"/>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graphicEl>
                                              <a:dgm id="{6FF44C64-1E55-BA40-A27A-3EE5E5204FAE}"/>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graphicEl>
                                              <a:dgm id="{EDEE97A7-46D8-494D-8EB6-6269CEBEECEA}"/>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graphicEl>
                                              <a:dgm id="{06A02987-428F-B043-90F8-7AB455F178D5}"/>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graphicEl>
                                              <a:dgm id="{B20A8CF4-B3E5-A34F-98CC-6B62B629D731}"/>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graphicEl>
                                              <a:dgm id="{4C77433F-268C-154E-9924-00DD16D26A8C}"/>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
                                            <p:graphicEl>
                                              <a:dgm id="{544EF912-309D-CF4A-9608-975C4FB079F2}"/>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graphicEl>
                                              <a:dgm id="{7E244E47-0700-B540-A050-EAE2F8DCA9E2}"/>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
                                            <p:graphicEl>
                                              <a:dgm id="{9CA3348B-D646-7C4D-9883-DF146CFED2FC}"/>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graphicEl>
                                              <a:dgm id="{2D9451C7-EEE4-9C4E-91A2-A16E41530D3E}"/>
                                            </p:graphic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
                                            <p:graphicEl>
                                              <a:dgm id="{710A4DE4-97D4-A048-9865-B369579E3DB7}"/>
                                            </p:graphic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graphicEl>
                                              <a:dgm id="{BE2D9569-0E08-4547-B4A0-5EAF9BD63BB9}"/>
                                            </p:graphic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
                                            <p:graphicEl>
                                              <a:dgm id="{115B0721-907A-EB48-9924-831289B61667}"/>
                                            </p:graphic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
                                            <p:graphicEl>
                                              <a:dgm id="{615B01C8-5390-3648-8B6C-360C0C81447F}"/>
                                            </p:graphic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
                                            <p:graphicEl>
                                              <a:dgm id="{A07AA92D-4511-EE45-B1EC-99D6C368BCD4}"/>
                                            </p:graphic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
                                            <p:graphicEl>
                                              <a:dgm id="{56639D85-F15B-BE40-9198-10C8C73E727C}"/>
                                            </p:graphic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
                                            <p:graphicEl>
                                              <a:dgm id="{A68D89D6-7E99-BD41-BE26-159546B7DCF5}"/>
                                            </p:graphic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
                                            <p:graphicEl>
                                              <a:dgm id="{99B6A552-0F8E-B741-8972-23BCEBB5CB41}"/>
                                            </p:graphicEl>
                                          </p:spTgt>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
                                            <p:graphicEl>
                                              <a:dgm id="{7190AA65-739E-F144-805E-EE27D976351B}"/>
                                            </p:graphic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
                                            <p:graphicEl>
                                              <a:dgm id="{41A7522E-561B-5A4E-BEB1-3548E845C3BC}"/>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P spid="9" grpId="0" uiExpand="1" animBg="1"/>
      <p:bldP spid="10" grpId="0" uiExpand="1" animBg="1"/>
      <p:bldP spid="11" grpId="0" uiExpand="1" animBg="1"/>
      <p:bldP spid="12" grpId="0" uiExpand="1" animBg="1"/>
      <p:bldP spid="13" grpId="0" uiExpand="1" animBg="1"/>
      <p:bldP spid="14" grpId="0" uiExpand="1" animBg="1"/>
      <p:bldP spid="15" grpId="0" uiExpan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Speak Their Language – Reference Chart </a:t>
            </a:r>
          </a:p>
        </p:txBody>
      </p:sp>
      <p:graphicFrame>
        <p:nvGraphicFramePr>
          <p:cNvPr id="6" name="Object 5"/>
          <p:cNvGraphicFramePr>
            <a:graphicFrameLocks noChangeAspect="1"/>
          </p:cNvGraphicFramePr>
          <p:nvPr>
            <p:extLst>
              <p:ext uri="{D42A27DB-BD31-4B8C-83A1-F6EECF244321}">
                <p14:modId xmlns:p14="http://schemas.microsoft.com/office/powerpoint/2010/main" val="139971411"/>
              </p:ext>
            </p:extLst>
          </p:nvPr>
        </p:nvGraphicFramePr>
        <p:xfrm>
          <a:off x="2303463" y="1046163"/>
          <a:ext cx="7845425" cy="5264150"/>
        </p:xfrm>
        <a:graphic>
          <a:graphicData uri="http://schemas.openxmlformats.org/presentationml/2006/ole">
            <mc:AlternateContent xmlns:mc="http://schemas.openxmlformats.org/markup-compatibility/2006">
              <mc:Choice xmlns:v="urn:schemas-microsoft-com:vml" Requires="v">
                <p:oleObj spid="_x0000_s7188" name="Worksheet" r:id="rId3" imgW="9344027" imgH="6801022" progId="Excel.Sheet.12">
                  <p:embed/>
                </p:oleObj>
              </mc:Choice>
              <mc:Fallback>
                <p:oleObj name="Worksheet" r:id="rId3" imgW="9344027" imgH="6801022" progId="Excel.Sheet.12">
                  <p:embed/>
                  <p:pic>
                    <p:nvPicPr>
                      <p:cNvPr id="6" name="Object 5"/>
                      <p:cNvPicPr/>
                      <p:nvPr/>
                    </p:nvPicPr>
                    <p:blipFill>
                      <a:blip r:embed="rId4"/>
                      <a:stretch>
                        <a:fillRect/>
                      </a:stretch>
                    </p:blipFill>
                    <p:spPr>
                      <a:xfrm>
                        <a:off x="2303463" y="1046163"/>
                        <a:ext cx="7845425" cy="5264150"/>
                      </a:xfrm>
                      <a:prstGeom prst="rect">
                        <a:avLst/>
                      </a:prstGeom>
                    </p:spPr>
                  </p:pic>
                </p:oleObj>
              </mc:Fallback>
            </mc:AlternateContent>
          </a:graphicData>
        </a:graphic>
      </p:graphicFrame>
    </p:spTree>
    <p:extLst>
      <p:ext uri="{BB962C8B-B14F-4D97-AF65-F5344CB8AC3E}">
        <p14:creationId xmlns:p14="http://schemas.microsoft.com/office/powerpoint/2010/main" val="1187301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6" name="Text Box 4"/>
          <p:cNvSpPr txBox="1">
            <a:spLocks noChangeArrowheads="1"/>
          </p:cNvSpPr>
          <p:nvPr/>
        </p:nvSpPr>
        <p:spPr bwMode="auto">
          <a:xfrm>
            <a:off x="3685826" y="2052639"/>
            <a:ext cx="15151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Results</a:t>
            </a:r>
            <a:br>
              <a:rPr lang="en-US" altLang="lv-LV" sz="2800" dirty="0">
                <a:latin typeface="Tahoma" pitchFamily="34" charset="0"/>
              </a:rPr>
            </a:br>
            <a:r>
              <a:rPr lang="en-US" altLang="lv-LV" dirty="0">
                <a:latin typeface="Tahoma" pitchFamily="34" charset="0"/>
              </a:rPr>
              <a:t>(what)</a:t>
            </a:r>
          </a:p>
        </p:txBody>
      </p:sp>
      <p:sp>
        <p:nvSpPr>
          <p:cNvPr id="530437" name="Text Box 5"/>
          <p:cNvSpPr txBox="1">
            <a:spLocks noChangeArrowheads="1"/>
          </p:cNvSpPr>
          <p:nvPr/>
        </p:nvSpPr>
        <p:spPr bwMode="auto">
          <a:xfrm>
            <a:off x="5399160" y="2052639"/>
            <a:ext cx="9412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Fast</a:t>
            </a:r>
          </a:p>
        </p:txBody>
      </p:sp>
      <p:sp>
        <p:nvSpPr>
          <p:cNvPr id="530438" name="Text Box 6"/>
          <p:cNvSpPr txBox="1">
            <a:spLocks noChangeArrowheads="1"/>
          </p:cNvSpPr>
          <p:nvPr/>
        </p:nvSpPr>
        <p:spPr bwMode="auto">
          <a:xfrm>
            <a:off x="6584861" y="2052639"/>
            <a:ext cx="15279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Narrow</a:t>
            </a:r>
          </a:p>
        </p:txBody>
      </p:sp>
      <p:sp>
        <p:nvSpPr>
          <p:cNvPr id="530439" name="Text Box 7"/>
          <p:cNvSpPr txBox="1">
            <a:spLocks noChangeArrowheads="1"/>
          </p:cNvSpPr>
          <p:nvPr/>
        </p:nvSpPr>
        <p:spPr bwMode="auto">
          <a:xfrm>
            <a:off x="8077737" y="2052639"/>
            <a:ext cx="24593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Lone Ranger</a:t>
            </a:r>
          </a:p>
        </p:txBody>
      </p:sp>
      <p:sp>
        <p:nvSpPr>
          <p:cNvPr id="530456" name="Text Box 24"/>
          <p:cNvSpPr txBox="1">
            <a:spLocks noChangeArrowheads="1"/>
          </p:cNvSpPr>
          <p:nvPr/>
        </p:nvSpPr>
        <p:spPr bwMode="auto">
          <a:xfrm>
            <a:off x="1406222" y="1999635"/>
            <a:ext cx="1401346" cy="1046440"/>
          </a:xfrm>
          <a:prstGeom prst="rect">
            <a:avLst/>
          </a:prstGeom>
          <a:noFill/>
          <a:ln w="9525">
            <a:noFill/>
            <a:miter lim="800000"/>
            <a:headEnd/>
            <a:tailEnd/>
          </a:ln>
          <a:effectLst/>
        </p:spPr>
        <p:txBody>
          <a:bodyPr wrap="none">
            <a:spAutoFit/>
          </a:bodyPr>
          <a:lstStyle/>
          <a:p>
            <a:pPr>
              <a:defRPr/>
            </a:pPr>
            <a:r>
              <a:rPr lang="en-US" sz="3200" b="1" dirty="0">
                <a:effectLst>
                  <a:outerShdw blurRad="38100" dist="38100" dir="2700000" algn="tl">
                    <a:srgbClr val="C0C0C0"/>
                  </a:outerShdw>
                </a:effectLst>
                <a:latin typeface="Tahoma" pitchFamily="34" charset="0"/>
              </a:rPr>
              <a:t>P</a:t>
            </a:r>
            <a:r>
              <a:rPr lang="en-US" sz="3200" b="1" dirty="0">
                <a:solidFill>
                  <a:srgbClr val="FF0033"/>
                </a:solidFill>
                <a:effectLst>
                  <a:outerShdw blurRad="38100" dist="38100" dir="2700000" algn="tl">
                    <a:srgbClr val="C0C0C0"/>
                  </a:outerShdw>
                </a:effectLst>
                <a:latin typeface="Tahoma" pitchFamily="34" charset="0"/>
              </a:rPr>
              <a:t>ØØØ</a:t>
            </a:r>
          </a:p>
          <a:p>
            <a:pPr>
              <a:defRPr/>
            </a:pPr>
            <a:endParaRPr lang="en-US" sz="3000" b="1" dirty="0">
              <a:solidFill>
                <a:srgbClr val="002060"/>
              </a:solidFill>
              <a:effectLst>
                <a:outerShdw blurRad="38100" dist="38100" dir="2700000" algn="tl">
                  <a:srgbClr val="C0C0C0"/>
                </a:outerShdw>
              </a:effectLst>
              <a:latin typeface="Tahoma" pitchFamily="-111" charset="0"/>
              <a:ea typeface="ＭＳ Ｐゴシック" pitchFamily="-111" charset="-128"/>
            </a:endParaRPr>
          </a:p>
        </p:txBody>
      </p:sp>
      <p:sp>
        <p:nvSpPr>
          <p:cNvPr id="71687" name="Text Box 29"/>
          <p:cNvSpPr txBox="1">
            <a:spLocks noChangeArrowheads="1"/>
          </p:cNvSpPr>
          <p:nvPr/>
        </p:nvSpPr>
        <p:spPr bwMode="auto">
          <a:xfrm>
            <a:off x="1660313" y="1492251"/>
            <a:ext cx="12747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solidFill>
                  <a:srgbClr val="FF0033"/>
                </a:solidFill>
                <a:latin typeface="Tahoma" pitchFamily="34" charset="0"/>
              </a:rPr>
              <a:t>Styles</a:t>
            </a:r>
          </a:p>
        </p:txBody>
      </p:sp>
      <p:sp>
        <p:nvSpPr>
          <p:cNvPr id="71688" name="Text Box 30"/>
          <p:cNvSpPr txBox="1">
            <a:spLocks noChangeArrowheads="1"/>
          </p:cNvSpPr>
          <p:nvPr/>
        </p:nvSpPr>
        <p:spPr bwMode="auto">
          <a:xfrm>
            <a:off x="3735658" y="1522414"/>
            <a:ext cx="1217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Focus</a:t>
            </a:r>
          </a:p>
        </p:txBody>
      </p:sp>
      <p:sp>
        <p:nvSpPr>
          <p:cNvPr id="71689" name="Text Box 31"/>
          <p:cNvSpPr txBox="1">
            <a:spLocks noChangeArrowheads="1"/>
          </p:cNvSpPr>
          <p:nvPr/>
        </p:nvSpPr>
        <p:spPr bwMode="auto">
          <a:xfrm>
            <a:off x="5177847" y="1522414"/>
            <a:ext cx="12907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Speed</a:t>
            </a:r>
          </a:p>
        </p:txBody>
      </p:sp>
      <p:sp>
        <p:nvSpPr>
          <p:cNvPr id="71690" name="Text Box 32"/>
          <p:cNvSpPr txBox="1">
            <a:spLocks noChangeArrowheads="1"/>
          </p:cNvSpPr>
          <p:nvPr/>
        </p:nvSpPr>
        <p:spPr bwMode="auto">
          <a:xfrm>
            <a:off x="6611243" y="1522414"/>
            <a:ext cx="12795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Vision</a:t>
            </a:r>
          </a:p>
        </p:txBody>
      </p:sp>
      <p:sp>
        <p:nvSpPr>
          <p:cNvPr id="71691" name="Text Box 33"/>
          <p:cNvSpPr txBox="1">
            <a:spLocks noChangeArrowheads="1"/>
          </p:cNvSpPr>
          <p:nvPr/>
        </p:nvSpPr>
        <p:spPr bwMode="auto">
          <a:xfrm>
            <a:off x="8136974" y="1524001"/>
            <a:ext cx="19768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Nickname</a:t>
            </a:r>
          </a:p>
        </p:txBody>
      </p:sp>
      <p:sp>
        <p:nvSpPr>
          <p:cNvPr id="71692" name="Text Box 34"/>
          <p:cNvSpPr txBox="1">
            <a:spLocks noChangeArrowheads="1"/>
          </p:cNvSpPr>
          <p:nvPr/>
        </p:nvSpPr>
        <p:spPr bwMode="auto">
          <a:xfrm>
            <a:off x="1657383" y="1076326"/>
            <a:ext cx="3174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solidFill>
                  <a:srgbClr val="FF0033"/>
                </a:solidFill>
                <a:latin typeface="Tahoma" pitchFamily="34" charset="0"/>
              </a:rPr>
              <a:t>Mismanagement</a:t>
            </a:r>
          </a:p>
        </p:txBody>
      </p:sp>
      <p:sp>
        <p:nvSpPr>
          <p:cNvPr id="13" name="Text Box 6">
            <a:extLst>
              <a:ext uri="{FF2B5EF4-FFF2-40B4-BE49-F238E27FC236}">
                <a16:creationId xmlns:a16="http://schemas.microsoft.com/office/drawing/2014/main" id="{78A9D4AA-3A36-4380-B07D-89E5B6DA6797}"/>
              </a:ext>
            </a:extLst>
          </p:cNvPr>
          <p:cNvSpPr txBox="1">
            <a:spLocks noChangeArrowheads="1"/>
          </p:cNvSpPr>
          <p:nvPr/>
        </p:nvSpPr>
        <p:spPr bwMode="auto">
          <a:xfrm>
            <a:off x="8118499" y="2974976"/>
            <a:ext cx="21820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Bureaucrat</a:t>
            </a:r>
          </a:p>
        </p:txBody>
      </p:sp>
      <p:sp>
        <p:nvSpPr>
          <p:cNvPr id="14" name="Text Box 10">
            <a:extLst>
              <a:ext uri="{FF2B5EF4-FFF2-40B4-BE49-F238E27FC236}">
                <a16:creationId xmlns:a16="http://schemas.microsoft.com/office/drawing/2014/main" id="{18D21DCF-95A6-447D-A49D-5D92579C5D81}"/>
              </a:ext>
            </a:extLst>
          </p:cNvPr>
          <p:cNvSpPr txBox="1">
            <a:spLocks noChangeArrowheads="1"/>
          </p:cNvSpPr>
          <p:nvPr/>
        </p:nvSpPr>
        <p:spPr bwMode="auto">
          <a:xfrm>
            <a:off x="5304472" y="2974976"/>
            <a:ext cx="10615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Slow</a:t>
            </a:r>
          </a:p>
        </p:txBody>
      </p:sp>
      <p:sp>
        <p:nvSpPr>
          <p:cNvPr id="15" name="Text Box 11">
            <a:extLst>
              <a:ext uri="{FF2B5EF4-FFF2-40B4-BE49-F238E27FC236}">
                <a16:creationId xmlns:a16="http://schemas.microsoft.com/office/drawing/2014/main" id="{681989D3-EB98-4BF1-94BC-2D4CC48A6C12}"/>
              </a:ext>
            </a:extLst>
          </p:cNvPr>
          <p:cNvSpPr txBox="1">
            <a:spLocks noChangeArrowheads="1"/>
          </p:cNvSpPr>
          <p:nvPr/>
        </p:nvSpPr>
        <p:spPr bwMode="auto">
          <a:xfrm>
            <a:off x="3667354" y="2974976"/>
            <a:ext cx="14366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Details</a:t>
            </a:r>
            <a:br>
              <a:rPr lang="en-US" altLang="lv-LV" sz="2800" dirty="0">
                <a:latin typeface="Tahoma" pitchFamily="34" charset="0"/>
              </a:rPr>
            </a:br>
            <a:r>
              <a:rPr lang="en-US" altLang="lv-LV" dirty="0">
                <a:latin typeface="Tahoma" pitchFamily="34" charset="0"/>
              </a:rPr>
              <a:t>(how)</a:t>
            </a:r>
          </a:p>
        </p:txBody>
      </p:sp>
      <p:sp>
        <p:nvSpPr>
          <p:cNvPr id="16" name="Text Box 16">
            <a:extLst>
              <a:ext uri="{FF2B5EF4-FFF2-40B4-BE49-F238E27FC236}">
                <a16:creationId xmlns:a16="http://schemas.microsoft.com/office/drawing/2014/main" id="{CFD495DE-0156-444F-A828-B5D383F4B75E}"/>
              </a:ext>
            </a:extLst>
          </p:cNvPr>
          <p:cNvSpPr txBox="1">
            <a:spLocks noChangeArrowheads="1"/>
          </p:cNvSpPr>
          <p:nvPr/>
        </p:nvSpPr>
        <p:spPr bwMode="auto">
          <a:xfrm>
            <a:off x="6532678" y="2974976"/>
            <a:ext cx="15279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Narrow</a:t>
            </a:r>
          </a:p>
        </p:txBody>
      </p:sp>
      <p:sp>
        <p:nvSpPr>
          <p:cNvPr id="17" name="Text Box 24">
            <a:extLst>
              <a:ext uri="{FF2B5EF4-FFF2-40B4-BE49-F238E27FC236}">
                <a16:creationId xmlns:a16="http://schemas.microsoft.com/office/drawing/2014/main" id="{9A3E4F2F-0AA5-4912-9189-592578248FDD}"/>
              </a:ext>
            </a:extLst>
          </p:cNvPr>
          <p:cNvSpPr txBox="1">
            <a:spLocks noChangeArrowheads="1"/>
          </p:cNvSpPr>
          <p:nvPr/>
        </p:nvSpPr>
        <p:spPr bwMode="auto">
          <a:xfrm>
            <a:off x="1395002" y="2955611"/>
            <a:ext cx="1412566" cy="584775"/>
          </a:xfrm>
          <a:prstGeom prst="rect">
            <a:avLst/>
          </a:prstGeom>
          <a:noFill/>
          <a:ln w="9525">
            <a:noFill/>
            <a:miter lim="800000"/>
            <a:headEnd/>
            <a:tailEnd/>
          </a:ln>
          <a:effectLst/>
        </p:spPr>
        <p:txBody>
          <a:bodyPr wrap="none">
            <a:spAutoFit/>
          </a:bodyPr>
          <a:lstStyle/>
          <a:p>
            <a:pPr>
              <a:defRPr/>
            </a:pPr>
            <a:r>
              <a:rPr lang="en-US" sz="3200" b="1" dirty="0">
                <a:solidFill>
                  <a:srgbClr val="FF0033"/>
                </a:solidFill>
                <a:effectLst>
                  <a:outerShdw blurRad="38100" dist="38100" dir="2700000" algn="tl">
                    <a:srgbClr val="C0C0C0"/>
                  </a:outerShdw>
                </a:effectLst>
                <a:latin typeface="Tahoma" pitchFamily="34" charset="0"/>
              </a:rPr>
              <a:t>Ø</a:t>
            </a:r>
            <a:r>
              <a:rPr lang="en-US" sz="3200" b="1" dirty="0">
                <a:effectLst>
                  <a:outerShdw blurRad="38100" dist="38100" dir="2700000" algn="tl">
                    <a:srgbClr val="C0C0C0"/>
                  </a:outerShdw>
                </a:effectLst>
                <a:latin typeface="Tahoma" pitchFamily="34" charset="0"/>
              </a:rPr>
              <a:t>A</a:t>
            </a:r>
            <a:r>
              <a:rPr lang="en-US" sz="3200" b="1" dirty="0">
                <a:solidFill>
                  <a:srgbClr val="FF0033"/>
                </a:solidFill>
                <a:effectLst>
                  <a:outerShdw blurRad="38100" dist="38100" dir="2700000" algn="tl">
                    <a:srgbClr val="C0C0C0"/>
                  </a:outerShdw>
                </a:effectLst>
                <a:latin typeface="Tahoma" pitchFamily="34" charset="0"/>
              </a:rPr>
              <a:t>ØØ</a:t>
            </a:r>
            <a:endParaRPr lang="en-US" sz="3000" b="1" dirty="0">
              <a:solidFill>
                <a:srgbClr val="002060"/>
              </a:solidFill>
              <a:effectLst>
                <a:outerShdw blurRad="38100" dist="38100" dir="2700000" algn="tl">
                  <a:srgbClr val="C0C0C0"/>
                </a:outerShdw>
              </a:effectLst>
              <a:latin typeface="Tahoma" pitchFamily="-111" charset="0"/>
              <a:ea typeface="ＭＳ Ｐゴシック" pitchFamily="-111" charset="-128"/>
            </a:endParaRPr>
          </a:p>
        </p:txBody>
      </p:sp>
    </p:spTree>
    <p:extLst>
      <p:ext uri="{BB962C8B-B14F-4D97-AF65-F5344CB8AC3E}">
        <p14:creationId xmlns:p14="http://schemas.microsoft.com/office/powerpoint/2010/main" val="3446332626"/>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62BD12C8-BE5C-4180-8670-840A2DB9CCDC}"/>
              </a:ext>
            </a:extLst>
          </p:cNvPr>
          <p:cNvSpPr txBox="1">
            <a:spLocks noChangeArrowheads="1"/>
          </p:cNvSpPr>
          <p:nvPr/>
        </p:nvSpPr>
        <p:spPr bwMode="auto">
          <a:xfrm>
            <a:off x="1881091" y="1537265"/>
            <a:ext cx="8044893" cy="4376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28600" indent="-228600"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a:spcBef>
                <a:spcPct val="10000"/>
              </a:spcBef>
              <a:spcAft>
                <a:spcPct val="10000"/>
              </a:spcAft>
              <a:buFontTx/>
              <a:buChar char="•"/>
            </a:pPr>
            <a:r>
              <a:rPr lang="en-US" altLang="lv-LV" sz="2400" dirty="0">
                <a:solidFill>
                  <a:schemeClr val="accent2"/>
                </a:solidFill>
              </a:rPr>
              <a:t>In and out on time</a:t>
            </a:r>
          </a:p>
          <a:p>
            <a:pPr>
              <a:spcBef>
                <a:spcPct val="10000"/>
              </a:spcBef>
              <a:spcAft>
                <a:spcPct val="10000"/>
              </a:spcAft>
              <a:buFontTx/>
              <a:buChar char="•"/>
            </a:pPr>
            <a:r>
              <a:rPr lang="en-US" altLang="lv-LV" sz="2400" dirty="0">
                <a:solidFill>
                  <a:schemeClr val="accent2"/>
                </a:solidFill>
              </a:rPr>
              <a:t>Desk clean</a:t>
            </a:r>
          </a:p>
          <a:p>
            <a:pPr>
              <a:spcBef>
                <a:spcPct val="10000"/>
              </a:spcBef>
              <a:spcAft>
                <a:spcPct val="10000"/>
              </a:spcAft>
              <a:buFontTx/>
              <a:buChar char="•"/>
            </a:pPr>
            <a:r>
              <a:rPr lang="en-US" altLang="lv-LV" sz="2400" dirty="0">
                <a:solidFill>
                  <a:schemeClr val="accent2"/>
                </a:solidFill>
              </a:rPr>
              <a:t>Manages ”By the book”</a:t>
            </a:r>
            <a:endParaRPr lang="en-US" altLang="lv-LV" sz="2400" i="1" dirty="0">
              <a:solidFill>
                <a:schemeClr val="accent2"/>
              </a:solidFill>
            </a:endParaRPr>
          </a:p>
          <a:p>
            <a:pPr>
              <a:spcBef>
                <a:spcPct val="10000"/>
              </a:spcBef>
              <a:spcAft>
                <a:spcPct val="10000"/>
              </a:spcAft>
              <a:buFontTx/>
              <a:buChar char="•"/>
            </a:pPr>
            <a:r>
              <a:rPr lang="en-US" altLang="lv-LV" sz="2400" dirty="0">
                <a:solidFill>
                  <a:schemeClr val="accent2"/>
                </a:solidFill>
              </a:rPr>
              <a:t>Staff meetings on schedule</a:t>
            </a:r>
          </a:p>
          <a:p>
            <a:pPr>
              <a:spcBef>
                <a:spcPct val="10000"/>
              </a:spcBef>
              <a:spcAft>
                <a:spcPct val="10000"/>
              </a:spcAft>
              <a:buFontTx/>
              <a:buChar char="•"/>
            </a:pPr>
            <a:r>
              <a:rPr lang="en-US" altLang="lv-LV" sz="2400" dirty="0">
                <a:solidFill>
                  <a:schemeClr val="accent2"/>
                </a:solidFill>
              </a:rPr>
              <a:t>Agenda - Detail - Oriented</a:t>
            </a:r>
          </a:p>
          <a:p>
            <a:pPr>
              <a:spcBef>
                <a:spcPct val="10000"/>
              </a:spcBef>
              <a:spcAft>
                <a:spcPct val="10000"/>
              </a:spcAft>
              <a:buFontTx/>
              <a:buChar char="•"/>
            </a:pPr>
            <a:r>
              <a:rPr lang="en-US" altLang="lv-LV" sz="2400" dirty="0">
                <a:solidFill>
                  <a:schemeClr val="accent2"/>
                </a:solidFill>
              </a:rPr>
              <a:t>Typical answer: No</a:t>
            </a:r>
          </a:p>
          <a:p>
            <a:pPr>
              <a:spcBef>
                <a:spcPct val="10000"/>
              </a:spcBef>
              <a:spcAft>
                <a:spcPct val="10000"/>
              </a:spcAft>
              <a:buFontTx/>
              <a:buChar char="•"/>
            </a:pPr>
            <a:r>
              <a:rPr lang="en-US" altLang="lv-LV" sz="2400" dirty="0">
                <a:solidFill>
                  <a:schemeClr val="accent2"/>
                </a:solidFill>
              </a:rPr>
              <a:t>Focus on what </a:t>
            </a:r>
            <a:r>
              <a:rPr lang="en-US" altLang="lv-LV" sz="2400" u="sng" dirty="0">
                <a:solidFill>
                  <a:schemeClr val="accent2"/>
                </a:solidFill>
              </a:rPr>
              <a:t>Should </a:t>
            </a:r>
            <a:r>
              <a:rPr lang="en-US" altLang="lv-LV" sz="2400" dirty="0">
                <a:solidFill>
                  <a:schemeClr val="accent2"/>
                </a:solidFill>
              </a:rPr>
              <a:t>be done</a:t>
            </a:r>
          </a:p>
          <a:p>
            <a:pPr>
              <a:spcBef>
                <a:spcPct val="10000"/>
              </a:spcBef>
              <a:spcAft>
                <a:spcPct val="10000"/>
              </a:spcAft>
              <a:buFontTx/>
              <a:buChar char="•"/>
            </a:pPr>
            <a:r>
              <a:rPr lang="en-US" altLang="lv-LV" sz="2400" u="sng" dirty="0">
                <a:solidFill>
                  <a:schemeClr val="accent2"/>
                </a:solidFill>
              </a:rPr>
              <a:t>How </a:t>
            </a:r>
            <a:r>
              <a:rPr lang="en-US" altLang="lv-LV" sz="2400" dirty="0">
                <a:solidFill>
                  <a:schemeClr val="accent2"/>
                </a:solidFill>
              </a:rPr>
              <a:t>oriented</a:t>
            </a:r>
          </a:p>
          <a:p>
            <a:pPr>
              <a:spcBef>
                <a:spcPct val="10000"/>
              </a:spcBef>
              <a:spcAft>
                <a:spcPct val="10000"/>
              </a:spcAft>
              <a:buFontTx/>
              <a:buChar char="•"/>
            </a:pPr>
            <a:r>
              <a:rPr lang="en-US" altLang="lv-LV" sz="2400" dirty="0">
                <a:solidFill>
                  <a:schemeClr val="accent2"/>
                </a:solidFill>
              </a:rPr>
              <a:t>Would rather do the wrong things right</a:t>
            </a:r>
            <a:br>
              <a:rPr lang="en-US" altLang="lv-LV" sz="2400" dirty="0">
                <a:solidFill>
                  <a:schemeClr val="accent2"/>
                </a:solidFill>
              </a:rPr>
            </a:br>
            <a:r>
              <a:rPr lang="en-US" altLang="lv-LV" sz="2400" dirty="0">
                <a:solidFill>
                  <a:schemeClr val="accent2"/>
                </a:solidFill>
              </a:rPr>
              <a:t>than the right things wrong</a:t>
            </a:r>
          </a:p>
        </p:txBody>
      </p:sp>
      <p:sp>
        <p:nvSpPr>
          <p:cNvPr id="6" name="Rectangle 4">
            <a:extLst>
              <a:ext uri="{FF2B5EF4-FFF2-40B4-BE49-F238E27FC236}">
                <a16:creationId xmlns:a16="http://schemas.microsoft.com/office/drawing/2014/main" id="{DC5A991D-6BA1-48A7-A187-560397B6AB5B}"/>
              </a:ext>
            </a:extLst>
          </p:cNvPr>
          <p:cNvSpPr>
            <a:spLocks noChangeArrowheads="1"/>
          </p:cNvSpPr>
          <p:nvPr/>
        </p:nvSpPr>
        <p:spPr bwMode="auto">
          <a:xfrm>
            <a:off x="4192294" y="993341"/>
            <a:ext cx="3889784" cy="523220"/>
          </a:xfrm>
          <a:prstGeom prst="rect">
            <a:avLst/>
          </a:prstGeom>
          <a:noFill/>
          <a:ln w="12700">
            <a:noFill/>
            <a:miter lim="800000"/>
            <a:headEnd type="none" w="sm" len="sm"/>
            <a:tailEnd type="none" w="sm" len="sm"/>
          </a:ln>
          <a:effectLst/>
        </p:spPr>
        <p:txBody>
          <a:bodyPr wrap="none">
            <a:spAutoFit/>
          </a:bodyPr>
          <a:lstStyle/>
          <a:p>
            <a:pPr algn="ctr">
              <a:defRPr/>
            </a:pPr>
            <a:r>
              <a:rPr lang="en-US" sz="2800" b="1" dirty="0">
                <a:solidFill>
                  <a:srgbClr val="FF0000"/>
                </a:solidFill>
                <a:effectLst>
                  <a:outerShdw blurRad="38100" dist="38100" dir="2700000" algn="tl">
                    <a:srgbClr val="C0C0C0"/>
                  </a:outerShdw>
                </a:effectLst>
              </a:rPr>
              <a:t>ØAØØ </a:t>
            </a:r>
            <a:r>
              <a:rPr lang="en-US" sz="2800" b="1" dirty="0">
                <a:solidFill>
                  <a:srgbClr val="FF0033"/>
                </a:solidFill>
                <a:effectLst>
                  <a:outerShdw blurRad="38100" dist="38100" dir="2700000" algn="tl">
                    <a:srgbClr val="C0C0C0"/>
                  </a:outerShdw>
                </a:effectLst>
              </a:rPr>
              <a:t>BUREAUCRAT</a:t>
            </a:r>
          </a:p>
        </p:txBody>
      </p:sp>
      <p:pic>
        <p:nvPicPr>
          <p:cNvPr id="7" name="Picture 5">
            <a:extLst>
              <a:ext uri="{FF2B5EF4-FFF2-40B4-BE49-F238E27FC236}">
                <a16:creationId xmlns:a16="http://schemas.microsoft.com/office/drawing/2014/main" id="{7FF5189E-0988-4FDE-BDC0-1B6D89C6DCD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1379" y="2049438"/>
            <a:ext cx="1775718" cy="3864410"/>
          </a:xfrm>
          <a:prstGeom prst="rect">
            <a:avLst/>
          </a:prstGeom>
          <a:solidFill>
            <a:srgbClr val="000080"/>
          </a:solidFill>
          <a:ln>
            <a:noFill/>
          </a:ln>
          <a:extLs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639867306"/>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62818" y="278448"/>
            <a:ext cx="7092002" cy="265276"/>
          </a:xfrm>
        </p:spPr>
        <p:txBody>
          <a:bodyPr>
            <a:noAutofit/>
          </a:bodyPr>
          <a:lstStyle/>
          <a:p>
            <a:r>
              <a:rPr lang="en-US" dirty="0"/>
              <a:t>Prescriptive </a:t>
            </a:r>
            <a:r>
              <a:rPr lang="en-US" dirty="0" err="1"/>
              <a:t>pAei</a:t>
            </a:r>
            <a:r>
              <a:rPr lang="en-US" dirty="0"/>
              <a:t> - Administrators</a:t>
            </a:r>
          </a:p>
        </p:txBody>
      </p:sp>
      <p:graphicFrame>
        <p:nvGraphicFramePr>
          <p:cNvPr id="7" name="Content Placeholder 6"/>
          <p:cNvGraphicFramePr>
            <a:graphicFrameLocks noGrp="1"/>
          </p:cNvGraphicFramePr>
          <p:nvPr>
            <p:ph idx="1"/>
            <p:extLst/>
          </p:nvPr>
        </p:nvGraphicFramePr>
        <p:xfrm>
          <a:off x="923988" y="1116715"/>
          <a:ext cx="10639362" cy="4419600"/>
        </p:xfrm>
        <a:graphic>
          <a:graphicData uri="http://schemas.openxmlformats.org/drawingml/2006/table">
            <a:tbl>
              <a:tblPr firstRow="1" bandRow="1">
                <a:tableStyleId>{ED083AE6-46FA-4A59-8FB0-9F97EB10719F}</a:tableStyleId>
              </a:tblPr>
              <a:tblGrid>
                <a:gridCol w="1597539">
                  <a:extLst>
                    <a:ext uri="{9D8B030D-6E8A-4147-A177-3AD203B41FA5}">
                      <a16:colId xmlns:a16="http://schemas.microsoft.com/office/drawing/2014/main" val="20000"/>
                    </a:ext>
                  </a:extLst>
                </a:gridCol>
                <a:gridCol w="3228109">
                  <a:extLst>
                    <a:ext uri="{9D8B030D-6E8A-4147-A177-3AD203B41FA5}">
                      <a16:colId xmlns:a16="http://schemas.microsoft.com/office/drawing/2014/main" val="20001"/>
                    </a:ext>
                  </a:extLst>
                </a:gridCol>
                <a:gridCol w="241171">
                  <a:extLst>
                    <a:ext uri="{9D8B030D-6E8A-4147-A177-3AD203B41FA5}">
                      <a16:colId xmlns:a16="http://schemas.microsoft.com/office/drawing/2014/main" val="20002"/>
                    </a:ext>
                  </a:extLst>
                </a:gridCol>
                <a:gridCol w="2146462">
                  <a:extLst>
                    <a:ext uri="{9D8B030D-6E8A-4147-A177-3AD203B41FA5}">
                      <a16:colId xmlns:a16="http://schemas.microsoft.com/office/drawing/2014/main" val="20003"/>
                    </a:ext>
                  </a:extLst>
                </a:gridCol>
                <a:gridCol w="3426081">
                  <a:extLst>
                    <a:ext uri="{9D8B030D-6E8A-4147-A177-3AD203B41FA5}">
                      <a16:colId xmlns:a16="http://schemas.microsoft.com/office/drawing/2014/main" val="20004"/>
                    </a:ext>
                  </a:extLst>
                </a:gridCol>
              </a:tblGrid>
              <a:tr h="0">
                <a:tc>
                  <a:txBody>
                    <a:bodyPr/>
                    <a:lstStyle/>
                    <a:p>
                      <a:pPr algn="ctr"/>
                      <a:r>
                        <a:rPr lang="en-US" sz="2000" dirty="0"/>
                        <a:t>Style/Traits</a:t>
                      </a:r>
                      <a:endParaRPr lang="en-US" sz="2000" dirty="0">
                        <a:solidFill>
                          <a:srgbClr val="000000"/>
                        </a:solidFill>
                      </a:endParaRPr>
                    </a:p>
                  </a:txBody>
                  <a:tcPr/>
                </a:tc>
                <a:tc>
                  <a:txBody>
                    <a:bodyPr/>
                    <a:lstStyle/>
                    <a:p>
                      <a:pPr algn="ctr"/>
                      <a:endParaRPr lang="en-US" sz="2000" dirty="0">
                        <a:solidFill>
                          <a:srgbClr val="000000"/>
                        </a:solidFill>
                      </a:endParaRPr>
                    </a:p>
                  </a:txBody>
                  <a:tcPr/>
                </a:tc>
                <a:tc>
                  <a:txBody>
                    <a:bodyPr/>
                    <a:lstStyle/>
                    <a:p>
                      <a:pPr algn="ctr"/>
                      <a:endParaRPr lang="en-US" sz="2000" dirty="0">
                        <a:solidFill>
                          <a:srgbClr val="00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Style/Traits</a:t>
                      </a:r>
                      <a:endParaRPr lang="en-US" sz="2000" dirty="0">
                        <a:solidFill>
                          <a:srgbClr val="000000"/>
                        </a:solidFill>
                      </a:endParaRPr>
                    </a:p>
                  </a:txBody>
                  <a:tcPr/>
                </a:tc>
                <a:tc>
                  <a:txBody>
                    <a:bodyPr/>
                    <a:lstStyle/>
                    <a:p>
                      <a:pPr algn="ctr"/>
                      <a:endParaRPr lang="en-US" sz="2000" dirty="0">
                        <a:solidFill>
                          <a:srgbClr val="000000"/>
                        </a:solidFill>
                      </a:endParaRPr>
                    </a:p>
                  </a:txBody>
                  <a:tcPr/>
                </a:tc>
                <a:extLst>
                  <a:ext uri="{0D108BD9-81ED-4DB2-BD59-A6C34878D82A}">
                    <a16:rowId xmlns:a16="http://schemas.microsoft.com/office/drawing/2014/main" val="10000"/>
                  </a:ext>
                </a:extLst>
              </a:tr>
              <a:tr h="370840">
                <a:tc>
                  <a:txBody>
                    <a:bodyPr/>
                    <a:lstStyle/>
                    <a:p>
                      <a:pPr algn="ctr"/>
                      <a:r>
                        <a:rPr lang="en-US" sz="2000" dirty="0"/>
                        <a:t>Teamwork</a:t>
                      </a:r>
                    </a:p>
                  </a:txBody>
                  <a:tcPr anchor="ctr"/>
                </a:tc>
                <a:tc>
                  <a:txBody>
                    <a:bodyPr/>
                    <a:lstStyle/>
                    <a:p>
                      <a:r>
                        <a:rPr lang="en-US" sz="2000" kern="1200" dirty="0">
                          <a:solidFill>
                            <a:schemeClr val="tx1"/>
                          </a:solidFill>
                          <a:latin typeface="+mn-lt"/>
                          <a:ea typeface="+mn-ea"/>
                          <a:cs typeface="+mn-cs"/>
                        </a:rPr>
                        <a:t>Teamwork does not mean that everyone else should surrender to you</a:t>
                      </a:r>
                    </a:p>
                  </a:txBody>
                  <a:tcPr/>
                </a:tc>
                <a:tc>
                  <a:txBody>
                    <a:bodyPr/>
                    <a:lstStyle/>
                    <a:p>
                      <a:endParaRPr lang="en-US" sz="2000"/>
                    </a:p>
                  </a:txBody>
                  <a:tcPr anchor="ctr"/>
                </a:tc>
                <a:tc>
                  <a:txBody>
                    <a:bodyPr/>
                    <a:lstStyle/>
                    <a:p>
                      <a:pPr algn="ctr"/>
                      <a:r>
                        <a:rPr lang="en-US" sz="2000" dirty="0"/>
                        <a:t>Gathering Support</a:t>
                      </a:r>
                    </a:p>
                  </a:txBody>
                  <a:tcPr anchor="ctr"/>
                </a:tc>
                <a:tc>
                  <a:txBody>
                    <a:bodyPr/>
                    <a:lstStyle/>
                    <a:p>
                      <a:r>
                        <a:rPr lang="en-US" sz="2000" kern="1200" dirty="0">
                          <a:solidFill>
                            <a:schemeClr val="tx1"/>
                          </a:solidFill>
                          <a:latin typeface="+mn-lt"/>
                          <a:ea typeface="+mn-ea"/>
                          <a:cs typeface="+mn-cs"/>
                        </a:rPr>
                        <a:t>Following the rules does not mean there is agreement</a:t>
                      </a:r>
                    </a:p>
                  </a:txBody>
                  <a:tcPr/>
                </a:tc>
                <a:extLst>
                  <a:ext uri="{0D108BD9-81ED-4DB2-BD59-A6C34878D82A}">
                    <a16:rowId xmlns:a16="http://schemas.microsoft.com/office/drawing/2014/main" val="10001"/>
                  </a:ext>
                </a:extLst>
              </a:tr>
              <a:tr h="370840">
                <a:tc>
                  <a:txBody>
                    <a:bodyPr/>
                    <a:lstStyle/>
                    <a:p>
                      <a:pPr algn="ctr"/>
                      <a:r>
                        <a:rPr lang="en-US" sz="2000" dirty="0"/>
                        <a:t>Meetings</a:t>
                      </a:r>
                    </a:p>
                  </a:txBody>
                  <a:tcPr anchor="ctr"/>
                </a:tc>
                <a:tc>
                  <a:txBody>
                    <a:bodyPr/>
                    <a:lstStyle/>
                    <a:p>
                      <a:r>
                        <a:rPr lang="en-US" sz="2000" kern="1200" dirty="0">
                          <a:solidFill>
                            <a:schemeClr val="tx1"/>
                          </a:solidFill>
                          <a:latin typeface="+mn-lt"/>
                          <a:ea typeface="+mn-ea"/>
                          <a:cs typeface="+mn-cs"/>
                        </a:rPr>
                        <a:t>Fewer meetings will mean more things will get done</a:t>
                      </a:r>
                    </a:p>
                  </a:txBody>
                  <a:tcPr/>
                </a:tc>
                <a:tc>
                  <a:txBody>
                    <a:bodyPr/>
                    <a:lstStyle/>
                    <a:p>
                      <a:endParaRPr lang="en-US" sz="2000"/>
                    </a:p>
                  </a:txBody>
                  <a:tcPr anchor="ctr"/>
                </a:tc>
                <a:tc>
                  <a:txBody>
                    <a:bodyPr/>
                    <a:lstStyle/>
                    <a:p>
                      <a:pPr algn="ctr"/>
                      <a:r>
                        <a:rPr lang="en-US" sz="2000" dirty="0"/>
                        <a:t>Seeking Agreement (1)</a:t>
                      </a:r>
                    </a:p>
                  </a:txBody>
                  <a:tcPr anchor="ctr"/>
                </a:tc>
                <a:tc>
                  <a:txBody>
                    <a:bodyPr/>
                    <a:lstStyle/>
                    <a:p>
                      <a:r>
                        <a:rPr lang="en-US" sz="2000" kern="1200" dirty="0">
                          <a:solidFill>
                            <a:schemeClr val="tx1"/>
                          </a:solidFill>
                          <a:latin typeface="+mn-lt"/>
                          <a:ea typeface="+mn-ea"/>
                          <a:cs typeface="+mn-cs"/>
                        </a:rPr>
                        <a:t>A disagreement is not a derailment</a:t>
                      </a:r>
                    </a:p>
                  </a:txBody>
                  <a:tcPr/>
                </a:tc>
                <a:extLst>
                  <a:ext uri="{0D108BD9-81ED-4DB2-BD59-A6C34878D82A}">
                    <a16:rowId xmlns:a16="http://schemas.microsoft.com/office/drawing/2014/main" val="2417326463"/>
                  </a:ext>
                </a:extLst>
              </a:tr>
              <a:tr h="370840">
                <a:tc>
                  <a:txBody>
                    <a:bodyPr/>
                    <a:lstStyle/>
                    <a:p>
                      <a:pPr algn="ctr"/>
                      <a:r>
                        <a:rPr lang="en-US" sz="2000" dirty="0"/>
                        <a:t>Listening</a:t>
                      </a:r>
                    </a:p>
                  </a:txBody>
                  <a:tcPr anchor="ctr"/>
                </a:tc>
                <a:tc>
                  <a:txBody>
                    <a:bodyPr/>
                    <a:lstStyle/>
                    <a:p>
                      <a:r>
                        <a:rPr lang="en-US" sz="2000" kern="1200" dirty="0">
                          <a:solidFill>
                            <a:schemeClr val="tx1"/>
                          </a:solidFill>
                          <a:latin typeface="+mn-lt"/>
                          <a:ea typeface="+mn-ea"/>
                          <a:cs typeface="+mn-cs"/>
                        </a:rPr>
                        <a:t>The worst is when you hear no complaints. It seems good because you hear nothing, but apathy is one step away from death</a:t>
                      </a:r>
                    </a:p>
                  </a:txBody>
                  <a:tcPr/>
                </a:tc>
                <a:tc>
                  <a:txBody>
                    <a:bodyPr/>
                    <a:lstStyle/>
                    <a:p>
                      <a:endParaRPr lang="en-US" sz="2000"/>
                    </a:p>
                  </a:txBody>
                  <a:tcPr anchor="ctr"/>
                </a:tc>
                <a:tc>
                  <a:txBody>
                    <a:bodyPr/>
                    <a:lstStyle/>
                    <a:p>
                      <a:pPr algn="ctr"/>
                      <a:r>
                        <a:rPr lang="en-US" sz="2000" dirty="0"/>
                        <a:t>Seeking Agreement (2)</a:t>
                      </a:r>
                    </a:p>
                  </a:txBody>
                  <a:tcPr anchor="ctr"/>
                </a:tc>
                <a:tc>
                  <a:txBody>
                    <a:bodyPr/>
                    <a:lstStyle/>
                    <a:p>
                      <a:r>
                        <a:rPr lang="en-US" sz="2000" kern="1200" dirty="0">
                          <a:solidFill>
                            <a:schemeClr val="tx1"/>
                          </a:solidFill>
                          <a:latin typeface="+mn-lt"/>
                          <a:ea typeface="+mn-ea"/>
                          <a:cs typeface="+mn-cs"/>
                        </a:rPr>
                        <a:t>To have a team, you must allow discussions</a:t>
                      </a:r>
                    </a:p>
                  </a:txBody>
                  <a:tcPr/>
                </a:tc>
                <a:extLst>
                  <a:ext uri="{0D108BD9-81ED-4DB2-BD59-A6C34878D82A}">
                    <a16:rowId xmlns:a16="http://schemas.microsoft.com/office/drawing/2014/main" val="10002"/>
                  </a:ext>
                </a:extLst>
              </a:tr>
              <a:tr h="370840">
                <a:tc>
                  <a:txBody>
                    <a:bodyPr/>
                    <a:lstStyle/>
                    <a:p>
                      <a:endParaRPr lang="en-US" dirty="0"/>
                    </a:p>
                  </a:txBody>
                  <a:tcPr anchor="ctr"/>
                </a:tc>
                <a:tc>
                  <a:txBody>
                    <a:bodyPr/>
                    <a:lstStyle/>
                    <a:p>
                      <a:endParaRPr lang="en-US" dirty="0"/>
                    </a:p>
                  </a:txBody>
                  <a:tcPr/>
                </a:tc>
                <a:tc>
                  <a:txBody>
                    <a:bodyPr/>
                    <a:lstStyle/>
                    <a:p>
                      <a:endParaRPr lang="en-US" sz="2000" dirty="0"/>
                    </a:p>
                  </a:txBody>
                  <a:tcPr anchor="ctr"/>
                </a:tc>
                <a:tc>
                  <a:txBody>
                    <a:bodyPr/>
                    <a:lstStyle/>
                    <a:p>
                      <a:pPr algn="ctr"/>
                      <a:r>
                        <a:rPr lang="en-US" sz="2000" dirty="0"/>
                        <a:t>Conflict</a:t>
                      </a:r>
                    </a:p>
                  </a:txBody>
                  <a:tcPr anchor="ctr"/>
                </a:tc>
                <a:tc>
                  <a:txBody>
                    <a:bodyPr/>
                    <a:lstStyle/>
                    <a:p>
                      <a:r>
                        <a:rPr lang="en-US" sz="2000" kern="1200" dirty="0">
                          <a:solidFill>
                            <a:schemeClr val="tx1"/>
                          </a:solidFill>
                          <a:latin typeface="+mn-lt"/>
                          <a:ea typeface="+mn-ea"/>
                          <a:cs typeface="+mn-cs"/>
                        </a:rPr>
                        <a:t>Interpersonal conflict will not necessarily “rock the boat”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35042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202731" y="148876"/>
            <a:ext cx="7465271" cy="409179"/>
          </a:xfrm>
        </p:spPr>
        <p:txBody>
          <a:bodyPr>
            <a:noAutofit/>
          </a:bodyPr>
          <a:lstStyle/>
          <a:p>
            <a:r>
              <a:rPr lang="en-US" sz="3200" dirty="0"/>
              <a:t>Prescriptive </a:t>
            </a:r>
            <a:r>
              <a:rPr lang="en-US" sz="3200" dirty="0" err="1"/>
              <a:t>pAei</a:t>
            </a:r>
            <a:r>
              <a:rPr lang="en-US" sz="3200" dirty="0"/>
              <a:t> - Administrators</a:t>
            </a:r>
            <a:endParaRPr lang="en-US" dirty="0"/>
          </a:p>
        </p:txBody>
      </p:sp>
      <p:graphicFrame>
        <p:nvGraphicFramePr>
          <p:cNvPr id="7" name="Content Placeholder 6"/>
          <p:cNvGraphicFramePr>
            <a:graphicFrameLocks noGrp="1"/>
          </p:cNvGraphicFramePr>
          <p:nvPr>
            <p:ph idx="1"/>
            <p:extLst/>
          </p:nvPr>
        </p:nvGraphicFramePr>
        <p:xfrm>
          <a:off x="529253" y="1516411"/>
          <a:ext cx="10972800" cy="3108960"/>
        </p:xfrm>
        <a:graphic>
          <a:graphicData uri="http://schemas.openxmlformats.org/drawingml/2006/table">
            <a:tbl>
              <a:tblPr firstRow="1" bandRow="1">
                <a:tableStyleId>{ED083AE6-46FA-4A59-8FB0-9F97EB10719F}</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53727">
                  <a:extLst>
                    <a:ext uri="{9D8B030D-6E8A-4147-A177-3AD203B41FA5}">
                      <a16:colId xmlns:a16="http://schemas.microsoft.com/office/drawing/2014/main" val="20002"/>
                    </a:ext>
                  </a:extLst>
                </a:gridCol>
                <a:gridCol w="1866900">
                  <a:extLst>
                    <a:ext uri="{9D8B030D-6E8A-4147-A177-3AD203B41FA5}">
                      <a16:colId xmlns:a16="http://schemas.microsoft.com/office/drawing/2014/main" val="20003"/>
                    </a:ext>
                  </a:extLst>
                </a:gridCol>
                <a:gridCol w="4263053">
                  <a:extLst>
                    <a:ext uri="{9D8B030D-6E8A-4147-A177-3AD203B41FA5}">
                      <a16:colId xmlns:a16="http://schemas.microsoft.com/office/drawing/2014/main" val="20004"/>
                    </a:ext>
                  </a:extLst>
                </a:gridCol>
              </a:tblGrid>
              <a:tr h="370840">
                <a:tc>
                  <a:txBody>
                    <a:bodyPr/>
                    <a:lstStyle/>
                    <a:p>
                      <a:pPr algn="ctr"/>
                      <a:r>
                        <a:rPr lang="en-US" sz="2000" dirty="0"/>
                        <a:t>Style/Traits</a:t>
                      </a:r>
                      <a:endParaRPr lang="en-US" sz="2000" dirty="0">
                        <a:solidFill>
                          <a:srgbClr val="000000"/>
                        </a:solidFill>
                      </a:endParaRPr>
                    </a:p>
                  </a:txBody>
                  <a:tcPr/>
                </a:tc>
                <a:tc>
                  <a:txBody>
                    <a:bodyPr/>
                    <a:lstStyle/>
                    <a:p>
                      <a:pPr algn="ctr"/>
                      <a:endParaRPr lang="en-US" sz="2000" dirty="0">
                        <a:solidFill>
                          <a:srgbClr val="000000"/>
                        </a:solidFill>
                      </a:endParaRPr>
                    </a:p>
                  </a:txBody>
                  <a:tcPr/>
                </a:tc>
                <a:tc>
                  <a:txBody>
                    <a:bodyPr/>
                    <a:lstStyle/>
                    <a:p>
                      <a:pPr algn="ctr"/>
                      <a:endParaRPr lang="en-US" sz="2000" dirty="0">
                        <a:solidFill>
                          <a:srgbClr val="00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Style/Traits</a:t>
                      </a:r>
                      <a:endParaRPr lang="en-US" sz="2000" dirty="0">
                        <a:solidFill>
                          <a:srgbClr val="000000"/>
                        </a:solidFill>
                      </a:endParaRPr>
                    </a:p>
                  </a:txBody>
                  <a:tcPr/>
                </a:tc>
                <a:tc>
                  <a:txBody>
                    <a:bodyPr/>
                    <a:lstStyle/>
                    <a:p>
                      <a:pPr algn="ctr"/>
                      <a:endParaRPr lang="en-US" sz="2000" dirty="0">
                        <a:solidFill>
                          <a:srgbClr val="000000"/>
                        </a:solidFill>
                      </a:endParaRPr>
                    </a:p>
                  </a:txBody>
                  <a:tcPr/>
                </a:tc>
                <a:extLst>
                  <a:ext uri="{0D108BD9-81ED-4DB2-BD59-A6C34878D82A}">
                    <a16:rowId xmlns:a16="http://schemas.microsoft.com/office/drawing/2014/main" val="10000"/>
                  </a:ext>
                </a:extLst>
              </a:tr>
              <a:tr h="370840">
                <a:tc>
                  <a:txBody>
                    <a:bodyPr/>
                    <a:lstStyle/>
                    <a:p>
                      <a:pPr algn="ctr"/>
                      <a:r>
                        <a:rPr lang="en-US" sz="2000" dirty="0"/>
                        <a:t>Getting Along</a:t>
                      </a:r>
                    </a:p>
                  </a:txBody>
                  <a:tcPr anchor="ctr"/>
                </a:tc>
                <a:tc>
                  <a:txBody>
                    <a:bodyPr/>
                    <a:lstStyle/>
                    <a:p>
                      <a:r>
                        <a:rPr lang="en-US" sz="2000" kern="1200" baseline="0" dirty="0">
                          <a:solidFill>
                            <a:schemeClr val="tx1"/>
                          </a:solidFill>
                          <a:latin typeface="+mn-lt"/>
                          <a:ea typeface="+mn-ea"/>
                          <a:cs typeface="+mn-cs"/>
                        </a:rPr>
                        <a:t>Teams must have flexibility</a:t>
                      </a:r>
                    </a:p>
                  </a:txBody>
                  <a:tcPr/>
                </a:tc>
                <a:tc>
                  <a:txBody>
                    <a:bodyPr/>
                    <a:lstStyle/>
                    <a:p>
                      <a:endParaRPr lang="en-US" sz="2000" dirty="0"/>
                    </a:p>
                  </a:txBody>
                  <a:tcPr/>
                </a:tc>
                <a:tc>
                  <a:txBody>
                    <a:bodyPr/>
                    <a:lstStyle/>
                    <a:p>
                      <a:pPr algn="ctr"/>
                      <a:r>
                        <a:rPr lang="en-US" sz="2000" dirty="0"/>
                        <a:t>Hiring (1)</a:t>
                      </a:r>
                    </a:p>
                  </a:txBody>
                  <a:tcPr anchor="ctr"/>
                </a:tc>
                <a:tc>
                  <a:txBody>
                    <a:bodyPr/>
                    <a:lstStyle/>
                    <a:p>
                      <a:r>
                        <a:rPr lang="en-US" sz="2000" kern="1200" dirty="0">
                          <a:solidFill>
                            <a:schemeClr val="tx1"/>
                          </a:solidFill>
                          <a:latin typeface="+mn-lt"/>
                          <a:ea typeface="+mn-ea"/>
                          <a:cs typeface="+mn-cs"/>
                        </a:rPr>
                        <a:t>Do not hire and promote people because of their obedience – in spite of their performance</a:t>
                      </a:r>
                    </a:p>
                  </a:txBody>
                  <a:tcPr/>
                </a:tc>
                <a:extLst>
                  <a:ext uri="{0D108BD9-81ED-4DB2-BD59-A6C34878D82A}">
                    <a16:rowId xmlns:a16="http://schemas.microsoft.com/office/drawing/2014/main" val="10001"/>
                  </a:ext>
                </a:extLst>
              </a:tr>
              <a:tr h="370840">
                <a:tc>
                  <a:txBody>
                    <a:bodyPr/>
                    <a:lstStyle/>
                    <a:p>
                      <a:pPr algn="ctr"/>
                      <a:r>
                        <a:rPr lang="en-US" sz="2000" dirty="0"/>
                        <a:t>Controlling Emotions</a:t>
                      </a:r>
                    </a:p>
                  </a:txBody>
                  <a:tcPr anchor="ctr"/>
                </a:tc>
                <a:tc>
                  <a:txBody>
                    <a:bodyPr/>
                    <a:lstStyle/>
                    <a:p>
                      <a:r>
                        <a:rPr lang="en-US" sz="2000" kern="1200" baseline="0" dirty="0">
                          <a:solidFill>
                            <a:schemeClr val="tx1"/>
                          </a:solidFill>
                          <a:latin typeface="+mn-lt"/>
                          <a:ea typeface="+mn-ea"/>
                          <a:cs typeface="+mn-cs"/>
                        </a:rPr>
                        <a:t>No pain, no gain</a:t>
                      </a:r>
                    </a:p>
                  </a:txBody>
                  <a:tcPr/>
                </a:tc>
                <a:tc>
                  <a:txBody>
                    <a:bodyPr/>
                    <a:lstStyle/>
                    <a:p>
                      <a:endParaRPr lang="en-US" sz="2000" dirty="0"/>
                    </a:p>
                  </a:txBody>
                  <a:tcPr/>
                </a:tc>
                <a:tc>
                  <a:txBody>
                    <a:bodyPr/>
                    <a:lstStyle/>
                    <a:p>
                      <a:pPr algn="ctr"/>
                      <a:r>
                        <a:rPr lang="en-US" sz="2000" dirty="0"/>
                        <a:t>Hiring (2)</a:t>
                      </a:r>
                    </a:p>
                  </a:txBody>
                  <a:tcPr anchor="ctr"/>
                </a:tc>
                <a:tc>
                  <a:txBody>
                    <a:bodyPr/>
                    <a:lstStyle/>
                    <a:p>
                      <a:r>
                        <a:rPr lang="en-US" sz="2000" kern="1200" dirty="0">
                          <a:solidFill>
                            <a:schemeClr val="tx1"/>
                          </a:solidFill>
                          <a:latin typeface="+mn-lt"/>
                          <a:ea typeface="+mn-ea"/>
                          <a:cs typeface="+mn-cs"/>
                        </a:rPr>
                        <a:t>“Yes, yes” men do “no, no” behind your back</a:t>
                      </a:r>
                    </a:p>
                  </a:txBody>
                  <a:tcPr/>
                </a:tc>
                <a:extLst>
                  <a:ext uri="{0D108BD9-81ED-4DB2-BD59-A6C34878D82A}">
                    <a16:rowId xmlns:a16="http://schemas.microsoft.com/office/drawing/2014/main" val="1914333706"/>
                  </a:ext>
                </a:extLst>
              </a:tr>
              <a:tr h="370840">
                <a:tc>
                  <a:txBody>
                    <a:bodyPr/>
                    <a:lstStyle/>
                    <a:p>
                      <a:endParaRPr lang="en-US" dirty="0"/>
                    </a:p>
                  </a:txBody>
                  <a:tcPr anchor="ctr"/>
                </a:tc>
                <a:tc>
                  <a:txBody>
                    <a:bodyPr/>
                    <a:lstStyle/>
                    <a:p>
                      <a:endParaRPr lang="en-US" dirty="0"/>
                    </a:p>
                  </a:txBody>
                  <a:tcPr/>
                </a:tc>
                <a:tc>
                  <a:txBody>
                    <a:bodyPr/>
                    <a:lstStyle/>
                    <a:p>
                      <a:endParaRPr lang="en-US" sz="2000" dirty="0"/>
                    </a:p>
                  </a:txBody>
                  <a:tcPr/>
                </a:tc>
                <a:tc>
                  <a:txBody>
                    <a:bodyPr/>
                    <a:lstStyle/>
                    <a:p>
                      <a:pPr algn="ctr"/>
                      <a:r>
                        <a:rPr lang="en-US" sz="2000" dirty="0"/>
                        <a:t>Hiring (3)</a:t>
                      </a:r>
                    </a:p>
                  </a:txBody>
                  <a:tcPr anchor="ctr"/>
                </a:tc>
                <a:tc>
                  <a:txBody>
                    <a:bodyPr/>
                    <a:lstStyle/>
                    <a:p>
                      <a:r>
                        <a:rPr lang="en-US" sz="2000" kern="1200" dirty="0">
                          <a:solidFill>
                            <a:schemeClr val="tx1"/>
                          </a:solidFill>
                          <a:latin typeface="+mn-lt"/>
                          <a:ea typeface="+mn-ea"/>
                          <a:cs typeface="+mn-cs"/>
                        </a:rPr>
                        <a:t>When you hire, put those tests aside. Ask yourself also: “Does it feel right?”</a:t>
                      </a:r>
                    </a:p>
                  </a:txBody>
                  <a:tcPr/>
                </a:tc>
                <a:extLst>
                  <a:ext uri="{0D108BD9-81ED-4DB2-BD59-A6C34878D82A}">
                    <a16:rowId xmlns:a16="http://schemas.microsoft.com/office/drawing/2014/main" val="10002"/>
                  </a:ext>
                </a:extLst>
              </a:tr>
            </a:tbl>
          </a:graphicData>
        </a:graphic>
      </p:graphicFrame>
      <p:sp>
        <p:nvSpPr>
          <p:cNvPr id="3" name="Date Placeholder 2"/>
          <p:cNvSpPr>
            <a:spLocks noGrp="1"/>
          </p:cNvSpPr>
          <p:nvPr>
            <p:ph type="dt" sz="half" idx="4294967295"/>
          </p:nvPr>
        </p:nvSpPr>
        <p:spPr>
          <a:xfrm>
            <a:off x="529253" y="6447888"/>
            <a:ext cx="2032000" cy="257712"/>
          </a:xfrm>
          <a:prstGeom prst="rect">
            <a:avLst/>
          </a:prstGeom>
        </p:spPr>
        <p:txBody>
          <a:bodyPr/>
          <a:lstStyle/>
          <a:p>
            <a:r>
              <a:rPr lang="en-CA"/>
              <a:t>October 2017</a:t>
            </a:r>
            <a:endParaRPr lang="en-US" dirty="0"/>
          </a:p>
        </p:txBody>
      </p:sp>
    </p:spTree>
    <p:extLst>
      <p:ext uri="{BB962C8B-B14F-4D97-AF65-F5344CB8AC3E}">
        <p14:creationId xmlns:p14="http://schemas.microsoft.com/office/powerpoint/2010/main" val="1708720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908757" y="197540"/>
            <a:ext cx="7759244" cy="265276"/>
          </a:xfrm>
        </p:spPr>
        <p:txBody>
          <a:bodyPr>
            <a:noAutofit/>
          </a:bodyPr>
          <a:lstStyle/>
          <a:p>
            <a:r>
              <a:rPr lang="en-US" dirty="0"/>
              <a:t>Prescriptive </a:t>
            </a:r>
            <a:r>
              <a:rPr lang="en-US" dirty="0" err="1"/>
              <a:t>pAei</a:t>
            </a:r>
            <a:r>
              <a:rPr lang="en-US" dirty="0"/>
              <a:t> - Administrators</a:t>
            </a:r>
          </a:p>
        </p:txBody>
      </p:sp>
      <p:graphicFrame>
        <p:nvGraphicFramePr>
          <p:cNvPr id="7" name="Content Placeholder 6"/>
          <p:cNvGraphicFramePr>
            <a:graphicFrameLocks noGrp="1"/>
          </p:cNvGraphicFramePr>
          <p:nvPr>
            <p:ph idx="1"/>
            <p:extLst/>
          </p:nvPr>
        </p:nvGraphicFramePr>
        <p:xfrm>
          <a:off x="651510" y="1081296"/>
          <a:ext cx="11068049" cy="5029200"/>
        </p:xfrm>
        <a:graphic>
          <a:graphicData uri="http://schemas.openxmlformats.org/drawingml/2006/table">
            <a:tbl>
              <a:tblPr firstRow="1" bandRow="1">
                <a:tableStyleId>{ED083AE6-46FA-4A59-8FB0-9F97EB10719F}</a:tableStyleId>
              </a:tblPr>
              <a:tblGrid>
                <a:gridCol w="1905000">
                  <a:extLst>
                    <a:ext uri="{9D8B030D-6E8A-4147-A177-3AD203B41FA5}">
                      <a16:colId xmlns:a16="http://schemas.microsoft.com/office/drawing/2014/main" val="20000"/>
                    </a:ext>
                  </a:extLst>
                </a:gridCol>
                <a:gridCol w="30861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3486149">
                  <a:extLst>
                    <a:ext uri="{9D8B030D-6E8A-4147-A177-3AD203B41FA5}">
                      <a16:colId xmlns:a16="http://schemas.microsoft.com/office/drawing/2014/main" val="20004"/>
                    </a:ext>
                  </a:extLst>
                </a:gridCol>
              </a:tblGrid>
              <a:tr h="370840">
                <a:tc>
                  <a:txBody>
                    <a:bodyPr/>
                    <a:lstStyle/>
                    <a:p>
                      <a:pPr algn="ctr"/>
                      <a:r>
                        <a:rPr lang="en-US" sz="2000" dirty="0"/>
                        <a:t>Style/Traits</a:t>
                      </a:r>
                      <a:endParaRPr lang="en-US" sz="2000" dirty="0">
                        <a:solidFill>
                          <a:srgbClr val="000000"/>
                        </a:solidFill>
                      </a:endParaRPr>
                    </a:p>
                  </a:txBody>
                  <a:tcPr/>
                </a:tc>
                <a:tc>
                  <a:txBody>
                    <a:bodyPr/>
                    <a:lstStyle/>
                    <a:p>
                      <a:pPr algn="ctr"/>
                      <a:endParaRPr lang="en-US" sz="2000" dirty="0">
                        <a:solidFill>
                          <a:srgbClr val="000000"/>
                        </a:solidFill>
                      </a:endParaRPr>
                    </a:p>
                  </a:txBody>
                  <a:tcPr/>
                </a:tc>
                <a:tc>
                  <a:txBody>
                    <a:bodyPr/>
                    <a:lstStyle/>
                    <a:p>
                      <a:pPr algn="ctr"/>
                      <a:endParaRPr lang="en-US" sz="2000" dirty="0">
                        <a:solidFill>
                          <a:srgbClr val="000000"/>
                        </a:solidFill>
                      </a:endParaRPr>
                    </a:p>
                  </a:txBody>
                  <a:tcPr/>
                </a:tc>
                <a:tc>
                  <a:txBody>
                    <a:bodyPr/>
                    <a:lstStyle/>
                    <a:p>
                      <a:pPr algn="ctr"/>
                      <a:r>
                        <a:rPr lang="en-US" sz="2000" dirty="0"/>
                        <a:t>Style/Traits</a:t>
                      </a:r>
                      <a:endParaRPr lang="en-US" sz="2000" dirty="0">
                        <a:solidFill>
                          <a:srgbClr val="000000"/>
                        </a:solidFill>
                      </a:endParaRPr>
                    </a:p>
                  </a:txBody>
                  <a:tcPr/>
                </a:tc>
                <a:tc>
                  <a:txBody>
                    <a:bodyPr/>
                    <a:lstStyle/>
                    <a:p>
                      <a:pPr algn="ctr"/>
                      <a:endParaRPr lang="en-US" sz="2000" dirty="0">
                        <a:solidFill>
                          <a:srgbClr val="000000"/>
                        </a:solidFill>
                      </a:endParaRPr>
                    </a:p>
                  </a:txBody>
                  <a:tcPr/>
                </a:tc>
                <a:extLst>
                  <a:ext uri="{0D108BD9-81ED-4DB2-BD59-A6C34878D82A}">
                    <a16:rowId xmlns:a16="http://schemas.microsoft.com/office/drawing/2014/main" val="10000"/>
                  </a:ext>
                </a:extLst>
              </a:tr>
              <a:tr h="370840">
                <a:tc>
                  <a:txBody>
                    <a:bodyPr/>
                    <a:lstStyle/>
                    <a:p>
                      <a:pPr algn="ctr"/>
                      <a:r>
                        <a:rPr lang="en-US" sz="2000" dirty="0"/>
                        <a:t>Subordinates Arriving and leaving Work</a:t>
                      </a:r>
                    </a:p>
                  </a:txBody>
                  <a:tcPr anchor="ctr"/>
                </a:tc>
                <a:tc>
                  <a:txBody>
                    <a:bodyPr/>
                    <a:lstStyle/>
                    <a:p>
                      <a:r>
                        <a:rPr lang="en-US" sz="2000" kern="1200" dirty="0">
                          <a:solidFill>
                            <a:schemeClr val="tx1"/>
                          </a:solidFill>
                          <a:latin typeface="+mn-lt"/>
                          <a:ea typeface="+mn-ea"/>
                          <a:cs typeface="+mn-cs"/>
                        </a:rPr>
                        <a:t>Coming and leaving right on-time does not mean that people are doing the right things in between</a:t>
                      </a:r>
                    </a:p>
                  </a:txBody>
                  <a:tcPr/>
                </a:tc>
                <a:tc>
                  <a:txBody>
                    <a:bodyPr/>
                    <a:lstStyle/>
                    <a:p>
                      <a:endParaRPr lang="en-US" sz="2000" dirty="0"/>
                    </a:p>
                  </a:txBody>
                  <a:tcPr/>
                </a:tc>
                <a:tc>
                  <a:txBody>
                    <a:bodyPr/>
                    <a:lstStyle/>
                    <a:p>
                      <a:pPr algn="ctr"/>
                      <a:r>
                        <a:rPr lang="en-US" sz="2000" dirty="0"/>
                        <a:t>Staff Relations (2)</a:t>
                      </a:r>
                    </a:p>
                  </a:txBody>
                  <a:tcPr anchor="ctr"/>
                </a:tc>
                <a:tc>
                  <a:txBody>
                    <a:bodyPr/>
                    <a:lstStyle/>
                    <a:p>
                      <a:r>
                        <a:rPr lang="en-US" sz="2000" dirty="0"/>
                        <a:t>The fact</a:t>
                      </a:r>
                      <a:r>
                        <a:rPr lang="en-US" sz="2000" baseline="0" dirty="0"/>
                        <a:t> that you don’t know about something doesn’t mean it isn’t happening</a:t>
                      </a:r>
                      <a:endParaRPr lang="en-US" sz="2000" dirty="0"/>
                    </a:p>
                  </a:txBody>
                  <a:tcPr/>
                </a:tc>
                <a:extLst>
                  <a:ext uri="{0D108BD9-81ED-4DB2-BD59-A6C34878D82A}">
                    <a16:rowId xmlns:a16="http://schemas.microsoft.com/office/drawing/2014/main" val="10001"/>
                  </a:ext>
                </a:extLst>
              </a:tr>
              <a:tr h="370840">
                <a:tc>
                  <a:txBody>
                    <a:bodyPr/>
                    <a:lstStyle/>
                    <a:p>
                      <a:pPr algn="ctr"/>
                      <a:r>
                        <a:rPr lang="en-US" sz="2000" dirty="0"/>
                        <a:t>Meetings vs. Memos</a:t>
                      </a:r>
                    </a:p>
                  </a:txBody>
                  <a:tcPr anchor="ctr"/>
                </a:tc>
                <a:tc>
                  <a:txBody>
                    <a:bodyPr/>
                    <a:lstStyle/>
                    <a:p>
                      <a:r>
                        <a:rPr lang="en-US" sz="2000" kern="1200" dirty="0">
                          <a:solidFill>
                            <a:schemeClr val="tx1"/>
                          </a:solidFill>
                          <a:latin typeface="+mn-lt"/>
                          <a:ea typeface="+mn-ea"/>
                          <a:cs typeface="+mn-cs"/>
                        </a:rPr>
                        <a:t>Stop managing by memos</a:t>
                      </a:r>
                    </a:p>
                  </a:txBody>
                  <a:tcPr/>
                </a:tc>
                <a:tc>
                  <a:txBody>
                    <a:bodyPr/>
                    <a:lstStyle/>
                    <a:p>
                      <a:endParaRPr lang="en-US" sz="2000" dirty="0"/>
                    </a:p>
                  </a:txBody>
                  <a:tcPr/>
                </a:tc>
                <a:tc>
                  <a:txBody>
                    <a:bodyPr/>
                    <a:lstStyle/>
                    <a:p>
                      <a:pPr algn="ctr"/>
                      <a:r>
                        <a:rPr lang="en-US" sz="2000" dirty="0"/>
                        <a:t>Popularity</a:t>
                      </a:r>
                    </a:p>
                  </a:txBody>
                  <a:tcPr anchor="ctr"/>
                </a:tc>
                <a:tc>
                  <a:txBody>
                    <a:bodyPr/>
                    <a:lstStyle/>
                    <a:p>
                      <a:r>
                        <a:rPr lang="en-US" sz="2000" kern="1200" baseline="0" dirty="0">
                          <a:solidFill>
                            <a:schemeClr val="tx1"/>
                          </a:solidFill>
                          <a:latin typeface="+mn-lt"/>
                          <a:ea typeface="+mn-ea"/>
                          <a:cs typeface="+mn-cs"/>
                        </a:rPr>
                        <a:t>A question is not necessarily a personal challenge</a:t>
                      </a:r>
                    </a:p>
                  </a:txBody>
                  <a:tcPr/>
                </a:tc>
                <a:extLst>
                  <a:ext uri="{0D108BD9-81ED-4DB2-BD59-A6C34878D82A}">
                    <a16:rowId xmlns:a16="http://schemas.microsoft.com/office/drawing/2014/main" val="10002"/>
                  </a:ext>
                </a:extLst>
              </a:tr>
              <a:tr h="370840">
                <a:tc>
                  <a:txBody>
                    <a:bodyPr/>
                    <a:lstStyle/>
                    <a:p>
                      <a:pPr algn="ctr"/>
                      <a:r>
                        <a:rPr lang="en-US" sz="2000" dirty="0"/>
                        <a:t>Staff Relations (1)</a:t>
                      </a:r>
                    </a:p>
                  </a:txBody>
                  <a:tcPr anchor="ctr"/>
                </a:tc>
                <a:tc>
                  <a:txBody>
                    <a:bodyPr/>
                    <a:lstStyle/>
                    <a:p>
                      <a:endParaRPr lang="en-US" sz="2000" kern="1200" dirty="0">
                        <a:solidFill>
                          <a:schemeClr val="tx1"/>
                        </a:solidFill>
                        <a:latin typeface="+mn-lt"/>
                        <a:ea typeface="+mn-ea"/>
                        <a:cs typeface="+mn-cs"/>
                      </a:endParaRPr>
                    </a:p>
                    <a:p>
                      <a:r>
                        <a:rPr lang="en-US" sz="2000" kern="1200" dirty="0">
                          <a:solidFill>
                            <a:schemeClr val="tx1"/>
                          </a:solidFill>
                          <a:latin typeface="+mn-lt"/>
                          <a:ea typeface="+mn-ea"/>
                          <a:cs typeface="+mn-cs"/>
                        </a:rPr>
                        <a:t>People can’t be programmed</a:t>
                      </a:r>
                    </a:p>
                  </a:txBody>
                  <a:tcPr/>
                </a:tc>
                <a:tc>
                  <a:txBody>
                    <a:bodyPr/>
                    <a:lstStyle/>
                    <a:p>
                      <a:endParaRPr lang="en-US" sz="2000" dirty="0"/>
                    </a:p>
                  </a:txBody>
                  <a:tcPr/>
                </a:tc>
                <a:tc>
                  <a:txBody>
                    <a:bodyPr/>
                    <a:lstStyle/>
                    <a:p>
                      <a:pPr algn="ctr"/>
                      <a:r>
                        <a:rPr lang="en-US" sz="2000" dirty="0"/>
                        <a:t>Delegating</a:t>
                      </a:r>
                    </a:p>
                  </a:txBody>
                  <a:tcPr anchor="ctr"/>
                </a:tc>
                <a:tc>
                  <a:txBody>
                    <a:bodyPr/>
                    <a:lstStyle/>
                    <a:p>
                      <a:r>
                        <a:rPr lang="en-US" sz="2000" kern="1200" baseline="0" dirty="0">
                          <a:solidFill>
                            <a:schemeClr val="tx1"/>
                          </a:solidFill>
                          <a:latin typeface="+mn-lt"/>
                          <a:ea typeface="+mn-ea"/>
                          <a:cs typeface="+mn-cs"/>
                        </a:rPr>
                        <a:t>Delegation is not the same as decentralization. In order to decentralize, freedom to make uncertain decisions must be granted</a:t>
                      </a:r>
                    </a:p>
                  </a:txBody>
                  <a:tcPr/>
                </a:tc>
                <a:extLst>
                  <a:ext uri="{0D108BD9-81ED-4DB2-BD59-A6C34878D82A}">
                    <a16:rowId xmlns:a16="http://schemas.microsoft.com/office/drawing/2014/main" val="10003"/>
                  </a:ext>
                </a:extLst>
              </a:tr>
              <a:tr h="370840">
                <a:tc>
                  <a:txBody>
                    <a:bodyPr/>
                    <a:lstStyle/>
                    <a:p>
                      <a:endParaRPr lang="en-US"/>
                    </a:p>
                  </a:txBody>
                  <a:tcPr anchor="ctr"/>
                </a:tc>
                <a:tc>
                  <a:txBody>
                    <a:bodyPr/>
                    <a:lstStyle/>
                    <a:p>
                      <a:endParaRPr lang="en-US" dirty="0"/>
                    </a:p>
                  </a:txBody>
                  <a:tcPr/>
                </a:tc>
                <a:tc>
                  <a:txBody>
                    <a:bodyPr/>
                    <a:lstStyle/>
                    <a:p>
                      <a:endParaRPr lang="en-US" sz="2000" dirty="0"/>
                    </a:p>
                  </a:txBody>
                  <a:tcPr/>
                </a:tc>
                <a:tc>
                  <a:txBody>
                    <a:bodyPr/>
                    <a:lstStyle/>
                    <a:p>
                      <a:pPr algn="ctr"/>
                      <a:r>
                        <a:rPr lang="en-US" sz="2000" dirty="0"/>
                        <a:t>Training</a:t>
                      </a:r>
                    </a:p>
                  </a:txBody>
                  <a:tcPr anchor="ctr"/>
                </a:tc>
                <a:tc>
                  <a:txBody>
                    <a:bodyPr/>
                    <a:lstStyle/>
                    <a:p>
                      <a:r>
                        <a:rPr lang="en-US" sz="2000" kern="1200" baseline="0" dirty="0">
                          <a:solidFill>
                            <a:schemeClr val="tx1"/>
                          </a:solidFill>
                          <a:latin typeface="+mn-lt"/>
                          <a:ea typeface="+mn-ea"/>
                          <a:cs typeface="+mn-cs"/>
                        </a:rPr>
                        <a:t>Everything does not have to be written into manuals and codified</a:t>
                      </a:r>
                    </a:p>
                  </a:txBody>
                  <a:tcPr/>
                </a:tc>
                <a:extLst>
                  <a:ext uri="{0D108BD9-81ED-4DB2-BD59-A6C34878D82A}">
                    <a16:rowId xmlns:a16="http://schemas.microsoft.com/office/drawing/2014/main" val="10004"/>
                  </a:ext>
                </a:extLst>
              </a:tr>
            </a:tbl>
          </a:graphicData>
        </a:graphic>
      </p:graphicFrame>
      <p:sp>
        <p:nvSpPr>
          <p:cNvPr id="3" name="Date Placeholder 2"/>
          <p:cNvSpPr>
            <a:spLocks noGrp="1"/>
          </p:cNvSpPr>
          <p:nvPr>
            <p:ph type="dt" sz="half" idx="4294967295"/>
          </p:nvPr>
        </p:nvSpPr>
        <p:spPr>
          <a:xfrm>
            <a:off x="529253" y="6447888"/>
            <a:ext cx="2032000" cy="257712"/>
          </a:xfrm>
          <a:prstGeom prst="rect">
            <a:avLst/>
          </a:prstGeom>
        </p:spPr>
        <p:txBody>
          <a:bodyPr/>
          <a:lstStyle/>
          <a:p>
            <a:r>
              <a:rPr lang="en-CA" dirty="0"/>
              <a:t>October 2017</a:t>
            </a:r>
            <a:endParaRPr lang="en-US" dirty="0"/>
          </a:p>
        </p:txBody>
      </p:sp>
    </p:spTree>
    <p:extLst>
      <p:ext uri="{BB962C8B-B14F-4D97-AF65-F5344CB8AC3E}">
        <p14:creationId xmlns:p14="http://schemas.microsoft.com/office/powerpoint/2010/main" val="7270444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4294967295"/>
          </p:nvPr>
        </p:nvSpPr>
        <p:spPr/>
        <p:txBody>
          <a:bodyPr/>
          <a:lstStyle/>
          <a:p>
            <a:r>
              <a:rPr lang="en-CA"/>
              <a:t>October 2017</a:t>
            </a:r>
            <a:endParaRPr lang="en-US" dirty="0"/>
          </a:p>
        </p:txBody>
      </p:sp>
      <p:graphicFrame>
        <p:nvGraphicFramePr>
          <p:cNvPr id="5" name="Content Placeholder 5"/>
          <p:cNvGraphicFramePr>
            <a:graphicFrameLocks/>
          </p:cNvGraphicFramePr>
          <p:nvPr>
            <p:extLst/>
          </p:nvPr>
        </p:nvGraphicFramePr>
        <p:xfrm>
          <a:off x="787234" y="1025404"/>
          <a:ext cx="10674645" cy="5549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3"/>
          <p:cNvPicPr>
            <a:picLocks noChangeArrowheads="1"/>
          </p:cNvPicPr>
          <p:nvPr/>
        </p:nvPicPr>
        <p:blipFill>
          <a:blip r:embed="rId7" cstate="print"/>
          <a:srcRect/>
          <a:stretch>
            <a:fillRect/>
          </a:stretch>
        </p:blipFill>
        <p:spPr bwMode="auto">
          <a:xfrm>
            <a:off x="5468671" y="2552699"/>
            <a:ext cx="1290968" cy="2209800"/>
          </a:xfrm>
          <a:prstGeom prst="rect">
            <a:avLst/>
          </a:prstGeom>
          <a:noFill/>
          <a:ln w="12700">
            <a:noFill/>
            <a:miter lim="800000"/>
            <a:headEnd/>
            <a:tailEnd/>
          </a:ln>
        </p:spPr>
      </p:pic>
      <p:sp>
        <p:nvSpPr>
          <p:cNvPr id="7" name="Title 1"/>
          <p:cNvSpPr>
            <a:spLocks noGrp="1"/>
          </p:cNvSpPr>
          <p:nvPr>
            <p:ph type="title"/>
          </p:nvPr>
        </p:nvSpPr>
        <p:spPr>
          <a:xfrm>
            <a:off x="5258595" y="165098"/>
            <a:ext cx="5669599" cy="609600"/>
          </a:xfrm>
        </p:spPr>
        <p:txBody>
          <a:bodyPr/>
          <a:lstStyle/>
          <a:p>
            <a:r>
              <a:rPr lang="en-US" dirty="0"/>
              <a:t>Working with </a:t>
            </a:r>
            <a:r>
              <a:rPr lang="en-US" dirty="0" err="1"/>
              <a:t>pAei</a:t>
            </a:r>
            <a:r>
              <a:rPr lang="en-US" dirty="0"/>
              <a:t> - Administrators</a:t>
            </a:r>
          </a:p>
        </p:txBody>
      </p:sp>
      <p:sp>
        <p:nvSpPr>
          <p:cNvPr id="8" name="Rounded Rectangular Callout 7"/>
          <p:cNvSpPr/>
          <p:nvPr/>
        </p:nvSpPr>
        <p:spPr>
          <a:xfrm>
            <a:off x="331790" y="277533"/>
            <a:ext cx="3270039" cy="1495742"/>
          </a:xfrm>
          <a:prstGeom prst="wedgeRoundRectCallout">
            <a:avLst>
              <a:gd name="adj1" fmla="val 56705"/>
              <a:gd name="adj2" fmla="val 17213"/>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Start with historical context. Go step by step. Use research as back-up.</a:t>
            </a:r>
          </a:p>
          <a:p>
            <a:pPr algn="ctr"/>
            <a:r>
              <a:rPr lang="en-US" sz="2000" dirty="0">
                <a:solidFill>
                  <a:schemeClr val="tx1"/>
                </a:solidFill>
              </a:rPr>
              <a:t>Prove your point with facts</a:t>
            </a:r>
          </a:p>
        </p:txBody>
      </p:sp>
      <p:sp>
        <p:nvSpPr>
          <p:cNvPr id="9" name="Rounded Rectangular Callout 8"/>
          <p:cNvSpPr/>
          <p:nvPr/>
        </p:nvSpPr>
        <p:spPr>
          <a:xfrm>
            <a:off x="6484202" y="2237416"/>
            <a:ext cx="3380630" cy="1340348"/>
          </a:xfrm>
          <a:prstGeom prst="wedgeRoundRectCallout">
            <a:avLst>
              <a:gd name="adj1" fmla="val -23983"/>
              <a:gd name="adj2" fmla="val -69091"/>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Develop worst/best case scenarios. Discuss warranties, guarantees, &amp; contingencies </a:t>
            </a:r>
          </a:p>
        </p:txBody>
      </p:sp>
      <p:sp>
        <p:nvSpPr>
          <p:cNvPr id="10" name="Rounded Rectangular Callout 9"/>
          <p:cNvSpPr/>
          <p:nvPr/>
        </p:nvSpPr>
        <p:spPr>
          <a:xfrm>
            <a:off x="7633239" y="2907590"/>
            <a:ext cx="1556674" cy="584201"/>
          </a:xfrm>
          <a:prstGeom prst="wedgeRoundRectCallout">
            <a:avLst>
              <a:gd name="adj1" fmla="val 79386"/>
              <a:gd name="adj2" fmla="val 15227"/>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They will read it</a:t>
            </a:r>
          </a:p>
        </p:txBody>
      </p:sp>
      <p:sp>
        <p:nvSpPr>
          <p:cNvPr id="11" name="Rounded Rectangular Callout 10"/>
          <p:cNvSpPr/>
          <p:nvPr/>
        </p:nvSpPr>
        <p:spPr>
          <a:xfrm>
            <a:off x="5258595" y="4454713"/>
            <a:ext cx="3002088" cy="880732"/>
          </a:xfrm>
          <a:prstGeom prst="wedgeRoundRectCallout">
            <a:avLst>
              <a:gd name="adj1" fmla="val 61483"/>
              <a:gd name="adj2" fmla="val 59063"/>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Do not use gimmicks, tricks or traps to prove your point. They hate it.</a:t>
            </a:r>
          </a:p>
        </p:txBody>
      </p:sp>
      <p:sp>
        <p:nvSpPr>
          <p:cNvPr id="12" name="Rounded Rectangular Callout 11"/>
          <p:cNvSpPr/>
          <p:nvPr/>
        </p:nvSpPr>
        <p:spPr>
          <a:xfrm>
            <a:off x="3565298" y="4441435"/>
            <a:ext cx="1903373" cy="894010"/>
          </a:xfrm>
          <a:prstGeom prst="wedgeRoundRectCallout">
            <a:avLst>
              <a:gd name="adj1" fmla="val 23730"/>
              <a:gd name="adj2" fmla="val 80892"/>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Then continue and finish the briefing</a:t>
            </a:r>
          </a:p>
        </p:txBody>
      </p:sp>
      <p:sp>
        <p:nvSpPr>
          <p:cNvPr id="13" name="Rounded Rectangular Callout 12"/>
          <p:cNvSpPr/>
          <p:nvPr/>
        </p:nvSpPr>
        <p:spPr>
          <a:xfrm>
            <a:off x="3506316" y="3378800"/>
            <a:ext cx="2835954" cy="1059110"/>
          </a:xfrm>
          <a:prstGeom prst="wedgeRoundRectCallout">
            <a:avLst>
              <a:gd name="adj1" fmla="val -75508"/>
              <a:gd name="adj2" fmla="val 103391"/>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Allow time to think it through and digest the info</a:t>
            </a:r>
          </a:p>
        </p:txBody>
      </p:sp>
      <p:sp>
        <p:nvSpPr>
          <p:cNvPr id="15" name="Rounded Rectangular Callout 14"/>
          <p:cNvSpPr/>
          <p:nvPr/>
        </p:nvSpPr>
        <p:spPr>
          <a:xfrm>
            <a:off x="3742882" y="2380223"/>
            <a:ext cx="3031426" cy="889000"/>
          </a:xfrm>
          <a:prstGeom prst="wedgeRoundRectCallout">
            <a:avLst>
              <a:gd name="adj1" fmla="val -77489"/>
              <a:gd name="adj2" fmla="val -17575"/>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Don’t be upset with their “NO”. “NO” really means “MAYBE”</a:t>
            </a:r>
          </a:p>
        </p:txBody>
      </p:sp>
    </p:spTree>
    <p:extLst>
      <p:ext uri="{BB962C8B-B14F-4D97-AF65-F5344CB8AC3E}">
        <p14:creationId xmlns:p14="http://schemas.microsoft.com/office/powerpoint/2010/main" val="257683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7E2B9E8A-289A-FC4A-9D1C-6099B4270AD4}"/>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C4F1DD1A-6110-5948-8A46-48F3A7EB0119}"/>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graphicEl>
                                              <a:dgm id="{F25307E4-83F1-0E49-A2D0-74F0D5486D93}"/>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graphicEl>
                                              <a:dgm id="{6FF44C64-1E55-BA40-A27A-3EE5E5204FAE}"/>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graphicEl>
                                              <a:dgm id="{EDEE97A7-46D8-494D-8EB6-6269CEBEECEA}"/>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graphicEl>
                                              <a:dgm id="{06A02987-428F-B043-90F8-7AB455F178D5}"/>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graphicEl>
                                              <a:dgm id="{B20A8CF4-B3E5-A34F-98CC-6B62B629D731}"/>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graphicEl>
                                              <a:dgm id="{4C77433F-268C-154E-9924-00DD16D26A8C}"/>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
                                            <p:graphicEl>
                                              <a:dgm id="{544EF912-309D-CF4A-9608-975C4FB079F2}"/>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graphicEl>
                                              <a:dgm id="{7E244E47-0700-B540-A050-EAE2F8DCA9E2}"/>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
                                            <p:graphicEl>
                                              <a:dgm id="{9CA3348B-D646-7C4D-9883-DF146CFED2FC}"/>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
                                            <p:graphicEl>
                                              <a:dgm id="{2D9451C7-EEE4-9C4E-91A2-A16E41530D3E}"/>
                                            </p:graphic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
                                            <p:graphicEl>
                                              <a:dgm id="{710A4DE4-97D4-A048-9865-B369579E3DB7}"/>
                                            </p:graphic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
                                            <p:graphicEl>
                                              <a:dgm id="{BE2D9569-0E08-4547-B4A0-5EAF9BD63BB9}"/>
                                            </p:graphic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
                                            <p:graphicEl>
                                              <a:dgm id="{115B0721-907A-EB48-9924-831289B61667}"/>
                                            </p:graphic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
                                            <p:graphicEl>
                                              <a:dgm id="{615B01C8-5390-3648-8B6C-360C0C81447F}"/>
                                            </p:graphic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
                                            <p:graphicEl>
                                              <a:dgm id="{A07AA92D-4511-EE45-B1EC-99D6C368BCD4}"/>
                                            </p:graphic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
                                            <p:graphicEl>
                                              <a:dgm id="{56639D85-F15B-BE40-9198-10C8C73E727C}"/>
                                            </p:graphicEl>
                                          </p:spTgt>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
                                            <p:graphicEl>
                                              <a:dgm id="{A68D89D6-7E99-BD41-BE26-159546B7DCF5}"/>
                                            </p:graphic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5">
                                            <p:graphicEl>
                                              <a:dgm id="{99B6A552-0F8E-B741-8972-23BCEBB5CB41}"/>
                                            </p:graphicEl>
                                          </p:spTgt>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
                                            <p:graphicEl>
                                              <a:dgm id="{7190AA65-739E-F144-805E-EE27D976351B}"/>
                                            </p:graphicEl>
                                          </p:spTgt>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
                                            <p:graphicEl>
                                              <a:dgm id="{41A7522E-561B-5A4E-BEB1-3548E845C3BC}"/>
                                            </p:graphic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P spid="8" grpId="0" uiExpand="1" animBg="1"/>
      <p:bldP spid="9" grpId="0" uiExpand="1" animBg="1"/>
      <p:bldP spid="10" grpId="0" uiExpand="1" animBg="1"/>
      <p:bldP spid="11" grpId="0" uiExpand="1" animBg="1"/>
      <p:bldP spid="12" grpId="0" uiExpand="1" animBg="1"/>
      <p:bldP spid="13" grpId="0" uiExpand="1" animBg="1"/>
      <p:bldP spid="15" grpId="0" uiExpan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Speak Their Language – Reference Chart </a:t>
            </a:r>
          </a:p>
        </p:txBody>
      </p:sp>
      <p:graphicFrame>
        <p:nvGraphicFramePr>
          <p:cNvPr id="3" name="Table 2">
            <a:extLst>
              <a:ext uri="{FF2B5EF4-FFF2-40B4-BE49-F238E27FC236}">
                <a16:creationId xmlns:a16="http://schemas.microsoft.com/office/drawing/2014/main" id="{9934ADEF-B246-49EF-BEF0-9BD945604746}"/>
              </a:ext>
            </a:extLst>
          </p:cNvPr>
          <p:cNvGraphicFramePr>
            <a:graphicFrameLocks noGrp="1"/>
          </p:cNvGraphicFramePr>
          <p:nvPr>
            <p:extLst>
              <p:ext uri="{D42A27DB-BD31-4B8C-83A1-F6EECF244321}">
                <p14:modId xmlns:p14="http://schemas.microsoft.com/office/powerpoint/2010/main" val="3377964679"/>
              </p:ext>
            </p:extLst>
          </p:nvPr>
        </p:nvGraphicFramePr>
        <p:xfrm>
          <a:off x="1588647" y="928255"/>
          <a:ext cx="9187543" cy="5493467"/>
        </p:xfrm>
        <a:graphic>
          <a:graphicData uri="http://schemas.openxmlformats.org/drawingml/2006/table">
            <a:tbl>
              <a:tblPr firstRow="1" bandRow="1">
                <a:tableStyleId>{5C22544A-7EE6-4342-B048-85BDC9FD1C3A}</a:tableStyleId>
              </a:tblPr>
              <a:tblGrid>
                <a:gridCol w="9187543">
                  <a:extLst>
                    <a:ext uri="{9D8B030D-6E8A-4147-A177-3AD203B41FA5}">
                      <a16:colId xmlns:a16="http://schemas.microsoft.com/office/drawing/2014/main" val="907321451"/>
                    </a:ext>
                  </a:extLst>
                </a:gridCol>
              </a:tblGrid>
              <a:tr h="980534">
                <a:tc>
                  <a:txBody>
                    <a:bodyPr/>
                    <a:lstStyle/>
                    <a:p>
                      <a:pPr algn="ctr">
                        <a:lnSpc>
                          <a:spcPct val="150000"/>
                        </a:lnSpc>
                        <a:spcAft>
                          <a:spcPts val="0"/>
                        </a:spcAft>
                      </a:pPr>
                      <a:r>
                        <a:rPr lang="en-US" sz="2400" dirty="0">
                          <a:solidFill>
                            <a:schemeClr val="tx1"/>
                          </a:solidFill>
                        </a:rPr>
                        <a:t>When Working With</a:t>
                      </a:r>
                    </a:p>
                    <a:p>
                      <a:pPr algn="ctr">
                        <a:lnSpc>
                          <a:spcPct val="100000"/>
                        </a:lnSpc>
                        <a:spcAft>
                          <a:spcPts val="0"/>
                        </a:spcAft>
                      </a:pPr>
                      <a:r>
                        <a:rPr lang="en-US" sz="2400" dirty="0" err="1">
                          <a:solidFill>
                            <a:schemeClr val="tx1"/>
                          </a:solidFill>
                        </a:rPr>
                        <a:t>pAei</a:t>
                      </a:r>
                      <a:r>
                        <a:rPr lang="en-US" sz="2400" dirty="0">
                          <a:solidFill>
                            <a:schemeClr val="tx1"/>
                          </a:solidFill>
                        </a:rPr>
                        <a:t> - Administrators</a:t>
                      </a:r>
                    </a:p>
                  </a:txBody>
                  <a:tcPr>
                    <a:lnB w="12700" cap="flat" cmpd="sng" algn="ctr">
                      <a:solidFill>
                        <a:schemeClr val="tx1"/>
                      </a:solidFill>
                      <a:prstDash val="solid"/>
                      <a:round/>
                      <a:headEnd type="none" w="med" len="med"/>
                      <a:tailEnd type="none" w="med" len="med"/>
                    </a:lnB>
                    <a:solidFill>
                      <a:srgbClr val="B7F08C"/>
                    </a:solidFill>
                  </a:tcPr>
                </a:tc>
                <a:extLst>
                  <a:ext uri="{0D108BD9-81ED-4DB2-BD59-A6C34878D82A}">
                    <a16:rowId xmlns:a16="http://schemas.microsoft.com/office/drawing/2014/main" val="627731366"/>
                  </a:ext>
                </a:extLst>
              </a:tr>
              <a:tr h="1080696">
                <a:tc>
                  <a:txBody>
                    <a:bodyPr/>
                    <a:lstStyle/>
                    <a:p>
                      <a:pPr>
                        <a:spcBef>
                          <a:spcPts val="600"/>
                        </a:spcBef>
                        <a:spcAft>
                          <a:spcPts val="600"/>
                        </a:spcAft>
                      </a:pPr>
                      <a:r>
                        <a:rPr lang="en-US" dirty="0"/>
                        <a:t>Lay out your plan to get their buy-in before you start work. Start with the historical context and go through each task step-by-step. Talk about all the facts and your rationale in detail. Be prepared to prove your case. Send out details  ahead of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2399457"/>
                  </a:ext>
                </a:extLst>
              </a:tr>
              <a:tr h="815591">
                <a:tc>
                  <a:txBody>
                    <a:bodyPr/>
                    <a:lstStyle/>
                    <a:p>
                      <a:r>
                        <a:rPr lang="en-US" dirty="0"/>
                        <a:t>Collect objections and needs for additional data at each step. If a major hole is discovered, stop and go fix it, then come back to finish.</a:t>
                      </a:r>
                    </a:p>
                  </a:txBody>
                  <a:tcPr marT="144000" marB="14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2196088"/>
                  </a:ext>
                </a:extLst>
              </a:tr>
              <a:tr h="1083009">
                <a:tc>
                  <a:txBody>
                    <a:bodyPr/>
                    <a:lstStyle/>
                    <a:p>
                      <a:r>
                        <a:rPr lang="en-US" dirty="0"/>
                        <a:t>Provide ways to minimize risk. Show how your objective has been successfully done before. Develop worst/best case scenarios </a:t>
                      </a:r>
                      <a:r>
                        <a:rPr lang="en-US" sz="1800" dirty="0">
                          <a:solidFill>
                            <a:schemeClr val="tx1"/>
                          </a:solidFill>
                        </a:rPr>
                        <a:t>and discuss warranties, guarantees, &amp; contingencies </a:t>
                      </a:r>
                      <a:endParaRPr lang="en-US" dirty="0"/>
                    </a:p>
                  </a:txBody>
                  <a:tcPr marT="144000" marB="14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3414002"/>
                  </a:ext>
                </a:extLst>
              </a:tr>
              <a:tr h="815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Speak slowly &amp; without undue emotion. Allow time for a thoughtful review or incubation period.</a:t>
                      </a:r>
                      <a:endParaRPr lang="en-US" dirty="0"/>
                    </a:p>
                  </a:txBody>
                  <a:tcPr marT="144000" marB="14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835231"/>
                  </a:ext>
                </a:extLst>
              </a:tr>
              <a:tr h="622691">
                <a:tc>
                  <a:txBody>
                    <a:bodyPr/>
                    <a:lstStyle/>
                    <a:p>
                      <a:r>
                        <a:rPr lang="en-US" sz="1800" dirty="0">
                          <a:solidFill>
                            <a:schemeClr val="tx1"/>
                          </a:solidFill>
                        </a:rPr>
                        <a:t>Do not use gimmicks, tricks or traps to prove your point. They hate it.</a:t>
                      </a:r>
                      <a:endParaRPr lang="en-US" dirty="0"/>
                    </a:p>
                  </a:txBody>
                  <a:tcPr marT="144000" marB="14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8261615"/>
                  </a:ext>
                </a:extLst>
              </a:tr>
            </a:tbl>
          </a:graphicData>
        </a:graphic>
      </p:graphicFrame>
    </p:spTree>
    <p:extLst>
      <p:ext uri="{BB962C8B-B14F-4D97-AF65-F5344CB8AC3E}">
        <p14:creationId xmlns:p14="http://schemas.microsoft.com/office/powerpoint/2010/main" val="2707616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6" name="Text Box 4"/>
          <p:cNvSpPr txBox="1">
            <a:spLocks noChangeArrowheads="1"/>
          </p:cNvSpPr>
          <p:nvPr/>
        </p:nvSpPr>
        <p:spPr bwMode="auto">
          <a:xfrm>
            <a:off x="3582590" y="2306715"/>
            <a:ext cx="15151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Results</a:t>
            </a:r>
            <a:br>
              <a:rPr lang="en-US" altLang="lv-LV" sz="2800" dirty="0">
                <a:latin typeface="Tahoma" pitchFamily="34" charset="0"/>
              </a:rPr>
            </a:br>
            <a:r>
              <a:rPr lang="en-US" altLang="lv-LV" dirty="0">
                <a:latin typeface="Tahoma" pitchFamily="34" charset="0"/>
              </a:rPr>
              <a:t>(what)</a:t>
            </a:r>
          </a:p>
        </p:txBody>
      </p:sp>
      <p:sp>
        <p:nvSpPr>
          <p:cNvPr id="530437" name="Text Box 5"/>
          <p:cNvSpPr txBox="1">
            <a:spLocks noChangeArrowheads="1"/>
          </p:cNvSpPr>
          <p:nvPr/>
        </p:nvSpPr>
        <p:spPr bwMode="auto">
          <a:xfrm>
            <a:off x="5399160" y="2306715"/>
            <a:ext cx="9412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Fast</a:t>
            </a:r>
          </a:p>
        </p:txBody>
      </p:sp>
      <p:sp>
        <p:nvSpPr>
          <p:cNvPr id="530438" name="Text Box 6"/>
          <p:cNvSpPr txBox="1">
            <a:spLocks noChangeArrowheads="1"/>
          </p:cNvSpPr>
          <p:nvPr/>
        </p:nvSpPr>
        <p:spPr bwMode="auto">
          <a:xfrm>
            <a:off x="6688097" y="2306715"/>
            <a:ext cx="15279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Narrow</a:t>
            </a:r>
          </a:p>
        </p:txBody>
      </p:sp>
      <p:sp>
        <p:nvSpPr>
          <p:cNvPr id="530439" name="Text Box 7"/>
          <p:cNvSpPr txBox="1">
            <a:spLocks noChangeArrowheads="1"/>
          </p:cNvSpPr>
          <p:nvPr/>
        </p:nvSpPr>
        <p:spPr bwMode="auto">
          <a:xfrm>
            <a:off x="8284209" y="2306715"/>
            <a:ext cx="24593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Lone Ranger</a:t>
            </a:r>
          </a:p>
        </p:txBody>
      </p:sp>
      <p:sp>
        <p:nvSpPr>
          <p:cNvPr id="530456" name="Text Box 24"/>
          <p:cNvSpPr txBox="1">
            <a:spLocks noChangeArrowheads="1"/>
          </p:cNvSpPr>
          <p:nvPr/>
        </p:nvSpPr>
        <p:spPr bwMode="auto">
          <a:xfrm>
            <a:off x="1046348" y="2253711"/>
            <a:ext cx="1401346" cy="584775"/>
          </a:xfrm>
          <a:prstGeom prst="rect">
            <a:avLst/>
          </a:prstGeom>
          <a:noFill/>
          <a:ln w="9525">
            <a:noFill/>
            <a:miter lim="800000"/>
            <a:headEnd/>
            <a:tailEnd/>
          </a:ln>
          <a:effectLst/>
        </p:spPr>
        <p:txBody>
          <a:bodyPr wrap="none">
            <a:spAutoFit/>
          </a:bodyPr>
          <a:lstStyle/>
          <a:p>
            <a:pPr>
              <a:defRPr/>
            </a:pPr>
            <a:r>
              <a:rPr lang="en-US" sz="3200" b="1" dirty="0">
                <a:effectLst>
                  <a:outerShdw blurRad="38100" dist="38100" dir="2700000" algn="tl">
                    <a:srgbClr val="C0C0C0"/>
                  </a:outerShdw>
                </a:effectLst>
                <a:latin typeface="Tahoma" pitchFamily="34" charset="0"/>
              </a:rPr>
              <a:t>P</a:t>
            </a:r>
            <a:r>
              <a:rPr lang="en-US" sz="3200" b="1" dirty="0">
                <a:solidFill>
                  <a:srgbClr val="FF0033"/>
                </a:solidFill>
                <a:effectLst>
                  <a:outerShdw blurRad="38100" dist="38100" dir="2700000" algn="tl">
                    <a:srgbClr val="C0C0C0"/>
                  </a:outerShdw>
                </a:effectLst>
                <a:latin typeface="Tahoma" pitchFamily="34" charset="0"/>
              </a:rPr>
              <a:t>ØØØ</a:t>
            </a:r>
            <a:endParaRPr lang="en-US" sz="3000" b="1" dirty="0">
              <a:solidFill>
                <a:srgbClr val="002060"/>
              </a:solidFill>
              <a:effectLst>
                <a:outerShdw blurRad="38100" dist="38100" dir="2700000" algn="tl">
                  <a:srgbClr val="C0C0C0"/>
                </a:outerShdw>
              </a:effectLst>
              <a:latin typeface="Tahoma" pitchFamily="-111" charset="0"/>
              <a:ea typeface="ＭＳ Ｐゴシック" pitchFamily="-111" charset="-128"/>
            </a:endParaRPr>
          </a:p>
        </p:txBody>
      </p:sp>
      <p:sp>
        <p:nvSpPr>
          <p:cNvPr id="71687" name="Text Box 29"/>
          <p:cNvSpPr txBox="1">
            <a:spLocks noChangeArrowheads="1"/>
          </p:cNvSpPr>
          <p:nvPr/>
        </p:nvSpPr>
        <p:spPr bwMode="auto">
          <a:xfrm>
            <a:off x="1660313" y="1365508"/>
            <a:ext cx="12747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solidFill>
                  <a:srgbClr val="FF0033"/>
                </a:solidFill>
                <a:latin typeface="Tahoma" pitchFamily="34" charset="0"/>
              </a:rPr>
              <a:t>Styles</a:t>
            </a:r>
          </a:p>
        </p:txBody>
      </p:sp>
      <p:sp>
        <p:nvSpPr>
          <p:cNvPr id="71688" name="Text Box 30"/>
          <p:cNvSpPr txBox="1">
            <a:spLocks noChangeArrowheads="1"/>
          </p:cNvSpPr>
          <p:nvPr/>
        </p:nvSpPr>
        <p:spPr bwMode="auto">
          <a:xfrm>
            <a:off x="3632422" y="1631641"/>
            <a:ext cx="1217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Focus</a:t>
            </a:r>
          </a:p>
        </p:txBody>
      </p:sp>
      <p:sp>
        <p:nvSpPr>
          <p:cNvPr id="71689" name="Text Box 31"/>
          <p:cNvSpPr txBox="1">
            <a:spLocks noChangeArrowheads="1"/>
          </p:cNvSpPr>
          <p:nvPr/>
        </p:nvSpPr>
        <p:spPr bwMode="auto">
          <a:xfrm>
            <a:off x="5177847" y="1631641"/>
            <a:ext cx="12907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Speed</a:t>
            </a:r>
          </a:p>
        </p:txBody>
      </p:sp>
      <p:sp>
        <p:nvSpPr>
          <p:cNvPr id="71690" name="Text Box 32"/>
          <p:cNvSpPr txBox="1">
            <a:spLocks noChangeArrowheads="1"/>
          </p:cNvSpPr>
          <p:nvPr/>
        </p:nvSpPr>
        <p:spPr bwMode="auto">
          <a:xfrm>
            <a:off x="6714479" y="1631641"/>
            <a:ext cx="12795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Vision</a:t>
            </a:r>
          </a:p>
        </p:txBody>
      </p:sp>
      <p:sp>
        <p:nvSpPr>
          <p:cNvPr id="71691" name="Text Box 33"/>
          <p:cNvSpPr txBox="1">
            <a:spLocks noChangeArrowheads="1"/>
          </p:cNvSpPr>
          <p:nvPr/>
        </p:nvSpPr>
        <p:spPr bwMode="auto">
          <a:xfrm>
            <a:off x="8343446" y="1633228"/>
            <a:ext cx="19768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Nickname</a:t>
            </a:r>
          </a:p>
        </p:txBody>
      </p:sp>
      <p:sp>
        <p:nvSpPr>
          <p:cNvPr id="71692" name="Text Box 34"/>
          <p:cNvSpPr txBox="1">
            <a:spLocks noChangeArrowheads="1"/>
          </p:cNvSpPr>
          <p:nvPr/>
        </p:nvSpPr>
        <p:spPr bwMode="auto">
          <a:xfrm>
            <a:off x="1657383" y="949583"/>
            <a:ext cx="3174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solidFill>
                  <a:srgbClr val="FF0033"/>
                </a:solidFill>
                <a:latin typeface="Tahoma" pitchFamily="34" charset="0"/>
              </a:rPr>
              <a:t>Mismanagement</a:t>
            </a:r>
          </a:p>
        </p:txBody>
      </p:sp>
      <p:sp>
        <p:nvSpPr>
          <p:cNvPr id="13" name="Text Box 6">
            <a:extLst>
              <a:ext uri="{FF2B5EF4-FFF2-40B4-BE49-F238E27FC236}">
                <a16:creationId xmlns:a16="http://schemas.microsoft.com/office/drawing/2014/main" id="{78A9D4AA-3A36-4380-B07D-89E5B6DA6797}"/>
              </a:ext>
            </a:extLst>
          </p:cNvPr>
          <p:cNvSpPr txBox="1">
            <a:spLocks noChangeArrowheads="1"/>
          </p:cNvSpPr>
          <p:nvPr/>
        </p:nvSpPr>
        <p:spPr bwMode="auto">
          <a:xfrm>
            <a:off x="8324971" y="3229052"/>
            <a:ext cx="21820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Bureaucrat</a:t>
            </a:r>
          </a:p>
        </p:txBody>
      </p:sp>
      <p:sp>
        <p:nvSpPr>
          <p:cNvPr id="14" name="Text Box 10">
            <a:extLst>
              <a:ext uri="{FF2B5EF4-FFF2-40B4-BE49-F238E27FC236}">
                <a16:creationId xmlns:a16="http://schemas.microsoft.com/office/drawing/2014/main" id="{18D21DCF-95A6-447D-A49D-5D92579C5D81}"/>
              </a:ext>
            </a:extLst>
          </p:cNvPr>
          <p:cNvSpPr txBox="1">
            <a:spLocks noChangeArrowheads="1"/>
          </p:cNvSpPr>
          <p:nvPr/>
        </p:nvSpPr>
        <p:spPr bwMode="auto">
          <a:xfrm>
            <a:off x="5304472" y="3229052"/>
            <a:ext cx="10615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Slow</a:t>
            </a:r>
          </a:p>
        </p:txBody>
      </p:sp>
      <p:sp>
        <p:nvSpPr>
          <p:cNvPr id="15" name="Text Box 11">
            <a:extLst>
              <a:ext uri="{FF2B5EF4-FFF2-40B4-BE49-F238E27FC236}">
                <a16:creationId xmlns:a16="http://schemas.microsoft.com/office/drawing/2014/main" id="{681989D3-EB98-4BF1-94BC-2D4CC48A6C12}"/>
              </a:ext>
            </a:extLst>
          </p:cNvPr>
          <p:cNvSpPr txBox="1">
            <a:spLocks noChangeArrowheads="1"/>
          </p:cNvSpPr>
          <p:nvPr/>
        </p:nvSpPr>
        <p:spPr bwMode="auto">
          <a:xfrm>
            <a:off x="3564118" y="3229052"/>
            <a:ext cx="14366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Details</a:t>
            </a:r>
            <a:br>
              <a:rPr lang="en-US" altLang="lv-LV" sz="2800" dirty="0">
                <a:latin typeface="Tahoma" pitchFamily="34" charset="0"/>
              </a:rPr>
            </a:br>
            <a:r>
              <a:rPr lang="en-US" altLang="lv-LV" dirty="0">
                <a:latin typeface="Tahoma" pitchFamily="34" charset="0"/>
              </a:rPr>
              <a:t>(how)</a:t>
            </a:r>
          </a:p>
        </p:txBody>
      </p:sp>
      <p:sp>
        <p:nvSpPr>
          <p:cNvPr id="16" name="Text Box 16">
            <a:extLst>
              <a:ext uri="{FF2B5EF4-FFF2-40B4-BE49-F238E27FC236}">
                <a16:creationId xmlns:a16="http://schemas.microsoft.com/office/drawing/2014/main" id="{CFD495DE-0156-444F-A828-B5D383F4B75E}"/>
              </a:ext>
            </a:extLst>
          </p:cNvPr>
          <p:cNvSpPr txBox="1">
            <a:spLocks noChangeArrowheads="1"/>
          </p:cNvSpPr>
          <p:nvPr/>
        </p:nvSpPr>
        <p:spPr bwMode="auto">
          <a:xfrm>
            <a:off x="6635914" y="3229052"/>
            <a:ext cx="15279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Narrow</a:t>
            </a:r>
          </a:p>
        </p:txBody>
      </p:sp>
      <p:sp>
        <p:nvSpPr>
          <p:cNvPr id="17" name="Text Box 24">
            <a:extLst>
              <a:ext uri="{FF2B5EF4-FFF2-40B4-BE49-F238E27FC236}">
                <a16:creationId xmlns:a16="http://schemas.microsoft.com/office/drawing/2014/main" id="{9A3E4F2F-0AA5-4912-9189-592578248FDD}"/>
              </a:ext>
            </a:extLst>
          </p:cNvPr>
          <p:cNvSpPr txBox="1">
            <a:spLocks noChangeArrowheads="1"/>
          </p:cNvSpPr>
          <p:nvPr/>
        </p:nvSpPr>
        <p:spPr bwMode="auto">
          <a:xfrm>
            <a:off x="1046343" y="3209687"/>
            <a:ext cx="1412566" cy="584775"/>
          </a:xfrm>
          <a:prstGeom prst="rect">
            <a:avLst/>
          </a:prstGeom>
          <a:noFill/>
          <a:ln w="9525">
            <a:noFill/>
            <a:miter lim="800000"/>
            <a:headEnd/>
            <a:tailEnd/>
          </a:ln>
          <a:effectLst/>
        </p:spPr>
        <p:txBody>
          <a:bodyPr wrap="none">
            <a:spAutoFit/>
          </a:bodyPr>
          <a:lstStyle/>
          <a:p>
            <a:pPr>
              <a:defRPr/>
            </a:pPr>
            <a:r>
              <a:rPr lang="en-US" sz="3200" b="1" dirty="0">
                <a:solidFill>
                  <a:srgbClr val="FF0033"/>
                </a:solidFill>
                <a:effectLst>
                  <a:outerShdw blurRad="38100" dist="38100" dir="2700000" algn="tl">
                    <a:srgbClr val="C0C0C0"/>
                  </a:outerShdw>
                </a:effectLst>
                <a:latin typeface="Tahoma" pitchFamily="34" charset="0"/>
              </a:rPr>
              <a:t>Ø</a:t>
            </a:r>
            <a:r>
              <a:rPr lang="en-US" sz="3200" b="1" dirty="0">
                <a:effectLst>
                  <a:outerShdw blurRad="38100" dist="38100" dir="2700000" algn="tl">
                    <a:srgbClr val="C0C0C0"/>
                  </a:outerShdw>
                </a:effectLst>
                <a:latin typeface="Tahoma" pitchFamily="34" charset="0"/>
              </a:rPr>
              <a:t>A</a:t>
            </a:r>
            <a:r>
              <a:rPr lang="en-US" sz="3200" b="1" dirty="0">
                <a:solidFill>
                  <a:srgbClr val="FF0033"/>
                </a:solidFill>
                <a:effectLst>
                  <a:outerShdw blurRad="38100" dist="38100" dir="2700000" algn="tl">
                    <a:srgbClr val="C0C0C0"/>
                  </a:outerShdw>
                </a:effectLst>
                <a:latin typeface="Tahoma" pitchFamily="34" charset="0"/>
              </a:rPr>
              <a:t>ØØ</a:t>
            </a:r>
            <a:endParaRPr lang="en-US" sz="3000" b="1" dirty="0">
              <a:solidFill>
                <a:srgbClr val="002060"/>
              </a:solidFill>
              <a:effectLst>
                <a:outerShdw blurRad="38100" dist="38100" dir="2700000" algn="tl">
                  <a:srgbClr val="C0C0C0"/>
                </a:outerShdw>
              </a:effectLst>
              <a:latin typeface="Tahoma" pitchFamily="-111" charset="0"/>
              <a:ea typeface="ＭＳ Ｐゴシック" pitchFamily="-111" charset="-128"/>
            </a:endParaRPr>
          </a:p>
        </p:txBody>
      </p:sp>
      <p:sp>
        <p:nvSpPr>
          <p:cNvPr id="18" name="Text Box 6">
            <a:extLst>
              <a:ext uri="{FF2B5EF4-FFF2-40B4-BE49-F238E27FC236}">
                <a16:creationId xmlns:a16="http://schemas.microsoft.com/office/drawing/2014/main" id="{78A9D4AA-3A36-4380-B07D-89E5B6DA6797}"/>
              </a:ext>
            </a:extLst>
          </p:cNvPr>
          <p:cNvSpPr txBox="1">
            <a:spLocks noChangeArrowheads="1"/>
          </p:cNvSpPr>
          <p:nvPr/>
        </p:nvSpPr>
        <p:spPr bwMode="auto">
          <a:xfrm>
            <a:off x="8319432" y="4179474"/>
            <a:ext cx="16626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Arsonist</a:t>
            </a:r>
          </a:p>
        </p:txBody>
      </p:sp>
      <p:sp>
        <p:nvSpPr>
          <p:cNvPr id="19" name="Text Box 10">
            <a:extLst>
              <a:ext uri="{FF2B5EF4-FFF2-40B4-BE49-F238E27FC236}">
                <a16:creationId xmlns:a16="http://schemas.microsoft.com/office/drawing/2014/main" id="{18D21DCF-95A6-447D-A49D-5D92579C5D81}"/>
              </a:ext>
            </a:extLst>
          </p:cNvPr>
          <p:cNvSpPr txBox="1">
            <a:spLocks noChangeArrowheads="1"/>
          </p:cNvSpPr>
          <p:nvPr/>
        </p:nvSpPr>
        <p:spPr bwMode="auto">
          <a:xfrm>
            <a:off x="5298933" y="4179474"/>
            <a:ext cx="9412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Fast</a:t>
            </a:r>
          </a:p>
        </p:txBody>
      </p:sp>
      <p:sp>
        <p:nvSpPr>
          <p:cNvPr id="20" name="Text Box 11">
            <a:extLst>
              <a:ext uri="{FF2B5EF4-FFF2-40B4-BE49-F238E27FC236}">
                <a16:creationId xmlns:a16="http://schemas.microsoft.com/office/drawing/2014/main" id="{681989D3-EB98-4BF1-94BC-2D4CC48A6C12}"/>
              </a:ext>
            </a:extLst>
          </p:cNvPr>
          <p:cNvSpPr txBox="1">
            <a:spLocks noChangeArrowheads="1"/>
          </p:cNvSpPr>
          <p:nvPr/>
        </p:nvSpPr>
        <p:spPr bwMode="auto">
          <a:xfrm>
            <a:off x="3558579" y="4179474"/>
            <a:ext cx="1537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Change</a:t>
            </a:r>
          </a:p>
          <a:p>
            <a:pPr eaLnBrk="1" hangingPunct="1"/>
            <a:r>
              <a:rPr lang="en-US" altLang="lv-LV" dirty="0">
                <a:latin typeface="Tahoma" pitchFamily="34" charset="0"/>
              </a:rPr>
              <a:t>(why not)</a:t>
            </a:r>
          </a:p>
        </p:txBody>
      </p:sp>
      <p:sp>
        <p:nvSpPr>
          <p:cNvPr id="21" name="Text Box 16">
            <a:extLst>
              <a:ext uri="{FF2B5EF4-FFF2-40B4-BE49-F238E27FC236}">
                <a16:creationId xmlns:a16="http://schemas.microsoft.com/office/drawing/2014/main" id="{CFD495DE-0156-444F-A828-B5D383F4B75E}"/>
              </a:ext>
            </a:extLst>
          </p:cNvPr>
          <p:cNvSpPr txBox="1">
            <a:spLocks noChangeArrowheads="1"/>
          </p:cNvSpPr>
          <p:nvPr/>
        </p:nvSpPr>
        <p:spPr bwMode="auto">
          <a:xfrm>
            <a:off x="6630375" y="4179474"/>
            <a:ext cx="11015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Wide</a:t>
            </a:r>
          </a:p>
        </p:txBody>
      </p:sp>
      <p:sp>
        <p:nvSpPr>
          <p:cNvPr id="22" name="Text Box 24">
            <a:extLst>
              <a:ext uri="{FF2B5EF4-FFF2-40B4-BE49-F238E27FC236}">
                <a16:creationId xmlns:a16="http://schemas.microsoft.com/office/drawing/2014/main" id="{9A3E4F2F-0AA5-4912-9189-592578248FDD}"/>
              </a:ext>
            </a:extLst>
          </p:cNvPr>
          <p:cNvSpPr txBox="1">
            <a:spLocks noChangeArrowheads="1"/>
          </p:cNvSpPr>
          <p:nvPr/>
        </p:nvSpPr>
        <p:spPr bwMode="auto">
          <a:xfrm>
            <a:off x="1049117" y="4160109"/>
            <a:ext cx="1385316" cy="584775"/>
          </a:xfrm>
          <a:prstGeom prst="rect">
            <a:avLst/>
          </a:prstGeom>
          <a:noFill/>
          <a:ln w="9525">
            <a:noFill/>
            <a:miter lim="800000"/>
            <a:headEnd/>
            <a:tailEnd/>
          </a:ln>
          <a:effectLst/>
        </p:spPr>
        <p:txBody>
          <a:bodyPr wrap="none">
            <a:spAutoFit/>
          </a:bodyPr>
          <a:lstStyle/>
          <a:p>
            <a:pPr>
              <a:defRPr/>
            </a:pPr>
            <a:r>
              <a:rPr lang="en-US" sz="3200" b="1" dirty="0">
                <a:solidFill>
                  <a:srgbClr val="FF0033"/>
                </a:solidFill>
                <a:effectLst>
                  <a:outerShdw blurRad="38100" dist="38100" dir="2700000" algn="tl">
                    <a:srgbClr val="C0C0C0"/>
                  </a:outerShdw>
                </a:effectLst>
                <a:latin typeface="Tahoma" pitchFamily="34" charset="0"/>
              </a:rPr>
              <a:t>ØØ</a:t>
            </a:r>
            <a:r>
              <a:rPr lang="en-US" sz="3200" b="1" dirty="0">
                <a:effectLst>
                  <a:outerShdw blurRad="38100" dist="38100" dir="2700000" algn="tl">
                    <a:srgbClr val="C0C0C0"/>
                  </a:outerShdw>
                </a:effectLst>
                <a:latin typeface="Tahoma" pitchFamily="34" charset="0"/>
              </a:rPr>
              <a:t>E</a:t>
            </a:r>
            <a:r>
              <a:rPr lang="en-US" sz="3200" b="1" dirty="0">
                <a:solidFill>
                  <a:srgbClr val="FF0033"/>
                </a:solidFill>
                <a:effectLst>
                  <a:outerShdw blurRad="38100" dist="38100" dir="2700000" algn="tl">
                    <a:srgbClr val="C0C0C0"/>
                  </a:outerShdw>
                </a:effectLst>
                <a:latin typeface="Tahoma" pitchFamily="34" charset="0"/>
              </a:rPr>
              <a:t>Ø</a:t>
            </a:r>
            <a:endParaRPr lang="en-US" sz="3000" b="1" dirty="0">
              <a:solidFill>
                <a:srgbClr val="002060"/>
              </a:solidFill>
              <a:effectLst>
                <a:outerShdw blurRad="38100" dist="38100" dir="2700000" algn="tl">
                  <a:srgbClr val="C0C0C0"/>
                </a:outerShdw>
              </a:effectLst>
              <a:latin typeface="Tahoma" pitchFamily="-111" charset="0"/>
              <a:ea typeface="ＭＳ Ｐゴシック" pitchFamily="-111" charset="-128"/>
            </a:endParaRPr>
          </a:p>
        </p:txBody>
      </p:sp>
    </p:spTree>
    <p:extLst>
      <p:ext uri="{BB962C8B-B14F-4D97-AF65-F5344CB8AC3E}">
        <p14:creationId xmlns:p14="http://schemas.microsoft.com/office/powerpoint/2010/main" val="19254423"/>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p:cNvGraphicFramePr>
            <a:graphicFrameLocks noChangeAspect="1"/>
          </p:cNvGraphicFramePr>
          <p:nvPr>
            <p:extLst/>
          </p:nvPr>
        </p:nvGraphicFramePr>
        <p:xfrm>
          <a:off x="7584949" y="1682751"/>
          <a:ext cx="3340191" cy="3840163"/>
        </p:xfrm>
        <a:graphic>
          <a:graphicData uri="http://schemas.openxmlformats.org/presentationml/2006/ole">
            <mc:AlternateContent xmlns:mc="http://schemas.openxmlformats.org/markup-compatibility/2006">
              <mc:Choice xmlns:v="urn:schemas-microsoft-com:vml" Requires="v">
                <p:oleObj spid="_x0000_s8196" name="Image" r:id="rId3" imgW="4968585" imgH="5476880" progId="">
                  <p:embed/>
                </p:oleObj>
              </mc:Choice>
              <mc:Fallback>
                <p:oleObj name="Image" r:id="rId3" imgW="4968585" imgH="5476880" progId="">
                  <p:embed/>
                  <p:pic>
                    <p:nvPicPr>
                      <p:cNvPr id="5" name="Object 2"/>
                      <p:cNvPicPr>
                        <a:picLocks noChangeAspect="1" noChangeArrowheads="1"/>
                      </p:cNvPicPr>
                      <p:nvPr/>
                    </p:nvPicPr>
                    <p:blipFill>
                      <a:blip r:embed="rId4">
                        <a:extLst>
                          <a:ext uri="{28A0092B-C50C-407E-A947-70E740481C1C}">
                            <a14:useLocalDpi xmlns:a14="http://schemas.microsoft.com/office/drawing/2010/main" val="0"/>
                          </a:ext>
                        </a:extLst>
                      </a:blip>
                      <a:srcRect r="4102"/>
                      <a:stretch>
                        <a:fillRect/>
                      </a:stretch>
                    </p:blipFill>
                    <p:spPr bwMode="auto">
                      <a:xfrm>
                        <a:off x="7584949" y="1682751"/>
                        <a:ext cx="3340191" cy="384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ext Box 2"/>
          <p:cNvSpPr txBox="1">
            <a:spLocks noChangeArrowheads="1"/>
          </p:cNvSpPr>
          <p:nvPr/>
        </p:nvSpPr>
        <p:spPr bwMode="auto">
          <a:xfrm>
            <a:off x="1916900" y="1911350"/>
            <a:ext cx="8044893" cy="395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28600" indent="-228600"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a:spcBef>
                <a:spcPct val="15000"/>
              </a:spcBef>
              <a:spcAft>
                <a:spcPct val="15000"/>
              </a:spcAft>
              <a:buFontTx/>
              <a:buChar char="•"/>
            </a:pPr>
            <a:r>
              <a:rPr lang="en-US" altLang="lv-LV" sz="2200" dirty="0">
                <a:solidFill>
                  <a:schemeClr val="accent2"/>
                </a:solidFill>
              </a:rPr>
              <a:t>No fixed time for coming or going</a:t>
            </a:r>
          </a:p>
          <a:p>
            <a:pPr>
              <a:spcBef>
                <a:spcPct val="15000"/>
              </a:spcBef>
              <a:spcAft>
                <a:spcPct val="15000"/>
              </a:spcAft>
              <a:buFontTx/>
              <a:buChar char="•"/>
            </a:pPr>
            <a:r>
              <a:rPr lang="en-US" altLang="lv-LV" sz="2200" dirty="0">
                <a:solidFill>
                  <a:schemeClr val="accent2"/>
                </a:solidFill>
              </a:rPr>
              <a:t>No fixed time for meeting</a:t>
            </a:r>
          </a:p>
          <a:p>
            <a:pPr>
              <a:spcBef>
                <a:spcPct val="15000"/>
              </a:spcBef>
              <a:spcAft>
                <a:spcPct val="15000"/>
              </a:spcAft>
              <a:buFontTx/>
              <a:buChar char="•"/>
            </a:pPr>
            <a:r>
              <a:rPr lang="en-US" altLang="lv-LV" sz="2200" dirty="0">
                <a:solidFill>
                  <a:schemeClr val="accent2"/>
                </a:solidFill>
              </a:rPr>
              <a:t>No agenda</a:t>
            </a:r>
          </a:p>
          <a:p>
            <a:pPr>
              <a:spcBef>
                <a:spcPct val="15000"/>
              </a:spcBef>
              <a:spcAft>
                <a:spcPct val="15000"/>
              </a:spcAft>
              <a:buFontTx/>
              <a:buChar char="•"/>
            </a:pPr>
            <a:r>
              <a:rPr lang="en-US" altLang="lv-LV" sz="2200" dirty="0">
                <a:solidFill>
                  <a:schemeClr val="accent2"/>
                </a:solidFill>
              </a:rPr>
              <a:t>Does all the talking </a:t>
            </a:r>
          </a:p>
          <a:p>
            <a:pPr>
              <a:spcBef>
                <a:spcPct val="15000"/>
              </a:spcBef>
              <a:spcAft>
                <a:spcPct val="15000"/>
              </a:spcAft>
              <a:buFontTx/>
              <a:buChar char="•"/>
            </a:pPr>
            <a:r>
              <a:rPr lang="en-US" altLang="lv-LV" sz="2200" dirty="0">
                <a:solidFill>
                  <a:schemeClr val="accent2"/>
                </a:solidFill>
              </a:rPr>
              <a:t>Starts fires - arsonist</a:t>
            </a:r>
          </a:p>
          <a:p>
            <a:pPr>
              <a:spcBef>
                <a:spcPct val="15000"/>
              </a:spcBef>
              <a:spcAft>
                <a:spcPct val="15000"/>
              </a:spcAft>
              <a:buFontTx/>
              <a:buChar char="•"/>
            </a:pPr>
            <a:r>
              <a:rPr lang="en-US" altLang="lv-LV" sz="2200" dirty="0">
                <a:solidFill>
                  <a:schemeClr val="accent2"/>
                </a:solidFill>
              </a:rPr>
              <a:t>Likes to see much activity - Rushing, Crisis</a:t>
            </a:r>
          </a:p>
          <a:p>
            <a:pPr>
              <a:spcBef>
                <a:spcPct val="15000"/>
              </a:spcBef>
              <a:spcAft>
                <a:spcPct val="15000"/>
              </a:spcAft>
              <a:buFontTx/>
              <a:buChar char="•"/>
            </a:pPr>
            <a:r>
              <a:rPr lang="en-US" altLang="lv-LV" sz="2200" dirty="0">
                <a:solidFill>
                  <a:schemeClr val="accent2"/>
                </a:solidFill>
              </a:rPr>
              <a:t>Changes priorities all the time</a:t>
            </a:r>
          </a:p>
          <a:p>
            <a:pPr>
              <a:spcBef>
                <a:spcPct val="15000"/>
              </a:spcBef>
              <a:spcAft>
                <a:spcPct val="15000"/>
              </a:spcAft>
              <a:buFontTx/>
              <a:buChar char="•"/>
            </a:pPr>
            <a:r>
              <a:rPr lang="en-US" altLang="lv-LV" sz="2200" dirty="0">
                <a:solidFill>
                  <a:schemeClr val="accent2"/>
                </a:solidFill>
              </a:rPr>
              <a:t>Overloads subordinates</a:t>
            </a:r>
          </a:p>
          <a:p>
            <a:pPr>
              <a:spcBef>
                <a:spcPct val="15000"/>
              </a:spcBef>
              <a:spcAft>
                <a:spcPct val="15000"/>
              </a:spcAft>
              <a:buFontTx/>
              <a:buChar char="•"/>
            </a:pPr>
            <a:r>
              <a:rPr lang="en-US" altLang="lv-LV" sz="2200" dirty="0">
                <a:solidFill>
                  <a:schemeClr val="accent2"/>
                </a:solidFill>
              </a:rPr>
              <a:t>Little appreciation for time and what can be done in it</a:t>
            </a:r>
          </a:p>
        </p:txBody>
      </p:sp>
      <p:sp>
        <p:nvSpPr>
          <p:cNvPr id="4" name="Rectangle 3"/>
          <p:cNvSpPr>
            <a:spLocks noChangeArrowheads="1"/>
          </p:cNvSpPr>
          <p:nvPr/>
        </p:nvSpPr>
        <p:spPr bwMode="auto">
          <a:xfrm>
            <a:off x="4495498" y="1124431"/>
            <a:ext cx="3201004" cy="523220"/>
          </a:xfrm>
          <a:prstGeom prst="rect">
            <a:avLst/>
          </a:prstGeom>
          <a:noFill/>
          <a:ln w="12700">
            <a:noFill/>
            <a:miter lim="800000"/>
            <a:headEnd type="none" w="sm" len="sm"/>
            <a:tailEnd type="none" w="sm" len="sm"/>
          </a:ln>
          <a:effectLst/>
        </p:spPr>
        <p:txBody>
          <a:bodyPr wrap="none">
            <a:spAutoFit/>
          </a:bodyPr>
          <a:lstStyle/>
          <a:p>
            <a:pPr eaLnBrk="0" hangingPunct="0">
              <a:defRPr/>
            </a:pPr>
            <a:r>
              <a:rPr lang="en-US" sz="2800" b="1" dirty="0">
                <a:solidFill>
                  <a:srgbClr val="FF0000"/>
                </a:solidFill>
                <a:effectLst>
                  <a:outerShdw blurRad="38100" dist="38100" dir="2700000" algn="tl">
                    <a:srgbClr val="C0C0C0"/>
                  </a:outerShdw>
                </a:effectLst>
              </a:rPr>
              <a:t>ØØ</a:t>
            </a:r>
            <a:r>
              <a:rPr lang="en-US" sz="2800" b="1" dirty="0">
                <a:solidFill>
                  <a:srgbClr val="FF0033"/>
                </a:solidFill>
                <a:effectLst>
                  <a:outerShdw blurRad="38100" dist="38100" dir="2700000" algn="tl">
                    <a:srgbClr val="C0C0C0"/>
                  </a:outerShdw>
                </a:effectLst>
              </a:rPr>
              <a:t>E</a:t>
            </a:r>
            <a:r>
              <a:rPr lang="en-US" sz="2800" b="1" dirty="0">
                <a:solidFill>
                  <a:srgbClr val="FF0000"/>
                </a:solidFill>
                <a:effectLst>
                  <a:outerShdw blurRad="38100" dist="38100" dir="2700000" algn="tl">
                    <a:srgbClr val="C0C0C0"/>
                  </a:outerShdw>
                </a:effectLst>
              </a:rPr>
              <a:t>Ø</a:t>
            </a:r>
            <a:r>
              <a:rPr lang="en-US" sz="2800" b="1" dirty="0">
                <a:solidFill>
                  <a:srgbClr val="FF0033"/>
                </a:solidFill>
                <a:effectLst>
                  <a:outerShdw blurRad="38100" dist="38100" dir="2700000" algn="tl">
                    <a:srgbClr val="C0C0C0"/>
                  </a:outerShdw>
                </a:effectLst>
              </a:rPr>
              <a:t> ARSONIST</a:t>
            </a:r>
          </a:p>
        </p:txBody>
      </p:sp>
    </p:spTree>
    <p:extLst>
      <p:ext uri="{BB962C8B-B14F-4D97-AF65-F5344CB8AC3E}">
        <p14:creationId xmlns:p14="http://schemas.microsoft.com/office/powerpoint/2010/main" val="1724891047"/>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052888" y="250344"/>
            <a:ext cx="6852415" cy="338618"/>
          </a:xfrm>
        </p:spPr>
        <p:txBody>
          <a:bodyPr>
            <a:normAutofit fontScale="90000"/>
          </a:bodyPr>
          <a:lstStyle/>
          <a:p>
            <a:r>
              <a:rPr lang="en-US" dirty="0"/>
              <a:t>Prescriptive </a:t>
            </a:r>
            <a:r>
              <a:rPr lang="en-US" dirty="0" err="1"/>
              <a:t>paEi</a:t>
            </a:r>
            <a:r>
              <a:rPr lang="en-US" dirty="0"/>
              <a:t> – Entrepreneurs</a:t>
            </a:r>
          </a:p>
        </p:txBody>
      </p:sp>
      <p:sp>
        <p:nvSpPr>
          <p:cNvPr id="8" name="AutoShape 3"/>
          <p:cNvSpPr>
            <a:spLocks noChangeAspect="1" noChangeArrowheads="1" noTextEdit="1"/>
          </p:cNvSpPr>
          <p:nvPr/>
        </p:nvSpPr>
        <p:spPr bwMode="auto">
          <a:xfrm>
            <a:off x="2116138" y="1431925"/>
            <a:ext cx="7959725" cy="399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Rectangle 5"/>
          <p:cNvSpPr>
            <a:spLocks noChangeArrowheads="1"/>
          </p:cNvSpPr>
          <p:nvPr/>
        </p:nvSpPr>
        <p:spPr bwMode="auto">
          <a:xfrm>
            <a:off x="2116138" y="1601788"/>
            <a:ext cx="3519488" cy="779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4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2488" y="1606550"/>
            <a:ext cx="3513138"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p:cNvSpPr>
            <a:spLocks noChangeArrowheads="1"/>
          </p:cNvSpPr>
          <p:nvPr/>
        </p:nvSpPr>
        <p:spPr bwMode="auto">
          <a:xfrm>
            <a:off x="2116138" y="1601788"/>
            <a:ext cx="3519488" cy="77946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Rectangle 8"/>
          <p:cNvSpPr>
            <a:spLocks noChangeArrowheads="1"/>
          </p:cNvSpPr>
          <p:nvPr/>
        </p:nvSpPr>
        <p:spPr bwMode="auto">
          <a:xfrm>
            <a:off x="5635626" y="1601788"/>
            <a:ext cx="635000" cy="779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49"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5626" y="1606550"/>
            <a:ext cx="635000"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0"/>
          <p:cNvSpPr>
            <a:spLocks noChangeArrowheads="1"/>
          </p:cNvSpPr>
          <p:nvPr/>
        </p:nvSpPr>
        <p:spPr bwMode="auto">
          <a:xfrm>
            <a:off x="5635626" y="1601788"/>
            <a:ext cx="635000" cy="77946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11"/>
          <p:cNvSpPr>
            <a:spLocks noChangeArrowheads="1"/>
          </p:cNvSpPr>
          <p:nvPr/>
        </p:nvSpPr>
        <p:spPr bwMode="auto">
          <a:xfrm>
            <a:off x="6270626" y="1601788"/>
            <a:ext cx="3795713" cy="779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52"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70626" y="1606550"/>
            <a:ext cx="3790950"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p:nvSpPr>
        <p:spPr bwMode="auto">
          <a:xfrm>
            <a:off x="6270626" y="1601788"/>
            <a:ext cx="3795713" cy="77946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14"/>
          <p:cNvSpPr>
            <a:spLocks noChangeArrowheads="1"/>
          </p:cNvSpPr>
          <p:nvPr/>
        </p:nvSpPr>
        <p:spPr bwMode="auto">
          <a:xfrm>
            <a:off x="2116138" y="3151188"/>
            <a:ext cx="3519488" cy="11191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55"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2488" y="3154363"/>
            <a:ext cx="3513138"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6"/>
          <p:cNvSpPr>
            <a:spLocks noChangeArrowheads="1"/>
          </p:cNvSpPr>
          <p:nvPr/>
        </p:nvSpPr>
        <p:spPr bwMode="auto">
          <a:xfrm>
            <a:off x="2116138" y="3151188"/>
            <a:ext cx="3519488" cy="1119188"/>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17"/>
          <p:cNvSpPr>
            <a:spLocks noChangeArrowheads="1"/>
          </p:cNvSpPr>
          <p:nvPr/>
        </p:nvSpPr>
        <p:spPr bwMode="auto">
          <a:xfrm>
            <a:off x="5635626" y="3151188"/>
            <a:ext cx="635000" cy="11191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58" name="Picture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5626" y="3154363"/>
            <a:ext cx="635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9"/>
          <p:cNvSpPr>
            <a:spLocks noChangeArrowheads="1"/>
          </p:cNvSpPr>
          <p:nvPr/>
        </p:nvSpPr>
        <p:spPr bwMode="auto">
          <a:xfrm>
            <a:off x="5635626" y="3151188"/>
            <a:ext cx="635000" cy="1119188"/>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20"/>
          <p:cNvSpPr>
            <a:spLocks noChangeArrowheads="1"/>
          </p:cNvSpPr>
          <p:nvPr/>
        </p:nvSpPr>
        <p:spPr bwMode="auto">
          <a:xfrm>
            <a:off x="6270626" y="3151188"/>
            <a:ext cx="3795713" cy="11191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61" name="Picture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70626" y="3154363"/>
            <a:ext cx="37909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22"/>
          <p:cNvSpPr>
            <a:spLocks noChangeArrowheads="1"/>
          </p:cNvSpPr>
          <p:nvPr/>
        </p:nvSpPr>
        <p:spPr bwMode="auto">
          <a:xfrm>
            <a:off x="6270626" y="3151188"/>
            <a:ext cx="3795713" cy="1119188"/>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Rectangle 23"/>
          <p:cNvSpPr>
            <a:spLocks noChangeArrowheads="1"/>
          </p:cNvSpPr>
          <p:nvPr/>
        </p:nvSpPr>
        <p:spPr bwMode="auto">
          <a:xfrm>
            <a:off x="2116138" y="5041900"/>
            <a:ext cx="3519488" cy="3746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64" name="Picture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2488" y="5045075"/>
            <a:ext cx="351313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5"/>
          <p:cNvSpPr>
            <a:spLocks noChangeArrowheads="1"/>
          </p:cNvSpPr>
          <p:nvPr/>
        </p:nvSpPr>
        <p:spPr bwMode="auto">
          <a:xfrm>
            <a:off x="2116138" y="5041900"/>
            <a:ext cx="3519488" cy="374650"/>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Rectangle 26"/>
          <p:cNvSpPr>
            <a:spLocks noChangeArrowheads="1"/>
          </p:cNvSpPr>
          <p:nvPr/>
        </p:nvSpPr>
        <p:spPr bwMode="auto">
          <a:xfrm>
            <a:off x="5635626" y="5041900"/>
            <a:ext cx="635000" cy="3746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67" name="Picture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5626" y="5045075"/>
            <a:ext cx="63500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28"/>
          <p:cNvSpPr>
            <a:spLocks noChangeArrowheads="1"/>
          </p:cNvSpPr>
          <p:nvPr/>
        </p:nvSpPr>
        <p:spPr bwMode="auto">
          <a:xfrm>
            <a:off x="5635626" y="5041900"/>
            <a:ext cx="635000" cy="374650"/>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Rectangle 29"/>
          <p:cNvSpPr>
            <a:spLocks noChangeArrowheads="1"/>
          </p:cNvSpPr>
          <p:nvPr/>
        </p:nvSpPr>
        <p:spPr bwMode="auto">
          <a:xfrm>
            <a:off x="6270626" y="5041900"/>
            <a:ext cx="3795713" cy="3746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70" name="Picture 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70626" y="5045075"/>
            <a:ext cx="379095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31"/>
          <p:cNvSpPr>
            <a:spLocks noChangeArrowheads="1"/>
          </p:cNvSpPr>
          <p:nvPr/>
        </p:nvSpPr>
        <p:spPr bwMode="auto">
          <a:xfrm>
            <a:off x="6270626" y="5041900"/>
            <a:ext cx="3795713" cy="374650"/>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Line 32"/>
          <p:cNvSpPr>
            <a:spLocks noChangeShapeType="1"/>
          </p:cNvSpPr>
          <p:nvPr/>
        </p:nvSpPr>
        <p:spPr bwMode="auto">
          <a:xfrm>
            <a:off x="5635626" y="1428750"/>
            <a:ext cx="0" cy="399415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33"/>
          <p:cNvSpPr>
            <a:spLocks noChangeShapeType="1"/>
          </p:cNvSpPr>
          <p:nvPr/>
        </p:nvSpPr>
        <p:spPr bwMode="auto">
          <a:xfrm>
            <a:off x="6270626" y="1428750"/>
            <a:ext cx="0" cy="399415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34"/>
          <p:cNvSpPr>
            <a:spLocks noChangeShapeType="1"/>
          </p:cNvSpPr>
          <p:nvPr/>
        </p:nvSpPr>
        <p:spPr bwMode="auto">
          <a:xfrm>
            <a:off x="2116138" y="1606550"/>
            <a:ext cx="7950200" cy="0"/>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35"/>
          <p:cNvSpPr>
            <a:spLocks noChangeShapeType="1"/>
          </p:cNvSpPr>
          <p:nvPr/>
        </p:nvSpPr>
        <p:spPr bwMode="auto">
          <a:xfrm>
            <a:off x="2116138" y="2379663"/>
            <a:ext cx="7950200"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36"/>
          <p:cNvSpPr>
            <a:spLocks noChangeShapeType="1"/>
          </p:cNvSpPr>
          <p:nvPr/>
        </p:nvSpPr>
        <p:spPr bwMode="auto">
          <a:xfrm>
            <a:off x="2116138" y="3154363"/>
            <a:ext cx="7950200"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Line 37"/>
          <p:cNvSpPr>
            <a:spLocks noChangeShapeType="1"/>
          </p:cNvSpPr>
          <p:nvPr/>
        </p:nvSpPr>
        <p:spPr bwMode="auto">
          <a:xfrm>
            <a:off x="2116138" y="4271963"/>
            <a:ext cx="7950200"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Line 38"/>
          <p:cNvSpPr>
            <a:spLocks noChangeShapeType="1"/>
          </p:cNvSpPr>
          <p:nvPr/>
        </p:nvSpPr>
        <p:spPr bwMode="auto">
          <a:xfrm>
            <a:off x="2116138" y="5045075"/>
            <a:ext cx="7950200"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Line 39"/>
          <p:cNvSpPr>
            <a:spLocks noChangeShapeType="1"/>
          </p:cNvSpPr>
          <p:nvPr/>
        </p:nvSpPr>
        <p:spPr bwMode="auto">
          <a:xfrm>
            <a:off x="2122488" y="1428750"/>
            <a:ext cx="0" cy="399415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Line 40"/>
          <p:cNvSpPr>
            <a:spLocks noChangeShapeType="1"/>
          </p:cNvSpPr>
          <p:nvPr/>
        </p:nvSpPr>
        <p:spPr bwMode="auto">
          <a:xfrm>
            <a:off x="10061576" y="1428750"/>
            <a:ext cx="0" cy="399415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Line 41"/>
          <p:cNvSpPr>
            <a:spLocks noChangeShapeType="1"/>
          </p:cNvSpPr>
          <p:nvPr/>
        </p:nvSpPr>
        <p:spPr bwMode="auto">
          <a:xfrm>
            <a:off x="2116138" y="1433513"/>
            <a:ext cx="7950200"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Line 42"/>
          <p:cNvSpPr>
            <a:spLocks noChangeShapeType="1"/>
          </p:cNvSpPr>
          <p:nvPr/>
        </p:nvSpPr>
        <p:spPr bwMode="auto">
          <a:xfrm>
            <a:off x="2116138" y="5418138"/>
            <a:ext cx="7950200"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Rectangle 43"/>
          <p:cNvSpPr>
            <a:spLocks noChangeArrowheads="1"/>
          </p:cNvSpPr>
          <p:nvPr/>
        </p:nvSpPr>
        <p:spPr bwMode="auto">
          <a:xfrm>
            <a:off x="2328863" y="1670050"/>
            <a:ext cx="16922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Think more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9" name="Rectangle 44"/>
          <p:cNvSpPr>
            <a:spLocks noChangeArrowheads="1"/>
          </p:cNvSpPr>
          <p:nvPr/>
        </p:nvSpPr>
        <p:spPr bwMode="auto">
          <a:xfrm>
            <a:off x="3841751" y="1670050"/>
            <a:ext cx="2952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0" name="Rectangle 45"/>
          <p:cNvSpPr>
            <a:spLocks noChangeArrowheads="1"/>
          </p:cNvSpPr>
          <p:nvPr/>
        </p:nvSpPr>
        <p:spPr bwMode="auto">
          <a:xfrm>
            <a:off x="4084638" y="1670050"/>
            <a:ext cx="15208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speak less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1" name="Rectangle 46"/>
          <p:cNvSpPr>
            <a:spLocks noChangeArrowheads="1"/>
          </p:cNvSpPr>
          <p:nvPr/>
        </p:nvSpPr>
        <p:spPr bwMode="auto">
          <a:xfrm>
            <a:off x="6557963" y="1670050"/>
            <a:ext cx="35560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Let someone else explain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2" name="Rectangle 47"/>
          <p:cNvSpPr>
            <a:spLocks noChangeArrowheads="1"/>
          </p:cNvSpPr>
          <p:nvPr/>
        </p:nvSpPr>
        <p:spPr bwMode="auto">
          <a:xfrm>
            <a:off x="7158038" y="2019300"/>
            <a:ext cx="22113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what you meant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3" name="Rectangle 48"/>
          <p:cNvSpPr>
            <a:spLocks noChangeArrowheads="1"/>
          </p:cNvSpPr>
          <p:nvPr/>
        </p:nvSpPr>
        <p:spPr bwMode="auto">
          <a:xfrm>
            <a:off x="2525713" y="2446338"/>
            <a:ext cx="305435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You don’t have to say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4" name="Rectangle 49"/>
          <p:cNvSpPr>
            <a:spLocks noChangeArrowheads="1"/>
          </p:cNvSpPr>
          <p:nvPr/>
        </p:nvSpPr>
        <p:spPr bwMode="auto">
          <a:xfrm>
            <a:off x="2606676" y="2795588"/>
            <a:ext cx="274955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everything you think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50"/>
          <p:cNvSpPr>
            <a:spLocks noChangeArrowheads="1"/>
          </p:cNvSpPr>
          <p:nvPr/>
        </p:nvSpPr>
        <p:spPr bwMode="auto">
          <a:xfrm>
            <a:off x="6773863" y="2446338"/>
            <a:ext cx="31337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“Yes” means “maybe”.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6" name="Rectangle 51"/>
          <p:cNvSpPr>
            <a:spLocks noChangeArrowheads="1"/>
          </p:cNvSpPr>
          <p:nvPr/>
        </p:nvSpPr>
        <p:spPr bwMode="auto">
          <a:xfrm>
            <a:off x="6880226" y="2795588"/>
            <a:ext cx="2786063"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“Maybe” means “no”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Rectangle 52"/>
          <p:cNvSpPr>
            <a:spLocks noChangeArrowheads="1"/>
          </p:cNvSpPr>
          <p:nvPr/>
        </p:nvSpPr>
        <p:spPr bwMode="auto">
          <a:xfrm>
            <a:off x="2820988" y="3217863"/>
            <a:ext cx="18176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Silence does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8" name="Rectangle 53"/>
          <p:cNvSpPr>
            <a:spLocks noChangeArrowheads="1"/>
          </p:cNvSpPr>
          <p:nvPr/>
        </p:nvSpPr>
        <p:spPr bwMode="auto">
          <a:xfrm>
            <a:off x="4540251" y="3217863"/>
            <a:ext cx="627063"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not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 name="Rectangle 54"/>
          <p:cNvSpPr>
            <a:spLocks noChangeArrowheads="1"/>
          </p:cNvSpPr>
          <p:nvPr/>
        </p:nvSpPr>
        <p:spPr bwMode="auto">
          <a:xfrm>
            <a:off x="2768601" y="3567113"/>
            <a:ext cx="2506663"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necessarily mean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55"/>
          <p:cNvSpPr>
            <a:spLocks noChangeArrowheads="1"/>
          </p:cNvSpPr>
          <p:nvPr/>
        </p:nvSpPr>
        <p:spPr bwMode="auto">
          <a:xfrm>
            <a:off x="3206751" y="3910013"/>
            <a:ext cx="153987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agreement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56"/>
          <p:cNvSpPr>
            <a:spLocks noChangeArrowheads="1"/>
          </p:cNvSpPr>
          <p:nvPr/>
        </p:nvSpPr>
        <p:spPr bwMode="auto">
          <a:xfrm>
            <a:off x="6683376" y="3217863"/>
            <a:ext cx="32781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Hearing does not mean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2" name="Rectangle 57"/>
          <p:cNvSpPr>
            <a:spLocks noChangeArrowheads="1"/>
          </p:cNvSpPr>
          <p:nvPr/>
        </p:nvSpPr>
        <p:spPr bwMode="auto">
          <a:xfrm>
            <a:off x="6469063" y="3567113"/>
            <a:ext cx="20859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understanding,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58"/>
          <p:cNvSpPr>
            <a:spLocks noChangeArrowheads="1"/>
          </p:cNvSpPr>
          <p:nvPr/>
        </p:nvSpPr>
        <p:spPr bwMode="auto">
          <a:xfrm>
            <a:off x="8447088" y="3567113"/>
            <a:ext cx="17113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agreement,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 name="Rectangle 59"/>
          <p:cNvSpPr>
            <a:spLocks noChangeArrowheads="1"/>
          </p:cNvSpPr>
          <p:nvPr/>
        </p:nvSpPr>
        <p:spPr bwMode="auto">
          <a:xfrm>
            <a:off x="6451601" y="3910013"/>
            <a:ext cx="36703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acceptance or commitment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60"/>
          <p:cNvSpPr>
            <a:spLocks noChangeArrowheads="1"/>
          </p:cNvSpPr>
          <p:nvPr/>
        </p:nvSpPr>
        <p:spPr bwMode="auto">
          <a:xfrm>
            <a:off x="2570163" y="4335463"/>
            <a:ext cx="2919413"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The less you say the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6" name="Rectangle 61"/>
          <p:cNvSpPr>
            <a:spLocks noChangeArrowheads="1"/>
          </p:cNvSpPr>
          <p:nvPr/>
        </p:nvSpPr>
        <p:spPr bwMode="auto">
          <a:xfrm>
            <a:off x="2525713" y="4684713"/>
            <a:ext cx="2462213"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more others hear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 name="Rectangle 62"/>
          <p:cNvSpPr>
            <a:spLocks noChangeArrowheads="1"/>
          </p:cNvSpPr>
          <p:nvPr/>
        </p:nvSpPr>
        <p:spPr bwMode="auto">
          <a:xfrm>
            <a:off x="4791076" y="4684713"/>
            <a:ext cx="6096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you</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8" name="Rectangle 63"/>
          <p:cNvSpPr>
            <a:spLocks noChangeArrowheads="1"/>
          </p:cNvSpPr>
          <p:nvPr/>
        </p:nvSpPr>
        <p:spPr bwMode="auto">
          <a:xfrm>
            <a:off x="7051676" y="4335463"/>
            <a:ext cx="2640013"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Takes 2 people to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9" name="Rectangle 64"/>
          <p:cNvSpPr>
            <a:spLocks noChangeArrowheads="1"/>
          </p:cNvSpPr>
          <p:nvPr/>
        </p:nvSpPr>
        <p:spPr bwMode="auto">
          <a:xfrm>
            <a:off x="6924330" y="4676153"/>
            <a:ext cx="2697854"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understand 1 person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1911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62818" y="278448"/>
            <a:ext cx="7092002" cy="265276"/>
          </a:xfrm>
        </p:spPr>
        <p:txBody>
          <a:bodyPr>
            <a:noAutofit/>
          </a:bodyPr>
          <a:lstStyle/>
          <a:p>
            <a:r>
              <a:rPr lang="en-US" dirty="0"/>
              <a:t>Prescriptive </a:t>
            </a:r>
            <a:r>
              <a:rPr lang="en-US" dirty="0" err="1"/>
              <a:t>paEi</a:t>
            </a:r>
            <a:r>
              <a:rPr lang="en-US" dirty="0"/>
              <a:t> – Entrepreneurs</a:t>
            </a:r>
          </a:p>
        </p:txBody>
      </p:sp>
      <p:sp>
        <p:nvSpPr>
          <p:cNvPr id="8" name="AutoShape 3"/>
          <p:cNvSpPr>
            <a:spLocks noChangeAspect="1" noChangeArrowheads="1" noTextEdit="1"/>
          </p:cNvSpPr>
          <p:nvPr/>
        </p:nvSpPr>
        <p:spPr bwMode="auto">
          <a:xfrm>
            <a:off x="1990725" y="1138238"/>
            <a:ext cx="821055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Rectangle 5"/>
          <p:cNvSpPr>
            <a:spLocks noChangeArrowheads="1"/>
          </p:cNvSpPr>
          <p:nvPr/>
        </p:nvSpPr>
        <p:spPr bwMode="auto">
          <a:xfrm>
            <a:off x="1990725" y="1317626"/>
            <a:ext cx="3841750" cy="14668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127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8663" y="1319213"/>
            <a:ext cx="38322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p:cNvSpPr>
            <a:spLocks noChangeArrowheads="1"/>
          </p:cNvSpPr>
          <p:nvPr/>
        </p:nvSpPr>
        <p:spPr bwMode="auto">
          <a:xfrm>
            <a:off x="1990725" y="1317626"/>
            <a:ext cx="3841750" cy="1466850"/>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Rectangle 8"/>
          <p:cNvSpPr>
            <a:spLocks noChangeArrowheads="1"/>
          </p:cNvSpPr>
          <p:nvPr/>
        </p:nvSpPr>
        <p:spPr bwMode="auto">
          <a:xfrm>
            <a:off x="5822950" y="1317626"/>
            <a:ext cx="285750" cy="14668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127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0888" y="1319213"/>
            <a:ext cx="287338"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0"/>
          <p:cNvSpPr>
            <a:spLocks noChangeArrowheads="1"/>
          </p:cNvSpPr>
          <p:nvPr/>
        </p:nvSpPr>
        <p:spPr bwMode="auto">
          <a:xfrm>
            <a:off x="5822950" y="1317626"/>
            <a:ext cx="285750" cy="1466850"/>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1"/>
          <p:cNvSpPr>
            <a:spLocks noChangeArrowheads="1"/>
          </p:cNvSpPr>
          <p:nvPr/>
        </p:nvSpPr>
        <p:spPr bwMode="auto">
          <a:xfrm>
            <a:off x="6108700" y="1317626"/>
            <a:ext cx="4075113" cy="14668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1276"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8225" y="1319213"/>
            <a:ext cx="406717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p:nvSpPr>
        <p:spPr bwMode="auto">
          <a:xfrm>
            <a:off x="6108700" y="1317626"/>
            <a:ext cx="4075113" cy="1466850"/>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Rectangle 14"/>
          <p:cNvSpPr>
            <a:spLocks noChangeArrowheads="1"/>
          </p:cNvSpPr>
          <p:nvPr/>
        </p:nvSpPr>
        <p:spPr bwMode="auto">
          <a:xfrm>
            <a:off x="1990725" y="4233863"/>
            <a:ext cx="3841750" cy="11191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1279"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8663" y="4240213"/>
            <a:ext cx="3832225"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6"/>
          <p:cNvSpPr>
            <a:spLocks noChangeArrowheads="1"/>
          </p:cNvSpPr>
          <p:nvPr/>
        </p:nvSpPr>
        <p:spPr bwMode="auto">
          <a:xfrm>
            <a:off x="1990725" y="4233863"/>
            <a:ext cx="3841750" cy="1119188"/>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7"/>
          <p:cNvSpPr>
            <a:spLocks noChangeArrowheads="1"/>
          </p:cNvSpPr>
          <p:nvPr/>
        </p:nvSpPr>
        <p:spPr bwMode="auto">
          <a:xfrm>
            <a:off x="5822950" y="4233863"/>
            <a:ext cx="285750" cy="11191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1282" name="Picture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30888" y="4240213"/>
            <a:ext cx="287338"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9"/>
          <p:cNvSpPr>
            <a:spLocks noChangeArrowheads="1"/>
          </p:cNvSpPr>
          <p:nvPr/>
        </p:nvSpPr>
        <p:spPr bwMode="auto">
          <a:xfrm>
            <a:off x="5822950" y="4233863"/>
            <a:ext cx="285750" cy="1119188"/>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20"/>
          <p:cNvSpPr>
            <a:spLocks noChangeArrowheads="1"/>
          </p:cNvSpPr>
          <p:nvPr/>
        </p:nvSpPr>
        <p:spPr bwMode="auto">
          <a:xfrm>
            <a:off x="6108700" y="4233863"/>
            <a:ext cx="4075113" cy="11191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1285"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8225" y="4240213"/>
            <a:ext cx="4067175"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22"/>
          <p:cNvSpPr>
            <a:spLocks noChangeArrowheads="1"/>
          </p:cNvSpPr>
          <p:nvPr/>
        </p:nvSpPr>
        <p:spPr bwMode="auto">
          <a:xfrm>
            <a:off x="6108700" y="4233863"/>
            <a:ext cx="4075113" cy="1119188"/>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Line 23"/>
          <p:cNvSpPr>
            <a:spLocks noChangeShapeType="1"/>
          </p:cNvSpPr>
          <p:nvPr/>
        </p:nvSpPr>
        <p:spPr bwMode="auto">
          <a:xfrm>
            <a:off x="5830888" y="1141413"/>
            <a:ext cx="0" cy="4570413"/>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24"/>
          <p:cNvSpPr>
            <a:spLocks noChangeShapeType="1"/>
          </p:cNvSpPr>
          <p:nvPr/>
        </p:nvSpPr>
        <p:spPr bwMode="auto">
          <a:xfrm>
            <a:off x="6118225" y="1141413"/>
            <a:ext cx="0" cy="4570413"/>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Line 25"/>
          <p:cNvSpPr>
            <a:spLocks noChangeShapeType="1"/>
          </p:cNvSpPr>
          <p:nvPr/>
        </p:nvSpPr>
        <p:spPr bwMode="auto">
          <a:xfrm>
            <a:off x="1992313" y="1319213"/>
            <a:ext cx="8199438" cy="0"/>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Line 26"/>
          <p:cNvSpPr>
            <a:spLocks noChangeShapeType="1"/>
          </p:cNvSpPr>
          <p:nvPr/>
        </p:nvSpPr>
        <p:spPr bwMode="auto">
          <a:xfrm>
            <a:off x="1992313" y="2779713"/>
            <a:ext cx="8199438"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27"/>
          <p:cNvSpPr>
            <a:spLocks noChangeShapeType="1"/>
          </p:cNvSpPr>
          <p:nvPr/>
        </p:nvSpPr>
        <p:spPr bwMode="auto">
          <a:xfrm>
            <a:off x="1992313" y="4240213"/>
            <a:ext cx="8199438"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28"/>
          <p:cNvSpPr>
            <a:spLocks noChangeShapeType="1"/>
          </p:cNvSpPr>
          <p:nvPr/>
        </p:nvSpPr>
        <p:spPr bwMode="auto">
          <a:xfrm>
            <a:off x="1992313" y="5356226"/>
            <a:ext cx="8199438"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29"/>
          <p:cNvSpPr>
            <a:spLocks noChangeShapeType="1"/>
          </p:cNvSpPr>
          <p:nvPr/>
        </p:nvSpPr>
        <p:spPr bwMode="auto">
          <a:xfrm>
            <a:off x="1998663" y="1141413"/>
            <a:ext cx="0" cy="4570413"/>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30"/>
          <p:cNvSpPr>
            <a:spLocks noChangeShapeType="1"/>
          </p:cNvSpPr>
          <p:nvPr/>
        </p:nvSpPr>
        <p:spPr bwMode="auto">
          <a:xfrm>
            <a:off x="10185400" y="1141413"/>
            <a:ext cx="0" cy="4570413"/>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31"/>
          <p:cNvSpPr>
            <a:spLocks noChangeShapeType="1"/>
          </p:cNvSpPr>
          <p:nvPr/>
        </p:nvSpPr>
        <p:spPr bwMode="auto">
          <a:xfrm>
            <a:off x="1992313" y="1147763"/>
            <a:ext cx="8199438"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32"/>
          <p:cNvSpPr>
            <a:spLocks noChangeShapeType="1"/>
          </p:cNvSpPr>
          <p:nvPr/>
        </p:nvSpPr>
        <p:spPr bwMode="auto">
          <a:xfrm>
            <a:off x="1992313" y="5705476"/>
            <a:ext cx="8199438"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Rectangle 33"/>
          <p:cNvSpPr>
            <a:spLocks noChangeArrowheads="1"/>
          </p:cNvSpPr>
          <p:nvPr/>
        </p:nvSpPr>
        <p:spPr bwMode="auto">
          <a:xfrm>
            <a:off x="2089150" y="1385888"/>
            <a:ext cx="19685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When person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2" name="Rectangle 34"/>
          <p:cNvSpPr>
            <a:spLocks noChangeArrowheads="1"/>
          </p:cNvSpPr>
          <p:nvPr/>
        </p:nvSpPr>
        <p:spPr bwMode="auto">
          <a:xfrm>
            <a:off x="3870325" y="1385888"/>
            <a:ext cx="922338"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stops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35"/>
          <p:cNvSpPr>
            <a:spLocks noChangeArrowheads="1"/>
          </p:cNvSpPr>
          <p:nvPr/>
        </p:nvSpPr>
        <p:spPr bwMode="auto">
          <a:xfrm>
            <a:off x="4640263" y="1385888"/>
            <a:ext cx="106521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talking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 name="Rectangle 36"/>
          <p:cNvSpPr>
            <a:spLocks noChangeArrowheads="1"/>
          </p:cNvSpPr>
          <p:nvPr/>
        </p:nvSpPr>
        <p:spPr bwMode="auto">
          <a:xfrm>
            <a:off x="2089150" y="1735138"/>
            <a:ext cx="153987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to breathe,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 name="Rectangle 37"/>
          <p:cNvSpPr>
            <a:spLocks noChangeArrowheads="1"/>
          </p:cNvSpPr>
          <p:nvPr/>
        </p:nvSpPr>
        <p:spPr bwMode="auto">
          <a:xfrm>
            <a:off x="3538538" y="1735138"/>
            <a:ext cx="24003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it does not mean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6" name="Rectangle 38"/>
          <p:cNvSpPr>
            <a:spLocks noChangeArrowheads="1"/>
          </p:cNvSpPr>
          <p:nvPr/>
        </p:nvSpPr>
        <p:spPr bwMode="auto">
          <a:xfrm>
            <a:off x="2089150" y="2074863"/>
            <a:ext cx="326707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it is time for you to start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Rectangle 39"/>
          <p:cNvSpPr>
            <a:spLocks noChangeArrowheads="1"/>
          </p:cNvSpPr>
          <p:nvPr/>
        </p:nvSpPr>
        <p:spPr bwMode="auto">
          <a:xfrm>
            <a:off x="2089150" y="2414588"/>
            <a:ext cx="98425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talking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40"/>
          <p:cNvSpPr>
            <a:spLocks noChangeArrowheads="1"/>
          </p:cNvSpPr>
          <p:nvPr/>
        </p:nvSpPr>
        <p:spPr bwMode="auto">
          <a:xfrm>
            <a:off x="6208713" y="1385888"/>
            <a:ext cx="3983038"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Don’t overwhelm people with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41"/>
          <p:cNvSpPr>
            <a:spLocks noChangeArrowheads="1"/>
          </p:cNvSpPr>
          <p:nvPr/>
        </p:nvSpPr>
        <p:spPr bwMode="auto">
          <a:xfrm>
            <a:off x="6208713" y="1735138"/>
            <a:ext cx="706438"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your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42"/>
          <p:cNvSpPr>
            <a:spLocks noChangeArrowheads="1"/>
          </p:cNvSpPr>
          <p:nvPr/>
        </p:nvSpPr>
        <p:spPr bwMode="auto">
          <a:xfrm>
            <a:off x="6843713" y="1735138"/>
            <a:ext cx="307975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constant ideas and by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43"/>
          <p:cNvSpPr>
            <a:spLocks noChangeArrowheads="1"/>
          </p:cNvSpPr>
          <p:nvPr/>
        </p:nvSpPr>
        <p:spPr bwMode="auto">
          <a:xfrm>
            <a:off x="6208713" y="2074863"/>
            <a:ext cx="232727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feeding your ego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Rectangle 44"/>
          <p:cNvSpPr>
            <a:spLocks noChangeArrowheads="1"/>
          </p:cNvSpPr>
          <p:nvPr/>
        </p:nvSpPr>
        <p:spPr bwMode="auto">
          <a:xfrm>
            <a:off x="2089150" y="2846388"/>
            <a:ext cx="364331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In a meeting, stay with the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45"/>
          <p:cNvSpPr>
            <a:spLocks noChangeArrowheads="1"/>
          </p:cNvSpPr>
          <p:nvPr/>
        </p:nvSpPr>
        <p:spPr bwMode="auto">
          <a:xfrm>
            <a:off x="2089150" y="3192463"/>
            <a:ext cx="34290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subject being discussed.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46"/>
          <p:cNvSpPr>
            <a:spLocks noChangeArrowheads="1"/>
          </p:cNvSpPr>
          <p:nvPr/>
        </p:nvSpPr>
        <p:spPr bwMode="auto">
          <a:xfrm>
            <a:off x="6208713" y="2846388"/>
            <a:ext cx="38322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You don’t have to win every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47"/>
          <p:cNvSpPr>
            <a:spLocks noChangeArrowheads="1"/>
          </p:cNvSpPr>
          <p:nvPr/>
        </p:nvSpPr>
        <p:spPr bwMode="auto">
          <a:xfrm>
            <a:off x="6208713" y="3192463"/>
            <a:ext cx="29368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argument. Constantly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 name="Rectangle 48"/>
          <p:cNvSpPr>
            <a:spLocks noChangeArrowheads="1"/>
          </p:cNvSpPr>
          <p:nvPr/>
        </p:nvSpPr>
        <p:spPr bwMode="auto">
          <a:xfrm>
            <a:off x="9010650" y="3192463"/>
            <a:ext cx="1217613"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winning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Rectangle 49"/>
          <p:cNvSpPr>
            <a:spLocks noChangeArrowheads="1"/>
          </p:cNvSpPr>
          <p:nvPr/>
        </p:nvSpPr>
        <p:spPr bwMode="auto">
          <a:xfrm>
            <a:off x="6208713" y="3535363"/>
            <a:ext cx="39211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means others are constantly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50"/>
          <p:cNvSpPr>
            <a:spLocks noChangeArrowheads="1"/>
          </p:cNvSpPr>
          <p:nvPr/>
        </p:nvSpPr>
        <p:spPr bwMode="auto">
          <a:xfrm>
            <a:off x="6208713" y="3875088"/>
            <a:ext cx="114617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loosing.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 name="Rectangle 51"/>
          <p:cNvSpPr>
            <a:spLocks noChangeArrowheads="1"/>
          </p:cNvSpPr>
          <p:nvPr/>
        </p:nvSpPr>
        <p:spPr bwMode="auto">
          <a:xfrm>
            <a:off x="2089150" y="4306888"/>
            <a:ext cx="344646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You can’t listen to others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52"/>
          <p:cNvSpPr>
            <a:spLocks noChangeArrowheads="1"/>
          </p:cNvSpPr>
          <p:nvPr/>
        </p:nvSpPr>
        <p:spPr bwMode="auto">
          <a:xfrm>
            <a:off x="2089150" y="4652963"/>
            <a:ext cx="31337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until you have finished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53"/>
          <p:cNvSpPr>
            <a:spLocks noChangeArrowheads="1"/>
          </p:cNvSpPr>
          <p:nvPr/>
        </p:nvSpPr>
        <p:spPr bwMode="auto">
          <a:xfrm>
            <a:off x="2089150" y="4995863"/>
            <a:ext cx="121761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listening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54"/>
          <p:cNvSpPr>
            <a:spLocks noChangeArrowheads="1"/>
          </p:cNvSpPr>
          <p:nvPr/>
        </p:nvSpPr>
        <p:spPr bwMode="auto">
          <a:xfrm>
            <a:off x="3216275" y="4995863"/>
            <a:ext cx="14954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to yourself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55"/>
          <p:cNvSpPr>
            <a:spLocks noChangeArrowheads="1"/>
          </p:cNvSpPr>
          <p:nvPr/>
        </p:nvSpPr>
        <p:spPr bwMode="auto">
          <a:xfrm>
            <a:off x="6208713" y="4306888"/>
            <a:ext cx="2954338"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Slow down. Speak in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 name="Rectangle 56"/>
          <p:cNvSpPr>
            <a:spLocks noChangeArrowheads="1"/>
          </p:cNvSpPr>
          <p:nvPr/>
        </p:nvSpPr>
        <p:spPr bwMode="auto">
          <a:xfrm>
            <a:off x="6208713" y="4652963"/>
            <a:ext cx="13335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complete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57"/>
          <p:cNvSpPr>
            <a:spLocks noChangeArrowheads="1"/>
          </p:cNvSpPr>
          <p:nvPr/>
        </p:nvSpPr>
        <p:spPr bwMode="auto">
          <a:xfrm>
            <a:off x="7453313" y="4652963"/>
            <a:ext cx="155733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a:ln>
                  <a:noFill/>
                </a:ln>
                <a:solidFill>
                  <a:srgbClr val="000000"/>
                </a:solidFill>
                <a:effectLst/>
                <a:latin typeface="Arial" panose="020B0604020202020204" pitchFamily="34" charset="0"/>
              </a:rPr>
              <a:t>sentences.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417516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202731" y="148876"/>
            <a:ext cx="7465271" cy="409179"/>
          </a:xfrm>
        </p:spPr>
        <p:txBody>
          <a:bodyPr>
            <a:noAutofit/>
          </a:bodyPr>
          <a:lstStyle/>
          <a:p>
            <a:r>
              <a:rPr lang="en-US" sz="3200" dirty="0"/>
              <a:t>Prescriptive </a:t>
            </a:r>
            <a:r>
              <a:rPr lang="en-US" sz="3200" dirty="0" err="1"/>
              <a:t>paEi</a:t>
            </a:r>
            <a:r>
              <a:rPr lang="en-US" sz="3200" dirty="0"/>
              <a:t> – Entrepreneurs</a:t>
            </a:r>
            <a:endParaRPr lang="en-US" dirty="0"/>
          </a:p>
        </p:txBody>
      </p:sp>
      <p:sp>
        <p:nvSpPr>
          <p:cNvPr id="9" name="AutoShape 3"/>
          <p:cNvSpPr>
            <a:spLocks noChangeAspect="1" noChangeArrowheads="1" noTextEdit="1"/>
          </p:cNvSpPr>
          <p:nvPr/>
        </p:nvSpPr>
        <p:spPr bwMode="auto">
          <a:xfrm>
            <a:off x="2330450" y="2192338"/>
            <a:ext cx="7531100"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Rectangle 5"/>
          <p:cNvSpPr>
            <a:spLocks noChangeArrowheads="1"/>
          </p:cNvSpPr>
          <p:nvPr/>
        </p:nvSpPr>
        <p:spPr bwMode="auto">
          <a:xfrm>
            <a:off x="2330450" y="2371726"/>
            <a:ext cx="3465513" cy="6635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29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6800" y="2374901"/>
            <a:ext cx="3460750"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7"/>
          <p:cNvSpPr>
            <a:spLocks noChangeArrowheads="1"/>
          </p:cNvSpPr>
          <p:nvPr/>
        </p:nvSpPr>
        <p:spPr bwMode="auto">
          <a:xfrm>
            <a:off x="2330450" y="2371726"/>
            <a:ext cx="3465513" cy="663575"/>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8"/>
          <p:cNvSpPr>
            <a:spLocks noChangeArrowheads="1"/>
          </p:cNvSpPr>
          <p:nvPr/>
        </p:nvSpPr>
        <p:spPr bwMode="auto">
          <a:xfrm>
            <a:off x="5795963" y="2371726"/>
            <a:ext cx="196850" cy="6635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29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7550" y="2374901"/>
            <a:ext cx="196850"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0"/>
          <p:cNvSpPr>
            <a:spLocks noChangeArrowheads="1"/>
          </p:cNvSpPr>
          <p:nvPr/>
        </p:nvSpPr>
        <p:spPr bwMode="auto">
          <a:xfrm>
            <a:off x="5795963" y="2371726"/>
            <a:ext cx="196850" cy="663575"/>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11"/>
          <p:cNvSpPr>
            <a:spLocks noChangeArrowheads="1"/>
          </p:cNvSpPr>
          <p:nvPr/>
        </p:nvSpPr>
        <p:spPr bwMode="auto">
          <a:xfrm>
            <a:off x="5992813" y="2371726"/>
            <a:ext cx="3859213" cy="6635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30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4400" y="2374901"/>
            <a:ext cx="3852863"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3"/>
          <p:cNvSpPr>
            <a:spLocks noChangeArrowheads="1"/>
          </p:cNvSpPr>
          <p:nvPr/>
        </p:nvSpPr>
        <p:spPr bwMode="auto">
          <a:xfrm>
            <a:off x="5992813" y="2371726"/>
            <a:ext cx="3859213" cy="663575"/>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14"/>
          <p:cNvSpPr>
            <a:spLocks noChangeArrowheads="1"/>
          </p:cNvSpPr>
          <p:nvPr/>
        </p:nvSpPr>
        <p:spPr bwMode="auto">
          <a:xfrm>
            <a:off x="2330450" y="3975101"/>
            <a:ext cx="3465513" cy="6096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303"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6800" y="3981451"/>
            <a:ext cx="3460750"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16"/>
          <p:cNvSpPr>
            <a:spLocks noChangeArrowheads="1"/>
          </p:cNvSpPr>
          <p:nvPr/>
        </p:nvSpPr>
        <p:spPr bwMode="auto">
          <a:xfrm>
            <a:off x="2330450" y="3975101"/>
            <a:ext cx="3465513" cy="609600"/>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Rectangle 17"/>
          <p:cNvSpPr>
            <a:spLocks noChangeArrowheads="1"/>
          </p:cNvSpPr>
          <p:nvPr/>
        </p:nvSpPr>
        <p:spPr bwMode="auto">
          <a:xfrm>
            <a:off x="5795963" y="3975101"/>
            <a:ext cx="196850" cy="6096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306" name="Picture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7550" y="3981451"/>
            <a:ext cx="196850"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9"/>
          <p:cNvSpPr>
            <a:spLocks noChangeArrowheads="1"/>
          </p:cNvSpPr>
          <p:nvPr/>
        </p:nvSpPr>
        <p:spPr bwMode="auto">
          <a:xfrm>
            <a:off x="5795963" y="3975101"/>
            <a:ext cx="196850" cy="609600"/>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Rectangle 20"/>
          <p:cNvSpPr>
            <a:spLocks noChangeArrowheads="1"/>
          </p:cNvSpPr>
          <p:nvPr/>
        </p:nvSpPr>
        <p:spPr bwMode="auto">
          <a:xfrm>
            <a:off x="5992813" y="3975101"/>
            <a:ext cx="3859213" cy="6096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309"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94400" y="3981451"/>
            <a:ext cx="3852863"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Rectangle 22"/>
          <p:cNvSpPr>
            <a:spLocks noChangeArrowheads="1"/>
          </p:cNvSpPr>
          <p:nvPr/>
        </p:nvSpPr>
        <p:spPr bwMode="auto">
          <a:xfrm>
            <a:off x="5992813" y="3975101"/>
            <a:ext cx="3859213" cy="609600"/>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Line 23"/>
          <p:cNvSpPr>
            <a:spLocks noChangeShapeType="1"/>
          </p:cNvSpPr>
          <p:nvPr/>
        </p:nvSpPr>
        <p:spPr bwMode="auto">
          <a:xfrm>
            <a:off x="5797550" y="2197101"/>
            <a:ext cx="0" cy="2392363"/>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Line 24"/>
          <p:cNvSpPr>
            <a:spLocks noChangeShapeType="1"/>
          </p:cNvSpPr>
          <p:nvPr/>
        </p:nvSpPr>
        <p:spPr bwMode="auto">
          <a:xfrm>
            <a:off x="5994400" y="2197101"/>
            <a:ext cx="0" cy="2392363"/>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Line 25"/>
          <p:cNvSpPr>
            <a:spLocks noChangeShapeType="1"/>
          </p:cNvSpPr>
          <p:nvPr/>
        </p:nvSpPr>
        <p:spPr bwMode="auto">
          <a:xfrm>
            <a:off x="2330450" y="2374901"/>
            <a:ext cx="7523163" cy="0"/>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26"/>
          <p:cNvSpPr>
            <a:spLocks noChangeShapeType="1"/>
          </p:cNvSpPr>
          <p:nvPr/>
        </p:nvSpPr>
        <p:spPr bwMode="auto">
          <a:xfrm>
            <a:off x="2330450" y="3033713"/>
            <a:ext cx="7523163"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27"/>
          <p:cNvSpPr>
            <a:spLocks noChangeShapeType="1"/>
          </p:cNvSpPr>
          <p:nvPr/>
        </p:nvSpPr>
        <p:spPr bwMode="auto">
          <a:xfrm>
            <a:off x="2330450" y="3981451"/>
            <a:ext cx="7523163"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28"/>
          <p:cNvSpPr>
            <a:spLocks noChangeShapeType="1"/>
          </p:cNvSpPr>
          <p:nvPr/>
        </p:nvSpPr>
        <p:spPr bwMode="auto">
          <a:xfrm>
            <a:off x="2336800" y="2197101"/>
            <a:ext cx="0" cy="2392363"/>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29"/>
          <p:cNvSpPr>
            <a:spLocks noChangeShapeType="1"/>
          </p:cNvSpPr>
          <p:nvPr/>
        </p:nvSpPr>
        <p:spPr bwMode="auto">
          <a:xfrm>
            <a:off x="9847263" y="2197101"/>
            <a:ext cx="0" cy="2392363"/>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30"/>
          <p:cNvSpPr>
            <a:spLocks noChangeShapeType="1"/>
          </p:cNvSpPr>
          <p:nvPr/>
        </p:nvSpPr>
        <p:spPr bwMode="auto">
          <a:xfrm>
            <a:off x="2330450" y="2201863"/>
            <a:ext cx="7523163"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31"/>
          <p:cNvSpPr>
            <a:spLocks noChangeShapeType="1"/>
          </p:cNvSpPr>
          <p:nvPr/>
        </p:nvSpPr>
        <p:spPr bwMode="auto">
          <a:xfrm>
            <a:off x="2330450" y="4583113"/>
            <a:ext cx="7523163"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Rectangle 32"/>
          <p:cNvSpPr>
            <a:spLocks noChangeArrowheads="1"/>
          </p:cNvSpPr>
          <p:nvPr/>
        </p:nvSpPr>
        <p:spPr bwMode="auto">
          <a:xfrm>
            <a:off x="2427288" y="2438401"/>
            <a:ext cx="3608388"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rgbClr val="000000"/>
                </a:solidFill>
                <a:effectLst/>
                <a:latin typeface="Arial" panose="020B0604020202020204" pitchFamily="34" charset="0"/>
              </a:rPr>
              <a:t>Change for the sake of change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2" name="Rectangle 33"/>
          <p:cNvSpPr>
            <a:spLocks noChangeArrowheads="1"/>
          </p:cNvSpPr>
          <p:nvPr/>
        </p:nvSpPr>
        <p:spPr bwMode="auto">
          <a:xfrm>
            <a:off x="2427288" y="2725738"/>
            <a:ext cx="1423988"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rial" panose="020B0604020202020204" pitchFamily="34" charset="0"/>
              </a:rPr>
              <a:t>is frustrating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34"/>
          <p:cNvSpPr>
            <a:spLocks noChangeArrowheads="1"/>
          </p:cNvSpPr>
          <p:nvPr/>
        </p:nvSpPr>
        <p:spPr bwMode="auto">
          <a:xfrm>
            <a:off x="6084888" y="2438401"/>
            <a:ext cx="3859213"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rial" panose="020B0604020202020204" pitchFamily="34" charset="0"/>
              </a:rPr>
              <a:t>Putting people down does little to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 name="Rectangle 35"/>
          <p:cNvSpPr>
            <a:spLocks noChangeArrowheads="1"/>
          </p:cNvSpPr>
          <p:nvPr/>
        </p:nvSpPr>
        <p:spPr bwMode="auto">
          <a:xfrm>
            <a:off x="6084888" y="2725738"/>
            <a:ext cx="966788"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rial" panose="020B0604020202020204" pitchFamily="34" charset="0"/>
              </a:rPr>
              <a:t>improve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 name="Rectangle 36"/>
          <p:cNvSpPr>
            <a:spLocks noChangeArrowheads="1"/>
          </p:cNvSpPr>
          <p:nvPr/>
        </p:nvSpPr>
        <p:spPr bwMode="auto">
          <a:xfrm>
            <a:off x="6997700" y="2725738"/>
            <a:ext cx="2068513"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rial" panose="020B0604020202020204" pitchFamily="34" charset="0"/>
              </a:rPr>
              <a:t>their performance.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 name="Rectangle 37"/>
          <p:cNvSpPr>
            <a:spLocks noChangeArrowheads="1"/>
          </p:cNvSpPr>
          <p:nvPr/>
        </p:nvSpPr>
        <p:spPr bwMode="auto">
          <a:xfrm>
            <a:off x="2427288" y="3100388"/>
            <a:ext cx="318770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rial" panose="020B0604020202020204" pitchFamily="34" charset="0"/>
              </a:rPr>
              <a:t>Don’t surround only yourself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Rectangle 38"/>
          <p:cNvSpPr>
            <a:spLocks noChangeArrowheads="1"/>
          </p:cNvSpPr>
          <p:nvPr/>
        </p:nvSpPr>
        <p:spPr bwMode="auto">
          <a:xfrm>
            <a:off x="2427288" y="3387726"/>
            <a:ext cx="3465513"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rgbClr val="000000"/>
                </a:solidFill>
                <a:effectLst/>
                <a:latin typeface="Arial" panose="020B0604020202020204" pitchFamily="34" charset="0"/>
              </a:rPr>
              <a:t>with admirers. Find and accept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8" name="Rectangle 39"/>
          <p:cNvSpPr>
            <a:spLocks noChangeArrowheads="1"/>
          </p:cNvSpPr>
          <p:nvPr/>
        </p:nvSpPr>
        <p:spPr bwMode="auto">
          <a:xfrm>
            <a:off x="2427288" y="3671888"/>
            <a:ext cx="3357563"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rial" panose="020B0604020202020204" pitchFamily="34" charset="0"/>
              </a:rPr>
              <a:t>those who will challenge you.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40"/>
          <p:cNvSpPr>
            <a:spLocks noChangeArrowheads="1"/>
          </p:cNvSpPr>
          <p:nvPr/>
        </p:nvSpPr>
        <p:spPr bwMode="auto">
          <a:xfrm>
            <a:off x="6084888" y="3100388"/>
            <a:ext cx="528638"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rial" panose="020B0604020202020204" pitchFamily="34" charset="0"/>
              </a:rPr>
              <a:t>Fire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41"/>
          <p:cNvSpPr>
            <a:spLocks noChangeArrowheads="1"/>
          </p:cNvSpPr>
          <p:nvPr/>
        </p:nvSpPr>
        <p:spPr bwMode="auto">
          <a:xfrm>
            <a:off x="6559550" y="3100388"/>
            <a:ext cx="323215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rial" panose="020B0604020202020204" pitchFamily="34" charset="0"/>
              </a:rPr>
              <a:t>people who need to be fired.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42"/>
          <p:cNvSpPr>
            <a:spLocks noChangeArrowheads="1"/>
          </p:cNvSpPr>
          <p:nvPr/>
        </p:nvSpPr>
        <p:spPr bwMode="auto">
          <a:xfrm>
            <a:off x="6084888" y="3387726"/>
            <a:ext cx="3411538"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rial" panose="020B0604020202020204" pitchFamily="34" charset="0"/>
              </a:rPr>
              <a:t>Don’t humiliate them until they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Rectangle 43"/>
          <p:cNvSpPr>
            <a:spLocks noChangeArrowheads="1"/>
          </p:cNvSpPr>
          <p:nvPr/>
        </p:nvSpPr>
        <p:spPr bwMode="auto">
          <a:xfrm>
            <a:off x="6084888" y="3671888"/>
            <a:ext cx="581025"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rial" panose="020B0604020202020204" pitchFamily="34" charset="0"/>
              </a:rPr>
              <a:t>quit.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44"/>
          <p:cNvSpPr>
            <a:spLocks noChangeArrowheads="1"/>
          </p:cNvSpPr>
          <p:nvPr/>
        </p:nvSpPr>
        <p:spPr bwMode="auto">
          <a:xfrm>
            <a:off x="2427288" y="4044951"/>
            <a:ext cx="60007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Don’t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45"/>
          <p:cNvSpPr>
            <a:spLocks noChangeArrowheads="1"/>
          </p:cNvSpPr>
          <p:nvPr/>
        </p:nvSpPr>
        <p:spPr bwMode="auto">
          <a:xfrm>
            <a:off x="2990850" y="4044951"/>
            <a:ext cx="2363788"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take challenges to your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46"/>
          <p:cNvSpPr>
            <a:spLocks noChangeArrowheads="1"/>
          </p:cNvSpPr>
          <p:nvPr/>
        </p:nvSpPr>
        <p:spPr bwMode="auto">
          <a:xfrm>
            <a:off x="2427288" y="4306888"/>
            <a:ext cx="168275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ideas as a threat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2352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3"/>
          <p:cNvPicPr>
            <a:picLocks noChangeArrowheads="1"/>
          </p:cNvPicPr>
          <p:nvPr/>
        </p:nvPicPr>
        <p:blipFill>
          <a:blip r:embed="rId2" cstate="print"/>
          <a:srcRect/>
          <a:stretch>
            <a:fillRect/>
          </a:stretch>
        </p:blipFill>
        <p:spPr bwMode="auto">
          <a:xfrm>
            <a:off x="4857910" y="2490363"/>
            <a:ext cx="2667000" cy="1732387"/>
          </a:xfrm>
          <a:prstGeom prst="rect">
            <a:avLst/>
          </a:prstGeom>
          <a:noFill/>
          <a:ln w="12700">
            <a:noFill/>
            <a:miter lim="800000"/>
            <a:headEnd/>
            <a:tailEnd/>
          </a:ln>
        </p:spPr>
      </p:pic>
      <p:sp>
        <p:nvSpPr>
          <p:cNvPr id="3" name="Date Placeholder 2"/>
          <p:cNvSpPr>
            <a:spLocks noGrp="1"/>
          </p:cNvSpPr>
          <p:nvPr>
            <p:ph type="dt" sz="half" idx="10"/>
          </p:nvPr>
        </p:nvSpPr>
        <p:spPr/>
        <p:txBody>
          <a:bodyPr/>
          <a:lstStyle/>
          <a:p>
            <a:r>
              <a:rPr lang="en-CA" dirty="0"/>
              <a:t>October 2017</a:t>
            </a:r>
            <a:endParaRPr lang="en-US" dirty="0"/>
          </a:p>
        </p:txBody>
      </p:sp>
      <p:graphicFrame>
        <p:nvGraphicFramePr>
          <p:cNvPr id="5" name="Content Placeholder 5"/>
          <p:cNvGraphicFramePr>
            <a:graphicFrameLocks/>
          </p:cNvGraphicFramePr>
          <p:nvPr>
            <p:extLst/>
          </p:nvPr>
        </p:nvGraphicFramePr>
        <p:xfrm>
          <a:off x="787234" y="1025404"/>
          <a:ext cx="10674645" cy="5549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itle 1"/>
          <p:cNvSpPr>
            <a:spLocks noGrp="1"/>
          </p:cNvSpPr>
          <p:nvPr>
            <p:ph type="title"/>
          </p:nvPr>
        </p:nvSpPr>
        <p:spPr>
          <a:xfrm>
            <a:off x="4768702" y="165098"/>
            <a:ext cx="6048498" cy="609600"/>
          </a:xfrm>
        </p:spPr>
        <p:txBody>
          <a:bodyPr/>
          <a:lstStyle/>
          <a:p>
            <a:r>
              <a:rPr lang="en-US" dirty="0"/>
              <a:t>Prescriptive </a:t>
            </a:r>
            <a:r>
              <a:rPr lang="en-US" dirty="0" err="1"/>
              <a:t>paEi</a:t>
            </a:r>
            <a:r>
              <a:rPr lang="en-US" dirty="0"/>
              <a:t> –  Entrepreneurs</a:t>
            </a:r>
          </a:p>
        </p:txBody>
      </p:sp>
      <p:sp>
        <p:nvSpPr>
          <p:cNvPr id="8" name="Rounded Rectangular Callout 7"/>
          <p:cNvSpPr/>
          <p:nvPr/>
        </p:nvSpPr>
        <p:spPr>
          <a:xfrm>
            <a:off x="1285592" y="605020"/>
            <a:ext cx="2316237" cy="840768"/>
          </a:xfrm>
          <a:prstGeom prst="wedgeRoundRectCallout">
            <a:avLst>
              <a:gd name="adj1" fmla="val 59832"/>
              <a:gd name="adj2" fmla="val 53824"/>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Be excited, visual and strategic</a:t>
            </a:r>
          </a:p>
        </p:txBody>
      </p:sp>
      <p:sp>
        <p:nvSpPr>
          <p:cNvPr id="9" name="Rounded Rectangular Callout 8"/>
          <p:cNvSpPr/>
          <p:nvPr/>
        </p:nvSpPr>
        <p:spPr>
          <a:xfrm>
            <a:off x="6484202" y="2237416"/>
            <a:ext cx="3380630" cy="750228"/>
          </a:xfrm>
          <a:prstGeom prst="wedgeRoundRectCallout">
            <a:avLst>
              <a:gd name="adj1" fmla="val -23983"/>
              <a:gd name="adj2" fmla="val -88399"/>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Be prepared to answer targeted questions</a:t>
            </a:r>
          </a:p>
        </p:txBody>
      </p:sp>
      <p:sp>
        <p:nvSpPr>
          <p:cNvPr id="10" name="Rounded Rectangular Callout 9"/>
          <p:cNvSpPr/>
          <p:nvPr/>
        </p:nvSpPr>
        <p:spPr>
          <a:xfrm>
            <a:off x="6552346" y="2869536"/>
            <a:ext cx="2880448" cy="1084988"/>
          </a:xfrm>
          <a:prstGeom prst="wedgeRoundRectCallout">
            <a:avLst>
              <a:gd name="adj1" fmla="val 50470"/>
              <a:gd name="adj2" fmla="val -126626"/>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Expect different ideas. They like to make the final decision</a:t>
            </a:r>
          </a:p>
        </p:txBody>
      </p:sp>
      <p:sp>
        <p:nvSpPr>
          <p:cNvPr id="11" name="Rounded Rectangular Callout 10"/>
          <p:cNvSpPr/>
          <p:nvPr/>
        </p:nvSpPr>
        <p:spPr>
          <a:xfrm>
            <a:off x="5544618" y="4871854"/>
            <a:ext cx="2674403" cy="446788"/>
          </a:xfrm>
          <a:prstGeom prst="wedgeRoundRectCallout">
            <a:avLst>
              <a:gd name="adj1" fmla="val 63176"/>
              <a:gd name="adj2" fmla="val 109722"/>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Applaud their ideas</a:t>
            </a:r>
          </a:p>
        </p:txBody>
      </p:sp>
      <p:sp>
        <p:nvSpPr>
          <p:cNvPr id="12" name="Rounded Rectangular Callout 11"/>
          <p:cNvSpPr/>
          <p:nvPr/>
        </p:nvSpPr>
        <p:spPr>
          <a:xfrm>
            <a:off x="3676892" y="4088179"/>
            <a:ext cx="3204927" cy="1166043"/>
          </a:xfrm>
          <a:prstGeom prst="wedgeRoundRectCallout">
            <a:avLst>
              <a:gd name="adj1" fmla="val 42281"/>
              <a:gd name="adj2" fmla="val 88993"/>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Decided or thinking out loud? Write it up and get their signature with 24 hours</a:t>
            </a:r>
          </a:p>
        </p:txBody>
      </p:sp>
      <p:sp>
        <p:nvSpPr>
          <p:cNvPr id="13" name="Rounded Rectangular Callout 12"/>
          <p:cNvSpPr/>
          <p:nvPr/>
        </p:nvSpPr>
        <p:spPr>
          <a:xfrm>
            <a:off x="3601829" y="3941805"/>
            <a:ext cx="2835954" cy="1059110"/>
          </a:xfrm>
          <a:prstGeom prst="wedgeRoundRectCallout">
            <a:avLst>
              <a:gd name="adj1" fmla="val -35603"/>
              <a:gd name="adj2" fmla="val 105100"/>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Initiative might be seen as a challenge. They expect loyalty.</a:t>
            </a:r>
          </a:p>
        </p:txBody>
      </p:sp>
      <p:sp>
        <p:nvSpPr>
          <p:cNvPr id="15" name="Rounded Rectangular Callout 14"/>
          <p:cNvSpPr/>
          <p:nvPr/>
        </p:nvSpPr>
        <p:spPr>
          <a:xfrm>
            <a:off x="3554132" y="4007154"/>
            <a:ext cx="3031426" cy="889000"/>
          </a:xfrm>
          <a:prstGeom prst="wedgeRoundRectCallout">
            <a:avLst>
              <a:gd name="adj1" fmla="val -80774"/>
              <a:gd name="adj2" fmla="val 57786"/>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Work one on one. As soon as a 3</a:t>
            </a:r>
            <a:r>
              <a:rPr lang="en-US" sz="2000" baseline="30000" dirty="0">
                <a:solidFill>
                  <a:schemeClr val="tx1"/>
                </a:solidFill>
              </a:rPr>
              <a:t>rd</a:t>
            </a:r>
            <a:r>
              <a:rPr lang="en-US" sz="2000" dirty="0">
                <a:solidFill>
                  <a:schemeClr val="tx1"/>
                </a:solidFill>
              </a:rPr>
              <a:t> person is present the show starts</a:t>
            </a:r>
          </a:p>
        </p:txBody>
      </p:sp>
      <p:sp>
        <p:nvSpPr>
          <p:cNvPr id="14" name="Rounded Rectangular Callout 13"/>
          <p:cNvSpPr/>
          <p:nvPr/>
        </p:nvSpPr>
        <p:spPr>
          <a:xfrm>
            <a:off x="6418218" y="3786866"/>
            <a:ext cx="2880448" cy="831681"/>
          </a:xfrm>
          <a:prstGeom prst="wedgeRoundRectCallout">
            <a:avLst>
              <a:gd name="adj1" fmla="val 61156"/>
              <a:gd name="adj2" fmla="val -69885"/>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Be careful about getting them off track</a:t>
            </a:r>
          </a:p>
        </p:txBody>
      </p:sp>
      <p:sp>
        <p:nvSpPr>
          <p:cNvPr id="16" name="Rounded Rectangular Callout 15"/>
          <p:cNvSpPr/>
          <p:nvPr/>
        </p:nvSpPr>
        <p:spPr>
          <a:xfrm>
            <a:off x="4028905" y="2709127"/>
            <a:ext cx="3031426" cy="889000"/>
          </a:xfrm>
          <a:prstGeom prst="wedgeRoundRectCallout">
            <a:avLst>
              <a:gd name="adj1" fmla="val -80774"/>
              <a:gd name="adj2" fmla="val 57786"/>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Be wary of a quick ‘yes’ as it could change tomorrow</a:t>
            </a:r>
          </a:p>
        </p:txBody>
      </p:sp>
    </p:spTree>
    <p:extLst>
      <p:ext uri="{BB962C8B-B14F-4D97-AF65-F5344CB8AC3E}">
        <p14:creationId xmlns:p14="http://schemas.microsoft.com/office/powerpoint/2010/main" val="3134960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7E2B9E8A-289A-FC4A-9D1C-6099B4270AD4}"/>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C4F1DD1A-6110-5948-8A46-48F3A7EB0119}"/>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graphicEl>
                                              <a:dgm id="{F25307E4-83F1-0E49-A2D0-74F0D5486D93}"/>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graphicEl>
                                              <a:dgm id="{6FF44C64-1E55-BA40-A27A-3EE5E5204FAE}"/>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graphicEl>
                                              <a:dgm id="{EDEE97A7-46D8-494D-8EB6-6269CEBEECEA}"/>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graphicEl>
                                              <a:dgm id="{06A02987-428F-B043-90F8-7AB455F178D5}"/>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graphicEl>
                                              <a:dgm id="{B20A8CF4-B3E5-A34F-98CC-6B62B629D731}"/>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graphicEl>
                                              <a:dgm id="{4C77433F-268C-154E-9924-00DD16D26A8C}"/>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
                                            <p:graphicEl>
                                              <a:dgm id="{544EF912-309D-CF4A-9608-975C4FB079F2}"/>
                                            </p:graphic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graphicEl>
                                              <a:dgm id="{7E244E47-0700-B540-A050-EAE2F8DCA9E2}"/>
                                            </p:graphic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
                                            <p:graphicEl>
                                              <a:dgm id="{9CA3348B-D646-7C4D-9883-DF146CFED2FC}"/>
                                            </p:graphic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
                                            <p:graphicEl>
                                              <a:dgm id="{2D9451C7-EEE4-9C4E-91A2-A16E41530D3E}"/>
                                            </p:graphic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graphicEl>
                                              <a:dgm id="{710A4DE4-97D4-A048-9865-B369579E3DB7}"/>
                                            </p:graphic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
                                            <p:graphicEl>
                                              <a:dgm id="{BE2D9569-0E08-4547-B4A0-5EAF9BD63BB9}"/>
                                            </p:graphic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
                                            <p:graphicEl>
                                              <a:dgm id="{115B0721-907A-EB48-9924-831289B61667}"/>
                                            </p:graphic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
                                            <p:graphicEl>
                                              <a:dgm id="{615B01C8-5390-3648-8B6C-360C0C81447F}"/>
                                            </p:graphicEl>
                                          </p:spTgt>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
                                            <p:graphicEl>
                                              <a:dgm id="{A07AA92D-4511-EE45-B1EC-99D6C368BCD4}"/>
                                            </p:graphic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
                                            <p:graphicEl>
                                              <a:dgm id="{56639D85-F15B-BE40-9198-10C8C73E727C}"/>
                                            </p:graphicEl>
                                          </p:spTgt>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
                                            <p:graphicEl>
                                              <a:dgm id="{A68D89D6-7E99-BD41-BE26-159546B7DCF5}"/>
                                            </p:graphic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5">
                                            <p:graphicEl>
                                              <a:dgm id="{99B6A552-0F8E-B741-8972-23BCEBB5CB41}"/>
                                            </p:graphicEl>
                                          </p:spTgt>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
                                            <p:graphicEl>
                                              <a:dgm id="{7190AA65-739E-F144-805E-EE27D976351B}"/>
                                            </p:graphicEl>
                                          </p:spTgt>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
                                            <p:graphicEl>
                                              <a:dgm id="{41A7522E-561B-5A4E-BEB1-3548E845C3BC}"/>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P spid="8" grpId="0" uiExpand="1" animBg="1"/>
      <p:bldP spid="9" grpId="0" uiExpand="1" animBg="1"/>
      <p:bldP spid="10" grpId="0" uiExpand="1" animBg="1"/>
      <p:bldP spid="11" grpId="0" uiExpand="1" animBg="1"/>
      <p:bldP spid="12" grpId="0" uiExpand="1" animBg="1"/>
      <p:bldP spid="13" grpId="0" uiExpand="1" animBg="1"/>
      <p:bldP spid="15" grpId="0" uiExpand="1" animBg="1"/>
      <p:bldP spid="14" grpId="0" uiExpand="1" animBg="1"/>
      <p:bldP spid="16" grpId="0" uiExpan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6" name="Text Box 4"/>
          <p:cNvSpPr txBox="1">
            <a:spLocks noChangeArrowheads="1"/>
          </p:cNvSpPr>
          <p:nvPr/>
        </p:nvSpPr>
        <p:spPr bwMode="auto">
          <a:xfrm>
            <a:off x="3657690" y="2070745"/>
            <a:ext cx="15151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Results</a:t>
            </a:r>
            <a:br>
              <a:rPr lang="en-US" altLang="lv-LV" sz="2800" dirty="0">
                <a:latin typeface="Tahoma" pitchFamily="34" charset="0"/>
              </a:rPr>
            </a:br>
            <a:r>
              <a:rPr lang="en-US" altLang="lv-LV" dirty="0">
                <a:latin typeface="Tahoma" pitchFamily="34" charset="0"/>
              </a:rPr>
              <a:t>(what)</a:t>
            </a:r>
          </a:p>
        </p:txBody>
      </p:sp>
      <p:sp>
        <p:nvSpPr>
          <p:cNvPr id="530437" name="Text Box 5"/>
          <p:cNvSpPr txBox="1">
            <a:spLocks noChangeArrowheads="1"/>
          </p:cNvSpPr>
          <p:nvPr/>
        </p:nvSpPr>
        <p:spPr bwMode="auto">
          <a:xfrm>
            <a:off x="5778989" y="2070745"/>
            <a:ext cx="9412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Fast</a:t>
            </a:r>
          </a:p>
        </p:txBody>
      </p:sp>
      <p:sp>
        <p:nvSpPr>
          <p:cNvPr id="530438" name="Text Box 6"/>
          <p:cNvSpPr txBox="1">
            <a:spLocks noChangeArrowheads="1"/>
          </p:cNvSpPr>
          <p:nvPr/>
        </p:nvSpPr>
        <p:spPr bwMode="auto">
          <a:xfrm>
            <a:off x="7231976" y="2070745"/>
            <a:ext cx="15279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latin typeface="Tahoma" pitchFamily="34" charset="0"/>
              </a:rPr>
              <a:t>Narrow</a:t>
            </a:r>
          </a:p>
        </p:txBody>
      </p:sp>
      <p:sp>
        <p:nvSpPr>
          <p:cNvPr id="530439" name="Text Box 7"/>
          <p:cNvSpPr txBox="1">
            <a:spLocks noChangeArrowheads="1"/>
          </p:cNvSpPr>
          <p:nvPr/>
        </p:nvSpPr>
        <p:spPr bwMode="auto">
          <a:xfrm>
            <a:off x="8893668" y="2070745"/>
            <a:ext cx="24593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Lone Ranger</a:t>
            </a:r>
          </a:p>
        </p:txBody>
      </p:sp>
      <p:sp>
        <p:nvSpPr>
          <p:cNvPr id="530456" name="Text Box 24"/>
          <p:cNvSpPr txBox="1">
            <a:spLocks noChangeArrowheads="1"/>
          </p:cNvSpPr>
          <p:nvPr/>
        </p:nvSpPr>
        <p:spPr bwMode="auto">
          <a:xfrm>
            <a:off x="1046348" y="2017741"/>
            <a:ext cx="1401346" cy="584775"/>
          </a:xfrm>
          <a:prstGeom prst="rect">
            <a:avLst/>
          </a:prstGeom>
          <a:noFill/>
          <a:ln w="9525">
            <a:noFill/>
            <a:miter lim="800000"/>
            <a:headEnd/>
            <a:tailEnd/>
          </a:ln>
          <a:effectLst/>
        </p:spPr>
        <p:txBody>
          <a:bodyPr wrap="none">
            <a:spAutoFit/>
          </a:bodyPr>
          <a:lstStyle/>
          <a:p>
            <a:pPr>
              <a:defRPr/>
            </a:pPr>
            <a:r>
              <a:rPr lang="en-US" sz="3200" b="1" dirty="0">
                <a:effectLst>
                  <a:outerShdw blurRad="38100" dist="38100" dir="2700000" algn="tl">
                    <a:srgbClr val="C0C0C0"/>
                  </a:outerShdw>
                </a:effectLst>
                <a:latin typeface="Tahoma" pitchFamily="34" charset="0"/>
              </a:rPr>
              <a:t>P</a:t>
            </a:r>
            <a:r>
              <a:rPr lang="en-US" sz="3200" b="1" dirty="0">
                <a:solidFill>
                  <a:srgbClr val="FF0033"/>
                </a:solidFill>
                <a:effectLst>
                  <a:outerShdw blurRad="38100" dist="38100" dir="2700000" algn="tl">
                    <a:srgbClr val="C0C0C0"/>
                  </a:outerShdw>
                </a:effectLst>
                <a:latin typeface="Tahoma" pitchFamily="34" charset="0"/>
              </a:rPr>
              <a:t>ØØØ</a:t>
            </a:r>
            <a:endParaRPr lang="en-US" sz="3000" b="1" dirty="0">
              <a:solidFill>
                <a:srgbClr val="002060"/>
              </a:solidFill>
              <a:effectLst>
                <a:outerShdw blurRad="38100" dist="38100" dir="2700000" algn="tl">
                  <a:srgbClr val="C0C0C0"/>
                </a:outerShdw>
              </a:effectLst>
              <a:latin typeface="Tahoma" pitchFamily="-111" charset="0"/>
              <a:ea typeface="ＭＳ Ｐゴシック" pitchFamily="-111" charset="-128"/>
            </a:endParaRPr>
          </a:p>
        </p:txBody>
      </p:sp>
      <p:sp>
        <p:nvSpPr>
          <p:cNvPr id="71687" name="Text Box 29"/>
          <p:cNvSpPr txBox="1">
            <a:spLocks noChangeArrowheads="1"/>
          </p:cNvSpPr>
          <p:nvPr/>
        </p:nvSpPr>
        <p:spPr bwMode="auto">
          <a:xfrm>
            <a:off x="1660313" y="1365508"/>
            <a:ext cx="12747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solidFill>
                  <a:srgbClr val="FF0033"/>
                </a:solidFill>
                <a:latin typeface="Tahoma" pitchFamily="34" charset="0"/>
              </a:rPr>
              <a:t>Styles</a:t>
            </a:r>
          </a:p>
        </p:txBody>
      </p:sp>
      <p:sp>
        <p:nvSpPr>
          <p:cNvPr id="71688" name="Text Box 30"/>
          <p:cNvSpPr txBox="1">
            <a:spLocks noChangeArrowheads="1"/>
          </p:cNvSpPr>
          <p:nvPr/>
        </p:nvSpPr>
        <p:spPr bwMode="auto">
          <a:xfrm>
            <a:off x="3707522" y="1395671"/>
            <a:ext cx="1217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i="1" dirty="0">
                <a:latin typeface="Tahoma" pitchFamily="34" charset="0"/>
              </a:rPr>
              <a:t>Focus</a:t>
            </a:r>
          </a:p>
        </p:txBody>
      </p:sp>
      <p:sp>
        <p:nvSpPr>
          <p:cNvPr id="71689" name="Text Box 31"/>
          <p:cNvSpPr txBox="1">
            <a:spLocks noChangeArrowheads="1"/>
          </p:cNvSpPr>
          <p:nvPr/>
        </p:nvSpPr>
        <p:spPr bwMode="auto">
          <a:xfrm>
            <a:off x="5557676" y="1395671"/>
            <a:ext cx="12907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i="1">
                <a:latin typeface="Tahoma" pitchFamily="34" charset="0"/>
              </a:rPr>
              <a:t>Speed</a:t>
            </a:r>
          </a:p>
        </p:txBody>
      </p:sp>
      <p:sp>
        <p:nvSpPr>
          <p:cNvPr id="71690" name="Text Box 32"/>
          <p:cNvSpPr txBox="1">
            <a:spLocks noChangeArrowheads="1"/>
          </p:cNvSpPr>
          <p:nvPr/>
        </p:nvSpPr>
        <p:spPr bwMode="auto">
          <a:xfrm>
            <a:off x="7258358" y="1395671"/>
            <a:ext cx="12795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i="1">
                <a:latin typeface="Tahoma" pitchFamily="34" charset="0"/>
              </a:rPr>
              <a:t>Vision</a:t>
            </a:r>
          </a:p>
        </p:txBody>
      </p:sp>
      <p:sp>
        <p:nvSpPr>
          <p:cNvPr id="71691" name="Text Box 33"/>
          <p:cNvSpPr txBox="1">
            <a:spLocks noChangeArrowheads="1"/>
          </p:cNvSpPr>
          <p:nvPr/>
        </p:nvSpPr>
        <p:spPr bwMode="auto">
          <a:xfrm>
            <a:off x="8952905" y="1397258"/>
            <a:ext cx="19768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i="1">
                <a:latin typeface="Tahoma" pitchFamily="34" charset="0"/>
              </a:rPr>
              <a:t>Nickname</a:t>
            </a:r>
          </a:p>
        </p:txBody>
      </p:sp>
      <p:sp>
        <p:nvSpPr>
          <p:cNvPr id="71692" name="Text Box 34"/>
          <p:cNvSpPr txBox="1">
            <a:spLocks noChangeArrowheads="1"/>
          </p:cNvSpPr>
          <p:nvPr/>
        </p:nvSpPr>
        <p:spPr bwMode="auto">
          <a:xfrm>
            <a:off x="1657383" y="949583"/>
            <a:ext cx="3174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a:solidFill>
                  <a:srgbClr val="FF0033"/>
                </a:solidFill>
                <a:latin typeface="Tahoma" pitchFamily="34" charset="0"/>
              </a:rPr>
              <a:t>Mismanagement</a:t>
            </a:r>
          </a:p>
        </p:txBody>
      </p:sp>
      <p:sp>
        <p:nvSpPr>
          <p:cNvPr id="13" name="Text Box 6">
            <a:extLst>
              <a:ext uri="{FF2B5EF4-FFF2-40B4-BE49-F238E27FC236}">
                <a16:creationId xmlns:a16="http://schemas.microsoft.com/office/drawing/2014/main" id="{78A9D4AA-3A36-4380-B07D-89E5B6DA6797}"/>
              </a:ext>
            </a:extLst>
          </p:cNvPr>
          <p:cNvSpPr txBox="1">
            <a:spLocks noChangeArrowheads="1"/>
          </p:cNvSpPr>
          <p:nvPr/>
        </p:nvSpPr>
        <p:spPr bwMode="auto">
          <a:xfrm>
            <a:off x="8934430" y="2993082"/>
            <a:ext cx="21820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Bureaucrat</a:t>
            </a:r>
          </a:p>
        </p:txBody>
      </p:sp>
      <p:sp>
        <p:nvSpPr>
          <p:cNvPr id="14" name="Text Box 10">
            <a:extLst>
              <a:ext uri="{FF2B5EF4-FFF2-40B4-BE49-F238E27FC236}">
                <a16:creationId xmlns:a16="http://schemas.microsoft.com/office/drawing/2014/main" id="{18D21DCF-95A6-447D-A49D-5D92579C5D81}"/>
              </a:ext>
            </a:extLst>
          </p:cNvPr>
          <p:cNvSpPr txBox="1">
            <a:spLocks noChangeArrowheads="1"/>
          </p:cNvSpPr>
          <p:nvPr/>
        </p:nvSpPr>
        <p:spPr bwMode="auto">
          <a:xfrm>
            <a:off x="5684301" y="2993082"/>
            <a:ext cx="10615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Slow</a:t>
            </a:r>
          </a:p>
        </p:txBody>
      </p:sp>
      <p:sp>
        <p:nvSpPr>
          <p:cNvPr id="15" name="Text Box 11">
            <a:extLst>
              <a:ext uri="{FF2B5EF4-FFF2-40B4-BE49-F238E27FC236}">
                <a16:creationId xmlns:a16="http://schemas.microsoft.com/office/drawing/2014/main" id="{681989D3-EB98-4BF1-94BC-2D4CC48A6C12}"/>
              </a:ext>
            </a:extLst>
          </p:cNvPr>
          <p:cNvSpPr txBox="1">
            <a:spLocks noChangeArrowheads="1"/>
          </p:cNvSpPr>
          <p:nvPr/>
        </p:nvSpPr>
        <p:spPr bwMode="auto">
          <a:xfrm>
            <a:off x="3639218" y="2993082"/>
            <a:ext cx="14366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Details</a:t>
            </a:r>
            <a:br>
              <a:rPr lang="en-US" altLang="lv-LV" sz="2800" dirty="0">
                <a:latin typeface="Tahoma" pitchFamily="34" charset="0"/>
              </a:rPr>
            </a:br>
            <a:r>
              <a:rPr lang="en-US" altLang="lv-LV" dirty="0">
                <a:latin typeface="Tahoma" pitchFamily="34" charset="0"/>
              </a:rPr>
              <a:t>(how)</a:t>
            </a:r>
          </a:p>
        </p:txBody>
      </p:sp>
      <p:sp>
        <p:nvSpPr>
          <p:cNvPr id="16" name="Text Box 16">
            <a:extLst>
              <a:ext uri="{FF2B5EF4-FFF2-40B4-BE49-F238E27FC236}">
                <a16:creationId xmlns:a16="http://schemas.microsoft.com/office/drawing/2014/main" id="{CFD495DE-0156-444F-A828-B5D383F4B75E}"/>
              </a:ext>
            </a:extLst>
          </p:cNvPr>
          <p:cNvSpPr txBox="1">
            <a:spLocks noChangeArrowheads="1"/>
          </p:cNvSpPr>
          <p:nvPr/>
        </p:nvSpPr>
        <p:spPr bwMode="auto">
          <a:xfrm>
            <a:off x="7179793" y="2993082"/>
            <a:ext cx="15279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Narrow</a:t>
            </a:r>
          </a:p>
        </p:txBody>
      </p:sp>
      <p:sp>
        <p:nvSpPr>
          <p:cNvPr id="17" name="Text Box 24">
            <a:extLst>
              <a:ext uri="{FF2B5EF4-FFF2-40B4-BE49-F238E27FC236}">
                <a16:creationId xmlns:a16="http://schemas.microsoft.com/office/drawing/2014/main" id="{9A3E4F2F-0AA5-4912-9189-592578248FDD}"/>
              </a:ext>
            </a:extLst>
          </p:cNvPr>
          <p:cNvSpPr txBox="1">
            <a:spLocks noChangeArrowheads="1"/>
          </p:cNvSpPr>
          <p:nvPr/>
        </p:nvSpPr>
        <p:spPr bwMode="auto">
          <a:xfrm>
            <a:off x="1046343" y="2973717"/>
            <a:ext cx="1412566" cy="584775"/>
          </a:xfrm>
          <a:prstGeom prst="rect">
            <a:avLst/>
          </a:prstGeom>
          <a:noFill/>
          <a:ln w="9525">
            <a:noFill/>
            <a:miter lim="800000"/>
            <a:headEnd/>
            <a:tailEnd/>
          </a:ln>
          <a:effectLst/>
        </p:spPr>
        <p:txBody>
          <a:bodyPr wrap="none">
            <a:spAutoFit/>
          </a:bodyPr>
          <a:lstStyle/>
          <a:p>
            <a:pPr>
              <a:defRPr/>
            </a:pPr>
            <a:r>
              <a:rPr lang="en-US" sz="3200" b="1" dirty="0">
                <a:solidFill>
                  <a:srgbClr val="FF0033"/>
                </a:solidFill>
                <a:effectLst>
                  <a:outerShdw blurRad="38100" dist="38100" dir="2700000" algn="tl">
                    <a:srgbClr val="C0C0C0"/>
                  </a:outerShdw>
                </a:effectLst>
                <a:latin typeface="Tahoma" pitchFamily="34" charset="0"/>
              </a:rPr>
              <a:t>Ø</a:t>
            </a:r>
            <a:r>
              <a:rPr lang="en-US" sz="3200" b="1" dirty="0">
                <a:effectLst>
                  <a:outerShdw blurRad="38100" dist="38100" dir="2700000" algn="tl">
                    <a:srgbClr val="C0C0C0"/>
                  </a:outerShdw>
                </a:effectLst>
                <a:latin typeface="Tahoma" pitchFamily="34" charset="0"/>
              </a:rPr>
              <a:t>A</a:t>
            </a:r>
            <a:r>
              <a:rPr lang="en-US" sz="3200" b="1" dirty="0">
                <a:solidFill>
                  <a:srgbClr val="FF0033"/>
                </a:solidFill>
                <a:effectLst>
                  <a:outerShdw blurRad="38100" dist="38100" dir="2700000" algn="tl">
                    <a:srgbClr val="C0C0C0"/>
                  </a:outerShdw>
                </a:effectLst>
                <a:latin typeface="Tahoma" pitchFamily="34" charset="0"/>
              </a:rPr>
              <a:t>ØØ</a:t>
            </a:r>
            <a:endParaRPr lang="en-US" sz="3000" b="1" dirty="0">
              <a:solidFill>
                <a:srgbClr val="002060"/>
              </a:solidFill>
              <a:effectLst>
                <a:outerShdw blurRad="38100" dist="38100" dir="2700000" algn="tl">
                  <a:srgbClr val="C0C0C0"/>
                </a:outerShdw>
              </a:effectLst>
              <a:latin typeface="Tahoma" pitchFamily="-111" charset="0"/>
              <a:ea typeface="ＭＳ Ｐゴシック" pitchFamily="-111" charset="-128"/>
            </a:endParaRPr>
          </a:p>
        </p:txBody>
      </p:sp>
      <p:sp>
        <p:nvSpPr>
          <p:cNvPr id="18" name="Text Box 6">
            <a:extLst>
              <a:ext uri="{FF2B5EF4-FFF2-40B4-BE49-F238E27FC236}">
                <a16:creationId xmlns:a16="http://schemas.microsoft.com/office/drawing/2014/main" id="{78A9D4AA-3A36-4380-B07D-89E5B6DA6797}"/>
              </a:ext>
            </a:extLst>
          </p:cNvPr>
          <p:cNvSpPr txBox="1">
            <a:spLocks noChangeArrowheads="1"/>
          </p:cNvSpPr>
          <p:nvPr/>
        </p:nvSpPr>
        <p:spPr bwMode="auto">
          <a:xfrm>
            <a:off x="8928891" y="3943504"/>
            <a:ext cx="16626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Arsonist</a:t>
            </a:r>
          </a:p>
        </p:txBody>
      </p:sp>
      <p:sp>
        <p:nvSpPr>
          <p:cNvPr id="19" name="Text Box 10">
            <a:extLst>
              <a:ext uri="{FF2B5EF4-FFF2-40B4-BE49-F238E27FC236}">
                <a16:creationId xmlns:a16="http://schemas.microsoft.com/office/drawing/2014/main" id="{18D21DCF-95A6-447D-A49D-5D92579C5D81}"/>
              </a:ext>
            </a:extLst>
          </p:cNvPr>
          <p:cNvSpPr txBox="1">
            <a:spLocks noChangeArrowheads="1"/>
          </p:cNvSpPr>
          <p:nvPr/>
        </p:nvSpPr>
        <p:spPr bwMode="auto">
          <a:xfrm>
            <a:off x="5678762" y="3943504"/>
            <a:ext cx="9412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Fast</a:t>
            </a:r>
          </a:p>
        </p:txBody>
      </p:sp>
      <p:sp>
        <p:nvSpPr>
          <p:cNvPr id="20" name="Text Box 11">
            <a:extLst>
              <a:ext uri="{FF2B5EF4-FFF2-40B4-BE49-F238E27FC236}">
                <a16:creationId xmlns:a16="http://schemas.microsoft.com/office/drawing/2014/main" id="{681989D3-EB98-4BF1-94BC-2D4CC48A6C12}"/>
              </a:ext>
            </a:extLst>
          </p:cNvPr>
          <p:cNvSpPr txBox="1">
            <a:spLocks noChangeArrowheads="1"/>
          </p:cNvSpPr>
          <p:nvPr/>
        </p:nvSpPr>
        <p:spPr bwMode="auto">
          <a:xfrm>
            <a:off x="3633679" y="3943504"/>
            <a:ext cx="1537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Change</a:t>
            </a:r>
          </a:p>
          <a:p>
            <a:pPr eaLnBrk="1" hangingPunct="1"/>
            <a:r>
              <a:rPr lang="en-US" altLang="lv-LV" dirty="0">
                <a:latin typeface="Tahoma" pitchFamily="34" charset="0"/>
              </a:rPr>
              <a:t>(why not)</a:t>
            </a:r>
          </a:p>
        </p:txBody>
      </p:sp>
      <p:sp>
        <p:nvSpPr>
          <p:cNvPr id="21" name="Text Box 16">
            <a:extLst>
              <a:ext uri="{FF2B5EF4-FFF2-40B4-BE49-F238E27FC236}">
                <a16:creationId xmlns:a16="http://schemas.microsoft.com/office/drawing/2014/main" id="{CFD495DE-0156-444F-A828-B5D383F4B75E}"/>
              </a:ext>
            </a:extLst>
          </p:cNvPr>
          <p:cNvSpPr txBox="1">
            <a:spLocks noChangeArrowheads="1"/>
          </p:cNvSpPr>
          <p:nvPr/>
        </p:nvSpPr>
        <p:spPr bwMode="auto">
          <a:xfrm>
            <a:off x="7174254" y="3943504"/>
            <a:ext cx="11015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Wide</a:t>
            </a:r>
          </a:p>
        </p:txBody>
      </p:sp>
      <p:sp>
        <p:nvSpPr>
          <p:cNvPr id="22" name="Text Box 24">
            <a:extLst>
              <a:ext uri="{FF2B5EF4-FFF2-40B4-BE49-F238E27FC236}">
                <a16:creationId xmlns:a16="http://schemas.microsoft.com/office/drawing/2014/main" id="{9A3E4F2F-0AA5-4912-9189-592578248FDD}"/>
              </a:ext>
            </a:extLst>
          </p:cNvPr>
          <p:cNvSpPr txBox="1">
            <a:spLocks noChangeArrowheads="1"/>
          </p:cNvSpPr>
          <p:nvPr/>
        </p:nvSpPr>
        <p:spPr bwMode="auto">
          <a:xfrm>
            <a:off x="1049117" y="3924139"/>
            <a:ext cx="1385316" cy="584775"/>
          </a:xfrm>
          <a:prstGeom prst="rect">
            <a:avLst/>
          </a:prstGeom>
          <a:noFill/>
          <a:ln w="9525">
            <a:noFill/>
            <a:miter lim="800000"/>
            <a:headEnd/>
            <a:tailEnd/>
          </a:ln>
          <a:effectLst/>
        </p:spPr>
        <p:txBody>
          <a:bodyPr wrap="none">
            <a:spAutoFit/>
          </a:bodyPr>
          <a:lstStyle/>
          <a:p>
            <a:pPr>
              <a:defRPr/>
            </a:pPr>
            <a:r>
              <a:rPr lang="en-US" sz="3200" b="1" dirty="0">
                <a:solidFill>
                  <a:srgbClr val="FF0033"/>
                </a:solidFill>
                <a:effectLst>
                  <a:outerShdw blurRad="38100" dist="38100" dir="2700000" algn="tl">
                    <a:srgbClr val="C0C0C0"/>
                  </a:outerShdw>
                </a:effectLst>
                <a:latin typeface="Tahoma" pitchFamily="34" charset="0"/>
              </a:rPr>
              <a:t>ØØ</a:t>
            </a:r>
            <a:r>
              <a:rPr lang="en-US" sz="3200" b="1" dirty="0">
                <a:effectLst>
                  <a:outerShdw blurRad="38100" dist="38100" dir="2700000" algn="tl">
                    <a:srgbClr val="C0C0C0"/>
                  </a:outerShdw>
                </a:effectLst>
                <a:latin typeface="Tahoma" pitchFamily="34" charset="0"/>
              </a:rPr>
              <a:t>E</a:t>
            </a:r>
            <a:r>
              <a:rPr lang="en-US" sz="3200" b="1" dirty="0">
                <a:solidFill>
                  <a:srgbClr val="FF0033"/>
                </a:solidFill>
                <a:effectLst>
                  <a:outerShdw blurRad="38100" dist="38100" dir="2700000" algn="tl">
                    <a:srgbClr val="C0C0C0"/>
                  </a:outerShdw>
                </a:effectLst>
                <a:latin typeface="Tahoma" pitchFamily="34" charset="0"/>
              </a:rPr>
              <a:t>Ø</a:t>
            </a:r>
            <a:endParaRPr lang="en-US" sz="3000" b="1" dirty="0">
              <a:solidFill>
                <a:srgbClr val="002060"/>
              </a:solidFill>
              <a:effectLst>
                <a:outerShdw blurRad="38100" dist="38100" dir="2700000" algn="tl">
                  <a:srgbClr val="C0C0C0"/>
                </a:outerShdw>
              </a:effectLst>
              <a:latin typeface="Tahoma" pitchFamily="-111" charset="0"/>
              <a:ea typeface="ＭＳ Ｐゴシック" pitchFamily="-111" charset="-128"/>
            </a:endParaRPr>
          </a:p>
        </p:txBody>
      </p:sp>
      <p:sp>
        <p:nvSpPr>
          <p:cNvPr id="23" name="Text Box 6">
            <a:extLst>
              <a:ext uri="{FF2B5EF4-FFF2-40B4-BE49-F238E27FC236}">
                <a16:creationId xmlns:a16="http://schemas.microsoft.com/office/drawing/2014/main" id="{481DBB77-54AE-4E69-95FD-548571DE7D2C}"/>
              </a:ext>
            </a:extLst>
          </p:cNvPr>
          <p:cNvSpPr txBox="1">
            <a:spLocks noChangeArrowheads="1"/>
          </p:cNvSpPr>
          <p:nvPr/>
        </p:nvSpPr>
        <p:spPr bwMode="auto">
          <a:xfrm>
            <a:off x="8926546" y="5066573"/>
            <a:ext cx="27927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err="1">
                <a:latin typeface="Tahoma" pitchFamily="34" charset="0"/>
              </a:rPr>
              <a:t>SuperFollower</a:t>
            </a:r>
            <a:endParaRPr lang="en-US" altLang="lv-LV" sz="2800" dirty="0">
              <a:latin typeface="Tahoma" pitchFamily="34" charset="0"/>
            </a:endParaRPr>
          </a:p>
        </p:txBody>
      </p:sp>
      <p:sp>
        <p:nvSpPr>
          <p:cNvPr id="24" name="Text Box 10">
            <a:extLst>
              <a:ext uri="{FF2B5EF4-FFF2-40B4-BE49-F238E27FC236}">
                <a16:creationId xmlns:a16="http://schemas.microsoft.com/office/drawing/2014/main" id="{9EF2FB9A-03F2-4CD1-A932-52E255CD028B}"/>
              </a:ext>
            </a:extLst>
          </p:cNvPr>
          <p:cNvSpPr txBox="1">
            <a:spLocks noChangeArrowheads="1"/>
          </p:cNvSpPr>
          <p:nvPr/>
        </p:nvSpPr>
        <p:spPr bwMode="auto">
          <a:xfrm>
            <a:off x="5676417" y="5066573"/>
            <a:ext cx="10615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Slow</a:t>
            </a:r>
          </a:p>
        </p:txBody>
      </p:sp>
      <p:sp>
        <p:nvSpPr>
          <p:cNvPr id="25" name="Text Box 11">
            <a:extLst>
              <a:ext uri="{FF2B5EF4-FFF2-40B4-BE49-F238E27FC236}">
                <a16:creationId xmlns:a16="http://schemas.microsoft.com/office/drawing/2014/main" id="{E24CCE44-51D7-4B91-9EA3-F393CFE9E2B6}"/>
              </a:ext>
            </a:extLst>
          </p:cNvPr>
          <p:cNvSpPr txBox="1">
            <a:spLocks noChangeArrowheads="1"/>
          </p:cNvSpPr>
          <p:nvPr/>
        </p:nvSpPr>
        <p:spPr bwMode="auto">
          <a:xfrm>
            <a:off x="3631332" y="5066573"/>
            <a:ext cx="208743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Teamwork</a:t>
            </a:r>
          </a:p>
          <a:p>
            <a:pPr eaLnBrk="1" hangingPunct="1"/>
            <a:r>
              <a:rPr lang="en-US" altLang="lv-LV" dirty="0">
                <a:latin typeface="Tahoma" pitchFamily="34" charset="0"/>
              </a:rPr>
              <a:t>(who)</a:t>
            </a:r>
          </a:p>
        </p:txBody>
      </p:sp>
      <p:sp>
        <p:nvSpPr>
          <p:cNvPr id="26" name="Text Box 16">
            <a:extLst>
              <a:ext uri="{FF2B5EF4-FFF2-40B4-BE49-F238E27FC236}">
                <a16:creationId xmlns:a16="http://schemas.microsoft.com/office/drawing/2014/main" id="{A857B3CF-7A61-456E-A3D2-50F332858F7C}"/>
              </a:ext>
            </a:extLst>
          </p:cNvPr>
          <p:cNvSpPr txBox="1">
            <a:spLocks noChangeArrowheads="1"/>
          </p:cNvSpPr>
          <p:nvPr/>
        </p:nvSpPr>
        <p:spPr bwMode="auto">
          <a:xfrm>
            <a:off x="7171909" y="5066573"/>
            <a:ext cx="11015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r>
              <a:rPr lang="en-US" altLang="lv-LV" sz="2800" dirty="0">
                <a:latin typeface="Tahoma" pitchFamily="34" charset="0"/>
              </a:rPr>
              <a:t>Wide</a:t>
            </a:r>
          </a:p>
        </p:txBody>
      </p:sp>
      <p:sp>
        <p:nvSpPr>
          <p:cNvPr id="27" name="Text Box 24">
            <a:extLst>
              <a:ext uri="{FF2B5EF4-FFF2-40B4-BE49-F238E27FC236}">
                <a16:creationId xmlns:a16="http://schemas.microsoft.com/office/drawing/2014/main" id="{7D64FD94-9EF2-4609-AF4C-097849A4575C}"/>
              </a:ext>
            </a:extLst>
          </p:cNvPr>
          <p:cNvSpPr txBox="1">
            <a:spLocks noChangeArrowheads="1"/>
          </p:cNvSpPr>
          <p:nvPr/>
        </p:nvSpPr>
        <p:spPr bwMode="auto">
          <a:xfrm>
            <a:off x="1046772" y="5047208"/>
            <a:ext cx="1330814" cy="584775"/>
          </a:xfrm>
          <a:prstGeom prst="rect">
            <a:avLst/>
          </a:prstGeom>
          <a:noFill/>
          <a:ln w="9525">
            <a:noFill/>
            <a:miter lim="800000"/>
            <a:headEnd/>
            <a:tailEnd/>
          </a:ln>
          <a:effectLst/>
        </p:spPr>
        <p:txBody>
          <a:bodyPr wrap="none">
            <a:spAutoFit/>
          </a:bodyPr>
          <a:lstStyle/>
          <a:p>
            <a:pPr>
              <a:defRPr/>
            </a:pPr>
            <a:r>
              <a:rPr lang="en-US" sz="3200" b="1" dirty="0">
                <a:solidFill>
                  <a:srgbClr val="FF0033"/>
                </a:solidFill>
                <a:effectLst>
                  <a:outerShdw blurRad="38100" dist="38100" dir="2700000" algn="tl">
                    <a:srgbClr val="C0C0C0"/>
                  </a:outerShdw>
                </a:effectLst>
                <a:latin typeface="Tahoma" pitchFamily="34" charset="0"/>
              </a:rPr>
              <a:t>ØØØ</a:t>
            </a:r>
            <a:r>
              <a:rPr lang="en-US" sz="3200" b="1" dirty="0">
                <a:effectLst>
                  <a:outerShdw blurRad="38100" dist="38100" dir="2700000" algn="tl">
                    <a:srgbClr val="C0C0C0"/>
                  </a:outerShdw>
                </a:effectLst>
                <a:latin typeface="Tahoma" pitchFamily="34" charset="0"/>
              </a:rPr>
              <a:t>I</a:t>
            </a:r>
            <a:endParaRPr lang="en-US" sz="3000" b="1" dirty="0">
              <a:solidFill>
                <a:srgbClr val="002060"/>
              </a:solidFill>
              <a:effectLst>
                <a:outerShdw blurRad="38100" dist="38100" dir="2700000" algn="tl">
                  <a:srgbClr val="C0C0C0"/>
                </a:outerShdw>
              </a:effectLst>
              <a:latin typeface="Tahoma" pitchFamily="-111" charset="0"/>
              <a:ea typeface="ＭＳ Ｐゴシック" pitchFamily="-111" charset="-128"/>
            </a:endParaRPr>
          </a:p>
        </p:txBody>
      </p:sp>
    </p:spTree>
    <p:extLst>
      <p:ext uri="{BB962C8B-B14F-4D97-AF65-F5344CB8AC3E}">
        <p14:creationId xmlns:p14="http://schemas.microsoft.com/office/powerpoint/2010/main" val="2600239452"/>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1916900" y="1911350"/>
            <a:ext cx="8044893" cy="263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28600" indent="-228600"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a:spcBef>
                <a:spcPct val="15000"/>
              </a:spcBef>
              <a:spcAft>
                <a:spcPct val="15000"/>
              </a:spcAft>
              <a:buFontTx/>
              <a:buChar char="•"/>
            </a:pPr>
            <a:r>
              <a:rPr lang="en-US" altLang="lv-LV" sz="2200" dirty="0">
                <a:solidFill>
                  <a:schemeClr val="accent2"/>
                </a:solidFill>
              </a:rPr>
              <a:t>Arrives and leaves as others</a:t>
            </a:r>
          </a:p>
          <a:p>
            <a:pPr>
              <a:spcBef>
                <a:spcPct val="15000"/>
              </a:spcBef>
              <a:spcAft>
                <a:spcPct val="15000"/>
              </a:spcAft>
              <a:buFontTx/>
              <a:buChar char="•"/>
            </a:pPr>
            <a:r>
              <a:rPr lang="en-US" altLang="lv-LV" sz="2200" dirty="0">
                <a:solidFill>
                  <a:schemeClr val="accent2"/>
                </a:solidFill>
              </a:rPr>
              <a:t>In meetings everyone else talks</a:t>
            </a:r>
          </a:p>
          <a:p>
            <a:pPr>
              <a:spcBef>
                <a:spcPct val="15000"/>
              </a:spcBef>
              <a:spcAft>
                <a:spcPct val="15000"/>
              </a:spcAft>
              <a:buFontTx/>
              <a:buChar char="•"/>
            </a:pPr>
            <a:r>
              <a:rPr lang="en-US" altLang="lv-LV" sz="2200" dirty="0">
                <a:solidFill>
                  <a:schemeClr val="accent2"/>
                </a:solidFill>
              </a:rPr>
              <a:t>Listens well but offers little</a:t>
            </a:r>
          </a:p>
          <a:p>
            <a:pPr>
              <a:spcBef>
                <a:spcPct val="15000"/>
              </a:spcBef>
              <a:spcAft>
                <a:spcPct val="15000"/>
              </a:spcAft>
              <a:buFontTx/>
              <a:buChar char="•"/>
            </a:pPr>
            <a:r>
              <a:rPr lang="en-US" altLang="lv-LV" sz="2200" dirty="0">
                <a:solidFill>
                  <a:schemeClr val="accent2"/>
                </a:solidFill>
              </a:rPr>
              <a:t>Avoids conflict</a:t>
            </a:r>
          </a:p>
          <a:p>
            <a:pPr>
              <a:spcBef>
                <a:spcPct val="15000"/>
              </a:spcBef>
              <a:spcAft>
                <a:spcPct val="15000"/>
              </a:spcAft>
              <a:buFontTx/>
              <a:buChar char="•"/>
            </a:pPr>
            <a:r>
              <a:rPr lang="en-US" altLang="lv-LV" sz="2200" dirty="0">
                <a:solidFill>
                  <a:schemeClr val="accent2"/>
                </a:solidFill>
              </a:rPr>
              <a:t>Indecisive and easily swayed</a:t>
            </a:r>
          </a:p>
          <a:p>
            <a:pPr>
              <a:spcBef>
                <a:spcPct val="15000"/>
              </a:spcBef>
              <a:spcAft>
                <a:spcPct val="15000"/>
              </a:spcAft>
              <a:buFontTx/>
              <a:buChar char="•"/>
            </a:pPr>
            <a:r>
              <a:rPr lang="en-US" altLang="lv-LV" sz="2200" dirty="0">
                <a:solidFill>
                  <a:schemeClr val="accent2"/>
                </a:solidFill>
              </a:rPr>
              <a:t>Subordinates are informers</a:t>
            </a:r>
          </a:p>
        </p:txBody>
      </p:sp>
      <p:sp>
        <p:nvSpPr>
          <p:cNvPr id="4" name="Rectangle 3"/>
          <p:cNvSpPr>
            <a:spLocks noChangeArrowheads="1"/>
          </p:cNvSpPr>
          <p:nvPr/>
        </p:nvSpPr>
        <p:spPr bwMode="auto">
          <a:xfrm>
            <a:off x="3833128" y="1034506"/>
            <a:ext cx="4608955" cy="523220"/>
          </a:xfrm>
          <a:prstGeom prst="rect">
            <a:avLst/>
          </a:prstGeom>
          <a:noFill/>
          <a:ln w="12700">
            <a:noFill/>
            <a:miter lim="800000"/>
            <a:headEnd type="none" w="sm" len="sm"/>
            <a:tailEnd type="none" w="sm" len="sm"/>
          </a:ln>
          <a:effectLst/>
        </p:spPr>
        <p:txBody>
          <a:bodyPr wrap="none">
            <a:spAutoFit/>
          </a:bodyPr>
          <a:lstStyle/>
          <a:p>
            <a:pPr algn="ctr">
              <a:defRPr/>
            </a:pPr>
            <a:r>
              <a:rPr lang="en-US" sz="2800" b="1" dirty="0">
                <a:solidFill>
                  <a:srgbClr val="FF0000"/>
                </a:solidFill>
                <a:effectLst>
                  <a:outerShdw blurRad="38100" dist="38100" dir="2700000" algn="tl">
                    <a:srgbClr val="C0C0C0"/>
                  </a:outerShdw>
                </a:effectLst>
              </a:rPr>
              <a:t>ØØØ</a:t>
            </a:r>
            <a:r>
              <a:rPr lang="en-US" sz="2800" b="1" dirty="0">
                <a:solidFill>
                  <a:srgbClr val="FF0033"/>
                </a:solidFill>
                <a:effectLst>
                  <a:outerShdw blurRad="38100" dist="38100" dir="2700000" algn="tl">
                    <a:srgbClr val="C0C0C0"/>
                  </a:outerShdw>
                </a:effectLst>
              </a:rPr>
              <a:t>I SUPER FOLLOWER</a:t>
            </a:r>
          </a:p>
        </p:txBody>
      </p:sp>
      <p:graphicFrame>
        <p:nvGraphicFramePr>
          <p:cNvPr id="6" name="Object 2">
            <a:extLst>
              <a:ext uri="{FF2B5EF4-FFF2-40B4-BE49-F238E27FC236}">
                <a16:creationId xmlns:a16="http://schemas.microsoft.com/office/drawing/2014/main" id="{8E8DDF57-A1BE-4335-9C05-B7362A44B70C}"/>
              </a:ext>
            </a:extLst>
          </p:cNvPr>
          <p:cNvGraphicFramePr>
            <a:graphicFrameLocks noChangeAspect="1"/>
          </p:cNvGraphicFramePr>
          <p:nvPr>
            <p:extLst/>
          </p:nvPr>
        </p:nvGraphicFramePr>
        <p:xfrm>
          <a:off x="7996664" y="1911350"/>
          <a:ext cx="2943003" cy="3475037"/>
        </p:xfrm>
        <a:graphic>
          <a:graphicData uri="http://schemas.openxmlformats.org/presentationml/2006/ole">
            <mc:AlternateContent xmlns:mc="http://schemas.openxmlformats.org/markup-compatibility/2006">
              <mc:Choice xmlns:v="urn:schemas-microsoft-com:vml" Requires="v">
                <p:oleObj spid="_x0000_s10243" name="Image" r:id="rId3" imgW="4206142" imgH="4968585" progId="">
                  <p:embed/>
                </p:oleObj>
              </mc:Choice>
              <mc:Fallback>
                <p:oleObj name="Image" r:id="rId3" imgW="4206142" imgH="4968585" progId="">
                  <p:embed/>
                  <p:pic>
                    <p:nvPicPr>
                      <p:cNvPr id="6" name="Object 2">
                        <a:extLst>
                          <a:ext uri="{FF2B5EF4-FFF2-40B4-BE49-F238E27FC236}">
                            <a16:creationId xmlns:a16="http://schemas.microsoft.com/office/drawing/2014/main" id="{8E8DDF57-A1BE-4335-9C05-B7362A44B7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96664" y="1911350"/>
                        <a:ext cx="2943003" cy="3475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6806625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8385" y="163679"/>
            <a:ext cx="6852415" cy="338618"/>
          </a:xfrm>
        </p:spPr>
        <p:txBody>
          <a:bodyPr>
            <a:normAutofit fontScale="90000"/>
          </a:bodyPr>
          <a:lstStyle/>
          <a:p>
            <a:r>
              <a:rPr lang="en-US" dirty="0"/>
              <a:t>Prescriptive </a:t>
            </a:r>
            <a:r>
              <a:rPr lang="en-US" dirty="0" err="1"/>
              <a:t>paeI</a:t>
            </a:r>
            <a:r>
              <a:rPr lang="en-US" dirty="0"/>
              <a:t> - Integrators</a:t>
            </a:r>
          </a:p>
        </p:txBody>
      </p:sp>
      <p:sp>
        <p:nvSpPr>
          <p:cNvPr id="8" name="AutoShape 3"/>
          <p:cNvSpPr>
            <a:spLocks noChangeAspect="1" noChangeArrowheads="1" noTextEdit="1"/>
          </p:cNvSpPr>
          <p:nvPr/>
        </p:nvSpPr>
        <p:spPr bwMode="auto">
          <a:xfrm>
            <a:off x="2116138" y="1431925"/>
            <a:ext cx="7959725" cy="399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Rectangle 5"/>
          <p:cNvSpPr>
            <a:spLocks noChangeArrowheads="1"/>
          </p:cNvSpPr>
          <p:nvPr/>
        </p:nvSpPr>
        <p:spPr bwMode="auto">
          <a:xfrm>
            <a:off x="2116138" y="1601788"/>
            <a:ext cx="3519488" cy="779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4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2488" y="1606550"/>
            <a:ext cx="3513138"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p:cNvSpPr>
            <a:spLocks noChangeArrowheads="1"/>
          </p:cNvSpPr>
          <p:nvPr/>
        </p:nvSpPr>
        <p:spPr bwMode="auto">
          <a:xfrm>
            <a:off x="2116138" y="1639888"/>
            <a:ext cx="3519488" cy="77946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en-US" sz="2300" dirty="0"/>
              <a:t>Speak </a:t>
            </a:r>
            <a:r>
              <a:rPr lang="en-US" sz="2300" dirty="0">
                <a:solidFill>
                  <a:srgbClr val="000000"/>
                </a:solidFill>
                <a:latin typeface="Arial" panose="020B0604020202020204" pitchFamily="34" charset="0"/>
              </a:rPr>
              <a:t>so</a:t>
            </a:r>
            <a:r>
              <a:rPr lang="en-US" sz="2300" dirty="0"/>
              <a:t> others know what you think</a:t>
            </a:r>
            <a:br>
              <a:rPr lang="en-US" sz="2300" dirty="0"/>
            </a:br>
            <a:endParaRPr lang="en-US" sz="500" dirty="0"/>
          </a:p>
          <a:p>
            <a:pPr algn="ctr"/>
            <a:r>
              <a:rPr lang="en-US" sz="2300" dirty="0"/>
              <a:t>Not taking a stand is taking a stand</a:t>
            </a:r>
          </a:p>
          <a:p>
            <a:pPr algn="ctr"/>
            <a:endParaRPr lang="en-US" sz="2300" dirty="0"/>
          </a:p>
        </p:txBody>
      </p:sp>
      <p:sp>
        <p:nvSpPr>
          <p:cNvPr id="11" name="Rectangle 8"/>
          <p:cNvSpPr>
            <a:spLocks noChangeArrowheads="1"/>
          </p:cNvSpPr>
          <p:nvPr/>
        </p:nvSpPr>
        <p:spPr bwMode="auto">
          <a:xfrm>
            <a:off x="5635626" y="1601788"/>
            <a:ext cx="635000" cy="779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49"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5626" y="1606550"/>
            <a:ext cx="635000"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0"/>
          <p:cNvSpPr>
            <a:spLocks noChangeArrowheads="1"/>
          </p:cNvSpPr>
          <p:nvPr/>
        </p:nvSpPr>
        <p:spPr bwMode="auto">
          <a:xfrm>
            <a:off x="5635626" y="1601788"/>
            <a:ext cx="635000" cy="77946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11"/>
          <p:cNvSpPr>
            <a:spLocks noChangeArrowheads="1"/>
          </p:cNvSpPr>
          <p:nvPr/>
        </p:nvSpPr>
        <p:spPr bwMode="auto">
          <a:xfrm>
            <a:off x="6270626" y="1601788"/>
            <a:ext cx="3795713" cy="779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52"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70626" y="1606550"/>
            <a:ext cx="3790950"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p:nvSpPr>
        <p:spPr bwMode="auto">
          <a:xfrm>
            <a:off x="6270626" y="1601788"/>
            <a:ext cx="3795713" cy="77946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14"/>
          <p:cNvSpPr>
            <a:spLocks noChangeArrowheads="1"/>
          </p:cNvSpPr>
          <p:nvPr/>
        </p:nvSpPr>
        <p:spPr bwMode="auto">
          <a:xfrm>
            <a:off x="2116138" y="3151188"/>
            <a:ext cx="3519488" cy="11191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55"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2488" y="3154363"/>
            <a:ext cx="3513138"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6"/>
          <p:cNvSpPr>
            <a:spLocks noChangeArrowheads="1"/>
          </p:cNvSpPr>
          <p:nvPr/>
        </p:nvSpPr>
        <p:spPr bwMode="auto">
          <a:xfrm>
            <a:off x="2116138" y="3151188"/>
            <a:ext cx="3519488" cy="1119188"/>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ctr"/>
            <a:r>
              <a:rPr lang="en-US" sz="2300" dirty="0"/>
              <a:t>Stop waiting to decide, you are confusing people</a:t>
            </a:r>
            <a:endParaRPr lang="en-US" dirty="0"/>
          </a:p>
        </p:txBody>
      </p:sp>
      <p:sp>
        <p:nvSpPr>
          <p:cNvPr id="17" name="Rectangle 17"/>
          <p:cNvSpPr>
            <a:spLocks noChangeArrowheads="1"/>
          </p:cNvSpPr>
          <p:nvPr/>
        </p:nvSpPr>
        <p:spPr bwMode="auto">
          <a:xfrm>
            <a:off x="5635626" y="3151188"/>
            <a:ext cx="635000" cy="11191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58" name="Picture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5626" y="3154363"/>
            <a:ext cx="635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9"/>
          <p:cNvSpPr>
            <a:spLocks noChangeArrowheads="1"/>
          </p:cNvSpPr>
          <p:nvPr/>
        </p:nvSpPr>
        <p:spPr bwMode="auto">
          <a:xfrm>
            <a:off x="5635626" y="3151188"/>
            <a:ext cx="635000" cy="1119188"/>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20"/>
          <p:cNvSpPr>
            <a:spLocks noChangeArrowheads="1"/>
          </p:cNvSpPr>
          <p:nvPr/>
        </p:nvSpPr>
        <p:spPr bwMode="auto">
          <a:xfrm>
            <a:off x="6270626" y="3151188"/>
            <a:ext cx="3795713" cy="11191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61" name="Picture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70626" y="3154363"/>
            <a:ext cx="37909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22"/>
          <p:cNvSpPr>
            <a:spLocks noChangeArrowheads="1"/>
          </p:cNvSpPr>
          <p:nvPr/>
        </p:nvSpPr>
        <p:spPr bwMode="auto">
          <a:xfrm>
            <a:off x="6270626" y="3151188"/>
            <a:ext cx="3795713" cy="1119188"/>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Rectangle 23"/>
          <p:cNvSpPr>
            <a:spLocks noChangeArrowheads="1"/>
          </p:cNvSpPr>
          <p:nvPr/>
        </p:nvSpPr>
        <p:spPr bwMode="auto">
          <a:xfrm>
            <a:off x="2116138" y="5041900"/>
            <a:ext cx="3519488" cy="3746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64" name="Picture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2488" y="5045075"/>
            <a:ext cx="351313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5"/>
          <p:cNvSpPr>
            <a:spLocks noChangeArrowheads="1"/>
          </p:cNvSpPr>
          <p:nvPr/>
        </p:nvSpPr>
        <p:spPr bwMode="auto">
          <a:xfrm>
            <a:off x="2116138" y="5041900"/>
            <a:ext cx="3519488" cy="374650"/>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Rectangle 26"/>
          <p:cNvSpPr>
            <a:spLocks noChangeArrowheads="1"/>
          </p:cNvSpPr>
          <p:nvPr/>
        </p:nvSpPr>
        <p:spPr bwMode="auto">
          <a:xfrm>
            <a:off x="5635626" y="5041900"/>
            <a:ext cx="635000" cy="3746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67" name="Picture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5626" y="5045075"/>
            <a:ext cx="63500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28"/>
          <p:cNvSpPr>
            <a:spLocks noChangeArrowheads="1"/>
          </p:cNvSpPr>
          <p:nvPr/>
        </p:nvSpPr>
        <p:spPr bwMode="auto">
          <a:xfrm>
            <a:off x="5635626" y="5041900"/>
            <a:ext cx="635000" cy="374650"/>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Rectangle 29"/>
          <p:cNvSpPr>
            <a:spLocks noChangeArrowheads="1"/>
          </p:cNvSpPr>
          <p:nvPr/>
        </p:nvSpPr>
        <p:spPr bwMode="auto">
          <a:xfrm>
            <a:off x="6270626" y="5041900"/>
            <a:ext cx="3795713" cy="3746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70" name="Picture 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70626" y="5045075"/>
            <a:ext cx="379095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31"/>
          <p:cNvSpPr>
            <a:spLocks noChangeArrowheads="1"/>
          </p:cNvSpPr>
          <p:nvPr/>
        </p:nvSpPr>
        <p:spPr bwMode="auto">
          <a:xfrm>
            <a:off x="6270626" y="5041900"/>
            <a:ext cx="3795713" cy="374650"/>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Line 32"/>
          <p:cNvSpPr>
            <a:spLocks noChangeShapeType="1"/>
          </p:cNvSpPr>
          <p:nvPr/>
        </p:nvSpPr>
        <p:spPr bwMode="auto">
          <a:xfrm>
            <a:off x="5635626" y="1428750"/>
            <a:ext cx="0" cy="399415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33"/>
          <p:cNvSpPr>
            <a:spLocks noChangeShapeType="1"/>
          </p:cNvSpPr>
          <p:nvPr/>
        </p:nvSpPr>
        <p:spPr bwMode="auto">
          <a:xfrm>
            <a:off x="6270626" y="1428750"/>
            <a:ext cx="0" cy="399415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34"/>
          <p:cNvSpPr>
            <a:spLocks noChangeShapeType="1"/>
          </p:cNvSpPr>
          <p:nvPr/>
        </p:nvSpPr>
        <p:spPr bwMode="auto">
          <a:xfrm>
            <a:off x="2116138" y="1606550"/>
            <a:ext cx="7950200" cy="0"/>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35"/>
          <p:cNvSpPr>
            <a:spLocks noChangeShapeType="1"/>
          </p:cNvSpPr>
          <p:nvPr/>
        </p:nvSpPr>
        <p:spPr bwMode="auto">
          <a:xfrm>
            <a:off x="2116138" y="2379663"/>
            <a:ext cx="7950200"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36"/>
          <p:cNvSpPr>
            <a:spLocks noChangeShapeType="1"/>
          </p:cNvSpPr>
          <p:nvPr/>
        </p:nvSpPr>
        <p:spPr bwMode="auto">
          <a:xfrm>
            <a:off x="2116138" y="3154363"/>
            <a:ext cx="7950200"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Line 37"/>
          <p:cNvSpPr>
            <a:spLocks noChangeShapeType="1"/>
          </p:cNvSpPr>
          <p:nvPr/>
        </p:nvSpPr>
        <p:spPr bwMode="auto">
          <a:xfrm>
            <a:off x="2116138" y="4271963"/>
            <a:ext cx="7950200"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Line 38"/>
          <p:cNvSpPr>
            <a:spLocks noChangeShapeType="1"/>
          </p:cNvSpPr>
          <p:nvPr/>
        </p:nvSpPr>
        <p:spPr bwMode="auto">
          <a:xfrm>
            <a:off x="2116138" y="5045075"/>
            <a:ext cx="7950200"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Line 39"/>
          <p:cNvSpPr>
            <a:spLocks noChangeShapeType="1"/>
          </p:cNvSpPr>
          <p:nvPr/>
        </p:nvSpPr>
        <p:spPr bwMode="auto">
          <a:xfrm>
            <a:off x="2122488" y="1428750"/>
            <a:ext cx="0" cy="399415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Line 40"/>
          <p:cNvSpPr>
            <a:spLocks noChangeShapeType="1"/>
          </p:cNvSpPr>
          <p:nvPr/>
        </p:nvSpPr>
        <p:spPr bwMode="auto">
          <a:xfrm>
            <a:off x="10061576" y="1428750"/>
            <a:ext cx="0" cy="399415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Line 41"/>
          <p:cNvSpPr>
            <a:spLocks noChangeShapeType="1"/>
          </p:cNvSpPr>
          <p:nvPr/>
        </p:nvSpPr>
        <p:spPr bwMode="auto">
          <a:xfrm>
            <a:off x="2116138" y="1433513"/>
            <a:ext cx="7950200"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Line 42"/>
          <p:cNvSpPr>
            <a:spLocks noChangeShapeType="1"/>
          </p:cNvSpPr>
          <p:nvPr/>
        </p:nvSpPr>
        <p:spPr bwMode="auto">
          <a:xfrm>
            <a:off x="2116138" y="5418138"/>
            <a:ext cx="7950200"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1" name="Rectangle 46"/>
          <p:cNvSpPr>
            <a:spLocks noChangeArrowheads="1"/>
          </p:cNvSpPr>
          <p:nvPr/>
        </p:nvSpPr>
        <p:spPr bwMode="auto">
          <a:xfrm>
            <a:off x="6025079" y="1651079"/>
            <a:ext cx="405078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US" sz="2400" dirty="0"/>
              <a:t>Consensus does not</a:t>
            </a:r>
          </a:p>
          <a:p>
            <a:pPr algn="ctr"/>
            <a:r>
              <a:rPr lang="en-US" sz="2400" dirty="0"/>
              <a:t>mean commitment</a:t>
            </a:r>
          </a:p>
        </p:txBody>
      </p:sp>
      <p:sp>
        <p:nvSpPr>
          <p:cNvPr id="46" name="Rectangle 51"/>
          <p:cNvSpPr>
            <a:spLocks noChangeArrowheads="1"/>
          </p:cNvSpPr>
          <p:nvPr/>
        </p:nvSpPr>
        <p:spPr bwMode="auto">
          <a:xfrm>
            <a:off x="6484939" y="2450618"/>
            <a:ext cx="3081336"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US" sz="2300" dirty="0"/>
              <a:t>Stop the endless meetings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
        <p:nvSpPr>
          <p:cNvPr id="52" name="Rectangle 57"/>
          <p:cNvSpPr>
            <a:spLocks noChangeArrowheads="1"/>
          </p:cNvSpPr>
          <p:nvPr/>
        </p:nvSpPr>
        <p:spPr bwMode="auto">
          <a:xfrm>
            <a:off x="6541199" y="3338513"/>
            <a:ext cx="317234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US" sz="2300" dirty="0"/>
              <a:t>Stop agreeing just</a:t>
            </a:r>
            <a:br>
              <a:rPr lang="en-US" sz="2300" dirty="0"/>
            </a:br>
            <a:r>
              <a:rPr lang="en-US" sz="2300" dirty="0"/>
              <a:t>for the sake of agreeing</a:t>
            </a:r>
            <a:r>
              <a:rPr kumimoji="0" lang="en-US" altLang="en-US" sz="2300" b="0" i="0" u="none" strike="noStrike" cap="none" normalizeH="0" baseline="0" dirty="0">
                <a:ln>
                  <a:noFill/>
                </a:ln>
                <a:solidFill>
                  <a:srgbClr val="000000"/>
                </a:solidFill>
                <a:effectLst/>
                <a:latin typeface="Arial" panose="020B0604020202020204" pitchFamily="34" charset="0"/>
              </a:rPr>
              <a:t>,</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
        <p:nvSpPr>
          <p:cNvPr id="59" name="Rectangle 64"/>
          <p:cNvSpPr>
            <a:spLocks noChangeArrowheads="1"/>
          </p:cNvSpPr>
          <p:nvPr/>
        </p:nvSpPr>
        <p:spPr bwMode="auto">
          <a:xfrm>
            <a:off x="6541199" y="4334014"/>
            <a:ext cx="327833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You need to allow p</a:t>
            </a:r>
            <a:r>
              <a:rPr lang="en-US" altLang="en-US" sz="2300" dirty="0">
                <a:solidFill>
                  <a:srgbClr val="000000"/>
                </a:solidFill>
              </a:rPr>
              <a:t>eople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300" dirty="0">
                <a:solidFill>
                  <a:srgbClr val="000000"/>
                </a:solidFill>
              </a:rPr>
              <a:t>to confront one another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C4FDD98F-AD73-456E-B578-2CD1316D53D6}"/>
              </a:ext>
            </a:extLst>
          </p:cNvPr>
          <p:cNvSpPr/>
          <p:nvPr/>
        </p:nvSpPr>
        <p:spPr>
          <a:xfrm>
            <a:off x="2276477" y="4278313"/>
            <a:ext cx="3348394" cy="800219"/>
          </a:xfrm>
          <a:prstGeom prst="rect">
            <a:avLst/>
          </a:prstGeom>
        </p:spPr>
        <p:txBody>
          <a:bodyPr wrap="square">
            <a:spAutoFit/>
          </a:bodyPr>
          <a:lstStyle/>
          <a:p>
            <a:pPr algn="ctr"/>
            <a:r>
              <a:rPr lang="en-US" sz="2300" dirty="0"/>
              <a:t>Noisy discussion is not disagreement</a:t>
            </a:r>
          </a:p>
        </p:txBody>
      </p:sp>
    </p:spTree>
    <p:extLst>
      <p:ext uri="{BB962C8B-B14F-4D97-AF65-F5344CB8AC3E}">
        <p14:creationId xmlns:p14="http://schemas.microsoft.com/office/powerpoint/2010/main" val="3477423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41" grpId="0"/>
      <p:bldP spid="46" grpId="0"/>
      <p:bldP spid="52" grpId="0"/>
      <p:bldP spid="59"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2818" y="278448"/>
            <a:ext cx="7092002" cy="265276"/>
          </a:xfrm>
        </p:spPr>
        <p:txBody>
          <a:bodyPr>
            <a:noAutofit/>
          </a:bodyPr>
          <a:lstStyle/>
          <a:p>
            <a:r>
              <a:rPr lang="en-US" dirty="0"/>
              <a:t>Prescriptive </a:t>
            </a:r>
            <a:r>
              <a:rPr lang="en-US" dirty="0" err="1"/>
              <a:t>paeI</a:t>
            </a:r>
            <a:r>
              <a:rPr lang="en-US" dirty="0"/>
              <a:t> - Integrators</a:t>
            </a:r>
          </a:p>
        </p:txBody>
      </p:sp>
      <p:sp>
        <p:nvSpPr>
          <p:cNvPr id="8" name="AutoShape 3"/>
          <p:cNvSpPr>
            <a:spLocks noChangeAspect="1" noChangeArrowheads="1" noTextEdit="1"/>
          </p:cNvSpPr>
          <p:nvPr/>
        </p:nvSpPr>
        <p:spPr bwMode="auto">
          <a:xfrm>
            <a:off x="1990725" y="1138238"/>
            <a:ext cx="821055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Rectangle 5"/>
          <p:cNvSpPr>
            <a:spLocks noChangeArrowheads="1"/>
          </p:cNvSpPr>
          <p:nvPr/>
        </p:nvSpPr>
        <p:spPr bwMode="auto">
          <a:xfrm>
            <a:off x="1990725" y="1317626"/>
            <a:ext cx="3841750" cy="14668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127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8663" y="1319213"/>
            <a:ext cx="38322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p:cNvSpPr>
            <a:spLocks noChangeArrowheads="1"/>
          </p:cNvSpPr>
          <p:nvPr/>
        </p:nvSpPr>
        <p:spPr bwMode="auto">
          <a:xfrm>
            <a:off x="1990725" y="1317626"/>
            <a:ext cx="3841750" cy="1466850"/>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Rectangle 8"/>
          <p:cNvSpPr>
            <a:spLocks noChangeArrowheads="1"/>
          </p:cNvSpPr>
          <p:nvPr/>
        </p:nvSpPr>
        <p:spPr bwMode="auto">
          <a:xfrm>
            <a:off x="5822950" y="1317626"/>
            <a:ext cx="285750" cy="14668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127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0888" y="1319213"/>
            <a:ext cx="287338"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0"/>
          <p:cNvSpPr>
            <a:spLocks noChangeArrowheads="1"/>
          </p:cNvSpPr>
          <p:nvPr/>
        </p:nvSpPr>
        <p:spPr bwMode="auto">
          <a:xfrm>
            <a:off x="5822950" y="1317626"/>
            <a:ext cx="285750" cy="1466850"/>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1"/>
          <p:cNvSpPr>
            <a:spLocks noChangeArrowheads="1"/>
          </p:cNvSpPr>
          <p:nvPr/>
        </p:nvSpPr>
        <p:spPr bwMode="auto">
          <a:xfrm>
            <a:off x="6108700" y="1317626"/>
            <a:ext cx="4075113" cy="14668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1276"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8225" y="1319213"/>
            <a:ext cx="406717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p:nvSpPr>
        <p:spPr bwMode="auto">
          <a:xfrm>
            <a:off x="6108700" y="1317626"/>
            <a:ext cx="4075113" cy="1466850"/>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Rectangle 14"/>
          <p:cNvSpPr>
            <a:spLocks noChangeArrowheads="1"/>
          </p:cNvSpPr>
          <p:nvPr/>
        </p:nvSpPr>
        <p:spPr bwMode="auto">
          <a:xfrm>
            <a:off x="1990725" y="4233863"/>
            <a:ext cx="3841750" cy="11191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1279"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8663" y="4240213"/>
            <a:ext cx="3832225"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6"/>
          <p:cNvSpPr>
            <a:spLocks noChangeArrowheads="1"/>
          </p:cNvSpPr>
          <p:nvPr/>
        </p:nvSpPr>
        <p:spPr bwMode="auto">
          <a:xfrm>
            <a:off x="1990725" y="4233863"/>
            <a:ext cx="3841750" cy="1119188"/>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7"/>
          <p:cNvSpPr>
            <a:spLocks noChangeArrowheads="1"/>
          </p:cNvSpPr>
          <p:nvPr/>
        </p:nvSpPr>
        <p:spPr bwMode="auto">
          <a:xfrm>
            <a:off x="5822950" y="4233863"/>
            <a:ext cx="285750" cy="11191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1282" name="Picture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30888" y="4240213"/>
            <a:ext cx="287338"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9"/>
          <p:cNvSpPr>
            <a:spLocks noChangeArrowheads="1"/>
          </p:cNvSpPr>
          <p:nvPr/>
        </p:nvSpPr>
        <p:spPr bwMode="auto">
          <a:xfrm>
            <a:off x="5822950" y="4233863"/>
            <a:ext cx="285750" cy="1119188"/>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20"/>
          <p:cNvSpPr>
            <a:spLocks noChangeArrowheads="1"/>
          </p:cNvSpPr>
          <p:nvPr/>
        </p:nvSpPr>
        <p:spPr bwMode="auto">
          <a:xfrm>
            <a:off x="6108700" y="4233863"/>
            <a:ext cx="4075113" cy="11191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1285"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8225" y="4240213"/>
            <a:ext cx="4067175"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22"/>
          <p:cNvSpPr>
            <a:spLocks noChangeArrowheads="1"/>
          </p:cNvSpPr>
          <p:nvPr/>
        </p:nvSpPr>
        <p:spPr bwMode="auto">
          <a:xfrm>
            <a:off x="6108700" y="4233863"/>
            <a:ext cx="4075113" cy="1119188"/>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Line 23"/>
          <p:cNvSpPr>
            <a:spLocks noChangeShapeType="1"/>
          </p:cNvSpPr>
          <p:nvPr/>
        </p:nvSpPr>
        <p:spPr bwMode="auto">
          <a:xfrm>
            <a:off x="5830888" y="1141413"/>
            <a:ext cx="0" cy="4570413"/>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24"/>
          <p:cNvSpPr>
            <a:spLocks noChangeShapeType="1"/>
          </p:cNvSpPr>
          <p:nvPr/>
        </p:nvSpPr>
        <p:spPr bwMode="auto">
          <a:xfrm>
            <a:off x="6118225" y="1141413"/>
            <a:ext cx="0" cy="4570413"/>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Line 25"/>
          <p:cNvSpPr>
            <a:spLocks noChangeShapeType="1"/>
          </p:cNvSpPr>
          <p:nvPr/>
        </p:nvSpPr>
        <p:spPr bwMode="auto">
          <a:xfrm>
            <a:off x="1992313" y="1319213"/>
            <a:ext cx="8199438" cy="0"/>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Line 26"/>
          <p:cNvSpPr>
            <a:spLocks noChangeShapeType="1"/>
          </p:cNvSpPr>
          <p:nvPr/>
        </p:nvSpPr>
        <p:spPr bwMode="auto">
          <a:xfrm>
            <a:off x="1992313" y="2779713"/>
            <a:ext cx="8199438"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27"/>
          <p:cNvSpPr>
            <a:spLocks noChangeShapeType="1"/>
          </p:cNvSpPr>
          <p:nvPr/>
        </p:nvSpPr>
        <p:spPr bwMode="auto">
          <a:xfrm>
            <a:off x="1992313" y="4240213"/>
            <a:ext cx="8199438"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28"/>
          <p:cNvSpPr>
            <a:spLocks noChangeShapeType="1"/>
          </p:cNvSpPr>
          <p:nvPr/>
        </p:nvSpPr>
        <p:spPr bwMode="auto">
          <a:xfrm>
            <a:off x="1992313" y="5356226"/>
            <a:ext cx="8199438"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29"/>
          <p:cNvSpPr>
            <a:spLocks noChangeShapeType="1"/>
          </p:cNvSpPr>
          <p:nvPr/>
        </p:nvSpPr>
        <p:spPr bwMode="auto">
          <a:xfrm>
            <a:off x="1998663" y="1141413"/>
            <a:ext cx="0" cy="4570413"/>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30"/>
          <p:cNvSpPr>
            <a:spLocks noChangeShapeType="1"/>
          </p:cNvSpPr>
          <p:nvPr/>
        </p:nvSpPr>
        <p:spPr bwMode="auto">
          <a:xfrm>
            <a:off x="10185400" y="1141413"/>
            <a:ext cx="0" cy="4570413"/>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31"/>
          <p:cNvSpPr>
            <a:spLocks noChangeShapeType="1"/>
          </p:cNvSpPr>
          <p:nvPr/>
        </p:nvSpPr>
        <p:spPr bwMode="auto">
          <a:xfrm>
            <a:off x="1992313" y="1147763"/>
            <a:ext cx="8199438"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32"/>
          <p:cNvSpPr>
            <a:spLocks noChangeShapeType="1"/>
          </p:cNvSpPr>
          <p:nvPr/>
        </p:nvSpPr>
        <p:spPr bwMode="auto">
          <a:xfrm>
            <a:off x="1992313" y="5705476"/>
            <a:ext cx="8199438" cy="0"/>
          </a:xfrm>
          <a:prstGeom prst="line">
            <a:avLst/>
          </a:prstGeom>
          <a:noFill/>
          <a:ln w="111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Rectangle 37"/>
          <p:cNvSpPr>
            <a:spLocks noChangeArrowheads="1"/>
          </p:cNvSpPr>
          <p:nvPr/>
        </p:nvSpPr>
        <p:spPr bwMode="auto">
          <a:xfrm>
            <a:off x="2151062" y="1367422"/>
            <a:ext cx="3354388" cy="1769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US" sz="2300" dirty="0"/>
              <a:t>There is no change without conflict. If you try to stop conflict, change will stop too</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
        <p:nvSpPr>
          <p:cNvPr id="38" name="Rectangle 40"/>
          <p:cNvSpPr>
            <a:spLocks noChangeArrowheads="1"/>
          </p:cNvSpPr>
          <p:nvPr/>
        </p:nvSpPr>
        <p:spPr bwMode="auto">
          <a:xfrm>
            <a:off x="6630281" y="1473308"/>
            <a:ext cx="2989088"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Being nice to your staff</a:t>
            </a:r>
            <a:br>
              <a:rPr kumimoji="0" lang="en-US" altLang="en-US" sz="2300" b="0" i="0" u="none" strike="noStrike" cap="none" normalizeH="0" baseline="0" dirty="0">
                <a:ln>
                  <a:noFill/>
                </a:ln>
                <a:solidFill>
                  <a:srgbClr val="000000"/>
                </a:solidFill>
                <a:effectLst/>
                <a:latin typeface="Arial" panose="020B0604020202020204" pitchFamily="34" charset="0"/>
              </a:rPr>
            </a:br>
            <a:r>
              <a:rPr kumimoji="0" lang="en-US" altLang="en-US" sz="2300" b="0" i="0" u="none" strike="noStrike" cap="none" normalizeH="0" baseline="0" dirty="0">
                <a:ln>
                  <a:noFill/>
                </a:ln>
                <a:solidFill>
                  <a:srgbClr val="000000"/>
                </a:solidFill>
                <a:effectLst/>
                <a:latin typeface="Arial" panose="020B0604020202020204" pitchFamily="34" charset="0"/>
              </a:rPr>
              <a:t>doesn’t make them</a:t>
            </a:r>
            <a:br>
              <a:rPr kumimoji="0" lang="en-US" altLang="en-US" sz="2300" b="0" i="0" u="none" strike="noStrike" cap="none" normalizeH="0" baseline="0" dirty="0">
                <a:ln>
                  <a:noFill/>
                </a:ln>
                <a:solidFill>
                  <a:srgbClr val="000000"/>
                </a:solidFill>
                <a:effectLst/>
                <a:latin typeface="Arial" panose="020B0604020202020204" pitchFamily="34" charset="0"/>
              </a:rPr>
            </a:br>
            <a:r>
              <a:rPr kumimoji="0" lang="en-US" altLang="en-US" sz="2300" b="0" i="0" u="none" strike="noStrike" cap="none" normalizeH="0" baseline="0" dirty="0">
                <a:ln>
                  <a:noFill/>
                </a:ln>
                <a:solidFill>
                  <a:srgbClr val="000000"/>
                </a:solidFill>
                <a:effectLst/>
                <a:latin typeface="Arial" panose="020B0604020202020204" pitchFamily="34" charset="0"/>
              </a:rPr>
              <a:t>more productive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2" name="Rectangle 44"/>
          <p:cNvSpPr>
            <a:spLocks noChangeArrowheads="1"/>
          </p:cNvSpPr>
          <p:nvPr/>
        </p:nvSpPr>
        <p:spPr bwMode="auto">
          <a:xfrm>
            <a:off x="2251413" y="2894890"/>
            <a:ext cx="3387146"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300" dirty="0">
                <a:solidFill>
                  <a:srgbClr val="000000"/>
                </a:solidFill>
              </a:rPr>
              <a:t>Sometime you have to tell</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people to do things even</a:t>
            </a:r>
            <a:br>
              <a:rPr kumimoji="0" lang="en-US" altLang="en-US" sz="2300" b="0" i="0" u="none" strike="noStrike" cap="none" normalizeH="0" baseline="0" dirty="0">
                <a:ln>
                  <a:noFill/>
                </a:ln>
                <a:solidFill>
                  <a:srgbClr val="000000"/>
                </a:solidFill>
                <a:effectLst/>
                <a:latin typeface="Arial" panose="020B0604020202020204" pitchFamily="34" charset="0"/>
              </a:rPr>
            </a:br>
            <a:r>
              <a:rPr kumimoji="0" lang="en-US" altLang="en-US" sz="2300" b="0" i="0" u="none" strike="noStrike" cap="none" normalizeH="0" baseline="0" dirty="0">
                <a:ln>
                  <a:noFill/>
                </a:ln>
                <a:solidFill>
                  <a:srgbClr val="000000"/>
                </a:solidFill>
                <a:effectLst/>
                <a:latin typeface="Arial" panose="020B0604020202020204" pitchFamily="34" charset="0"/>
              </a:rPr>
              <a:t>though difficult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4" name="Rectangle 46"/>
          <p:cNvSpPr>
            <a:spLocks noChangeArrowheads="1"/>
          </p:cNvSpPr>
          <p:nvPr/>
        </p:nvSpPr>
        <p:spPr bwMode="auto">
          <a:xfrm>
            <a:off x="6307189" y="2972699"/>
            <a:ext cx="3516988"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Training only in human</a:t>
            </a:r>
            <a:br>
              <a:rPr kumimoji="0" lang="en-US" altLang="en-US" sz="2300" b="0" i="0" u="none" strike="noStrike" cap="none" normalizeH="0" baseline="0" dirty="0">
                <a:ln>
                  <a:noFill/>
                </a:ln>
                <a:solidFill>
                  <a:srgbClr val="000000"/>
                </a:solidFill>
                <a:effectLst/>
                <a:latin typeface="Arial" panose="020B0604020202020204" pitchFamily="34" charset="0"/>
              </a:rPr>
            </a:br>
            <a:r>
              <a:rPr kumimoji="0" lang="en-US" altLang="en-US" sz="2300" b="0" i="0" u="none" strike="noStrike" cap="none" normalizeH="0" baseline="0" dirty="0">
                <a:ln>
                  <a:noFill/>
                </a:ln>
                <a:solidFill>
                  <a:srgbClr val="000000"/>
                </a:solidFill>
                <a:effectLst/>
                <a:latin typeface="Arial" panose="020B0604020202020204" pitchFamily="34" charset="0"/>
              </a:rPr>
              <a:t>relations and team building</a:t>
            </a:r>
            <a:br>
              <a:rPr kumimoji="0" lang="en-US" altLang="en-US" sz="2300" b="0" i="0" u="none" strike="noStrike" cap="none" normalizeH="0" baseline="0" dirty="0">
                <a:ln>
                  <a:noFill/>
                </a:ln>
                <a:solidFill>
                  <a:srgbClr val="000000"/>
                </a:solidFill>
                <a:effectLst/>
                <a:latin typeface="Arial" panose="020B0604020202020204" pitchFamily="34" charset="0"/>
              </a:rPr>
            </a:br>
            <a:r>
              <a:rPr kumimoji="0" lang="en-US" altLang="en-US" sz="2300" b="0" i="0" u="none" strike="noStrike" cap="none" normalizeH="0" baseline="0" dirty="0">
                <a:ln>
                  <a:noFill/>
                </a:ln>
                <a:solidFill>
                  <a:srgbClr val="000000"/>
                </a:solidFill>
                <a:effectLst/>
                <a:latin typeface="Arial" panose="020B0604020202020204" pitchFamily="34" charset="0"/>
              </a:rPr>
              <a:t>isn’t enough</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9" name="Rectangle 51"/>
          <p:cNvSpPr>
            <a:spLocks noChangeArrowheads="1"/>
          </p:cNvSpPr>
          <p:nvPr/>
        </p:nvSpPr>
        <p:spPr bwMode="auto">
          <a:xfrm>
            <a:off x="2483372" y="4439514"/>
            <a:ext cx="284693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US" altLang="en-US" sz="2300" dirty="0">
                <a:solidFill>
                  <a:srgbClr val="000000"/>
                </a:solidFill>
              </a:rPr>
              <a:t>Being popular doesn’t</a:t>
            </a:r>
            <a:br>
              <a:rPr lang="en-US" altLang="en-US" sz="2300" dirty="0">
                <a:solidFill>
                  <a:srgbClr val="000000"/>
                </a:solidFill>
              </a:rPr>
            </a:br>
            <a:r>
              <a:rPr lang="en-US" altLang="en-US" sz="2300" dirty="0">
                <a:solidFill>
                  <a:srgbClr val="000000"/>
                </a:solidFill>
              </a:rPr>
              <a:t>make you a leader.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4" name="Rectangle 56"/>
          <p:cNvSpPr>
            <a:spLocks noChangeArrowheads="1"/>
          </p:cNvSpPr>
          <p:nvPr/>
        </p:nvSpPr>
        <p:spPr bwMode="auto">
          <a:xfrm>
            <a:off x="6479449" y="4290064"/>
            <a:ext cx="3172343"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Arial" panose="020B0604020202020204" pitchFamily="34" charset="0"/>
              </a:rPr>
              <a:t>Do not hire and promote</a:t>
            </a:r>
            <a:br>
              <a:rPr kumimoji="0" lang="en-US" altLang="en-US" sz="2300" b="0" i="0" u="none" strike="noStrike" cap="none" normalizeH="0" baseline="0" dirty="0">
                <a:ln>
                  <a:noFill/>
                </a:ln>
                <a:solidFill>
                  <a:srgbClr val="000000"/>
                </a:solidFill>
                <a:effectLst/>
                <a:latin typeface="Arial" panose="020B0604020202020204" pitchFamily="34" charset="0"/>
              </a:rPr>
            </a:br>
            <a:r>
              <a:rPr kumimoji="0" lang="en-US" altLang="en-US" sz="2300" b="0" i="0" u="none" strike="noStrike" cap="none" normalizeH="0" baseline="0" dirty="0">
                <a:ln>
                  <a:noFill/>
                </a:ln>
                <a:solidFill>
                  <a:srgbClr val="000000"/>
                </a:solidFill>
                <a:effectLst/>
                <a:latin typeface="Arial" panose="020B0604020202020204" pitchFamily="34" charset="0"/>
              </a:rPr>
              <a:t>based on solely on their</a:t>
            </a:r>
            <a:br>
              <a:rPr kumimoji="0" lang="en-US" altLang="en-US" sz="2300" b="0" i="0" u="none" strike="noStrike" cap="none" normalizeH="0" baseline="0" dirty="0">
                <a:ln>
                  <a:noFill/>
                </a:ln>
                <a:solidFill>
                  <a:srgbClr val="000000"/>
                </a:solidFill>
                <a:effectLst/>
                <a:latin typeface="Arial" panose="020B0604020202020204" pitchFamily="34" charset="0"/>
              </a:rPr>
            </a:br>
            <a:r>
              <a:rPr kumimoji="0" lang="en-US" altLang="en-US" sz="2300" b="0" i="0" u="none" strike="noStrike" cap="none" normalizeH="0" baseline="0" dirty="0">
                <a:ln>
                  <a:noFill/>
                </a:ln>
                <a:solidFill>
                  <a:srgbClr val="000000"/>
                </a:solidFill>
                <a:effectLst/>
                <a:latin typeface="Arial" panose="020B0604020202020204" pitchFamily="34" charset="0"/>
              </a:rPr>
              <a:t>personalities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3848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8" grpId="0"/>
      <p:bldP spid="42" grpId="0"/>
      <p:bldP spid="44" grpId="0"/>
      <p:bldP spid="49" grpId="0"/>
      <p:bldP spid="5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3"/>
          <p:cNvPicPr>
            <a:picLocks noChangeArrowheads="1"/>
          </p:cNvPicPr>
          <p:nvPr/>
        </p:nvPicPr>
        <p:blipFill>
          <a:blip r:embed="rId2" cstate="print"/>
          <a:srcRect/>
          <a:stretch>
            <a:fillRect/>
          </a:stretch>
        </p:blipFill>
        <p:spPr bwMode="auto">
          <a:xfrm>
            <a:off x="4857910" y="2490363"/>
            <a:ext cx="2667000" cy="1732387"/>
          </a:xfrm>
          <a:prstGeom prst="rect">
            <a:avLst/>
          </a:prstGeom>
          <a:noFill/>
          <a:ln w="12700">
            <a:noFill/>
            <a:miter lim="800000"/>
            <a:headEnd/>
            <a:tailEnd/>
          </a:ln>
        </p:spPr>
      </p:pic>
      <p:sp>
        <p:nvSpPr>
          <p:cNvPr id="3" name="Date Placeholder 2"/>
          <p:cNvSpPr>
            <a:spLocks noGrp="1"/>
          </p:cNvSpPr>
          <p:nvPr>
            <p:ph type="dt" sz="half" idx="10"/>
          </p:nvPr>
        </p:nvSpPr>
        <p:spPr/>
        <p:txBody>
          <a:bodyPr/>
          <a:lstStyle/>
          <a:p>
            <a:r>
              <a:rPr lang="en-CA" dirty="0"/>
              <a:t>October 2017</a:t>
            </a:r>
            <a:endParaRPr lang="en-US" dirty="0"/>
          </a:p>
        </p:txBody>
      </p:sp>
      <p:graphicFrame>
        <p:nvGraphicFramePr>
          <p:cNvPr id="5" name="Content Placeholder 5"/>
          <p:cNvGraphicFramePr>
            <a:graphicFrameLocks/>
          </p:cNvGraphicFramePr>
          <p:nvPr>
            <p:extLst/>
          </p:nvPr>
        </p:nvGraphicFramePr>
        <p:xfrm>
          <a:off x="787234" y="1025404"/>
          <a:ext cx="10674645" cy="5549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ounded Rectangular Callout 7"/>
          <p:cNvSpPr/>
          <p:nvPr/>
        </p:nvSpPr>
        <p:spPr>
          <a:xfrm>
            <a:off x="1285592" y="605020"/>
            <a:ext cx="2316237" cy="1059110"/>
          </a:xfrm>
          <a:prstGeom prst="wedgeRoundRectCallout">
            <a:avLst>
              <a:gd name="adj1" fmla="val 59832"/>
              <a:gd name="adj2" fmla="val 53824"/>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Be interested in them and their family</a:t>
            </a:r>
          </a:p>
        </p:txBody>
      </p:sp>
      <p:sp>
        <p:nvSpPr>
          <p:cNvPr id="9" name="Rounded Rectangular Callout 8"/>
          <p:cNvSpPr/>
          <p:nvPr/>
        </p:nvSpPr>
        <p:spPr>
          <a:xfrm>
            <a:off x="6484202" y="2237416"/>
            <a:ext cx="3236573" cy="750228"/>
          </a:xfrm>
          <a:prstGeom prst="wedgeRoundRectCallout">
            <a:avLst>
              <a:gd name="adj1" fmla="val -23983"/>
              <a:gd name="adj2" fmla="val -88399"/>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Information is power for the coach</a:t>
            </a:r>
          </a:p>
        </p:txBody>
      </p:sp>
      <p:sp>
        <p:nvSpPr>
          <p:cNvPr id="11" name="Rounded Rectangular Callout 10"/>
          <p:cNvSpPr/>
          <p:nvPr/>
        </p:nvSpPr>
        <p:spPr>
          <a:xfrm>
            <a:off x="5544618" y="4871854"/>
            <a:ext cx="2674403" cy="446788"/>
          </a:xfrm>
          <a:prstGeom prst="wedgeRoundRectCallout">
            <a:avLst>
              <a:gd name="adj1" fmla="val 63176"/>
              <a:gd name="adj2" fmla="val 109722"/>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Ask for their insights</a:t>
            </a:r>
          </a:p>
        </p:txBody>
      </p:sp>
      <p:sp>
        <p:nvSpPr>
          <p:cNvPr id="14" name="Rounded Rectangular Callout 13"/>
          <p:cNvSpPr/>
          <p:nvPr/>
        </p:nvSpPr>
        <p:spPr>
          <a:xfrm>
            <a:off x="6418217" y="3786866"/>
            <a:ext cx="3204927" cy="980227"/>
          </a:xfrm>
          <a:prstGeom prst="wedgeRoundRectCallout">
            <a:avLst>
              <a:gd name="adj1" fmla="val 61156"/>
              <a:gd name="adj2" fmla="val -69885"/>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000" dirty="0">
                <a:solidFill>
                  <a:schemeClr val="tx1"/>
                </a:solidFill>
              </a:rPr>
              <a:t>The coach will check with the people you say you have spoken to</a:t>
            </a:r>
          </a:p>
        </p:txBody>
      </p:sp>
      <p:sp>
        <p:nvSpPr>
          <p:cNvPr id="16" name="Rounded Rectangular Callout 15"/>
          <p:cNvSpPr/>
          <p:nvPr/>
        </p:nvSpPr>
        <p:spPr>
          <a:xfrm>
            <a:off x="4028905" y="2709127"/>
            <a:ext cx="3031426" cy="889000"/>
          </a:xfrm>
          <a:prstGeom prst="wedgeRoundRectCallout">
            <a:avLst>
              <a:gd name="adj1" fmla="val -80774"/>
              <a:gd name="adj2" fmla="val 57786"/>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Let me see if I understand what you are saying.</a:t>
            </a:r>
          </a:p>
        </p:txBody>
      </p:sp>
      <p:sp>
        <p:nvSpPr>
          <p:cNvPr id="12" name="Rounded Rectangular Callout 11"/>
          <p:cNvSpPr/>
          <p:nvPr/>
        </p:nvSpPr>
        <p:spPr>
          <a:xfrm>
            <a:off x="3879384" y="4566427"/>
            <a:ext cx="3031426" cy="786883"/>
          </a:xfrm>
          <a:prstGeom prst="wedgeRoundRectCallout">
            <a:avLst>
              <a:gd name="adj1" fmla="val 42281"/>
              <a:gd name="adj2" fmla="val 88993"/>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This is a sign of your</a:t>
            </a:r>
            <a:br>
              <a:rPr lang="en-US" sz="2000" dirty="0">
                <a:solidFill>
                  <a:schemeClr val="tx1"/>
                </a:solidFill>
              </a:rPr>
            </a:br>
            <a:r>
              <a:rPr lang="en-US" sz="2000" dirty="0">
                <a:solidFill>
                  <a:schemeClr val="tx1"/>
                </a:solidFill>
              </a:rPr>
              <a:t>self-confidence</a:t>
            </a:r>
          </a:p>
        </p:txBody>
      </p:sp>
      <p:sp>
        <p:nvSpPr>
          <p:cNvPr id="13" name="Rounded Rectangular Callout 12"/>
          <p:cNvSpPr/>
          <p:nvPr/>
        </p:nvSpPr>
        <p:spPr>
          <a:xfrm>
            <a:off x="3601829" y="3941805"/>
            <a:ext cx="2835954" cy="1059110"/>
          </a:xfrm>
          <a:prstGeom prst="wedgeRoundRectCallout">
            <a:avLst>
              <a:gd name="adj1" fmla="val -35603"/>
              <a:gd name="adj2" fmla="val 105100"/>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They respect those who don’t lose their cool</a:t>
            </a:r>
          </a:p>
        </p:txBody>
      </p:sp>
      <p:sp>
        <p:nvSpPr>
          <p:cNvPr id="15" name="Rounded Rectangular Callout 14"/>
          <p:cNvSpPr/>
          <p:nvPr/>
        </p:nvSpPr>
        <p:spPr>
          <a:xfrm>
            <a:off x="3554132" y="4007154"/>
            <a:ext cx="3031426" cy="889000"/>
          </a:xfrm>
          <a:prstGeom prst="wedgeRoundRectCallout">
            <a:avLst>
              <a:gd name="adj1" fmla="val -80774"/>
              <a:gd name="adj2" fmla="val 57786"/>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Have people close to them help make</a:t>
            </a:r>
            <a:br>
              <a:rPr lang="en-US" sz="2000" dirty="0">
                <a:solidFill>
                  <a:schemeClr val="tx1"/>
                </a:solidFill>
              </a:rPr>
            </a:br>
            <a:r>
              <a:rPr lang="en-US" sz="2000" dirty="0">
                <a:solidFill>
                  <a:schemeClr val="tx1"/>
                </a:solidFill>
              </a:rPr>
              <a:t>the decision</a:t>
            </a:r>
          </a:p>
        </p:txBody>
      </p:sp>
      <p:sp>
        <p:nvSpPr>
          <p:cNvPr id="18" name="Rounded Rectangular Callout 8">
            <a:extLst>
              <a:ext uri="{FF2B5EF4-FFF2-40B4-BE49-F238E27FC236}">
                <a16:creationId xmlns:a16="http://schemas.microsoft.com/office/drawing/2014/main" id="{8AADC182-664C-4CBA-8FEE-C30E86D7E461}"/>
              </a:ext>
            </a:extLst>
          </p:cNvPr>
          <p:cNvSpPr/>
          <p:nvPr/>
        </p:nvSpPr>
        <p:spPr>
          <a:xfrm>
            <a:off x="3808040" y="2349689"/>
            <a:ext cx="3464957" cy="980227"/>
          </a:xfrm>
          <a:prstGeom prst="wedgeRoundRectCallout">
            <a:avLst>
              <a:gd name="adj1" fmla="val -62667"/>
              <a:gd name="adj2" fmla="val 7232"/>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Stay in touch at all times. You can’t over communicate with this style </a:t>
            </a:r>
          </a:p>
        </p:txBody>
      </p:sp>
      <p:sp>
        <p:nvSpPr>
          <p:cNvPr id="19" name="Rounded Rectangular Callout 10">
            <a:extLst>
              <a:ext uri="{FF2B5EF4-FFF2-40B4-BE49-F238E27FC236}">
                <a16:creationId xmlns:a16="http://schemas.microsoft.com/office/drawing/2014/main" id="{BB50FE22-5071-4553-B7F8-032CF0D809C9}"/>
              </a:ext>
            </a:extLst>
          </p:cNvPr>
          <p:cNvSpPr/>
          <p:nvPr/>
        </p:nvSpPr>
        <p:spPr>
          <a:xfrm>
            <a:off x="8872594" y="2244380"/>
            <a:ext cx="2858815" cy="609600"/>
          </a:xfrm>
          <a:prstGeom prst="wedgeRoundRectCallout">
            <a:avLst>
              <a:gd name="adj1" fmla="val 9666"/>
              <a:gd name="adj2" fmla="val -102023"/>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They will yield to coalitions</a:t>
            </a:r>
          </a:p>
        </p:txBody>
      </p:sp>
      <p:sp>
        <p:nvSpPr>
          <p:cNvPr id="7" name="Title 1"/>
          <p:cNvSpPr>
            <a:spLocks noGrp="1"/>
          </p:cNvSpPr>
          <p:nvPr>
            <p:ph type="title"/>
          </p:nvPr>
        </p:nvSpPr>
        <p:spPr>
          <a:xfrm>
            <a:off x="6096000" y="163005"/>
            <a:ext cx="4962416" cy="609600"/>
          </a:xfrm>
        </p:spPr>
        <p:txBody>
          <a:bodyPr/>
          <a:lstStyle/>
          <a:p>
            <a:r>
              <a:rPr lang="en-US" dirty="0"/>
              <a:t>Working with </a:t>
            </a:r>
            <a:r>
              <a:rPr lang="en-US" dirty="0" err="1"/>
              <a:t>paeI</a:t>
            </a:r>
            <a:r>
              <a:rPr lang="en-US" dirty="0"/>
              <a:t> - Integrators</a:t>
            </a:r>
          </a:p>
        </p:txBody>
      </p:sp>
    </p:spTree>
    <p:extLst>
      <p:ext uri="{BB962C8B-B14F-4D97-AF65-F5344CB8AC3E}">
        <p14:creationId xmlns:p14="http://schemas.microsoft.com/office/powerpoint/2010/main" val="3973753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7E2B9E8A-289A-FC4A-9D1C-6099B4270AD4}"/>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C4F1DD1A-6110-5948-8A46-48F3A7EB0119}"/>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graphicEl>
                                              <a:dgm id="{F25307E4-83F1-0E49-A2D0-74F0D5486D93}"/>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graphicEl>
                                              <a:dgm id="{6FF44C64-1E55-BA40-A27A-3EE5E5204FAE}"/>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graphicEl>
                                              <a:dgm id="{EDEE97A7-46D8-494D-8EB6-6269CEBEECEA}"/>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graphicEl>
                                              <a:dgm id="{06A02987-428F-B043-90F8-7AB455F178D5}"/>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graphicEl>
                                              <a:dgm id="{B20A8CF4-B3E5-A34F-98CC-6B62B629D731}"/>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graphicEl>
                                              <a:dgm id="{4C77433F-268C-154E-9924-00DD16D26A8C}"/>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
                                            <p:graphicEl>
                                              <a:dgm id="{544EF912-309D-CF4A-9608-975C4FB079F2}"/>
                                            </p:graphic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graphicEl>
                                              <a:dgm id="{7E244E47-0700-B540-A050-EAE2F8DCA9E2}"/>
                                            </p:graphic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
                                            <p:graphicEl>
                                              <a:dgm id="{9CA3348B-D646-7C4D-9883-DF146CFED2FC}"/>
                                            </p:graphic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
                                            <p:graphicEl>
                                              <a:dgm id="{2D9451C7-EEE4-9C4E-91A2-A16E41530D3E}"/>
                                            </p:graphic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graphicEl>
                                              <a:dgm id="{710A4DE4-97D4-A048-9865-B369579E3DB7}"/>
                                            </p:graphic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
                                            <p:graphicEl>
                                              <a:dgm id="{BE2D9569-0E08-4547-B4A0-5EAF9BD63BB9}"/>
                                            </p:graphic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
                                            <p:graphicEl>
                                              <a:dgm id="{115B0721-907A-EB48-9924-831289B61667}"/>
                                            </p:graphic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
                                            <p:graphicEl>
                                              <a:dgm id="{615B01C8-5390-3648-8B6C-360C0C81447F}"/>
                                            </p:graphicEl>
                                          </p:spTgt>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
                                            <p:graphicEl>
                                              <a:dgm id="{A07AA92D-4511-EE45-B1EC-99D6C368BCD4}"/>
                                            </p:graphic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
                                            <p:graphicEl>
                                              <a:dgm id="{56639D85-F15B-BE40-9198-10C8C73E727C}"/>
                                            </p:graphicEl>
                                          </p:spTgt>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
                                            <p:graphicEl>
                                              <a:dgm id="{A68D89D6-7E99-BD41-BE26-159546B7DCF5}"/>
                                            </p:graphic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5">
                                            <p:graphicEl>
                                              <a:dgm id="{99B6A552-0F8E-B741-8972-23BCEBB5CB41}"/>
                                            </p:graphicEl>
                                          </p:spTgt>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
                                            <p:graphicEl>
                                              <a:dgm id="{7190AA65-739E-F144-805E-EE27D976351B}"/>
                                            </p:graphicEl>
                                          </p:spTgt>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
                                            <p:graphicEl>
                                              <a:dgm id="{41A7522E-561B-5A4E-BEB1-3548E845C3BC}"/>
                                            </p:graphic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P spid="8" grpId="0" uiExpand="1" animBg="1"/>
      <p:bldP spid="9" grpId="0" uiExpand="1" animBg="1"/>
      <p:bldP spid="11" grpId="0" uiExpand="1" animBg="1"/>
      <p:bldP spid="14" grpId="0" uiExpand="1" animBg="1"/>
      <p:bldP spid="16" grpId="0" uiExpand="1" animBg="1"/>
      <p:bldP spid="12" grpId="0" uiExpand="1" animBg="1"/>
      <p:bldP spid="13" grpId="0" uiExpand="1" animBg="1"/>
      <p:bldP spid="15" grpId="0" uiExpand="1" animBg="1"/>
      <p:bldP spid="18" grpId="0" uiExpand="1" animBg="1"/>
      <p:bldP spid="19" grpId="0" uiExpan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5199F8B1-3389-4475-A9CA-C073E597F005}"/>
              </a:ext>
            </a:extLst>
          </p:cNvPr>
          <p:cNvSpPr txBox="1">
            <a:spLocks noChangeArrowheads="1"/>
          </p:cNvSpPr>
          <p:nvPr/>
        </p:nvSpPr>
        <p:spPr bwMode="auto">
          <a:xfrm>
            <a:off x="3875088" y="2052638"/>
            <a:ext cx="13081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Results</a:t>
            </a:r>
            <a:br>
              <a:rPr lang="en-US" altLang="en-US" sz="2800">
                <a:latin typeface="Tahoma" panose="020B0604030504040204" pitchFamily="34" charset="0"/>
              </a:rPr>
            </a:br>
            <a:r>
              <a:rPr lang="en-US" altLang="en-US">
                <a:latin typeface="Tahoma" panose="020B0604030504040204" pitchFamily="34" charset="0"/>
              </a:rPr>
              <a:t>(what)</a:t>
            </a:r>
          </a:p>
        </p:txBody>
      </p:sp>
      <p:sp>
        <p:nvSpPr>
          <p:cNvPr id="28675" name="Text Box 3">
            <a:extLst>
              <a:ext uri="{FF2B5EF4-FFF2-40B4-BE49-F238E27FC236}">
                <a16:creationId xmlns:a16="http://schemas.microsoft.com/office/drawing/2014/main" id="{6290BF8A-A9EB-4DAD-8BC5-6EA3B3DBFFB4}"/>
              </a:ext>
            </a:extLst>
          </p:cNvPr>
          <p:cNvSpPr txBox="1">
            <a:spLocks noChangeArrowheads="1"/>
          </p:cNvSpPr>
          <p:nvPr/>
        </p:nvSpPr>
        <p:spPr bwMode="auto">
          <a:xfrm>
            <a:off x="5588000" y="2052638"/>
            <a:ext cx="8350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Fast</a:t>
            </a:r>
          </a:p>
        </p:txBody>
      </p:sp>
      <p:sp>
        <p:nvSpPr>
          <p:cNvPr id="28676" name="Text Box 4">
            <a:extLst>
              <a:ext uri="{FF2B5EF4-FFF2-40B4-BE49-F238E27FC236}">
                <a16:creationId xmlns:a16="http://schemas.microsoft.com/office/drawing/2014/main" id="{E4356F42-7963-4119-AADE-B6433568BD5C}"/>
              </a:ext>
            </a:extLst>
          </p:cNvPr>
          <p:cNvSpPr txBox="1">
            <a:spLocks noChangeArrowheads="1"/>
          </p:cNvSpPr>
          <p:nvPr/>
        </p:nvSpPr>
        <p:spPr bwMode="auto">
          <a:xfrm>
            <a:off x="6772275" y="2052638"/>
            <a:ext cx="1323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Narrow</a:t>
            </a:r>
          </a:p>
        </p:txBody>
      </p:sp>
      <p:sp>
        <p:nvSpPr>
          <p:cNvPr id="28677" name="Text Box 5">
            <a:extLst>
              <a:ext uri="{FF2B5EF4-FFF2-40B4-BE49-F238E27FC236}">
                <a16:creationId xmlns:a16="http://schemas.microsoft.com/office/drawing/2014/main" id="{589789EF-A0B8-4DC2-A9B6-AF55A1B0966A}"/>
              </a:ext>
            </a:extLst>
          </p:cNvPr>
          <p:cNvSpPr txBox="1">
            <a:spLocks noChangeArrowheads="1"/>
          </p:cNvSpPr>
          <p:nvPr/>
        </p:nvSpPr>
        <p:spPr bwMode="auto">
          <a:xfrm>
            <a:off x="8220075" y="2052638"/>
            <a:ext cx="21701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Lone Ranger</a:t>
            </a:r>
          </a:p>
        </p:txBody>
      </p:sp>
      <p:sp>
        <p:nvSpPr>
          <p:cNvPr id="28678" name="Text Box 6">
            <a:extLst>
              <a:ext uri="{FF2B5EF4-FFF2-40B4-BE49-F238E27FC236}">
                <a16:creationId xmlns:a16="http://schemas.microsoft.com/office/drawing/2014/main" id="{9E36CC4C-62DA-45B0-98FF-2998D799149B}"/>
              </a:ext>
            </a:extLst>
          </p:cNvPr>
          <p:cNvSpPr txBox="1">
            <a:spLocks noChangeArrowheads="1"/>
          </p:cNvSpPr>
          <p:nvPr/>
        </p:nvSpPr>
        <p:spPr bwMode="auto">
          <a:xfrm>
            <a:off x="8358188" y="2974975"/>
            <a:ext cx="1892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Bureaucrat</a:t>
            </a:r>
          </a:p>
        </p:txBody>
      </p:sp>
      <p:sp>
        <p:nvSpPr>
          <p:cNvPr id="28679" name="Text Box 7">
            <a:extLst>
              <a:ext uri="{FF2B5EF4-FFF2-40B4-BE49-F238E27FC236}">
                <a16:creationId xmlns:a16="http://schemas.microsoft.com/office/drawing/2014/main" id="{8A9ED0FE-86B4-4429-BED0-95DE9DA0C8D6}"/>
              </a:ext>
            </a:extLst>
          </p:cNvPr>
          <p:cNvSpPr txBox="1">
            <a:spLocks noChangeArrowheads="1"/>
          </p:cNvSpPr>
          <p:nvPr/>
        </p:nvSpPr>
        <p:spPr bwMode="auto">
          <a:xfrm>
            <a:off x="8586788" y="3886200"/>
            <a:ext cx="1435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Arsonist</a:t>
            </a:r>
          </a:p>
        </p:txBody>
      </p:sp>
      <p:sp>
        <p:nvSpPr>
          <p:cNvPr id="28680" name="Text Box 8">
            <a:extLst>
              <a:ext uri="{FF2B5EF4-FFF2-40B4-BE49-F238E27FC236}">
                <a16:creationId xmlns:a16="http://schemas.microsoft.com/office/drawing/2014/main" id="{64290BCA-477B-4152-8875-A588F1EEAB8F}"/>
              </a:ext>
            </a:extLst>
          </p:cNvPr>
          <p:cNvSpPr txBox="1">
            <a:spLocks noChangeArrowheads="1"/>
          </p:cNvSpPr>
          <p:nvPr/>
        </p:nvSpPr>
        <p:spPr bwMode="auto">
          <a:xfrm>
            <a:off x="8045450" y="4786313"/>
            <a:ext cx="25193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Super Follower</a:t>
            </a:r>
          </a:p>
        </p:txBody>
      </p:sp>
      <p:sp>
        <p:nvSpPr>
          <p:cNvPr id="28681" name="Text Box 9">
            <a:extLst>
              <a:ext uri="{FF2B5EF4-FFF2-40B4-BE49-F238E27FC236}">
                <a16:creationId xmlns:a16="http://schemas.microsoft.com/office/drawing/2014/main" id="{EA3487E6-2015-437F-91F2-940CBDD7EA79}"/>
              </a:ext>
            </a:extLst>
          </p:cNvPr>
          <p:cNvSpPr txBox="1">
            <a:spLocks noChangeArrowheads="1"/>
          </p:cNvSpPr>
          <p:nvPr/>
        </p:nvSpPr>
        <p:spPr bwMode="auto">
          <a:xfrm>
            <a:off x="6948488" y="3886200"/>
            <a:ext cx="9699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Wide</a:t>
            </a:r>
          </a:p>
        </p:txBody>
      </p:sp>
      <p:sp>
        <p:nvSpPr>
          <p:cNvPr id="28682" name="Text Box 10">
            <a:extLst>
              <a:ext uri="{FF2B5EF4-FFF2-40B4-BE49-F238E27FC236}">
                <a16:creationId xmlns:a16="http://schemas.microsoft.com/office/drawing/2014/main" id="{6C0E3B59-8C97-4A10-A0F9-093064304AFB}"/>
              </a:ext>
            </a:extLst>
          </p:cNvPr>
          <p:cNvSpPr txBox="1">
            <a:spLocks noChangeArrowheads="1"/>
          </p:cNvSpPr>
          <p:nvPr/>
        </p:nvSpPr>
        <p:spPr bwMode="auto">
          <a:xfrm>
            <a:off x="5545138" y="2974975"/>
            <a:ext cx="920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Slow</a:t>
            </a:r>
          </a:p>
        </p:txBody>
      </p:sp>
      <p:sp>
        <p:nvSpPr>
          <p:cNvPr id="28683" name="Text Box 11">
            <a:extLst>
              <a:ext uri="{FF2B5EF4-FFF2-40B4-BE49-F238E27FC236}">
                <a16:creationId xmlns:a16="http://schemas.microsoft.com/office/drawing/2014/main" id="{FFE6E750-BF5F-4397-928B-8692368C7C60}"/>
              </a:ext>
            </a:extLst>
          </p:cNvPr>
          <p:cNvSpPr txBox="1">
            <a:spLocks noChangeArrowheads="1"/>
          </p:cNvSpPr>
          <p:nvPr/>
        </p:nvSpPr>
        <p:spPr bwMode="auto">
          <a:xfrm>
            <a:off x="3908425" y="2974975"/>
            <a:ext cx="1239838"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Details</a:t>
            </a:r>
            <a:br>
              <a:rPr lang="en-US" altLang="en-US" sz="2800">
                <a:latin typeface="Tahoma" panose="020B0604030504040204" pitchFamily="34" charset="0"/>
              </a:rPr>
            </a:br>
            <a:r>
              <a:rPr lang="en-US" altLang="en-US">
                <a:latin typeface="Tahoma" panose="020B0604030504040204" pitchFamily="34" charset="0"/>
              </a:rPr>
              <a:t>(how)</a:t>
            </a:r>
          </a:p>
        </p:txBody>
      </p:sp>
      <p:sp>
        <p:nvSpPr>
          <p:cNvPr id="28684" name="Text Box 12">
            <a:extLst>
              <a:ext uri="{FF2B5EF4-FFF2-40B4-BE49-F238E27FC236}">
                <a16:creationId xmlns:a16="http://schemas.microsoft.com/office/drawing/2014/main" id="{7F2C4EE4-1977-4CB3-802C-DD463C43CE36}"/>
              </a:ext>
            </a:extLst>
          </p:cNvPr>
          <p:cNvSpPr txBox="1">
            <a:spLocks noChangeArrowheads="1"/>
          </p:cNvSpPr>
          <p:nvPr/>
        </p:nvSpPr>
        <p:spPr bwMode="auto">
          <a:xfrm>
            <a:off x="3844925" y="3886200"/>
            <a:ext cx="1366838"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Change</a:t>
            </a:r>
            <a:br>
              <a:rPr lang="en-US" altLang="en-US">
                <a:latin typeface="Tahoma" panose="020B0604030504040204" pitchFamily="34" charset="0"/>
              </a:rPr>
            </a:br>
            <a:r>
              <a:rPr lang="en-US" altLang="en-US">
                <a:latin typeface="Tahoma" panose="020B0604030504040204" pitchFamily="34" charset="0"/>
              </a:rPr>
              <a:t>(why not)</a:t>
            </a:r>
            <a:endParaRPr lang="en-US" altLang="en-US" sz="2800">
              <a:latin typeface="Tahoma" panose="020B0604030504040204" pitchFamily="34" charset="0"/>
            </a:endParaRPr>
          </a:p>
        </p:txBody>
      </p:sp>
      <p:sp>
        <p:nvSpPr>
          <p:cNvPr id="28685" name="Text Box 13">
            <a:extLst>
              <a:ext uri="{FF2B5EF4-FFF2-40B4-BE49-F238E27FC236}">
                <a16:creationId xmlns:a16="http://schemas.microsoft.com/office/drawing/2014/main" id="{E4532449-648B-41C3-9F59-465D5908AD00}"/>
              </a:ext>
            </a:extLst>
          </p:cNvPr>
          <p:cNvSpPr txBox="1">
            <a:spLocks noChangeArrowheads="1"/>
          </p:cNvSpPr>
          <p:nvPr/>
        </p:nvSpPr>
        <p:spPr bwMode="auto">
          <a:xfrm>
            <a:off x="3614738" y="4786313"/>
            <a:ext cx="18288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Teamwork</a:t>
            </a:r>
            <a:br>
              <a:rPr lang="en-US" altLang="en-US">
                <a:latin typeface="Tahoma" panose="020B0604030504040204" pitchFamily="34" charset="0"/>
              </a:rPr>
            </a:br>
            <a:r>
              <a:rPr lang="en-US" altLang="en-US">
                <a:latin typeface="Tahoma" panose="020B0604030504040204" pitchFamily="34" charset="0"/>
              </a:rPr>
              <a:t>(who)</a:t>
            </a:r>
            <a:endParaRPr lang="en-US" altLang="en-US" sz="2800">
              <a:latin typeface="Tahoma" panose="020B0604030504040204" pitchFamily="34" charset="0"/>
            </a:endParaRPr>
          </a:p>
        </p:txBody>
      </p:sp>
      <p:sp>
        <p:nvSpPr>
          <p:cNvPr id="196622" name="Text Box 14">
            <a:extLst>
              <a:ext uri="{FF2B5EF4-FFF2-40B4-BE49-F238E27FC236}">
                <a16:creationId xmlns:a16="http://schemas.microsoft.com/office/drawing/2014/main" id="{156ABB58-B6CB-4DEB-9AC2-0E45A8D608CC}"/>
              </a:ext>
            </a:extLst>
          </p:cNvPr>
          <p:cNvSpPr txBox="1">
            <a:spLocks noChangeArrowheads="1"/>
          </p:cNvSpPr>
          <p:nvPr/>
        </p:nvSpPr>
        <p:spPr bwMode="auto">
          <a:xfrm>
            <a:off x="8382000" y="5695950"/>
            <a:ext cx="18446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Deadwood</a:t>
            </a:r>
          </a:p>
        </p:txBody>
      </p:sp>
      <p:sp>
        <p:nvSpPr>
          <p:cNvPr id="28687" name="Text Box 15">
            <a:extLst>
              <a:ext uri="{FF2B5EF4-FFF2-40B4-BE49-F238E27FC236}">
                <a16:creationId xmlns:a16="http://schemas.microsoft.com/office/drawing/2014/main" id="{86941D19-6C36-4863-9268-3AD42BE593AE}"/>
              </a:ext>
            </a:extLst>
          </p:cNvPr>
          <p:cNvSpPr txBox="1">
            <a:spLocks noChangeArrowheads="1"/>
          </p:cNvSpPr>
          <p:nvPr/>
        </p:nvSpPr>
        <p:spPr bwMode="auto">
          <a:xfrm>
            <a:off x="5588000" y="3886200"/>
            <a:ext cx="835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Fast</a:t>
            </a:r>
          </a:p>
        </p:txBody>
      </p:sp>
      <p:sp>
        <p:nvSpPr>
          <p:cNvPr id="28688" name="Text Box 16">
            <a:extLst>
              <a:ext uri="{FF2B5EF4-FFF2-40B4-BE49-F238E27FC236}">
                <a16:creationId xmlns:a16="http://schemas.microsoft.com/office/drawing/2014/main" id="{32CE91D9-B030-4715-8D22-B05805CFC835}"/>
              </a:ext>
            </a:extLst>
          </p:cNvPr>
          <p:cNvSpPr txBox="1">
            <a:spLocks noChangeArrowheads="1"/>
          </p:cNvSpPr>
          <p:nvPr/>
        </p:nvSpPr>
        <p:spPr bwMode="auto">
          <a:xfrm>
            <a:off x="6772275" y="2974975"/>
            <a:ext cx="1323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Narrow</a:t>
            </a:r>
          </a:p>
        </p:txBody>
      </p:sp>
      <p:sp>
        <p:nvSpPr>
          <p:cNvPr id="28689" name="Text Box 17">
            <a:extLst>
              <a:ext uri="{FF2B5EF4-FFF2-40B4-BE49-F238E27FC236}">
                <a16:creationId xmlns:a16="http://schemas.microsoft.com/office/drawing/2014/main" id="{C56CA91C-C95B-484B-971F-2B9D851E2141}"/>
              </a:ext>
            </a:extLst>
          </p:cNvPr>
          <p:cNvSpPr txBox="1">
            <a:spLocks noChangeArrowheads="1"/>
          </p:cNvSpPr>
          <p:nvPr/>
        </p:nvSpPr>
        <p:spPr bwMode="auto">
          <a:xfrm>
            <a:off x="6948488" y="4786313"/>
            <a:ext cx="9699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Wide</a:t>
            </a:r>
          </a:p>
        </p:txBody>
      </p:sp>
      <p:sp>
        <p:nvSpPr>
          <p:cNvPr id="28690" name="Text Box 18">
            <a:extLst>
              <a:ext uri="{FF2B5EF4-FFF2-40B4-BE49-F238E27FC236}">
                <a16:creationId xmlns:a16="http://schemas.microsoft.com/office/drawing/2014/main" id="{CC32A100-29DD-4A4F-A08C-C7F087A06440}"/>
              </a:ext>
            </a:extLst>
          </p:cNvPr>
          <p:cNvSpPr txBox="1">
            <a:spLocks noChangeArrowheads="1"/>
          </p:cNvSpPr>
          <p:nvPr/>
        </p:nvSpPr>
        <p:spPr bwMode="auto">
          <a:xfrm>
            <a:off x="5545138" y="4786313"/>
            <a:ext cx="920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Slow</a:t>
            </a:r>
          </a:p>
        </p:txBody>
      </p:sp>
      <p:sp>
        <p:nvSpPr>
          <p:cNvPr id="196627" name="Text Box 19">
            <a:extLst>
              <a:ext uri="{FF2B5EF4-FFF2-40B4-BE49-F238E27FC236}">
                <a16:creationId xmlns:a16="http://schemas.microsoft.com/office/drawing/2014/main" id="{28EAC9E8-4257-4279-9A9E-216845DDF62A}"/>
              </a:ext>
            </a:extLst>
          </p:cNvPr>
          <p:cNvSpPr txBox="1">
            <a:spLocks noChangeArrowheads="1"/>
          </p:cNvSpPr>
          <p:nvPr/>
        </p:nvSpPr>
        <p:spPr bwMode="auto">
          <a:xfrm>
            <a:off x="3821113" y="5695950"/>
            <a:ext cx="14144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Survival</a:t>
            </a:r>
          </a:p>
        </p:txBody>
      </p:sp>
      <p:sp>
        <p:nvSpPr>
          <p:cNvPr id="196628" name="Text Box 20">
            <a:extLst>
              <a:ext uri="{FF2B5EF4-FFF2-40B4-BE49-F238E27FC236}">
                <a16:creationId xmlns:a16="http://schemas.microsoft.com/office/drawing/2014/main" id="{6A4727E6-57D4-4635-9104-7810F36BB3DE}"/>
              </a:ext>
            </a:extLst>
          </p:cNvPr>
          <p:cNvSpPr txBox="1">
            <a:spLocks noChangeArrowheads="1"/>
          </p:cNvSpPr>
          <p:nvPr/>
        </p:nvSpPr>
        <p:spPr bwMode="auto">
          <a:xfrm>
            <a:off x="6932613" y="5695950"/>
            <a:ext cx="10017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None</a:t>
            </a:r>
          </a:p>
        </p:txBody>
      </p:sp>
      <p:sp>
        <p:nvSpPr>
          <p:cNvPr id="196629" name="Text Box 21">
            <a:extLst>
              <a:ext uri="{FF2B5EF4-FFF2-40B4-BE49-F238E27FC236}">
                <a16:creationId xmlns:a16="http://schemas.microsoft.com/office/drawing/2014/main" id="{49C774B5-26C5-4C96-9F31-A3F2273412A8}"/>
              </a:ext>
            </a:extLst>
          </p:cNvPr>
          <p:cNvSpPr txBox="1">
            <a:spLocks noChangeArrowheads="1"/>
          </p:cNvSpPr>
          <p:nvPr/>
        </p:nvSpPr>
        <p:spPr bwMode="auto">
          <a:xfrm>
            <a:off x="5503863" y="5695950"/>
            <a:ext cx="10017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a:latin typeface="Tahoma" panose="020B0604030504040204" pitchFamily="34" charset="0"/>
              </a:rPr>
              <a:t>None</a:t>
            </a:r>
          </a:p>
        </p:txBody>
      </p:sp>
      <p:sp>
        <p:nvSpPr>
          <p:cNvPr id="196630" name="Text Box 22">
            <a:extLst>
              <a:ext uri="{FF2B5EF4-FFF2-40B4-BE49-F238E27FC236}">
                <a16:creationId xmlns:a16="http://schemas.microsoft.com/office/drawing/2014/main" id="{849A5868-57A9-4C80-967A-CF255BB8E6BA}"/>
              </a:ext>
            </a:extLst>
          </p:cNvPr>
          <p:cNvSpPr txBox="1">
            <a:spLocks noChangeArrowheads="1"/>
          </p:cNvSpPr>
          <p:nvPr/>
        </p:nvSpPr>
        <p:spPr bwMode="auto">
          <a:xfrm>
            <a:off x="2005013" y="2054225"/>
            <a:ext cx="942975" cy="400050"/>
          </a:xfrm>
          <a:prstGeom prst="rect">
            <a:avLst/>
          </a:prstGeom>
          <a:noFill/>
          <a:ln w="9525">
            <a:noFill/>
            <a:miter lim="800000"/>
            <a:headEnd/>
            <a:tailEnd/>
          </a:ln>
          <a:effectLst/>
        </p:spPr>
        <p:txBody>
          <a:bodyPr wrap="none">
            <a:spAutoFit/>
          </a:bodyPr>
          <a:lstStyle/>
          <a:p>
            <a:pPr algn="ctr">
              <a:defRPr/>
            </a:pPr>
            <a:r>
              <a:rPr lang="en-US" b="1">
                <a:effectLst>
                  <a:outerShdw blurRad="38100" dist="38100" dir="2700000" algn="tl">
                    <a:srgbClr val="C0C0C0"/>
                  </a:outerShdw>
                </a:effectLst>
                <a:latin typeface="Tahoma" pitchFamily="34" charset="0"/>
              </a:rPr>
              <a:t>P</a:t>
            </a:r>
            <a:r>
              <a:rPr lang="en-US" b="1">
                <a:solidFill>
                  <a:srgbClr val="FF0033"/>
                </a:solidFill>
                <a:effectLst>
                  <a:outerShdw blurRad="38100" dist="38100" dir="2700000" algn="tl">
                    <a:srgbClr val="C0C0C0"/>
                  </a:outerShdw>
                </a:effectLst>
                <a:latin typeface="Tahoma" pitchFamily="34" charset="0"/>
              </a:rPr>
              <a:t>ØØØ</a:t>
            </a:r>
          </a:p>
        </p:txBody>
      </p:sp>
      <p:sp>
        <p:nvSpPr>
          <p:cNvPr id="196631" name="Text Box 23">
            <a:extLst>
              <a:ext uri="{FF2B5EF4-FFF2-40B4-BE49-F238E27FC236}">
                <a16:creationId xmlns:a16="http://schemas.microsoft.com/office/drawing/2014/main" id="{5B466582-7D5B-43DA-BEC8-E9F92F2B04C2}"/>
              </a:ext>
            </a:extLst>
          </p:cNvPr>
          <p:cNvSpPr txBox="1">
            <a:spLocks noChangeArrowheads="1"/>
          </p:cNvSpPr>
          <p:nvPr/>
        </p:nvSpPr>
        <p:spPr bwMode="auto">
          <a:xfrm>
            <a:off x="1998663" y="2976563"/>
            <a:ext cx="954087" cy="400050"/>
          </a:xfrm>
          <a:prstGeom prst="rect">
            <a:avLst/>
          </a:prstGeom>
          <a:noFill/>
          <a:ln w="9525">
            <a:noFill/>
            <a:miter lim="800000"/>
            <a:headEnd/>
            <a:tailEnd/>
          </a:ln>
          <a:effectLst/>
        </p:spPr>
        <p:txBody>
          <a:bodyPr wrap="none">
            <a:spAutoFit/>
          </a:bodyPr>
          <a:lstStyle/>
          <a:p>
            <a:pPr algn="ctr">
              <a:defRPr/>
            </a:pPr>
            <a:r>
              <a:rPr lang="en-US" b="1">
                <a:solidFill>
                  <a:srgbClr val="FF0033"/>
                </a:solidFill>
                <a:effectLst>
                  <a:outerShdw blurRad="38100" dist="38100" dir="2700000" algn="tl">
                    <a:srgbClr val="C0C0C0"/>
                  </a:outerShdw>
                </a:effectLst>
                <a:latin typeface="Tahoma" pitchFamily="34" charset="0"/>
              </a:rPr>
              <a:t>Ø</a:t>
            </a:r>
            <a:r>
              <a:rPr lang="en-US" b="1">
                <a:effectLst>
                  <a:outerShdw blurRad="38100" dist="38100" dir="2700000" algn="tl">
                    <a:srgbClr val="C0C0C0"/>
                  </a:outerShdw>
                </a:effectLst>
                <a:latin typeface="Tahoma" pitchFamily="34" charset="0"/>
              </a:rPr>
              <a:t>A</a:t>
            </a:r>
            <a:r>
              <a:rPr lang="en-US" b="1">
                <a:solidFill>
                  <a:srgbClr val="FF0033"/>
                </a:solidFill>
                <a:effectLst>
                  <a:outerShdw blurRad="38100" dist="38100" dir="2700000" algn="tl">
                    <a:srgbClr val="C0C0C0"/>
                  </a:outerShdw>
                </a:effectLst>
                <a:latin typeface="Tahoma" pitchFamily="34" charset="0"/>
              </a:rPr>
              <a:t>ØØ</a:t>
            </a:r>
          </a:p>
        </p:txBody>
      </p:sp>
      <p:sp>
        <p:nvSpPr>
          <p:cNvPr id="196632" name="Text Box 24">
            <a:extLst>
              <a:ext uri="{FF2B5EF4-FFF2-40B4-BE49-F238E27FC236}">
                <a16:creationId xmlns:a16="http://schemas.microsoft.com/office/drawing/2014/main" id="{26598FD7-0F9C-4F2A-A3B9-19BAEB718D55}"/>
              </a:ext>
            </a:extLst>
          </p:cNvPr>
          <p:cNvSpPr txBox="1">
            <a:spLocks noChangeArrowheads="1"/>
          </p:cNvSpPr>
          <p:nvPr/>
        </p:nvSpPr>
        <p:spPr bwMode="auto">
          <a:xfrm>
            <a:off x="2009775" y="3887788"/>
            <a:ext cx="933450" cy="400050"/>
          </a:xfrm>
          <a:prstGeom prst="rect">
            <a:avLst/>
          </a:prstGeom>
          <a:noFill/>
          <a:ln w="9525">
            <a:noFill/>
            <a:miter lim="800000"/>
            <a:headEnd/>
            <a:tailEnd/>
          </a:ln>
          <a:effectLst/>
        </p:spPr>
        <p:txBody>
          <a:bodyPr wrap="none">
            <a:spAutoFit/>
          </a:bodyPr>
          <a:lstStyle/>
          <a:p>
            <a:pPr algn="ctr">
              <a:defRPr/>
            </a:pPr>
            <a:r>
              <a:rPr lang="en-US" b="1">
                <a:solidFill>
                  <a:srgbClr val="FF0033"/>
                </a:solidFill>
                <a:effectLst>
                  <a:outerShdw blurRad="38100" dist="38100" dir="2700000" algn="tl">
                    <a:srgbClr val="C0C0C0"/>
                  </a:outerShdw>
                </a:effectLst>
                <a:latin typeface="Tahoma" pitchFamily="34" charset="0"/>
              </a:rPr>
              <a:t>ØØ</a:t>
            </a:r>
            <a:r>
              <a:rPr lang="en-US" b="1">
                <a:effectLst>
                  <a:outerShdw blurRad="38100" dist="38100" dir="2700000" algn="tl">
                    <a:srgbClr val="C0C0C0"/>
                  </a:outerShdw>
                </a:effectLst>
                <a:latin typeface="Tahoma" pitchFamily="34" charset="0"/>
              </a:rPr>
              <a:t>E</a:t>
            </a:r>
            <a:r>
              <a:rPr lang="en-US" b="1">
                <a:solidFill>
                  <a:srgbClr val="FF0033"/>
                </a:solidFill>
                <a:effectLst>
                  <a:outerShdw blurRad="38100" dist="38100" dir="2700000" algn="tl">
                    <a:srgbClr val="C0C0C0"/>
                  </a:outerShdw>
                </a:effectLst>
                <a:latin typeface="Tahoma" pitchFamily="34" charset="0"/>
              </a:rPr>
              <a:t>Ø</a:t>
            </a:r>
          </a:p>
        </p:txBody>
      </p:sp>
      <p:sp>
        <p:nvSpPr>
          <p:cNvPr id="196633" name="Text Box 25">
            <a:extLst>
              <a:ext uri="{FF2B5EF4-FFF2-40B4-BE49-F238E27FC236}">
                <a16:creationId xmlns:a16="http://schemas.microsoft.com/office/drawing/2014/main" id="{F07A3DBE-71E3-4E5E-A740-85381FFFBE33}"/>
              </a:ext>
            </a:extLst>
          </p:cNvPr>
          <p:cNvSpPr txBox="1">
            <a:spLocks noChangeArrowheads="1"/>
          </p:cNvSpPr>
          <p:nvPr/>
        </p:nvSpPr>
        <p:spPr bwMode="auto">
          <a:xfrm>
            <a:off x="2027238" y="4787900"/>
            <a:ext cx="900112" cy="400050"/>
          </a:xfrm>
          <a:prstGeom prst="rect">
            <a:avLst/>
          </a:prstGeom>
          <a:noFill/>
          <a:ln w="9525">
            <a:noFill/>
            <a:miter lim="800000"/>
            <a:headEnd/>
            <a:tailEnd/>
          </a:ln>
          <a:effectLst/>
        </p:spPr>
        <p:txBody>
          <a:bodyPr wrap="none">
            <a:spAutoFit/>
          </a:bodyPr>
          <a:lstStyle/>
          <a:p>
            <a:pPr algn="ctr">
              <a:defRPr/>
            </a:pPr>
            <a:r>
              <a:rPr lang="en-US" b="1">
                <a:solidFill>
                  <a:srgbClr val="FF0033"/>
                </a:solidFill>
                <a:effectLst>
                  <a:outerShdw blurRad="38100" dist="38100" dir="2700000" algn="tl">
                    <a:srgbClr val="C0C0C0"/>
                  </a:outerShdw>
                </a:effectLst>
                <a:latin typeface="Tahoma" pitchFamily="34" charset="0"/>
              </a:rPr>
              <a:t>ØØØ</a:t>
            </a:r>
            <a:r>
              <a:rPr lang="en-US" b="1">
                <a:effectLst>
                  <a:outerShdw blurRad="38100" dist="38100" dir="2700000" algn="tl">
                    <a:srgbClr val="C0C0C0"/>
                  </a:outerShdw>
                </a:effectLst>
                <a:latin typeface="Tahoma" pitchFamily="34" charset="0"/>
              </a:rPr>
              <a:t>I</a:t>
            </a:r>
          </a:p>
        </p:txBody>
      </p:sp>
      <p:sp>
        <p:nvSpPr>
          <p:cNvPr id="196634" name="Text Box 26">
            <a:extLst>
              <a:ext uri="{FF2B5EF4-FFF2-40B4-BE49-F238E27FC236}">
                <a16:creationId xmlns:a16="http://schemas.microsoft.com/office/drawing/2014/main" id="{94EA3816-7D66-42A8-96E1-E4ED5C90187C}"/>
              </a:ext>
            </a:extLst>
          </p:cNvPr>
          <p:cNvSpPr txBox="1">
            <a:spLocks noChangeArrowheads="1"/>
          </p:cNvSpPr>
          <p:nvPr/>
        </p:nvSpPr>
        <p:spPr bwMode="auto">
          <a:xfrm>
            <a:off x="1989138" y="5697538"/>
            <a:ext cx="974725" cy="400050"/>
          </a:xfrm>
          <a:prstGeom prst="rect">
            <a:avLst/>
          </a:prstGeom>
          <a:noFill/>
          <a:ln w="9525">
            <a:noFill/>
            <a:miter lim="800000"/>
            <a:headEnd/>
            <a:tailEnd/>
          </a:ln>
          <a:effectLst/>
        </p:spPr>
        <p:txBody>
          <a:bodyPr wrap="none">
            <a:spAutoFit/>
          </a:bodyPr>
          <a:lstStyle/>
          <a:p>
            <a:pPr algn="ctr">
              <a:defRPr/>
            </a:pPr>
            <a:r>
              <a:rPr lang="en-US" b="1">
                <a:solidFill>
                  <a:srgbClr val="FF0033"/>
                </a:solidFill>
                <a:effectLst>
                  <a:outerShdw blurRad="38100" dist="38100" dir="2700000" algn="tl">
                    <a:srgbClr val="C0C0C0"/>
                  </a:outerShdw>
                </a:effectLst>
                <a:latin typeface="Tahoma" pitchFamily="34" charset="0"/>
              </a:rPr>
              <a:t>ØØØØ</a:t>
            </a:r>
          </a:p>
        </p:txBody>
      </p:sp>
      <p:sp>
        <p:nvSpPr>
          <p:cNvPr id="28699" name="Text Box 27">
            <a:extLst>
              <a:ext uri="{FF2B5EF4-FFF2-40B4-BE49-F238E27FC236}">
                <a16:creationId xmlns:a16="http://schemas.microsoft.com/office/drawing/2014/main" id="{D45CF8F4-5591-499A-9D1E-FF1D30E44D7E}"/>
              </a:ext>
            </a:extLst>
          </p:cNvPr>
          <p:cNvSpPr txBox="1">
            <a:spLocks noChangeArrowheads="1"/>
          </p:cNvSpPr>
          <p:nvPr/>
        </p:nvSpPr>
        <p:spPr bwMode="auto">
          <a:xfrm>
            <a:off x="1849438" y="1492250"/>
            <a:ext cx="1263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b="1">
                <a:solidFill>
                  <a:srgbClr val="FF0033"/>
                </a:solidFill>
                <a:latin typeface="Tahoma" panose="020B0604030504040204" pitchFamily="34" charset="0"/>
              </a:rPr>
              <a:t>Styles</a:t>
            </a:r>
          </a:p>
        </p:txBody>
      </p:sp>
      <p:sp>
        <p:nvSpPr>
          <p:cNvPr id="28700" name="Text Box 28">
            <a:extLst>
              <a:ext uri="{FF2B5EF4-FFF2-40B4-BE49-F238E27FC236}">
                <a16:creationId xmlns:a16="http://schemas.microsoft.com/office/drawing/2014/main" id="{C5306A16-5B0F-4859-8C7F-CAE672E3AA8C}"/>
              </a:ext>
            </a:extLst>
          </p:cNvPr>
          <p:cNvSpPr txBox="1">
            <a:spLocks noChangeArrowheads="1"/>
          </p:cNvSpPr>
          <p:nvPr/>
        </p:nvSpPr>
        <p:spPr bwMode="auto">
          <a:xfrm>
            <a:off x="3924300" y="1522413"/>
            <a:ext cx="1206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b="1">
                <a:latin typeface="Tahoma" panose="020B0604030504040204" pitchFamily="34" charset="0"/>
              </a:rPr>
              <a:t>Focus</a:t>
            </a:r>
          </a:p>
        </p:txBody>
      </p:sp>
      <p:sp>
        <p:nvSpPr>
          <p:cNvPr id="28701" name="Text Box 29">
            <a:extLst>
              <a:ext uri="{FF2B5EF4-FFF2-40B4-BE49-F238E27FC236}">
                <a16:creationId xmlns:a16="http://schemas.microsoft.com/office/drawing/2014/main" id="{00D2FA6E-FF2D-46EB-A27C-9A7B94EAF865}"/>
              </a:ext>
            </a:extLst>
          </p:cNvPr>
          <p:cNvSpPr txBox="1">
            <a:spLocks noChangeArrowheads="1"/>
          </p:cNvSpPr>
          <p:nvPr/>
        </p:nvSpPr>
        <p:spPr bwMode="auto">
          <a:xfrm>
            <a:off x="5365750" y="1522413"/>
            <a:ext cx="1279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b="1">
                <a:latin typeface="Tahoma" panose="020B0604030504040204" pitchFamily="34" charset="0"/>
              </a:rPr>
              <a:t>Speed</a:t>
            </a:r>
          </a:p>
        </p:txBody>
      </p:sp>
      <p:sp>
        <p:nvSpPr>
          <p:cNvPr id="28702" name="Text Box 30">
            <a:extLst>
              <a:ext uri="{FF2B5EF4-FFF2-40B4-BE49-F238E27FC236}">
                <a16:creationId xmlns:a16="http://schemas.microsoft.com/office/drawing/2014/main" id="{B6588806-3B45-4CCB-AFC9-B6A1DC8C657B}"/>
              </a:ext>
            </a:extLst>
          </p:cNvPr>
          <p:cNvSpPr txBox="1">
            <a:spLocks noChangeArrowheads="1"/>
          </p:cNvSpPr>
          <p:nvPr/>
        </p:nvSpPr>
        <p:spPr bwMode="auto">
          <a:xfrm>
            <a:off x="6799263" y="1522413"/>
            <a:ext cx="12684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b="1">
                <a:latin typeface="Tahoma" panose="020B0604030504040204" pitchFamily="34" charset="0"/>
              </a:rPr>
              <a:t>Vision</a:t>
            </a:r>
          </a:p>
        </p:txBody>
      </p:sp>
      <p:sp>
        <p:nvSpPr>
          <p:cNvPr id="28703" name="Text Box 31">
            <a:extLst>
              <a:ext uri="{FF2B5EF4-FFF2-40B4-BE49-F238E27FC236}">
                <a16:creationId xmlns:a16="http://schemas.microsoft.com/office/drawing/2014/main" id="{57560799-1005-4C3F-8066-9C450FC134F8}"/>
              </a:ext>
            </a:extLst>
          </p:cNvPr>
          <p:cNvSpPr txBox="1">
            <a:spLocks noChangeArrowheads="1"/>
          </p:cNvSpPr>
          <p:nvPr/>
        </p:nvSpPr>
        <p:spPr bwMode="auto">
          <a:xfrm>
            <a:off x="8324850" y="1524000"/>
            <a:ext cx="1958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b="1">
                <a:latin typeface="Tahoma" panose="020B0604030504040204" pitchFamily="34" charset="0"/>
              </a:rPr>
              <a:t>Nickname</a:t>
            </a:r>
          </a:p>
        </p:txBody>
      </p:sp>
      <p:sp>
        <p:nvSpPr>
          <p:cNvPr id="28704" name="Text Box 32">
            <a:extLst>
              <a:ext uri="{FF2B5EF4-FFF2-40B4-BE49-F238E27FC236}">
                <a16:creationId xmlns:a16="http://schemas.microsoft.com/office/drawing/2014/main" id="{913F1EA1-0046-4B47-81FD-E2F86C023891}"/>
              </a:ext>
            </a:extLst>
          </p:cNvPr>
          <p:cNvSpPr txBox="1">
            <a:spLocks noChangeArrowheads="1"/>
          </p:cNvSpPr>
          <p:nvPr/>
        </p:nvSpPr>
        <p:spPr bwMode="auto">
          <a:xfrm>
            <a:off x="1846263" y="1076325"/>
            <a:ext cx="31448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2800" b="1">
                <a:solidFill>
                  <a:srgbClr val="FF0033"/>
                </a:solidFill>
                <a:latin typeface="Tahoma" panose="020B0604030504040204" pitchFamily="34" charset="0"/>
              </a:rPr>
              <a:t>Mismanagement</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662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662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662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6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22" grpId="0" autoUpdateAnimBg="0"/>
      <p:bldP spid="196627" grpId="0" autoUpdateAnimBg="0"/>
      <p:bldP spid="196628" grpId="0" autoUpdateAnimBg="0"/>
      <p:bldP spid="196629" grpId="0" autoUpdateAnimBg="0"/>
      <p:bldP spid="196634"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Text Box 2">
            <a:extLst>
              <a:ext uri="{FF2B5EF4-FFF2-40B4-BE49-F238E27FC236}">
                <a16:creationId xmlns:a16="http://schemas.microsoft.com/office/drawing/2014/main" id="{038D5C30-9232-4F6A-B3B1-AC83F0C1CFD8}"/>
              </a:ext>
            </a:extLst>
          </p:cNvPr>
          <p:cNvSpPr txBox="1">
            <a:spLocks noChangeArrowheads="1"/>
          </p:cNvSpPr>
          <p:nvPr/>
        </p:nvSpPr>
        <p:spPr bwMode="auto">
          <a:xfrm>
            <a:off x="1922463" y="1911350"/>
            <a:ext cx="8043862" cy="2301875"/>
          </a:xfrm>
          <a:prstGeom prst="rect">
            <a:avLst/>
          </a:prstGeom>
          <a:noFill/>
          <a:ln w="12700" algn="ctr">
            <a:noFill/>
            <a:miter lim="800000"/>
            <a:headEnd type="none" w="sm" len="sm"/>
            <a:tailEnd type="none" w="sm" len="sm"/>
          </a:ln>
          <a:effectLst/>
        </p:spPr>
        <p:txBody>
          <a:bodyPr>
            <a:spAutoFit/>
          </a:bodyPr>
          <a:lstStyle/>
          <a:p>
            <a:pPr marL="228600" indent="-228600">
              <a:lnSpc>
                <a:spcPct val="165000"/>
              </a:lnSpc>
              <a:defRPr/>
            </a:pPr>
            <a:r>
              <a:rPr lang="en-US" sz="2200" dirty="0">
                <a:solidFill>
                  <a:schemeClr val="accent2"/>
                </a:solidFill>
                <a:effectLst>
                  <a:outerShdw blurRad="38100" dist="38100" dir="2700000" algn="tl">
                    <a:srgbClr val="C0C0C0"/>
                  </a:outerShdw>
                </a:effectLst>
              </a:rPr>
              <a:t>Characteristics of Deadwood:</a:t>
            </a:r>
            <a:br>
              <a:rPr lang="en-US" sz="2200" dirty="0">
                <a:solidFill>
                  <a:schemeClr val="accent2"/>
                </a:solidFill>
                <a:effectLst>
                  <a:outerShdw blurRad="38100" dist="38100" dir="2700000" algn="tl">
                    <a:srgbClr val="C0C0C0"/>
                  </a:outerShdw>
                </a:effectLst>
              </a:rPr>
            </a:br>
            <a:r>
              <a:rPr lang="en-US" sz="2200" dirty="0">
                <a:solidFill>
                  <a:schemeClr val="accent2"/>
                </a:solidFill>
                <a:effectLst>
                  <a:outerShdw blurRad="38100" dist="38100" dir="2700000" algn="tl">
                    <a:srgbClr val="C0C0C0"/>
                  </a:outerShdw>
                </a:effectLst>
              </a:rPr>
              <a:t>	</a:t>
            </a:r>
            <a:r>
              <a:rPr lang="en-US" sz="2200" dirty="0">
                <a:solidFill>
                  <a:srgbClr val="FF0033"/>
                </a:solidFill>
                <a:effectLst>
                  <a:outerShdw blurRad="38100" dist="38100" dir="2700000" algn="tl">
                    <a:srgbClr val="C0C0C0"/>
                  </a:outerShdw>
                </a:effectLst>
              </a:rPr>
              <a:t>1) no problems</a:t>
            </a:r>
            <a:br>
              <a:rPr lang="en-US" sz="2200" dirty="0">
                <a:solidFill>
                  <a:srgbClr val="FF0033"/>
                </a:solidFill>
                <a:effectLst>
                  <a:outerShdw blurRad="38100" dist="38100" dir="2700000" algn="tl">
                    <a:srgbClr val="C0C0C0"/>
                  </a:outerShdw>
                </a:effectLst>
              </a:rPr>
            </a:br>
            <a:r>
              <a:rPr lang="en-US" sz="2200" dirty="0">
                <a:solidFill>
                  <a:srgbClr val="FF0033"/>
                </a:solidFill>
                <a:effectLst>
                  <a:outerShdw blurRad="38100" dist="38100" dir="2700000" algn="tl">
                    <a:srgbClr val="C0C0C0"/>
                  </a:outerShdw>
                </a:effectLst>
              </a:rPr>
              <a:t>	2) no up front resistance to change</a:t>
            </a:r>
            <a:br>
              <a:rPr lang="en-US" sz="2200" dirty="0">
                <a:solidFill>
                  <a:srgbClr val="FF0033"/>
                </a:solidFill>
                <a:effectLst>
                  <a:outerShdw blurRad="38100" dist="38100" dir="2700000" algn="tl">
                    <a:srgbClr val="C0C0C0"/>
                  </a:outerShdw>
                </a:effectLst>
              </a:rPr>
            </a:br>
            <a:r>
              <a:rPr lang="en-US" sz="2200" dirty="0">
                <a:solidFill>
                  <a:srgbClr val="FF0033"/>
                </a:solidFill>
                <a:effectLst>
                  <a:outerShdw blurRad="38100" dist="38100" dir="2700000" algn="tl">
                    <a:srgbClr val="C0C0C0"/>
                  </a:outerShdw>
                </a:effectLst>
              </a:rPr>
              <a:t>	3) accumulates deadwood</a:t>
            </a:r>
          </a:p>
        </p:txBody>
      </p:sp>
      <p:sp>
        <p:nvSpPr>
          <p:cNvPr id="197635" name="Rectangle 3">
            <a:extLst>
              <a:ext uri="{FF2B5EF4-FFF2-40B4-BE49-F238E27FC236}">
                <a16:creationId xmlns:a16="http://schemas.microsoft.com/office/drawing/2014/main" id="{7B9B3611-6B02-416C-9141-64CABA28CACC}"/>
              </a:ext>
            </a:extLst>
          </p:cNvPr>
          <p:cNvSpPr>
            <a:spLocks noChangeArrowheads="1"/>
          </p:cNvSpPr>
          <p:nvPr/>
        </p:nvSpPr>
        <p:spPr bwMode="auto">
          <a:xfrm>
            <a:off x="4756150" y="1303338"/>
            <a:ext cx="2830513" cy="427037"/>
          </a:xfrm>
          <a:prstGeom prst="rect">
            <a:avLst/>
          </a:prstGeom>
          <a:noFill/>
          <a:ln w="12700" algn="ctr">
            <a:noFill/>
            <a:miter lim="800000"/>
            <a:headEnd type="none" w="sm" len="sm"/>
            <a:tailEnd type="none" w="sm" len="sm"/>
          </a:ln>
          <a:effectLst/>
        </p:spPr>
        <p:txBody>
          <a:bodyPr wrap="none">
            <a:spAutoFit/>
          </a:bodyPr>
          <a:lstStyle/>
          <a:p>
            <a:pPr algn="ctr">
              <a:defRPr/>
            </a:pPr>
            <a:r>
              <a:rPr lang="en-US" sz="2200" b="1">
                <a:solidFill>
                  <a:srgbClr val="FF0000"/>
                </a:solidFill>
                <a:effectLst>
                  <a:outerShdw blurRad="38100" dist="38100" dir="2700000" algn="tl">
                    <a:srgbClr val="C0C0C0"/>
                  </a:outerShdw>
                </a:effectLst>
              </a:rPr>
              <a:t>ØØØØ</a:t>
            </a:r>
            <a:r>
              <a:rPr lang="en-US" sz="2200" b="1">
                <a:solidFill>
                  <a:srgbClr val="FF0033"/>
                </a:solidFill>
                <a:effectLst>
                  <a:outerShdw blurRad="38100" dist="38100" dir="2700000" algn="tl">
                    <a:srgbClr val="C0C0C0"/>
                  </a:outerShdw>
                </a:effectLst>
              </a:rPr>
              <a:t> DEADWOOD</a:t>
            </a:r>
          </a:p>
        </p:txBody>
      </p:sp>
      <p:pic>
        <p:nvPicPr>
          <p:cNvPr id="30724" name="Picture 4" descr="Deadwood">
            <a:extLst>
              <a:ext uri="{FF2B5EF4-FFF2-40B4-BE49-F238E27FC236}">
                <a16:creationId xmlns:a16="http://schemas.microsoft.com/office/drawing/2014/main" id="{6A7CB744-4A35-4373-AFBF-B7D30CC479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3650" y="2443163"/>
            <a:ext cx="190500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763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1">
            <a:extLst>
              <a:ext uri="{FF2B5EF4-FFF2-40B4-BE49-F238E27FC236}">
                <a16:creationId xmlns:a16="http://schemas.microsoft.com/office/drawing/2014/main" id="{81E45781-25E7-45FF-A044-CEB7D5CD5148}"/>
              </a:ext>
            </a:extLst>
          </p:cNvPr>
          <p:cNvSpPr txBox="1">
            <a:spLocks noChangeArrowheads="1"/>
          </p:cNvSpPr>
          <p:nvPr/>
        </p:nvSpPr>
        <p:spPr bwMode="auto">
          <a:xfrm>
            <a:off x="2819400" y="685800"/>
            <a:ext cx="6519863"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4000">
                <a:latin typeface="Tahoma" panose="020B0604030504040204" pitchFamily="34" charset="0"/>
                <a:cs typeface="Tahoma" panose="020B0604030504040204" pitchFamily="34" charset="0"/>
              </a:rPr>
              <a:t>What we need is a </a:t>
            </a:r>
          </a:p>
          <a:p>
            <a:pPr algn="ctr"/>
            <a:r>
              <a:rPr lang="en-US" altLang="en-US" sz="4000">
                <a:latin typeface="Tahoma" panose="020B0604030504040204" pitchFamily="34" charset="0"/>
                <a:cs typeface="Tahoma" panose="020B0604030504040204" pitchFamily="34" charset="0"/>
              </a:rPr>
              <a:t>Manager/ Executive/ Leader</a:t>
            </a:r>
          </a:p>
          <a:p>
            <a:pPr algn="ctr"/>
            <a:r>
              <a:rPr lang="en-US" altLang="en-US" sz="4000">
                <a:latin typeface="Tahoma" panose="020B0604030504040204" pitchFamily="34" charset="0"/>
                <a:cs typeface="Tahoma" panose="020B0604030504040204" pitchFamily="34" charset="0"/>
              </a:rPr>
              <a:t>Who IS:</a:t>
            </a:r>
          </a:p>
        </p:txBody>
      </p:sp>
      <p:sp>
        <p:nvSpPr>
          <p:cNvPr id="4" name="TextBox 3">
            <a:extLst>
              <a:ext uri="{FF2B5EF4-FFF2-40B4-BE49-F238E27FC236}">
                <a16:creationId xmlns:a16="http://schemas.microsoft.com/office/drawing/2014/main" id="{7DBE2A40-FE7E-40FF-9BEB-B722ADEF15E1}"/>
              </a:ext>
            </a:extLst>
          </p:cNvPr>
          <p:cNvSpPr txBox="1">
            <a:spLocks noChangeArrowheads="1"/>
          </p:cNvSpPr>
          <p:nvPr/>
        </p:nvSpPr>
        <p:spPr bwMode="auto">
          <a:xfrm>
            <a:off x="2895600" y="2646363"/>
            <a:ext cx="76755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3600">
                <a:latin typeface="Tahoma" panose="020B0604030504040204" pitchFamily="34" charset="0"/>
                <a:cs typeface="Tahoma" panose="020B0604030504040204" pitchFamily="34" charset="0"/>
              </a:rPr>
              <a:t>Task Oriented, Result Producing </a:t>
            </a:r>
            <a:r>
              <a:rPr lang="en-US" altLang="en-US" sz="3600" b="1">
                <a:solidFill>
                  <a:srgbClr val="FF0000"/>
                </a:solidFill>
                <a:latin typeface="Tahoma" panose="020B0604030504040204" pitchFamily="34" charset="0"/>
                <a:cs typeface="Tahoma" panose="020B0604030504040204" pitchFamily="34" charset="0"/>
              </a:rPr>
              <a:t>(P)</a:t>
            </a:r>
          </a:p>
        </p:txBody>
      </p:sp>
      <p:sp>
        <p:nvSpPr>
          <p:cNvPr id="8" name="Right Arrow 7">
            <a:extLst>
              <a:ext uri="{FF2B5EF4-FFF2-40B4-BE49-F238E27FC236}">
                <a16:creationId xmlns:a16="http://schemas.microsoft.com/office/drawing/2014/main" id="{884D88B2-7FA7-4F95-BD8E-375DC315E9D4}"/>
              </a:ext>
            </a:extLst>
          </p:cNvPr>
          <p:cNvSpPr>
            <a:spLocks noChangeArrowheads="1"/>
          </p:cNvSpPr>
          <p:nvPr/>
        </p:nvSpPr>
        <p:spPr bwMode="auto">
          <a:xfrm>
            <a:off x="1752600" y="2722563"/>
            <a:ext cx="977900" cy="484187"/>
          </a:xfrm>
          <a:prstGeom prst="rightArrow">
            <a:avLst>
              <a:gd name="adj1" fmla="val 50000"/>
              <a:gd name="adj2" fmla="val 50024"/>
            </a:avLst>
          </a:prstGeom>
          <a:solidFill>
            <a:srgbClr val="FF0000"/>
          </a:solidFill>
          <a:ln w="12700" algn="ctr">
            <a:solidFill>
              <a:schemeClr val="tx1"/>
            </a:solidFill>
            <a:round/>
            <a:headEnd type="none" w="sm" len="sm"/>
            <a:tailEnd type="none" w="sm" len="sm"/>
          </a:ln>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9" name="TextBox 8">
            <a:extLst>
              <a:ext uri="{FF2B5EF4-FFF2-40B4-BE49-F238E27FC236}">
                <a16:creationId xmlns:a16="http://schemas.microsoft.com/office/drawing/2014/main" id="{3EC46EB3-73A1-4404-8007-5A1954051E3E}"/>
              </a:ext>
            </a:extLst>
          </p:cNvPr>
          <p:cNvSpPr txBox="1">
            <a:spLocks noChangeArrowheads="1"/>
          </p:cNvSpPr>
          <p:nvPr/>
        </p:nvSpPr>
        <p:spPr bwMode="auto">
          <a:xfrm>
            <a:off x="2895600" y="3448050"/>
            <a:ext cx="60769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3600">
                <a:latin typeface="Tahoma" panose="020B0604030504040204" pitchFamily="34" charset="0"/>
                <a:cs typeface="Tahoma" panose="020B0604030504040204" pitchFamily="34" charset="0"/>
              </a:rPr>
              <a:t>Organized and Efficient  </a:t>
            </a:r>
            <a:r>
              <a:rPr lang="en-US" altLang="en-US" sz="3600" b="1">
                <a:solidFill>
                  <a:srgbClr val="FF0000"/>
                </a:solidFill>
                <a:latin typeface="Tahoma" panose="020B0604030504040204" pitchFamily="34" charset="0"/>
                <a:cs typeface="Tahoma" panose="020B0604030504040204" pitchFamily="34" charset="0"/>
              </a:rPr>
              <a:t>(A)</a:t>
            </a:r>
          </a:p>
        </p:txBody>
      </p:sp>
      <p:sp>
        <p:nvSpPr>
          <p:cNvPr id="10" name="Right Arrow 9">
            <a:extLst>
              <a:ext uri="{FF2B5EF4-FFF2-40B4-BE49-F238E27FC236}">
                <a16:creationId xmlns:a16="http://schemas.microsoft.com/office/drawing/2014/main" id="{411B47A2-9323-42C5-A5B7-26AD374E52F0}"/>
              </a:ext>
            </a:extLst>
          </p:cNvPr>
          <p:cNvSpPr>
            <a:spLocks noChangeArrowheads="1"/>
          </p:cNvSpPr>
          <p:nvPr/>
        </p:nvSpPr>
        <p:spPr bwMode="auto">
          <a:xfrm>
            <a:off x="1752600" y="3524250"/>
            <a:ext cx="977900" cy="484188"/>
          </a:xfrm>
          <a:prstGeom prst="rightArrow">
            <a:avLst>
              <a:gd name="adj1" fmla="val 50000"/>
              <a:gd name="adj2" fmla="val 50024"/>
            </a:avLst>
          </a:prstGeom>
          <a:solidFill>
            <a:srgbClr val="FF0000"/>
          </a:solidFill>
          <a:ln w="12700" algn="ctr">
            <a:solidFill>
              <a:schemeClr val="tx1"/>
            </a:solidFill>
            <a:round/>
            <a:headEnd type="none" w="sm" len="sm"/>
            <a:tailEnd type="none" w="sm" len="sm"/>
          </a:ln>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11" name="TextBox 10">
            <a:extLst>
              <a:ext uri="{FF2B5EF4-FFF2-40B4-BE49-F238E27FC236}">
                <a16:creationId xmlns:a16="http://schemas.microsoft.com/office/drawing/2014/main" id="{6A8B8C85-9CD1-4754-B7EA-2B442906496B}"/>
              </a:ext>
            </a:extLst>
          </p:cNvPr>
          <p:cNvSpPr txBox="1">
            <a:spLocks noChangeArrowheads="1"/>
          </p:cNvSpPr>
          <p:nvPr/>
        </p:nvSpPr>
        <p:spPr bwMode="auto">
          <a:xfrm>
            <a:off x="2895600" y="4210050"/>
            <a:ext cx="56816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3600">
                <a:latin typeface="Tahoma" panose="020B0604030504040204" pitchFamily="34" charset="0"/>
                <a:cs typeface="Tahoma" panose="020B0604030504040204" pitchFamily="34" charset="0"/>
              </a:rPr>
              <a:t>Creative, Risk Taking   </a:t>
            </a:r>
            <a:r>
              <a:rPr lang="en-US" altLang="en-US" sz="3600" b="1">
                <a:solidFill>
                  <a:srgbClr val="FF0000"/>
                </a:solidFill>
                <a:latin typeface="Tahoma" panose="020B0604030504040204" pitchFamily="34" charset="0"/>
                <a:cs typeface="Tahoma" panose="020B0604030504040204" pitchFamily="34" charset="0"/>
              </a:rPr>
              <a:t>(E)</a:t>
            </a:r>
          </a:p>
        </p:txBody>
      </p:sp>
      <p:sp>
        <p:nvSpPr>
          <p:cNvPr id="12" name="Right Arrow 11">
            <a:extLst>
              <a:ext uri="{FF2B5EF4-FFF2-40B4-BE49-F238E27FC236}">
                <a16:creationId xmlns:a16="http://schemas.microsoft.com/office/drawing/2014/main" id="{34083B4A-CC38-45DD-BEBD-25B8A46CADE2}"/>
              </a:ext>
            </a:extLst>
          </p:cNvPr>
          <p:cNvSpPr>
            <a:spLocks noChangeArrowheads="1"/>
          </p:cNvSpPr>
          <p:nvPr/>
        </p:nvSpPr>
        <p:spPr bwMode="auto">
          <a:xfrm>
            <a:off x="1752600" y="4286250"/>
            <a:ext cx="977900" cy="484188"/>
          </a:xfrm>
          <a:prstGeom prst="rightArrow">
            <a:avLst>
              <a:gd name="adj1" fmla="val 50000"/>
              <a:gd name="adj2" fmla="val 50024"/>
            </a:avLst>
          </a:prstGeom>
          <a:solidFill>
            <a:srgbClr val="FF0000"/>
          </a:solidFill>
          <a:ln w="12700" algn="ctr">
            <a:solidFill>
              <a:schemeClr val="tx1"/>
            </a:solidFill>
            <a:round/>
            <a:headEnd type="none" w="sm" len="sm"/>
            <a:tailEnd type="none" w="sm" len="sm"/>
          </a:ln>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
        <p:nvSpPr>
          <p:cNvPr id="13" name="TextBox 12">
            <a:extLst>
              <a:ext uri="{FF2B5EF4-FFF2-40B4-BE49-F238E27FC236}">
                <a16:creationId xmlns:a16="http://schemas.microsoft.com/office/drawing/2014/main" id="{AD79C17D-BEA0-4E6B-8076-1F8059C05DA1}"/>
              </a:ext>
            </a:extLst>
          </p:cNvPr>
          <p:cNvSpPr txBox="1">
            <a:spLocks noChangeArrowheads="1"/>
          </p:cNvSpPr>
          <p:nvPr/>
        </p:nvSpPr>
        <p:spPr bwMode="auto">
          <a:xfrm>
            <a:off x="2895600" y="4972050"/>
            <a:ext cx="63039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3600">
                <a:latin typeface="Tahoma" panose="020B0604030504040204" pitchFamily="34" charset="0"/>
                <a:cs typeface="Tahoma" panose="020B0604030504040204" pitchFamily="34" charset="0"/>
              </a:rPr>
              <a:t> Sensitive to Other People</a:t>
            </a:r>
          </a:p>
          <a:p>
            <a:r>
              <a:rPr lang="en-US" altLang="en-US" sz="3600">
                <a:latin typeface="Tahoma" panose="020B0604030504040204" pitchFamily="34" charset="0"/>
                <a:cs typeface="Tahoma" panose="020B0604030504040204" pitchFamily="34" charset="0"/>
              </a:rPr>
              <a:t> and able to build a Team  </a:t>
            </a:r>
            <a:r>
              <a:rPr lang="en-US" altLang="en-US" sz="3600" b="1">
                <a:solidFill>
                  <a:srgbClr val="FF0000"/>
                </a:solidFill>
                <a:latin typeface="Tahoma" panose="020B0604030504040204" pitchFamily="34" charset="0"/>
                <a:cs typeface="Tahoma" panose="020B0604030504040204" pitchFamily="34" charset="0"/>
              </a:rPr>
              <a:t>(I)</a:t>
            </a:r>
          </a:p>
        </p:txBody>
      </p:sp>
      <p:sp>
        <p:nvSpPr>
          <p:cNvPr id="14" name="Right Arrow 13">
            <a:extLst>
              <a:ext uri="{FF2B5EF4-FFF2-40B4-BE49-F238E27FC236}">
                <a16:creationId xmlns:a16="http://schemas.microsoft.com/office/drawing/2014/main" id="{D304A04C-4081-4F4B-8378-10E638E41F0E}"/>
              </a:ext>
            </a:extLst>
          </p:cNvPr>
          <p:cNvSpPr>
            <a:spLocks noChangeArrowheads="1"/>
          </p:cNvSpPr>
          <p:nvPr/>
        </p:nvSpPr>
        <p:spPr bwMode="auto">
          <a:xfrm>
            <a:off x="1752600" y="5048250"/>
            <a:ext cx="977900" cy="484188"/>
          </a:xfrm>
          <a:prstGeom prst="rightArrow">
            <a:avLst>
              <a:gd name="adj1" fmla="val 50000"/>
              <a:gd name="adj2" fmla="val 50024"/>
            </a:avLst>
          </a:prstGeom>
          <a:solidFill>
            <a:srgbClr val="FF0000"/>
          </a:solidFill>
          <a:ln w="12700" algn="ctr">
            <a:solidFill>
              <a:schemeClr val="tx1"/>
            </a:solidFill>
            <a:round/>
            <a:headEnd type="none" w="sm" len="sm"/>
            <a:tailEnd type="none" w="sm" len="sm"/>
          </a:ln>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endParaRPr lang="sv-SE"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P spid="9" grpId="0"/>
      <p:bldP spid="10" grpId="0" animBg="1"/>
      <p:bldP spid="11" grpId="0"/>
      <p:bldP spid="12" grpId="0" animBg="1"/>
      <p:bldP spid="13" grpId="0"/>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Box 3">
            <a:extLst>
              <a:ext uri="{FF2B5EF4-FFF2-40B4-BE49-F238E27FC236}">
                <a16:creationId xmlns:a16="http://schemas.microsoft.com/office/drawing/2014/main" id="{96AFC8C5-BD7C-42E9-8958-121DC86B91B5}"/>
              </a:ext>
            </a:extLst>
          </p:cNvPr>
          <p:cNvSpPr txBox="1">
            <a:spLocks noChangeArrowheads="1"/>
          </p:cNvSpPr>
          <p:nvPr/>
        </p:nvSpPr>
        <p:spPr bwMode="auto">
          <a:xfrm>
            <a:off x="2832100" y="1128713"/>
            <a:ext cx="652145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4000">
                <a:latin typeface="Tahoma" panose="020B0604030504040204" pitchFamily="34" charset="0"/>
                <a:cs typeface="Tahoma" panose="020B0604030504040204" pitchFamily="34" charset="0"/>
              </a:rPr>
              <a:t>What we need is a </a:t>
            </a:r>
          </a:p>
          <a:p>
            <a:pPr algn="ctr"/>
            <a:r>
              <a:rPr lang="en-US" altLang="en-US" sz="4000">
                <a:latin typeface="Tahoma" panose="020B0604030504040204" pitchFamily="34" charset="0"/>
                <a:cs typeface="Tahoma" panose="020B0604030504040204" pitchFamily="34" charset="0"/>
              </a:rPr>
              <a:t>Manager/ Executive/ Leader</a:t>
            </a:r>
          </a:p>
          <a:p>
            <a:pPr algn="ctr"/>
            <a:r>
              <a:rPr lang="en-US" altLang="en-US" sz="4000">
                <a:latin typeface="Tahoma" panose="020B0604030504040204" pitchFamily="34" charset="0"/>
                <a:cs typeface="Tahoma" panose="020B0604030504040204" pitchFamily="34" charset="0"/>
              </a:rPr>
              <a:t>Who IS:</a:t>
            </a:r>
          </a:p>
        </p:txBody>
      </p:sp>
      <p:sp>
        <p:nvSpPr>
          <p:cNvPr id="33795" name="TextBox 4">
            <a:extLst>
              <a:ext uri="{FF2B5EF4-FFF2-40B4-BE49-F238E27FC236}">
                <a16:creationId xmlns:a16="http://schemas.microsoft.com/office/drawing/2014/main" id="{666ED056-285A-4D51-9C4D-EDEC03F5EA38}"/>
              </a:ext>
            </a:extLst>
          </p:cNvPr>
          <p:cNvSpPr txBox="1">
            <a:spLocks noChangeArrowheads="1"/>
          </p:cNvSpPr>
          <p:nvPr/>
        </p:nvSpPr>
        <p:spPr bwMode="auto">
          <a:xfrm>
            <a:off x="4667250" y="3338513"/>
            <a:ext cx="8270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3200" b="1">
                <a:solidFill>
                  <a:srgbClr val="FF0000"/>
                </a:solidFill>
                <a:latin typeface="Tahoma" panose="020B0604030504040204" pitchFamily="34" charset="0"/>
                <a:cs typeface="Tahoma" panose="020B0604030504040204" pitchFamily="34" charset="0"/>
              </a:rPr>
              <a:t>(P)</a:t>
            </a:r>
          </a:p>
        </p:txBody>
      </p:sp>
      <p:sp>
        <p:nvSpPr>
          <p:cNvPr id="33796" name="TextBox 5">
            <a:extLst>
              <a:ext uri="{FF2B5EF4-FFF2-40B4-BE49-F238E27FC236}">
                <a16:creationId xmlns:a16="http://schemas.microsoft.com/office/drawing/2014/main" id="{456B4781-66BA-4493-A927-1812C80D44CB}"/>
              </a:ext>
            </a:extLst>
          </p:cNvPr>
          <p:cNvSpPr txBox="1">
            <a:spLocks noChangeArrowheads="1"/>
          </p:cNvSpPr>
          <p:nvPr/>
        </p:nvSpPr>
        <p:spPr bwMode="auto">
          <a:xfrm>
            <a:off x="6724650" y="3338513"/>
            <a:ext cx="7556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3200" b="1">
                <a:solidFill>
                  <a:srgbClr val="FF0000"/>
                </a:solidFill>
                <a:latin typeface="Tahoma" panose="020B0604030504040204" pitchFamily="34" charset="0"/>
                <a:cs typeface="Tahoma" panose="020B0604030504040204" pitchFamily="34" charset="0"/>
              </a:rPr>
              <a:t>(I)</a:t>
            </a:r>
          </a:p>
        </p:txBody>
      </p:sp>
      <p:sp>
        <p:nvSpPr>
          <p:cNvPr id="33797" name="TextBox 6">
            <a:extLst>
              <a:ext uri="{FF2B5EF4-FFF2-40B4-BE49-F238E27FC236}">
                <a16:creationId xmlns:a16="http://schemas.microsoft.com/office/drawing/2014/main" id="{855C6E28-7D34-4FF5-95B1-5289AD11D2B6}"/>
              </a:ext>
            </a:extLst>
          </p:cNvPr>
          <p:cNvSpPr txBox="1">
            <a:spLocks noChangeArrowheads="1"/>
          </p:cNvSpPr>
          <p:nvPr/>
        </p:nvSpPr>
        <p:spPr bwMode="auto">
          <a:xfrm>
            <a:off x="5353050" y="3338513"/>
            <a:ext cx="838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3200" b="1">
                <a:solidFill>
                  <a:srgbClr val="FF0000"/>
                </a:solidFill>
                <a:latin typeface="Tahoma" panose="020B0604030504040204" pitchFamily="34" charset="0"/>
                <a:cs typeface="Tahoma" panose="020B0604030504040204" pitchFamily="34" charset="0"/>
              </a:rPr>
              <a:t>(A)</a:t>
            </a:r>
          </a:p>
        </p:txBody>
      </p:sp>
      <p:sp>
        <p:nvSpPr>
          <p:cNvPr id="33798" name="TextBox 7">
            <a:extLst>
              <a:ext uri="{FF2B5EF4-FFF2-40B4-BE49-F238E27FC236}">
                <a16:creationId xmlns:a16="http://schemas.microsoft.com/office/drawing/2014/main" id="{CCC1D80A-3CAB-4A6E-AC61-A715637C7CE6}"/>
              </a:ext>
            </a:extLst>
          </p:cNvPr>
          <p:cNvSpPr txBox="1">
            <a:spLocks noChangeArrowheads="1"/>
          </p:cNvSpPr>
          <p:nvPr/>
        </p:nvSpPr>
        <p:spPr bwMode="auto">
          <a:xfrm>
            <a:off x="6051550" y="3338513"/>
            <a:ext cx="825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3200" b="1">
                <a:solidFill>
                  <a:srgbClr val="FF0000"/>
                </a:solidFill>
                <a:latin typeface="Tahoma" panose="020B0604030504040204" pitchFamily="34" charset="0"/>
                <a:cs typeface="Tahoma" panose="020B0604030504040204" pitchFamily="34" charset="0"/>
              </a:rPr>
              <a:t>(E)</a:t>
            </a:r>
          </a:p>
        </p:txBody>
      </p:sp>
      <p:sp>
        <p:nvSpPr>
          <p:cNvPr id="11" name="TextBox 10">
            <a:extLst>
              <a:ext uri="{FF2B5EF4-FFF2-40B4-BE49-F238E27FC236}">
                <a16:creationId xmlns:a16="http://schemas.microsoft.com/office/drawing/2014/main" id="{D8DDC23D-44B6-4917-847C-07A3B229646D}"/>
              </a:ext>
            </a:extLst>
          </p:cNvPr>
          <p:cNvSpPr txBox="1">
            <a:spLocks noChangeArrowheads="1"/>
          </p:cNvSpPr>
          <p:nvPr/>
        </p:nvSpPr>
        <p:spPr bwMode="auto">
          <a:xfrm>
            <a:off x="7404100" y="3316288"/>
            <a:ext cx="558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4000">
                <a:latin typeface="Tahoma" panose="020B0604030504040204" pitchFamily="34" charset="0"/>
                <a:cs typeface="Tahoma" panose="020B0604030504040204" pitchFamily="34" charset="0"/>
              </a:rPr>
              <a:t>=</a:t>
            </a:r>
          </a:p>
        </p:txBody>
      </p:sp>
      <p:sp>
        <p:nvSpPr>
          <p:cNvPr id="12" name="TextBox 11">
            <a:extLst>
              <a:ext uri="{FF2B5EF4-FFF2-40B4-BE49-F238E27FC236}">
                <a16:creationId xmlns:a16="http://schemas.microsoft.com/office/drawing/2014/main" id="{5FB5A5EC-A059-4660-B869-5A50D0FFC920}"/>
              </a:ext>
            </a:extLst>
          </p:cNvPr>
          <p:cNvSpPr txBox="1">
            <a:spLocks noChangeArrowheads="1"/>
          </p:cNvSpPr>
          <p:nvPr/>
        </p:nvSpPr>
        <p:spPr bwMode="auto">
          <a:xfrm>
            <a:off x="3898900" y="3948113"/>
            <a:ext cx="46212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4000">
                <a:latin typeface="Tahoma" panose="020B0604030504040204" pitchFamily="34" charset="0"/>
                <a:cs typeface="Tahoma" panose="020B0604030504040204" pitchFamily="34" charset="0"/>
              </a:rPr>
              <a:t>The Ideal Executive</a:t>
            </a:r>
          </a:p>
        </p:txBody>
      </p:sp>
      <p:sp>
        <p:nvSpPr>
          <p:cNvPr id="13" name="TextBox 12">
            <a:extLst>
              <a:ext uri="{FF2B5EF4-FFF2-40B4-BE49-F238E27FC236}">
                <a16:creationId xmlns:a16="http://schemas.microsoft.com/office/drawing/2014/main" id="{43D01F02-55EA-4F18-914B-F76FE9F0888C}"/>
              </a:ext>
            </a:extLst>
          </p:cNvPr>
          <p:cNvSpPr txBox="1">
            <a:spLocks noChangeArrowheads="1"/>
          </p:cNvSpPr>
          <p:nvPr/>
        </p:nvSpPr>
        <p:spPr bwMode="auto">
          <a:xfrm>
            <a:off x="3517900" y="4710113"/>
            <a:ext cx="56435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4000">
                <a:latin typeface="Tahoma" panose="020B0604030504040204" pitchFamily="34" charset="0"/>
                <a:cs typeface="Tahoma" panose="020B0604030504040204" pitchFamily="34" charset="0"/>
              </a:rPr>
              <a:t>Only Exists in Textbooks</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92D3B7-4430-49B9-AC6F-89DA20BEBA1A}"/>
              </a:ext>
            </a:extLst>
          </p:cNvPr>
          <p:cNvSpPr txBox="1">
            <a:spLocks noChangeArrowheads="1"/>
          </p:cNvSpPr>
          <p:nvPr/>
        </p:nvSpPr>
        <p:spPr bwMode="auto">
          <a:xfrm>
            <a:off x="3495675" y="1497013"/>
            <a:ext cx="43767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buFont typeface="Arial" panose="020B0604020202020204" pitchFamily="34" charset="0"/>
              <a:buChar char="•"/>
            </a:pPr>
            <a:r>
              <a:rPr lang="en-US" altLang="en-US" sz="3600" b="1">
                <a:solidFill>
                  <a:srgbClr val="FF0000"/>
                </a:solidFill>
                <a:latin typeface="Tahoma" panose="020B0604030504040204" pitchFamily="34" charset="0"/>
                <a:cs typeface="Tahoma" panose="020B0604030504040204" pitchFamily="34" charset="0"/>
              </a:rPr>
              <a:t>No one is perfect.</a:t>
            </a:r>
          </a:p>
        </p:txBody>
      </p:sp>
      <p:sp>
        <p:nvSpPr>
          <p:cNvPr id="4" name="TextBox 3">
            <a:extLst>
              <a:ext uri="{FF2B5EF4-FFF2-40B4-BE49-F238E27FC236}">
                <a16:creationId xmlns:a16="http://schemas.microsoft.com/office/drawing/2014/main" id="{10F9692B-0BB0-45EA-9AC9-FA110063C50E}"/>
              </a:ext>
            </a:extLst>
          </p:cNvPr>
          <p:cNvSpPr txBox="1">
            <a:spLocks noChangeArrowheads="1"/>
          </p:cNvSpPr>
          <p:nvPr/>
        </p:nvSpPr>
        <p:spPr bwMode="auto">
          <a:xfrm>
            <a:off x="4024313" y="2182813"/>
            <a:ext cx="48196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buFont typeface="Arial" panose="020B0604020202020204" pitchFamily="34" charset="0"/>
              <a:buChar char="•"/>
            </a:pPr>
            <a:r>
              <a:rPr lang="en-US" altLang="en-US" sz="3600">
                <a:latin typeface="Tahoma" panose="020B0604030504040204" pitchFamily="34" charset="0"/>
                <a:cs typeface="Tahoma" panose="020B0604030504040204" pitchFamily="34" charset="0"/>
              </a:rPr>
              <a:t>If anyone is perfect….</a:t>
            </a:r>
            <a:endParaRPr lang="en-US" altLang="en-US" sz="3600" b="1">
              <a:solidFill>
                <a:srgbClr val="FF0000"/>
              </a:solidFill>
              <a:latin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D327FA8A-4C9D-413A-B83C-F96F751D9264}"/>
              </a:ext>
            </a:extLst>
          </p:cNvPr>
          <p:cNvSpPr txBox="1">
            <a:spLocks noChangeArrowheads="1"/>
          </p:cNvSpPr>
          <p:nvPr/>
        </p:nvSpPr>
        <p:spPr bwMode="auto">
          <a:xfrm>
            <a:off x="5319713" y="2640013"/>
            <a:ext cx="47847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3600">
                <a:latin typeface="Tahoma" panose="020B0604030504040204" pitchFamily="34" charset="0"/>
                <a:cs typeface="Tahoma" panose="020B0604030504040204" pitchFamily="34" charset="0"/>
              </a:rPr>
              <a:t>Don’t hold your breath</a:t>
            </a:r>
            <a:endParaRPr lang="en-US" altLang="en-US" sz="3600" b="1">
              <a:solidFill>
                <a:srgbClr val="FF0000"/>
              </a:solidFill>
              <a:latin typeface="Tahoma" panose="020B0604030504040204" pitchFamily="34" charset="0"/>
              <a:cs typeface="Tahoma" panose="020B0604030504040204" pitchFamily="34" charset="0"/>
            </a:endParaRPr>
          </a:p>
        </p:txBody>
      </p:sp>
      <p:sp>
        <p:nvSpPr>
          <p:cNvPr id="8" name="TextBox 7">
            <a:extLst>
              <a:ext uri="{FF2B5EF4-FFF2-40B4-BE49-F238E27FC236}">
                <a16:creationId xmlns:a16="http://schemas.microsoft.com/office/drawing/2014/main" id="{23CD1674-4B8D-4460-BA62-321FCE82620A}"/>
              </a:ext>
            </a:extLst>
          </p:cNvPr>
          <p:cNvSpPr txBox="1">
            <a:spLocks noChangeArrowheads="1"/>
          </p:cNvSpPr>
          <p:nvPr/>
        </p:nvSpPr>
        <p:spPr bwMode="auto">
          <a:xfrm>
            <a:off x="4027488" y="3365500"/>
            <a:ext cx="39322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buFont typeface="Arial" panose="020B0604020202020204" pitchFamily="34" charset="0"/>
              <a:buChar char="•"/>
            </a:pPr>
            <a:r>
              <a:rPr lang="en-US" altLang="en-US" sz="3600">
                <a:latin typeface="Tahoma" panose="020B0604030504040204" pitchFamily="34" charset="0"/>
                <a:cs typeface="Tahoma" panose="020B0604030504040204" pitchFamily="34" charset="0"/>
              </a:rPr>
              <a:t>We are all human</a:t>
            </a:r>
            <a:endParaRPr lang="en-US" altLang="en-US" sz="3600" b="1">
              <a:solidFill>
                <a:srgbClr val="FF0000"/>
              </a:solidFill>
              <a:latin typeface="Tahoma" panose="020B0604030504040204" pitchFamily="34" charset="0"/>
              <a:cs typeface="Tahoma" panose="020B0604030504040204" pitchFamily="34" charset="0"/>
            </a:endParaRPr>
          </a:p>
        </p:txBody>
      </p:sp>
      <p:sp>
        <p:nvSpPr>
          <p:cNvPr id="10" name="TextBox 9">
            <a:extLst>
              <a:ext uri="{FF2B5EF4-FFF2-40B4-BE49-F238E27FC236}">
                <a16:creationId xmlns:a16="http://schemas.microsoft.com/office/drawing/2014/main" id="{6CAD7AEA-B5EA-4314-A456-ADB2E6A812BD}"/>
              </a:ext>
            </a:extLst>
          </p:cNvPr>
          <p:cNvSpPr txBox="1">
            <a:spLocks noChangeArrowheads="1"/>
          </p:cNvSpPr>
          <p:nvPr/>
        </p:nvSpPr>
        <p:spPr bwMode="auto">
          <a:xfrm>
            <a:off x="4029075" y="4183063"/>
            <a:ext cx="56435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buFont typeface="Arial" panose="020B0604020202020204" pitchFamily="34" charset="0"/>
              <a:buChar char="•"/>
            </a:pPr>
            <a:r>
              <a:rPr lang="en-US" altLang="en-US" sz="3600">
                <a:latin typeface="Tahoma" panose="020B0604030504040204" pitchFamily="34" charset="0"/>
                <a:cs typeface="Tahoma" panose="020B0604030504040204" pitchFamily="34" charset="0"/>
              </a:rPr>
              <a:t>We all have strengths and</a:t>
            </a:r>
          </a:p>
          <a:p>
            <a:pPr algn="ctr"/>
            <a:r>
              <a:rPr lang="en-US" altLang="en-US" sz="3600" b="1">
                <a:latin typeface="Tahoma" panose="020B0604030504040204" pitchFamily="34" charset="0"/>
                <a:cs typeface="Tahoma" panose="020B0604030504040204" pitchFamily="34" charset="0"/>
              </a:rPr>
              <a:t>WEAKNESSES</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8" grpId="0"/>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3">
            <a:extLst>
              <a:ext uri="{FF2B5EF4-FFF2-40B4-BE49-F238E27FC236}">
                <a16:creationId xmlns:a16="http://schemas.microsoft.com/office/drawing/2014/main" id="{6F57BD12-FD1D-4D8F-9F09-423FDCA6E9AD}"/>
              </a:ext>
            </a:extLst>
          </p:cNvPr>
          <p:cNvSpPr txBox="1">
            <a:spLocks noChangeArrowheads="1"/>
          </p:cNvSpPr>
          <p:nvPr/>
        </p:nvSpPr>
        <p:spPr bwMode="auto">
          <a:xfrm>
            <a:off x="3300413" y="2438400"/>
            <a:ext cx="5640387"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4000" b="1">
                <a:solidFill>
                  <a:srgbClr val="FF0000"/>
                </a:solidFill>
                <a:latin typeface="Tahoma" panose="020B0604030504040204" pitchFamily="34" charset="0"/>
                <a:cs typeface="Tahoma" panose="020B0604030504040204" pitchFamily="34" charset="0"/>
              </a:rPr>
              <a:t>What we need is a </a:t>
            </a:r>
          </a:p>
          <a:p>
            <a:pPr algn="ctr"/>
            <a:r>
              <a:rPr lang="en-US" altLang="en-US" sz="4000" b="1">
                <a:solidFill>
                  <a:srgbClr val="FF0000"/>
                </a:solidFill>
                <a:latin typeface="Tahoma" panose="020B0604030504040204" pitchFamily="34" charset="0"/>
                <a:cs typeface="Tahoma" panose="020B0604030504040204" pitchFamily="34" charset="0"/>
              </a:rPr>
              <a:t>Complimentary Team</a:t>
            </a:r>
          </a:p>
        </p:txBody>
      </p:sp>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136682D-F88C-4E5B-9B0C-131101E1EA34}"/>
              </a:ext>
            </a:extLst>
          </p:cNvPr>
          <p:cNvSpPr>
            <a:spLocks noChangeArrowheads="1"/>
          </p:cNvSpPr>
          <p:nvPr/>
        </p:nvSpPr>
        <p:spPr bwMode="auto">
          <a:xfrm>
            <a:off x="2349500" y="5211763"/>
            <a:ext cx="206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lt-LT" altLang="lv-LV" b="1">
              <a:ea typeface="MS PGothic" panose="020B0600070205080204" pitchFamily="34" charset="-128"/>
            </a:endParaRPr>
          </a:p>
        </p:txBody>
      </p:sp>
      <p:sp>
        <p:nvSpPr>
          <p:cNvPr id="77" name="Rectangle 4">
            <a:extLst>
              <a:ext uri="{FF2B5EF4-FFF2-40B4-BE49-F238E27FC236}">
                <a16:creationId xmlns:a16="http://schemas.microsoft.com/office/drawing/2014/main" id="{06E3D875-CCED-4887-B24C-E54D8128B04A}"/>
              </a:ext>
            </a:extLst>
          </p:cNvPr>
          <p:cNvSpPr txBox="1">
            <a:spLocks noChangeArrowheads="1"/>
          </p:cNvSpPr>
          <p:nvPr/>
        </p:nvSpPr>
        <p:spPr bwMode="auto">
          <a:xfrm>
            <a:off x="1790700" y="2543175"/>
            <a:ext cx="1725613" cy="379413"/>
          </a:xfrm>
          <a:prstGeom prst="rect">
            <a:avLst/>
          </a:prstGeom>
          <a:solidFill>
            <a:srgbClr val="FFFFFF"/>
          </a:solidFill>
          <a:ln>
            <a:miter lim="800000"/>
            <a:headEnd/>
            <a:tailEnd/>
          </a:ln>
        </p:spPr>
        <p:txBody>
          <a:bodyPr/>
          <a:lstStyle>
            <a:lvl1pPr algn="r" rtl="0" eaLnBrk="0" fontAlgn="base" hangingPunct="0">
              <a:spcBef>
                <a:spcPct val="0"/>
              </a:spcBef>
              <a:spcAft>
                <a:spcPct val="0"/>
              </a:spcAft>
              <a:defRPr sz="4000">
                <a:solidFill>
                  <a:schemeClr val="accent2"/>
                </a:solidFill>
                <a:latin typeface="+mj-lt"/>
                <a:ea typeface="+mj-ea"/>
                <a:cs typeface="+mj-cs"/>
              </a:defRPr>
            </a:lvl1pPr>
            <a:lvl2pPr algn="r" rtl="0" eaLnBrk="0" fontAlgn="base" hangingPunct="0">
              <a:spcBef>
                <a:spcPct val="0"/>
              </a:spcBef>
              <a:spcAft>
                <a:spcPct val="0"/>
              </a:spcAft>
              <a:defRPr sz="4000">
                <a:solidFill>
                  <a:schemeClr val="accent2"/>
                </a:solidFill>
                <a:latin typeface="Arial" charset="0"/>
              </a:defRPr>
            </a:lvl2pPr>
            <a:lvl3pPr algn="r" rtl="0" eaLnBrk="0" fontAlgn="base" hangingPunct="0">
              <a:spcBef>
                <a:spcPct val="0"/>
              </a:spcBef>
              <a:spcAft>
                <a:spcPct val="0"/>
              </a:spcAft>
              <a:defRPr sz="4000">
                <a:solidFill>
                  <a:schemeClr val="accent2"/>
                </a:solidFill>
                <a:latin typeface="Arial" charset="0"/>
              </a:defRPr>
            </a:lvl3pPr>
            <a:lvl4pPr algn="r" rtl="0" eaLnBrk="0" fontAlgn="base" hangingPunct="0">
              <a:spcBef>
                <a:spcPct val="0"/>
              </a:spcBef>
              <a:spcAft>
                <a:spcPct val="0"/>
              </a:spcAft>
              <a:defRPr sz="4000">
                <a:solidFill>
                  <a:schemeClr val="accent2"/>
                </a:solidFill>
                <a:latin typeface="Arial" charset="0"/>
              </a:defRPr>
            </a:lvl4pPr>
            <a:lvl5pPr algn="r" rtl="0" eaLnBrk="0" fontAlgn="base" hangingPunct="0">
              <a:spcBef>
                <a:spcPct val="0"/>
              </a:spcBef>
              <a:spcAft>
                <a:spcPct val="0"/>
              </a:spcAft>
              <a:defRPr sz="4000">
                <a:solidFill>
                  <a:schemeClr val="accent2"/>
                </a:solidFill>
                <a:latin typeface="Arial" charset="0"/>
              </a:defRPr>
            </a:lvl5pPr>
            <a:lvl6pPr marL="457200" algn="r" rtl="0" eaLnBrk="0" fontAlgn="base" hangingPunct="0">
              <a:spcBef>
                <a:spcPct val="0"/>
              </a:spcBef>
              <a:spcAft>
                <a:spcPct val="0"/>
              </a:spcAft>
              <a:defRPr sz="4000">
                <a:solidFill>
                  <a:schemeClr val="accent2"/>
                </a:solidFill>
                <a:latin typeface="Arial" charset="0"/>
              </a:defRPr>
            </a:lvl6pPr>
            <a:lvl7pPr marL="914400" algn="r" rtl="0" eaLnBrk="0" fontAlgn="base" hangingPunct="0">
              <a:spcBef>
                <a:spcPct val="0"/>
              </a:spcBef>
              <a:spcAft>
                <a:spcPct val="0"/>
              </a:spcAft>
              <a:defRPr sz="4000">
                <a:solidFill>
                  <a:schemeClr val="accent2"/>
                </a:solidFill>
                <a:latin typeface="Arial" charset="0"/>
              </a:defRPr>
            </a:lvl7pPr>
            <a:lvl8pPr marL="1371600" algn="r" rtl="0" eaLnBrk="0" fontAlgn="base" hangingPunct="0">
              <a:spcBef>
                <a:spcPct val="0"/>
              </a:spcBef>
              <a:spcAft>
                <a:spcPct val="0"/>
              </a:spcAft>
              <a:defRPr sz="4000">
                <a:solidFill>
                  <a:schemeClr val="accent2"/>
                </a:solidFill>
                <a:latin typeface="Arial" charset="0"/>
              </a:defRPr>
            </a:lvl8pPr>
            <a:lvl9pPr marL="1828800" algn="r" rtl="0" eaLnBrk="0" fontAlgn="base" hangingPunct="0">
              <a:spcBef>
                <a:spcPct val="0"/>
              </a:spcBef>
              <a:spcAft>
                <a:spcPct val="0"/>
              </a:spcAft>
              <a:defRPr sz="4000">
                <a:solidFill>
                  <a:schemeClr val="accent2"/>
                </a:solidFill>
                <a:latin typeface="Arial" charset="0"/>
              </a:defRPr>
            </a:lvl9pPr>
          </a:lstStyle>
          <a:p>
            <a:pPr>
              <a:defRPr/>
            </a:pPr>
            <a:r>
              <a:rPr lang="en-US" sz="2400" b="1" kern="0" dirty="0">
                <a:solidFill>
                  <a:schemeClr val="tx1"/>
                </a:solidFill>
                <a:effectLst>
                  <a:outerShdw blurRad="38100" dist="38100" dir="2700000" algn="tl">
                    <a:srgbClr val="C0C0C0"/>
                  </a:outerShdw>
                </a:effectLst>
                <a:latin typeface="Tahoma" pitchFamily="-111" charset="0"/>
                <a:ea typeface="ＭＳ Ｐゴシック" pitchFamily="-111" charset="-128"/>
              </a:rPr>
              <a:t>SUCCESS</a:t>
            </a:r>
          </a:p>
        </p:txBody>
      </p:sp>
      <p:sp>
        <p:nvSpPr>
          <p:cNvPr id="78" name="Rectangle 6">
            <a:extLst>
              <a:ext uri="{FF2B5EF4-FFF2-40B4-BE49-F238E27FC236}">
                <a16:creationId xmlns:a16="http://schemas.microsoft.com/office/drawing/2014/main" id="{FE8CDFD3-B728-4B71-974A-5F839A3F93D7}"/>
              </a:ext>
            </a:extLst>
          </p:cNvPr>
          <p:cNvSpPr>
            <a:spLocks noChangeArrowheads="1"/>
          </p:cNvSpPr>
          <p:nvPr/>
        </p:nvSpPr>
        <p:spPr bwMode="auto">
          <a:xfrm>
            <a:off x="4211638" y="1331913"/>
            <a:ext cx="2382837" cy="606425"/>
          </a:xfrm>
          <a:prstGeom prst="rect">
            <a:avLst/>
          </a:prstGeom>
          <a:noFill/>
          <a:ln w="9525">
            <a:noFill/>
            <a:miter lim="800000"/>
            <a:headEnd/>
            <a:tailEnd/>
          </a:ln>
          <a:effectLst/>
        </p:spPr>
        <p:txBody>
          <a:bodyPr lIns="92075" tIns="46038" rIns="92075" bIns="46038" anchor="ctr"/>
          <a:lstStyle/>
          <a:p>
            <a:pPr>
              <a:defRPr/>
            </a:pPr>
            <a:r>
              <a:rPr lang="en-US" sz="2200" dirty="0">
                <a:solidFill>
                  <a:schemeClr val="bg2">
                    <a:lumMod val="50000"/>
                  </a:schemeClr>
                </a:solidFill>
                <a:effectLst>
                  <a:outerShdw blurRad="38100" dist="38100" dir="2700000" algn="tl">
                    <a:srgbClr val="C0C0C0"/>
                  </a:outerShdw>
                </a:effectLst>
                <a:latin typeface="Tahoma" pitchFamily="-111" charset="0"/>
                <a:ea typeface="ＭＳ Ｐゴシック" pitchFamily="-111" charset="-128"/>
              </a:rPr>
              <a:t>Opportunities</a:t>
            </a:r>
          </a:p>
        </p:txBody>
      </p:sp>
      <p:sp>
        <p:nvSpPr>
          <p:cNvPr id="79" name="Rectangle 8">
            <a:extLst>
              <a:ext uri="{FF2B5EF4-FFF2-40B4-BE49-F238E27FC236}">
                <a16:creationId xmlns:a16="http://schemas.microsoft.com/office/drawing/2014/main" id="{AD7B26E2-35FD-4FA7-9ED4-699EF258B664}"/>
              </a:ext>
            </a:extLst>
          </p:cNvPr>
          <p:cNvSpPr>
            <a:spLocks noChangeArrowheads="1"/>
          </p:cNvSpPr>
          <p:nvPr/>
        </p:nvSpPr>
        <p:spPr bwMode="auto">
          <a:xfrm>
            <a:off x="5160963" y="2166938"/>
            <a:ext cx="3698875" cy="606425"/>
          </a:xfrm>
          <a:prstGeom prst="rect">
            <a:avLst/>
          </a:prstGeom>
          <a:noFill/>
          <a:ln w="9525">
            <a:noFill/>
            <a:miter lim="800000"/>
            <a:headEnd/>
            <a:tailEnd/>
          </a:ln>
          <a:effectLst/>
        </p:spPr>
        <p:txBody>
          <a:bodyPr lIns="92075" tIns="46038" rIns="92075" bIns="46038" anchor="ctr"/>
          <a:lstStyle/>
          <a:p>
            <a:pPr algn="ctr">
              <a:defRPr/>
            </a:pPr>
            <a:r>
              <a:rPr lang="en-US" sz="2400" dirty="0">
                <a:effectLst>
                  <a:outerShdw blurRad="38100" dist="38100" dir="2700000" algn="tl">
                    <a:srgbClr val="C0C0C0"/>
                  </a:outerShdw>
                </a:effectLst>
                <a:latin typeface="Tahoma" pitchFamily="-111" charset="0"/>
                <a:ea typeface="ＭＳ Ｐゴシック" pitchFamily="-111" charset="-128"/>
              </a:rPr>
              <a:t>External Integration</a:t>
            </a:r>
          </a:p>
        </p:txBody>
      </p:sp>
      <p:sp>
        <p:nvSpPr>
          <p:cNvPr id="80" name="Rectangle 11">
            <a:extLst>
              <a:ext uri="{FF2B5EF4-FFF2-40B4-BE49-F238E27FC236}">
                <a16:creationId xmlns:a16="http://schemas.microsoft.com/office/drawing/2014/main" id="{556C85A6-D40B-488C-98F6-F45236ED2DF5}"/>
              </a:ext>
            </a:extLst>
          </p:cNvPr>
          <p:cNvSpPr>
            <a:spLocks noChangeArrowheads="1"/>
          </p:cNvSpPr>
          <p:nvPr/>
        </p:nvSpPr>
        <p:spPr bwMode="auto">
          <a:xfrm rot="10800000">
            <a:off x="5408613" y="2736850"/>
            <a:ext cx="3289300" cy="36513"/>
          </a:xfrm>
          <a:prstGeom prst="rect">
            <a:avLst/>
          </a:prstGeom>
          <a:solidFill>
            <a:srgbClr val="990033"/>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lt-LT" altLang="lv-LV" b="1">
              <a:ea typeface="MS PGothic" panose="020B0600070205080204" pitchFamily="34" charset="-128"/>
            </a:endParaRPr>
          </a:p>
        </p:txBody>
      </p:sp>
      <p:sp>
        <p:nvSpPr>
          <p:cNvPr id="81" name="Line 12">
            <a:extLst>
              <a:ext uri="{FF2B5EF4-FFF2-40B4-BE49-F238E27FC236}">
                <a16:creationId xmlns:a16="http://schemas.microsoft.com/office/drawing/2014/main" id="{7B4E3B72-54CF-4994-90EE-B06D5DF561C7}"/>
              </a:ext>
            </a:extLst>
          </p:cNvPr>
          <p:cNvSpPr>
            <a:spLocks noChangeShapeType="1"/>
          </p:cNvSpPr>
          <p:nvPr/>
        </p:nvSpPr>
        <p:spPr bwMode="auto">
          <a:xfrm>
            <a:off x="3598863" y="2725738"/>
            <a:ext cx="161925"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2" name="Line 13">
            <a:extLst>
              <a:ext uri="{FF2B5EF4-FFF2-40B4-BE49-F238E27FC236}">
                <a16:creationId xmlns:a16="http://schemas.microsoft.com/office/drawing/2014/main" id="{38DAEE33-A586-4FDF-B6FF-E88B11D9B3F2}"/>
              </a:ext>
            </a:extLst>
          </p:cNvPr>
          <p:cNvSpPr>
            <a:spLocks noChangeShapeType="1"/>
          </p:cNvSpPr>
          <p:nvPr/>
        </p:nvSpPr>
        <p:spPr bwMode="auto">
          <a:xfrm>
            <a:off x="3598863" y="2798763"/>
            <a:ext cx="161925"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3" name="Rectangle 15">
            <a:extLst>
              <a:ext uri="{FF2B5EF4-FFF2-40B4-BE49-F238E27FC236}">
                <a16:creationId xmlns:a16="http://schemas.microsoft.com/office/drawing/2014/main" id="{9A92B462-0BE7-4557-AFC8-2F330DDF4FFF}"/>
              </a:ext>
            </a:extLst>
          </p:cNvPr>
          <p:cNvSpPr>
            <a:spLocks noChangeArrowheads="1"/>
          </p:cNvSpPr>
          <p:nvPr/>
        </p:nvSpPr>
        <p:spPr bwMode="auto">
          <a:xfrm>
            <a:off x="5160963" y="2697163"/>
            <a:ext cx="3783012" cy="606425"/>
          </a:xfrm>
          <a:prstGeom prst="rect">
            <a:avLst/>
          </a:prstGeom>
          <a:noFill/>
          <a:ln w="9525">
            <a:noFill/>
            <a:miter lim="800000"/>
            <a:headEnd/>
            <a:tailEnd/>
          </a:ln>
          <a:effectLst/>
        </p:spPr>
        <p:txBody>
          <a:bodyPr lIns="92075" tIns="46038" rIns="92075" bIns="46038" anchor="ctr"/>
          <a:lstStyle/>
          <a:p>
            <a:pPr algn="ctr">
              <a:defRPr/>
            </a:pPr>
            <a:r>
              <a:rPr lang="en-US" sz="2400" dirty="0">
                <a:effectLst>
                  <a:outerShdw blurRad="38100" dist="38100" dir="2700000" algn="tl">
                    <a:srgbClr val="C0C0C0"/>
                  </a:outerShdw>
                </a:effectLst>
                <a:latin typeface="Tahoma" pitchFamily="-111" charset="0"/>
                <a:ea typeface="ＭＳ Ｐゴシック" pitchFamily="-111" charset="-128"/>
              </a:rPr>
              <a:t>Internal Disintegration</a:t>
            </a:r>
          </a:p>
        </p:txBody>
      </p:sp>
      <p:sp>
        <p:nvSpPr>
          <p:cNvPr id="84" name="Text Box 16">
            <a:extLst>
              <a:ext uri="{FF2B5EF4-FFF2-40B4-BE49-F238E27FC236}">
                <a16:creationId xmlns:a16="http://schemas.microsoft.com/office/drawing/2014/main" id="{4E824EA4-6370-4026-BB42-A3E2D341A50E}"/>
              </a:ext>
            </a:extLst>
          </p:cNvPr>
          <p:cNvSpPr txBox="1">
            <a:spLocks noChangeArrowheads="1"/>
          </p:cNvSpPr>
          <p:nvPr/>
        </p:nvSpPr>
        <p:spPr bwMode="auto">
          <a:xfrm>
            <a:off x="3925888" y="2393950"/>
            <a:ext cx="576262" cy="609600"/>
          </a:xfrm>
          <a:prstGeom prst="rect">
            <a:avLst/>
          </a:prstGeom>
          <a:noFill/>
          <a:ln w="12700">
            <a:noFill/>
            <a:miter lim="800000"/>
            <a:headEnd type="none" w="sm" len="sm"/>
            <a:tailEnd type="none" w="sm" len="sm"/>
          </a:ln>
          <a:effectLst/>
        </p:spPr>
        <p:txBody>
          <a:bodyPr>
            <a:spAutoFit/>
          </a:bodyPr>
          <a:lstStyle/>
          <a:p>
            <a:pPr>
              <a:spcBef>
                <a:spcPct val="50000"/>
              </a:spcBef>
              <a:defRPr/>
            </a:pPr>
            <a:r>
              <a:rPr lang="en-US" sz="3400" i="1">
                <a:effectLst>
                  <a:outerShdw blurRad="38100" dist="38100" dir="2700000" algn="tl">
                    <a:srgbClr val="C0C0C0"/>
                  </a:outerShdw>
                </a:effectLst>
                <a:latin typeface="Tahoma" pitchFamily="-111" charset="0"/>
                <a:ea typeface="ＭＳ Ｐゴシック" pitchFamily="-111" charset="-128"/>
              </a:rPr>
              <a:t>f</a:t>
            </a:r>
          </a:p>
        </p:txBody>
      </p:sp>
      <p:sp>
        <p:nvSpPr>
          <p:cNvPr id="85" name="Rectangle 19">
            <a:extLst>
              <a:ext uri="{FF2B5EF4-FFF2-40B4-BE49-F238E27FC236}">
                <a16:creationId xmlns:a16="http://schemas.microsoft.com/office/drawing/2014/main" id="{ED47482F-1AF7-4A98-AB5B-17D217651CD0}"/>
              </a:ext>
            </a:extLst>
          </p:cNvPr>
          <p:cNvSpPr>
            <a:spLocks noChangeArrowheads="1"/>
          </p:cNvSpPr>
          <p:nvPr/>
        </p:nvSpPr>
        <p:spPr bwMode="auto">
          <a:xfrm>
            <a:off x="7654925" y="1331913"/>
            <a:ext cx="2382838" cy="606425"/>
          </a:xfrm>
          <a:prstGeom prst="rect">
            <a:avLst/>
          </a:prstGeom>
          <a:noFill/>
          <a:ln w="9525">
            <a:noFill/>
            <a:miter lim="800000"/>
            <a:headEnd/>
            <a:tailEnd/>
          </a:ln>
          <a:effectLst/>
        </p:spPr>
        <p:txBody>
          <a:bodyPr lIns="92075" tIns="46038" rIns="92075" bIns="46038" anchor="ctr"/>
          <a:lstStyle/>
          <a:p>
            <a:pPr>
              <a:defRPr/>
            </a:pPr>
            <a:r>
              <a:rPr lang="en-US" sz="2200">
                <a:solidFill>
                  <a:schemeClr val="bg2">
                    <a:lumMod val="50000"/>
                  </a:schemeClr>
                </a:solidFill>
                <a:effectLst>
                  <a:outerShdw blurRad="38100" dist="38100" dir="2700000" algn="tl">
                    <a:srgbClr val="C0C0C0"/>
                  </a:outerShdw>
                </a:effectLst>
                <a:latin typeface="Tahoma" pitchFamily="-111" charset="0"/>
                <a:ea typeface="ＭＳ Ｐゴシック" pitchFamily="-111" charset="-128"/>
              </a:rPr>
              <a:t>Capabilities</a:t>
            </a:r>
          </a:p>
        </p:txBody>
      </p:sp>
      <p:sp>
        <p:nvSpPr>
          <p:cNvPr id="86" name="Line 20">
            <a:extLst>
              <a:ext uri="{FF2B5EF4-FFF2-40B4-BE49-F238E27FC236}">
                <a16:creationId xmlns:a16="http://schemas.microsoft.com/office/drawing/2014/main" id="{063D2D87-88A0-43FB-A335-EC475AB513D2}"/>
              </a:ext>
            </a:extLst>
          </p:cNvPr>
          <p:cNvSpPr>
            <a:spLocks noChangeShapeType="1"/>
          </p:cNvSpPr>
          <p:nvPr/>
        </p:nvSpPr>
        <p:spPr bwMode="auto">
          <a:xfrm>
            <a:off x="5572125" y="1862138"/>
            <a:ext cx="493713" cy="379412"/>
          </a:xfrm>
          <a:prstGeom prst="line">
            <a:avLst/>
          </a:prstGeom>
          <a:noFill/>
          <a:ln w="19050">
            <a:solidFill>
              <a:srgbClr val="990033"/>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7" name="Line 21">
            <a:extLst>
              <a:ext uri="{FF2B5EF4-FFF2-40B4-BE49-F238E27FC236}">
                <a16:creationId xmlns:a16="http://schemas.microsoft.com/office/drawing/2014/main" id="{8BA64CBE-7DEF-449B-8BA2-A77CE789CB08}"/>
              </a:ext>
            </a:extLst>
          </p:cNvPr>
          <p:cNvSpPr>
            <a:spLocks noChangeShapeType="1"/>
          </p:cNvSpPr>
          <p:nvPr/>
        </p:nvSpPr>
        <p:spPr bwMode="auto">
          <a:xfrm rot="5856031">
            <a:off x="7878762" y="1809751"/>
            <a:ext cx="455613" cy="411162"/>
          </a:xfrm>
          <a:prstGeom prst="line">
            <a:avLst/>
          </a:prstGeom>
          <a:noFill/>
          <a:ln w="19050">
            <a:solidFill>
              <a:srgbClr val="990033"/>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8" name="AutoShape 25">
            <a:extLst>
              <a:ext uri="{FF2B5EF4-FFF2-40B4-BE49-F238E27FC236}">
                <a16:creationId xmlns:a16="http://schemas.microsoft.com/office/drawing/2014/main" id="{073831B9-CD15-4907-9023-D381AF5582E4}"/>
              </a:ext>
            </a:extLst>
          </p:cNvPr>
          <p:cNvSpPr>
            <a:spLocks/>
          </p:cNvSpPr>
          <p:nvPr/>
        </p:nvSpPr>
        <p:spPr bwMode="auto">
          <a:xfrm>
            <a:off x="4749800" y="2268538"/>
            <a:ext cx="411163" cy="996950"/>
          </a:xfrm>
          <a:prstGeom prst="leftBrace">
            <a:avLst>
              <a:gd name="adj1" fmla="val 13504"/>
              <a:gd name="adj2" fmla="val 50000"/>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lt-LT" altLang="lv-LV" b="1">
              <a:ea typeface="MS PGothic" panose="020B0600070205080204" pitchFamily="34" charset="-128"/>
            </a:endParaRPr>
          </a:p>
        </p:txBody>
      </p:sp>
      <p:sp>
        <p:nvSpPr>
          <p:cNvPr id="89" name="AutoShape 26">
            <a:extLst>
              <a:ext uri="{FF2B5EF4-FFF2-40B4-BE49-F238E27FC236}">
                <a16:creationId xmlns:a16="http://schemas.microsoft.com/office/drawing/2014/main" id="{8CEA01F8-8295-4405-B3E4-512D90B04213}"/>
              </a:ext>
            </a:extLst>
          </p:cNvPr>
          <p:cNvSpPr>
            <a:spLocks/>
          </p:cNvSpPr>
          <p:nvPr/>
        </p:nvSpPr>
        <p:spPr bwMode="auto">
          <a:xfrm>
            <a:off x="8859838" y="2274888"/>
            <a:ext cx="328612" cy="1030287"/>
          </a:xfrm>
          <a:prstGeom prst="rightBrace">
            <a:avLst>
              <a:gd name="adj1" fmla="val 19508"/>
              <a:gd name="adj2" fmla="val 50000"/>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lt-LT" altLang="lv-LV" b="1">
              <a:ea typeface="MS PGothic" panose="020B0600070205080204" pitchFamily="34" charset="-128"/>
            </a:endParaRPr>
          </a:p>
        </p:txBody>
      </p:sp>
      <p:cxnSp>
        <p:nvCxnSpPr>
          <p:cNvPr id="90" name="Straight Arrow Connector 89">
            <a:extLst>
              <a:ext uri="{FF2B5EF4-FFF2-40B4-BE49-F238E27FC236}">
                <a16:creationId xmlns:a16="http://schemas.microsoft.com/office/drawing/2014/main" id="{D3EF95B4-8445-4A94-84AB-16486C89563B}"/>
              </a:ext>
            </a:extLst>
          </p:cNvPr>
          <p:cNvCxnSpPr/>
          <p:nvPr/>
        </p:nvCxnSpPr>
        <p:spPr bwMode="auto">
          <a:xfrm flipV="1">
            <a:off x="7010400" y="3265488"/>
            <a:ext cx="0" cy="412750"/>
          </a:xfrm>
          <a:prstGeom prst="straightConnector1">
            <a:avLst/>
          </a:prstGeom>
          <a:ln w="15875">
            <a:solidFill>
              <a:schemeClr val="tx1"/>
            </a:solidFill>
            <a:headEnd type="none" w="sm" len="sm"/>
            <a:tailEnd type="triangle"/>
          </a:ln>
        </p:spPr>
        <p:style>
          <a:lnRef idx="1">
            <a:schemeClr val="dk1"/>
          </a:lnRef>
          <a:fillRef idx="0">
            <a:schemeClr val="dk1"/>
          </a:fillRef>
          <a:effectRef idx="0">
            <a:schemeClr val="dk1"/>
          </a:effectRef>
          <a:fontRef idx="minor">
            <a:schemeClr val="tx1"/>
          </a:fontRef>
        </p:style>
      </p:cxnSp>
      <p:sp>
        <p:nvSpPr>
          <p:cNvPr id="91" name="TextBox 90">
            <a:extLst>
              <a:ext uri="{FF2B5EF4-FFF2-40B4-BE49-F238E27FC236}">
                <a16:creationId xmlns:a16="http://schemas.microsoft.com/office/drawing/2014/main" id="{4FA4761F-449B-4C6D-A065-561E3E6FBADC}"/>
              </a:ext>
            </a:extLst>
          </p:cNvPr>
          <p:cNvSpPr txBox="1"/>
          <p:nvPr/>
        </p:nvSpPr>
        <p:spPr>
          <a:xfrm>
            <a:off x="4954588" y="3694113"/>
            <a:ext cx="4114800" cy="400050"/>
          </a:xfrm>
          <a:prstGeom prst="rect">
            <a:avLst/>
          </a:prstGeom>
          <a:noFill/>
        </p:spPr>
        <p:txBody>
          <a:bodyPr>
            <a:spAutoFit/>
          </a:bodyPr>
          <a:lstStyle/>
          <a:p>
            <a:pPr algn="ctr">
              <a:defRPr/>
            </a:pPr>
            <a:r>
              <a:rPr lang="en-US" dirty="0">
                <a:solidFill>
                  <a:srgbClr val="990033"/>
                </a:solidFill>
                <a:effectLst>
                  <a:outerShdw blurRad="38100" dist="38100" dir="2700000" algn="tl">
                    <a:srgbClr val="C0C0C0"/>
                  </a:outerShdw>
                </a:effectLst>
                <a:latin typeface="Tahoma" pitchFamily="-111" charset="0"/>
                <a:ea typeface="ＭＳ Ｐゴシック" pitchFamily="-111" charset="-128"/>
              </a:rPr>
              <a:t>Mutual Trust and Respect</a:t>
            </a:r>
          </a:p>
        </p:txBody>
      </p:sp>
      <p:cxnSp>
        <p:nvCxnSpPr>
          <p:cNvPr id="92" name="Straight Connector 91">
            <a:extLst>
              <a:ext uri="{FF2B5EF4-FFF2-40B4-BE49-F238E27FC236}">
                <a16:creationId xmlns:a16="http://schemas.microsoft.com/office/drawing/2014/main" id="{85F9920B-048A-417D-B6C9-374CD17FDD76}"/>
              </a:ext>
            </a:extLst>
          </p:cNvPr>
          <p:cNvCxnSpPr>
            <a:cxnSpLocks noChangeShapeType="1"/>
          </p:cNvCxnSpPr>
          <p:nvPr/>
        </p:nvCxnSpPr>
        <p:spPr bwMode="auto">
          <a:xfrm>
            <a:off x="5038725" y="4094163"/>
            <a:ext cx="3765550" cy="0"/>
          </a:xfrm>
          <a:prstGeom prst="line">
            <a:avLst/>
          </a:prstGeom>
          <a:noFill/>
          <a:ln w="1905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93" name="TextBox 92">
            <a:extLst>
              <a:ext uri="{FF2B5EF4-FFF2-40B4-BE49-F238E27FC236}">
                <a16:creationId xmlns:a16="http://schemas.microsoft.com/office/drawing/2014/main" id="{FC5DB20C-F010-4410-83A9-A549D0604072}"/>
              </a:ext>
            </a:extLst>
          </p:cNvPr>
          <p:cNvSpPr txBox="1"/>
          <p:nvPr/>
        </p:nvSpPr>
        <p:spPr>
          <a:xfrm>
            <a:off x="4349750" y="4405313"/>
            <a:ext cx="1309688" cy="922337"/>
          </a:xfrm>
          <a:prstGeom prst="rect">
            <a:avLst/>
          </a:prstGeom>
          <a:noFill/>
        </p:spPr>
        <p:txBody>
          <a:bodyPr>
            <a:spAutoFit/>
          </a:bodyPr>
          <a:lstStyle/>
          <a:p>
            <a:pPr algn="ctr">
              <a:defRPr/>
            </a:pPr>
            <a:r>
              <a:rPr lang="en-US" sz="1800" dirty="0">
                <a:solidFill>
                  <a:srgbClr val="990033"/>
                </a:solidFill>
                <a:effectLst>
                  <a:outerShdw blurRad="38100" dist="38100" dir="2700000" algn="tl">
                    <a:srgbClr val="C0C0C0"/>
                  </a:outerShdw>
                </a:effectLst>
                <a:latin typeface="Tahoma" pitchFamily="-111" charset="0"/>
                <a:ea typeface="ＭＳ Ｐゴシック" pitchFamily="-111" charset="-128"/>
              </a:rPr>
              <a:t>Vision</a:t>
            </a:r>
          </a:p>
          <a:p>
            <a:pPr algn="ctr">
              <a:defRPr/>
            </a:pPr>
            <a:r>
              <a:rPr lang="en-US" sz="1800" dirty="0">
                <a:solidFill>
                  <a:srgbClr val="990033"/>
                </a:solidFill>
                <a:effectLst>
                  <a:outerShdw blurRad="38100" dist="38100" dir="2700000" algn="tl">
                    <a:srgbClr val="C0C0C0"/>
                  </a:outerShdw>
                </a:effectLst>
                <a:latin typeface="Tahoma" pitchFamily="-111" charset="0"/>
                <a:ea typeface="ＭＳ Ｐゴシック" pitchFamily="-111" charset="-128"/>
              </a:rPr>
              <a:t>Mission</a:t>
            </a:r>
          </a:p>
          <a:p>
            <a:pPr algn="ctr">
              <a:defRPr/>
            </a:pPr>
            <a:r>
              <a:rPr lang="en-US" sz="1800" dirty="0">
                <a:solidFill>
                  <a:srgbClr val="990033"/>
                </a:solidFill>
                <a:effectLst>
                  <a:outerShdw blurRad="38100" dist="38100" dir="2700000" algn="tl">
                    <a:srgbClr val="C0C0C0"/>
                  </a:outerShdw>
                </a:effectLst>
                <a:latin typeface="Tahoma" pitchFamily="-111" charset="0"/>
                <a:ea typeface="ＭＳ Ｐゴシック" pitchFamily="-111" charset="-128"/>
              </a:rPr>
              <a:t>Values</a:t>
            </a:r>
          </a:p>
        </p:txBody>
      </p:sp>
      <p:sp>
        <p:nvSpPr>
          <p:cNvPr id="94" name="TextBox 93">
            <a:extLst>
              <a:ext uri="{FF2B5EF4-FFF2-40B4-BE49-F238E27FC236}">
                <a16:creationId xmlns:a16="http://schemas.microsoft.com/office/drawing/2014/main" id="{FEEE6913-F9D7-4FA9-B11A-1EADEF67FEB1}"/>
              </a:ext>
            </a:extLst>
          </p:cNvPr>
          <p:cNvSpPr txBox="1"/>
          <p:nvPr/>
        </p:nvSpPr>
        <p:spPr>
          <a:xfrm>
            <a:off x="5495771" y="4405313"/>
            <a:ext cx="1423988" cy="369887"/>
          </a:xfrm>
          <a:prstGeom prst="rect">
            <a:avLst/>
          </a:prstGeom>
          <a:noFill/>
        </p:spPr>
        <p:txBody>
          <a:bodyPr>
            <a:spAutoFit/>
          </a:bodyPr>
          <a:lstStyle/>
          <a:p>
            <a:pPr algn="ctr">
              <a:defRPr/>
            </a:pPr>
            <a:r>
              <a:rPr lang="en-US" sz="1800" dirty="0">
                <a:solidFill>
                  <a:srgbClr val="990033"/>
                </a:solidFill>
                <a:effectLst>
                  <a:outerShdw blurRad="38100" dist="38100" dir="2700000" algn="tl">
                    <a:srgbClr val="C0C0C0"/>
                  </a:outerShdw>
                </a:effectLst>
                <a:latin typeface="Tahoma" pitchFamily="-111" charset="0"/>
                <a:ea typeface="ＭＳ Ｐゴシック" pitchFamily="-111" charset="-128"/>
              </a:rPr>
              <a:t>Structure</a:t>
            </a:r>
          </a:p>
        </p:txBody>
      </p:sp>
      <p:sp>
        <p:nvSpPr>
          <p:cNvPr id="95" name="TextBox 94">
            <a:extLst>
              <a:ext uri="{FF2B5EF4-FFF2-40B4-BE49-F238E27FC236}">
                <a16:creationId xmlns:a16="http://schemas.microsoft.com/office/drawing/2014/main" id="{A452813C-2D67-4D69-A425-68ADB0772651}"/>
              </a:ext>
            </a:extLst>
          </p:cNvPr>
          <p:cNvSpPr txBox="1"/>
          <p:nvPr/>
        </p:nvSpPr>
        <p:spPr>
          <a:xfrm>
            <a:off x="6746875" y="4414838"/>
            <a:ext cx="1608138" cy="646112"/>
          </a:xfrm>
          <a:prstGeom prst="rect">
            <a:avLst/>
          </a:prstGeom>
          <a:noFill/>
        </p:spPr>
        <p:txBody>
          <a:bodyPr>
            <a:spAutoFit/>
          </a:bodyPr>
          <a:lstStyle/>
          <a:p>
            <a:pPr algn="ctr">
              <a:defRPr/>
            </a:pPr>
            <a:r>
              <a:rPr lang="en-US" sz="1800" dirty="0">
                <a:solidFill>
                  <a:srgbClr val="990033"/>
                </a:solidFill>
                <a:effectLst>
                  <a:outerShdw blurRad="38100" dist="38100" dir="2700000" algn="tl">
                    <a:srgbClr val="C0C0C0"/>
                  </a:outerShdw>
                </a:effectLst>
                <a:latin typeface="Tahoma" pitchFamily="-111" charset="0"/>
                <a:ea typeface="ＭＳ Ｐゴシック" pitchFamily="-111" charset="-128"/>
              </a:rPr>
              <a:t>Management Process</a:t>
            </a:r>
          </a:p>
        </p:txBody>
      </p:sp>
      <p:sp>
        <p:nvSpPr>
          <p:cNvPr id="96" name="TextBox 95">
            <a:extLst>
              <a:ext uri="{FF2B5EF4-FFF2-40B4-BE49-F238E27FC236}">
                <a16:creationId xmlns:a16="http://schemas.microsoft.com/office/drawing/2014/main" id="{C313A148-5036-4F9F-A282-F59377354D49}"/>
              </a:ext>
            </a:extLst>
          </p:cNvPr>
          <p:cNvSpPr txBox="1"/>
          <p:nvPr/>
        </p:nvSpPr>
        <p:spPr>
          <a:xfrm>
            <a:off x="8066088" y="4405313"/>
            <a:ext cx="1293812" cy="369887"/>
          </a:xfrm>
          <a:prstGeom prst="rect">
            <a:avLst/>
          </a:prstGeom>
          <a:noFill/>
        </p:spPr>
        <p:txBody>
          <a:bodyPr>
            <a:spAutoFit/>
          </a:bodyPr>
          <a:lstStyle/>
          <a:p>
            <a:pPr algn="ctr">
              <a:defRPr/>
            </a:pPr>
            <a:r>
              <a:rPr lang="en-US" sz="1800" dirty="0">
                <a:solidFill>
                  <a:srgbClr val="990033"/>
                </a:solidFill>
                <a:effectLst>
                  <a:outerShdw blurRad="38100" dist="38100" dir="2700000" algn="tl">
                    <a:srgbClr val="C0C0C0"/>
                  </a:outerShdw>
                </a:effectLst>
                <a:latin typeface="Tahoma" pitchFamily="-111" charset="0"/>
                <a:ea typeface="ＭＳ Ｐゴシック" pitchFamily="-111" charset="-128"/>
              </a:rPr>
              <a:t>People</a:t>
            </a:r>
          </a:p>
        </p:txBody>
      </p:sp>
      <p:cxnSp>
        <p:nvCxnSpPr>
          <p:cNvPr id="97" name="Straight Arrow Connector 96">
            <a:extLst>
              <a:ext uri="{FF2B5EF4-FFF2-40B4-BE49-F238E27FC236}">
                <a16:creationId xmlns:a16="http://schemas.microsoft.com/office/drawing/2014/main" id="{8BE61E3F-1C34-4482-9630-EF15ED7BAE37}"/>
              </a:ext>
            </a:extLst>
          </p:cNvPr>
          <p:cNvCxnSpPr/>
          <p:nvPr/>
        </p:nvCxnSpPr>
        <p:spPr bwMode="auto">
          <a:xfrm flipV="1">
            <a:off x="5095875" y="4176713"/>
            <a:ext cx="0" cy="238125"/>
          </a:xfrm>
          <a:prstGeom prst="straightConnector1">
            <a:avLst/>
          </a:prstGeom>
          <a:ln w="15875">
            <a:solidFill>
              <a:schemeClr val="tx1"/>
            </a:solidFill>
            <a:headEnd type="none" w="sm" len="sm"/>
            <a:tailEnd type="triangle"/>
          </a:ln>
        </p:spPr>
        <p:style>
          <a:lnRef idx="1">
            <a:schemeClr val="dk1"/>
          </a:lnRef>
          <a:fillRef idx="0">
            <a:schemeClr val="dk1"/>
          </a:fillRef>
          <a:effectRef idx="0">
            <a:schemeClr val="dk1"/>
          </a:effectRef>
          <a:fontRef idx="minor">
            <a:schemeClr val="tx1"/>
          </a:fontRef>
        </p:style>
      </p:cxnSp>
      <p:cxnSp>
        <p:nvCxnSpPr>
          <p:cNvPr id="98" name="Straight Arrow Connector 97">
            <a:extLst>
              <a:ext uri="{FF2B5EF4-FFF2-40B4-BE49-F238E27FC236}">
                <a16:creationId xmlns:a16="http://schemas.microsoft.com/office/drawing/2014/main" id="{90DC32AB-54BA-45D4-8F94-57191C33D07F}"/>
              </a:ext>
            </a:extLst>
          </p:cNvPr>
          <p:cNvCxnSpPr/>
          <p:nvPr/>
        </p:nvCxnSpPr>
        <p:spPr bwMode="auto">
          <a:xfrm flipV="1">
            <a:off x="6300634" y="4176713"/>
            <a:ext cx="0" cy="238125"/>
          </a:xfrm>
          <a:prstGeom prst="straightConnector1">
            <a:avLst/>
          </a:prstGeom>
          <a:ln w="15875">
            <a:solidFill>
              <a:schemeClr val="tx1"/>
            </a:solidFill>
            <a:headEnd type="none" w="sm" len="sm"/>
            <a:tailEnd type="triangle"/>
          </a:ln>
        </p:spPr>
        <p:style>
          <a:lnRef idx="1">
            <a:schemeClr val="dk1"/>
          </a:lnRef>
          <a:fillRef idx="0">
            <a:schemeClr val="dk1"/>
          </a:fillRef>
          <a:effectRef idx="0">
            <a:schemeClr val="dk1"/>
          </a:effectRef>
          <a:fontRef idx="minor">
            <a:schemeClr val="tx1"/>
          </a:fontRef>
        </p:style>
      </p:cxnSp>
      <p:cxnSp>
        <p:nvCxnSpPr>
          <p:cNvPr id="99" name="Straight Arrow Connector 98">
            <a:extLst>
              <a:ext uri="{FF2B5EF4-FFF2-40B4-BE49-F238E27FC236}">
                <a16:creationId xmlns:a16="http://schemas.microsoft.com/office/drawing/2014/main" id="{882CDE2C-E5F0-4F08-85DE-BFC8002B58DE}"/>
              </a:ext>
            </a:extLst>
          </p:cNvPr>
          <p:cNvCxnSpPr/>
          <p:nvPr/>
        </p:nvCxnSpPr>
        <p:spPr bwMode="auto">
          <a:xfrm flipV="1">
            <a:off x="7532688" y="4176713"/>
            <a:ext cx="0" cy="238125"/>
          </a:xfrm>
          <a:prstGeom prst="straightConnector1">
            <a:avLst/>
          </a:prstGeom>
          <a:ln w="15875">
            <a:solidFill>
              <a:schemeClr val="tx1"/>
            </a:solidFill>
            <a:headEnd type="none" w="sm" len="sm"/>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99">
            <a:extLst>
              <a:ext uri="{FF2B5EF4-FFF2-40B4-BE49-F238E27FC236}">
                <a16:creationId xmlns:a16="http://schemas.microsoft.com/office/drawing/2014/main" id="{A4B740EE-591A-4937-B44B-5BD7640C1759}"/>
              </a:ext>
            </a:extLst>
          </p:cNvPr>
          <p:cNvCxnSpPr/>
          <p:nvPr/>
        </p:nvCxnSpPr>
        <p:spPr bwMode="auto">
          <a:xfrm flipV="1">
            <a:off x="8732838" y="4176713"/>
            <a:ext cx="0" cy="238125"/>
          </a:xfrm>
          <a:prstGeom prst="straightConnector1">
            <a:avLst/>
          </a:prstGeom>
          <a:ln w="15875">
            <a:solidFill>
              <a:schemeClr val="tx1"/>
            </a:solidFill>
            <a:headEnd type="none" w="sm" len="sm"/>
            <a:tailEnd type="triangle"/>
          </a:ln>
        </p:spPr>
        <p:style>
          <a:lnRef idx="1">
            <a:schemeClr val="dk1"/>
          </a:lnRef>
          <a:fillRef idx="0">
            <a:schemeClr val="dk1"/>
          </a:fillRef>
          <a:effectRef idx="0">
            <a:schemeClr val="dk1"/>
          </a:effectRef>
          <a:fontRef idx="minor">
            <a:schemeClr val="tx1"/>
          </a:fontRef>
        </p:style>
      </p:cxn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8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8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5"/>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9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9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9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4"/>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0"/>
                                          </p:stCondLst>
                                        </p:cTn>
                                        <p:tgtEl>
                                          <p:spTgt spid="9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3"/>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9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8" grpId="0"/>
      <p:bldP spid="79" grpId="0"/>
      <p:bldP spid="80" grpId="0" animBg="1"/>
      <p:bldP spid="83" grpId="0"/>
      <p:bldP spid="84" grpId="0"/>
      <p:bldP spid="85" grpId="0"/>
      <p:bldP spid="88" grpId="0" animBg="1"/>
      <p:bldP spid="89" grpId="0" animBg="1"/>
      <p:bldP spid="91" grpId="0"/>
      <p:bldP spid="93" grpId="0"/>
      <p:bldP spid="94" grpId="0"/>
      <p:bldP spid="95" grpId="0"/>
      <p:bldP spid="9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Box 3">
            <a:extLst>
              <a:ext uri="{FF2B5EF4-FFF2-40B4-BE49-F238E27FC236}">
                <a16:creationId xmlns:a16="http://schemas.microsoft.com/office/drawing/2014/main" id="{9F050F69-F88A-424A-9791-419F92D63BFA}"/>
              </a:ext>
            </a:extLst>
          </p:cNvPr>
          <p:cNvSpPr txBox="1">
            <a:spLocks noChangeArrowheads="1"/>
          </p:cNvSpPr>
          <p:nvPr/>
        </p:nvSpPr>
        <p:spPr bwMode="auto">
          <a:xfrm>
            <a:off x="3692525" y="990600"/>
            <a:ext cx="47450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4000">
                <a:latin typeface="Tahoma" panose="020B0604030504040204" pitchFamily="34" charset="0"/>
                <a:cs typeface="Tahoma" panose="020B0604030504040204" pitchFamily="34" charset="0"/>
              </a:rPr>
              <a:t> </a:t>
            </a:r>
            <a:r>
              <a:rPr lang="lv-LV" altLang="en-US" sz="4000">
                <a:latin typeface="Tahoma" panose="020B0604030504040204" pitchFamily="34" charset="0"/>
                <a:cs typeface="Tahoma" panose="020B0604030504040204" pitchFamily="34" charset="0"/>
              </a:rPr>
              <a:t>A good </a:t>
            </a:r>
            <a:r>
              <a:rPr lang="en-US" altLang="en-US" sz="4000">
                <a:latin typeface="Tahoma" panose="020B0604030504040204" pitchFamily="34" charset="0"/>
                <a:cs typeface="Tahoma" panose="020B0604030504040204" pitchFamily="34" charset="0"/>
              </a:rPr>
              <a:t>Manager</a:t>
            </a:r>
            <a:r>
              <a:rPr lang="lv-LV" altLang="en-US" sz="4000">
                <a:latin typeface="Tahoma" panose="020B0604030504040204" pitchFamily="34" charset="0"/>
                <a:cs typeface="Tahoma" panose="020B0604030504040204" pitchFamily="34" charset="0"/>
              </a:rPr>
              <a:t> is</a:t>
            </a:r>
            <a:r>
              <a:rPr lang="en-US" altLang="en-US" sz="4000">
                <a:latin typeface="Tahoma" panose="020B0604030504040204" pitchFamily="34" charset="0"/>
                <a:cs typeface="Tahoma" panose="020B0604030504040204" pitchFamily="34" charset="0"/>
              </a:rPr>
              <a:t>:</a:t>
            </a:r>
          </a:p>
        </p:txBody>
      </p:sp>
      <p:sp>
        <p:nvSpPr>
          <p:cNvPr id="40963" name="TextBox 4">
            <a:extLst>
              <a:ext uri="{FF2B5EF4-FFF2-40B4-BE49-F238E27FC236}">
                <a16:creationId xmlns:a16="http://schemas.microsoft.com/office/drawing/2014/main" id="{CA80EF49-1876-45E5-9895-EF43077BF652}"/>
              </a:ext>
            </a:extLst>
          </p:cNvPr>
          <p:cNvSpPr txBox="1">
            <a:spLocks noChangeArrowheads="1"/>
          </p:cNvSpPr>
          <p:nvPr/>
        </p:nvSpPr>
        <p:spPr bwMode="auto">
          <a:xfrm>
            <a:off x="2508250" y="1973263"/>
            <a:ext cx="7218363"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spcAft>
                <a:spcPts val="1200"/>
              </a:spcAft>
              <a:buFont typeface="Arial" panose="020B0604020202020204" pitchFamily="34" charset="0"/>
              <a:buChar char="•"/>
            </a:pPr>
            <a:r>
              <a:rPr lang="en-US" altLang="en-US" sz="3200">
                <a:latin typeface="Tahoma" panose="020B0604030504040204" pitchFamily="34" charset="0"/>
                <a:cs typeface="Tahoma" panose="020B0604030504040204" pitchFamily="34" charset="0"/>
              </a:rPr>
              <a:t>Able</a:t>
            </a:r>
            <a:r>
              <a:rPr lang="lv-LV" altLang="en-US" sz="3200">
                <a:latin typeface="Tahoma" panose="020B0604030504040204" pitchFamily="34" charset="0"/>
                <a:cs typeface="Tahoma" panose="020B0604030504040204" pitchFamily="34" charset="0"/>
              </a:rPr>
              <a:t> to </a:t>
            </a:r>
            <a:r>
              <a:rPr lang="en-US" altLang="en-US" sz="3200">
                <a:latin typeface="Tahoma" panose="020B0604030504040204" pitchFamily="34" charset="0"/>
                <a:cs typeface="Tahoma" panose="020B0604030504040204" pitchFamily="34" charset="0"/>
              </a:rPr>
              <a:t>perform all four roles with a strength in at least one</a:t>
            </a:r>
          </a:p>
          <a:p>
            <a:pPr>
              <a:spcAft>
                <a:spcPts val="1200"/>
              </a:spcAft>
              <a:buFont typeface="Arial" panose="020B0604020202020204" pitchFamily="34" charset="0"/>
              <a:buChar char="•"/>
            </a:pPr>
            <a:r>
              <a:rPr lang="en-US" altLang="en-US" sz="3200">
                <a:latin typeface="Tahoma" panose="020B0604030504040204" pitchFamily="34" charset="0"/>
                <a:cs typeface="Tahoma" panose="020B0604030504040204" pitchFamily="34" charset="0"/>
              </a:rPr>
              <a:t>Self-aware / self-critical</a:t>
            </a:r>
          </a:p>
          <a:p>
            <a:pPr>
              <a:spcAft>
                <a:spcPts val="1200"/>
              </a:spcAft>
              <a:buFont typeface="Arial" panose="020B0604020202020204" pitchFamily="34" charset="0"/>
              <a:buChar char="•"/>
            </a:pPr>
            <a:r>
              <a:rPr lang="en-US" altLang="en-US" sz="3200">
                <a:latin typeface="Tahoma" panose="020B0604030504040204" pitchFamily="34" charset="0"/>
                <a:cs typeface="Tahoma" panose="020B0604030504040204" pitchFamily="34" charset="0"/>
              </a:rPr>
              <a:t>Able to find people to compensate his/her role limitations</a:t>
            </a:r>
          </a:p>
          <a:p>
            <a:pPr>
              <a:spcAft>
                <a:spcPts val="1200"/>
              </a:spcAft>
              <a:buFont typeface="Arial" panose="020B0604020202020204" pitchFamily="34" charset="0"/>
              <a:buChar char="•"/>
            </a:pPr>
            <a:r>
              <a:rPr lang="en-US" altLang="en-US" sz="3200">
                <a:latin typeface="Tahoma" panose="020B0604030504040204" pitchFamily="34" charset="0"/>
                <a:cs typeface="Tahoma" panose="020B0604030504040204" pitchFamily="34" charset="0"/>
              </a:rPr>
              <a:t>Adept at understanding and using group conflict to align people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Box 1">
            <a:extLst>
              <a:ext uri="{FF2B5EF4-FFF2-40B4-BE49-F238E27FC236}">
                <a16:creationId xmlns:a16="http://schemas.microsoft.com/office/drawing/2014/main" id="{51E9DC2F-B69A-4BCC-9273-AD30F050E630}"/>
              </a:ext>
            </a:extLst>
          </p:cNvPr>
          <p:cNvSpPr txBox="1">
            <a:spLocks noChangeArrowheads="1"/>
          </p:cNvSpPr>
          <p:nvPr/>
        </p:nvSpPr>
        <p:spPr bwMode="auto">
          <a:xfrm>
            <a:off x="4867275" y="762000"/>
            <a:ext cx="2035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r>
              <a:rPr lang="en-US" altLang="en-US" sz="3600" b="1">
                <a:solidFill>
                  <a:srgbClr val="FF0000"/>
                </a:solidFill>
                <a:latin typeface="Tahoma" panose="020B0604030504040204" pitchFamily="34" charset="0"/>
                <a:cs typeface="Tahoma" panose="020B0604030504040204" pitchFamily="34" charset="0"/>
              </a:rPr>
              <a:t>Review:</a:t>
            </a:r>
          </a:p>
        </p:txBody>
      </p:sp>
      <p:sp>
        <p:nvSpPr>
          <p:cNvPr id="3" name="TextBox 2">
            <a:extLst>
              <a:ext uri="{FF2B5EF4-FFF2-40B4-BE49-F238E27FC236}">
                <a16:creationId xmlns:a16="http://schemas.microsoft.com/office/drawing/2014/main" id="{4B907731-29EA-4EC2-AAE3-8598D374E1A9}"/>
              </a:ext>
            </a:extLst>
          </p:cNvPr>
          <p:cNvSpPr txBox="1">
            <a:spLocks noChangeArrowheads="1"/>
          </p:cNvSpPr>
          <p:nvPr/>
        </p:nvSpPr>
        <p:spPr bwMode="auto">
          <a:xfrm>
            <a:off x="3657600" y="1371600"/>
            <a:ext cx="23098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buFont typeface="Arial" panose="020B0604020202020204" pitchFamily="34" charset="0"/>
              <a:buChar char="•"/>
            </a:pPr>
            <a:r>
              <a:rPr lang="en-US" altLang="en-US" sz="2800"/>
              <a:t>  </a:t>
            </a:r>
            <a:r>
              <a:rPr lang="en-US" altLang="en-US">
                <a:latin typeface="Tahoma" panose="020B0604030504040204" pitchFamily="34" charset="0"/>
                <a:cs typeface="Tahoma" panose="020B0604030504040204" pitchFamily="34" charset="0"/>
              </a:rPr>
              <a:t>Change is good.</a:t>
            </a:r>
          </a:p>
        </p:txBody>
      </p:sp>
      <p:sp>
        <p:nvSpPr>
          <p:cNvPr id="4" name="TextBox 3">
            <a:extLst>
              <a:ext uri="{FF2B5EF4-FFF2-40B4-BE49-F238E27FC236}">
                <a16:creationId xmlns:a16="http://schemas.microsoft.com/office/drawing/2014/main" id="{7F743D69-7892-40DA-8A11-DD4285AE73C4}"/>
              </a:ext>
            </a:extLst>
          </p:cNvPr>
          <p:cNvSpPr txBox="1">
            <a:spLocks noChangeArrowheads="1"/>
          </p:cNvSpPr>
          <p:nvPr/>
        </p:nvSpPr>
        <p:spPr bwMode="auto">
          <a:xfrm>
            <a:off x="3671888" y="1838325"/>
            <a:ext cx="45577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buFont typeface="Arial" panose="020B0604020202020204" pitchFamily="34" charset="0"/>
              <a:buChar char="•"/>
            </a:pPr>
            <a:r>
              <a:rPr lang="en-US" altLang="en-US" sz="2800"/>
              <a:t>  </a:t>
            </a:r>
            <a:r>
              <a:rPr lang="en-US" altLang="en-US">
                <a:latin typeface="Tahoma" panose="020B0604030504040204" pitchFamily="34" charset="0"/>
                <a:cs typeface="Tahoma" panose="020B0604030504040204" pitchFamily="34" charset="0"/>
              </a:rPr>
              <a:t>All Problems are also Opportunities</a:t>
            </a:r>
            <a:r>
              <a:rPr lang="en-US" altLang="en-US" sz="2800">
                <a:latin typeface="Tahoma" panose="020B0604030504040204" pitchFamily="34" charset="0"/>
                <a:cs typeface="Tahoma" panose="020B0604030504040204" pitchFamily="34" charset="0"/>
              </a:rPr>
              <a:t>.</a:t>
            </a:r>
          </a:p>
        </p:txBody>
      </p:sp>
      <p:sp>
        <p:nvSpPr>
          <p:cNvPr id="5" name="TextBox 4">
            <a:extLst>
              <a:ext uri="{FF2B5EF4-FFF2-40B4-BE49-F238E27FC236}">
                <a16:creationId xmlns:a16="http://schemas.microsoft.com/office/drawing/2014/main" id="{E894BAFD-9BBB-46BF-A1CA-F114AC0C94A4}"/>
              </a:ext>
            </a:extLst>
          </p:cNvPr>
          <p:cNvSpPr txBox="1">
            <a:spLocks noChangeArrowheads="1"/>
          </p:cNvSpPr>
          <p:nvPr/>
        </p:nvSpPr>
        <p:spPr bwMode="auto">
          <a:xfrm>
            <a:off x="3581400" y="2286000"/>
            <a:ext cx="45704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buFont typeface="Arial" panose="020B0604020202020204" pitchFamily="34" charset="0"/>
              <a:buChar char="•"/>
            </a:pPr>
            <a:r>
              <a:rPr lang="en-US" altLang="en-US" sz="2800">
                <a:latin typeface="Tahoma" panose="020B0604030504040204" pitchFamily="34" charset="0"/>
                <a:cs typeface="Tahoma" panose="020B0604030504040204" pitchFamily="34" charset="0"/>
              </a:rPr>
              <a:t> </a:t>
            </a:r>
            <a:r>
              <a:rPr lang="en-US" altLang="en-US">
                <a:latin typeface="Tahoma" panose="020B0604030504040204" pitchFamily="34" charset="0"/>
                <a:cs typeface="Tahoma" panose="020B0604030504040204" pitchFamily="34" charset="0"/>
              </a:rPr>
              <a:t>All Opportunities are also Problems.</a:t>
            </a:r>
          </a:p>
        </p:txBody>
      </p:sp>
      <p:sp>
        <p:nvSpPr>
          <p:cNvPr id="6" name="TextBox 5">
            <a:extLst>
              <a:ext uri="{FF2B5EF4-FFF2-40B4-BE49-F238E27FC236}">
                <a16:creationId xmlns:a16="http://schemas.microsoft.com/office/drawing/2014/main" id="{26E6D648-42B4-4490-8C31-B8BE664B621D}"/>
              </a:ext>
            </a:extLst>
          </p:cNvPr>
          <p:cNvSpPr txBox="1">
            <a:spLocks noChangeArrowheads="1"/>
          </p:cNvSpPr>
          <p:nvPr/>
        </p:nvSpPr>
        <p:spPr bwMode="auto">
          <a:xfrm>
            <a:off x="3657600" y="2819400"/>
            <a:ext cx="60563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buFont typeface="Arial" panose="020B0604020202020204" pitchFamily="34" charset="0"/>
              <a:buChar char="•"/>
            </a:pPr>
            <a:r>
              <a:rPr lang="en-US" altLang="en-US" sz="2800"/>
              <a:t> </a:t>
            </a:r>
            <a:r>
              <a:rPr lang="en-US" altLang="en-US">
                <a:latin typeface="Tahoma" panose="020B0604030504040204" pitchFamily="34" charset="0"/>
                <a:cs typeface="Tahoma" panose="020B0604030504040204" pitchFamily="34" charset="0"/>
              </a:rPr>
              <a:t>To Manage well, organizations need to perform all</a:t>
            </a:r>
          </a:p>
          <a:p>
            <a:r>
              <a:rPr lang="en-US" altLang="en-US" b="1">
                <a:solidFill>
                  <a:srgbClr val="FF0000"/>
                </a:solidFill>
                <a:latin typeface="Tahoma" panose="020B0604030504040204" pitchFamily="34" charset="0"/>
                <a:cs typeface="Tahoma" panose="020B0604030504040204" pitchFamily="34" charset="0"/>
              </a:rPr>
              <a:t>    (P)(A)(E)(I) </a:t>
            </a:r>
            <a:r>
              <a:rPr lang="en-US" altLang="en-US">
                <a:latin typeface="Tahoma" panose="020B0604030504040204" pitchFamily="34" charset="0"/>
                <a:cs typeface="Tahoma" panose="020B0604030504040204" pitchFamily="34" charset="0"/>
              </a:rPr>
              <a:t>roles at the same time.</a:t>
            </a:r>
          </a:p>
        </p:txBody>
      </p:sp>
      <p:sp>
        <p:nvSpPr>
          <p:cNvPr id="7" name="TextBox 6">
            <a:extLst>
              <a:ext uri="{FF2B5EF4-FFF2-40B4-BE49-F238E27FC236}">
                <a16:creationId xmlns:a16="http://schemas.microsoft.com/office/drawing/2014/main" id="{EAE708C0-D4A7-47AE-8C72-A3DB1CFD876B}"/>
              </a:ext>
            </a:extLst>
          </p:cNvPr>
          <p:cNvSpPr txBox="1">
            <a:spLocks noChangeArrowheads="1"/>
          </p:cNvSpPr>
          <p:nvPr/>
        </p:nvSpPr>
        <p:spPr bwMode="auto">
          <a:xfrm>
            <a:off x="3646488" y="3787775"/>
            <a:ext cx="59547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buFont typeface="Arial" panose="020B0604020202020204" pitchFamily="34" charset="0"/>
              <a:buChar char="•"/>
            </a:pPr>
            <a:r>
              <a:rPr lang="en-US" altLang="en-US"/>
              <a:t> </a:t>
            </a:r>
            <a:r>
              <a:rPr lang="en-US" altLang="en-US">
                <a:latin typeface="Tahoma" panose="020B0604030504040204" pitchFamily="34" charset="0"/>
                <a:cs typeface="Tahoma" panose="020B0604030504040204" pitchFamily="34" charset="0"/>
              </a:rPr>
              <a:t>No single individual can perform all </a:t>
            </a:r>
            <a:r>
              <a:rPr lang="en-US" altLang="en-US" b="1">
                <a:solidFill>
                  <a:srgbClr val="FF0000"/>
                </a:solidFill>
                <a:latin typeface="Tahoma" panose="020B0604030504040204" pitchFamily="34" charset="0"/>
                <a:cs typeface="Tahoma" panose="020B0604030504040204" pitchFamily="34" charset="0"/>
              </a:rPr>
              <a:t>(P)(A)(E)(I)</a:t>
            </a:r>
          </a:p>
          <a:p>
            <a:r>
              <a:rPr lang="en-US" altLang="en-US">
                <a:latin typeface="Tahoma" panose="020B0604030504040204" pitchFamily="34" charset="0"/>
                <a:cs typeface="Tahoma" panose="020B0604030504040204" pitchFamily="34" charset="0"/>
              </a:rPr>
              <a:t>   roles SIMULTANEOUSLY and excel in all of them. </a:t>
            </a:r>
          </a:p>
        </p:txBody>
      </p:sp>
      <p:sp>
        <p:nvSpPr>
          <p:cNvPr id="8" name="TextBox 7">
            <a:extLst>
              <a:ext uri="{FF2B5EF4-FFF2-40B4-BE49-F238E27FC236}">
                <a16:creationId xmlns:a16="http://schemas.microsoft.com/office/drawing/2014/main" id="{CC1B0D0D-1592-489B-97F7-4AE554D9D125}"/>
              </a:ext>
            </a:extLst>
          </p:cNvPr>
          <p:cNvSpPr txBox="1">
            <a:spLocks noChangeArrowheads="1"/>
          </p:cNvSpPr>
          <p:nvPr/>
        </p:nvSpPr>
        <p:spPr bwMode="auto">
          <a:xfrm>
            <a:off x="3214688" y="4552950"/>
            <a:ext cx="6800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buFont typeface="Arial" panose="020B0604020202020204" pitchFamily="34" charset="0"/>
              <a:buChar char="•"/>
            </a:pPr>
            <a:r>
              <a:rPr lang="en-US" altLang="en-US" b="1"/>
              <a:t>  </a:t>
            </a:r>
            <a:r>
              <a:rPr lang="en-US" altLang="en-US" b="1">
                <a:latin typeface="Tahoma" panose="020B0604030504040204" pitchFamily="34" charset="0"/>
                <a:cs typeface="Tahoma" panose="020B0604030504040204" pitchFamily="34" charset="0"/>
              </a:rPr>
              <a:t>Successful management is a Complimentary Team</a:t>
            </a:r>
          </a:p>
        </p:txBody>
      </p:sp>
      <p:sp>
        <p:nvSpPr>
          <p:cNvPr id="9" name="TextBox 8">
            <a:extLst>
              <a:ext uri="{FF2B5EF4-FFF2-40B4-BE49-F238E27FC236}">
                <a16:creationId xmlns:a16="http://schemas.microsoft.com/office/drawing/2014/main" id="{4CC10D41-F170-477C-8EA3-3CEE281D62CF}"/>
              </a:ext>
            </a:extLst>
          </p:cNvPr>
          <p:cNvSpPr txBox="1">
            <a:spLocks noChangeArrowheads="1"/>
          </p:cNvSpPr>
          <p:nvPr/>
        </p:nvSpPr>
        <p:spPr bwMode="auto">
          <a:xfrm>
            <a:off x="3581400" y="5162550"/>
            <a:ext cx="5510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buFont typeface="Arial" panose="020B0604020202020204" pitchFamily="34" charset="0"/>
              <a:buChar char="•"/>
            </a:pPr>
            <a:r>
              <a:rPr lang="en-US" altLang="en-US"/>
              <a:t>  </a:t>
            </a:r>
            <a:r>
              <a:rPr lang="en-US" altLang="en-US">
                <a:latin typeface="Tahoma" panose="020B0604030504040204" pitchFamily="34" charset="0"/>
                <a:cs typeface="Tahoma" panose="020B0604030504040204" pitchFamily="34" charset="0"/>
              </a:rPr>
              <a:t>Different Styles necessarily means CONFLICT</a:t>
            </a:r>
          </a:p>
        </p:txBody>
      </p:sp>
      <p:sp>
        <p:nvSpPr>
          <p:cNvPr id="10" name="TextBox 9">
            <a:extLst>
              <a:ext uri="{FF2B5EF4-FFF2-40B4-BE49-F238E27FC236}">
                <a16:creationId xmlns:a16="http://schemas.microsoft.com/office/drawing/2014/main" id="{90BB1FBB-FBD9-4684-8E14-89682B377996}"/>
              </a:ext>
            </a:extLst>
          </p:cNvPr>
          <p:cNvSpPr txBox="1">
            <a:spLocks noChangeArrowheads="1"/>
          </p:cNvSpPr>
          <p:nvPr/>
        </p:nvSpPr>
        <p:spPr bwMode="auto">
          <a:xfrm>
            <a:off x="3605213" y="5768975"/>
            <a:ext cx="61452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buFont typeface="Arial" panose="020B0604020202020204" pitchFamily="34" charset="0"/>
              <a:buChar char="•"/>
            </a:pPr>
            <a:r>
              <a:rPr lang="en-US" altLang="en-US" b="1"/>
              <a:t> </a:t>
            </a:r>
            <a:r>
              <a:rPr lang="en-US" altLang="en-US" b="1">
                <a:latin typeface="Tahoma" panose="020B0604030504040204" pitchFamily="34" charset="0"/>
                <a:cs typeface="Tahoma" panose="020B0604030504040204" pitchFamily="34" charset="0"/>
              </a:rPr>
              <a:t>To make Conflict Constructive </a:t>
            </a:r>
          </a:p>
          <a:p>
            <a:r>
              <a:rPr lang="en-US" altLang="en-US" b="1">
                <a:latin typeface="Tahoma" panose="020B0604030504040204" pitchFamily="34" charset="0"/>
                <a:cs typeface="Tahoma" panose="020B0604030504040204" pitchFamily="34" charset="0"/>
              </a:rPr>
              <a:t>		we need Mutual Trust &amp; Respect</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95240-CF55-4C14-B5BF-39985DE2B730}"/>
              </a:ext>
            </a:extLst>
          </p:cNvPr>
          <p:cNvSpPr>
            <a:spLocks noGrp="1"/>
          </p:cNvSpPr>
          <p:nvPr>
            <p:ph type="title"/>
          </p:nvPr>
        </p:nvSpPr>
        <p:spPr/>
        <p:txBody>
          <a:bodyPr/>
          <a:lstStyle/>
          <a:p>
            <a:endParaRPr lang="en-US"/>
          </a:p>
        </p:txBody>
      </p:sp>
      <p:sp>
        <p:nvSpPr>
          <p:cNvPr id="3" name="TextBox 2">
            <a:extLst>
              <a:ext uri="{FF2B5EF4-FFF2-40B4-BE49-F238E27FC236}">
                <a16:creationId xmlns:a16="http://schemas.microsoft.com/office/drawing/2014/main" id="{B3D7E38E-DDCB-407B-92EC-B18CF1BCF0DC}"/>
              </a:ext>
            </a:extLst>
          </p:cNvPr>
          <p:cNvSpPr txBox="1"/>
          <p:nvPr/>
        </p:nvSpPr>
        <p:spPr>
          <a:xfrm>
            <a:off x="1507214" y="2209800"/>
            <a:ext cx="9179115" cy="3046988"/>
          </a:xfrm>
          <a:prstGeom prst="rect">
            <a:avLst/>
          </a:prstGeom>
          <a:noFill/>
        </p:spPr>
        <p:txBody>
          <a:bodyPr wrap="none" rtlCol="0">
            <a:spAutoFit/>
          </a:bodyPr>
          <a:lstStyle/>
          <a:p>
            <a:pPr algn="ctr"/>
            <a:r>
              <a:rPr lang="en-US" sz="3200" dirty="0"/>
              <a:t>Thank You!</a:t>
            </a:r>
          </a:p>
          <a:p>
            <a:pPr algn="ctr"/>
            <a:endParaRPr lang="en-US" sz="3200" dirty="0"/>
          </a:p>
          <a:p>
            <a:pPr algn="ctr"/>
            <a:r>
              <a:rPr lang="en-US" sz="3200" dirty="0"/>
              <a:t>Next week case</a:t>
            </a:r>
          </a:p>
          <a:p>
            <a:pPr algn="ctr"/>
            <a:endParaRPr lang="en-US" sz="3200" dirty="0"/>
          </a:p>
          <a:p>
            <a:pPr algn="ctr"/>
            <a:r>
              <a:rPr lang="en-US" sz="3200" dirty="0"/>
              <a:t>A Day in the Life of Alex Sander:</a:t>
            </a:r>
          </a:p>
          <a:p>
            <a:pPr algn="ctr"/>
            <a:r>
              <a:rPr lang="en-US" sz="3200" dirty="0"/>
              <a:t>Driving in the Fast Lane at Landon Care Products</a:t>
            </a:r>
          </a:p>
        </p:txBody>
      </p:sp>
    </p:spTree>
    <p:extLst>
      <p:ext uri="{BB962C8B-B14F-4D97-AF65-F5344CB8AC3E}">
        <p14:creationId xmlns:p14="http://schemas.microsoft.com/office/powerpoint/2010/main" val="3832454287"/>
      </p:ext>
    </p:extLst>
  </p:cSld>
  <p:clrMapOvr>
    <a:masterClrMapping/>
  </p:clrMapOvr>
</p:sld>
</file>

<file path=ppt/theme/theme1.xml><?xml version="1.0" encoding="utf-8"?>
<a:theme xmlns:a="http://schemas.openxmlformats.org/drawingml/2006/main" name="Corporate LifeCycles Template CW 080111">
  <a:themeElements>
    <a:clrScheme name="Office Theme 14">
      <a:dk1>
        <a:srgbClr val="000000"/>
      </a:dk1>
      <a:lt1>
        <a:srgbClr val="FFFFFF"/>
      </a:lt1>
      <a:dk2>
        <a:srgbClr val="8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ffice Theme 13">
        <a:dk1>
          <a:srgbClr val="000000"/>
        </a:dk1>
        <a:lt1>
          <a:srgbClr val="FFFFFF"/>
        </a:lt1>
        <a:dk2>
          <a:srgbClr val="660033"/>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14">
        <a:dk1>
          <a:srgbClr val="000000"/>
        </a:dk1>
        <a:lt1>
          <a:srgbClr val="FFFFFF"/>
        </a:lt1>
        <a:dk2>
          <a:srgbClr val="8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3" id="{C7D3EF2B-CD17-8B45-BC04-931087942C0A}" vid="{4D8E37D1-2D76-3049-820B-8F347DD6EBF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Adizes template</Template>
  <TotalTime>9110</TotalTime>
  <Words>3592</Words>
  <Application>Microsoft Office PowerPoint</Application>
  <PresentationFormat>Widescreen</PresentationFormat>
  <Paragraphs>691</Paragraphs>
  <Slides>47</Slides>
  <Notes>18</Notes>
  <HiddenSlides>10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47</vt:i4>
      </vt:variant>
    </vt:vector>
  </HeadingPairs>
  <TitlesOfParts>
    <vt:vector size="56" baseType="lpstr">
      <vt:lpstr>Adobe Garamond Pro</vt:lpstr>
      <vt:lpstr>Arial</vt:lpstr>
      <vt:lpstr>Calibri</vt:lpstr>
      <vt:lpstr>Tahoma</vt:lpstr>
      <vt:lpstr>Times New Roman</vt:lpstr>
      <vt:lpstr>Wingdings</vt:lpstr>
      <vt:lpstr>Corporate LifeCycles Template CW 080111</vt:lpstr>
      <vt:lpstr>Image</vt:lpstr>
      <vt:lpstr>Microsoft Excel Worksheet</vt:lpstr>
      <vt:lpstr>Growing Incredible Managers:   </vt:lpstr>
      <vt:lpstr>Introduction to “Growing Incredible Managers”</vt:lpstr>
      <vt:lpstr>Expectations</vt:lpstr>
      <vt:lpstr>   Section 1: What Managers Should Know About Leadership and Management</vt:lpstr>
      <vt:lpstr>Course Outcomes</vt:lpstr>
      <vt:lpstr>The role of management</vt:lpstr>
      <vt:lpstr>change</vt:lpstr>
      <vt:lpstr>PowerPoint Presentation</vt:lpstr>
      <vt:lpstr>Well Managed Organizations Do 4 Things</vt:lpstr>
      <vt:lpstr>THE OUTCOME</vt:lpstr>
      <vt:lpstr>THE PROBLEM</vt:lpstr>
      <vt:lpstr>Well Managed Organizations Do 4 Things</vt:lpstr>
      <vt:lpstr>PowerPoint Presentation</vt:lpstr>
      <vt:lpstr>PowerPoint Presentation</vt:lpstr>
      <vt:lpstr>Prescriptive Paei - Producers</vt:lpstr>
      <vt:lpstr>Prescriptive Paei - Producers</vt:lpstr>
      <vt:lpstr>Prescriptive Paei - Producers</vt:lpstr>
      <vt:lpstr>Working with Paei - Producers</vt:lpstr>
      <vt:lpstr>Speak Their Language – Reference Chart </vt:lpstr>
      <vt:lpstr>PowerPoint Presentation</vt:lpstr>
      <vt:lpstr>PowerPoint Presentation</vt:lpstr>
      <vt:lpstr>Prescriptive pAei - Administrators</vt:lpstr>
      <vt:lpstr>Prescriptive pAei - Administrators</vt:lpstr>
      <vt:lpstr>Prescriptive pAei - Administrators</vt:lpstr>
      <vt:lpstr>Working with pAei - Administrators</vt:lpstr>
      <vt:lpstr>Speak Their Language – Reference Chart </vt:lpstr>
      <vt:lpstr>PowerPoint Presentation</vt:lpstr>
      <vt:lpstr>PowerPoint Presentation</vt:lpstr>
      <vt:lpstr>Prescriptive paEi – Entrepreneurs</vt:lpstr>
      <vt:lpstr>Prescriptive paEi – Entrepreneurs</vt:lpstr>
      <vt:lpstr>Prescriptive paEi – Entrepreneurs</vt:lpstr>
      <vt:lpstr>Prescriptive paEi –  Entrepreneurs</vt:lpstr>
      <vt:lpstr>PowerPoint Presentation</vt:lpstr>
      <vt:lpstr>PowerPoint Presentation</vt:lpstr>
      <vt:lpstr>Prescriptive paeI - Integrators</vt:lpstr>
      <vt:lpstr>Prescriptive paeI - Integrators</vt:lpstr>
      <vt:lpstr>Working with paeI - Integrators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Leaders:</dc:title>
  <dc:creator>Barry Bowater</dc:creator>
  <cp:lastModifiedBy>Greg Mathers</cp:lastModifiedBy>
  <cp:revision>57</cp:revision>
  <cp:lastPrinted>2019-05-22T12:42:39Z</cp:lastPrinted>
  <dcterms:created xsi:type="dcterms:W3CDTF">2017-10-12T15:48:48Z</dcterms:created>
  <dcterms:modified xsi:type="dcterms:W3CDTF">2019-05-24T10:08:14Z</dcterms:modified>
</cp:coreProperties>
</file>