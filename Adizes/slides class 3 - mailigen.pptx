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256" r:id="rId2"/>
    <p:sldId id="257" r:id="rId3"/>
    <p:sldId id="648" r:id="rId4"/>
    <p:sldId id="397" r:id="rId5"/>
    <p:sldId id="445" r:id="rId6"/>
    <p:sldId id="414" r:id="rId7"/>
    <p:sldId id="416" r:id="rId8"/>
    <p:sldId id="417" r:id="rId9"/>
    <p:sldId id="419" r:id="rId10"/>
    <p:sldId id="420" r:id="rId11"/>
    <p:sldId id="421" r:id="rId12"/>
    <p:sldId id="422" r:id="rId13"/>
    <p:sldId id="423" r:id="rId14"/>
    <p:sldId id="424" r:id="rId15"/>
    <p:sldId id="425" r:id="rId16"/>
    <p:sldId id="426" r:id="rId17"/>
    <p:sldId id="427" r:id="rId18"/>
    <p:sldId id="428" r:id="rId19"/>
    <p:sldId id="429" r:id="rId20"/>
    <p:sldId id="430" r:id="rId21"/>
    <p:sldId id="431" r:id="rId22"/>
    <p:sldId id="432" r:id="rId23"/>
    <p:sldId id="433" r:id="rId24"/>
    <p:sldId id="434" r:id="rId25"/>
    <p:sldId id="435" r:id="rId26"/>
    <p:sldId id="436" r:id="rId27"/>
    <p:sldId id="437" r:id="rId28"/>
    <p:sldId id="438" r:id="rId29"/>
    <p:sldId id="443" r:id="rId30"/>
    <p:sldId id="444" r:id="rId31"/>
    <p:sldId id="647" r:id="rId32"/>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7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307763CF-8EEC-4E9E-804A-A3E4A8A7D11F}" type="datetimeFigureOut">
              <a:rPr lang="en-US" smtClean="0"/>
              <a:t>16-Jun-19</a:t>
            </a:fld>
            <a:endParaRPr lang="en-US"/>
          </a:p>
        </p:txBody>
      </p:sp>
      <p:sp>
        <p:nvSpPr>
          <p:cNvPr id="4" name="Footer Placeholder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7DB05D69-EBDC-4833-908C-FF30DEADB2A1}" type="slidenum">
              <a:rPr lang="en-US" smtClean="0"/>
              <a:t>‹#›</a:t>
            </a:fld>
            <a:endParaRPr lang="en-US"/>
          </a:p>
        </p:txBody>
      </p:sp>
    </p:spTree>
    <p:extLst>
      <p:ext uri="{BB962C8B-B14F-4D97-AF65-F5344CB8AC3E}">
        <p14:creationId xmlns:p14="http://schemas.microsoft.com/office/powerpoint/2010/main" val="294964540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CF9AE1E3-CE9F-46DC-B08F-FC1766280897}" type="datetimeFigureOut">
              <a:rPr lang="en-US" smtClean="0"/>
              <a:t>16-Jun-19</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5ED7879B-59DB-4E3A-9432-66587A0E08EF}" type="slidenum">
              <a:rPr lang="en-US" smtClean="0"/>
              <a:t>‹#›</a:t>
            </a:fld>
            <a:endParaRPr lang="en-US"/>
          </a:p>
        </p:txBody>
      </p:sp>
    </p:spTree>
    <p:extLst>
      <p:ext uri="{BB962C8B-B14F-4D97-AF65-F5344CB8AC3E}">
        <p14:creationId xmlns:p14="http://schemas.microsoft.com/office/powerpoint/2010/main" val="244698579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17377EF-251F-4AD5-B9B3-3AAC4F0A706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8195" name="Rectangle 6">
            <a:extLst>
              <a:ext uri="{FF2B5EF4-FFF2-40B4-BE49-F238E27FC236}">
                <a16:creationId xmlns:a16="http://schemas.microsoft.com/office/drawing/2014/main" id="{1692F7ED-B179-499A-A6BE-44BFC5B3B14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8196" name="Rectangle 7">
            <a:extLst>
              <a:ext uri="{FF2B5EF4-FFF2-40B4-BE49-F238E27FC236}">
                <a16:creationId xmlns:a16="http://schemas.microsoft.com/office/drawing/2014/main" id="{8533C1D2-323C-4A4E-B13D-4CEB566DEF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D5F2AADE-9213-4333-9840-9D10E28A4FB6}" type="slidenum">
              <a:rPr lang="en-US" altLang="en-US" sz="1000" b="0" smtClean="0">
                <a:solidFill>
                  <a:schemeClr val="accent1"/>
                </a:solidFill>
              </a:rPr>
              <a:pPr/>
              <a:t>6</a:t>
            </a:fld>
            <a:endParaRPr lang="en-US" altLang="en-US" sz="1000" b="0">
              <a:solidFill>
                <a:schemeClr val="accent1"/>
              </a:solidFill>
            </a:endParaRPr>
          </a:p>
        </p:txBody>
      </p:sp>
      <p:sp>
        <p:nvSpPr>
          <p:cNvPr id="8197" name="Rectangle 2">
            <a:extLst>
              <a:ext uri="{FF2B5EF4-FFF2-40B4-BE49-F238E27FC236}">
                <a16:creationId xmlns:a16="http://schemas.microsoft.com/office/drawing/2014/main" id="{BFDB0721-0FBA-4012-B379-D10A1C45620B}"/>
              </a:ext>
            </a:extLst>
          </p:cNvPr>
          <p:cNvSpPr>
            <a:spLocks noGrp="1" noRot="1" noChangeAspect="1" noChangeArrowheads="1" noTextEdit="1"/>
          </p:cNvSpPr>
          <p:nvPr>
            <p:ph type="sldImg"/>
          </p:nvPr>
        </p:nvSpPr>
        <p:spPr>
          <a:xfrm>
            <a:off x="1144588" y="685800"/>
            <a:ext cx="4570412" cy="3429000"/>
          </a:xfrm>
          <a:ln/>
        </p:spPr>
      </p:sp>
      <p:sp>
        <p:nvSpPr>
          <p:cNvPr id="8198" name="Rectangle 3">
            <a:extLst>
              <a:ext uri="{FF2B5EF4-FFF2-40B4-BE49-F238E27FC236}">
                <a16:creationId xmlns:a16="http://schemas.microsoft.com/office/drawing/2014/main" id="{3C70C777-E569-43FC-A1EF-73898E511AD5}"/>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686FB26-C11F-473A-B96B-84AA4E45827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10243" name="Rectangle 6">
            <a:extLst>
              <a:ext uri="{FF2B5EF4-FFF2-40B4-BE49-F238E27FC236}">
                <a16:creationId xmlns:a16="http://schemas.microsoft.com/office/drawing/2014/main" id="{181561A0-2669-4127-9843-62EAEEEC9E5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10244" name="Rectangle 7">
            <a:extLst>
              <a:ext uri="{FF2B5EF4-FFF2-40B4-BE49-F238E27FC236}">
                <a16:creationId xmlns:a16="http://schemas.microsoft.com/office/drawing/2014/main" id="{4921C844-2B49-4697-A343-979A574148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A0852B34-6D68-4B53-8509-96A3FB3D8EDC}" type="slidenum">
              <a:rPr lang="en-US" altLang="en-US" sz="1000" b="0" smtClean="0">
                <a:solidFill>
                  <a:schemeClr val="accent1"/>
                </a:solidFill>
              </a:rPr>
              <a:pPr/>
              <a:t>7</a:t>
            </a:fld>
            <a:endParaRPr lang="en-US" altLang="en-US" sz="1000" b="0">
              <a:solidFill>
                <a:schemeClr val="accent1"/>
              </a:solidFill>
            </a:endParaRPr>
          </a:p>
        </p:txBody>
      </p:sp>
      <p:sp>
        <p:nvSpPr>
          <p:cNvPr id="10245" name="Rectangle 2">
            <a:extLst>
              <a:ext uri="{FF2B5EF4-FFF2-40B4-BE49-F238E27FC236}">
                <a16:creationId xmlns:a16="http://schemas.microsoft.com/office/drawing/2014/main" id="{B26E622E-B24E-473A-965F-E1889F138168}"/>
              </a:ext>
            </a:extLst>
          </p:cNvPr>
          <p:cNvSpPr>
            <a:spLocks noGrp="1" noRot="1" noChangeAspect="1" noChangeArrowheads="1" noTextEdit="1"/>
          </p:cNvSpPr>
          <p:nvPr>
            <p:ph type="sldImg"/>
          </p:nvPr>
        </p:nvSpPr>
        <p:spPr>
          <a:xfrm>
            <a:off x="1144588" y="685800"/>
            <a:ext cx="4570412" cy="3429000"/>
          </a:xfrm>
          <a:ln/>
        </p:spPr>
      </p:sp>
      <p:sp>
        <p:nvSpPr>
          <p:cNvPr id="10246" name="Rectangle 3">
            <a:extLst>
              <a:ext uri="{FF2B5EF4-FFF2-40B4-BE49-F238E27FC236}">
                <a16:creationId xmlns:a16="http://schemas.microsoft.com/office/drawing/2014/main" id="{39FF8712-ABDC-411A-BD3C-6924A120F8C0}"/>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C52B6823-04EE-434B-B78F-8B93C314843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12291" name="Rectangle 6">
            <a:extLst>
              <a:ext uri="{FF2B5EF4-FFF2-40B4-BE49-F238E27FC236}">
                <a16:creationId xmlns:a16="http://schemas.microsoft.com/office/drawing/2014/main" id="{DB38EE44-F858-4AEB-A42A-2F1601DEB81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12292" name="Rectangle 7">
            <a:extLst>
              <a:ext uri="{FF2B5EF4-FFF2-40B4-BE49-F238E27FC236}">
                <a16:creationId xmlns:a16="http://schemas.microsoft.com/office/drawing/2014/main" id="{CEFDC599-D513-4C4B-9702-8834A0B3A8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E7DF3C72-BEEE-4361-838B-676586D2A3D3}" type="slidenum">
              <a:rPr lang="en-US" altLang="en-US" sz="1000" b="0" smtClean="0">
                <a:solidFill>
                  <a:schemeClr val="accent1"/>
                </a:solidFill>
              </a:rPr>
              <a:pPr/>
              <a:t>8</a:t>
            </a:fld>
            <a:endParaRPr lang="en-US" altLang="en-US" sz="1000" b="0">
              <a:solidFill>
                <a:schemeClr val="accent1"/>
              </a:solidFill>
            </a:endParaRPr>
          </a:p>
        </p:txBody>
      </p:sp>
      <p:sp>
        <p:nvSpPr>
          <p:cNvPr id="12293" name="Rectangle 2">
            <a:extLst>
              <a:ext uri="{FF2B5EF4-FFF2-40B4-BE49-F238E27FC236}">
                <a16:creationId xmlns:a16="http://schemas.microsoft.com/office/drawing/2014/main" id="{8DADAB6C-2DEC-45B6-B3D7-D43E2C5DEA16}"/>
              </a:ext>
            </a:extLst>
          </p:cNvPr>
          <p:cNvSpPr>
            <a:spLocks noGrp="1" noRot="1" noChangeAspect="1" noChangeArrowheads="1" noTextEdit="1"/>
          </p:cNvSpPr>
          <p:nvPr>
            <p:ph type="sldImg"/>
          </p:nvPr>
        </p:nvSpPr>
        <p:spPr>
          <a:xfrm>
            <a:off x="1144588" y="685800"/>
            <a:ext cx="4570412" cy="3429000"/>
          </a:xfrm>
          <a:ln/>
        </p:spPr>
      </p:sp>
      <p:sp>
        <p:nvSpPr>
          <p:cNvPr id="12294" name="Rectangle 3">
            <a:extLst>
              <a:ext uri="{FF2B5EF4-FFF2-40B4-BE49-F238E27FC236}">
                <a16:creationId xmlns:a16="http://schemas.microsoft.com/office/drawing/2014/main" id="{A3BF1166-C8E5-42E3-BD80-3E49026CF638}"/>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81F3982-4362-4100-8322-8E749EA3C15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14339" name="Rectangle 6">
            <a:extLst>
              <a:ext uri="{FF2B5EF4-FFF2-40B4-BE49-F238E27FC236}">
                <a16:creationId xmlns:a16="http://schemas.microsoft.com/office/drawing/2014/main" id="{AFC09905-73AE-4D3D-875E-275957A0074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14340" name="Rectangle 7">
            <a:extLst>
              <a:ext uri="{FF2B5EF4-FFF2-40B4-BE49-F238E27FC236}">
                <a16:creationId xmlns:a16="http://schemas.microsoft.com/office/drawing/2014/main" id="{5FDCDF2A-8188-4F6A-9771-013EEC0E7A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338138FF-47B3-426A-9C93-6058F70614C8}" type="slidenum">
              <a:rPr lang="en-US" altLang="en-US" sz="1000" b="0" smtClean="0">
                <a:solidFill>
                  <a:schemeClr val="accent1"/>
                </a:solidFill>
              </a:rPr>
              <a:pPr/>
              <a:t>9</a:t>
            </a:fld>
            <a:endParaRPr lang="en-US" altLang="en-US" sz="1000" b="0">
              <a:solidFill>
                <a:schemeClr val="accent1"/>
              </a:solidFill>
            </a:endParaRPr>
          </a:p>
        </p:txBody>
      </p:sp>
      <p:sp>
        <p:nvSpPr>
          <p:cNvPr id="14341" name="Rectangle 2">
            <a:extLst>
              <a:ext uri="{FF2B5EF4-FFF2-40B4-BE49-F238E27FC236}">
                <a16:creationId xmlns:a16="http://schemas.microsoft.com/office/drawing/2014/main" id="{F192B602-BD07-49D2-AC5D-0C75C0E8DCBF}"/>
              </a:ext>
            </a:extLst>
          </p:cNvPr>
          <p:cNvSpPr>
            <a:spLocks noGrp="1" noRot="1" noChangeAspect="1" noChangeArrowheads="1" noTextEdit="1"/>
          </p:cNvSpPr>
          <p:nvPr>
            <p:ph type="sldImg"/>
          </p:nvPr>
        </p:nvSpPr>
        <p:spPr>
          <a:ln/>
        </p:spPr>
      </p:sp>
      <p:sp>
        <p:nvSpPr>
          <p:cNvPr id="14342" name="Rectangle 3">
            <a:extLst>
              <a:ext uri="{FF2B5EF4-FFF2-40B4-BE49-F238E27FC236}">
                <a16:creationId xmlns:a16="http://schemas.microsoft.com/office/drawing/2014/main" id="{0DEE6196-4944-4F59-B400-E1ACE839A0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DB4DED8-633B-42B6-9852-1DC6F0C22E3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16387" name="Rectangle 6">
            <a:extLst>
              <a:ext uri="{FF2B5EF4-FFF2-40B4-BE49-F238E27FC236}">
                <a16:creationId xmlns:a16="http://schemas.microsoft.com/office/drawing/2014/main" id="{5393E951-1E0C-40F6-882A-7F110FC3500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16388" name="Rectangle 7">
            <a:extLst>
              <a:ext uri="{FF2B5EF4-FFF2-40B4-BE49-F238E27FC236}">
                <a16:creationId xmlns:a16="http://schemas.microsoft.com/office/drawing/2014/main" id="{0CD78CF0-4017-451F-B3C1-8A17267BB3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39FD2EA8-736B-4B5C-B8D3-F8317D5F7175}" type="slidenum">
              <a:rPr lang="en-US" altLang="en-US" sz="1000" b="0" smtClean="0">
                <a:solidFill>
                  <a:schemeClr val="accent1"/>
                </a:solidFill>
              </a:rPr>
              <a:pPr/>
              <a:t>10</a:t>
            </a:fld>
            <a:endParaRPr lang="en-US" altLang="en-US" sz="1000" b="0">
              <a:solidFill>
                <a:schemeClr val="accent1"/>
              </a:solidFill>
            </a:endParaRPr>
          </a:p>
        </p:txBody>
      </p:sp>
      <p:sp>
        <p:nvSpPr>
          <p:cNvPr id="16389" name="Rectangle 2">
            <a:extLst>
              <a:ext uri="{FF2B5EF4-FFF2-40B4-BE49-F238E27FC236}">
                <a16:creationId xmlns:a16="http://schemas.microsoft.com/office/drawing/2014/main" id="{ED741AC0-38A5-43DA-A35E-D5468B8B909F}"/>
              </a:ext>
            </a:extLst>
          </p:cNvPr>
          <p:cNvSpPr>
            <a:spLocks noGrp="1" noRot="1" noChangeAspect="1" noChangeArrowheads="1" noTextEdit="1"/>
          </p:cNvSpPr>
          <p:nvPr>
            <p:ph type="sldImg"/>
          </p:nvPr>
        </p:nvSpPr>
        <p:spPr>
          <a:ln/>
        </p:spPr>
      </p:sp>
      <p:sp>
        <p:nvSpPr>
          <p:cNvPr id="16390" name="Rectangle 3">
            <a:extLst>
              <a:ext uri="{FF2B5EF4-FFF2-40B4-BE49-F238E27FC236}">
                <a16:creationId xmlns:a16="http://schemas.microsoft.com/office/drawing/2014/main" id="{9A7129E0-10A9-4418-A9C5-8BD328B453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4335EA0-17A6-4476-BA8C-89668A9B6F6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18435" name="Rectangle 6">
            <a:extLst>
              <a:ext uri="{FF2B5EF4-FFF2-40B4-BE49-F238E27FC236}">
                <a16:creationId xmlns:a16="http://schemas.microsoft.com/office/drawing/2014/main" id="{259DC926-9708-4E63-B625-F659D11BA5F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18436" name="Rectangle 7">
            <a:extLst>
              <a:ext uri="{FF2B5EF4-FFF2-40B4-BE49-F238E27FC236}">
                <a16:creationId xmlns:a16="http://schemas.microsoft.com/office/drawing/2014/main" id="{1E39576B-9534-47AE-BA8A-5C5C657817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434BF4F1-27E7-4DBF-B242-1A06624CAC01}" type="slidenum">
              <a:rPr lang="en-US" altLang="en-US" sz="1000" b="0" smtClean="0">
                <a:solidFill>
                  <a:schemeClr val="accent1"/>
                </a:solidFill>
              </a:rPr>
              <a:pPr/>
              <a:t>11</a:t>
            </a:fld>
            <a:endParaRPr lang="en-US" altLang="en-US" sz="1000" b="0">
              <a:solidFill>
                <a:schemeClr val="accent1"/>
              </a:solidFill>
            </a:endParaRPr>
          </a:p>
        </p:txBody>
      </p:sp>
      <p:sp>
        <p:nvSpPr>
          <p:cNvPr id="18437" name="Rectangle 2">
            <a:extLst>
              <a:ext uri="{FF2B5EF4-FFF2-40B4-BE49-F238E27FC236}">
                <a16:creationId xmlns:a16="http://schemas.microsoft.com/office/drawing/2014/main" id="{ABC9F1E9-B77C-4212-9C73-6A5929844B66}"/>
              </a:ext>
            </a:extLst>
          </p:cNvPr>
          <p:cNvSpPr>
            <a:spLocks noGrp="1" noRot="1" noChangeAspect="1" noChangeArrowheads="1" noTextEdit="1"/>
          </p:cNvSpPr>
          <p:nvPr>
            <p:ph type="sldImg"/>
          </p:nvPr>
        </p:nvSpPr>
        <p:spPr>
          <a:ln/>
        </p:spPr>
      </p:sp>
      <p:sp>
        <p:nvSpPr>
          <p:cNvPr id="18438" name="Rectangle 3">
            <a:extLst>
              <a:ext uri="{FF2B5EF4-FFF2-40B4-BE49-F238E27FC236}">
                <a16:creationId xmlns:a16="http://schemas.microsoft.com/office/drawing/2014/main" id="{5EF39600-B885-4BB6-9FA9-C8C353D9F9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72677BB-03EC-4977-B7D6-768D6C3CCD8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20483" name="Rectangle 6">
            <a:extLst>
              <a:ext uri="{FF2B5EF4-FFF2-40B4-BE49-F238E27FC236}">
                <a16:creationId xmlns:a16="http://schemas.microsoft.com/office/drawing/2014/main" id="{D19A23BD-FCD6-4550-8F9A-435A4BBE4E9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20484" name="Rectangle 7">
            <a:extLst>
              <a:ext uri="{FF2B5EF4-FFF2-40B4-BE49-F238E27FC236}">
                <a16:creationId xmlns:a16="http://schemas.microsoft.com/office/drawing/2014/main" id="{3888FAA1-BA97-4F84-A61E-8F28066677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17D5A176-7589-46E9-B1C8-57CD89E05D97}" type="slidenum">
              <a:rPr lang="en-US" altLang="en-US" sz="1000" b="0" smtClean="0">
                <a:solidFill>
                  <a:schemeClr val="accent1"/>
                </a:solidFill>
              </a:rPr>
              <a:pPr/>
              <a:t>12</a:t>
            </a:fld>
            <a:endParaRPr lang="en-US" altLang="en-US" sz="1000" b="0">
              <a:solidFill>
                <a:schemeClr val="accent1"/>
              </a:solidFill>
            </a:endParaRPr>
          </a:p>
        </p:txBody>
      </p:sp>
      <p:sp>
        <p:nvSpPr>
          <p:cNvPr id="20485" name="Rectangle 2">
            <a:extLst>
              <a:ext uri="{FF2B5EF4-FFF2-40B4-BE49-F238E27FC236}">
                <a16:creationId xmlns:a16="http://schemas.microsoft.com/office/drawing/2014/main" id="{495D0D80-18A1-44E8-9BBB-71AAA55041FD}"/>
              </a:ext>
            </a:extLst>
          </p:cNvPr>
          <p:cNvSpPr>
            <a:spLocks noGrp="1" noRot="1" noChangeAspect="1" noChangeArrowheads="1" noTextEdit="1"/>
          </p:cNvSpPr>
          <p:nvPr>
            <p:ph type="sldImg"/>
          </p:nvPr>
        </p:nvSpPr>
        <p:spPr>
          <a:ln/>
        </p:spPr>
      </p:sp>
      <p:sp>
        <p:nvSpPr>
          <p:cNvPr id="20486" name="Rectangle 3">
            <a:extLst>
              <a:ext uri="{FF2B5EF4-FFF2-40B4-BE49-F238E27FC236}">
                <a16:creationId xmlns:a16="http://schemas.microsoft.com/office/drawing/2014/main" id="{5403370E-3583-45DD-AC8D-494D4413A5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F79B3D6-6C3D-47EA-829A-9A8D74C1D48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22531" name="Rectangle 6">
            <a:extLst>
              <a:ext uri="{FF2B5EF4-FFF2-40B4-BE49-F238E27FC236}">
                <a16:creationId xmlns:a16="http://schemas.microsoft.com/office/drawing/2014/main" id="{9EFA434F-D2DE-4485-B196-5ECDFA5DDDF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22532" name="Rectangle 7">
            <a:extLst>
              <a:ext uri="{FF2B5EF4-FFF2-40B4-BE49-F238E27FC236}">
                <a16:creationId xmlns:a16="http://schemas.microsoft.com/office/drawing/2014/main" id="{8F8E3889-B4A6-48E1-AAE3-CB897BB324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68EB6950-E1D7-42E9-8E45-B69E2B9A6AF8}" type="slidenum">
              <a:rPr lang="en-US" altLang="en-US" sz="1000" b="0" smtClean="0">
                <a:solidFill>
                  <a:schemeClr val="accent1"/>
                </a:solidFill>
              </a:rPr>
              <a:pPr/>
              <a:t>13</a:t>
            </a:fld>
            <a:endParaRPr lang="en-US" altLang="en-US" sz="1000" b="0">
              <a:solidFill>
                <a:schemeClr val="accent1"/>
              </a:solidFill>
            </a:endParaRPr>
          </a:p>
        </p:txBody>
      </p:sp>
      <p:sp>
        <p:nvSpPr>
          <p:cNvPr id="22533" name="Rectangle 2">
            <a:extLst>
              <a:ext uri="{FF2B5EF4-FFF2-40B4-BE49-F238E27FC236}">
                <a16:creationId xmlns:a16="http://schemas.microsoft.com/office/drawing/2014/main" id="{8E91CBEE-2D44-4492-8BDA-BE7F08977222}"/>
              </a:ext>
            </a:extLst>
          </p:cNvPr>
          <p:cNvSpPr>
            <a:spLocks noGrp="1" noRot="1" noChangeAspect="1" noChangeArrowheads="1" noTextEdit="1"/>
          </p:cNvSpPr>
          <p:nvPr>
            <p:ph type="sldImg"/>
          </p:nvPr>
        </p:nvSpPr>
        <p:spPr>
          <a:ln/>
        </p:spPr>
      </p:sp>
      <p:sp>
        <p:nvSpPr>
          <p:cNvPr id="22534" name="Rectangle 3">
            <a:extLst>
              <a:ext uri="{FF2B5EF4-FFF2-40B4-BE49-F238E27FC236}">
                <a16:creationId xmlns:a16="http://schemas.microsoft.com/office/drawing/2014/main" id="{641DF0CB-6C9D-47C2-95D3-0DECF479FD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6C3E221-DA50-40AD-8388-67E5697D2CE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24579" name="Rectangle 6">
            <a:extLst>
              <a:ext uri="{FF2B5EF4-FFF2-40B4-BE49-F238E27FC236}">
                <a16:creationId xmlns:a16="http://schemas.microsoft.com/office/drawing/2014/main" id="{213360B5-0BE1-4E09-8178-53D4135A09D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24580" name="Rectangle 7">
            <a:extLst>
              <a:ext uri="{FF2B5EF4-FFF2-40B4-BE49-F238E27FC236}">
                <a16:creationId xmlns:a16="http://schemas.microsoft.com/office/drawing/2014/main" id="{C9FFF0CF-9C1E-450C-8BDB-3D48B3F756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5D76853F-81B9-4B6C-94BB-0CEC900EC678}" type="slidenum">
              <a:rPr lang="en-US" altLang="en-US" sz="1000" b="0" smtClean="0">
                <a:solidFill>
                  <a:schemeClr val="accent1"/>
                </a:solidFill>
              </a:rPr>
              <a:pPr/>
              <a:t>14</a:t>
            </a:fld>
            <a:endParaRPr lang="en-US" altLang="en-US" sz="1000" b="0">
              <a:solidFill>
                <a:schemeClr val="accent1"/>
              </a:solidFill>
            </a:endParaRPr>
          </a:p>
        </p:txBody>
      </p:sp>
      <p:sp>
        <p:nvSpPr>
          <p:cNvPr id="24581" name="Rectangle 2">
            <a:extLst>
              <a:ext uri="{FF2B5EF4-FFF2-40B4-BE49-F238E27FC236}">
                <a16:creationId xmlns:a16="http://schemas.microsoft.com/office/drawing/2014/main" id="{5423D01A-F357-4B0F-A3AB-32898BCC0E73}"/>
              </a:ext>
            </a:extLst>
          </p:cNvPr>
          <p:cNvSpPr>
            <a:spLocks noGrp="1" noRot="1" noChangeAspect="1" noChangeArrowheads="1" noTextEdit="1"/>
          </p:cNvSpPr>
          <p:nvPr>
            <p:ph type="sldImg"/>
          </p:nvPr>
        </p:nvSpPr>
        <p:spPr>
          <a:ln/>
        </p:spPr>
      </p:sp>
      <p:sp>
        <p:nvSpPr>
          <p:cNvPr id="24582" name="Rectangle 3">
            <a:extLst>
              <a:ext uri="{FF2B5EF4-FFF2-40B4-BE49-F238E27FC236}">
                <a16:creationId xmlns:a16="http://schemas.microsoft.com/office/drawing/2014/main" id="{44F876E5-3FE4-491A-A8BD-CBEA8F4EB6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2F1FEDDB-CBFC-41E7-A3FF-FA59C70E53B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26627" name="Rectangle 6">
            <a:extLst>
              <a:ext uri="{FF2B5EF4-FFF2-40B4-BE49-F238E27FC236}">
                <a16:creationId xmlns:a16="http://schemas.microsoft.com/office/drawing/2014/main" id="{F81F7C20-4505-436F-9D35-E88F0F188C6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26628" name="Rectangle 7">
            <a:extLst>
              <a:ext uri="{FF2B5EF4-FFF2-40B4-BE49-F238E27FC236}">
                <a16:creationId xmlns:a16="http://schemas.microsoft.com/office/drawing/2014/main" id="{0F66FD03-7DBF-467B-A9E2-46B0FFE796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869B5224-373F-41E1-A77F-F6C1FDC26A2A}" type="slidenum">
              <a:rPr lang="en-US" altLang="en-US" sz="1000" b="0" smtClean="0">
                <a:solidFill>
                  <a:schemeClr val="accent1"/>
                </a:solidFill>
              </a:rPr>
              <a:pPr/>
              <a:t>15</a:t>
            </a:fld>
            <a:endParaRPr lang="en-US" altLang="en-US" sz="1000" b="0">
              <a:solidFill>
                <a:schemeClr val="accent1"/>
              </a:solidFill>
            </a:endParaRPr>
          </a:p>
        </p:txBody>
      </p:sp>
      <p:sp>
        <p:nvSpPr>
          <p:cNvPr id="26629" name="Rectangle 2">
            <a:extLst>
              <a:ext uri="{FF2B5EF4-FFF2-40B4-BE49-F238E27FC236}">
                <a16:creationId xmlns:a16="http://schemas.microsoft.com/office/drawing/2014/main" id="{8D1CCCB3-EA71-407C-9EA4-B2FE03A292A7}"/>
              </a:ext>
            </a:extLst>
          </p:cNvPr>
          <p:cNvSpPr>
            <a:spLocks noGrp="1" noRot="1" noChangeAspect="1" noChangeArrowheads="1" noTextEdit="1"/>
          </p:cNvSpPr>
          <p:nvPr>
            <p:ph type="sldImg"/>
          </p:nvPr>
        </p:nvSpPr>
        <p:spPr>
          <a:ln/>
        </p:spPr>
      </p:sp>
      <p:sp>
        <p:nvSpPr>
          <p:cNvPr id="26630" name="Rectangle 3">
            <a:extLst>
              <a:ext uri="{FF2B5EF4-FFF2-40B4-BE49-F238E27FC236}">
                <a16:creationId xmlns:a16="http://schemas.microsoft.com/office/drawing/2014/main" id="{35144B44-6261-4DEF-B398-B5C260C926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DA25DB0-839B-4697-8A3D-C6D67B0E3AF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28675" name="Rectangle 6">
            <a:extLst>
              <a:ext uri="{FF2B5EF4-FFF2-40B4-BE49-F238E27FC236}">
                <a16:creationId xmlns:a16="http://schemas.microsoft.com/office/drawing/2014/main" id="{216C7006-073E-4D45-B942-6267A33870F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28676" name="Rectangle 7">
            <a:extLst>
              <a:ext uri="{FF2B5EF4-FFF2-40B4-BE49-F238E27FC236}">
                <a16:creationId xmlns:a16="http://schemas.microsoft.com/office/drawing/2014/main" id="{36902AA6-205E-4216-B944-7FF1267DC3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F7C5A106-4288-4595-99DD-496B3C08276A}" type="slidenum">
              <a:rPr lang="en-US" altLang="en-US" sz="1000" b="0" smtClean="0">
                <a:solidFill>
                  <a:schemeClr val="accent1"/>
                </a:solidFill>
              </a:rPr>
              <a:pPr/>
              <a:t>16</a:t>
            </a:fld>
            <a:endParaRPr lang="en-US" altLang="en-US" sz="1000" b="0">
              <a:solidFill>
                <a:schemeClr val="accent1"/>
              </a:solidFill>
            </a:endParaRPr>
          </a:p>
        </p:txBody>
      </p:sp>
      <p:sp>
        <p:nvSpPr>
          <p:cNvPr id="28677" name="Rectangle 2">
            <a:extLst>
              <a:ext uri="{FF2B5EF4-FFF2-40B4-BE49-F238E27FC236}">
                <a16:creationId xmlns:a16="http://schemas.microsoft.com/office/drawing/2014/main" id="{5D445B08-1649-47F3-84AA-627F6104B3F0}"/>
              </a:ext>
            </a:extLst>
          </p:cNvPr>
          <p:cNvSpPr>
            <a:spLocks noGrp="1" noRot="1" noChangeAspect="1" noChangeArrowheads="1" noTextEdit="1"/>
          </p:cNvSpPr>
          <p:nvPr>
            <p:ph type="sldImg"/>
          </p:nvPr>
        </p:nvSpPr>
        <p:spPr>
          <a:ln/>
        </p:spPr>
      </p:sp>
      <p:sp>
        <p:nvSpPr>
          <p:cNvPr id="28678" name="Rectangle 3">
            <a:extLst>
              <a:ext uri="{FF2B5EF4-FFF2-40B4-BE49-F238E27FC236}">
                <a16:creationId xmlns:a16="http://schemas.microsoft.com/office/drawing/2014/main" id="{C7334632-0ED3-4B43-9DC9-1F8C9A4C6A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61EA52EF-D824-4BDA-81DA-3B2E6F08521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30723" name="Rectangle 6">
            <a:extLst>
              <a:ext uri="{FF2B5EF4-FFF2-40B4-BE49-F238E27FC236}">
                <a16:creationId xmlns:a16="http://schemas.microsoft.com/office/drawing/2014/main" id="{58835BB7-C481-423D-BFBF-D82738FBF14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30724" name="Rectangle 7">
            <a:extLst>
              <a:ext uri="{FF2B5EF4-FFF2-40B4-BE49-F238E27FC236}">
                <a16:creationId xmlns:a16="http://schemas.microsoft.com/office/drawing/2014/main" id="{67789A5D-9973-4B44-B4DC-353E5868B4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9137E6E6-96F3-455D-B4AA-0F09767AC9C4}" type="slidenum">
              <a:rPr lang="en-US" altLang="en-US" sz="1000" b="0" smtClean="0">
                <a:solidFill>
                  <a:schemeClr val="accent1"/>
                </a:solidFill>
              </a:rPr>
              <a:pPr/>
              <a:t>17</a:t>
            </a:fld>
            <a:endParaRPr lang="en-US" altLang="en-US" sz="1000" b="0">
              <a:solidFill>
                <a:schemeClr val="accent1"/>
              </a:solidFill>
            </a:endParaRPr>
          </a:p>
        </p:txBody>
      </p:sp>
      <p:sp>
        <p:nvSpPr>
          <p:cNvPr id="30725" name="Rectangle 2">
            <a:extLst>
              <a:ext uri="{FF2B5EF4-FFF2-40B4-BE49-F238E27FC236}">
                <a16:creationId xmlns:a16="http://schemas.microsoft.com/office/drawing/2014/main" id="{7DC9F3B9-9BE3-4076-8446-FA501B4BD4D6}"/>
              </a:ext>
            </a:extLst>
          </p:cNvPr>
          <p:cNvSpPr>
            <a:spLocks noGrp="1" noRot="1" noChangeAspect="1" noChangeArrowheads="1" noTextEdit="1"/>
          </p:cNvSpPr>
          <p:nvPr>
            <p:ph type="sldImg"/>
          </p:nvPr>
        </p:nvSpPr>
        <p:spPr>
          <a:ln/>
        </p:spPr>
      </p:sp>
      <p:sp>
        <p:nvSpPr>
          <p:cNvPr id="30726" name="Rectangle 3">
            <a:extLst>
              <a:ext uri="{FF2B5EF4-FFF2-40B4-BE49-F238E27FC236}">
                <a16:creationId xmlns:a16="http://schemas.microsoft.com/office/drawing/2014/main" id="{DD0737A1-73C6-4AD3-9224-FE94B67CF8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0333B7E-FF48-4394-ABE8-99183E32C75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32771" name="Rectangle 6">
            <a:extLst>
              <a:ext uri="{FF2B5EF4-FFF2-40B4-BE49-F238E27FC236}">
                <a16:creationId xmlns:a16="http://schemas.microsoft.com/office/drawing/2014/main" id="{D5117130-AD3C-46E8-8493-8299557E686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32772" name="Rectangle 7">
            <a:extLst>
              <a:ext uri="{FF2B5EF4-FFF2-40B4-BE49-F238E27FC236}">
                <a16:creationId xmlns:a16="http://schemas.microsoft.com/office/drawing/2014/main" id="{C650BA80-7CD9-460E-956A-80633C16C2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14434D80-DD4C-4B50-893D-999BEB93F668}" type="slidenum">
              <a:rPr lang="en-US" altLang="en-US" sz="1000" b="0" smtClean="0">
                <a:solidFill>
                  <a:schemeClr val="accent1"/>
                </a:solidFill>
              </a:rPr>
              <a:pPr/>
              <a:t>18</a:t>
            </a:fld>
            <a:endParaRPr lang="en-US" altLang="en-US" sz="1000" b="0">
              <a:solidFill>
                <a:schemeClr val="accent1"/>
              </a:solidFill>
            </a:endParaRPr>
          </a:p>
        </p:txBody>
      </p:sp>
      <p:sp>
        <p:nvSpPr>
          <p:cNvPr id="32773" name="Rectangle 2">
            <a:extLst>
              <a:ext uri="{FF2B5EF4-FFF2-40B4-BE49-F238E27FC236}">
                <a16:creationId xmlns:a16="http://schemas.microsoft.com/office/drawing/2014/main" id="{93414FA5-AF45-4DC5-B18A-E9B40C37EB26}"/>
              </a:ext>
            </a:extLst>
          </p:cNvPr>
          <p:cNvSpPr>
            <a:spLocks noGrp="1" noRot="1" noChangeAspect="1" noChangeArrowheads="1" noTextEdit="1"/>
          </p:cNvSpPr>
          <p:nvPr>
            <p:ph type="sldImg"/>
          </p:nvPr>
        </p:nvSpPr>
        <p:spPr>
          <a:ln/>
        </p:spPr>
      </p:sp>
      <p:sp>
        <p:nvSpPr>
          <p:cNvPr id="32774" name="Rectangle 3">
            <a:extLst>
              <a:ext uri="{FF2B5EF4-FFF2-40B4-BE49-F238E27FC236}">
                <a16:creationId xmlns:a16="http://schemas.microsoft.com/office/drawing/2014/main" id="{C624085A-2773-4145-B9ED-0A0489D349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C6E81869-E28E-44B0-9F6D-0282EBB97E3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34819" name="Rectangle 6">
            <a:extLst>
              <a:ext uri="{FF2B5EF4-FFF2-40B4-BE49-F238E27FC236}">
                <a16:creationId xmlns:a16="http://schemas.microsoft.com/office/drawing/2014/main" id="{FC1CFE0F-8ECB-488E-BE3C-A0622055A56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34820" name="Rectangle 7">
            <a:extLst>
              <a:ext uri="{FF2B5EF4-FFF2-40B4-BE49-F238E27FC236}">
                <a16:creationId xmlns:a16="http://schemas.microsoft.com/office/drawing/2014/main" id="{1FC98784-F417-43A8-A21F-CC955D420F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D65D5523-465A-4A6C-83F7-1C85EB64E164}" type="slidenum">
              <a:rPr lang="en-US" altLang="en-US" sz="1000" b="0" smtClean="0">
                <a:solidFill>
                  <a:schemeClr val="accent1"/>
                </a:solidFill>
              </a:rPr>
              <a:pPr/>
              <a:t>19</a:t>
            </a:fld>
            <a:endParaRPr lang="en-US" altLang="en-US" sz="1000" b="0">
              <a:solidFill>
                <a:schemeClr val="accent1"/>
              </a:solidFill>
            </a:endParaRPr>
          </a:p>
        </p:txBody>
      </p:sp>
      <p:sp>
        <p:nvSpPr>
          <p:cNvPr id="34821" name="Rectangle 2">
            <a:extLst>
              <a:ext uri="{FF2B5EF4-FFF2-40B4-BE49-F238E27FC236}">
                <a16:creationId xmlns:a16="http://schemas.microsoft.com/office/drawing/2014/main" id="{2B083352-EEF5-47CA-B464-71A8E0E71F3D}"/>
              </a:ext>
            </a:extLst>
          </p:cNvPr>
          <p:cNvSpPr>
            <a:spLocks noGrp="1" noRot="1" noChangeAspect="1" noChangeArrowheads="1" noTextEdit="1"/>
          </p:cNvSpPr>
          <p:nvPr>
            <p:ph type="sldImg"/>
          </p:nvPr>
        </p:nvSpPr>
        <p:spPr>
          <a:ln/>
        </p:spPr>
      </p:sp>
      <p:sp>
        <p:nvSpPr>
          <p:cNvPr id="34822" name="Rectangle 3">
            <a:extLst>
              <a:ext uri="{FF2B5EF4-FFF2-40B4-BE49-F238E27FC236}">
                <a16:creationId xmlns:a16="http://schemas.microsoft.com/office/drawing/2014/main" id="{154C7ACB-884A-4554-A733-DBF169B63C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B2FD78A-DF0B-4529-99EB-D1A42E689FA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36867" name="Rectangle 6">
            <a:extLst>
              <a:ext uri="{FF2B5EF4-FFF2-40B4-BE49-F238E27FC236}">
                <a16:creationId xmlns:a16="http://schemas.microsoft.com/office/drawing/2014/main" id="{CC431737-FD20-4E34-9561-5288AC22BC5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36868" name="Rectangle 7">
            <a:extLst>
              <a:ext uri="{FF2B5EF4-FFF2-40B4-BE49-F238E27FC236}">
                <a16:creationId xmlns:a16="http://schemas.microsoft.com/office/drawing/2014/main" id="{D8BB9C7E-8112-47BC-A235-FE95840E51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7FF61AE8-496F-4693-AEAC-78820A7BB5E4}" type="slidenum">
              <a:rPr lang="en-US" altLang="en-US" sz="1000" b="0" smtClean="0">
                <a:solidFill>
                  <a:schemeClr val="accent1"/>
                </a:solidFill>
              </a:rPr>
              <a:pPr/>
              <a:t>20</a:t>
            </a:fld>
            <a:endParaRPr lang="en-US" altLang="en-US" sz="1000" b="0">
              <a:solidFill>
                <a:schemeClr val="accent1"/>
              </a:solidFill>
            </a:endParaRPr>
          </a:p>
        </p:txBody>
      </p:sp>
      <p:sp>
        <p:nvSpPr>
          <p:cNvPr id="36869" name="Rectangle 2">
            <a:extLst>
              <a:ext uri="{FF2B5EF4-FFF2-40B4-BE49-F238E27FC236}">
                <a16:creationId xmlns:a16="http://schemas.microsoft.com/office/drawing/2014/main" id="{383A42D2-DE2A-4D36-A905-9F95C03855F2}"/>
              </a:ext>
            </a:extLst>
          </p:cNvPr>
          <p:cNvSpPr>
            <a:spLocks noGrp="1" noRot="1" noChangeAspect="1" noChangeArrowheads="1" noTextEdit="1"/>
          </p:cNvSpPr>
          <p:nvPr>
            <p:ph type="sldImg"/>
          </p:nvPr>
        </p:nvSpPr>
        <p:spPr>
          <a:ln/>
        </p:spPr>
      </p:sp>
      <p:sp>
        <p:nvSpPr>
          <p:cNvPr id="36870" name="Rectangle 3">
            <a:extLst>
              <a:ext uri="{FF2B5EF4-FFF2-40B4-BE49-F238E27FC236}">
                <a16:creationId xmlns:a16="http://schemas.microsoft.com/office/drawing/2014/main" id="{C2CEC6A7-AA28-4DC6-B50E-14A7DF7B88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B729CB99-E458-4170-92EB-E3D1E872416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38915" name="Rectangle 6">
            <a:extLst>
              <a:ext uri="{FF2B5EF4-FFF2-40B4-BE49-F238E27FC236}">
                <a16:creationId xmlns:a16="http://schemas.microsoft.com/office/drawing/2014/main" id="{006A0181-5513-4E3D-A4B1-77A9CAD5415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38916" name="Rectangle 7">
            <a:extLst>
              <a:ext uri="{FF2B5EF4-FFF2-40B4-BE49-F238E27FC236}">
                <a16:creationId xmlns:a16="http://schemas.microsoft.com/office/drawing/2014/main" id="{71E47D87-240D-4A91-9CA5-093A0F813E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629F5222-BA6C-4118-BBBD-33BD18E7DB22}" type="slidenum">
              <a:rPr lang="en-US" altLang="en-US" sz="1000" b="0" smtClean="0">
                <a:solidFill>
                  <a:schemeClr val="accent1"/>
                </a:solidFill>
              </a:rPr>
              <a:pPr/>
              <a:t>21</a:t>
            </a:fld>
            <a:endParaRPr lang="en-US" altLang="en-US" sz="1000" b="0">
              <a:solidFill>
                <a:schemeClr val="accent1"/>
              </a:solidFill>
            </a:endParaRPr>
          </a:p>
        </p:txBody>
      </p:sp>
      <p:sp>
        <p:nvSpPr>
          <p:cNvPr id="38917" name="Rectangle 2">
            <a:extLst>
              <a:ext uri="{FF2B5EF4-FFF2-40B4-BE49-F238E27FC236}">
                <a16:creationId xmlns:a16="http://schemas.microsoft.com/office/drawing/2014/main" id="{C4AE9EFB-A5AA-4B3C-BA9A-01464C2C96C9}"/>
              </a:ext>
            </a:extLst>
          </p:cNvPr>
          <p:cNvSpPr>
            <a:spLocks noGrp="1" noRot="1" noChangeAspect="1" noChangeArrowheads="1" noTextEdit="1"/>
          </p:cNvSpPr>
          <p:nvPr>
            <p:ph type="sldImg"/>
          </p:nvPr>
        </p:nvSpPr>
        <p:spPr>
          <a:ln/>
        </p:spPr>
      </p:sp>
      <p:sp>
        <p:nvSpPr>
          <p:cNvPr id="38918" name="Rectangle 3">
            <a:extLst>
              <a:ext uri="{FF2B5EF4-FFF2-40B4-BE49-F238E27FC236}">
                <a16:creationId xmlns:a16="http://schemas.microsoft.com/office/drawing/2014/main" id="{6BE63F5E-B761-4877-855E-072DE1A484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733A4DF-6435-4C42-AE41-5545FBB2470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40963" name="Rectangle 6">
            <a:extLst>
              <a:ext uri="{FF2B5EF4-FFF2-40B4-BE49-F238E27FC236}">
                <a16:creationId xmlns:a16="http://schemas.microsoft.com/office/drawing/2014/main" id="{C55DBEAF-E36F-43B2-9DB4-E0D0697DD9E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40964" name="Rectangle 7">
            <a:extLst>
              <a:ext uri="{FF2B5EF4-FFF2-40B4-BE49-F238E27FC236}">
                <a16:creationId xmlns:a16="http://schemas.microsoft.com/office/drawing/2014/main" id="{25517F44-B4A6-4FA9-97C3-C7EFF34951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64E08E98-63A3-4E3F-B52C-CC8F2683B1C0}" type="slidenum">
              <a:rPr lang="en-US" altLang="en-US" sz="1000" b="0" smtClean="0">
                <a:solidFill>
                  <a:schemeClr val="accent1"/>
                </a:solidFill>
              </a:rPr>
              <a:pPr/>
              <a:t>22</a:t>
            </a:fld>
            <a:endParaRPr lang="en-US" altLang="en-US" sz="1000" b="0">
              <a:solidFill>
                <a:schemeClr val="accent1"/>
              </a:solidFill>
            </a:endParaRPr>
          </a:p>
        </p:txBody>
      </p:sp>
      <p:sp>
        <p:nvSpPr>
          <p:cNvPr id="40965" name="Rectangle 2">
            <a:extLst>
              <a:ext uri="{FF2B5EF4-FFF2-40B4-BE49-F238E27FC236}">
                <a16:creationId xmlns:a16="http://schemas.microsoft.com/office/drawing/2014/main" id="{A0A32E20-96CA-4248-A16A-23E8416F2BB6}"/>
              </a:ext>
            </a:extLst>
          </p:cNvPr>
          <p:cNvSpPr>
            <a:spLocks noGrp="1" noRot="1" noChangeAspect="1" noChangeArrowheads="1" noTextEdit="1"/>
          </p:cNvSpPr>
          <p:nvPr>
            <p:ph type="sldImg"/>
          </p:nvPr>
        </p:nvSpPr>
        <p:spPr>
          <a:ln/>
        </p:spPr>
      </p:sp>
      <p:sp>
        <p:nvSpPr>
          <p:cNvPr id="40966" name="Rectangle 3">
            <a:extLst>
              <a:ext uri="{FF2B5EF4-FFF2-40B4-BE49-F238E27FC236}">
                <a16:creationId xmlns:a16="http://schemas.microsoft.com/office/drawing/2014/main" id="{CA601834-4B4A-41AB-BB8F-8C70509AC7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91EC9E0-237D-4F86-9413-70D8A508239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43011" name="Rectangle 6">
            <a:extLst>
              <a:ext uri="{FF2B5EF4-FFF2-40B4-BE49-F238E27FC236}">
                <a16:creationId xmlns:a16="http://schemas.microsoft.com/office/drawing/2014/main" id="{0293E48C-0469-4B9A-8479-68F247F2376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43012" name="Rectangle 7">
            <a:extLst>
              <a:ext uri="{FF2B5EF4-FFF2-40B4-BE49-F238E27FC236}">
                <a16:creationId xmlns:a16="http://schemas.microsoft.com/office/drawing/2014/main" id="{EE689A3C-3B2C-4F4C-B38E-4D1D471E2A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1385D4EB-4184-4075-8483-83A36C468DF5}" type="slidenum">
              <a:rPr lang="en-US" altLang="en-US" sz="1000" b="0" smtClean="0">
                <a:solidFill>
                  <a:schemeClr val="accent1"/>
                </a:solidFill>
              </a:rPr>
              <a:pPr/>
              <a:t>23</a:t>
            </a:fld>
            <a:endParaRPr lang="en-US" altLang="en-US" sz="1000" b="0">
              <a:solidFill>
                <a:schemeClr val="accent1"/>
              </a:solidFill>
            </a:endParaRPr>
          </a:p>
        </p:txBody>
      </p:sp>
      <p:sp>
        <p:nvSpPr>
          <p:cNvPr id="43013" name="Rectangle 2">
            <a:extLst>
              <a:ext uri="{FF2B5EF4-FFF2-40B4-BE49-F238E27FC236}">
                <a16:creationId xmlns:a16="http://schemas.microsoft.com/office/drawing/2014/main" id="{29457B95-2782-4D0C-ACEF-A7E9F416E44A}"/>
              </a:ext>
            </a:extLst>
          </p:cNvPr>
          <p:cNvSpPr>
            <a:spLocks noGrp="1" noRot="1" noChangeAspect="1" noChangeArrowheads="1" noTextEdit="1"/>
          </p:cNvSpPr>
          <p:nvPr>
            <p:ph type="sldImg"/>
          </p:nvPr>
        </p:nvSpPr>
        <p:spPr>
          <a:ln/>
        </p:spPr>
      </p:sp>
      <p:sp>
        <p:nvSpPr>
          <p:cNvPr id="43014" name="Rectangle 3">
            <a:extLst>
              <a:ext uri="{FF2B5EF4-FFF2-40B4-BE49-F238E27FC236}">
                <a16:creationId xmlns:a16="http://schemas.microsoft.com/office/drawing/2014/main" id="{E6FBB3AD-D41E-4157-8F40-174B500BF8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84AE389A-9A98-48DA-B77B-59BE26CC93A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45059" name="Rectangle 6">
            <a:extLst>
              <a:ext uri="{FF2B5EF4-FFF2-40B4-BE49-F238E27FC236}">
                <a16:creationId xmlns:a16="http://schemas.microsoft.com/office/drawing/2014/main" id="{58347636-6A04-4356-BC8F-0E3E5E8480E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45060" name="Rectangle 7">
            <a:extLst>
              <a:ext uri="{FF2B5EF4-FFF2-40B4-BE49-F238E27FC236}">
                <a16:creationId xmlns:a16="http://schemas.microsoft.com/office/drawing/2014/main" id="{FC8DA197-2047-4EAC-8E6B-A708767459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7286DB06-13D4-46BE-8420-D75806CF95AB}" type="slidenum">
              <a:rPr lang="en-US" altLang="en-US" sz="1000" b="0" smtClean="0">
                <a:solidFill>
                  <a:schemeClr val="accent1"/>
                </a:solidFill>
              </a:rPr>
              <a:pPr/>
              <a:t>24</a:t>
            </a:fld>
            <a:endParaRPr lang="en-US" altLang="en-US" sz="1000" b="0">
              <a:solidFill>
                <a:schemeClr val="accent1"/>
              </a:solidFill>
            </a:endParaRPr>
          </a:p>
        </p:txBody>
      </p:sp>
      <p:sp>
        <p:nvSpPr>
          <p:cNvPr id="45061" name="Rectangle 2">
            <a:extLst>
              <a:ext uri="{FF2B5EF4-FFF2-40B4-BE49-F238E27FC236}">
                <a16:creationId xmlns:a16="http://schemas.microsoft.com/office/drawing/2014/main" id="{4208A6F8-8BCD-4B2D-998D-029952BE9191}"/>
              </a:ext>
            </a:extLst>
          </p:cNvPr>
          <p:cNvSpPr>
            <a:spLocks noGrp="1" noRot="1" noChangeAspect="1" noChangeArrowheads="1" noTextEdit="1"/>
          </p:cNvSpPr>
          <p:nvPr>
            <p:ph type="sldImg"/>
          </p:nvPr>
        </p:nvSpPr>
        <p:spPr>
          <a:ln/>
        </p:spPr>
      </p:sp>
      <p:sp>
        <p:nvSpPr>
          <p:cNvPr id="45062" name="Rectangle 3">
            <a:extLst>
              <a:ext uri="{FF2B5EF4-FFF2-40B4-BE49-F238E27FC236}">
                <a16:creationId xmlns:a16="http://schemas.microsoft.com/office/drawing/2014/main" id="{60460385-C850-44D6-8E8D-408694DF7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F1807CE-C9BE-43C7-883B-1756F8FE137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47107" name="Rectangle 6">
            <a:extLst>
              <a:ext uri="{FF2B5EF4-FFF2-40B4-BE49-F238E27FC236}">
                <a16:creationId xmlns:a16="http://schemas.microsoft.com/office/drawing/2014/main" id="{B4E2D62C-FA38-4F16-910A-9B4C67B862A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47108" name="Rectangle 7">
            <a:extLst>
              <a:ext uri="{FF2B5EF4-FFF2-40B4-BE49-F238E27FC236}">
                <a16:creationId xmlns:a16="http://schemas.microsoft.com/office/drawing/2014/main" id="{65A1309D-381A-4340-AD25-BA2648CF88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25E1CC58-B7AE-44CF-B1B2-CBFE5B4BE595}" type="slidenum">
              <a:rPr lang="en-US" altLang="en-US" sz="1000" b="0" smtClean="0">
                <a:solidFill>
                  <a:schemeClr val="accent1"/>
                </a:solidFill>
              </a:rPr>
              <a:pPr/>
              <a:t>25</a:t>
            </a:fld>
            <a:endParaRPr lang="en-US" altLang="en-US" sz="1000" b="0">
              <a:solidFill>
                <a:schemeClr val="accent1"/>
              </a:solidFill>
            </a:endParaRPr>
          </a:p>
        </p:txBody>
      </p:sp>
      <p:sp>
        <p:nvSpPr>
          <p:cNvPr id="47109" name="Rectangle 2">
            <a:extLst>
              <a:ext uri="{FF2B5EF4-FFF2-40B4-BE49-F238E27FC236}">
                <a16:creationId xmlns:a16="http://schemas.microsoft.com/office/drawing/2014/main" id="{44928F20-69DC-4BF1-83DC-1A00B7C4FA83}"/>
              </a:ext>
            </a:extLst>
          </p:cNvPr>
          <p:cNvSpPr>
            <a:spLocks noGrp="1" noRot="1" noChangeAspect="1" noChangeArrowheads="1" noTextEdit="1"/>
          </p:cNvSpPr>
          <p:nvPr>
            <p:ph type="sldImg"/>
          </p:nvPr>
        </p:nvSpPr>
        <p:spPr>
          <a:ln/>
        </p:spPr>
      </p:sp>
      <p:sp>
        <p:nvSpPr>
          <p:cNvPr id="47110" name="Rectangle 3">
            <a:extLst>
              <a:ext uri="{FF2B5EF4-FFF2-40B4-BE49-F238E27FC236}">
                <a16:creationId xmlns:a16="http://schemas.microsoft.com/office/drawing/2014/main" id="{BEFB598D-71CC-4BAF-AA01-4281862A82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B910040-0038-4A44-AD31-C5F66A29CE6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49155" name="Rectangle 6">
            <a:extLst>
              <a:ext uri="{FF2B5EF4-FFF2-40B4-BE49-F238E27FC236}">
                <a16:creationId xmlns:a16="http://schemas.microsoft.com/office/drawing/2014/main" id="{5E5E58FC-2D2D-4D12-A72C-F763E1B605C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49156" name="Rectangle 7">
            <a:extLst>
              <a:ext uri="{FF2B5EF4-FFF2-40B4-BE49-F238E27FC236}">
                <a16:creationId xmlns:a16="http://schemas.microsoft.com/office/drawing/2014/main" id="{525117B6-020B-4173-9A1A-F832D3F022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E5452D40-59A0-42B6-9332-2066BCB2ECB6}" type="slidenum">
              <a:rPr lang="en-US" altLang="en-US" sz="1000" b="0" smtClean="0">
                <a:solidFill>
                  <a:schemeClr val="accent1"/>
                </a:solidFill>
              </a:rPr>
              <a:pPr/>
              <a:t>26</a:t>
            </a:fld>
            <a:endParaRPr lang="en-US" altLang="en-US" sz="1000" b="0">
              <a:solidFill>
                <a:schemeClr val="accent1"/>
              </a:solidFill>
            </a:endParaRPr>
          </a:p>
        </p:txBody>
      </p:sp>
      <p:sp>
        <p:nvSpPr>
          <p:cNvPr id="49157" name="Rectangle 2">
            <a:extLst>
              <a:ext uri="{FF2B5EF4-FFF2-40B4-BE49-F238E27FC236}">
                <a16:creationId xmlns:a16="http://schemas.microsoft.com/office/drawing/2014/main" id="{C89009C3-B0F8-4198-83EB-48407103051B}"/>
              </a:ext>
            </a:extLst>
          </p:cNvPr>
          <p:cNvSpPr>
            <a:spLocks noGrp="1" noRot="1" noChangeAspect="1" noChangeArrowheads="1" noTextEdit="1"/>
          </p:cNvSpPr>
          <p:nvPr>
            <p:ph type="sldImg"/>
          </p:nvPr>
        </p:nvSpPr>
        <p:spPr>
          <a:ln/>
        </p:spPr>
      </p:sp>
      <p:sp>
        <p:nvSpPr>
          <p:cNvPr id="49158" name="Rectangle 3">
            <a:extLst>
              <a:ext uri="{FF2B5EF4-FFF2-40B4-BE49-F238E27FC236}">
                <a16:creationId xmlns:a16="http://schemas.microsoft.com/office/drawing/2014/main" id="{86E322FA-049B-4266-93CD-E58D2674E2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7C91C0E-69F1-445C-AC07-64750B6185F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51203" name="Rectangle 6">
            <a:extLst>
              <a:ext uri="{FF2B5EF4-FFF2-40B4-BE49-F238E27FC236}">
                <a16:creationId xmlns:a16="http://schemas.microsoft.com/office/drawing/2014/main" id="{44B0EEB2-0857-4A49-BBDD-B28DBC3DC95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51204" name="Rectangle 7">
            <a:extLst>
              <a:ext uri="{FF2B5EF4-FFF2-40B4-BE49-F238E27FC236}">
                <a16:creationId xmlns:a16="http://schemas.microsoft.com/office/drawing/2014/main" id="{25081195-19AE-4921-A128-D976908CD7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A8EFEADE-F60A-452A-9C97-72AABE5F21F7}" type="slidenum">
              <a:rPr lang="en-US" altLang="en-US" sz="1000" b="0" smtClean="0">
                <a:solidFill>
                  <a:schemeClr val="accent1"/>
                </a:solidFill>
              </a:rPr>
              <a:pPr/>
              <a:t>27</a:t>
            </a:fld>
            <a:endParaRPr lang="en-US" altLang="en-US" sz="1000" b="0">
              <a:solidFill>
                <a:schemeClr val="accent1"/>
              </a:solidFill>
            </a:endParaRPr>
          </a:p>
        </p:txBody>
      </p:sp>
      <p:sp>
        <p:nvSpPr>
          <p:cNvPr id="51205" name="Rectangle 2">
            <a:extLst>
              <a:ext uri="{FF2B5EF4-FFF2-40B4-BE49-F238E27FC236}">
                <a16:creationId xmlns:a16="http://schemas.microsoft.com/office/drawing/2014/main" id="{E0D75DBA-1CB0-4F81-9605-86C948D32B97}"/>
              </a:ext>
            </a:extLst>
          </p:cNvPr>
          <p:cNvSpPr>
            <a:spLocks noGrp="1" noRot="1" noChangeAspect="1" noChangeArrowheads="1" noTextEdit="1"/>
          </p:cNvSpPr>
          <p:nvPr>
            <p:ph type="sldImg"/>
          </p:nvPr>
        </p:nvSpPr>
        <p:spPr>
          <a:ln/>
        </p:spPr>
      </p:sp>
      <p:sp>
        <p:nvSpPr>
          <p:cNvPr id="51206" name="Rectangle 3">
            <a:extLst>
              <a:ext uri="{FF2B5EF4-FFF2-40B4-BE49-F238E27FC236}">
                <a16:creationId xmlns:a16="http://schemas.microsoft.com/office/drawing/2014/main" id="{1F316C00-E8A4-42CE-BBC6-6D199D4651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90E76A3-F861-4198-B8A0-79BCC304E22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53251" name="Rectangle 6">
            <a:extLst>
              <a:ext uri="{FF2B5EF4-FFF2-40B4-BE49-F238E27FC236}">
                <a16:creationId xmlns:a16="http://schemas.microsoft.com/office/drawing/2014/main" id="{DF4B9732-6931-4513-A13E-33F562CF5C3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53252" name="Rectangle 7">
            <a:extLst>
              <a:ext uri="{FF2B5EF4-FFF2-40B4-BE49-F238E27FC236}">
                <a16:creationId xmlns:a16="http://schemas.microsoft.com/office/drawing/2014/main" id="{2F4A6AA9-832D-40A2-A2F5-EDD47971D6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DD619571-A938-45BE-8EE2-D400B5379C06}" type="slidenum">
              <a:rPr lang="en-US" altLang="en-US" sz="1000" b="0" smtClean="0">
                <a:solidFill>
                  <a:schemeClr val="accent1"/>
                </a:solidFill>
              </a:rPr>
              <a:pPr/>
              <a:t>28</a:t>
            </a:fld>
            <a:endParaRPr lang="en-US" altLang="en-US" sz="1000" b="0">
              <a:solidFill>
                <a:schemeClr val="accent1"/>
              </a:solidFill>
            </a:endParaRPr>
          </a:p>
        </p:txBody>
      </p:sp>
      <p:sp>
        <p:nvSpPr>
          <p:cNvPr id="53253" name="Rectangle 2">
            <a:extLst>
              <a:ext uri="{FF2B5EF4-FFF2-40B4-BE49-F238E27FC236}">
                <a16:creationId xmlns:a16="http://schemas.microsoft.com/office/drawing/2014/main" id="{1A1AC769-6BA1-4733-BE9C-FD963EA9E940}"/>
              </a:ext>
            </a:extLst>
          </p:cNvPr>
          <p:cNvSpPr>
            <a:spLocks noGrp="1" noRot="1" noChangeAspect="1" noChangeArrowheads="1" noTextEdit="1"/>
          </p:cNvSpPr>
          <p:nvPr>
            <p:ph type="sldImg"/>
          </p:nvPr>
        </p:nvSpPr>
        <p:spPr>
          <a:xfrm>
            <a:off x="392113" y="692150"/>
            <a:ext cx="6070600" cy="3416300"/>
          </a:xfrm>
          <a:ln/>
        </p:spPr>
      </p:sp>
      <p:sp>
        <p:nvSpPr>
          <p:cNvPr id="53254" name="Rectangle 3">
            <a:extLst>
              <a:ext uri="{FF2B5EF4-FFF2-40B4-BE49-F238E27FC236}">
                <a16:creationId xmlns:a16="http://schemas.microsoft.com/office/drawing/2014/main" id="{C4959265-AC43-4259-B632-275A020A5AB7}"/>
              </a:ext>
            </a:extLst>
          </p:cNvPr>
          <p:cNvSpPr>
            <a:spLocks noGrp="1" noChangeArrowheads="1"/>
          </p:cNvSpPr>
          <p:nvPr>
            <p:ph type="body" idx="1"/>
          </p:nvPr>
        </p:nvSpPr>
        <p:spPr>
          <a:xfrm>
            <a:off x="511175" y="4340225"/>
            <a:ext cx="5894388" cy="41195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824B6D53-59E1-407F-B0EC-A6C0E77D439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55299" name="Rectangle 6">
            <a:extLst>
              <a:ext uri="{FF2B5EF4-FFF2-40B4-BE49-F238E27FC236}">
                <a16:creationId xmlns:a16="http://schemas.microsoft.com/office/drawing/2014/main" id="{ED6E8323-15B8-4B0D-BC98-156603CDDD3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55300" name="Rectangle 7">
            <a:extLst>
              <a:ext uri="{FF2B5EF4-FFF2-40B4-BE49-F238E27FC236}">
                <a16:creationId xmlns:a16="http://schemas.microsoft.com/office/drawing/2014/main" id="{E5319C64-65D7-403B-A91B-C013E1EFE5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B1DDCF11-AD1C-441B-95C2-E98D2FB959F4}" type="slidenum">
              <a:rPr lang="en-US" altLang="en-US" sz="1000" b="0" smtClean="0">
                <a:solidFill>
                  <a:schemeClr val="accent1"/>
                </a:solidFill>
              </a:rPr>
              <a:pPr/>
              <a:t>29</a:t>
            </a:fld>
            <a:endParaRPr lang="en-US" altLang="en-US" sz="1000" b="0">
              <a:solidFill>
                <a:schemeClr val="accent1"/>
              </a:solidFill>
            </a:endParaRPr>
          </a:p>
        </p:txBody>
      </p:sp>
      <p:sp>
        <p:nvSpPr>
          <p:cNvPr id="55301" name="Rectangle 2">
            <a:extLst>
              <a:ext uri="{FF2B5EF4-FFF2-40B4-BE49-F238E27FC236}">
                <a16:creationId xmlns:a16="http://schemas.microsoft.com/office/drawing/2014/main" id="{64ED20C5-C4E7-44FD-8B59-99E7A9821D7F}"/>
              </a:ext>
            </a:extLst>
          </p:cNvPr>
          <p:cNvSpPr>
            <a:spLocks noGrp="1" noRot="1" noChangeAspect="1" noChangeArrowheads="1" noTextEdit="1"/>
          </p:cNvSpPr>
          <p:nvPr>
            <p:ph type="sldImg"/>
          </p:nvPr>
        </p:nvSpPr>
        <p:spPr>
          <a:xfrm>
            <a:off x="392113" y="692150"/>
            <a:ext cx="6070600" cy="3416300"/>
          </a:xfrm>
          <a:ln/>
        </p:spPr>
      </p:sp>
      <p:sp>
        <p:nvSpPr>
          <p:cNvPr id="55302" name="Rectangle 3">
            <a:extLst>
              <a:ext uri="{FF2B5EF4-FFF2-40B4-BE49-F238E27FC236}">
                <a16:creationId xmlns:a16="http://schemas.microsoft.com/office/drawing/2014/main" id="{EB9957A7-79DD-48CF-9D87-B7C18F402BB7}"/>
              </a:ext>
            </a:extLst>
          </p:cNvPr>
          <p:cNvSpPr>
            <a:spLocks noGrp="1" noChangeArrowheads="1"/>
          </p:cNvSpPr>
          <p:nvPr>
            <p:ph type="body" idx="1"/>
          </p:nvPr>
        </p:nvSpPr>
        <p:spPr>
          <a:xfrm>
            <a:off x="511175" y="4340225"/>
            <a:ext cx="5894388" cy="41195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4E01DCED-A362-46E8-A4F9-8176B023363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Breakthrough to Prime</a:t>
            </a:r>
          </a:p>
        </p:txBody>
      </p:sp>
      <p:sp>
        <p:nvSpPr>
          <p:cNvPr id="57347" name="Rectangle 6">
            <a:extLst>
              <a:ext uri="{FF2B5EF4-FFF2-40B4-BE49-F238E27FC236}">
                <a16:creationId xmlns:a16="http://schemas.microsoft.com/office/drawing/2014/main" id="{DCE24DDB-FF04-404B-834A-587AEC9E410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b="0">
                <a:solidFill>
                  <a:schemeClr val="accent1"/>
                </a:solidFill>
              </a:rPr>
              <a:t>©Adizes Institute, 2003  All Rights Reserved</a:t>
            </a:r>
          </a:p>
        </p:txBody>
      </p:sp>
      <p:sp>
        <p:nvSpPr>
          <p:cNvPr id="57348" name="Rectangle 7">
            <a:extLst>
              <a:ext uri="{FF2B5EF4-FFF2-40B4-BE49-F238E27FC236}">
                <a16:creationId xmlns:a16="http://schemas.microsoft.com/office/drawing/2014/main" id="{6BDC15C8-0E97-4C61-983D-94D17963E6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000" b="1">
                <a:solidFill>
                  <a:schemeClr val="tx1"/>
                </a:solidFill>
                <a:latin typeface="Times New Roman" panose="02020603050405020304" pitchFamily="18" charset="0"/>
                <a:ea typeface="ＭＳ Ｐゴシック" panose="020B0600070205080204" pitchFamily="34" charset="-128"/>
              </a:defRPr>
            </a:lvl1pPr>
            <a:lvl2pPr marL="742950" indent="-285750" defTabSz="911225">
              <a:defRPr sz="2000" b="1">
                <a:solidFill>
                  <a:schemeClr val="tx1"/>
                </a:solidFill>
                <a:latin typeface="Times New Roman" panose="02020603050405020304" pitchFamily="18" charset="0"/>
                <a:ea typeface="ＭＳ Ｐゴシック" panose="020B0600070205080204" pitchFamily="34" charset="-128"/>
              </a:defRPr>
            </a:lvl2pPr>
            <a:lvl3pPr marL="1143000" indent="-228600" defTabSz="911225">
              <a:defRPr sz="2000" b="1">
                <a:solidFill>
                  <a:schemeClr val="tx1"/>
                </a:solidFill>
                <a:latin typeface="Times New Roman" panose="02020603050405020304" pitchFamily="18" charset="0"/>
                <a:ea typeface="ＭＳ Ｐゴシック" panose="020B0600070205080204" pitchFamily="34" charset="-128"/>
              </a:defRPr>
            </a:lvl3pPr>
            <a:lvl4pPr marL="1600200" indent="-228600" defTabSz="911225">
              <a:defRPr sz="2000" b="1">
                <a:solidFill>
                  <a:schemeClr val="tx1"/>
                </a:solidFill>
                <a:latin typeface="Times New Roman" panose="02020603050405020304" pitchFamily="18" charset="0"/>
                <a:ea typeface="ＭＳ Ｐゴシック" panose="020B0600070205080204" pitchFamily="34" charset="-128"/>
              </a:defRPr>
            </a:lvl4pPr>
            <a:lvl5pPr marL="2057400" indent="-228600" defTabSz="911225">
              <a:defRPr sz="2000" b="1">
                <a:solidFill>
                  <a:schemeClr val="tx1"/>
                </a:solidFill>
                <a:latin typeface="Times New Roman" panose="02020603050405020304" pitchFamily="18" charset="0"/>
                <a:ea typeface="ＭＳ Ｐゴシック" panose="020B0600070205080204" pitchFamily="34" charset="-128"/>
              </a:defRPr>
            </a:lvl5pPr>
            <a:lvl6pPr marL="25146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defTabSz="911225"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fld id="{6453BAE6-2AA8-412B-9389-BBCD301C789A}" type="slidenum">
              <a:rPr lang="en-US" altLang="en-US" sz="1000" b="0" smtClean="0">
                <a:solidFill>
                  <a:schemeClr val="accent1"/>
                </a:solidFill>
              </a:rPr>
              <a:pPr/>
              <a:t>30</a:t>
            </a:fld>
            <a:endParaRPr lang="en-US" altLang="en-US" sz="1000" b="0">
              <a:solidFill>
                <a:schemeClr val="accent1"/>
              </a:solidFill>
            </a:endParaRPr>
          </a:p>
        </p:txBody>
      </p:sp>
      <p:sp>
        <p:nvSpPr>
          <p:cNvPr id="57349" name="Rectangle 2">
            <a:extLst>
              <a:ext uri="{FF2B5EF4-FFF2-40B4-BE49-F238E27FC236}">
                <a16:creationId xmlns:a16="http://schemas.microsoft.com/office/drawing/2014/main" id="{03D4CE8F-672F-4597-A17B-86FC8B99B47F}"/>
              </a:ext>
            </a:extLst>
          </p:cNvPr>
          <p:cNvSpPr>
            <a:spLocks noGrp="1" noRot="1" noChangeAspect="1" noChangeArrowheads="1" noTextEdit="1"/>
          </p:cNvSpPr>
          <p:nvPr>
            <p:ph type="sldImg"/>
          </p:nvPr>
        </p:nvSpPr>
        <p:spPr>
          <a:xfrm>
            <a:off x="392113" y="692150"/>
            <a:ext cx="6070600" cy="3416300"/>
          </a:xfrm>
          <a:ln/>
        </p:spPr>
      </p:sp>
      <p:sp>
        <p:nvSpPr>
          <p:cNvPr id="57350" name="Rectangle 3">
            <a:extLst>
              <a:ext uri="{FF2B5EF4-FFF2-40B4-BE49-F238E27FC236}">
                <a16:creationId xmlns:a16="http://schemas.microsoft.com/office/drawing/2014/main" id="{973897F3-01E1-488D-8601-A463CC4DFD74}"/>
              </a:ext>
            </a:extLst>
          </p:cNvPr>
          <p:cNvSpPr>
            <a:spLocks noGrp="1" noChangeArrowheads="1"/>
          </p:cNvSpPr>
          <p:nvPr>
            <p:ph type="body" idx="1"/>
          </p:nvPr>
        </p:nvSpPr>
        <p:spPr>
          <a:xfrm>
            <a:off x="511175" y="4340225"/>
            <a:ext cx="5894388" cy="41195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677F5-4244-4F7A-BBE8-97878006CB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905871-FB3E-481F-A31B-C91AE91239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A9028EE-7E1D-403E-B22D-EE8AB47649E8}"/>
              </a:ext>
            </a:extLst>
          </p:cNvPr>
          <p:cNvSpPr>
            <a:spLocks noGrp="1"/>
          </p:cNvSpPr>
          <p:nvPr>
            <p:ph type="dt" sz="half" idx="10"/>
          </p:nvPr>
        </p:nvSpPr>
        <p:spPr/>
        <p:txBody>
          <a:bodyPr/>
          <a:lstStyle/>
          <a:p>
            <a:fld id="{05F2EE67-6EB2-4BBF-AE84-CE583B8012D9}" type="datetimeFigureOut">
              <a:rPr lang="en-US" smtClean="0"/>
              <a:t>16-Jun-19</a:t>
            </a:fld>
            <a:endParaRPr lang="en-US"/>
          </a:p>
        </p:txBody>
      </p:sp>
      <p:sp>
        <p:nvSpPr>
          <p:cNvPr id="5" name="Footer Placeholder 4">
            <a:extLst>
              <a:ext uri="{FF2B5EF4-FFF2-40B4-BE49-F238E27FC236}">
                <a16:creationId xmlns:a16="http://schemas.microsoft.com/office/drawing/2014/main" id="{0739A6B1-30C0-41BF-AA03-441FCAF281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9B83D0-617E-44AA-9E7B-56679ADAC604}"/>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4223713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AAA3A-102D-44F8-860E-06D6CF00DB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0C2CA5-FB60-428F-AEF5-D1311D6A89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154EC1-56C6-41AB-B1D6-2D73B6308788}"/>
              </a:ext>
            </a:extLst>
          </p:cNvPr>
          <p:cNvSpPr>
            <a:spLocks noGrp="1"/>
          </p:cNvSpPr>
          <p:nvPr>
            <p:ph type="dt" sz="half" idx="10"/>
          </p:nvPr>
        </p:nvSpPr>
        <p:spPr/>
        <p:txBody>
          <a:bodyPr/>
          <a:lstStyle/>
          <a:p>
            <a:fld id="{05F2EE67-6EB2-4BBF-AE84-CE583B8012D9}" type="datetimeFigureOut">
              <a:rPr lang="en-US" smtClean="0"/>
              <a:t>16-Jun-19</a:t>
            </a:fld>
            <a:endParaRPr lang="en-US"/>
          </a:p>
        </p:txBody>
      </p:sp>
      <p:sp>
        <p:nvSpPr>
          <p:cNvPr id="5" name="Footer Placeholder 4">
            <a:extLst>
              <a:ext uri="{FF2B5EF4-FFF2-40B4-BE49-F238E27FC236}">
                <a16:creationId xmlns:a16="http://schemas.microsoft.com/office/drawing/2014/main" id="{4A29BBE2-B067-4FE2-8804-4FE1172635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13B6C-D790-4675-9EDE-43CAB69F9C6E}"/>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1667141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B76E4-1EB5-4480-996E-E6806433A1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3F6CEA-03D9-458A-942C-889F7D4E20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B19384-A8C6-4523-ABED-3FCD7FE18E1A}"/>
              </a:ext>
            </a:extLst>
          </p:cNvPr>
          <p:cNvSpPr>
            <a:spLocks noGrp="1"/>
          </p:cNvSpPr>
          <p:nvPr>
            <p:ph type="dt" sz="half" idx="10"/>
          </p:nvPr>
        </p:nvSpPr>
        <p:spPr/>
        <p:txBody>
          <a:bodyPr/>
          <a:lstStyle/>
          <a:p>
            <a:fld id="{05F2EE67-6EB2-4BBF-AE84-CE583B8012D9}" type="datetimeFigureOut">
              <a:rPr lang="en-US" smtClean="0"/>
              <a:t>16-Jun-19</a:t>
            </a:fld>
            <a:endParaRPr lang="en-US"/>
          </a:p>
        </p:txBody>
      </p:sp>
      <p:sp>
        <p:nvSpPr>
          <p:cNvPr id="5" name="Footer Placeholder 4">
            <a:extLst>
              <a:ext uri="{FF2B5EF4-FFF2-40B4-BE49-F238E27FC236}">
                <a16:creationId xmlns:a16="http://schemas.microsoft.com/office/drawing/2014/main" id="{162853B3-6034-4156-B209-9E70AEBCFF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4945-AAE7-4CE6-99C5-024024423B31}"/>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3602298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CF750-2072-4E6D-B31A-3A82ED34C3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E44B60-B835-485D-9BA0-63197D9692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E99CCD-0D13-4CE6-B555-32018F273A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A931E1-ED62-4002-83C2-B0FB5DCAD666}"/>
              </a:ext>
            </a:extLst>
          </p:cNvPr>
          <p:cNvSpPr>
            <a:spLocks noGrp="1"/>
          </p:cNvSpPr>
          <p:nvPr>
            <p:ph type="dt" sz="half" idx="10"/>
          </p:nvPr>
        </p:nvSpPr>
        <p:spPr/>
        <p:txBody>
          <a:bodyPr/>
          <a:lstStyle/>
          <a:p>
            <a:fld id="{05F2EE67-6EB2-4BBF-AE84-CE583B8012D9}" type="datetimeFigureOut">
              <a:rPr lang="en-US" smtClean="0"/>
              <a:t>16-Jun-19</a:t>
            </a:fld>
            <a:endParaRPr lang="en-US"/>
          </a:p>
        </p:txBody>
      </p:sp>
      <p:sp>
        <p:nvSpPr>
          <p:cNvPr id="6" name="Footer Placeholder 5">
            <a:extLst>
              <a:ext uri="{FF2B5EF4-FFF2-40B4-BE49-F238E27FC236}">
                <a16:creationId xmlns:a16="http://schemas.microsoft.com/office/drawing/2014/main" id="{1798F1C6-D4D7-414F-BE43-B2AA0E5583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CECCB8-A5B6-4233-B3E7-0CCC27D90109}"/>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208363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4E35F-EAA2-4B26-8799-171BE4C758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2A14C3-A582-4EEF-953A-393CDD806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45CAC9-070F-4241-AD2F-B6193CE055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3074F1-5694-4C84-88D8-6F8D1D544A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4503C2-5AA8-400B-A83D-1BAC022B3D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40B6EF-0686-4D08-8C7B-9F2407E9A131}"/>
              </a:ext>
            </a:extLst>
          </p:cNvPr>
          <p:cNvSpPr>
            <a:spLocks noGrp="1"/>
          </p:cNvSpPr>
          <p:nvPr>
            <p:ph type="dt" sz="half" idx="10"/>
          </p:nvPr>
        </p:nvSpPr>
        <p:spPr/>
        <p:txBody>
          <a:bodyPr/>
          <a:lstStyle/>
          <a:p>
            <a:fld id="{05F2EE67-6EB2-4BBF-AE84-CE583B8012D9}" type="datetimeFigureOut">
              <a:rPr lang="en-US" smtClean="0"/>
              <a:t>16-Jun-19</a:t>
            </a:fld>
            <a:endParaRPr lang="en-US"/>
          </a:p>
        </p:txBody>
      </p:sp>
      <p:sp>
        <p:nvSpPr>
          <p:cNvPr id="8" name="Footer Placeholder 7">
            <a:extLst>
              <a:ext uri="{FF2B5EF4-FFF2-40B4-BE49-F238E27FC236}">
                <a16:creationId xmlns:a16="http://schemas.microsoft.com/office/drawing/2014/main" id="{4D0E99E9-F48C-44F9-9947-1BEE6D79B6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C246FE-327E-484B-BBE6-398463CEC9B3}"/>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4099227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D3152-77EE-4010-BB91-ED2D06690A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C39C7D-3B70-4C51-89D9-4E7198ECAC22}"/>
              </a:ext>
            </a:extLst>
          </p:cNvPr>
          <p:cNvSpPr>
            <a:spLocks noGrp="1"/>
          </p:cNvSpPr>
          <p:nvPr>
            <p:ph type="dt" sz="half" idx="10"/>
          </p:nvPr>
        </p:nvSpPr>
        <p:spPr/>
        <p:txBody>
          <a:bodyPr/>
          <a:lstStyle/>
          <a:p>
            <a:fld id="{05F2EE67-6EB2-4BBF-AE84-CE583B8012D9}" type="datetimeFigureOut">
              <a:rPr lang="en-US" smtClean="0"/>
              <a:t>16-Jun-19</a:t>
            </a:fld>
            <a:endParaRPr lang="en-US"/>
          </a:p>
        </p:txBody>
      </p:sp>
      <p:sp>
        <p:nvSpPr>
          <p:cNvPr id="4" name="Footer Placeholder 3">
            <a:extLst>
              <a:ext uri="{FF2B5EF4-FFF2-40B4-BE49-F238E27FC236}">
                <a16:creationId xmlns:a16="http://schemas.microsoft.com/office/drawing/2014/main" id="{4CF9857D-FFAE-4CCC-88AF-8272DF9AE2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019231-646E-49E6-A541-601AF920E0B6}"/>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485037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A65375-F8E6-41D1-BF8A-C3A153E82263}"/>
              </a:ext>
            </a:extLst>
          </p:cNvPr>
          <p:cNvSpPr>
            <a:spLocks noGrp="1"/>
          </p:cNvSpPr>
          <p:nvPr>
            <p:ph type="dt" sz="half" idx="10"/>
          </p:nvPr>
        </p:nvSpPr>
        <p:spPr/>
        <p:txBody>
          <a:bodyPr/>
          <a:lstStyle/>
          <a:p>
            <a:fld id="{05F2EE67-6EB2-4BBF-AE84-CE583B8012D9}" type="datetimeFigureOut">
              <a:rPr lang="en-US" smtClean="0"/>
              <a:t>16-Jun-19</a:t>
            </a:fld>
            <a:endParaRPr lang="en-US"/>
          </a:p>
        </p:txBody>
      </p:sp>
      <p:sp>
        <p:nvSpPr>
          <p:cNvPr id="3" name="Footer Placeholder 2">
            <a:extLst>
              <a:ext uri="{FF2B5EF4-FFF2-40B4-BE49-F238E27FC236}">
                <a16:creationId xmlns:a16="http://schemas.microsoft.com/office/drawing/2014/main" id="{978B92A6-90CC-4224-A639-E0C41B8982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C1650A-EA59-4A11-AFE0-70529B7664B2}"/>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604612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A7FBD-E610-4C33-8F0D-D9B22E622F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5F0BDE-DD2C-428C-9E15-09E056C0FE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715841-DB8B-4EAB-9435-82567B6282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BDCA8-098C-402C-966F-F4774FCBD203}"/>
              </a:ext>
            </a:extLst>
          </p:cNvPr>
          <p:cNvSpPr>
            <a:spLocks noGrp="1"/>
          </p:cNvSpPr>
          <p:nvPr>
            <p:ph type="dt" sz="half" idx="10"/>
          </p:nvPr>
        </p:nvSpPr>
        <p:spPr/>
        <p:txBody>
          <a:bodyPr/>
          <a:lstStyle/>
          <a:p>
            <a:fld id="{05F2EE67-6EB2-4BBF-AE84-CE583B8012D9}" type="datetimeFigureOut">
              <a:rPr lang="en-US" smtClean="0"/>
              <a:t>16-Jun-19</a:t>
            </a:fld>
            <a:endParaRPr lang="en-US"/>
          </a:p>
        </p:txBody>
      </p:sp>
      <p:sp>
        <p:nvSpPr>
          <p:cNvPr id="6" name="Footer Placeholder 5">
            <a:extLst>
              <a:ext uri="{FF2B5EF4-FFF2-40B4-BE49-F238E27FC236}">
                <a16:creationId xmlns:a16="http://schemas.microsoft.com/office/drawing/2014/main" id="{2BABFFBC-AF8F-44EA-80F6-0F25A63072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EFAF33-D4A3-46E4-A1D2-DD2930CD906D}"/>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4241145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41C1D-9801-4329-AB9C-4A6C9BC4C0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E36158-4071-4452-B232-FB682379DF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98FA33-2B5D-4F83-844D-C87741F62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8861B6-B57E-48FF-8110-8E0A32E7995E}"/>
              </a:ext>
            </a:extLst>
          </p:cNvPr>
          <p:cNvSpPr>
            <a:spLocks noGrp="1"/>
          </p:cNvSpPr>
          <p:nvPr>
            <p:ph type="dt" sz="half" idx="10"/>
          </p:nvPr>
        </p:nvSpPr>
        <p:spPr/>
        <p:txBody>
          <a:bodyPr/>
          <a:lstStyle/>
          <a:p>
            <a:fld id="{05F2EE67-6EB2-4BBF-AE84-CE583B8012D9}" type="datetimeFigureOut">
              <a:rPr lang="en-US" smtClean="0"/>
              <a:t>16-Jun-19</a:t>
            </a:fld>
            <a:endParaRPr lang="en-US"/>
          </a:p>
        </p:txBody>
      </p:sp>
      <p:sp>
        <p:nvSpPr>
          <p:cNvPr id="6" name="Footer Placeholder 5">
            <a:extLst>
              <a:ext uri="{FF2B5EF4-FFF2-40B4-BE49-F238E27FC236}">
                <a16:creationId xmlns:a16="http://schemas.microsoft.com/office/drawing/2014/main" id="{D11D3E17-44D7-4982-A79D-D7B1852E55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6F2079-68FC-42BF-8BB2-C2A32D36D3A8}"/>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29699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515FB-02F2-49D2-85B7-0A5261915A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1FC434-6A2F-44CD-9F04-AB0D246C8F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DFA849-2DD5-42EB-A2A6-41A2F8DB4674}"/>
              </a:ext>
            </a:extLst>
          </p:cNvPr>
          <p:cNvSpPr>
            <a:spLocks noGrp="1"/>
          </p:cNvSpPr>
          <p:nvPr>
            <p:ph type="dt" sz="half" idx="10"/>
          </p:nvPr>
        </p:nvSpPr>
        <p:spPr/>
        <p:txBody>
          <a:bodyPr/>
          <a:lstStyle/>
          <a:p>
            <a:fld id="{05F2EE67-6EB2-4BBF-AE84-CE583B8012D9}" type="datetimeFigureOut">
              <a:rPr lang="en-US" smtClean="0"/>
              <a:t>16-Jun-19</a:t>
            </a:fld>
            <a:endParaRPr lang="en-US"/>
          </a:p>
        </p:txBody>
      </p:sp>
      <p:sp>
        <p:nvSpPr>
          <p:cNvPr id="5" name="Footer Placeholder 4">
            <a:extLst>
              <a:ext uri="{FF2B5EF4-FFF2-40B4-BE49-F238E27FC236}">
                <a16:creationId xmlns:a16="http://schemas.microsoft.com/office/drawing/2014/main" id="{3E9D5F79-978D-4944-A40E-7402FBFF0C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27133-1FF0-4AC4-B645-A783C0AC9E4E}"/>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2729052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F560FB-2EE9-44DC-9CA3-6AF21A9E5E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4E2C0B-E8FF-4835-96EC-5909A33415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29D359-93D5-4182-928B-F0CAB5BF261C}"/>
              </a:ext>
            </a:extLst>
          </p:cNvPr>
          <p:cNvSpPr>
            <a:spLocks noGrp="1"/>
          </p:cNvSpPr>
          <p:nvPr>
            <p:ph type="dt" sz="half" idx="10"/>
          </p:nvPr>
        </p:nvSpPr>
        <p:spPr/>
        <p:txBody>
          <a:bodyPr/>
          <a:lstStyle/>
          <a:p>
            <a:fld id="{05F2EE67-6EB2-4BBF-AE84-CE583B8012D9}" type="datetimeFigureOut">
              <a:rPr lang="en-US" smtClean="0"/>
              <a:t>16-Jun-19</a:t>
            </a:fld>
            <a:endParaRPr lang="en-US"/>
          </a:p>
        </p:txBody>
      </p:sp>
      <p:sp>
        <p:nvSpPr>
          <p:cNvPr id="5" name="Footer Placeholder 4">
            <a:extLst>
              <a:ext uri="{FF2B5EF4-FFF2-40B4-BE49-F238E27FC236}">
                <a16:creationId xmlns:a16="http://schemas.microsoft.com/office/drawing/2014/main" id="{370B88A0-34F8-4819-9FC2-EE72B060D4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0F9692-67A8-46BA-912F-CC7C0CCA500F}"/>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1998030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9488861"/>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descr="Image result for mailigen logo">
            <a:extLst>
              <a:ext uri="{FF2B5EF4-FFF2-40B4-BE49-F238E27FC236}">
                <a16:creationId xmlns:a16="http://schemas.microsoft.com/office/drawing/2014/main" id="{D044AA18-D3D9-4B93-81FB-E781C3CACF22}"/>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377765" y="-57439"/>
            <a:ext cx="1580648" cy="118548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5C929B1F-63A4-4F2A-8273-50779B7974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ED2D1C-798B-4E91-A1EF-8C0218387B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D9893C-F97A-4BCF-A2AC-CAF7D0A534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F2EE67-6EB2-4BBF-AE84-CE583B8012D9}" type="datetimeFigureOut">
              <a:rPr lang="en-US" smtClean="0"/>
              <a:t>16-Jun-19</a:t>
            </a:fld>
            <a:endParaRPr lang="en-US"/>
          </a:p>
        </p:txBody>
      </p:sp>
      <p:sp>
        <p:nvSpPr>
          <p:cNvPr id="5" name="Footer Placeholder 4">
            <a:extLst>
              <a:ext uri="{FF2B5EF4-FFF2-40B4-BE49-F238E27FC236}">
                <a16:creationId xmlns:a16="http://schemas.microsoft.com/office/drawing/2014/main" id="{124B0965-CD1A-490D-A218-2A8EBE129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254A4AA-F367-4C1E-BC29-49DDE57723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329930-2C29-434E-8A15-9CA932454897}" type="slidenum">
              <a:rPr lang="en-US" smtClean="0"/>
              <a:t>‹#›</a:t>
            </a:fld>
            <a:endParaRPr lang="en-US"/>
          </a:p>
        </p:txBody>
      </p:sp>
      <p:sp>
        <p:nvSpPr>
          <p:cNvPr id="8" name="Rectangle 2">
            <a:extLst>
              <a:ext uri="{FF2B5EF4-FFF2-40B4-BE49-F238E27FC236}">
                <a16:creationId xmlns:a16="http://schemas.microsoft.com/office/drawing/2014/main" id="{47237D94-E1B3-4F22-8324-EDF544826B9C}"/>
              </a:ext>
            </a:extLst>
          </p:cNvPr>
          <p:cNvSpPr>
            <a:spLocks noChangeArrowheads="1"/>
          </p:cNvSpPr>
          <p:nvPr userDrawn="1"/>
        </p:nvSpPr>
        <p:spPr bwMode="auto">
          <a:xfrm>
            <a:off x="4072467" y="6569075"/>
            <a:ext cx="4064000" cy="274638"/>
          </a:xfrm>
          <a:prstGeom prst="rect">
            <a:avLst/>
          </a:prstGeom>
          <a:noFill/>
          <a:ln w="12600">
            <a:noFill/>
            <a:miter lim="800000"/>
            <a:headEnd/>
            <a:tailEnd/>
          </a:ln>
          <a:effectLst/>
        </p:spPr>
        <p:txBody>
          <a:bodyPr lIns="90000" tIns="55584" rIns="90000" bIns="45000">
            <a:prstTxWarp prst="textNoShape">
              <a:avLst/>
            </a:prstTxWarp>
          </a:bodyPr>
          <a:lstStyle/>
          <a:p>
            <a:pPr algn="ctr" hangingPunct="0">
              <a:lnSpc>
                <a:spcPct val="93000"/>
              </a:lnSpc>
              <a:spcBef>
                <a:spcPts val="900"/>
              </a:spcBef>
              <a:buClr>
                <a:srgbClr val="000000"/>
              </a:buClr>
              <a:buSzPct val="100000"/>
              <a:buFont typeface="Times New Roman" pitchFamily="84" charset="0"/>
              <a:buNone/>
              <a:tabLst>
                <a:tab pos="723900" algn="l"/>
                <a:tab pos="1447800" algn="l"/>
                <a:tab pos="2171700" algn="l"/>
                <a:tab pos="2895600" algn="l"/>
              </a:tabLst>
            </a:pPr>
            <a:r>
              <a:rPr lang="en-US" sz="1200" dirty="0">
                <a:solidFill>
                  <a:srgbClr val="000000"/>
                </a:solidFill>
              </a:rPr>
              <a:t>©Adizes Institute 2019</a:t>
            </a:r>
          </a:p>
        </p:txBody>
      </p:sp>
      <p:pic>
        <p:nvPicPr>
          <p:cNvPr id="9" name="Picture 8">
            <a:extLst>
              <a:ext uri="{FF2B5EF4-FFF2-40B4-BE49-F238E27FC236}">
                <a16:creationId xmlns:a16="http://schemas.microsoft.com/office/drawing/2014/main" id="{48C9DF46-6828-4623-A6A9-DF9C6B296FC3}"/>
              </a:ext>
            </a:extLst>
          </p:cNvPr>
          <p:cNvPicPr>
            <a:picLocks noChangeAspect="1"/>
          </p:cNvPicPr>
          <p:nvPr userDrawn="1"/>
        </p:nvPicPr>
        <p:blipFill>
          <a:blip r:embed="rId15"/>
          <a:stretch>
            <a:fillRect/>
          </a:stretch>
        </p:blipFill>
        <p:spPr>
          <a:xfrm>
            <a:off x="694173" y="6176857"/>
            <a:ext cx="1598652" cy="540576"/>
          </a:xfrm>
          <a:prstGeom prst="rect">
            <a:avLst/>
          </a:prstGeom>
        </p:spPr>
      </p:pic>
    </p:spTree>
    <p:extLst>
      <p:ext uri="{BB962C8B-B14F-4D97-AF65-F5344CB8AC3E}">
        <p14:creationId xmlns:p14="http://schemas.microsoft.com/office/powerpoint/2010/main" val="7725950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hyperlink" Target="http://www.fastcompany.com/41088/i-can-only-compete-through-my-crew"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1A2E2C-0B30-4D77-8D1A-3E72BAAFEC01}"/>
              </a:ext>
            </a:extLst>
          </p:cNvPr>
          <p:cNvSpPr>
            <a:spLocks noGrp="1"/>
          </p:cNvSpPr>
          <p:nvPr>
            <p:ph type="ctrTitle"/>
          </p:nvPr>
        </p:nvSpPr>
        <p:spPr>
          <a:xfrm>
            <a:off x="2229465" y="1849009"/>
            <a:ext cx="7772400" cy="2033829"/>
          </a:xfrm>
        </p:spPr>
        <p:txBody>
          <a:bodyPr/>
          <a:lstStyle/>
          <a:p>
            <a:pPr algn="ctr"/>
            <a:r>
              <a:rPr lang="lv-LV" sz="3600" i="1" dirty="0">
                <a:solidFill>
                  <a:srgbClr val="FF0000"/>
                </a:solidFill>
              </a:rPr>
              <a:t>Growing Incredible </a:t>
            </a:r>
            <a:r>
              <a:rPr lang="en-US" sz="3600" i="1" dirty="0">
                <a:solidFill>
                  <a:srgbClr val="FF0000"/>
                </a:solidFill>
              </a:rPr>
              <a:t>Managers: </a:t>
            </a:r>
            <a:br>
              <a:rPr lang="en-US" sz="3600" i="1" dirty="0">
                <a:solidFill>
                  <a:srgbClr val="FF0000"/>
                </a:solidFill>
              </a:rPr>
            </a:br>
            <a:br>
              <a:rPr lang="en-US" sz="2400" i="1" dirty="0">
                <a:solidFill>
                  <a:srgbClr val="FF0000"/>
                </a:solidFill>
              </a:rPr>
            </a:br>
            <a:endParaRPr lang="en-US" dirty="0">
              <a:solidFill>
                <a:srgbClr val="FF0000"/>
              </a:solidFill>
            </a:endParaRPr>
          </a:p>
        </p:txBody>
      </p:sp>
      <p:sp>
        <p:nvSpPr>
          <p:cNvPr id="5" name="Subtitle 2">
            <a:extLst>
              <a:ext uri="{FF2B5EF4-FFF2-40B4-BE49-F238E27FC236}">
                <a16:creationId xmlns:a16="http://schemas.microsoft.com/office/drawing/2014/main" id="{8C0F7E41-707C-45B5-A1A2-27BDDBA265C7}"/>
              </a:ext>
            </a:extLst>
          </p:cNvPr>
          <p:cNvSpPr>
            <a:spLocks noGrp="1"/>
          </p:cNvSpPr>
          <p:nvPr>
            <p:ph type="subTitle" idx="1"/>
          </p:nvPr>
        </p:nvSpPr>
        <p:spPr>
          <a:xfrm>
            <a:off x="2025349" y="2862009"/>
            <a:ext cx="8360564" cy="3511075"/>
          </a:xfrm>
        </p:spPr>
        <p:txBody>
          <a:bodyPr/>
          <a:lstStyle/>
          <a:p>
            <a:r>
              <a:rPr lang="en-US" i="1" dirty="0"/>
              <a:t>Managing your team</a:t>
            </a:r>
          </a:p>
          <a:p>
            <a:endParaRPr lang="lv-LV" sz="1800" i="1" dirty="0"/>
          </a:p>
          <a:p>
            <a:endParaRPr lang="lv-LV" sz="1800" i="1" dirty="0"/>
          </a:p>
          <a:p>
            <a:r>
              <a:rPr lang="en-US" sz="1800" dirty="0"/>
              <a:t>Prepared by </a:t>
            </a:r>
          </a:p>
          <a:p>
            <a:r>
              <a:rPr lang="lv-LV" sz="2000" dirty="0" err="1"/>
              <a:t>Greg</a:t>
            </a:r>
            <a:r>
              <a:rPr lang="lv-LV" sz="2000" dirty="0"/>
              <a:t> Mathers</a:t>
            </a:r>
            <a:r>
              <a:rPr lang="en-US" sz="2000" dirty="0"/>
              <a:t>, Certified Adizes Senior Associate</a:t>
            </a:r>
          </a:p>
          <a:p>
            <a:r>
              <a:rPr lang="en-US" sz="2000" dirty="0"/>
              <a:t>May-July 2019</a:t>
            </a:r>
          </a:p>
          <a:p>
            <a:endParaRPr lang="en-US" sz="2000" dirty="0"/>
          </a:p>
          <a:p>
            <a:endParaRPr lang="en-US" i="1" dirty="0"/>
          </a:p>
        </p:txBody>
      </p:sp>
      <p:pic>
        <p:nvPicPr>
          <p:cNvPr id="6" name="Picture 22">
            <a:extLst>
              <a:ext uri="{FF2B5EF4-FFF2-40B4-BE49-F238E27FC236}">
                <a16:creationId xmlns:a16="http://schemas.microsoft.com/office/drawing/2014/main" id="{D1102B30-1D50-46BD-9A21-D90E3A0A6C5E}"/>
              </a:ext>
            </a:extLst>
          </p:cNvPr>
          <p:cNvPicPr>
            <a:picLocks noChangeAspect="1" noChangeArrowheads="1"/>
          </p:cNvPicPr>
          <p:nvPr/>
        </p:nvPicPr>
        <p:blipFill>
          <a:blip r:embed="rId2" cstate="print"/>
          <a:srcRect/>
          <a:stretch>
            <a:fillRect/>
          </a:stretch>
        </p:blipFill>
        <p:spPr bwMode="auto">
          <a:xfrm>
            <a:off x="6656749" y="323560"/>
            <a:ext cx="3472492" cy="1801269"/>
          </a:xfrm>
          <a:prstGeom prst="rect">
            <a:avLst/>
          </a:prstGeom>
          <a:noFill/>
          <a:ln w="12700">
            <a:noFill/>
            <a:miter lim="800000"/>
            <a:headEnd/>
            <a:tailEnd/>
          </a:ln>
        </p:spPr>
      </p:pic>
    </p:spTree>
    <p:extLst>
      <p:ext uri="{BB962C8B-B14F-4D97-AF65-F5344CB8AC3E}">
        <p14:creationId xmlns:p14="http://schemas.microsoft.com/office/powerpoint/2010/main" val="3032187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mailigen logo">
            <a:extLst>
              <a:ext uri="{FF2B5EF4-FFF2-40B4-BE49-F238E27FC236}">
                <a16:creationId xmlns:a16="http://schemas.microsoft.com/office/drawing/2014/main" id="{33817BED-D52E-45D6-A1EE-1DA455A88D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765" y="-57439"/>
            <a:ext cx="1580648" cy="118548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792E657F-EDF1-49C3-B45A-43285F38DFF0}"/>
              </a:ext>
            </a:extLst>
          </p:cNvPr>
          <p:cNvSpPr>
            <a:spLocks noChangeArrowheads="1"/>
          </p:cNvSpPr>
          <p:nvPr/>
        </p:nvSpPr>
        <p:spPr bwMode="auto">
          <a:xfrm>
            <a:off x="4072467" y="6569075"/>
            <a:ext cx="4064000" cy="274638"/>
          </a:xfrm>
          <a:prstGeom prst="rect">
            <a:avLst/>
          </a:prstGeom>
          <a:noFill/>
          <a:ln w="12600">
            <a:noFill/>
            <a:miter lim="800000"/>
            <a:headEnd/>
            <a:tailEnd/>
          </a:ln>
          <a:effectLst/>
        </p:spPr>
        <p:txBody>
          <a:bodyPr lIns="90000" tIns="55584" rIns="90000" bIns="45000">
            <a:prstTxWarp prst="textNoShape">
              <a:avLst/>
            </a:prstTxWarp>
          </a:bodyPr>
          <a:lstStyle/>
          <a:p>
            <a:pPr algn="ctr" hangingPunct="0">
              <a:lnSpc>
                <a:spcPct val="93000"/>
              </a:lnSpc>
              <a:spcBef>
                <a:spcPts val="900"/>
              </a:spcBef>
              <a:buClr>
                <a:srgbClr val="000000"/>
              </a:buClr>
              <a:buSzPct val="100000"/>
              <a:buFont typeface="Times New Roman" pitchFamily="84" charset="0"/>
              <a:buNone/>
              <a:tabLst>
                <a:tab pos="723900" algn="l"/>
                <a:tab pos="1447800" algn="l"/>
                <a:tab pos="2171700" algn="l"/>
                <a:tab pos="2895600" algn="l"/>
              </a:tabLst>
            </a:pPr>
            <a:r>
              <a:rPr lang="en-US" sz="1200" dirty="0">
                <a:solidFill>
                  <a:srgbClr val="000000"/>
                </a:solidFill>
              </a:rPr>
              <a:t>©Adizes Institute 2019</a:t>
            </a:r>
          </a:p>
        </p:txBody>
      </p:sp>
      <p:pic>
        <p:nvPicPr>
          <p:cNvPr id="6" name="Picture 5">
            <a:extLst>
              <a:ext uri="{FF2B5EF4-FFF2-40B4-BE49-F238E27FC236}">
                <a16:creationId xmlns:a16="http://schemas.microsoft.com/office/drawing/2014/main" id="{9F929D44-E79A-4CF1-9159-C6008C420403}"/>
              </a:ext>
            </a:extLst>
          </p:cNvPr>
          <p:cNvPicPr>
            <a:picLocks noChangeAspect="1"/>
          </p:cNvPicPr>
          <p:nvPr/>
        </p:nvPicPr>
        <p:blipFill>
          <a:blip r:embed="rId3"/>
          <a:stretch>
            <a:fillRect/>
          </a:stretch>
        </p:blipFill>
        <p:spPr>
          <a:xfrm>
            <a:off x="694173" y="6176857"/>
            <a:ext cx="1598652" cy="540576"/>
          </a:xfrm>
          <a:prstGeom prst="rect">
            <a:avLst/>
          </a:prstGeom>
        </p:spPr>
      </p:pic>
      <p:sp>
        <p:nvSpPr>
          <p:cNvPr id="7" name="Rectangle 6">
            <a:extLst>
              <a:ext uri="{FF2B5EF4-FFF2-40B4-BE49-F238E27FC236}">
                <a16:creationId xmlns:a16="http://schemas.microsoft.com/office/drawing/2014/main" id="{1078447F-4807-4B6E-8321-C5041481A731}"/>
              </a:ext>
            </a:extLst>
          </p:cNvPr>
          <p:cNvSpPr/>
          <p:nvPr/>
        </p:nvSpPr>
        <p:spPr>
          <a:xfrm>
            <a:off x="2389518" y="1184166"/>
            <a:ext cx="7177176" cy="3970318"/>
          </a:xfrm>
          <a:prstGeom prst="rect">
            <a:avLst/>
          </a:prstGeom>
        </p:spPr>
        <p:txBody>
          <a:bodyPr wrap="square">
            <a:spAutoFit/>
          </a:bodyPr>
          <a:lstStyle/>
          <a:p>
            <a:pPr marL="342900" lvl="0" indent="-342900">
              <a:buFont typeface="+mj-lt"/>
              <a:buAutoNum type="arabicPeriod"/>
            </a:pPr>
            <a:r>
              <a:rPr lang="en-US" dirty="0"/>
              <a:t>Discuss Boyer’s </a:t>
            </a:r>
            <a:r>
              <a:rPr lang="lv-LV" dirty="0"/>
              <a:t>PAEI code? </a:t>
            </a:r>
            <a:r>
              <a:rPr lang="en-US" dirty="0"/>
              <a:t>R</a:t>
            </a:r>
            <a:r>
              <a:rPr lang="lv-LV" dirty="0"/>
              <a:t>ate all 4 dimensions, (for example, you might see his strength as working with people and believe he has minimal abilities in A and P and no abilities in E and, therefore, rate him pa-I). Give supporting examples from the case.</a:t>
            </a:r>
            <a:br>
              <a:rPr lang="en-US" dirty="0"/>
            </a:br>
            <a:endParaRPr lang="en-US" dirty="0"/>
          </a:p>
          <a:p>
            <a:pPr marL="342900" lvl="0" indent="-342900">
              <a:buFont typeface="+mj-lt"/>
              <a:buAutoNum type="arabicPeriod"/>
            </a:pPr>
            <a:r>
              <a:rPr lang="lv-LV" dirty="0"/>
              <a:t>What </a:t>
            </a:r>
            <a:r>
              <a:rPr lang="en-US"/>
              <a:t>do </a:t>
            </a:r>
            <a:r>
              <a:rPr lang="lv-LV"/>
              <a:t>you </a:t>
            </a:r>
            <a:r>
              <a:rPr lang="lv-LV" dirty="0"/>
              <a:t>consider to be the 3 main problems facing this company. </a:t>
            </a:r>
            <a:br>
              <a:rPr lang="en-US" dirty="0"/>
            </a:br>
            <a:endParaRPr lang="en-US" dirty="0"/>
          </a:p>
          <a:p>
            <a:pPr marL="342900" lvl="0" indent="-342900">
              <a:buFont typeface="+mj-lt"/>
              <a:buAutoNum type="arabicPeriod"/>
            </a:pPr>
            <a:r>
              <a:rPr lang="lv-LV" dirty="0"/>
              <a:t>In light of these problems, do you believe the team building event was the appropriate first step for solving these problems? Why or why not? </a:t>
            </a:r>
            <a:br>
              <a:rPr lang="en-US" dirty="0"/>
            </a:br>
            <a:endParaRPr lang="en-US" dirty="0"/>
          </a:p>
          <a:p>
            <a:pPr marL="342900" lvl="0" indent="-342900">
              <a:buFont typeface="+mj-lt"/>
              <a:buAutoNum type="arabicPeriod"/>
            </a:pPr>
            <a:r>
              <a:rPr lang="lv-LV" dirty="0"/>
              <a:t>If you believe the team building event was the correct first step what would you do next? If you believe this was the wrong approach what would you suggest instead of the team building event as a first step?</a:t>
            </a:r>
            <a:endParaRPr lang="en-US" dirty="0"/>
          </a:p>
          <a:p>
            <a:pPr marL="342900" lvl="0" indent="-342900">
              <a:buFont typeface="+mj-lt"/>
              <a:buAutoNum type="arabicPeriod"/>
            </a:pPr>
            <a:endParaRPr lang="en-US" dirty="0"/>
          </a:p>
        </p:txBody>
      </p:sp>
      <p:sp>
        <p:nvSpPr>
          <p:cNvPr id="2" name="Title 1"/>
          <p:cNvSpPr>
            <a:spLocks noGrp="1"/>
          </p:cNvSpPr>
          <p:nvPr>
            <p:ph type="title"/>
          </p:nvPr>
        </p:nvSpPr>
        <p:spPr>
          <a:xfrm>
            <a:off x="560294" y="51361"/>
            <a:ext cx="10515600" cy="1325563"/>
          </a:xfrm>
        </p:spPr>
        <p:txBody>
          <a:bodyPr>
            <a:normAutofit/>
          </a:bodyPr>
          <a:lstStyle/>
          <a:p>
            <a:pPr algn="ctr"/>
            <a:r>
              <a:rPr lang="en-US" sz="3200" dirty="0" err="1"/>
              <a:t>Celeritas</a:t>
            </a:r>
            <a:endParaRPr lang="en-US" sz="3200" dirty="0"/>
          </a:p>
        </p:txBody>
      </p:sp>
    </p:spTree>
    <p:extLst>
      <p:ext uri="{BB962C8B-B14F-4D97-AF65-F5344CB8AC3E}">
        <p14:creationId xmlns:p14="http://schemas.microsoft.com/office/powerpoint/2010/main" val="3615693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84307" y="1937769"/>
            <a:ext cx="8823385" cy="4351338"/>
          </a:xfrm>
        </p:spPr>
        <p:txBody>
          <a:bodyPr/>
          <a:lstStyle/>
          <a:p>
            <a:r>
              <a:rPr lang="en-US" dirty="0"/>
              <a:t>Lack of trust and communication among senior executives</a:t>
            </a:r>
          </a:p>
          <a:p>
            <a:r>
              <a:rPr lang="en-US" dirty="0"/>
              <a:t>Inconsistent decision making and follow-through</a:t>
            </a:r>
          </a:p>
          <a:p>
            <a:r>
              <a:rPr lang="en-US" dirty="0"/>
              <a:t>Confusion about company goals and priorities</a:t>
            </a:r>
          </a:p>
          <a:p>
            <a:r>
              <a:rPr lang="en-US" dirty="0"/>
              <a:t>Poor coordination among business functions and units</a:t>
            </a:r>
          </a:p>
        </p:txBody>
      </p:sp>
      <p:sp>
        <p:nvSpPr>
          <p:cNvPr id="4" name="Title 1"/>
          <p:cNvSpPr>
            <a:spLocks noGrp="1"/>
          </p:cNvSpPr>
          <p:nvPr>
            <p:ph type="title"/>
          </p:nvPr>
        </p:nvSpPr>
        <p:spPr/>
        <p:txBody>
          <a:bodyPr>
            <a:normAutofit/>
          </a:bodyPr>
          <a:lstStyle/>
          <a:p>
            <a:pPr algn="ctr"/>
            <a:r>
              <a:rPr lang="en-US" sz="3200" dirty="0" err="1"/>
              <a:t>Celeritas</a:t>
            </a:r>
            <a:endParaRPr lang="en-US" sz="3200" dirty="0"/>
          </a:p>
        </p:txBody>
      </p:sp>
    </p:spTree>
    <p:extLst>
      <p:ext uri="{BB962C8B-B14F-4D97-AF65-F5344CB8AC3E}">
        <p14:creationId xmlns:p14="http://schemas.microsoft.com/office/powerpoint/2010/main" val="3777690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Box 1">
            <a:extLst>
              <a:ext uri="{FF2B5EF4-FFF2-40B4-BE49-F238E27FC236}">
                <a16:creationId xmlns:a16="http://schemas.microsoft.com/office/drawing/2014/main" id="{51E9DC2F-B69A-4BCC-9273-AD30F050E630}"/>
              </a:ext>
            </a:extLst>
          </p:cNvPr>
          <p:cNvSpPr txBox="1">
            <a:spLocks noChangeArrowheads="1"/>
          </p:cNvSpPr>
          <p:nvPr/>
        </p:nvSpPr>
        <p:spPr bwMode="auto">
          <a:xfrm>
            <a:off x="4867275" y="762000"/>
            <a:ext cx="2035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3600" b="1">
                <a:solidFill>
                  <a:srgbClr val="FF0000"/>
                </a:solidFill>
                <a:latin typeface="Tahoma" panose="020B0604030504040204" pitchFamily="34" charset="0"/>
                <a:cs typeface="Tahoma" panose="020B0604030504040204" pitchFamily="34" charset="0"/>
              </a:rPr>
              <a:t>Review:</a:t>
            </a:r>
          </a:p>
        </p:txBody>
      </p:sp>
      <p:sp>
        <p:nvSpPr>
          <p:cNvPr id="3" name="TextBox 2">
            <a:extLst>
              <a:ext uri="{FF2B5EF4-FFF2-40B4-BE49-F238E27FC236}">
                <a16:creationId xmlns:a16="http://schemas.microsoft.com/office/drawing/2014/main" id="{4B907731-29EA-4EC2-AAE3-8598D374E1A9}"/>
              </a:ext>
            </a:extLst>
          </p:cNvPr>
          <p:cNvSpPr txBox="1">
            <a:spLocks noChangeArrowheads="1"/>
          </p:cNvSpPr>
          <p:nvPr/>
        </p:nvSpPr>
        <p:spPr bwMode="auto">
          <a:xfrm>
            <a:off x="4318236" y="1413804"/>
            <a:ext cx="29017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buFont typeface="Arial" panose="020B0604020202020204" pitchFamily="34" charset="0"/>
              <a:buChar char="•"/>
            </a:pPr>
            <a:r>
              <a:rPr lang="en-US" altLang="en-US" sz="2800" dirty="0"/>
              <a:t>  </a:t>
            </a:r>
            <a:r>
              <a:rPr lang="en-US" altLang="en-US" dirty="0">
                <a:latin typeface="Tahoma" panose="020B0604030504040204" pitchFamily="34" charset="0"/>
                <a:cs typeface="Tahoma" panose="020B0604030504040204" pitchFamily="34" charset="0"/>
              </a:rPr>
              <a:t>What about change?</a:t>
            </a:r>
          </a:p>
        </p:txBody>
      </p:sp>
      <p:sp>
        <p:nvSpPr>
          <p:cNvPr id="4" name="TextBox 3">
            <a:extLst>
              <a:ext uri="{FF2B5EF4-FFF2-40B4-BE49-F238E27FC236}">
                <a16:creationId xmlns:a16="http://schemas.microsoft.com/office/drawing/2014/main" id="{7F743D69-7892-40DA-8A11-DD4285AE73C4}"/>
              </a:ext>
            </a:extLst>
          </p:cNvPr>
          <p:cNvSpPr txBox="1">
            <a:spLocks noChangeArrowheads="1"/>
          </p:cNvSpPr>
          <p:nvPr/>
        </p:nvSpPr>
        <p:spPr bwMode="auto">
          <a:xfrm>
            <a:off x="4318236" y="1880529"/>
            <a:ext cx="28170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buFont typeface="Arial" panose="020B0604020202020204" pitchFamily="34" charset="0"/>
              <a:buChar char="•"/>
            </a:pPr>
            <a:r>
              <a:rPr lang="en-US" altLang="en-US" sz="2800" dirty="0"/>
              <a:t>  </a:t>
            </a:r>
            <a:r>
              <a:rPr lang="en-US" altLang="en-US" dirty="0">
                <a:latin typeface="Tahoma" panose="020B0604030504040204" pitchFamily="34" charset="0"/>
                <a:cs typeface="Tahoma" panose="020B0604030504040204" pitchFamily="34" charset="0"/>
              </a:rPr>
              <a:t>What about conflict?</a:t>
            </a:r>
            <a:endParaRPr lang="en-US" altLang="en-US" sz="2800" dirty="0">
              <a:latin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E894BAFD-9BBB-46BF-A1CA-F114AC0C94A4}"/>
              </a:ext>
            </a:extLst>
          </p:cNvPr>
          <p:cNvSpPr txBox="1">
            <a:spLocks noChangeArrowheads="1"/>
          </p:cNvSpPr>
          <p:nvPr/>
        </p:nvSpPr>
        <p:spPr bwMode="auto">
          <a:xfrm>
            <a:off x="4318236" y="2328204"/>
            <a:ext cx="2577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buFont typeface="Arial" panose="020B0604020202020204" pitchFamily="34" charset="0"/>
              <a:buChar char="•"/>
            </a:pPr>
            <a:r>
              <a:rPr lang="en-US" altLang="en-US" sz="2800" dirty="0">
                <a:latin typeface="Tahoma" panose="020B0604030504040204" pitchFamily="34" charset="0"/>
                <a:cs typeface="Tahoma" panose="020B0604030504040204" pitchFamily="34" charset="0"/>
              </a:rPr>
              <a:t> </a:t>
            </a:r>
            <a:r>
              <a:rPr lang="en-US" altLang="en-US" dirty="0">
                <a:latin typeface="Tahoma" panose="020B0604030504040204" pitchFamily="34" charset="0"/>
                <a:cs typeface="Tahoma" panose="020B0604030504040204" pitchFamily="34" charset="0"/>
              </a:rPr>
              <a:t>What about styles?</a:t>
            </a:r>
          </a:p>
        </p:txBody>
      </p:sp>
      <p:sp>
        <p:nvSpPr>
          <p:cNvPr id="6" name="TextBox 5">
            <a:extLst>
              <a:ext uri="{FF2B5EF4-FFF2-40B4-BE49-F238E27FC236}">
                <a16:creationId xmlns:a16="http://schemas.microsoft.com/office/drawing/2014/main" id="{26E6D648-42B4-4490-8C31-B8BE664B621D}"/>
              </a:ext>
            </a:extLst>
          </p:cNvPr>
          <p:cNvSpPr txBox="1">
            <a:spLocks noChangeArrowheads="1"/>
          </p:cNvSpPr>
          <p:nvPr/>
        </p:nvSpPr>
        <p:spPr bwMode="auto">
          <a:xfrm>
            <a:off x="4318236" y="2861604"/>
            <a:ext cx="402097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buFont typeface="Arial" panose="020B0604020202020204" pitchFamily="34" charset="0"/>
              <a:buChar char="•"/>
            </a:pPr>
            <a:r>
              <a:rPr lang="en-US" altLang="en-US" sz="2800" dirty="0"/>
              <a:t> </a:t>
            </a:r>
            <a:r>
              <a:rPr lang="en-US" altLang="en-US" dirty="0">
                <a:latin typeface="Tahoma" panose="020B0604030504040204" pitchFamily="34" charset="0"/>
                <a:cs typeface="Tahoma" panose="020B0604030504040204" pitchFamily="34" charset="0"/>
              </a:rPr>
              <a:t>What about management roles?</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10A01-43D6-4425-8BCD-34346B85627B}"/>
              </a:ext>
            </a:extLst>
          </p:cNvPr>
          <p:cNvSpPr>
            <a:spLocks noGrp="1"/>
          </p:cNvSpPr>
          <p:nvPr>
            <p:ph type="title"/>
          </p:nvPr>
        </p:nvSpPr>
        <p:spPr>
          <a:xfrm>
            <a:off x="838200" y="-22325"/>
            <a:ext cx="10515600" cy="1641655"/>
          </a:xfrm>
        </p:spPr>
        <p:txBody>
          <a:bodyPr>
            <a:normAutofit/>
          </a:bodyPr>
          <a:lstStyle/>
          <a:p>
            <a:pPr algn="ctr"/>
            <a:r>
              <a:rPr lang="en-US" sz="4000" dirty="0"/>
              <a:t>9 Characteristics of a Good Manager</a:t>
            </a:r>
          </a:p>
        </p:txBody>
      </p:sp>
      <p:sp>
        <p:nvSpPr>
          <p:cNvPr id="3" name="Content Placeholder 2">
            <a:extLst>
              <a:ext uri="{FF2B5EF4-FFF2-40B4-BE49-F238E27FC236}">
                <a16:creationId xmlns:a16="http://schemas.microsoft.com/office/drawing/2014/main" id="{61C873C4-5076-495D-A4DF-44F71006D12C}"/>
              </a:ext>
            </a:extLst>
          </p:cNvPr>
          <p:cNvSpPr>
            <a:spLocks noGrp="1"/>
          </p:cNvSpPr>
          <p:nvPr>
            <p:ph idx="1"/>
          </p:nvPr>
        </p:nvSpPr>
        <p:spPr>
          <a:xfrm>
            <a:off x="1822938" y="1228824"/>
            <a:ext cx="9258350" cy="5388951"/>
          </a:xfrm>
        </p:spPr>
        <p:txBody>
          <a:bodyPr>
            <a:normAutofit/>
          </a:bodyPr>
          <a:lstStyle/>
          <a:p>
            <a:r>
              <a:rPr lang="en-US" dirty="0"/>
              <a:t>Is well rounded (flexible in style)</a:t>
            </a:r>
          </a:p>
          <a:p>
            <a:r>
              <a:rPr lang="en-US" dirty="0"/>
              <a:t>Knows and accepts self</a:t>
            </a:r>
          </a:p>
          <a:p>
            <a:r>
              <a:rPr lang="en-US" dirty="0"/>
              <a:t>Is aware of effect on others</a:t>
            </a:r>
          </a:p>
          <a:p>
            <a:r>
              <a:rPr lang="en-US" dirty="0"/>
              <a:t>Knows how to slow down and relax</a:t>
            </a:r>
          </a:p>
          <a:p>
            <a:r>
              <a:rPr lang="en-US" dirty="0"/>
              <a:t>Can identify excellence in others</a:t>
            </a:r>
          </a:p>
          <a:p>
            <a:r>
              <a:rPr lang="en-US" dirty="0"/>
              <a:t>Can accept and appreciate differences in others</a:t>
            </a:r>
          </a:p>
          <a:p>
            <a:r>
              <a:rPr lang="en-US" dirty="0"/>
              <a:t>Can harness conflict </a:t>
            </a:r>
          </a:p>
          <a:p>
            <a:r>
              <a:rPr lang="en-US" dirty="0"/>
              <a:t>Creates a learning environment based on trust and respect</a:t>
            </a:r>
          </a:p>
          <a:p>
            <a:r>
              <a:rPr lang="en-US" dirty="0"/>
              <a:t>Aware of environment and changes</a:t>
            </a:r>
          </a:p>
          <a:p>
            <a:pPr marL="1371600" lvl="3" indent="0">
              <a:spcBef>
                <a:spcPts val="1200"/>
              </a:spcBef>
              <a:buNone/>
            </a:pPr>
            <a:r>
              <a:rPr lang="en-US" sz="4000" dirty="0"/>
              <a:t>Mature well-rounded individual</a:t>
            </a:r>
          </a:p>
        </p:txBody>
      </p:sp>
    </p:spTree>
    <p:extLst>
      <p:ext uri="{BB962C8B-B14F-4D97-AF65-F5344CB8AC3E}">
        <p14:creationId xmlns:p14="http://schemas.microsoft.com/office/powerpoint/2010/main" val="75608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45" name="Text Box 13">
            <a:extLst>
              <a:ext uri="{FF2B5EF4-FFF2-40B4-BE49-F238E27FC236}">
                <a16:creationId xmlns:a16="http://schemas.microsoft.com/office/drawing/2014/main" id="{1561A825-1D93-4FA5-A123-FB6F54F84401}"/>
              </a:ext>
            </a:extLst>
          </p:cNvPr>
          <p:cNvSpPr txBox="1">
            <a:spLocks noChangeArrowheads="1"/>
          </p:cNvSpPr>
          <p:nvPr/>
        </p:nvSpPr>
        <p:spPr bwMode="auto">
          <a:xfrm>
            <a:off x="4443414" y="1150938"/>
            <a:ext cx="355282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400"/>
              <a:t>It is not the strongest of the species that survive, nor the most intelligent, but the one most responsive to change.</a:t>
            </a:r>
          </a:p>
          <a:p>
            <a:pPr eaLnBrk="1" hangingPunct="1"/>
            <a:endParaRPr lang="en-US" altLang="en-US" sz="2400"/>
          </a:p>
          <a:p>
            <a:pPr eaLnBrk="1" hangingPunct="1"/>
            <a:r>
              <a:rPr lang="en-US" altLang="en-US" sz="2400"/>
              <a:t>Charles Darwin</a:t>
            </a:r>
          </a:p>
        </p:txBody>
      </p:sp>
      <p:sp>
        <p:nvSpPr>
          <p:cNvPr id="965654" name="Line 22">
            <a:extLst>
              <a:ext uri="{FF2B5EF4-FFF2-40B4-BE49-F238E27FC236}">
                <a16:creationId xmlns:a16="http://schemas.microsoft.com/office/drawing/2014/main" id="{F4BF6C63-2A7E-4457-B5D9-9D67B4F434DD}"/>
              </a:ext>
            </a:extLst>
          </p:cNvPr>
          <p:cNvSpPr>
            <a:spLocks noChangeShapeType="1"/>
          </p:cNvSpPr>
          <p:nvPr/>
        </p:nvSpPr>
        <p:spPr bwMode="auto">
          <a:xfrm>
            <a:off x="5702301" y="4570414"/>
            <a:ext cx="1331913" cy="2205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965655" name="Line 23">
            <a:extLst>
              <a:ext uri="{FF2B5EF4-FFF2-40B4-BE49-F238E27FC236}">
                <a16:creationId xmlns:a16="http://schemas.microsoft.com/office/drawing/2014/main" id="{29BF63EF-61FC-48F9-ABEF-7B49E04540BA}"/>
              </a:ext>
            </a:extLst>
          </p:cNvPr>
          <p:cNvSpPr>
            <a:spLocks noChangeShapeType="1"/>
          </p:cNvSpPr>
          <p:nvPr/>
        </p:nvSpPr>
        <p:spPr bwMode="auto">
          <a:xfrm>
            <a:off x="5727700" y="4506913"/>
            <a:ext cx="2501900" cy="1943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965656" name="Line 24">
            <a:extLst>
              <a:ext uri="{FF2B5EF4-FFF2-40B4-BE49-F238E27FC236}">
                <a16:creationId xmlns:a16="http://schemas.microsoft.com/office/drawing/2014/main" id="{3C259DD6-FCD8-4D45-ABC5-1B2CFD83385C}"/>
              </a:ext>
            </a:extLst>
          </p:cNvPr>
          <p:cNvSpPr>
            <a:spLocks noChangeShapeType="1"/>
          </p:cNvSpPr>
          <p:nvPr/>
        </p:nvSpPr>
        <p:spPr bwMode="auto">
          <a:xfrm>
            <a:off x="5778500" y="4456113"/>
            <a:ext cx="3048000" cy="1092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965657" name="WordArt 25">
            <a:extLst>
              <a:ext uri="{FF2B5EF4-FFF2-40B4-BE49-F238E27FC236}">
                <a16:creationId xmlns:a16="http://schemas.microsoft.com/office/drawing/2014/main" id="{C8946D70-81A8-44BE-84BB-6F44D2224397}"/>
              </a:ext>
            </a:extLst>
          </p:cNvPr>
          <p:cNvSpPr>
            <a:spLocks noChangeArrowheads="1" noChangeShapeType="1" noTextEdit="1"/>
          </p:cNvSpPr>
          <p:nvPr/>
        </p:nvSpPr>
        <p:spPr bwMode="auto">
          <a:xfrm rot="4206035">
            <a:off x="6302376" y="5359401"/>
            <a:ext cx="1390650" cy="1114425"/>
          </a:xfrm>
          <a:prstGeom prst="rect">
            <a:avLst/>
          </a:prstGeom>
        </p:spPr>
        <p:txBody>
          <a:bodyPr wrap="none" fromWordArt="1">
            <a:prstTxWarp prst="textSlantUp">
              <a:avLst>
                <a:gd name="adj" fmla="val 61111"/>
              </a:avLst>
            </a:prstTxWarp>
          </a:bodyPr>
          <a:lstStyle/>
          <a:p>
            <a:r>
              <a:rPr lang="en-US" sz="2800" kern="10">
                <a:ln w="9525">
                  <a:solidFill>
                    <a:srgbClr val="000000"/>
                  </a:solidFill>
                  <a:round/>
                  <a:headEnd/>
                  <a:tailEnd/>
                </a:ln>
                <a:solidFill>
                  <a:srgbClr val="000000"/>
                </a:solidFill>
                <a:latin typeface="Arial Black" panose="020B0A04020102020204" pitchFamily="34" charset="0"/>
              </a:rPr>
              <a:t>Normal</a:t>
            </a:r>
          </a:p>
        </p:txBody>
      </p:sp>
      <p:sp>
        <p:nvSpPr>
          <p:cNvPr id="965658" name="WordArt 26">
            <a:extLst>
              <a:ext uri="{FF2B5EF4-FFF2-40B4-BE49-F238E27FC236}">
                <a16:creationId xmlns:a16="http://schemas.microsoft.com/office/drawing/2014/main" id="{2E59AC01-14AE-4F69-8032-C00C2AAC56A2}"/>
              </a:ext>
            </a:extLst>
          </p:cNvPr>
          <p:cNvSpPr>
            <a:spLocks noChangeArrowheads="1" noChangeShapeType="1" noTextEdit="1"/>
          </p:cNvSpPr>
          <p:nvPr/>
        </p:nvSpPr>
        <p:spPr bwMode="auto">
          <a:xfrm rot="3466844">
            <a:off x="6899276" y="4953001"/>
            <a:ext cx="1390650" cy="1114425"/>
          </a:xfrm>
          <a:prstGeom prst="rect">
            <a:avLst/>
          </a:prstGeom>
        </p:spPr>
        <p:txBody>
          <a:bodyPr wrap="none" fromWordArt="1">
            <a:prstTxWarp prst="textSlantUp">
              <a:avLst>
                <a:gd name="adj" fmla="val 61111"/>
              </a:avLst>
            </a:prstTxWarp>
          </a:bodyPr>
          <a:lstStyle/>
          <a:p>
            <a:r>
              <a:rPr lang="en-US" sz="2800" kern="10">
                <a:ln w="9525">
                  <a:solidFill>
                    <a:srgbClr val="000000"/>
                  </a:solidFill>
                  <a:round/>
                  <a:headEnd/>
                  <a:tailEnd/>
                </a:ln>
                <a:solidFill>
                  <a:srgbClr val="000000"/>
                </a:solidFill>
                <a:latin typeface="Arial Black" panose="020B0A04020102020204" pitchFamily="34" charset="0"/>
              </a:rPr>
              <a:t>Abnormal</a:t>
            </a:r>
          </a:p>
        </p:txBody>
      </p:sp>
      <p:sp>
        <p:nvSpPr>
          <p:cNvPr id="965659" name="Line 27">
            <a:extLst>
              <a:ext uri="{FF2B5EF4-FFF2-40B4-BE49-F238E27FC236}">
                <a16:creationId xmlns:a16="http://schemas.microsoft.com/office/drawing/2014/main" id="{E444C587-EC1C-42EC-9A47-09888065FFB9}"/>
              </a:ext>
            </a:extLst>
          </p:cNvPr>
          <p:cNvSpPr>
            <a:spLocks noChangeShapeType="1"/>
          </p:cNvSpPr>
          <p:nvPr/>
        </p:nvSpPr>
        <p:spPr bwMode="auto">
          <a:xfrm>
            <a:off x="5816600" y="4379913"/>
            <a:ext cx="3251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965660" name="WordArt 28">
            <a:extLst>
              <a:ext uri="{FF2B5EF4-FFF2-40B4-BE49-F238E27FC236}">
                <a16:creationId xmlns:a16="http://schemas.microsoft.com/office/drawing/2014/main" id="{7F2C66FA-0C24-4007-A3D8-13EAA3B4581C}"/>
              </a:ext>
            </a:extLst>
          </p:cNvPr>
          <p:cNvSpPr>
            <a:spLocks noChangeArrowheads="1" noChangeShapeType="1" noTextEdit="1"/>
          </p:cNvSpPr>
          <p:nvPr/>
        </p:nvSpPr>
        <p:spPr bwMode="auto">
          <a:xfrm rot="3048550">
            <a:off x="7569201" y="4337051"/>
            <a:ext cx="838200" cy="1101725"/>
          </a:xfrm>
          <a:prstGeom prst="rect">
            <a:avLst/>
          </a:prstGeom>
        </p:spPr>
        <p:txBody>
          <a:bodyPr wrap="none" fromWordArt="1">
            <a:prstTxWarp prst="textSlantUp">
              <a:avLst>
                <a:gd name="adj" fmla="val 61111"/>
              </a:avLst>
            </a:prstTxWarp>
          </a:bodyPr>
          <a:lstStyle/>
          <a:p>
            <a:r>
              <a:rPr lang="en-US" sz="2400" kern="10">
                <a:ln w="9525">
                  <a:solidFill>
                    <a:srgbClr val="000000"/>
                  </a:solidFill>
                  <a:round/>
                  <a:headEnd/>
                  <a:tailEnd/>
                </a:ln>
                <a:solidFill>
                  <a:srgbClr val="000000"/>
                </a:solidFill>
                <a:latin typeface="Arial Black" panose="020B0A04020102020204" pitchFamily="34" charset="0"/>
              </a:rPr>
              <a:t>Fatal</a:t>
            </a:r>
          </a:p>
        </p:txBody>
      </p:sp>
      <p:sp>
        <p:nvSpPr>
          <p:cNvPr id="29" name="TextBox 28">
            <a:extLst>
              <a:ext uri="{FF2B5EF4-FFF2-40B4-BE49-F238E27FC236}">
                <a16:creationId xmlns:a16="http://schemas.microsoft.com/office/drawing/2014/main" id="{33E76366-7E87-4C3B-B9D3-A6D6640053E7}"/>
              </a:ext>
            </a:extLst>
          </p:cNvPr>
          <p:cNvSpPr txBox="1"/>
          <p:nvPr/>
        </p:nvSpPr>
        <p:spPr>
          <a:xfrm>
            <a:off x="2844801" y="234950"/>
            <a:ext cx="5199565" cy="707886"/>
          </a:xfrm>
          <a:prstGeom prst="rect">
            <a:avLst/>
          </a:prstGeom>
          <a:noFill/>
        </p:spPr>
        <p:txBody>
          <a:bodyPr wrap="none">
            <a:spAutoFit/>
          </a:bodyPr>
          <a:lstStyle/>
          <a:p>
            <a:pPr>
              <a:defRPr/>
            </a:pPr>
            <a:r>
              <a:rPr lang="en-US" sz="4000" dirty="0">
                <a:latin typeface="+mj-lt"/>
                <a:ea typeface="ＭＳ Ｐゴシック" pitchFamily="-111" charset="-128"/>
              </a:rPr>
              <a:t>Organizational Lifecycles</a:t>
            </a:r>
          </a:p>
        </p:txBody>
      </p:sp>
      <p:sp>
        <p:nvSpPr>
          <p:cNvPr id="30" name="TextBox 29">
            <a:extLst>
              <a:ext uri="{FF2B5EF4-FFF2-40B4-BE49-F238E27FC236}">
                <a16:creationId xmlns:a16="http://schemas.microsoft.com/office/drawing/2014/main" id="{55EFA7C0-C557-426D-AAB7-28489487ABDB}"/>
              </a:ext>
            </a:extLst>
          </p:cNvPr>
          <p:cNvSpPr txBox="1"/>
          <p:nvPr/>
        </p:nvSpPr>
        <p:spPr>
          <a:xfrm>
            <a:off x="3810001" y="4103688"/>
            <a:ext cx="1555875" cy="523220"/>
          </a:xfrm>
          <a:prstGeom prst="rect">
            <a:avLst/>
          </a:prstGeom>
          <a:noFill/>
        </p:spPr>
        <p:txBody>
          <a:bodyPr wrap="none">
            <a:spAutoFit/>
          </a:bodyPr>
          <a:lstStyle/>
          <a:p>
            <a:pPr>
              <a:defRPr/>
            </a:pPr>
            <a:r>
              <a:rPr lang="en-US" sz="2800" dirty="0">
                <a:ea typeface="ＭＳ Ｐゴシック" pitchFamily="-111" charset="-128"/>
              </a:rPr>
              <a:t>Problems</a:t>
            </a:r>
          </a:p>
        </p:txBody>
      </p:sp>
      <p:sp>
        <p:nvSpPr>
          <p:cNvPr id="31" name="Rectangle 14">
            <a:extLst>
              <a:ext uri="{FF2B5EF4-FFF2-40B4-BE49-F238E27FC236}">
                <a16:creationId xmlns:a16="http://schemas.microsoft.com/office/drawing/2014/main" id="{DAB26349-36D2-4BAA-A912-A858DF59264C}"/>
              </a:ext>
            </a:extLst>
          </p:cNvPr>
          <p:cNvSpPr>
            <a:spLocks noChangeArrowheads="1"/>
          </p:cNvSpPr>
          <p:nvPr/>
        </p:nvSpPr>
        <p:spPr bwMode="auto">
          <a:xfrm>
            <a:off x="5881688" y="1225551"/>
            <a:ext cx="292100" cy="2506663"/>
          </a:xfrm>
          <a:prstGeom prst="rect">
            <a:avLst/>
          </a:prstGeom>
          <a:gradFill rotWithShape="0">
            <a:gsLst>
              <a:gs pos="0">
                <a:srgbClr val="3399FF"/>
              </a:gs>
              <a:gs pos="100000">
                <a:srgbClr val="FF66FF"/>
              </a:gs>
            </a:gsLst>
            <a:lin ang="2700000" scaled="1"/>
          </a:gradFill>
          <a:ln w="9525">
            <a:noFill/>
            <a:miter lim="800000"/>
            <a:headEnd/>
            <a:tailEnd/>
          </a:ln>
          <a:effectLst/>
        </p:spPr>
        <p:txBody>
          <a:bodyPr wrap="none" anchor="ctr"/>
          <a:lstStyle/>
          <a:p>
            <a:pPr algn="r" eaLnBrk="1" hangingPunct="1">
              <a:defRPr/>
            </a:pPr>
            <a:endParaRPr kumimoji="1" lang="lt-LT" sz="2400">
              <a:effectLst>
                <a:outerShdw blurRad="38100" dist="38100" dir="2700000" algn="tl">
                  <a:srgbClr val="FFFFFF"/>
                </a:outerShdw>
              </a:effectLst>
              <a:latin typeface="Arial Narrow" pitchFamily="-111" charset="0"/>
              <a:ea typeface="ＭＳ Ｐゴシック" pitchFamily="-111" charset="-128"/>
            </a:endParaRPr>
          </a:p>
        </p:txBody>
      </p:sp>
      <p:grpSp>
        <p:nvGrpSpPr>
          <p:cNvPr id="32" name="Group 15">
            <a:extLst>
              <a:ext uri="{FF2B5EF4-FFF2-40B4-BE49-F238E27FC236}">
                <a16:creationId xmlns:a16="http://schemas.microsoft.com/office/drawing/2014/main" id="{E86DA4CD-CB0B-437B-BDA0-4C3581E201A1}"/>
              </a:ext>
            </a:extLst>
          </p:cNvPr>
          <p:cNvGrpSpPr>
            <a:grpSpLocks/>
          </p:cNvGrpSpPr>
          <p:nvPr/>
        </p:nvGrpSpPr>
        <p:grpSpPr bwMode="auto">
          <a:xfrm>
            <a:off x="4341813" y="1225551"/>
            <a:ext cx="1541462" cy="2886075"/>
            <a:chOff x="817" y="1420"/>
            <a:chExt cx="2063" cy="2541"/>
          </a:xfrm>
        </p:grpSpPr>
        <p:sp>
          <p:nvSpPr>
            <p:cNvPr id="33" name="Rectangle 16">
              <a:extLst>
                <a:ext uri="{FF2B5EF4-FFF2-40B4-BE49-F238E27FC236}">
                  <a16:creationId xmlns:a16="http://schemas.microsoft.com/office/drawing/2014/main" id="{C492EE22-18EE-4E04-ACA5-5A7A575914D0}"/>
                </a:ext>
              </a:extLst>
            </p:cNvPr>
            <p:cNvSpPr>
              <a:spLocks noChangeArrowheads="1"/>
            </p:cNvSpPr>
            <p:nvPr/>
          </p:nvSpPr>
          <p:spPr bwMode="auto">
            <a:xfrm>
              <a:off x="817" y="1420"/>
              <a:ext cx="2063" cy="2208"/>
            </a:xfrm>
            <a:prstGeom prst="rect">
              <a:avLst/>
            </a:prstGeom>
            <a:solidFill>
              <a:schemeClr val="hlink"/>
            </a:solidFill>
            <a:ln w="9525">
              <a:noFill/>
              <a:miter lim="800000"/>
              <a:headEnd/>
              <a:tailEnd/>
            </a:ln>
            <a:effectLst/>
          </p:spPr>
          <p:txBody>
            <a:bodyPr wrap="none" anchor="ctr"/>
            <a:lstStyle/>
            <a:p>
              <a:pPr algn="r" eaLnBrk="1" hangingPunct="1">
                <a:defRPr/>
              </a:pPr>
              <a:endParaRPr kumimoji="1" lang="lt-LT" sz="2400">
                <a:effectLst>
                  <a:outerShdw blurRad="38100" dist="38100" dir="2700000" algn="tl">
                    <a:srgbClr val="FFFFFF"/>
                  </a:outerShdw>
                </a:effectLst>
                <a:latin typeface="Arial Narrow" pitchFamily="-111" charset="0"/>
                <a:ea typeface="ＭＳ Ｐゴシック" pitchFamily="-111" charset="-128"/>
              </a:endParaRPr>
            </a:p>
          </p:txBody>
        </p:sp>
        <p:sp>
          <p:nvSpPr>
            <p:cNvPr id="34" name="Rectangle 17">
              <a:extLst>
                <a:ext uri="{FF2B5EF4-FFF2-40B4-BE49-F238E27FC236}">
                  <a16:creationId xmlns:a16="http://schemas.microsoft.com/office/drawing/2014/main" id="{8CD82E50-B73A-4498-B5CB-5E17361AEB8E}"/>
                </a:ext>
              </a:extLst>
            </p:cNvPr>
            <p:cNvSpPr>
              <a:spLocks noChangeArrowheads="1"/>
            </p:cNvSpPr>
            <p:nvPr/>
          </p:nvSpPr>
          <p:spPr bwMode="auto">
            <a:xfrm>
              <a:off x="1395" y="3665"/>
              <a:ext cx="1075" cy="296"/>
            </a:xfrm>
            <a:prstGeom prst="rect">
              <a:avLst/>
            </a:prstGeom>
            <a:noFill/>
            <a:ln w="9525">
              <a:noFill/>
              <a:miter lim="800000"/>
              <a:headEnd/>
              <a:tailEnd/>
            </a:ln>
            <a:effectLst/>
          </p:spPr>
          <p:txBody>
            <a:bodyPr wrap="none">
              <a:spAutoFit/>
            </a:bodyPr>
            <a:lstStyle/>
            <a:p>
              <a:pPr eaLnBrk="1" hangingPunct="1">
                <a:defRPr/>
              </a:pPr>
              <a:r>
                <a:rPr kumimoji="1" lang="en-US" sz="1600">
                  <a:effectLst>
                    <a:outerShdw blurRad="38100" dist="38100" dir="2700000" algn="tl">
                      <a:srgbClr val="C0C0C0"/>
                    </a:outerShdw>
                  </a:effectLst>
                  <a:latin typeface="Arial Narrow" pitchFamily="-111" charset="0"/>
                  <a:ea typeface="ＭＳ Ｐゴシック" pitchFamily="-111" charset="-128"/>
                </a:rPr>
                <a:t>Growing</a:t>
              </a:r>
            </a:p>
          </p:txBody>
        </p:sp>
      </p:grpSp>
      <p:grpSp>
        <p:nvGrpSpPr>
          <p:cNvPr id="35" name="Group 18">
            <a:extLst>
              <a:ext uri="{FF2B5EF4-FFF2-40B4-BE49-F238E27FC236}">
                <a16:creationId xmlns:a16="http://schemas.microsoft.com/office/drawing/2014/main" id="{7087EA3B-204E-4BAF-A7D3-5016AB3CEBFE}"/>
              </a:ext>
            </a:extLst>
          </p:cNvPr>
          <p:cNvGrpSpPr>
            <a:grpSpLocks/>
          </p:cNvGrpSpPr>
          <p:nvPr/>
        </p:nvGrpSpPr>
        <p:grpSpPr bwMode="auto">
          <a:xfrm>
            <a:off x="6159500" y="1225551"/>
            <a:ext cx="1836738" cy="2886075"/>
            <a:chOff x="2880" y="1420"/>
            <a:chExt cx="2545" cy="2541"/>
          </a:xfrm>
        </p:grpSpPr>
        <p:sp>
          <p:nvSpPr>
            <p:cNvPr id="36" name="Rectangle 19">
              <a:extLst>
                <a:ext uri="{FF2B5EF4-FFF2-40B4-BE49-F238E27FC236}">
                  <a16:creationId xmlns:a16="http://schemas.microsoft.com/office/drawing/2014/main" id="{EBB405BD-CB24-4AD3-B0C1-3E4737AF28F1}"/>
                </a:ext>
              </a:extLst>
            </p:cNvPr>
            <p:cNvSpPr>
              <a:spLocks noChangeArrowheads="1"/>
            </p:cNvSpPr>
            <p:nvPr/>
          </p:nvSpPr>
          <p:spPr bwMode="auto">
            <a:xfrm>
              <a:off x="2880" y="1420"/>
              <a:ext cx="2545" cy="2208"/>
            </a:xfrm>
            <a:prstGeom prst="rect">
              <a:avLst/>
            </a:prstGeom>
            <a:solidFill>
              <a:srgbClr val="FFCC99"/>
            </a:solidFill>
            <a:ln w="9525">
              <a:noFill/>
              <a:miter lim="800000"/>
              <a:headEnd/>
              <a:tailEnd/>
            </a:ln>
            <a:effectLst/>
          </p:spPr>
          <p:txBody>
            <a:bodyPr wrap="none" anchor="ctr"/>
            <a:lstStyle/>
            <a:p>
              <a:pPr eaLnBrk="1" hangingPunct="1">
                <a:defRPr/>
              </a:pPr>
              <a:endParaRPr kumimoji="1" lang="lt-LT" sz="2400">
                <a:effectLst>
                  <a:outerShdw blurRad="38100" dist="38100" dir="2700000" algn="tl">
                    <a:srgbClr val="FFFFFF"/>
                  </a:outerShdw>
                </a:effectLst>
                <a:latin typeface="Arial Narrow" pitchFamily="-111" charset="0"/>
                <a:ea typeface="ＭＳ Ｐゴシック" pitchFamily="-111" charset="-128"/>
              </a:endParaRPr>
            </a:p>
          </p:txBody>
        </p:sp>
        <p:sp>
          <p:nvSpPr>
            <p:cNvPr id="37" name="Rectangle 20">
              <a:extLst>
                <a:ext uri="{FF2B5EF4-FFF2-40B4-BE49-F238E27FC236}">
                  <a16:creationId xmlns:a16="http://schemas.microsoft.com/office/drawing/2014/main" id="{F8CFBF15-463C-4562-9C55-28245C386D3A}"/>
                </a:ext>
              </a:extLst>
            </p:cNvPr>
            <p:cNvSpPr>
              <a:spLocks noChangeArrowheads="1"/>
            </p:cNvSpPr>
            <p:nvPr/>
          </p:nvSpPr>
          <p:spPr bwMode="auto">
            <a:xfrm>
              <a:off x="3390" y="3665"/>
              <a:ext cx="842" cy="296"/>
            </a:xfrm>
            <a:prstGeom prst="rect">
              <a:avLst/>
            </a:prstGeom>
            <a:noFill/>
            <a:ln w="9525">
              <a:noFill/>
              <a:miter lim="800000"/>
              <a:headEnd/>
              <a:tailEnd/>
            </a:ln>
            <a:effectLst/>
          </p:spPr>
          <p:txBody>
            <a:bodyPr wrap="none">
              <a:spAutoFit/>
            </a:bodyPr>
            <a:lstStyle/>
            <a:p>
              <a:pPr eaLnBrk="1" hangingPunct="1">
                <a:defRPr/>
              </a:pPr>
              <a:r>
                <a:rPr kumimoji="1" lang="en-US" sz="1600">
                  <a:effectLst>
                    <a:outerShdw blurRad="38100" dist="38100" dir="2700000" algn="tl">
                      <a:srgbClr val="C0C0C0"/>
                    </a:outerShdw>
                  </a:effectLst>
                  <a:latin typeface="Arial Narrow" pitchFamily="-111" charset="0"/>
                  <a:ea typeface="ＭＳ Ｐゴシック" pitchFamily="-111" charset="-128"/>
                </a:rPr>
                <a:t>Aging</a:t>
              </a:r>
            </a:p>
          </p:txBody>
        </p:sp>
      </p:grpSp>
      <p:sp>
        <p:nvSpPr>
          <p:cNvPr id="38" name="Freeform 21">
            <a:extLst>
              <a:ext uri="{FF2B5EF4-FFF2-40B4-BE49-F238E27FC236}">
                <a16:creationId xmlns:a16="http://schemas.microsoft.com/office/drawing/2014/main" id="{BB595E1A-FCB5-4AF6-8695-9C5EBA4F5E9A}"/>
              </a:ext>
            </a:extLst>
          </p:cNvPr>
          <p:cNvSpPr>
            <a:spLocks/>
          </p:cNvSpPr>
          <p:nvPr/>
        </p:nvSpPr>
        <p:spPr bwMode="auto">
          <a:xfrm>
            <a:off x="4624388" y="1501775"/>
            <a:ext cx="3090862" cy="1963738"/>
          </a:xfrm>
          <a:custGeom>
            <a:avLst/>
            <a:gdLst>
              <a:gd name="T0" fmla="*/ 2147483646 w 3899"/>
              <a:gd name="T1" fmla="*/ 2147483646 h 1729"/>
              <a:gd name="T2" fmla="*/ 2147483646 w 3899"/>
              <a:gd name="T3" fmla="*/ 2147483646 h 1729"/>
              <a:gd name="T4" fmla="*/ 2147483646 w 3899"/>
              <a:gd name="T5" fmla="*/ 2147483646 h 1729"/>
              <a:gd name="T6" fmla="*/ 2147483646 w 3899"/>
              <a:gd name="T7" fmla="*/ 2147483646 h 1729"/>
              <a:gd name="T8" fmla="*/ 2147483646 w 3899"/>
              <a:gd name="T9" fmla="*/ 2147483646 h 1729"/>
              <a:gd name="T10" fmla="*/ 2147483646 w 3899"/>
              <a:gd name="T11" fmla="*/ 2147483646 h 1729"/>
              <a:gd name="T12" fmla="*/ 2147483646 w 3899"/>
              <a:gd name="T13" fmla="*/ 2147483646 h 1729"/>
              <a:gd name="T14" fmla="*/ 2147483646 w 3899"/>
              <a:gd name="T15" fmla="*/ 2147483646 h 1729"/>
              <a:gd name="T16" fmla="*/ 2147483646 w 3899"/>
              <a:gd name="T17" fmla="*/ 2147483646 h 1729"/>
              <a:gd name="T18" fmla="*/ 2147483646 w 3899"/>
              <a:gd name="T19" fmla="*/ 2147483646 h 1729"/>
              <a:gd name="T20" fmla="*/ 2147483646 w 3899"/>
              <a:gd name="T21" fmla="*/ 2147483646 h 1729"/>
              <a:gd name="T22" fmla="*/ 2147483646 w 3899"/>
              <a:gd name="T23" fmla="*/ 2147483646 h 1729"/>
              <a:gd name="T24" fmla="*/ 2147483646 w 3899"/>
              <a:gd name="T25" fmla="*/ 2147483646 h 1729"/>
              <a:gd name="T26" fmla="*/ 2147483646 w 3899"/>
              <a:gd name="T27" fmla="*/ 2147483646 h 1729"/>
              <a:gd name="T28" fmla="*/ 2147483646 w 3899"/>
              <a:gd name="T29" fmla="*/ 2147483646 h 1729"/>
              <a:gd name="T30" fmla="*/ 2147483646 w 3899"/>
              <a:gd name="T31" fmla="*/ 2147483646 h 1729"/>
              <a:gd name="T32" fmla="*/ 2147483646 w 3899"/>
              <a:gd name="T33" fmla="*/ 2147483646 h 1729"/>
              <a:gd name="T34" fmla="*/ 2147483646 w 3899"/>
              <a:gd name="T35" fmla="*/ 2147483646 h 1729"/>
              <a:gd name="T36" fmla="*/ 2147483646 w 3899"/>
              <a:gd name="T37" fmla="*/ 2147483646 h 1729"/>
              <a:gd name="T38" fmla="*/ 2147483646 w 3899"/>
              <a:gd name="T39" fmla="*/ 2147483646 h 1729"/>
              <a:gd name="T40" fmla="*/ 2147483646 w 3899"/>
              <a:gd name="T41" fmla="*/ 2147483646 h 1729"/>
              <a:gd name="T42" fmla="*/ 2147483646 w 3899"/>
              <a:gd name="T43" fmla="*/ 2147483646 h 1729"/>
              <a:gd name="T44" fmla="*/ 2147483646 w 3899"/>
              <a:gd name="T45" fmla="*/ 2147483646 h 1729"/>
              <a:gd name="T46" fmla="*/ 2147483646 w 3899"/>
              <a:gd name="T47" fmla="*/ 2147483646 h 1729"/>
              <a:gd name="T48" fmla="*/ 2147483646 w 3899"/>
              <a:gd name="T49" fmla="*/ 2147483646 h 1729"/>
              <a:gd name="T50" fmla="*/ 2147483646 w 3899"/>
              <a:gd name="T51" fmla="*/ 2147483646 h 1729"/>
              <a:gd name="T52" fmla="*/ 2147483646 w 3899"/>
              <a:gd name="T53" fmla="*/ 2147483646 h 1729"/>
              <a:gd name="T54" fmla="*/ 2147483646 w 3899"/>
              <a:gd name="T55" fmla="*/ 2147483646 h 1729"/>
              <a:gd name="T56" fmla="*/ 2147483646 w 3899"/>
              <a:gd name="T57" fmla="*/ 2147483646 h 1729"/>
              <a:gd name="T58" fmla="*/ 2147483646 w 3899"/>
              <a:gd name="T59" fmla="*/ 2147483646 h 1729"/>
              <a:gd name="T60" fmla="*/ 2147483646 w 3899"/>
              <a:gd name="T61" fmla="*/ 2147483646 h 1729"/>
              <a:gd name="T62" fmla="*/ 2147483646 w 3899"/>
              <a:gd name="T63" fmla="*/ 0 h 1729"/>
              <a:gd name="T64" fmla="*/ 2147483646 w 3899"/>
              <a:gd name="T65" fmla="*/ 2147483646 h 1729"/>
              <a:gd name="T66" fmla="*/ 2147483646 w 3899"/>
              <a:gd name="T67" fmla="*/ 2147483646 h 1729"/>
              <a:gd name="T68" fmla="*/ 2147483646 w 3899"/>
              <a:gd name="T69" fmla="*/ 2147483646 h 1729"/>
              <a:gd name="T70" fmla="*/ 2147483646 w 3899"/>
              <a:gd name="T71" fmla="*/ 2147483646 h 1729"/>
              <a:gd name="T72" fmla="*/ 2147483646 w 3899"/>
              <a:gd name="T73" fmla="*/ 2147483646 h 1729"/>
              <a:gd name="T74" fmla="*/ 2147483646 w 3899"/>
              <a:gd name="T75" fmla="*/ 2147483646 h 1729"/>
              <a:gd name="T76" fmla="*/ 2147483646 w 3899"/>
              <a:gd name="T77" fmla="*/ 2147483646 h 1729"/>
              <a:gd name="T78" fmla="*/ 2147483646 w 3899"/>
              <a:gd name="T79" fmla="*/ 2147483646 h 1729"/>
              <a:gd name="T80" fmla="*/ 2147483646 w 3899"/>
              <a:gd name="T81" fmla="*/ 2147483646 h 1729"/>
              <a:gd name="T82" fmla="*/ 2147483646 w 3899"/>
              <a:gd name="T83" fmla="*/ 2147483646 h 1729"/>
              <a:gd name="T84" fmla="*/ 2147483646 w 3899"/>
              <a:gd name="T85" fmla="*/ 2147483646 h 1729"/>
              <a:gd name="T86" fmla="*/ 2147483646 w 3899"/>
              <a:gd name="T87" fmla="*/ 2147483646 h 1729"/>
              <a:gd name="T88" fmla="*/ 2147483646 w 3899"/>
              <a:gd name="T89" fmla="*/ 2147483646 h 1729"/>
              <a:gd name="T90" fmla="*/ 2147483646 w 3899"/>
              <a:gd name="T91" fmla="*/ 2147483646 h 1729"/>
              <a:gd name="T92" fmla="*/ 2147483646 w 3899"/>
              <a:gd name="T93" fmla="*/ 2147483646 h 1729"/>
              <a:gd name="T94" fmla="*/ 2147483646 w 3899"/>
              <a:gd name="T95" fmla="*/ 2147483646 h 1729"/>
              <a:gd name="T96" fmla="*/ 2147483646 w 3899"/>
              <a:gd name="T97" fmla="*/ 2147483646 h 1729"/>
              <a:gd name="T98" fmla="*/ 2147483646 w 3899"/>
              <a:gd name="T99" fmla="*/ 2147483646 h 1729"/>
              <a:gd name="T100" fmla="*/ 2147483646 w 3899"/>
              <a:gd name="T101" fmla="*/ 2147483646 h 1729"/>
              <a:gd name="T102" fmla="*/ 2147483646 w 3899"/>
              <a:gd name="T103" fmla="*/ 2147483646 h 1729"/>
              <a:gd name="T104" fmla="*/ 2147483646 w 3899"/>
              <a:gd name="T105" fmla="*/ 2147483646 h 1729"/>
              <a:gd name="T106" fmla="*/ 2147483646 w 3899"/>
              <a:gd name="T107" fmla="*/ 2147483646 h 1729"/>
              <a:gd name="T108" fmla="*/ 2147483646 w 3899"/>
              <a:gd name="T109" fmla="*/ 2147483646 h 1729"/>
              <a:gd name="T110" fmla="*/ 2147483646 w 3899"/>
              <a:gd name="T111" fmla="*/ 2147483646 h 1729"/>
              <a:gd name="T112" fmla="*/ 2147483646 w 3899"/>
              <a:gd name="T113" fmla="*/ 2147483646 h 1729"/>
              <a:gd name="T114" fmla="*/ 2147483646 w 3899"/>
              <a:gd name="T115" fmla="*/ 2147483646 h 1729"/>
              <a:gd name="T116" fmla="*/ 2147483646 w 3899"/>
              <a:gd name="T117" fmla="*/ 2147483646 h 1729"/>
              <a:gd name="T118" fmla="*/ 2147483646 w 3899"/>
              <a:gd name="T119" fmla="*/ 2147483646 h 1729"/>
              <a:gd name="T120" fmla="*/ 2147483646 w 3899"/>
              <a:gd name="T121" fmla="*/ 2147483646 h 1729"/>
              <a:gd name="T122" fmla="*/ 2147483646 w 3899"/>
              <a:gd name="T123" fmla="*/ 2147483646 h 1729"/>
              <a:gd name="T124" fmla="*/ 2147483646 w 3899"/>
              <a:gd name="T125" fmla="*/ 2147483646 h 172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899"/>
              <a:gd name="T190" fmla="*/ 0 h 1729"/>
              <a:gd name="T191" fmla="*/ 3899 w 3899"/>
              <a:gd name="T192" fmla="*/ 1729 h 1729"/>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899" h="1729">
                <a:moveTo>
                  <a:pt x="3899" y="1729"/>
                </a:moveTo>
                <a:lnTo>
                  <a:pt x="3860" y="1727"/>
                </a:lnTo>
                <a:lnTo>
                  <a:pt x="3824" y="1723"/>
                </a:lnTo>
                <a:lnTo>
                  <a:pt x="3785" y="1717"/>
                </a:lnTo>
                <a:lnTo>
                  <a:pt x="3748" y="1708"/>
                </a:lnTo>
                <a:lnTo>
                  <a:pt x="3712" y="1698"/>
                </a:lnTo>
                <a:lnTo>
                  <a:pt x="3677" y="1685"/>
                </a:lnTo>
                <a:lnTo>
                  <a:pt x="3641" y="1669"/>
                </a:lnTo>
                <a:lnTo>
                  <a:pt x="3606" y="1652"/>
                </a:lnTo>
                <a:lnTo>
                  <a:pt x="3569" y="1633"/>
                </a:lnTo>
                <a:lnTo>
                  <a:pt x="3535" y="1612"/>
                </a:lnTo>
                <a:lnTo>
                  <a:pt x="3500" y="1589"/>
                </a:lnTo>
                <a:lnTo>
                  <a:pt x="3465" y="1564"/>
                </a:lnTo>
                <a:lnTo>
                  <a:pt x="3431" y="1537"/>
                </a:lnTo>
                <a:lnTo>
                  <a:pt x="3398" y="1510"/>
                </a:lnTo>
                <a:lnTo>
                  <a:pt x="3363" y="1479"/>
                </a:lnTo>
                <a:lnTo>
                  <a:pt x="3331" y="1450"/>
                </a:lnTo>
                <a:lnTo>
                  <a:pt x="3298" y="1418"/>
                </a:lnTo>
                <a:lnTo>
                  <a:pt x="3265" y="1385"/>
                </a:lnTo>
                <a:lnTo>
                  <a:pt x="3233" y="1350"/>
                </a:lnTo>
                <a:lnTo>
                  <a:pt x="3200" y="1314"/>
                </a:lnTo>
                <a:lnTo>
                  <a:pt x="3167" y="1279"/>
                </a:lnTo>
                <a:lnTo>
                  <a:pt x="3134" y="1241"/>
                </a:lnTo>
                <a:lnTo>
                  <a:pt x="3104" y="1203"/>
                </a:lnTo>
                <a:lnTo>
                  <a:pt x="3071" y="1164"/>
                </a:lnTo>
                <a:lnTo>
                  <a:pt x="3040" y="1126"/>
                </a:lnTo>
                <a:lnTo>
                  <a:pt x="3009" y="1085"/>
                </a:lnTo>
                <a:lnTo>
                  <a:pt x="2978" y="1045"/>
                </a:lnTo>
                <a:lnTo>
                  <a:pt x="2948" y="1005"/>
                </a:lnTo>
                <a:lnTo>
                  <a:pt x="2917" y="964"/>
                </a:lnTo>
                <a:lnTo>
                  <a:pt x="2886" y="922"/>
                </a:lnTo>
                <a:lnTo>
                  <a:pt x="2855" y="882"/>
                </a:lnTo>
                <a:lnTo>
                  <a:pt x="2824" y="841"/>
                </a:lnTo>
                <a:lnTo>
                  <a:pt x="2796" y="799"/>
                </a:lnTo>
                <a:lnTo>
                  <a:pt x="2765" y="759"/>
                </a:lnTo>
                <a:lnTo>
                  <a:pt x="2736" y="717"/>
                </a:lnTo>
                <a:lnTo>
                  <a:pt x="2707" y="676"/>
                </a:lnTo>
                <a:lnTo>
                  <a:pt x="2676" y="636"/>
                </a:lnTo>
                <a:lnTo>
                  <a:pt x="2647" y="597"/>
                </a:lnTo>
                <a:lnTo>
                  <a:pt x="2618" y="557"/>
                </a:lnTo>
                <a:lnTo>
                  <a:pt x="2590" y="519"/>
                </a:lnTo>
                <a:lnTo>
                  <a:pt x="2561" y="482"/>
                </a:lnTo>
                <a:lnTo>
                  <a:pt x="2532" y="444"/>
                </a:lnTo>
                <a:lnTo>
                  <a:pt x="2503" y="409"/>
                </a:lnTo>
                <a:lnTo>
                  <a:pt x="2474" y="373"/>
                </a:lnTo>
                <a:lnTo>
                  <a:pt x="2445" y="338"/>
                </a:lnTo>
                <a:lnTo>
                  <a:pt x="2418" y="306"/>
                </a:lnTo>
                <a:lnTo>
                  <a:pt x="2389" y="275"/>
                </a:lnTo>
                <a:lnTo>
                  <a:pt x="2360" y="244"/>
                </a:lnTo>
                <a:lnTo>
                  <a:pt x="2332" y="215"/>
                </a:lnTo>
                <a:lnTo>
                  <a:pt x="2305" y="186"/>
                </a:lnTo>
                <a:lnTo>
                  <a:pt x="2276" y="161"/>
                </a:lnTo>
                <a:lnTo>
                  <a:pt x="2249" y="136"/>
                </a:lnTo>
                <a:lnTo>
                  <a:pt x="2220" y="113"/>
                </a:lnTo>
                <a:lnTo>
                  <a:pt x="2193" y="92"/>
                </a:lnTo>
                <a:lnTo>
                  <a:pt x="2164" y="73"/>
                </a:lnTo>
                <a:lnTo>
                  <a:pt x="2137" y="58"/>
                </a:lnTo>
                <a:lnTo>
                  <a:pt x="2110" y="42"/>
                </a:lnTo>
                <a:lnTo>
                  <a:pt x="2081" y="29"/>
                </a:lnTo>
                <a:lnTo>
                  <a:pt x="2054" y="19"/>
                </a:lnTo>
                <a:lnTo>
                  <a:pt x="2025" y="10"/>
                </a:lnTo>
                <a:lnTo>
                  <a:pt x="1999" y="4"/>
                </a:lnTo>
                <a:lnTo>
                  <a:pt x="1972" y="0"/>
                </a:lnTo>
                <a:lnTo>
                  <a:pt x="1943" y="0"/>
                </a:lnTo>
                <a:lnTo>
                  <a:pt x="1916" y="2"/>
                </a:lnTo>
                <a:lnTo>
                  <a:pt x="1889" y="6"/>
                </a:lnTo>
                <a:lnTo>
                  <a:pt x="1862" y="12"/>
                </a:lnTo>
                <a:lnTo>
                  <a:pt x="1833" y="21"/>
                </a:lnTo>
                <a:lnTo>
                  <a:pt x="1806" y="33"/>
                </a:lnTo>
                <a:lnTo>
                  <a:pt x="1779" y="46"/>
                </a:lnTo>
                <a:lnTo>
                  <a:pt x="1752" y="62"/>
                </a:lnTo>
                <a:lnTo>
                  <a:pt x="1723" y="79"/>
                </a:lnTo>
                <a:lnTo>
                  <a:pt x="1696" y="98"/>
                </a:lnTo>
                <a:lnTo>
                  <a:pt x="1669" y="119"/>
                </a:lnTo>
                <a:lnTo>
                  <a:pt x="1640" y="142"/>
                </a:lnTo>
                <a:lnTo>
                  <a:pt x="1613" y="167"/>
                </a:lnTo>
                <a:lnTo>
                  <a:pt x="1587" y="192"/>
                </a:lnTo>
                <a:lnTo>
                  <a:pt x="1558" y="221"/>
                </a:lnTo>
                <a:lnTo>
                  <a:pt x="1531" y="250"/>
                </a:lnTo>
                <a:lnTo>
                  <a:pt x="1502" y="281"/>
                </a:lnTo>
                <a:lnTo>
                  <a:pt x="1473" y="313"/>
                </a:lnTo>
                <a:lnTo>
                  <a:pt x="1446" y="346"/>
                </a:lnTo>
                <a:lnTo>
                  <a:pt x="1417" y="380"/>
                </a:lnTo>
                <a:lnTo>
                  <a:pt x="1388" y="415"/>
                </a:lnTo>
                <a:lnTo>
                  <a:pt x="1361" y="451"/>
                </a:lnTo>
                <a:lnTo>
                  <a:pt x="1332" y="488"/>
                </a:lnTo>
                <a:lnTo>
                  <a:pt x="1304" y="526"/>
                </a:lnTo>
                <a:lnTo>
                  <a:pt x="1275" y="565"/>
                </a:lnTo>
                <a:lnTo>
                  <a:pt x="1246" y="603"/>
                </a:lnTo>
                <a:lnTo>
                  <a:pt x="1217" y="644"/>
                </a:lnTo>
                <a:lnTo>
                  <a:pt x="1186" y="684"/>
                </a:lnTo>
                <a:lnTo>
                  <a:pt x="1157" y="724"/>
                </a:lnTo>
                <a:lnTo>
                  <a:pt x="1128" y="765"/>
                </a:lnTo>
                <a:lnTo>
                  <a:pt x="1098" y="805"/>
                </a:lnTo>
                <a:lnTo>
                  <a:pt x="1069" y="847"/>
                </a:lnTo>
                <a:lnTo>
                  <a:pt x="1038" y="888"/>
                </a:lnTo>
                <a:lnTo>
                  <a:pt x="1009" y="928"/>
                </a:lnTo>
                <a:lnTo>
                  <a:pt x="978" y="970"/>
                </a:lnTo>
                <a:lnTo>
                  <a:pt x="947" y="1010"/>
                </a:lnTo>
                <a:lnTo>
                  <a:pt x="917" y="1051"/>
                </a:lnTo>
                <a:lnTo>
                  <a:pt x="886" y="1091"/>
                </a:lnTo>
                <a:lnTo>
                  <a:pt x="855" y="1130"/>
                </a:lnTo>
                <a:lnTo>
                  <a:pt x="824" y="1168"/>
                </a:lnTo>
                <a:lnTo>
                  <a:pt x="791" y="1206"/>
                </a:lnTo>
                <a:lnTo>
                  <a:pt x="761" y="1245"/>
                </a:lnTo>
                <a:lnTo>
                  <a:pt x="728" y="1281"/>
                </a:lnTo>
                <a:lnTo>
                  <a:pt x="697" y="1318"/>
                </a:lnTo>
                <a:lnTo>
                  <a:pt x="664" y="1352"/>
                </a:lnTo>
                <a:lnTo>
                  <a:pt x="632" y="1387"/>
                </a:lnTo>
                <a:lnTo>
                  <a:pt x="599" y="1420"/>
                </a:lnTo>
                <a:lnTo>
                  <a:pt x="566" y="1452"/>
                </a:lnTo>
                <a:lnTo>
                  <a:pt x="532" y="1481"/>
                </a:lnTo>
                <a:lnTo>
                  <a:pt x="499" y="1512"/>
                </a:lnTo>
                <a:lnTo>
                  <a:pt x="464" y="1539"/>
                </a:lnTo>
                <a:lnTo>
                  <a:pt x="431" y="1566"/>
                </a:lnTo>
                <a:lnTo>
                  <a:pt x="397" y="1589"/>
                </a:lnTo>
                <a:lnTo>
                  <a:pt x="362" y="1612"/>
                </a:lnTo>
                <a:lnTo>
                  <a:pt x="328" y="1633"/>
                </a:lnTo>
                <a:lnTo>
                  <a:pt x="291" y="1652"/>
                </a:lnTo>
                <a:lnTo>
                  <a:pt x="256" y="1669"/>
                </a:lnTo>
                <a:lnTo>
                  <a:pt x="220" y="1685"/>
                </a:lnTo>
                <a:lnTo>
                  <a:pt x="185" y="1698"/>
                </a:lnTo>
                <a:lnTo>
                  <a:pt x="148" y="1708"/>
                </a:lnTo>
                <a:lnTo>
                  <a:pt x="112" y="1717"/>
                </a:lnTo>
                <a:lnTo>
                  <a:pt x="73" y="1723"/>
                </a:lnTo>
                <a:lnTo>
                  <a:pt x="37" y="1727"/>
                </a:lnTo>
                <a:lnTo>
                  <a:pt x="0" y="1729"/>
                </a:lnTo>
              </a:path>
            </a:pathLst>
          </a:custGeom>
          <a:noFill/>
          <a:ln w="52388">
            <a:solidFill>
              <a:srgbClr val="000000"/>
            </a:solidFill>
            <a:round/>
            <a:headEnd/>
            <a:tailEnd/>
          </a:ln>
          <a:effectLst>
            <a:prstShdw prst="shdw17" dist="17961" dir="2700000">
              <a:srgbClr val="808080">
                <a:alpha val="74997"/>
              </a:srgbClr>
            </a:prstShdw>
          </a:effectLst>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56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0"/>
                                  </p:stCondLst>
                                  <p:childTnLst>
                                    <p:set>
                                      <p:cBhvr>
                                        <p:cTn id="13" dur="1" fill="hold">
                                          <p:stCondLst>
                                            <p:cond delay="0"/>
                                          </p:stCondLst>
                                        </p:cTn>
                                        <p:tgtEl>
                                          <p:spTgt spid="32"/>
                                        </p:tgtEl>
                                        <p:attrNameLst>
                                          <p:attrName>style.visibility</p:attrName>
                                        </p:attrNameLst>
                                      </p:cBhvr>
                                      <p:to>
                                        <p:strVal val="visible"/>
                                      </p:to>
                                    </p:set>
                                  </p:childTnLst>
                                </p:cTn>
                              </p:par>
                            </p:childTnLst>
                          </p:cTn>
                        </p:par>
                        <p:par>
                          <p:cTn id="14" fill="hold" nodeType="afterGroup">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par>
                          <p:cTn id="17" fill="hold" nodeType="afterGroup">
                            <p:stCondLst>
                              <p:cond delay="0"/>
                            </p:stCondLst>
                            <p:childTnLst>
                              <p:par>
                                <p:cTn id="18" presetID="1" presetClass="entr" presetSubtype="0" fill="hold" nodeType="afterEffect">
                                  <p:stCondLst>
                                    <p:cond delay="0"/>
                                  </p:stCondLst>
                                  <p:childTnLst>
                                    <p:set>
                                      <p:cBhvr>
                                        <p:cTn id="19" dur="1" fill="hold">
                                          <p:stCondLst>
                                            <p:cond delay="0"/>
                                          </p:stCondLst>
                                        </p:cTn>
                                        <p:tgtEl>
                                          <p:spTgt spid="35"/>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965654"/>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96565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965656"/>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9656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5645" grpId="0"/>
      <p:bldP spid="30" grpId="0"/>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2" name="Freeform 2">
            <a:extLst>
              <a:ext uri="{FF2B5EF4-FFF2-40B4-BE49-F238E27FC236}">
                <a16:creationId xmlns:a16="http://schemas.microsoft.com/office/drawing/2014/main" id="{E67E6221-D060-4624-9866-7DB73E02D475}"/>
              </a:ext>
            </a:extLst>
          </p:cNvPr>
          <p:cNvSpPr>
            <a:spLocks/>
          </p:cNvSpPr>
          <p:nvPr/>
        </p:nvSpPr>
        <p:spPr bwMode="auto">
          <a:xfrm>
            <a:off x="4267200" y="2355850"/>
            <a:ext cx="3873500" cy="2757488"/>
          </a:xfrm>
          <a:custGeom>
            <a:avLst/>
            <a:gdLst>
              <a:gd name="T0" fmla="*/ 0 w 2440"/>
              <a:gd name="T1" fmla="*/ 2147483646 h 1737"/>
              <a:gd name="T2" fmla="*/ 2147483646 w 2440"/>
              <a:gd name="T3" fmla="*/ 2147483646 h 1737"/>
              <a:gd name="T4" fmla="*/ 2147483646 w 2440"/>
              <a:gd name="T5" fmla="*/ 2147483646 h 1737"/>
              <a:gd name="T6" fmla="*/ 2147483646 w 2440"/>
              <a:gd name="T7" fmla="*/ 2147483646 h 1737"/>
              <a:gd name="T8" fmla="*/ 0 60000 65536"/>
              <a:gd name="T9" fmla="*/ 0 60000 65536"/>
              <a:gd name="T10" fmla="*/ 0 60000 65536"/>
              <a:gd name="T11" fmla="*/ 0 60000 65536"/>
              <a:gd name="T12" fmla="*/ 0 w 2440"/>
              <a:gd name="T13" fmla="*/ 0 h 1737"/>
              <a:gd name="T14" fmla="*/ 2440 w 2440"/>
              <a:gd name="T15" fmla="*/ 1737 h 1737"/>
            </a:gdLst>
            <a:ahLst/>
            <a:cxnLst>
              <a:cxn ang="T8">
                <a:pos x="T0" y="T1"/>
              </a:cxn>
              <a:cxn ang="T9">
                <a:pos x="T2" y="T3"/>
              </a:cxn>
              <a:cxn ang="T10">
                <a:pos x="T4" y="T5"/>
              </a:cxn>
              <a:cxn ang="T11">
                <a:pos x="T6" y="T7"/>
              </a:cxn>
            </a:cxnLst>
            <a:rect l="T12" t="T13" r="T14" b="T15"/>
            <a:pathLst>
              <a:path w="2440" h="1737">
                <a:moveTo>
                  <a:pt x="0" y="49"/>
                </a:moveTo>
                <a:cubicBezTo>
                  <a:pt x="159" y="81"/>
                  <a:pt x="687" y="0"/>
                  <a:pt x="952" y="241"/>
                </a:cubicBezTo>
                <a:cubicBezTo>
                  <a:pt x="1217" y="482"/>
                  <a:pt x="1344" y="1257"/>
                  <a:pt x="1592" y="1497"/>
                </a:cubicBezTo>
                <a:cubicBezTo>
                  <a:pt x="1840" y="1737"/>
                  <a:pt x="2263" y="1643"/>
                  <a:pt x="2440" y="1681"/>
                </a:cubicBezTo>
              </a:path>
            </a:pathLst>
          </a:custGeom>
          <a:noFill/>
          <a:ln w="50800">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19" name="Line 3">
            <a:extLst>
              <a:ext uri="{FF2B5EF4-FFF2-40B4-BE49-F238E27FC236}">
                <a16:creationId xmlns:a16="http://schemas.microsoft.com/office/drawing/2014/main" id="{389EFB78-60CB-460D-BD04-60B35E41B7E9}"/>
              </a:ext>
            </a:extLst>
          </p:cNvPr>
          <p:cNvSpPr>
            <a:spLocks noChangeShapeType="1"/>
          </p:cNvSpPr>
          <p:nvPr/>
        </p:nvSpPr>
        <p:spPr bwMode="auto">
          <a:xfrm>
            <a:off x="3743325" y="1804988"/>
            <a:ext cx="0" cy="349091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9220" name="Line 4">
            <a:extLst>
              <a:ext uri="{FF2B5EF4-FFF2-40B4-BE49-F238E27FC236}">
                <a16:creationId xmlns:a16="http://schemas.microsoft.com/office/drawing/2014/main" id="{A552EF74-0352-4B48-A124-D38D6660510B}"/>
              </a:ext>
            </a:extLst>
          </p:cNvPr>
          <p:cNvSpPr>
            <a:spLocks noChangeShapeType="1"/>
          </p:cNvSpPr>
          <p:nvPr/>
        </p:nvSpPr>
        <p:spPr bwMode="auto">
          <a:xfrm>
            <a:off x="3743325" y="5295900"/>
            <a:ext cx="47815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9221" name="Text Box 5">
            <a:extLst>
              <a:ext uri="{FF2B5EF4-FFF2-40B4-BE49-F238E27FC236}">
                <a16:creationId xmlns:a16="http://schemas.microsoft.com/office/drawing/2014/main" id="{461C9879-9F65-4BC9-B391-5E9400DA7145}"/>
              </a:ext>
            </a:extLst>
          </p:cNvPr>
          <p:cNvSpPr txBox="1">
            <a:spLocks noChangeArrowheads="1"/>
          </p:cNvSpPr>
          <p:nvPr/>
        </p:nvSpPr>
        <p:spPr bwMode="auto">
          <a:xfrm>
            <a:off x="3895725" y="5368925"/>
            <a:ext cx="1517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lgn="r">
              <a:spcBef>
                <a:spcPct val="50000"/>
              </a:spcBef>
            </a:pPr>
            <a:r>
              <a:rPr lang="en-US" altLang="en-US" sz="2400">
                <a:latin typeface="Tahoma" panose="020B0604030504040204" pitchFamily="34" charset="0"/>
              </a:rPr>
              <a:t>Growing</a:t>
            </a:r>
          </a:p>
        </p:txBody>
      </p:sp>
      <p:sp>
        <p:nvSpPr>
          <p:cNvPr id="9222" name="Text Box 6">
            <a:extLst>
              <a:ext uri="{FF2B5EF4-FFF2-40B4-BE49-F238E27FC236}">
                <a16:creationId xmlns:a16="http://schemas.microsoft.com/office/drawing/2014/main" id="{BD663959-6979-4EEB-9C9D-9ED1F15FBE52}"/>
              </a:ext>
            </a:extLst>
          </p:cNvPr>
          <p:cNvSpPr txBox="1">
            <a:spLocks noChangeArrowheads="1"/>
          </p:cNvSpPr>
          <p:nvPr/>
        </p:nvSpPr>
        <p:spPr bwMode="auto">
          <a:xfrm>
            <a:off x="6929439" y="5372100"/>
            <a:ext cx="1063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2400">
                <a:latin typeface="Tahoma" panose="020B0604030504040204" pitchFamily="34" charset="0"/>
              </a:rPr>
              <a:t>Aging</a:t>
            </a:r>
          </a:p>
        </p:txBody>
      </p:sp>
      <p:sp>
        <p:nvSpPr>
          <p:cNvPr id="967687" name="Text Box 7">
            <a:extLst>
              <a:ext uri="{FF2B5EF4-FFF2-40B4-BE49-F238E27FC236}">
                <a16:creationId xmlns:a16="http://schemas.microsoft.com/office/drawing/2014/main" id="{0CFF850F-EB11-4E9E-B1E7-D496B7D81078}"/>
              </a:ext>
            </a:extLst>
          </p:cNvPr>
          <p:cNvSpPr txBox="1">
            <a:spLocks noChangeArrowheads="1"/>
          </p:cNvSpPr>
          <p:nvPr/>
        </p:nvSpPr>
        <p:spPr bwMode="auto">
          <a:xfrm>
            <a:off x="3819526" y="1879600"/>
            <a:ext cx="220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2400">
                <a:solidFill>
                  <a:schemeClr val="accent2"/>
                </a:solidFill>
                <a:latin typeface="Tahoma" panose="020B0604030504040204" pitchFamily="34" charset="0"/>
              </a:rPr>
              <a:t>Flexibility</a:t>
            </a:r>
          </a:p>
        </p:txBody>
      </p:sp>
      <p:sp>
        <p:nvSpPr>
          <p:cNvPr id="967688" name="Oval 8">
            <a:extLst>
              <a:ext uri="{FF2B5EF4-FFF2-40B4-BE49-F238E27FC236}">
                <a16:creationId xmlns:a16="http://schemas.microsoft.com/office/drawing/2014/main" id="{150EFEBD-7973-4360-8A47-AA25D147178A}"/>
              </a:ext>
            </a:extLst>
          </p:cNvPr>
          <p:cNvSpPr>
            <a:spLocks noChangeArrowheads="1"/>
          </p:cNvSpPr>
          <p:nvPr/>
        </p:nvSpPr>
        <p:spPr bwMode="auto">
          <a:xfrm>
            <a:off x="4122738" y="2335213"/>
            <a:ext cx="152400" cy="152400"/>
          </a:xfrm>
          <a:prstGeom prst="ellipse">
            <a:avLst/>
          </a:prstGeom>
          <a:solidFill>
            <a:schemeClr val="accent2"/>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967689" name="Oval 9">
            <a:extLst>
              <a:ext uri="{FF2B5EF4-FFF2-40B4-BE49-F238E27FC236}">
                <a16:creationId xmlns:a16="http://schemas.microsoft.com/office/drawing/2014/main" id="{C8226506-2740-494C-BB5F-606AE2D287B7}"/>
              </a:ext>
            </a:extLst>
          </p:cNvPr>
          <p:cNvSpPr>
            <a:spLocks noChangeArrowheads="1"/>
          </p:cNvSpPr>
          <p:nvPr/>
        </p:nvSpPr>
        <p:spPr bwMode="auto">
          <a:xfrm>
            <a:off x="4122738" y="4992688"/>
            <a:ext cx="152400" cy="152400"/>
          </a:xfrm>
          <a:prstGeom prst="ellipse">
            <a:avLst/>
          </a:prstGeom>
          <a:solidFill>
            <a:srgbClr val="FF0033"/>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967690" name="Text Box 10">
            <a:extLst>
              <a:ext uri="{FF2B5EF4-FFF2-40B4-BE49-F238E27FC236}">
                <a16:creationId xmlns:a16="http://schemas.microsoft.com/office/drawing/2014/main" id="{C65D2461-124E-42FC-B538-CE4305F4202D}"/>
              </a:ext>
            </a:extLst>
          </p:cNvPr>
          <p:cNvSpPr txBox="1">
            <a:spLocks noChangeArrowheads="1"/>
          </p:cNvSpPr>
          <p:nvPr/>
        </p:nvSpPr>
        <p:spPr bwMode="auto">
          <a:xfrm>
            <a:off x="2562226" y="4457701"/>
            <a:ext cx="2335213" cy="461963"/>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2400" dirty="0">
                <a:solidFill>
                  <a:srgbClr val="FF0033"/>
                </a:solidFill>
                <a:effectLst>
                  <a:outerShdw blurRad="38100" dist="38100" dir="2700000" algn="tl">
                    <a:srgbClr val="C0C0C0"/>
                  </a:outerShdw>
                </a:effectLst>
                <a:latin typeface="Tahoma" pitchFamily="-111" charset="0"/>
                <a:ea typeface="ＭＳ Ｐゴシック" pitchFamily="-111" charset="-128"/>
              </a:rPr>
              <a:t>Predictability</a:t>
            </a:r>
          </a:p>
        </p:txBody>
      </p:sp>
      <p:sp>
        <p:nvSpPr>
          <p:cNvPr id="13" name="Text Box 12">
            <a:extLst>
              <a:ext uri="{FF2B5EF4-FFF2-40B4-BE49-F238E27FC236}">
                <a16:creationId xmlns:a16="http://schemas.microsoft.com/office/drawing/2014/main" id="{313002C3-326F-44BB-A7B8-E710B2FB21DA}"/>
              </a:ext>
            </a:extLst>
          </p:cNvPr>
          <p:cNvSpPr txBox="1">
            <a:spLocks noChangeArrowheads="1"/>
          </p:cNvSpPr>
          <p:nvPr/>
        </p:nvSpPr>
        <p:spPr bwMode="auto">
          <a:xfrm>
            <a:off x="2541589" y="4425950"/>
            <a:ext cx="2732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2400">
                <a:solidFill>
                  <a:srgbClr val="FF0033"/>
                </a:solidFill>
                <a:latin typeface="Tahoma" panose="020B0604030504040204" pitchFamily="34" charset="0"/>
              </a:rPr>
              <a:t>Controllability</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768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6768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967682"/>
                                        </p:tgtEl>
                                        <p:attrNameLst>
                                          <p:attrName>style.visibility</p:attrName>
                                        </p:attrNameLst>
                                      </p:cBhvr>
                                      <p:to>
                                        <p:strVal val="visible"/>
                                      </p:to>
                                    </p:set>
                                    <p:animEffect transition="in" filter="wipe(left)">
                                      <p:cBhvr>
                                        <p:cTn id="13" dur="2000"/>
                                        <p:tgtEl>
                                          <p:spTgt spid="96768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96768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967690"/>
                                        </p:tgtEl>
                                        <p:attrNameLst>
                                          <p:attrName>style.visibility</p:attrName>
                                        </p:attrNameLst>
                                      </p:cBhvr>
                                      <p:to>
                                        <p:strVal val="visible"/>
                                      </p:to>
                                    </p:set>
                                  </p:childTnLst>
                                  <p:subTnLst>
                                    <p:set>
                                      <p:cBhvr override="childStyle">
                                        <p:cTn dur="1" fill="hold" display="0" masterRel="nextClick" afterEffect="1"/>
                                        <p:tgtEl>
                                          <p:spTgt spid="967690"/>
                                        </p:tgtEl>
                                        <p:attrNameLst>
                                          <p:attrName>style.visibility</p:attrName>
                                        </p:attrNameLst>
                                      </p:cBhvr>
                                      <p:to>
                                        <p:strVal val="hidden"/>
                                      </p:to>
                                    </p:set>
                                  </p:sub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7687" grpId="0"/>
      <p:bldP spid="967688" grpId="0" animBg="1"/>
      <p:bldP spid="967689" grpId="0" animBg="1"/>
      <p:bldP spid="967690"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reeform 2">
            <a:extLst>
              <a:ext uri="{FF2B5EF4-FFF2-40B4-BE49-F238E27FC236}">
                <a16:creationId xmlns:a16="http://schemas.microsoft.com/office/drawing/2014/main" id="{09265060-2E8A-437E-8E4B-8BAB952F3471}"/>
              </a:ext>
            </a:extLst>
          </p:cNvPr>
          <p:cNvSpPr>
            <a:spLocks/>
          </p:cNvSpPr>
          <p:nvPr/>
        </p:nvSpPr>
        <p:spPr bwMode="auto">
          <a:xfrm>
            <a:off x="4267200" y="2355850"/>
            <a:ext cx="3873500" cy="2757488"/>
          </a:xfrm>
          <a:custGeom>
            <a:avLst/>
            <a:gdLst>
              <a:gd name="T0" fmla="*/ 0 w 2440"/>
              <a:gd name="T1" fmla="*/ 2147483646 h 1737"/>
              <a:gd name="T2" fmla="*/ 2147483646 w 2440"/>
              <a:gd name="T3" fmla="*/ 2147483646 h 1737"/>
              <a:gd name="T4" fmla="*/ 2147483646 w 2440"/>
              <a:gd name="T5" fmla="*/ 2147483646 h 1737"/>
              <a:gd name="T6" fmla="*/ 2147483646 w 2440"/>
              <a:gd name="T7" fmla="*/ 2147483646 h 1737"/>
              <a:gd name="T8" fmla="*/ 0 60000 65536"/>
              <a:gd name="T9" fmla="*/ 0 60000 65536"/>
              <a:gd name="T10" fmla="*/ 0 60000 65536"/>
              <a:gd name="T11" fmla="*/ 0 60000 65536"/>
              <a:gd name="T12" fmla="*/ 0 w 2440"/>
              <a:gd name="T13" fmla="*/ 0 h 1737"/>
              <a:gd name="T14" fmla="*/ 2440 w 2440"/>
              <a:gd name="T15" fmla="*/ 1737 h 1737"/>
            </a:gdLst>
            <a:ahLst/>
            <a:cxnLst>
              <a:cxn ang="T8">
                <a:pos x="T0" y="T1"/>
              </a:cxn>
              <a:cxn ang="T9">
                <a:pos x="T2" y="T3"/>
              </a:cxn>
              <a:cxn ang="T10">
                <a:pos x="T4" y="T5"/>
              </a:cxn>
              <a:cxn ang="T11">
                <a:pos x="T6" y="T7"/>
              </a:cxn>
            </a:cxnLst>
            <a:rect l="T12" t="T13" r="T14" b="T15"/>
            <a:pathLst>
              <a:path w="2440" h="1737">
                <a:moveTo>
                  <a:pt x="0" y="49"/>
                </a:moveTo>
                <a:cubicBezTo>
                  <a:pt x="159" y="81"/>
                  <a:pt x="687" y="0"/>
                  <a:pt x="952" y="241"/>
                </a:cubicBezTo>
                <a:cubicBezTo>
                  <a:pt x="1217" y="482"/>
                  <a:pt x="1344" y="1257"/>
                  <a:pt x="1592" y="1497"/>
                </a:cubicBezTo>
                <a:cubicBezTo>
                  <a:pt x="1840" y="1737"/>
                  <a:pt x="2263" y="1643"/>
                  <a:pt x="2440" y="1681"/>
                </a:cubicBezTo>
              </a:path>
            </a:pathLst>
          </a:custGeom>
          <a:noFill/>
          <a:ln w="50800">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9731" name="Freeform 3">
            <a:extLst>
              <a:ext uri="{FF2B5EF4-FFF2-40B4-BE49-F238E27FC236}">
                <a16:creationId xmlns:a16="http://schemas.microsoft.com/office/drawing/2014/main" id="{4451F4B7-41F3-46C9-BC94-CA7861028D88}"/>
              </a:ext>
            </a:extLst>
          </p:cNvPr>
          <p:cNvSpPr>
            <a:spLocks/>
          </p:cNvSpPr>
          <p:nvPr/>
        </p:nvSpPr>
        <p:spPr bwMode="auto">
          <a:xfrm>
            <a:off x="4216400" y="2400300"/>
            <a:ext cx="3924300" cy="2649538"/>
          </a:xfrm>
          <a:custGeom>
            <a:avLst/>
            <a:gdLst>
              <a:gd name="T0" fmla="*/ 0 w 2472"/>
              <a:gd name="T1" fmla="*/ 2147483646 h 1669"/>
              <a:gd name="T2" fmla="*/ 2147483646 w 2472"/>
              <a:gd name="T3" fmla="*/ 2147483646 h 1669"/>
              <a:gd name="T4" fmla="*/ 2147483646 w 2472"/>
              <a:gd name="T5" fmla="*/ 2147483646 h 1669"/>
              <a:gd name="T6" fmla="*/ 2147483646 w 2472"/>
              <a:gd name="T7" fmla="*/ 2147483646 h 1669"/>
              <a:gd name="T8" fmla="*/ 2147483646 w 2472"/>
              <a:gd name="T9" fmla="*/ 2147483646 h 1669"/>
              <a:gd name="T10" fmla="*/ 0 60000 65536"/>
              <a:gd name="T11" fmla="*/ 0 60000 65536"/>
              <a:gd name="T12" fmla="*/ 0 60000 65536"/>
              <a:gd name="T13" fmla="*/ 0 60000 65536"/>
              <a:gd name="T14" fmla="*/ 0 60000 65536"/>
              <a:gd name="T15" fmla="*/ 0 w 2472"/>
              <a:gd name="T16" fmla="*/ 0 h 1669"/>
              <a:gd name="T17" fmla="*/ 2472 w 2472"/>
              <a:gd name="T18" fmla="*/ 1669 h 1669"/>
            </a:gdLst>
            <a:ahLst/>
            <a:cxnLst>
              <a:cxn ang="T10">
                <a:pos x="T0" y="T1"/>
              </a:cxn>
              <a:cxn ang="T11">
                <a:pos x="T2" y="T3"/>
              </a:cxn>
              <a:cxn ang="T12">
                <a:pos x="T4" y="T5"/>
              </a:cxn>
              <a:cxn ang="T13">
                <a:pos x="T6" y="T7"/>
              </a:cxn>
              <a:cxn ang="T14">
                <a:pos x="T8" y="T9"/>
              </a:cxn>
            </a:cxnLst>
            <a:rect l="T15" t="T16" r="T17" b="T18"/>
            <a:pathLst>
              <a:path w="2472" h="1669">
                <a:moveTo>
                  <a:pt x="0" y="1669"/>
                </a:moveTo>
                <a:cubicBezTo>
                  <a:pt x="127" y="1606"/>
                  <a:pt x="532" y="1545"/>
                  <a:pt x="760" y="1293"/>
                </a:cubicBezTo>
                <a:cubicBezTo>
                  <a:pt x="988" y="1041"/>
                  <a:pt x="1163" y="314"/>
                  <a:pt x="1368" y="157"/>
                </a:cubicBezTo>
                <a:cubicBezTo>
                  <a:pt x="1573" y="0"/>
                  <a:pt x="1808" y="97"/>
                  <a:pt x="1992" y="349"/>
                </a:cubicBezTo>
                <a:cubicBezTo>
                  <a:pt x="2176" y="601"/>
                  <a:pt x="2372" y="1394"/>
                  <a:pt x="2472" y="1669"/>
                </a:cubicBezTo>
              </a:path>
            </a:pathLst>
          </a:custGeom>
          <a:noFill/>
          <a:ln w="508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68" name="Line 4">
            <a:extLst>
              <a:ext uri="{FF2B5EF4-FFF2-40B4-BE49-F238E27FC236}">
                <a16:creationId xmlns:a16="http://schemas.microsoft.com/office/drawing/2014/main" id="{18E488D5-5783-4EAA-B153-C2A2E27A054B}"/>
              </a:ext>
            </a:extLst>
          </p:cNvPr>
          <p:cNvSpPr>
            <a:spLocks noChangeShapeType="1"/>
          </p:cNvSpPr>
          <p:nvPr/>
        </p:nvSpPr>
        <p:spPr bwMode="auto">
          <a:xfrm>
            <a:off x="3743325" y="1804988"/>
            <a:ext cx="0" cy="349091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1269" name="Line 5">
            <a:extLst>
              <a:ext uri="{FF2B5EF4-FFF2-40B4-BE49-F238E27FC236}">
                <a16:creationId xmlns:a16="http://schemas.microsoft.com/office/drawing/2014/main" id="{8F652AF6-5EC3-4560-8399-305A05154CF7}"/>
              </a:ext>
            </a:extLst>
          </p:cNvPr>
          <p:cNvSpPr>
            <a:spLocks noChangeShapeType="1"/>
          </p:cNvSpPr>
          <p:nvPr/>
        </p:nvSpPr>
        <p:spPr bwMode="auto">
          <a:xfrm>
            <a:off x="3743325" y="5295900"/>
            <a:ext cx="47815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969734" name="Rectangle 6">
            <a:extLst>
              <a:ext uri="{FF2B5EF4-FFF2-40B4-BE49-F238E27FC236}">
                <a16:creationId xmlns:a16="http://schemas.microsoft.com/office/drawing/2014/main" id="{FA691438-A4EE-416E-9ECB-6C76A3DA2419}"/>
              </a:ext>
            </a:extLst>
          </p:cNvPr>
          <p:cNvSpPr>
            <a:spLocks noChangeArrowheads="1"/>
          </p:cNvSpPr>
          <p:nvPr/>
        </p:nvSpPr>
        <p:spPr bwMode="auto">
          <a:xfrm>
            <a:off x="5716589" y="2640013"/>
            <a:ext cx="682625" cy="1365250"/>
          </a:xfrm>
          <a:prstGeom prst="rect">
            <a:avLst/>
          </a:prstGeom>
          <a:solidFill>
            <a:srgbClr val="008080">
              <a:alpha val="25098"/>
            </a:srgbClr>
          </a:solidFill>
          <a:ln w="25400">
            <a:solidFill>
              <a:schemeClr val="tx1"/>
            </a:solidFill>
            <a:prstDash val="sysDot"/>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969735" name="Line 7">
            <a:extLst>
              <a:ext uri="{FF2B5EF4-FFF2-40B4-BE49-F238E27FC236}">
                <a16:creationId xmlns:a16="http://schemas.microsoft.com/office/drawing/2014/main" id="{CEEE5DE7-1051-4669-A01C-56FBFDFB6E51}"/>
              </a:ext>
            </a:extLst>
          </p:cNvPr>
          <p:cNvSpPr>
            <a:spLocks noChangeShapeType="1"/>
          </p:cNvSpPr>
          <p:nvPr/>
        </p:nvSpPr>
        <p:spPr bwMode="auto">
          <a:xfrm flipV="1">
            <a:off x="6096000" y="4537076"/>
            <a:ext cx="0" cy="758825"/>
          </a:xfrm>
          <a:prstGeom prst="line">
            <a:avLst/>
          </a:prstGeom>
          <a:noFill/>
          <a:ln w="38100">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2" name="Text Box 8">
            <a:extLst>
              <a:ext uri="{FF2B5EF4-FFF2-40B4-BE49-F238E27FC236}">
                <a16:creationId xmlns:a16="http://schemas.microsoft.com/office/drawing/2014/main" id="{3EBCA1BA-0693-4CAC-9FC3-8D269BC17709}"/>
              </a:ext>
            </a:extLst>
          </p:cNvPr>
          <p:cNvSpPr txBox="1">
            <a:spLocks noChangeArrowheads="1"/>
          </p:cNvSpPr>
          <p:nvPr/>
        </p:nvSpPr>
        <p:spPr bwMode="auto">
          <a:xfrm>
            <a:off x="3819526" y="5368925"/>
            <a:ext cx="1592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lgn="r">
              <a:spcBef>
                <a:spcPct val="50000"/>
              </a:spcBef>
            </a:pPr>
            <a:r>
              <a:rPr lang="en-US" altLang="en-US" sz="2400">
                <a:latin typeface="Tahoma" panose="020B0604030504040204" pitchFamily="34" charset="0"/>
              </a:rPr>
              <a:t>Growing</a:t>
            </a:r>
          </a:p>
        </p:txBody>
      </p:sp>
      <p:sp>
        <p:nvSpPr>
          <p:cNvPr id="969737" name="Text Box 9">
            <a:extLst>
              <a:ext uri="{FF2B5EF4-FFF2-40B4-BE49-F238E27FC236}">
                <a16:creationId xmlns:a16="http://schemas.microsoft.com/office/drawing/2014/main" id="{C43045A8-B037-43AE-A1AA-361C813FB642}"/>
              </a:ext>
            </a:extLst>
          </p:cNvPr>
          <p:cNvSpPr txBox="1">
            <a:spLocks noChangeArrowheads="1"/>
          </p:cNvSpPr>
          <p:nvPr/>
        </p:nvSpPr>
        <p:spPr bwMode="auto">
          <a:xfrm>
            <a:off x="5640389" y="5372100"/>
            <a:ext cx="1138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2400">
                <a:solidFill>
                  <a:srgbClr val="009900"/>
                </a:solidFill>
                <a:latin typeface="Tahoma" panose="020B0604030504040204" pitchFamily="34" charset="0"/>
              </a:rPr>
              <a:t>Prime</a:t>
            </a:r>
          </a:p>
        </p:txBody>
      </p:sp>
      <p:sp>
        <p:nvSpPr>
          <p:cNvPr id="11274" name="Text Box 10">
            <a:extLst>
              <a:ext uri="{FF2B5EF4-FFF2-40B4-BE49-F238E27FC236}">
                <a16:creationId xmlns:a16="http://schemas.microsoft.com/office/drawing/2014/main" id="{7B3CAE42-69E1-4CA6-80CC-97C61403D448}"/>
              </a:ext>
            </a:extLst>
          </p:cNvPr>
          <p:cNvSpPr txBox="1">
            <a:spLocks noChangeArrowheads="1"/>
          </p:cNvSpPr>
          <p:nvPr/>
        </p:nvSpPr>
        <p:spPr bwMode="auto">
          <a:xfrm>
            <a:off x="6929439" y="5372100"/>
            <a:ext cx="1366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2400">
                <a:latin typeface="Tahoma" panose="020B0604030504040204" pitchFamily="34" charset="0"/>
              </a:rPr>
              <a:t>Aging</a:t>
            </a:r>
          </a:p>
        </p:txBody>
      </p:sp>
      <p:sp>
        <p:nvSpPr>
          <p:cNvPr id="11275" name="Text Box 11">
            <a:extLst>
              <a:ext uri="{FF2B5EF4-FFF2-40B4-BE49-F238E27FC236}">
                <a16:creationId xmlns:a16="http://schemas.microsoft.com/office/drawing/2014/main" id="{555DC2B2-34E8-4D0D-9710-DBC0A6B73626}"/>
              </a:ext>
            </a:extLst>
          </p:cNvPr>
          <p:cNvSpPr txBox="1">
            <a:spLocks noChangeArrowheads="1"/>
          </p:cNvSpPr>
          <p:nvPr/>
        </p:nvSpPr>
        <p:spPr bwMode="auto">
          <a:xfrm>
            <a:off x="3819526" y="1879600"/>
            <a:ext cx="220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2400">
                <a:solidFill>
                  <a:schemeClr val="accent2"/>
                </a:solidFill>
                <a:latin typeface="Tahoma" panose="020B0604030504040204" pitchFamily="34" charset="0"/>
              </a:rPr>
              <a:t>Flexibility</a:t>
            </a:r>
          </a:p>
        </p:txBody>
      </p:sp>
      <p:sp>
        <p:nvSpPr>
          <p:cNvPr id="11276" name="Oval 13">
            <a:extLst>
              <a:ext uri="{FF2B5EF4-FFF2-40B4-BE49-F238E27FC236}">
                <a16:creationId xmlns:a16="http://schemas.microsoft.com/office/drawing/2014/main" id="{9CCF86A2-7D98-40A3-B047-575242A6B2AC}"/>
              </a:ext>
            </a:extLst>
          </p:cNvPr>
          <p:cNvSpPr>
            <a:spLocks noChangeArrowheads="1"/>
          </p:cNvSpPr>
          <p:nvPr/>
        </p:nvSpPr>
        <p:spPr bwMode="auto">
          <a:xfrm>
            <a:off x="4122738" y="4992688"/>
            <a:ext cx="152400" cy="152400"/>
          </a:xfrm>
          <a:prstGeom prst="ellipse">
            <a:avLst/>
          </a:prstGeom>
          <a:solidFill>
            <a:srgbClr val="FF0033"/>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11277" name="Oval 14">
            <a:extLst>
              <a:ext uri="{FF2B5EF4-FFF2-40B4-BE49-F238E27FC236}">
                <a16:creationId xmlns:a16="http://schemas.microsoft.com/office/drawing/2014/main" id="{01D9FA5D-EBC3-4F5C-9341-6B30F6FEBDB2}"/>
              </a:ext>
            </a:extLst>
          </p:cNvPr>
          <p:cNvSpPr>
            <a:spLocks noChangeArrowheads="1"/>
          </p:cNvSpPr>
          <p:nvPr/>
        </p:nvSpPr>
        <p:spPr bwMode="auto">
          <a:xfrm>
            <a:off x="4122738" y="2335213"/>
            <a:ext cx="152400" cy="152400"/>
          </a:xfrm>
          <a:prstGeom prst="ellipse">
            <a:avLst/>
          </a:prstGeom>
          <a:solidFill>
            <a:schemeClr val="accent2"/>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969743" name="Text Box 15">
            <a:extLst>
              <a:ext uri="{FF2B5EF4-FFF2-40B4-BE49-F238E27FC236}">
                <a16:creationId xmlns:a16="http://schemas.microsoft.com/office/drawing/2014/main" id="{EFA87EE7-0EA6-4D95-9BF7-27A8E371D279}"/>
              </a:ext>
            </a:extLst>
          </p:cNvPr>
          <p:cNvSpPr txBox="1">
            <a:spLocks noChangeArrowheads="1"/>
          </p:cNvSpPr>
          <p:nvPr/>
        </p:nvSpPr>
        <p:spPr bwMode="auto">
          <a:xfrm>
            <a:off x="8221664" y="4764088"/>
            <a:ext cx="1063625" cy="369332"/>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dirty="0">
                <a:effectLst>
                  <a:outerShdw blurRad="38100" dist="38100" dir="2700000" algn="tl">
                    <a:srgbClr val="C0C0C0"/>
                  </a:outerShdw>
                </a:effectLst>
                <a:latin typeface="Tahoma" pitchFamily="-111" charset="0"/>
                <a:ea typeface="ＭＳ Ｐゴシック" pitchFamily="-111" charset="-128"/>
              </a:rPr>
              <a:t>Death</a:t>
            </a:r>
          </a:p>
        </p:txBody>
      </p:sp>
      <p:sp>
        <p:nvSpPr>
          <p:cNvPr id="11279" name="Text Box 12">
            <a:extLst>
              <a:ext uri="{FF2B5EF4-FFF2-40B4-BE49-F238E27FC236}">
                <a16:creationId xmlns:a16="http://schemas.microsoft.com/office/drawing/2014/main" id="{B759DCD7-F68D-48C1-88D4-A5A5043D98AE}"/>
              </a:ext>
            </a:extLst>
          </p:cNvPr>
          <p:cNvSpPr txBox="1">
            <a:spLocks noChangeArrowheads="1"/>
          </p:cNvSpPr>
          <p:nvPr/>
        </p:nvSpPr>
        <p:spPr bwMode="auto">
          <a:xfrm>
            <a:off x="2541589" y="4425950"/>
            <a:ext cx="2732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2400">
                <a:solidFill>
                  <a:srgbClr val="FF0033"/>
                </a:solidFill>
                <a:latin typeface="Tahoma" panose="020B0604030504040204" pitchFamily="34" charset="0"/>
              </a:rPr>
              <a:t>Controllability</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969731"/>
                                        </p:tgtEl>
                                        <p:attrNameLst>
                                          <p:attrName>style.visibility</p:attrName>
                                        </p:attrNameLst>
                                      </p:cBhvr>
                                      <p:to>
                                        <p:strVal val="visible"/>
                                      </p:to>
                                    </p:set>
                                    <p:animEffect transition="in" filter="wipe(left)">
                                      <p:cBhvr>
                                        <p:cTn id="7" dur="2000"/>
                                        <p:tgtEl>
                                          <p:spTgt spid="9697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69743"/>
                                        </p:tgtEl>
                                        <p:attrNameLst>
                                          <p:attrName>style.visibility</p:attrName>
                                        </p:attrNameLst>
                                      </p:cBhvr>
                                      <p:to>
                                        <p:strVal val="visible"/>
                                      </p:to>
                                    </p:set>
                                    <p:animEffect transition="in" filter="fade">
                                      <p:cBhvr>
                                        <p:cTn id="10" dur="500"/>
                                        <p:tgtEl>
                                          <p:spTgt spid="96974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69737"/>
                                        </p:tgtEl>
                                        <p:attrNameLst>
                                          <p:attrName>style.visibility</p:attrName>
                                        </p:attrNameLst>
                                      </p:cBhvr>
                                      <p:to>
                                        <p:strVal val="visible"/>
                                      </p:to>
                                    </p:set>
                                    <p:animEffect transition="in" filter="fade">
                                      <p:cBhvr>
                                        <p:cTn id="15" dur="500"/>
                                        <p:tgtEl>
                                          <p:spTgt spid="969737"/>
                                        </p:tgtEl>
                                      </p:cBhvr>
                                    </p:animEffect>
                                  </p:childTnLst>
                                </p:cTn>
                              </p:par>
                            </p:childTnLst>
                          </p:cTn>
                        </p:par>
                        <p:par>
                          <p:cTn id="16" fill="hold" nodeType="afterGroup">
                            <p:stCondLst>
                              <p:cond delay="500"/>
                            </p:stCondLst>
                            <p:childTnLst>
                              <p:par>
                                <p:cTn id="17" presetID="22" presetClass="entr" presetSubtype="4" fill="hold" nodeType="afterEffect">
                                  <p:stCondLst>
                                    <p:cond delay="0"/>
                                  </p:stCondLst>
                                  <p:childTnLst>
                                    <p:set>
                                      <p:cBhvr>
                                        <p:cTn id="18" dur="1" fill="hold">
                                          <p:stCondLst>
                                            <p:cond delay="0"/>
                                          </p:stCondLst>
                                        </p:cTn>
                                        <p:tgtEl>
                                          <p:spTgt spid="969735"/>
                                        </p:tgtEl>
                                        <p:attrNameLst>
                                          <p:attrName>style.visibility</p:attrName>
                                        </p:attrNameLst>
                                      </p:cBhvr>
                                      <p:to>
                                        <p:strVal val="visible"/>
                                      </p:to>
                                    </p:set>
                                    <p:animEffect transition="in" filter="wipe(down)">
                                      <p:cBhvr>
                                        <p:cTn id="19" dur="500"/>
                                        <p:tgtEl>
                                          <p:spTgt spid="969735"/>
                                        </p:tgtEl>
                                      </p:cBhvr>
                                    </p:animEffect>
                                  </p:childTnLst>
                                </p:cTn>
                              </p:par>
                            </p:childTnLst>
                          </p:cTn>
                        </p:par>
                        <p:par>
                          <p:cTn id="20" fill="hold" nodeType="afterGroup">
                            <p:stCondLst>
                              <p:cond delay="1000"/>
                            </p:stCondLst>
                            <p:childTnLst>
                              <p:par>
                                <p:cTn id="21" presetID="55" presetClass="entr" presetSubtype="0" fill="hold" grpId="0" nodeType="afterEffect">
                                  <p:stCondLst>
                                    <p:cond delay="0"/>
                                  </p:stCondLst>
                                  <p:childTnLst>
                                    <p:set>
                                      <p:cBhvr>
                                        <p:cTn id="22" dur="1" fill="hold">
                                          <p:stCondLst>
                                            <p:cond delay="0"/>
                                          </p:stCondLst>
                                        </p:cTn>
                                        <p:tgtEl>
                                          <p:spTgt spid="969734"/>
                                        </p:tgtEl>
                                        <p:attrNameLst>
                                          <p:attrName>style.visibility</p:attrName>
                                        </p:attrNameLst>
                                      </p:cBhvr>
                                      <p:to>
                                        <p:strVal val="visible"/>
                                      </p:to>
                                    </p:set>
                                    <p:anim calcmode="lin" valueType="num">
                                      <p:cBhvr>
                                        <p:cTn id="23" dur="500" fill="hold"/>
                                        <p:tgtEl>
                                          <p:spTgt spid="969734"/>
                                        </p:tgtEl>
                                        <p:attrNameLst>
                                          <p:attrName>ppt_w</p:attrName>
                                        </p:attrNameLst>
                                      </p:cBhvr>
                                      <p:tavLst>
                                        <p:tav tm="0">
                                          <p:val>
                                            <p:strVal val="#ppt_w*0.70"/>
                                          </p:val>
                                        </p:tav>
                                        <p:tav tm="100000">
                                          <p:val>
                                            <p:strVal val="#ppt_w"/>
                                          </p:val>
                                        </p:tav>
                                      </p:tavLst>
                                    </p:anim>
                                    <p:anim calcmode="lin" valueType="num">
                                      <p:cBhvr>
                                        <p:cTn id="24" dur="500" fill="hold"/>
                                        <p:tgtEl>
                                          <p:spTgt spid="969734"/>
                                        </p:tgtEl>
                                        <p:attrNameLst>
                                          <p:attrName>ppt_h</p:attrName>
                                        </p:attrNameLst>
                                      </p:cBhvr>
                                      <p:tavLst>
                                        <p:tav tm="0">
                                          <p:val>
                                            <p:strVal val="#ppt_h"/>
                                          </p:val>
                                        </p:tav>
                                        <p:tav tm="100000">
                                          <p:val>
                                            <p:strVal val="#ppt_h"/>
                                          </p:val>
                                        </p:tav>
                                      </p:tavLst>
                                    </p:anim>
                                    <p:animEffect transition="in" filter="fade">
                                      <p:cBhvr>
                                        <p:cTn id="25" dur="500"/>
                                        <p:tgtEl>
                                          <p:spTgt spid="969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9734" grpId="0" animBg="1"/>
      <p:bldP spid="969737" grpId="0"/>
      <p:bldP spid="96974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Freeform 2">
            <a:extLst>
              <a:ext uri="{FF2B5EF4-FFF2-40B4-BE49-F238E27FC236}">
                <a16:creationId xmlns:a16="http://schemas.microsoft.com/office/drawing/2014/main" id="{ED27694F-67D1-493D-93B4-2C152EE32732}"/>
              </a:ext>
            </a:extLst>
          </p:cNvPr>
          <p:cNvSpPr>
            <a:spLocks/>
          </p:cNvSpPr>
          <p:nvPr/>
        </p:nvSpPr>
        <p:spPr bwMode="auto">
          <a:xfrm>
            <a:off x="3079751" y="522287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15" name="Rectangle 3">
            <a:extLst>
              <a:ext uri="{FF2B5EF4-FFF2-40B4-BE49-F238E27FC236}">
                <a16:creationId xmlns:a16="http://schemas.microsoft.com/office/drawing/2014/main" id="{F5DD6B27-D960-4BE4-9AB5-22D58C9B9462}"/>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13316" name="Rectangle 4">
            <a:extLst>
              <a:ext uri="{FF2B5EF4-FFF2-40B4-BE49-F238E27FC236}">
                <a16:creationId xmlns:a16="http://schemas.microsoft.com/office/drawing/2014/main" id="{482D6745-4159-4753-8545-1A2034FA42BB}"/>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67333" name="Freeform 5">
            <a:extLst>
              <a:ext uri="{FF2B5EF4-FFF2-40B4-BE49-F238E27FC236}">
                <a16:creationId xmlns:a16="http://schemas.microsoft.com/office/drawing/2014/main" id="{BE624271-540A-4A5B-9E3B-F67E56021FE7}"/>
              </a:ext>
            </a:extLst>
          </p:cNvPr>
          <p:cNvSpPr>
            <a:spLocks/>
          </p:cNvSpPr>
          <p:nvPr/>
        </p:nvSpPr>
        <p:spPr bwMode="auto">
          <a:xfrm>
            <a:off x="2452688" y="5337175"/>
            <a:ext cx="698500" cy="363538"/>
          </a:xfrm>
          <a:custGeom>
            <a:avLst/>
            <a:gdLst>
              <a:gd name="T0" fmla="*/ 0 w 440"/>
              <a:gd name="T1" fmla="*/ 2147483646 h 229"/>
              <a:gd name="T2" fmla="*/ 2147483646 w 440"/>
              <a:gd name="T3" fmla="*/ 2147483646 h 229"/>
              <a:gd name="T4" fmla="*/ 2147483646 w 440"/>
              <a:gd name="T5" fmla="*/ 2147483646 h 229"/>
              <a:gd name="T6" fmla="*/ 2147483646 w 440"/>
              <a:gd name="T7" fmla="*/ 0 h 229"/>
              <a:gd name="T8" fmla="*/ 0 60000 65536"/>
              <a:gd name="T9" fmla="*/ 0 60000 65536"/>
              <a:gd name="T10" fmla="*/ 0 60000 65536"/>
              <a:gd name="T11" fmla="*/ 0 60000 65536"/>
              <a:gd name="T12" fmla="*/ 0 w 440"/>
              <a:gd name="T13" fmla="*/ 0 h 229"/>
              <a:gd name="T14" fmla="*/ 440 w 440"/>
              <a:gd name="T15" fmla="*/ 229 h 229"/>
            </a:gdLst>
            <a:ahLst/>
            <a:cxnLst>
              <a:cxn ang="T8">
                <a:pos x="T0" y="T1"/>
              </a:cxn>
              <a:cxn ang="T9">
                <a:pos x="T2" y="T3"/>
              </a:cxn>
              <a:cxn ang="T10">
                <a:pos x="T4" y="T5"/>
              </a:cxn>
              <a:cxn ang="T11">
                <a:pos x="T6" y="T7"/>
              </a:cxn>
            </a:cxnLst>
            <a:rect l="T12" t="T13" r="T14" b="T15"/>
            <a:pathLst>
              <a:path w="440" h="229">
                <a:moveTo>
                  <a:pt x="0" y="229"/>
                </a:moveTo>
                <a:cubicBezTo>
                  <a:pt x="21" y="226"/>
                  <a:pt x="79" y="228"/>
                  <a:pt x="128" y="213"/>
                </a:cubicBezTo>
                <a:cubicBezTo>
                  <a:pt x="177" y="198"/>
                  <a:pt x="244" y="177"/>
                  <a:pt x="296" y="141"/>
                </a:cubicBezTo>
                <a:cubicBezTo>
                  <a:pt x="348" y="105"/>
                  <a:pt x="416" y="23"/>
                  <a:pt x="440"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7334" name="AutoShape 6">
            <a:extLst>
              <a:ext uri="{FF2B5EF4-FFF2-40B4-BE49-F238E27FC236}">
                <a16:creationId xmlns:a16="http://schemas.microsoft.com/office/drawing/2014/main" id="{736F4745-A5A3-4227-87F9-6E5C4DC6B99D}"/>
              </a:ext>
            </a:extLst>
          </p:cNvPr>
          <p:cNvSpPr>
            <a:spLocks noChangeArrowheads="1"/>
          </p:cNvSpPr>
          <p:nvPr/>
        </p:nvSpPr>
        <p:spPr bwMode="auto">
          <a:xfrm>
            <a:off x="2832101" y="5478463"/>
            <a:ext cx="150813"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67335" name="Text Box 7">
            <a:extLst>
              <a:ext uri="{FF2B5EF4-FFF2-40B4-BE49-F238E27FC236}">
                <a16:creationId xmlns:a16="http://schemas.microsoft.com/office/drawing/2014/main" id="{4582A127-E7F1-48D2-9A10-D73CCBC14B22}"/>
              </a:ext>
            </a:extLst>
          </p:cNvPr>
          <p:cNvSpPr txBox="1">
            <a:spLocks noChangeArrowheads="1"/>
          </p:cNvSpPr>
          <p:nvPr/>
        </p:nvSpPr>
        <p:spPr bwMode="auto">
          <a:xfrm>
            <a:off x="1693863" y="502285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Courtship</a:t>
            </a:r>
          </a:p>
        </p:txBody>
      </p:sp>
      <p:sp>
        <p:nvSpPr>
          <p:cNvPr id="867336" name="Oval 8">
            <a:extLst>
              <a:ext uri="{FF2B5EF4-FFF2-40B4-BE49-F238E27FC236}">
                <a16:creationId xmlns:a16="http://schemas.microsoft.com/office/drawing/2014/main" id="{B132AF4C-D9D4-437B-BB57-E3DBBE8F2FAE}"/>
              </a:ext>
            </a:extLst>
          </p:cNvPr>
          <p:cNvSpPr>
            <a:spLocks noChangeArrowheads="1"/>
          </p:cNvSpPr>
          <p:nvPr/>
        </p:nvSpPr>
        <p:spPr bwMode="auto">
          <a:xfrm>
            <a:off x="3759201" y="5341939"/>
            <a:ext cx="136525" cy="136525"/>
          </a:xfrm>
          <a:prstGeom prst="ellipse">
            <a:avLst/>
          </a:prstGeom>
          <a:solidFill>
            <a:srgbClr val="FF0033"/>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67337" name="Text Box 9">
            <a:extLst>
              <a:ext uri="{FF2B5EF4-FFF2-40B4-BE49-F238E27FC236}">
                <a16:creationId xmlns:a16="http://schemas.microsoft.com/office/drawing/2014/main" id="{3B89639D-76B0-4FF4-9BB7-CA9F1E039D5F}"/>
              </a:ext>
            </a:extLst>
          </p:cNvPr>
          <p:cNvSpPr txBox="1">
            <a:spLocks noChangeArrowheads="1"/>
          </p:cNvSpPr>
          <p:nvPr/>
        </p:nvSpPr>
        <p:spPr bwMode="auto">
          <a:xfrm>
            <a:off x="3440114" y="5478464"/>
            <a:ext cx="758825" cy="274637"/>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effectLst>
                  <a:outerShdw blurRad="38100" dist="38100" dir="2700000" algn="tl">
                    <a:srgbClr val="C0C0C0"/>
                  </a:outerShdw>
                </a:effectLst>
                <a:latin typeface="Tahoma" pitchFamily="-111" charset="0"/>
                <a:ea typeface="ＭＳ Ｐゴシック" pitchFamily="-111" charset="-128"/>
              </a:rPr>
              <a:t>Affair</a:t>
            </a:r>
          </a:p>
        </p:txBody>
      </p:sp>
      <p:sp>
        <p:nvSpPr>
          <p:cNvPr id="867338" name="Text Box 10">
            <a:extLst>
              <a:ext uri="{FF2B5EF4-FFF2-40B4-BE49-F238E27FC236}">
                <a16:creationId xmlns:a16="http://schemas.microsoft.com/office/drawing/2014/main" id="{ECEC7FB3-11BB-4FA4-B7A8-47F6687BF473}"/>
              </a:ext>
            </a:extLst>
          </p:cNvPr>
          <p:cNvSpPr txBox="1">
            <a:spLocks noChangeArrowheads="1"/>
          </p:cNvSpPr>
          <p:nvPr/>
        </p:nvSpPr>
        <p:spPr bwMode="auto">
          <a:xfrm>
            <a:off x="5792788" y="3125788"/>
            <a:ext cx="462915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28600" indent="-228600">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The “organization” is an ‘idea’ </a:t>
            </a:r>
          </a:p>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Building Commitment</a:t>
            </a:r>
          </a:p>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Founder(s) run the  risk of losing     control </a:t>
            </a:r>
          </a:p>
          <a:p>
            <a:pPr>
              <a:spcBef>
                <a:spcPct val="20000"/>
              </a:spcBef>
              <a:spcAft>
                <a:spcPct val="20000"/>
              </a:spcAft>
              <a:buClr>
                <a:srgbClr val="009900"/>
              </a:buClr>
              <a:buFont typeface="Wingdings" panose="05000000000000000000" pitchFamily="2" charset="2"/>
              <a:buChar char="§"/>
            </a:pPr>
            <a:endParaRPr lang="en-US" altLang="en-US"/>
          </a:p>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Prophet or Profit? </a:t>
            </a:r>
          </a:p>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Commitment &lt; Risk </a:t>
            </a:r>
            <a:r>
              <a:rPr lang="en-US" altLang="en-US"/>
              <a:t> </a:t>
            </a:r>
            <a:r>
              <a:rPr lang="en-US" altLang="en-US">
                <a:latin typeface="Tahoma" panose="020B0604030504040204" pitchFamily="34" charset="0"/>
                <a:sym typeface="Wingdings" panose="05000000000000000000" pitchFamily="2" charset="2"/>
              </a:rPr>
              <a:t></a:t>
            </a:r>
            <a:r>
              <a:rPr lang="en-US" altLang="en-US">
                <a:sym typeface="Wingdings" panose="05000000000000000000" pitchFamily="2" charset="2"/>
              </a:rPr>
              <a:t>  </a:t>
            </a:r>
            <a:r>
              <a:rPr lang="en-US" altLang="en-US">
                <a:latin typeface="Tahoma" panose="020B0604030504040204" pitchFamily="34" charset="0"/>
              </a:rPr>
              <a:t>Affair</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867333"/>
                                        </p:tgtEl>
                                        <p:attrNameLst>
                                          <p:attrName>style.visibility</p:attrName>
                                        </p:attrNameLst>
                                      </p:cBhvr>
                                      <p:to>
                                        <p:strVal val="visible"/>
                                      </p:to>
                                    </p:set>
                                    <p:animEffect transition="in" filter="wipe(down)">
                                      <p:cBhvr>
                                        <p:cTn id="7" dur="500"/>
                                        <p:tgtEl>
                                          <p:spTgt spid="86733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67334"/>
                                        </p:tgtEl>
                                        <p:attrNameLst>
                                          <p:attrName>style.visibility</p:attrName>
                                        </p:attrNameLst>
                                      </p:cBhvr>
                                      <p:to>
                                        <p:strVal val="visible"/>
                                      </p:to>
                                    </p:set>
                                    <p:animEffect transition="in" filter="dissolve">
                                      <p:cBhvr>
                                        <p:cTn id="10" dur="500"/>
                                        <p:tgtEl>
                                          <p:spTgt spid="86733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67335"/>
                                        </p:tgtEl>
                                        <p:attrNameLst>
                                          <p:attrName>style.visibility</p:attrName>
                                        </p:attrNameLst>
                                      </p:cBhvr>
                                      <p:to>
                                        <p:strVal val="visible"/>
                                      </p:to>
                                    </p:set>
                                    <p:animEffect transition="in" filter="fade">
                                      <p:cBhvr>
                                        <p:cTn id="13" dur="500"/>
                                        <p:tgtEl>
                                          <p:spTgt spid="86733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867338">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867338">
                                            <p:txEl>
                                              <p:pRg st="0" end="0"/>
                                            </p:txEl>
                                          </p:spTgt>
                                        </p:tgtEl>
                                        <p:attrNameLst>
                                          <p:attrName>ppt_c</p:attrName>
                                        </p:attrNameLst>
                                      </p:cBhvr>
                                      <p:to>
                                        <a:schemeClr val="folHlink"/>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867338">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867338">
                                            <p:txEl>
                                              <p:pRg st="1" end="1"/>
                                            </p:txEl>
                                          </p:spTgt>
                                        </p:tgtEl>
                                        <p:attrNameLst>
                                          <p:attrName>ppt_c</p:attrName>
                                        </p:attrNameLst>
                                      </p:cBhvr>
                                      <p:to>
                                        <a:schemeClr val="folHlink"/>
                                      </p:to>
                                    </p:animClr>
                                  </p:sub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867338">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867338">
                                            <p:txEl>
                                              <p:pRg st="2" end="2"/>
                                            </p:txEl>
                                          </p:spTgt>
                                        </p:tgtEl>
                                        <p:attrNameLst>
                                          <p:attrName>ppt_c</p:attrName>
                                        </p:attrNameLst>
                                      </p:cBhvr>
                                      <p:to>
                                        <a:schemeClr val="folHlink"/>
                                      </p:to>
                                    </p:animClr>
                                  </p:sub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867338">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867338">
                                            <p:txEl>
                                              <p:pRg st="4" end="4"/>
                                            </p:txEl>
                                          </p:spTgt>
                                        </p:tgtEl>
                                        <p:attrNameLst>
                                          <p:attrName>ppt_c</p:attrName>
                                        </p:attrNameLst>
                                      </p:cBhvr>
                                      <p:to>
                                        <a:schemeClr val="folHlink"/>
                                      </p:to>
                                    </p:animClr>
                                  </p:sub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867330"/>
                                        </p:tgtEl>
                                        <p:attrNameLst>
                                          <p:attrName>style.visibility</p:attrName>
                                        </p:attrNameLst>
                                      </p:cBhvr>
                                      <p:to>
                                        <p:strVal val="visible"/>
                                      </p:to>
                                    </p:set>
                                    <p:animEffect transition="in" filter="wipe(left)">
                                      <p:cBhvr>
                                        <p:cTn id="34" dur="500"/>
                                        <p:tgtEl>
                                          <p:spTgt spid="867330"/>
                                        </p:tgtEl>
                                      </p:cBhvr>
                                    </p:animEffect>
                                  </p:childTnLst>
                                </p:cTn>
                              </p:par>
                            </p:childTnLst>
                          </p:cTn>
                        </p:par>
                        <p:par>
                          <p:cTn id="35" fill="hold" nodeType="afterGroup">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867336"/>
                                        </p:tgtEl>
                                        <p:attrNameLst>
                                          <p:attrName>style.visibility</p:attrName>
                                        </p:attrNameLst>
                                      </p:cBhvr>
                                      <p:to>
                                        <p:strVal val="visible"/>
                                      </p:to>
                                    </p:set>
                                    <p:animEffect transition="in" filter="fade">
                                      <p:cBhvr>
                                        <p:cTn id="38" dur="2000"/>
                                        <p:tgtEl>
                                          <p:spTgt spid="867336"/>
                                        </p:tgtEl>
                                      </p:cBhvr>
                                    </p:animEffect>
                                  </p:childTnLst>
                                </p:cTn>
                              </p:par>
                            </p:childTnLst>
                          </p:cTn>
                        </p:par>
                        <p:par>
                          <p:cTn id="39" fill="hold" nodeType="afterGroup">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867337"/>
                                        </p:tgtEl>
                                        <p:attrNameLst>
                                          <p:attrName>style.visibility</p:attrName>
                                        </p:attrNameLst>
                                      </p:cBhvr>
                                      <p:to>
                                        <p:strVal val="visible"/>
                                      </p:to>
                                    </p:set>
                                    <p:animEffect transition="in" filter="fade">
                                      <p:cBhvr>
                                        <p:cTn id="42" dur="2000"/>
                                        <p:tgtEl>
                                          <p:spTgt spid="867337"/>
                                        </p:tgtEl>
                                      </p:cBhvr>
                                    </p:animEffect>
                                  </p:childTnLst>
                                </p:cTn>
                              </p:par>
                              <p:par>
                                <p:cTn id="43" presetID="10" presetClass="entr" presetSubtype="0" fill="hold" nodeType="withEffect">
                                  <p:stCondLst>
                                    <p:cond delay="0"/>
                                  </p:stCondLst>
                                  <p:childTnLst>
                                    <p:set>
                                      <p:cBhvr>
                                        <p:cTn id="44" dur="1" fill="hold">
                                          <p:stCondLst>
                                            <p:cond delay="0"/>
                                          </p:stCondLst>
                                        </p:cTn>
                                        <p:tgtEl>
                                          <p:spTgt spid="867338">
                                            <p:txEl>
                                              <p:pRg st="5" end="5"/>
                                            </p:txEl>
                                          </p:spTgt>
                                        </p:tgtEl>
                                        <p:attrNameLst>
                                          <p:attrName>style.visibility</p:attrName>
                                        </p:attrNameLst>
                                      </p:cBhvr>
                                      <p:to>
                                        <p:strVal val="visible"/>
                                      </p:to>
                                    </p:set>
                                    <p:animEffect transition="in" filter="fade">
                                      <p:cBhvr>
                                        <p:cTn id="45" dur="1000"/>
                                        <p:tgtEl>
                                          <p:spTgt spid="867338">
                                            <p:txEl>
                                              <p:pRg st="5" end="5"/>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867338">
                                            <p:txEl>
                                              <p:pRg st="0" end="0"/>
                                            </p:txEl>
                                          </p:spTgt>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867338">
                                            <p:txEl>
                                              <p:pRg st="1" end="1"/>
                                            </p:txEl>
                                          </p:spTgt>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867338">
                                            <p:txEl>
                                              <p:pRg st="2" end="2"/>
                                            </p:txEl>
                                          </p:spTgt>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867338">
                                            <p:txEl>
                                              <p:pRg st="4" end="4"/>
                                            </p:txEl>
                                          </p:spTgt>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86733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7334" grpId="0" animBg="1"/>
      <p:bldP spid="867335" grpId="0"/>
      <p:bldP spid="867336" grpId="0" animBg="1"/>
      <p:bldP spid="867337" grpId="0"/>
      <p:bldP spid="867338"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Freeform 2">
            <a:extLst>
              <a:ext uri="{FF2B5EF4-FFF2-40B4-BE49-F238E27FC236}">
                <a16:creationId xmlns:a16="http://schemas.microsoft.com/office/drawing/2014/main" id="{5165A26F-24C6-4EAB-82E1-84AC17384523}"/>
              </a:ext>
            </a:extLst>
          </p:cNvPr>
          <p:cNvSpPr>
            <a:spLocks/>
          </p:cNvSpPr>
          <p:nvPr/>
        </p:nvSpPr>
        <p:spPr bwMode="auto">
          <a:xfrm>
            <a:off x="3079751" y="522287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63" name="Rectangle 3">
            <a:extLst>
              <a:ext uri="{FF2B5EF4-FFF2-40B4-BE49-F238E27FC236}">
                <a16:creationId xmlns:a16="http://schemas.microsoft.com/office/drawing/2014/main" id="{71DCDAC0-9AA6-4CA7-8734-4535F727CD04}"/>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68356" name="Freeform 4">
            <a:extLst>
              <a:ext uri="{FF2B5EF4-FFF2-40B4-BE49-F238E27FC236}">
                <a16:creationId xmlns:a16="http://schemas.microsoft.com/office/drawing/2014/main" id="{0FC33F93-0212-4B5D-9972-C9DE5E5B0BFE}"/>
              </a:ext>
            </a:extLst>
          </p:cNvPr>
          <p:cNvSpPr>
            <a:spLocks/>
          </p:cNvSpPr>
          <p:nvPr/>
        </p:nvSpPr>
        <p:spPr bwMode="auto">
          <a:xfrm>
            <a:off x="2452688" y="3937001"/>
            <a:ext cx="1712912" cy="1763713"/>
          </a:xfrm>
          <a:custGeom>
            <a:avLst/>
            <a:gdLst>
              <a:gd name="T0" fmla="*/ 0 w 1079"/>
              <a:gd name="T1" fmla="*/ 2147483646 h 1111"/>
              <a:gd name="T2" fmla="*/ 2147483646 w 1079"/>
              <a:gd name="T3" fmla="*/ 2147483646 h 1111"/>
              <a:gd name="T4" fmla="*/ 2147483646 w 1079"/>
              <a:gd name="T5" fmla="*/ 2147483646 h 1111"/>
              <a:gd name="T6" fmla="*/ 2147483646 w 1079"/>
              <a:gd name="T7" fmla="*/ 2147483646 h 1111"/>
              <a:gd name="T8" fmla="*/ 2147483646 w 1079"/>
              <a:gd name="T9" fmla="*/ 2147483646 h 1111"/>
              <a:gd name="T10" fmla="*/ 2147483646 w 1079"/>
              <a:gd name="T11" fmla="*/ 2147483646 h 1111"/>
              <a:gd name="T12" fmla="*/ 2147483646 w 1079"/>
              <a:gd name="T13" fmla="*/ 2147483646 h 1111"/>
              <a:gd name="T14" fmla="*/ 2147483646 w 1079"/>
              <a:gd name="T15" fmla="*/ 2147483646 h 1111"/>
              <a:gd name="T16" fmla="*/ 2147483646 w 1079"/>
              <a:gd name="T17" fmla="*/ 2147483646 h 1111"/>
              <a:gd name="T18" fmla="*/ 2147483646 w 1079"/>
              <a:gd name="T19" fmla="*/ 0 h 11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79"/>
              <a:gd name="T31" fmla="*/ 0 h 1111"/>
              <a:gd name="T32" fmla="*/ 1079 w 1079"/>
              <a:gd name="T33" fmla="*/ 1111 h 11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79" h="1111">
                <a:moveTo>
                  <a:pt x="0" y="1111"/>
                </a:moveTo>
                <a:cubicBezTo>
                  <a:pt x="21" y="1108"/>
                  <a:pt x="79" y="1110"/>
                  <a:pt x="128" y="1095"/>
                </a:cubicBezTo>
                <a:cubicBezTo>
                  <a:pt x="177" y="1080"/>
                  <a:pt x="244" y="1059"/>
                  <a:pt x="296" y="1023"/>
                </a:cubicBezTo>
                <a:cubicBezTo>
                  <a:pt x="348" y="987"/>
                  <a:pt x="424" y="921"/>
                  <a:pt x="440" y="882"/>
                </a:cubicBezTo>
                <a:cubicBezTo>
                  <a:pt x="456" y="843"/>
                  <a:pt x="376" y="787"/>
                  <a:pt x="392" y="787"/>
                </a:cubicBezTo>
                <a:cubicBezTo>
                  <a:pt x="408" y="787"/>
                  <a:pt x="527" y="890"/>
                  <a:pt x="535" y="882"/>
                </a:cubicBezTo>
                <a:cubicBezTo>
                  <a:pt x="543" y="874"/>
                  <a:pt x="441" y="761"/>
                  <a:pt x="440" y="739"/>
                </a:cubicBezTo>
                <a:cubicBezTo>
                  <a:pt x="439" y="717"/>
                  <a:pt x="480" y="791"/>
                  <a:pt x="528" y="751"/>
                </a:cubicBezTo>
                <a:cubicBezTo>
                  <a:pt x="576" y="711"/>
                  <a:pt x="634" y="625"/>
                  <a:pt x="726" y="500"/>
                </a:cubicBezTo>
                <a:cubicBezTo>
                  <a:pt x="818" y="375"/>
                  <a:pt x="1006" y="104"/>
                  <a:pt x="1079"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8357" name="AutoShape 5">
            <a:extLst>
              <a:ext uri="{FF2B5EF4-FFF2-40B4-BE49-F238E27FC236}">
                <a16:creationId xmlns:a16="http://schemas.microsoft.com/office/drawing/2014/main" id="{49195FCB-814C-41DE-8912-65BE01C6522F}"/>
              </a:ext>
            </a:extLst>
          </p:cNvPr>
          <p:cNvSpPr>
            <a:spLocks noChangeArrowheads="1"/>
          </p:cNvSpPr>
          <p:nvPr/>
        </p:nvSpPr>
        <p:spPr bwMode="auto">
          <a:xfrm>
            <a:off x="2832101" y="5478463"/>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68358" name="AutoShape 6">
            <a:extLst>
              <a:ext uri="{FF2B5EF4-FFF2-40B4-BE49-F238E27FC236}">
                <a16:creationId xmlns:a16="http://schemas.microsoft.com/office/drawing/2014/main" id="{491C6EF1-74F7-4B05-B274-D599F50323B9}"/>
              </a:ext>
            </a:extLst>
          </p:cNvPr>
          <p:cNvSpPr>
            <a:spLocks noChangeArrowheads="1"/>
          </p:cNvSpPr>
          <p:nvPr/>
        </p:nvSpPr>
        <p:spPr bwMode="auto">
          <a:xfrm>
            <a:off x="3590926" y="4567238"/>
            <a:ext cx="150813"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68359" name="Text Box 7">
            <a:extLst>
              <a:ext uri="{FF2B5EF4-FFF2-40B4-BE49-F238E27FC236}">
                <a16:creationId xmlns:a16="http://schemas.microsoft.com/office/drawing/2014/main" id="{E5669F39-4FA7-4500-8CCF-BF7224B58809}"/>
              </a:ext>
            </a:extLst>
          </p:cNvPr>
          <p:cNvSpPr txBox="1">
            <a:spLocks noChangeArrowheads="1"/>
          </p:cNvSpPr>
          <p:nvPr/>
        </p:nvSpPr>
        <p:spPr bwMode="auto">
          <a:xfrm>
            <a:off x="1693863" y="502285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Courtship</a:t>
            </a:r>
          </a:p>
        </p:txBody>
      </p:sp>
      <p:sp>
        <p:nvSpPr>
          <p:cNvPr id="868360" name="Text Box 8">
            <a:extLst>
              <a:ext uri="{FF2B5EF4-FFF2-40B4-BE49-F238E27FC236}">
                <a16:creationId xmlns:a16="http://schemas.microsoft.com/office/drawing/2014/main" id="{50909225-540D-4060-BB3F-5C21E8E9F508}"/>
              </a:ext>
            </a:extLst>
          </p:cNvPr>
          <p:cNvSpPr txBox="1">
            <a:spLocks noChangeArrowheads="1"/>
          </p:cNvSpPr>
          <p:nvPr/>
        </p:nvSpPr>
        <p:spPr bwMode="auto">
          <a:xfrm>
            <a:off x="2225675" y="4429126"/>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Infancy</a:t>
            </a:r>
          </a:p>
        </p:txBody>
      </p:sp>
      <p:sp>
        <p:nvSpPr>
          <p:cNvPr id="868361" name="Text Box 9">
            <a:extLst>
              <a:ext uri="{FF2B5EF4-FFF2-40B4-BE49-F238E27FC236}">
                <a16:creationId xmlns:a16="http://schemas.microsoft.com/office/drawing/2014/main" id="{EE6E51EF-F5E4-481C-8BF0-465D9D4AC345}"/>
              </a:ext>
            </a:extLst>
          </p:cNvPr>
          <p:cNvSpPr txBox="1">
            <a:spLocks noChangeArrowheads="1"/>
          </p:cNvSpPr>
          <p:nvPr/>
        </p:nvSpPr>
        <p:spPr bwMode="auto">
          <a:xfrm>
            <a:off x="3440114" y="5554664"/>
            <a:ext cx="835025" cy="274637"/>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Affair</a:t>
            </a:r>
          </a:p>
        </p:txBody>
      </p:sp>
      <p:sp>
        <p:nvSpPr>
          <p:cNvPr id="868362" name="Oval 10">
            <a:extLst>
              <a:ext uri="{FF2B5EF4-FFF2-40B4-BE49-F238E27FC236}">
                <a16:creationId xmlns:a16="http://schemas.microsoft.com/office/drawing/2014/main" id="{AD228D85-D705-4396-8F01-9520B1EF8778}"/>
              </a:ext>
            </a:extLst>
          </p:cNvPr>
          <p:cNvSpPr>
            <a:spLocks noChangeArrowheads="1"/>
          </p:cNvSpPr>
          <p:nvPr/>
        </p:nvSpPr>
        <p:spPr bwMode="auto">
          <a:xfrm>
            <a:off x="3762376" y="5392739"/>
            <a:ext cx="136525" cy="136525"/>
          </a:xfrm>
          <a:prstGeom prst="ellipse">
            <a:avLst/>
          </a:prstGeom>
          <a:solidFill>
            <a:srgbClr val="FF0033">
              <a:alpha val="50195"/>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68363" name="Text Box 11">
            <a:extLst>
              <a:ext uri="{FF2B5EF4-FFF2-40B4-BE49-F238E27FC236}">
                <a16:creationId xmlns:a16="http://schemas.microsoft.com/office/drawing/2014/main" id="{A0420969-79B8-49EB-80A2-46DD11820198}"/>
              </a:ext>
            </a:extLst>
          </p:cNvPr>
          <p:cNvSpPr txBox="1">
            <a:spLocks noChangeArrowheads="1"/>
          </p:cNvSpPr>
          <p:nvPr/>
        </p:nvSpPr>
        <p:spPr bwMode="auto">
          <a:xfrm>
            <a:off x="5413376" y="2670175"/>
            <a:ext cx="5084763" cy="284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28600" indent="-228600">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“We don’t need any more ideas, WE NEED RESULTS.”</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Action oriented</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Few policies, systems, procedures,               budgets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Job description: everything</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Limited delegation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Authoritarian Leadership</a:t>
            </a:r>
          </a:p>
        </p:txBody>
      </p:sp>
      <p:sp>
        <p:nvSpPr>
          <p:cNvPr id="868364" name="Text Box 12">
            <a:extLst>
              <a:ext uri="{FF2B5EF4-FFF2-40B4-BE49-F238E27FC236}">
                <a16:creationId xmlns:a16="http://schemas.microsoft.com/office/drawing/2014/main" id="{70D3730F-EAB9-4D01-B4FA-666B5C3FC7D5}"/>
              </a:ext>
            </a:extLst>
          </p:cNvPr>
          <p:cNvSpPr txBox="1">
            <a:spLocks noChangeArrowheads="1"/>
          </p:cNvSpPr>
          <p:nvPr/>
        </p:nvSpPr>
        <p:spPr bwMode="auto">
          <a:xfrm>
            <a:off x="3440113" y="1758950"/>
            <a:ext cx="6375400"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2400">
                <a:effectLst>
                  <a:outerShdw blurRad="38100" dist="38100" dir="2700000" algn="tl">
                    <a:srgbClr val="C0C0C0"/>
                  </a:outerShdw>
                </a:effectLst>
                <a:latin typeface="Tahoma" pitchFamily="-111" charset="0"/>
                <a:ea typeface="ＭＳ Ｐゴシック" pitchFamily="-111" charset="-128"/>
              </a:rPr>
              <a:t>The company is born when risk is taken</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868356"/>
                                        </p:tgtEl>
                                        <p:attrNameLst>
                                          <p:attrName>style.visibility</p:attrName>
                                        </p:attrNameLst>
                                      </p:cBhvr>
                                      <p:to>
                                        <p:strVal val="visible"/>
                                      </p:to>
                                    </p:set>
                                    <p:animEffect transition="in" filter="wipe(down)">
                                      <p:cBhvr>
                                        <p:cTn id="7" dur="500"/>
                                        <p:tgtEl>
                                          <p:spTgt spid="86835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68357"/>
                                        </p:tgtEl>
                                        <p:attrNameLst>
                                          <p:attrName>style.visibility</p:attrName>
                                        </p:attrNameLst>
                                      </p:cBhvr>
                                      <p:to>
                                        <p:strVal val="visible"/>
                                      </p:to>
                                    </p:set>
                                    <p:animEffect transition="in" filter="fade">
                                      <p:cBhvr>
                                        <p:cTn id="10" dur="500"/>
                                        <p:tgtEl>
                                          <p:spTgt spid="86835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68359"/>
                                        </p:tgtEl>
                                        <p:attrNameLst>
                                          <p:attrName>style.visibility</p:attrName>
                                        </p:attrNameLst>
                                      </p:cBhvr>
                                      <p:to>
                                        <p:strVal val="visible"/>
                                      </p:to>
                                    </p:set>
                                    <p:animEffect transition="in" filter="fade">
                                      <p:cBhvr>
                                        <p:cTn id="13" dur="500"/>
                                        <p:tgtEl>
                                          <p:spTgt spid="868359"/>
                                        </p:tgtEl>
                                      </p:cBhvr>
                                    </p:animEffect>
                                  </p:childTnLst>
                                </p:cTn>
                              </p:par>
                              <p:par>
                                <p:cTn id="14" presetID="22" presetClass="entr" presetSubtype="4" fill="hold" nodeType="withEffect">
                                  <p:stCondLst>
                                    <p:cond delay="0"/>
                                  </p:stCondLst>
                                  <p:childTnLst>
                                    <p:set>
                                      <p:cBhvr>
                                        <p:cTn id="15" dur="1" fill="hold">
                                          <p:stCondLst>
                                            <p:cond delay="0"/>
                                          </p:stCondLst>
                                        </p:cTn>
                                        <p:tgtEl>
                                          <p:spTgt spid="868354"/>
                                        </p:tgtEl>
                                        <p:attrNameLst>
                                          <p:attrName>style.visibility</p:attrName>
                                        </p:attrNameLst>
                                      </p:cBhvr>
                                      <p:to>
                                        <p:strVal val="visible"/>
                                      </p:to>
                                    </p:set>
                                    <p:animEffect transition="in" filter="wipe(down)">
                                      <p:cBhvr>
                                        <p:cTn id="16" dur="500"/>
                                        <p:tgtEl>
                                          <p:spTgt spid="86835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68362"/>
                                        </p:tgtEl>
                                        <p:attrNameLst>
                                          <p:attrName>style.visibility</p:attrName>
                                        </p:attrNameLst>
                                      </p:cBhvr>
                                      <p:to>
                                        <p:strVal val="visible"/>
                                      </p:to>
                                    </p:set>
                                    <p:animEffect transition="in" filter="fade">
                                      <p:cBhvr>
                                        <p:cTn id="19" dur="500"/>
                                        <p:tgtEl>
                                          <p:spTgt spid="86836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868364"/>
                                        </p:tgtEl>
                                        <p:attrNameLst>
                                          <p:attrName>style.visibility</p:attrName>
                                        </p:attrNameLst>
                                      </p:cBhvr>
                                      <p:to>
                                        <p:strVal val="visible"/>
                                      </p:to>
                                    </p:set>
                                    <p:animEffect transition="in" filter="blinds(horizontal)">
                                      <p:cBhvr>
                                        <p:cTn id="24" dur="500"/>
                                        <p:tgtEl>
                                          <p:spTgt spid="86836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68361"/>
                                        </p:tgtEl>
                                        <p:attrNameLst>
                                          <p:attrName>style.visibility</p:attrName>
                                        </p:attrNameLst>
                                      </p:cBhvr>
                                      <p:to>
                                        <p:strVal val="visible"/>
                                      </p:to>
                                    </p:set>
                                    <p:animEffect transition="in" filter="fade">
                                      <p:cBhvr>
                                        <p:cTn id="27" dur="500"/>
                                        <p:tgtEl>
                                          <p:spTgt spid="8683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repeatCount="3000" fill="hold" grpId="0" nodeType="clickEffect">
                                  <p:stCondLst>
                                    <p:cond delay="0"/>
                                  </p:stCondLst>
                                  <p:childTnLst>
                                    <p:set>
                                      <p:cBhvr>
                                        <p:cTn id="31" dur="1" fill="hold">
                                          <p:stCondLst>
                                            <p:cond delay="0"/>
                                          </p:stCondLst>
                                        </p:cTn>
                                        <p:tgtEl>
                                          <p:spTgt spid="868358"/>
                                        </p:tgtEl>
                                        <p:attrNameLst>
                                          <p:attrName>style.visibility</p:attrName>
                                        </p:attrNameLst>
                                      </p:cBhvr>
                                      <p:to>
                                        <p:strVal val="visible"/>
                                      </p:to>
                                    </p:set>
                                    <p:animEffect transition="in" filter="fade">
                                      <p:cBhvr>
                                        <p:cTn id="32" dur="1000"/>
                                        <p:tgtEl>
                                          <p:spTgt spid="86835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68360"/>
                                        </p:tgtEl>
                                        <p:attrNameLst>
                                          <p:attrName>style.visibility</p:attrName>
                                        </p:attrNameLst>
                                      </p:cBhvr>
                                      <p:to>
                                        <p:strVal val="visible"/>
                                      </p:to>
                                    </p:set>
                                    <p:animEffect transition="in" filter="fade">
                                      <p:cBhvr>
                                        <p:cTn id="35" dur="2000"/>
                                        <p:tgtEl>
                                          <p:spTgt spid="86836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86836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868363">
                                            <p:txEl>
                                              <p:pRg st="0" end="0"/>
                                            </p:txEl>
                                          </p:spTgt>
                                        </p:tgtEl>
                                        <p:attrNameLst>
                                          <p:attrName>ppt_c</p:attrName>
                                        </p:attrNameLst>
                                      </p:cBhvr>
                                      <p:to>
                                        <a:schemeClr val="folHlink"/>
                                      </p:to>
                                    </p:animClr>
                                  </p:sub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86836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868363">
                                            <p:txEl>
                                              <p:pRg st="1" end="1"/>
                                            </p:txEl>
                                          </p:spTgt>
                                        </p:tgtEl>
                                        <p:attrNameLst>
                                          <p:attrName>ppt_c</p:attrName>
                                        </p:attrNameLst>
                                      </p:cBhvr>
                                      <p:to>
                                        <a:schemeClr val="folHlink"/>
                                      </p:to>
                                    </p:animClr>
                                  </p:sub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86836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868363">
                                            <p:txEl>
                                              <p:pRg st="2" end="2"/>
                                            </p:txEl>
                                          </p:spTgt>
                                        </p:tgtEl>
                                        <p:attrNameLst>
                                          <p:attrName>ppt_c</p:attrName>
                                        </p:attrNameLst>
                                      </p:cBhvr>
                                      <p:to>
                                        <a:schemeClr val="folHlink"/>
                                      </p:to>
                                    </p:animClr>
                                  </p:sub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86836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868363">
                                            <p:txEl>
                                              <p:pRg st="3" end="3"/>
                                            </p:txEl>
                                          </p:spTgt>
                                        </p:tgtEl>
                                        <p:attrNameLst>
                                          <p:attrName>ppt_c</p:attrName>
                                        </p:attrNameLst>
                                      </p:cBhvr>
                                      <p:to>
                                        <a:schemeClr val="folHlink"/>
                                      </p:to>
                                    </p:animClr>
                                  </p:sub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86836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868363">
                                            <p:txEl>
                                              <p:pRg st="4" end="4"/>
                                            </p:txEl>
                                          </p:spTgt>
                                        </p:tgtEl>
                                        <p:attrNameLst>
                                          <p:attrName>ppt_c</p:attrName>
                                        </p:attrNameLst>
                                      </p:cBhvr>
                                      <p:to>
                                        <a:schemeClr val="folHlink"/>
                                      </p:to>
                                    </p:animClr>
                                  </p:sub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0"/>
                                          </p:stCondLst>
                                        </p:cTn>
                                        <p:tgtEl>
                                          <p:spTgt spid="86836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868363">
                                            <p:txEl>
                                              <p:pRg st="5" end="5"/>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357" grpId="0" animBg="1"/>
      <p:bldP spid="868358" grpId="0" animBg="1"/>
      <p:bldP spid="868359" grpId="0"/>
      <p:bldP spid="868360" grpId="0"/>
      <p:bldP spid="868361" grpId="0"/>
      <p:bldP spid="868362" grpId="0" animBg="1"/>
      <p:bldP spid="86836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reeform 2">
            <a:extLst>
              <a:ext uri="{FF2B5EF4-FFF2-40B4-BE49-F238E27FC236}">
                <a16:creationId xmlns:a16="http://schemas.microsoft.com/office/drawing/2014/main" id="{54C0178E-C8D8-45A5-B97E-AD575B9DBB03}"/>
              </a:ext>
            </a:extLst>
          </p:cNvPr>
          <p:cNvSpPr>
            <a:spLocks/>
          </p:cNvSpPr>
          <p:nvPr/>
        </p:nvSpPr>
        <p:spPr bwMode="auto">
          <a:xfrm>
            <a:off x="3079751" y="522287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11" name="Rectangle 3">
            <a:extLst>
              <a:ext uri="{FF2B5EF4-FFF2-40B4-BE49-F238E27FC236}">
                <a16:creationId xmlns:a16="http://schemas.microsoft.com/office/drawing/2014/main" id="{29E2DB23-0904-4C4A-9E0C-73E45FB4D9CC}"/>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17412" name="Freeform 4">
            <a:extLst>
              <a:ext uri="{FF2B5EF4-FFF2-40B4-BE49-F238E27FC236}">
                <a16:creationId xmlns:a16="http://schemas.microsoft.com/office/drawing/2014/main" id="{1E005633-BD01-4BFB-9537-8E3EA7D5A819}"/>
              </a:ext>
            </a:extLst>
          </p:cNvPr>
          <p:cNvSpPr>
            <a:spLocks/>
          </p:cNvSpPr>
          <p:nvPr/>
        </p:nvSpPr>
        <p:spPr bwMode="auto">
          <a:xfrm>
            <a:off x="2452688" y="3937001"/>
            <a:ext cx="1712912" cy="1763713"/>
          </a:xfrm>
          <a:custGeom>
            <a:avLst/>
            <a:gdLst>
              <a:gd name="T0" fmla="*/ 0 w 1079"/>
              <a:gd name="T1" fmla="*/ 2147483646 h 1111"/>
              <a:gd name="T2" fmla="*/ 2147483646 w 1079"/>
              <a:gd name="T3" fmla="*/ 2147483646 h 1111"/>
              <a:gd name="T4" fmla="*/ 2147483646 w 1079"/>
              <a:gd name="T5" fmla="*/ 2147483646 h 1111"/>
              <a:gd name="T6" fmla="*/ 2147483646 w 1079"/>
              <a:gd name="T7" fmla="*/ 2147483646 h 1111"/>
              <a:gd name="T8" fmla="*/ 2147483646 w 1079"/>
              <a:gd name="T9" fmla="*/ 2147483646 h 1111"/>
              <a:gd name="T10" fmla="*/ 2147483646 w 1079"/>
              <a:gd name="T11" fmla="*/ 2147483646 h 1111"/>
              <a:gd name="T12" fmla="*/ 2147483646 w 1079"/>
              <a:gd name="T13" fmla="*/ 2147483646 h 1111"/>
              <a:gd name="T14" fmla="*/ 2147483646 w 1079"/>
              <a:gd name="T15" fmla="*/ 2147483646 h 1111"/>
              <a:gd name="T16" fmla="*/ 2147483646 w 1079"/>
              <a:gd name="T17" fmla="*/ 2147483646 h 1111"/>
              <a:gd name="T18" fmla="*/ 2147483646 w 1079"/>
              <a:gd name="T19" fmla="*/ 0 h 11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79"/>
              <a:gd name="T31" fmla="*/ 0 h 1111"/>
              <a:gd name="T32" fmla="*/ 1079 w 1079"/>
              <a:gd name="T33" fmla="*/ 1111 h 11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79" h="1111">
                <a:moveTo>
                  <a:pt x="0" y="1111"/>
                </a:moveTo>
                <a:cubicBezTo>
                  <a:pt x="21" y="1108"/>
                  <a:pt x="79" y="1110"/>
                  <a:pt x="128" y="1095"/>
                </a:cubicBezTo>
                <a:cubicBezTo>
                  <a:pt x="177" y="1080"/>
                  <a:pt x="244" y="1059"/>
                  <a:pt x="296" y="1023"/>
                </a:cubicBezTo>
                <a:cubicBezTo>
                  <a:pt x="348" y="987"/>
                  <a:pt x="424" y="921"/>
                  <a:pt x="440" y="882"/>
                </a:cubicBezTo>
                <a:cubicBezTo>
                  <a:pt x="456" y="843"/>
                  <a:pt x="376" y="787"/>
                  <a:pt x="392" y="787"/>
                </a:cubicBezTo>
                <a:cubicBezTo>
                  <a:pt x="408" y="787"/>
                  <a:pt x="527" y="890"/>
                  <a:pt x="535" y="882"/>
                </a:cubicBezTo>
                <a:cubicBezTo>
                  <a:pt x="543" y="874"/>
                  <a:pt x="441" y="761"/>
                  <a:pt x="440" y="739"/>
                </a:cubicBezTo>
                <a:cubicBezTo>
                  <a:pt x="439" y="717"/>
                  <a:pt x="480" y="791"/>
                  <a:pt x="528" y="751"/>
                </a:cubicBezTo>
                <a:cubicBezTo>
                  <a:pt x="576" y="711"/>
                  <a:pt x="634" y="625"/>
                  <a:pt x="726" y="500"/>
                </a:cubicBezTo>
                <a:cubicBezTo>
                  <a:pt x="818" y="375"/>
                  <a:pt x="1006" y="104"/>
                  <a:pt x="1079"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13" name="AutoShape 5">
            <a:extLst>
              <a:ext uri="{FF2B5EF4-FFF2-40B4-BE49-F238E27FC236}">
                <a16:creationId xmlns:a16="http://schemas.microsoft.com/office/drawing/2014/main" id="{FFB5077B-B8FF-4AD1-95E9-974F30DEB276}"/>
              </a:ext>
            </a:extLst>
          </p:cNvPr>
          <p:cNvSpPr>
            <a:spLocks noChangeArrowheads="1"/>
          </p:cNvSpPr>
          <p:nvPr/>
        </p:nvSpPr>
        <p:spPr bwMode="auto">
          <a:xfrm>
            <a:off x="2832101" y="5478463"/>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17414" name="AutoShape 6">
            <a:extLst>
              <a:ext uri="{FF2B5EF4-FFF2-40B4-BE49-F238E27FC236}">
                <a16:creationId xmlns:a16="http://schemas.microsoft.com/office/drawing/2014/main" id="{71779970-28FB-42FA-AFF8-CE57F24C4AB3}"/>
              </a:ext>
            </a:extLst>
          </p:cNvPr>
          <p:cNvSpPr>
            <a:spLocks noChangeArrowheads="1"/>
          </p:cNvSpPr>
          <p:nvPr/>
        </p:nvSpPr>
        <p:spPr bwMode="auto">
          <a:xfrm>
            <a:off x="3590926" y="4567238"/>
            <a:ext cx="150813"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69383" name="Text Box 7">
            <a:extLst>
              <a:ext uri="{FF2B5EF4-FFF2-40B4-BE49-F238E27FC236}">
                <a16:creationId xmlns:a16="http://schemas.microsoft.com/office/drawing/2014/main" id="{EECA4730-6268-42B7-A06B-88DF9739A3C6}"/>
              </a:ext>
            </a:extLst>
          </p:cNvPr>
          <p:cNvSpPr txBox="1">
            <a:spLocks noChangeArrowheads="1"/>
          </p:cNvSpPr>
          <p:nvPr/>
        </p:nvSpPr>
        <p:spPr bwMode="auto">
          <a:xfrm>
            <a:off x="1693863" y="502285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Courtship</a:t>
            </a:r>
          </a:p>
        </p:txBody>
      </p:sp>
      <p:sp>
        <p:nvSpPr>
          <p:cNvPr id="869384" name="Text Box 8">
            <a:extLst>
              <a:ext uri="{FF2B5EF4-FFF2-40B4-BE49-F238E27FC236}">
                <a16:creationId xmlns:a16="http://schemas.microsoft.com/office/drawing/2014/main" id="{B21BC03D-D181-424C-B9B5-02679D9BC38A}"/>
              </a:ext>
            </a:extLst>
          </p:cNvPr>
          <p:cNvSpPr txBox="1">
            <a:spLocks noChangeArrowheads="1"/>
          </p:cNvSpPr>
          <p:nvPr/>
        </p:nvSpPr>
        <p:spPr bwMode="auto">
          <a:xfrm>
            <a:off x="2225675" y="4429126"/>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Infancy</a:t>
            </a:r>
          </a:p>
        </p:txBody>
      </p:sp>
      <p:sp>
        <p:nvSpPr>
          <p:cNvPr id="869385" name="Text Box 9">
            <a:extLst>
              <a:ext uri="{FF2B5EF4-FFF2-40B4-BE49-F238E27FC236}">
                <a16:creationId xmlns:a16="http://schemas.microsoft.com/office/drawing/2014/main" id="{D020B752-336C-4E6D-8831-A3215CFE8FC1}"/>
              </a:ext>
            </a:extLst>
          </p:cNvPr>
          <p:cNvSpPr txBox="1">
            <a:spLocks noChangeArrowheads="1"/>
          </p:cNvSpPr>
          <p:nvPr/>
        </p:nvSpPr>
        <p:spPr bwMode="auto">
          <a:xfrm>
            <a:off x="3440114" y="5554664"/>
            <a:ext cx="835025" cy="274637"/>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Affair</a:t>
            </a:r>
          </a:p>
        </p:txBody>
      </p:sp>
      <p:sp>
        <p:nvSpPr>
          <p:cNvPr id="17418" name="Oval 10">
            <a:extLst>
              <a:ext uri="{FF2B5EF4-FFF2-40B4-BE49-F238E27FC236}">
                <a16:creationId xmlns:a16="http://schemas.microsoft.com/office/drawing/2014/main" id="{49DFE05B-7DE2-4292-B08A-B62225D6A13A}"/>
              </a:ext>
            </a:extLst>
          </p:cNvPr>
          <p:cNvSpPr>
            <a:spLocks noChangeArrowheads="1"/>
          </p:cNvSpPr>
          <p:nvPr/>
        </p:nvSpPr>
        <p:spPr bwMode="auto">
          <a:xfrm>
            <a:off x="3762376" y="5392739"/>
            <a:ext cx="136525" cy="136525"/>
          </a:xfrm>
          <a:prstGeom prst="ellipse">
            <a:avLst/>
          </a:prstGeom>
          <a:solidFill>
            <a:srgbClr val="FF0033">
              <a:alpha val="50195"/>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69387" name="Freeform 11">
            <a:extLst>
              <a:ext uri="{FF2B5EF4-FFF2-40B4-BE49-F238E27FC236}">
                <a16:creationId xmlns:a16="http://schemas.microsoft.com/office/drawing/2014/main" id="{AAC607E2-C93A-4386-B744-443070ECB87E}"/>
              </a:ext>
            </a:extLst>
          </p:cNvPr>
          <p:cNvSpPr>
            <a:spLocks/>
          </p:cNvSpPr>
          <p:nvPr/>
        </p:nvSpPr>
        <p:spPr bwMode="auto">
          <a:xfrm>
            <a:off x="3721100" y="4144964"/>
            <a:ext cx="1041400" cy="427037"/>
          </a:xfrm>
          <a:custGeom>
            <a:avLst/>
            <a:gdLst>
              <a:gd name="T0" fmla="*/ 0 w 656"/>
              <a:gd name="T1" fmla="*/ 2147483646 h 269"/>
              <a:gd name="T2" fmla="*/ 2147483646 w 656"/>
              <a:gd name="T3" fmla="*/ 2147483646 h 269"/>
              <a:gd name="T4" fmla="*/ 2147483646 w 656"/>
              <a:gd name="T5" fmla="*/ 2147483646 h 269"/>
              <a:gd name="T6" fmla="*/ 0 60000 65536"/>
              <a:gd name="T7" fmla="*/ 0 60000 65536"/>
              <a:gd name="T8" fmla="*/ 0 60000 65536"/>
              <a:gd name="T9" fmla="*/ 0 w 656"/>
              <a:gd name="T10" fmla="*/ 0 h 269"/>
              <a:gd name="T11" fmla="*/ 656 w 656"/>
              <a:gd name="T12" fmla="*/ 269 h 269"/>
            </a:gdLst>
            <a:ahLst/>
            <a:cxnLst>
              <a:cxn ang="T6">
                <a:pos x="T0" y="T1"/>
              </a:cxn>
              <a:cxn ang="T7">
                <a:pos x="T2" y="T3"/>
              </a:cxn>
              <a:cxn ang="T8">
                <a:pos x="T4" y="T5"/>
              </a:cxn>
            </a:cxnLst>
            <a:rect l="T9" t="T10" r="T11" b="T12"/>
            <a:pathLst>
              <a:path w="656" h="269">
                <a:moveTo>
                  <a:pt x="0" y="269"/>
                </a:moveTo>
                <a:cubicBezTo>
                  <a:pt x="69" y="228"/>
                  <a:pt x="307" y="42"/>
                  <a:pt x="416" y="21"/>
                </a:cubicBezTo>
                <a:cubicBezTo>
                  <a:pt x="525" y="0"/>
                  <a:pt x="606" y="116"/>
                  <a:pt x="656" y="141"/>
                </a:cubicBezTo>
              </a:path>
            </a:pathLst>
          </a:custGeom>
          <a:noFill/>
          <a:ln w="254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9388" name="Text Box 12">
            <a:extLst>
              <a:ext uri="{FF2B5EF4-FFF2-40B4-BE49-F238E27FC236}">
                <a16:creationId xmlns:a16="http://schemas.microsoft.com/office/drawing/2014/main" id="{7CED378C-A7A8-4F22-9658-0BF4D9BAECEE}"/>
              </a:ext>
            </a:extLst>
          </p:cNvPr>
          <p:cNvSpPr txBox="1">
            <a:spLocks noChangeArrowheads="1"/>
          </p:cNvSpPr>
          <p:nvPr/>
        </p:nvSpPr>
        <p:spPr bwMode="auto">
          <a:xfrm>
            <a:off x="4275139" y="4567238"/>
            <a:ext cx="985837"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effectLst>
                  <a:outerShdw blurRad="38100" dist="38100" dir="2700000" algn="tl">
                    <a:srgbClr val="C0C0C0"/>
                  </a:outerShdw>
                </a:effectLst>
                <a:latin typeface="Tahoma" pitchFamily="-111" charset="0"/>
                <a:ea typeface="ＭＳ Ｐゴシック" pitchFamily="-111" charset="-128"/>
              </a:rPr>
              <a:t>Infant Mortality</a:t>
            </a:r>
          </a:p>
        </p:txBody>
      </p:sp>
      <p:sp>
        <p:nvSpPr>
          <p:cNvPr id="869389" name="Oval 13">
            <a:extLst>
              <a:ext uri="{FF2B5EF4-FFF2-40B4-BE49-F238E27FC236}">
                <a16:creationId xmlns:a16="http://schemas.microsoft.com/office/drawing/2014/main" id="{4A8644D2-8E61-4DB1-A845-56513554DC11}"/>
              </a:ext>
            </a:extLst>
          </p:cNvPr>
          <p:cNvSpPr>
            <a:spLocks noChangeArrowheads="1"/>
          </p:cNvSpPr>
          <p:nvPr/>
        </p:nvSpPr>
        <p:spPr bwMode="auto">
          <a:xfrm>
            <a:off x="4668839" y="4340226"/>
            <a:ext cx="136525" cy="136525"/>
          </a:xfrm>
          <a:prstGeom prst="ellipse">
            <a:avLst/>
          </a:prstGeom>
          <a:solidFill>
            <a:srgbClr val="FF0033"/>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69390" name="Text Box 14">
            <a:extLst>
              <a:ext uri="{FF2B5EF4-FFF2-40B4-BE49-F238E27FC236}">
                <a16:creationId xmlns:a16="http://schemas.microsoft.com/office/drawing/2014/main" id="{0A88CF3C-F423-4D24-AD66-4CC4DFD8AF34}"/>
              </a:ext>
            </a:extLst>
          </p:cNvPr>
          <p:cNvSpPr txBox="1">
            <a:spLocks noChangeArrowheads="1"/>
          </p:cNvSpPr>
          <p:nvPr/>
        </p:nvSpPr>
        <p:spPr bwMode="auto">
          <a:xfrm>
            <a:off x="6323014" y="1531938"/>
            <a:ext cx="4022725" cy="4856714"/>
          </a:xfrm>
          <a:prstGeom prst="rect">
            <a:avLst/>
          </a:prstGeom>
          <a:noFill/>
          <a:ln w="12700">
            <a:noFill/>
            <a:miter lim="800000"/>
            <a:headEnd type="none" w="sm" len="sm"/>
            <a:tailEnd type="none" w="sm" len="sm"/>
          </a:ln>
          <a:effectLst/>
        </p:spPr>
        <p:txBody>
          <a:bodyPr>
            <a:spAutoFit/>
          </a:bodyPr>
          <a:lstStyle/>
          <a:p>
            <a:pPr marL="228600" indent="-228600">
              <a:spcBef>
                <a:spcPct val="50000"/>
              </a:spcBef>
              <a:buClr>
                <a:schemeClr val="accent1"/>
              </a:buClr>
              <a:buFont typeface="Wingdings" pitchFamily="-111" charset="2"/>
              <a:buChar char="§"/>
              <a:defRPr/>
            </a:pPr>
            <a:r>
              <a:rPr lang="en-US" sz="2400" dirty="0">
                <a:effectLst>
                  <a:outerShdw blurRad="38100" dist="38100" dir="2700000" algn="tl">
                    <a:srgbClr val="C0C0C0"/>
                  </a:outerShdw>
                </a:effectLst>
                <a:latin typeface="Tahoma" pitchFamily="-111" charset="0"/>
                <a:ea typeface="ＭＳ Ｐゴシック" pitchFamily="-111" charset="-128"/>
              </a:rPr>
              <a:t>Loss of commitment</a:t>
            </a:r>
          </a:p>
          <a:p>
            <a:pPr marL="228600" indent="-228600">
              <a:spcBef>
                <a:spcPct val="20000"/>
              </a:spcBef>
              <a:spcAft>
                <a:spcPct val="20000"/>
              </a:spcAft>
              <a:buClr>
                <a:srgbClr val="009900"/>
              </a:buClr>
              <a:buFont typeface="Wingdings" pitchFamily="-111" charset="2"/>
              <a:buChar char="§"/>
              <a:defRPr/>
            </a:pPr>
            <a:r>
              <a:rPr lang="en-US" sz="2400" dirty="0">
                <a:effectLst>
                  <a:outerShdw blurRad="38100" dist="38100" dir="2700000" algn="tl">
                    <a:srgbClr val="C0C0C0"/>
                  </a:outerShdw>
                </a:effectLst>
                <a:latin typeface="Tahoma" pitchFamily="-111" charset="0"/>
                <a:ea typeface="ＭＳ Ｐゴシック" pitchFamily="-111" charset="-128"/>
              </a:rPr>
              <a:t>Vulnerability, a problem can become a crisis on short notice</a:t>
            </a:r>
          </a:p>
          <a:p>
            <a:pPr marL="228600" indent="-228600">
              <a:spcBef>
                <a:spcPct val="50000"/>
              </a:spcBef>
              <a:buClr>
                <a:schemeClr val="accent1"/>
              </a:buClr>
              <a:buFont typeface="Wingdings" pitchFamily="-111" charset="2"/>
              <a:buChar char="§"/>
              <a:defRPr/>
            </a:pPr>
            <a:r>
              <a:rPr lang="en-US" sz="2400" dirty="0">
                <a:effectLst>
                  <a:outerShdw blurRad="38100" dist="38100" dir="2700000" algn="tl">
                    <a:srgbClr val="C0C0C0"/>
                  </a:outerShdw>
                </a:effectLst>
                <a:latin typeface="Tahoma" pitchFamily="-111" charset="0"/>
                <a:ea typeface="ＭＳ Ｐゴシック" pitchFamily="-111" charset="-128"/>
              </a:rPr>
              <a:t>Loss of cash</a:t>
            </a:r>
          </a:p>
          <a:p>
            <a:pPr marL="228600" indent="-228600">
              <a:spcBef>
                <a:spcPct val="50000"/>
              </a:spcBef>
              <a:buClr>
                <a:schemeClr val="accent1"/>
              </a:buClr>
              <a:buFont typeface="Wingdings" pitchFamily="-111" charset="2"/>
              <a:buChar char="§"/>
              <a:defRPr/>
            </a:pPr>
            <a:r>
              <a:rPr lang="en-US" sz="2400" dirty="0">
                <a:effectLst>
                  <a:outerShdw blurRad="38100" dist="38100" dir="2700000" algn="tl">
                    <a:srgbClr val="C0C0C0"/>
                  </a:outerShdw>
                </a:effectLst>
                <a:latin typeface="Tahoma" pitchFamily="-111" charset="0"/>
                <a:ea typeface="ＭＳ Ｐゴシック" pitchFamily="-111" charset="-128"/>
              </a:rPr>
              <a:t>Loss of window of opportunity (timing)</a:t>
            </a:r>
          </a:p>
          <a:p>
            <a:pPr marL="228600" indent="-228600">
              <a:spcBef>
                <a:spcPct val="50000"/>
              </a:spcBef>
              <a:buClr>
                <a:schemeClr val="accent1"/>
              </a:buClr>
              <a:buFont typeface="Wingdings" pitchFamily="-111" charset="2"/>
              <a:buChar char="§"/>
              <a:defRPr/>
            </a:pPr>
            <a:r>
              <a:rPr lang="en-US" sz="2400" dirty="0">
                <a:effectLst>
                  <a:outerShdw blurRad="38100" dist="38100" dir="2700000" algn="tl">
                    <a:srgbClr val="C0C0C0"/>
                  </a:outerShdw>
                </a:effectLst>
                <a:latin typeface="Tahoma" pitchFamily="-111" charset="0"/>
                <a:ea typeface="ＭＳ Ｐゴシック" pitchFamily="-111" charset="-128"/>
              </a:rPr>
              <a:t>Loss of founder</a:t>
            </a:r>
          </a:p>
          <a:p>
            <a:pPr marL="228600" indent="-228600">
              <a:spcBef>
                <a:spcPct val="50000"/>
              </a:spcBef>
              <a:buClr>
                <a:schemeClr val="accent1"/>
              </a:buClr>
              <a:buFont typeface="Wingdings" pitchFamily="-111" charset="2"/>
              <a:buChar char="§"/>
              <a:defRPr/>
            </a:pPr>
            <a:r>
              <a:rPr lang="en-US" sz="2400" dirty="0">
                <a:effectLst>
                  <a:outerShdw blurRad="38100" dist="38100" dir="2700000" algn="tl">
                    <a:srgbClr val="C0C0C0"/>
                  </a:outerShdw>
                </a:effectLst>
                <a:latin typeface="Tahoma" pitchFamily="-111" charset="0"/>
                <a:ea typeface="ＭＳ Ｐゴシック" pitchFamily="-111" charset="-128"/>
              </a:rPr>
              <a:t>Loss of family support</a:t>
            </a:r>
          </a:p>
          <a:p>
            <a:pPr marL="228600" indent="-228600">
              <a:spcBef>
                <a:spcPct val="50000"/>
              </a:spcBef>
              <a:buClr>
                <a:schemeClr val="accent1"/>
              </a:buClr>
              <a:buFont typeface="Wingdings" pitchFamily="-111" charset="2"/>
              <a:buChar char="§"/>
              <a:defRPr/>
            </a:pPr>
            <a:r>
              <a:rPr lang="en-US" sz="2400" dirty="0">
                <a:effectLst>
                  <a:outerShdw blurRad="38100" dist="38100" dir="2700000" algn="tl">
                    <a:srgbClr val="C0C0C0"/>
                  </a:outerShdw>
                </a:effectLst>
                <a:latin typeface="Tahoma" pitchFamily="-111" charset="0"/>
                <a:ea typeface="ＭＳ Ｐゴシック" pitchFamily="-111" charset="-128"/>
              </a:rPr>
              <a:t>Loss of “life”</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869387"/>
                                        </p:tgtEl>
                                        <p:attrNameLst>
                                          <p:attrName>style.visibility</p:attrName>
                                        </p:attrNameLst>
                                      </p:cBhvr>
                                      <p:to>
                                        <p:strVal val="visible"/>
                                      </p:to>
                                    </p:set>
                                    <p:animEffect transition="in" filter="wipe(left)">
                                      <p:cBhvr>
                                        <p:cTn id="7" dur="500"/>
                                        <p:tgtEl>
                                          <p:spTgt spid="86938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69389"/>
                                        </p:tgtEl>
                                        <p:attrNameLst>
                                          <p:attrName>style.visibility</p:attrName>
                                        </p:attrNameLst>
                                      </p:cBhvr>
                                      <p:to>
                                        <p:strVal val="visible"/>
                                      </p:to>
                                    </p:set>
                                    <p:animEffect transition="in" filter="fade">
                                      <p:cBhvr>
                                        <p:cTn id="10" dur="2000"/>
                                        <p:tgtEl>
                                          <p:spTgt spid="869389"/>
                                        </p:tgtEl>
                                      </p:cBhvr>
                                    </p:animEffect>
                                  </p:childTnLst>
                                </p:cTn>
                              </p:par>
                            </p:childTnLst>
                          </p:cTn>
                        </p:par>
                        <p:par>
                          <p:cTn id="11" fill="hold" nodeType="afterGroup">
                            <p:stCondLst>
                              <p:cond delay="2000"/>
                            </p:stCondLst>
                            <p:childTnLst>
                              <p:par>
                                <p:cTn id="12" presetID="10" presetClass="entr" presetSubtype="0" fill="hold" grpId="1" nodeType="afterEffect">
                                  <p:stCondLst>
                                    <p:cond delay="0"/>
                                  </p:stCondLst>
                                  <p:childTnLst>
                                    <p:set>
                                      <p:cBhvr>
                                        <p:cTn id="13" dur="1" fill="hold">
                                          <p:stCondLst>
                                            <p:cond delay="0"/>
                                          </p:stCondLst>
                                        </p:cTn>
                                        <p:tgtEl>
                                          <p:spTgt spid="869389"/>
                                        </p:tgtEl>
                                        <p:attrNameLst>
                                          <p:attrName>style.visibility</p:attrName>
                                        </p:attrNameLst>
                                      </p:cBhvr>
                                      <p:to>
                                        <p:strVal val="visible"/>
                                      </p:to>
                                    </p:set>
                                    <p:animEffect transition="in" filter="fade">
                                      <p:cBhvr>
                                        <p:cTn id="14" dur="500"/>
                                        <p:tgtEl>
                                          <p:spTgt spid="86938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69388"/>
                                        </p:tgtEl>
                                        <p:attrNameLst>
                                          <p:attrName>style.visibility</p:attrName>
                                        </p:attrNameLst>
                                      </p:cBhvr>
                                      <p:to>
                                        <p:strVal val="visible"/>
                                      </p:to>
                                    </p:set>
                                    <p:animEffect transition="in" filter="fade">
                                      <p:cBhvr>
                                        <p:cTn id="17" dur="500"/>
                                        <p:tgtEl>
                                          <p:spTgt spid="8693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86939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869390">
                                            <p:txEl>
                                              <p:pRg st="0" end="0"/>
                                            </p:txEl>
                                          </p:spTgt>
                                        </p:tgtEl>
                                        <p:attrNameLst>
                                          <p:attrName>ppt_c</p:attrName>
                                        </p:attrNameLst>
                                      </p:cBhvr>
                                      <p:to>
                                        <a:schemeClr val="folHlink"/>
                                      </p:to>
                                    </p:animClr>
                                  </p:sub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86939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869390">
                                            <p:txEl>
                                              <p:pRg st="1" end="1"/>
                                            </p:txEl>
                                          </p:spTgt>
                                        </p:tgtEl>
                                        <p:attrNameLst>
                                          <p:attrName>ppt_c</p:attrName>
                                        </p:attrNameLst>
                                      </p:cBhvr>
                                      <p:to>
                                        <a:schemeClr val="folHlink"/>
                                      </p:to>
                                    </p:animClr>
                                  </p:sub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86939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869390">
                                            <p:txEl>
                                              <p:pRg st="2" end="2"/>
                                            </p:txEl>
                                          </p:spTgt>
                                        </p:tgtEl>
                                        <p:attrNameLst>
                                          <p:attrName>ppt_c</p:attrName>
                                        </p:attrNameLst>
                                      </p:cBhvr>
                                      <p:to>
                                        <a:schemeClr val="folHlink"/>
                                      </p:to>
                                    </p:animClr>
                                  </p:sub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86939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869390">
                                            <p:txEl>
                                              <p:pRg st="3" end="3"/>
                                            </p:txEl>
                                          </p:spTgt>
                                        </p:tgtEl>
                                        <p:attrNameLst>
                                          <p:attrName>ppt_c</p:attrName>
                                        </p:attrNameLst>
                                      </p:cBhvr>
                                      <p:to>
                                        <a:schemeClr val="folHlink"/>
                                      </p:to>
                                    </p:animClr>
                                  </p:sub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86939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869390">
                                            <p:txEl>
                                              <p:pRg st="4" end="4"/>
                                            </p:txEl>
                                          </p:spTgt>
                                        </p:tgtEl>
                                        <p:attrNameLst>
                                          <p:attrName>ppt_c</p:attrName>
                                        </p:attrNameLst>
                                      </p:cBhvr>
                                      <p:to>
                                        <a:schemeClr val="folHlink"/>
                                      </p:to>
                                    </p:animClr>
                                  </p:sub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869390">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869390">
                                            <p:txEl>
                                              <p:pRg st="5" end="5"/>
                                            </p:txEl>
                                          </p:spTgt>
                                        </p:tgtEl>
                                        <p:attrNameLst>
                                          <p:attrName>ppt_c</p:attrName>
                                        </p:attrNameLst>
                                      </p:cBhvr>
                                      <p:to>
                                        <a:schemeClr val="folHlink"/>
                                      </p:to>
                                    </p:animClr>
                                  </p:sub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869390">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869390">
                                            <p:txEl>
                                              <p:pRg st="6" end="6"/>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9388" grpId="0"/>
      <p:bldP spid="869389" grpId="0" animBg="1"/>
      <p:bldP spid="86938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0E55CFC-7364-4355-84D5-AF21CD1C3067}"/>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19459" name="Rectangle 3">
            <a:extLst>
              <a:ext uri="{FF2B5EF4-FFF2-40B4-BE49-F238E27FC236}">
                <a16:creationId xmlns:a16="http://schemas.microsoft.com/office/drawing/2014/main" id="{52298638-F9DC-4C97-A26D-907FB104FD19}"/>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0404" name="Freeform 4">
            <a:extLst>
              <a:ext uri="{FF2B5EF4-FFF2-40B4-BE49-F238E27FC236}">
                <a16:creationId xmlns:a16="http://schemas.microsoft.com/office/drawing/2014/main" id="{CE40CEE6-28BC-4D35-A594-F1AA23C51F80}"/>
              </a:ext>
            </a:extLst>
          </p:cNvPr>
          <p:cNvSpPr>
            <a:spLocks/>
          </p:cNvSpPr>
          <p:nvPr/>
        </p:nvSpPr>
        <p:spPr bwMode="auto">
          <a:xfrm>
            <a:off x="2452689" y="3219451"/>
            <a:ext cx="2243137" cy="2481263"/>
          </a:xfrm>
          <a:custGeom>
            <a:avLst/>
            <a:gdLst>
              <a:gd name="T0" fmla="*/ 0 w 1413"/>
              <a:gd name="T1" fmla="*/ 2147483646 h 1563"/>
              <a:gd name="T2" fmla="*/ 2147483646 w 1413"/>
              <a:gd name="T3" fmla="*/ 2147483646 h 1563"/>
              <a:gd name="T4" fmla="*/ 2147483646 w 1413"/>
              <a:gd name="T5" fmla="*/ 2147483646 h 1563"/>
              <a:gd name="T6" fmla="*/ 2147483646 w 1413"/>
              <a:gd name="T7" fmla="*/ 2147483646 h 1563"/>
              <a:gd name="T8" fmla="*/ 2147483646 w 1413"/>
              <a:gd name="T9" fmla="*/ 2147483646 h 1563"/>
              <a:gd name="T10" fmla="*/ 2147483646 w 1413"/>
              <a:gd name="T11" fmla="*/ 2147483646 h 1563"/>
              <a:gd name="T12" fmla="*/ 2147483646 w 1413"/>
              <a:gd name="T13" fmla="*/ 2147483646 h 1563"/>
              <a:gd name="T14" fmla="*/ 2147483646 w 1413"/>
              <a:gd name="T15" fmla="*/ 2147483646 h 1563"/>
              <a:gd name="T16" fmla="*/ 2147483646 w 1413"/>
              <a:gd name="T17" fmla="*/ 2147483646 h 1563"/>
              <a:gd name="T18" fmla="*/ 2147483646 w 1413"/>
              <a:gd name="T19" fmla="*/ 2147483646 h 1563"/>
              <a:gd name="T20" fmla="*/ 2147483646 w 1413"/>
              <a:gd name="T21" fmla="*/ 0 h 15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13"/>
              <a:gd name="T34" fmla="*/ 0 h 1563"/>
              <a:gd name="T35" fmla="*/ 1413 w 1413"/>
              <a:gd name="T36" fmla="*/ 1563 h 15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13" h="1563">
                <a:moveTo>
                  <a:pt x="0" y="1563"/>
                </a:moveTo>
                <a:cubicBezTo>
                  <a:pt x="21" y="1560"/>
                  <a:pt x="79" y="1562"/>
                  <a:pt x="128" y="1547"/>
                </a:cubicBezTo>
                <a:cubicBezTo>
                  <a:pt x="177" y="1532"/>
                  <a:pt x="244" y="1511"/>
                  <a:pt x="296" y="1475"/>
                </a:cubicBezTo>
                <a:cubicBezTo>
                  <a:pt x="348" y="1439"/>
                  <a:pt x="424" y="1373"/>
                  <a:pt x="440" y="1334"/>
                </a:cubicBezTo>
                <a:cubicBezTo>
                  <a:pt x="456" y="1295"/>
                  <a:pt x="376" y="1239"/>
                  <a:pt x="392" y="1239"/>
                </a:cubicBezTo>
                <a:cubicBezTo>
                  <a:pt x="408" y="1239"/>
                  <a:pt x="527" y="1342"/>
                  <a:pt x="535" y="1334"/>
                </a:cubicBezTo>
                <a:cubicBezTo>
                  <a:pt x="543" y="1326"/>
                  <a:pt x="441" y="1213"/>
                  <a:pt x="440" y="1191"/>
                </a:cubicBezTo>
                <a:cubicBezTo>
                  <a:pt x="439" y="1169"/>
                  <a:pt x="480" y="1243"/>
                  <a:pt x="528" y="1203"/>
                </a:cubicBezTo>
                <a:cubicBezTo>
                  <a:pt x="576" y="1163"/>
                  <a:pt x="613" y="1105"/>
                  <a:pt x="726" y="952"/>
                </a:cubicBezTo>
                <a:cubicBezTo>
                  <a:pt x="839" y="799"/>
                  <a:pt x="1090" y="441"/>
                  <a:pt x="1204" y="282"/>
                </a:cubicBezTo>
                <a:cubicBezTo>
                  <a:pt x="1318" y="123"/>
                  <a:pt x="1369" y="59"/>
                  <a:pt x="1413"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405" name="AutoShape 5">
            <a:extLst>
              <a:ext uri="{FF2B5EF4-FFF2-40B4-BE49-F238E27FC236}">
                <a16:creationId xmlns:a16="http://schemas.microsoft.com/office/drawing/2014/main" id="{38BA361B-7179-4CA7-93D2-A2C9949EA691}"/>
              </a:ext>
            </a:extLst>
          </p:cNvPr>
          <p:cNvSpPr>
            <a:spLocks noChangeArrowheads="1"/>
          </p:cNvSpPr>
          <p:nvPr/>
        </p:nvSpPr>
        <p:spPr bwMode="auto">
          <a:xfrm>
            <a:off x="3590926" y="4567238"/>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0406" name="AutoShape 6">
            <a:extLst>
              <a:ext uri="{FF2B5EF4-FFF2-40B4-BE49-F238E27FC236}">
                <a16:creationId xmlns:a16="http://schemas.microsoft.com/office/drawing/2014/main" id="{670D9EAE-C157-4310-AEA0-9F7E656E3BBF}"/>
              </a:ext>
            </a:extLst>
          </p:cNvPr>
          <p:cNvSpPr>
            <a:spLocks noChangeArrowheads="1"/>
          </p:cNvSpPr>
          <p:nvPr/>
        </p:nvSpPr>
        <p:spPr bwMode="auto">
          <a:xfrm>
            <a:off x="2832101" y="5478463"/>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0407" name="Freeform 7">
            <a:extLst>
              <a:ext uri="{FF2B5EF4-FFF2-40B4-BE49-F238E27FC236}">
                <a16:creationId xmlns:a16="http://schemas.microsoft.com/office/drawing/2014/main" id="{5908169F-154F-429A-ACA6-A34DC4960BCE}"/>
              </a:ext>
            </a:extLst>
          </p:cNvPr>
          <p:cNvSpPr>
            <a:spLocks/>
          </p:cNvSpPr>
          <p:nvPr/>
        </p:nvSpPr>
        <p:spPr bwMode="auto">
          <a:xfrm>
            <a:off x="3079751" y="522287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408" name="Text Box 8">
            <a:extLst>
              <a:ext uri="{FF2B5EF4-FFF2-40B4-BE49-F238E27FC236}">
                <a16:creationId xmlns:a16="http://schemas.microsoft.com/office/drawing/2014/main" id="{1C847D2E-6E5E-4AF1-814F-7573F3AF1F7C}"/>
              </a:ext>
            </a:extLst>
          </p:cNvPr>
          <p:cNvSpPr txBox="1">
            <a:spLocks noChangeArrowheads="1"/>
          </p:cNvSpPr>
          <p:nvPr/>
        </p:nvSpPr>
        <p:spPr bwMode="auto">
          <a:xfrm>
            <a:off x="1693863" y="502285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Courtship</a:t>
            </a:r>
          </a:p>
        </p:txBody>
      </p:sp>
      <p:sp>
        <p:nvSpPr>
          <p:cNvPr id="870409" name="Text Box 9">
            <a:extLst>
              <a:ext uri="{FF2B5EF4-FFF2-40B4-BE49-F238E27FC236}">
                <a16:creationId xmlns:a16="http://schemas.microsoft.com/office/drawing/2014/main" id="{594FBF0E-89EE-4204-98C8-24F30798D58D}"/>
              </a:ext>
            </a:extLst>
          </p:cNvPr>
          <p:cNvSpPr txBox="1">
            <a:spLocks noChangeArrowheads="1"/>
          </p:cNvSpPr>
          <p:nvPr/>
        </p:nvSpPr>
        <p:spPr bwMode="auto">
          <a:xfrm>
            <a:off x="2225675" y="4429126"/>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Infancy</a:t>
            </a:r>
          </a:p>
        </p:txBody>
      </p:sp>
      <p:sp>
        <p:nvSpPr>
          <p:cNvPr id="870410" name="Text Box 10">
            <a:extLst>
              <a:ext uri="{FF2B5EF4-FFF2-40B4-BE49-F238E27FC236}">
                <a16:creationId xmlns:a16="http://schemas.microsoft.com/office/drawing/2014/main" id="{6C73C858-0652-45D3-86C2-B42005960A4A}"/>
              </a:ext>
            </a:extLst>
          </p:cNvPr>
          <p:cNvSpPr txBox="1">
            <a:spLocks noChangeArrowheads="1"/>
          </p:cNvSpPr>
          <p:nvPr/>
        </p:nvSpPr>
        <p:spPr bwMode="auto">
          <a:xfrm>
            <a:off x="3516314" y="5553075"/>
            <a:ext cx="682625" cy="274638"/>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Affair</a:t>
            </a:r>
          </a:p>
        </p:txBody>
      </p:sp>
      <p:sp>
        <p:nvSpPr>
          <p:cNvPr id="870411" name="Oval 11">
            <a:extLst>
              <a:ext uri="{FF2B5EF4-FFF2-40B4-BE49-F238E27FC236}">
                <a16:creationId xmlns:a16="http://schemas.microsoft.com/office/drawing/2014/main" id="{12449D27-8683-45C5-91BC-7FE75D4CF57A}"/>
              </a:ext>
            </a:extLst>
          </p:cNvPr>
          <p:cNvSpPr>
            <a:spLocks noChangeArrowheads="1"/>
          </p:cNvSpPr>
          <p:nvPr/>
        </p:nvSpPr>
        <p:spPr bwMode="auto">
          <a:xfrm>
            <a:off x="3762376" y="5392739"/>
            <a:ext cx="136525" cy="136525"/>
          </a:xfrm>
          <a:prstGeom prst="ellipse">
            <a:avLst/>
          </a:prstGeom>
          <a:solidFill>
            <a:srgbClr val="FF0033">
              <a:alpha val="39999"/>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0412" name="AutoShape 12">
            <a:extLst>
              <a:ext uri="{FF2B5EF4-FFF2-40B4-BE49-F238E27FC236}">
                <a16:creationId xmlns:a16="http://schemas.microsoft.com/office/drawing/2014/main" id="{B11FE3E1-D19F-43C1-BC47-F65ECEF9E6D5}"/>
              </a:ext>
            </a:extLst>
          </p:cNvPr>
          <p:cNvSpPr>
            <a:spLocks noChangeArrowheads="1"/>
          </p:cNvSpPr>
          <p:nvPr/>
        </p:nvSpPr>
        <p:spPr bwMode="auto">
          <a:xfrm>
            <a:off x="4292601" y="3581400"/>
            <a:ext cx="150813"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0413" name="Text Box 13">
            <a:extLst>
              <a:ext uri="{FF2B5EF4-FFF2-40B4-BE49-F238E27FC236}">
                <a16:creationId xmlns:a16="http://schemas.microsoft.com/office/drawing/2014/main" id="{E08B8777-D6D9-44B3-B659-7271FE6A49B1}"/>
              </a:ext>
            </a:extLst>
          </p:cNvPr>
          <p:cNvSpPr txBox="1">
            <a:spLocks noChangeArrowheads="1"/>
          </p:cNvSpPr>
          <p:nvPr/>
        </p:nvSpPr>
        <p:spPr bwMode="auto">
          <a:xfrm>
            <a:off x="2832100" y="342900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Go-go</a:t>
            </a:r>
          </a:p>
        </p:txBody>
      </p:sp>
      <p:sp>
        <p:nvSpPr>
          <p:cNvPr id="870414" name="Freeform 14">
            <a:extLst>
              <a:ext uri="{FF2B5EF4-FFF2-40B4-BE49-F238E27FC236}">
                <a16:creationId xmlns:a16="http://schemas.microsoft.com/office/drawing/2014/main" id="{34FB19E6-ECCD-43E3-9DF2-C8098F794EAA}"/>
              </a:ext>
            </a:extLst>
          </p:cNvPr>
          <p:cNvSpPr>
            <a:spLocks/>
          </p:cNvSpPr>
          <p:nvPr/>
        </p:nvSpPr>
        <p:spPr bwMode="auto">
          <a:xfrm>
            <a:off x="3708400" y="4140200"/>
            <a:ext cx="1041400" cy="419100"/>
          </a:xfrm>
          <a:custGeom>
            <a:avLst/>
            <a:gdLst>
              <a:gd name="T0" fmla="*/ 0 w 656"/>
              <a:gd name="T1" fmla="*/ 2147483646 h 264"/>
              <a:gd name="T2" fmla="*/ 2147483646 w 656"/>
              <a:gd name="T3" fmla="*/ 2147483646 h 264"/>
              <a:gd name="T4" fmla="*/ 2147483646 w 656"/>
              <a:gd name="T5" fmla="*/ 2147483646 h 264"/>
              <a:gd name="T6" fmla="*/ 0 60000 65536"/>
              <a:gd name="T7" fmla="*/ 0 60000 65536"/>
              <a:gd name="T8" fmla="*/ 0 60000 65536"/>
              <a:gd name="T9" fmla="*/ 0 w 656"/>
              <a:gd name="T10" fmla="*/ 0 h 264"/>
              <a:gd name="T11" fmla="*/ 656 w 656"/>
              <a:gd name="T12" fmla="*/ 264 h 264"/>
            </a:gdLst>
            <a:ahLst/>
            <a:cxnLst>
              <a:cxn ang="T6">
                <a:pos x="T0" y="T1"/>
              </a:cxn>
              <a:cxn ang="T7">
                <a:pos x="T2" y="T3"/>
              </a:cxn>
              <a:cxn ang="T8">
                <a:pos x="T4" y="T5"/>
              </a:cxn>
            </a:cxnLst>
            <a:rect l="T9" t="T10" r="T11" b="T12"/>
            <a:pathLst>
              <a:path w="656" h="264">
                <a:moveTo>
                  <a:pt x="0" y="264"/>
                </a:moveTo>
                <a:cubicBezTo>
                  <a:pt x="73" y="224"/>
                  <a:pt x="331" y="48"/>
                  <a:pt x="440" y="24"/>
                </a:cubicBezTo>
                <a:cubicBezTo>
                  <a:pt x="549" y="0"/>
                  <a:pt x="611" y="100"/>
                  <a:pt x="656" y="120"/>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415" name="Text Box 15">
            <a:extLst>
              <a:ext uri="{FF2B5EF4-FFF2-40B4-BE49-F238E27FC236}">
                <a16:creationId xmlns:a16="http://schemas.microsoft.com/office/drawing/2014/main" id="{77048A87-3F03-4E40-AC47-FC80436F920B}"/>
              </a:ext>
            </a:extLst>
          </p:cNvPr>
          <p:cNvSpPr txBox="1">
            <a:spLocks noChangeArrowheads="1"/>
          </p:cNvSpPr>
          <p:nvPr/>
        </p:nvSpPr>
        <p:spPr bwMode="auto">
          <a:xfrm>
            <a:off x="4275139" y="4414838"/>
            <a:ext cx="909637"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Infant Mortality</a:t>
            </a:r>
          </a:p>
        </p:txBody>
      </p:sp>
      <p:sp>
        <p:nvSpPr>
          <p:cNvPr id="870416" name="Oval 16">
            <a:extLst>
              <a:ext uri="{FF2B5EF4-FFF2-40B4-BE49-F238E27FC236}">
                <a16:creationId xmlns:a16="http://schemas.microsoft.com/office/drawing/2014/main" id="{998B0F81-DDAB-4163-89C6-381C5142B7E5}"/>
              </a:ext>
            </a:extLst>
          </p:cNvPr>
          <p:cNvSpPr>
            <a:spLocks noChangeArrowheads="1"/>
          </p:cNvSpPr>
          <p:nvPr/>
        </p:nvSpPr>
        <p:spPr bwMode="auto">
          <a:xfrm>
            <a:off x="4654551" y="4264026"/>
            <a:ext cx="136525" cy="136525"/>
          </a:xfrm>
          <a:prstGeom prst="ellipse">
            <a:avLst/>
          </a:prstGeom>
          <a:solidFill>
            <a:srgbClr val="FF0033">
              <a:alpha val="50195"/>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0417" name="Text Box 17">
            <a:extLst>
              <a:ext uri="{FF2B5EF4-FFF2-40B4-BE49-F238E27FC236}">
                <a16:creationId xmlns:a16="http://schemas.microsoft.com/office/drawing/2014/main" id="{EDE7799D-7EA9-4517-830A-924FA537F3E2}"/>
              </a:ext>
            </a:extLst>
          </p:cNvPr>
          <p:cNvSpPr txBox="1">
            <a:spLocks noChangeArrowheads="1"/>
          </p:cNvSpPr>
          <p:nvPr/>
        </p:nvSpPr>
        <p:spPr bwMode="auto">
          <a:xfrm>
            <a:off x="6096000" y="1730375"/>
            <a:ext cx="4402138" cy="4758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28600" indent="-228600">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Organization is </a:t>
            </a:r>
            <a:r>
              <a:rPr lang="en-US" altLang="en-US" sz="3600">
                <a:latin typeface="Tahoma" panose="020B0604030504040204" pitchFamily="34" charset="0"/>
              </a:rPr>
              <a:t>A</a:t>
            </a:r>
            <a:r>
              <a:rPr lang="en-US" altLang="en-US">
                <a:latin typeface="Tahoma" panose="020B0604030504040204" pitchFamily="34" charset="0"/>
              </a:rPr>
              <a:t>rrogant</a:t>
            </a:r>
          </a:p>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Rapid Growth</a:t>
            </a:r>
          </a:p>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Sales Oriented</a:t>
            </a:r>
          </a:p>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Organized around people, not around tasks</a:t>
            </a:r>
          </a:p>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Lack of Accountability</a:t>
            </a:r>
          </a:p>
          <a:p>
            <a:pPr>
              <a:spcBef>
                <a:spcPct val="20000"/>
              </a:spcBef>
              <a:spcAft>
                <a:spcPct val="20000"/>
              </a:spcAft>
              <a:buClr>
                <a:srgbClr val="009900"/>
              </a:buClr>
              <a:buFont typeface="Wingdings" panose="05000000000000000000" pitchFamily="2" charset="2"/>
              <a:buChar char="§"/>
            </a:pPr>
            <a:endParaRPr lang="en-US" altLang="en-US">
              <a:latin typeface="Tahoma" panose="020B0604030504040204" pitchFamily="34" charset="0"/>
            </a:endParaRPr>
          </a:p>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Opportunity </a:t>
            </a:r>
            <a:r>
              <a:rPr lang="en-US" altLang="en-US">
                <a:solidFill>
                  <a:srgbClr val="FF0033"/>
                </a:solidFill>
                <a:latin typeface="Tahoma" panose="020B0604030504040204" pitchFamily="34" charset="0"/>
              </a:rPr>
              <a:t>driven</a:t>
            </a:r>
          </a:p>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Too many priorities</a:t>
            </a:r>
          </a:p>
          <a:p>
            <a:pPr>
              <a:spcBef>
                <a:spcPct val="20000"/>
              </a:spcBef>
              <a:spcAft>
                <a:spcPct val="20000"/>
              </a:spcAft>
              <a:buClr>
                <a:srgbClr val="009900"/>
              </a:buClr>
              <a:buFont typeface="Wingdings" panose="05000000000000000000" pitchFamily="2" charset="2"/>
              <a:buChar char="§"/>
            </a:pPr>
            <a:r>
              <a:rPr lang="en-US" altLang="en-US">
                <a:latin typeface="Tahoma" panose="020B0604030504040204" pitchFamily="34" charset="0"/>
              </a:rPr>
              <a:t>Assumes </a:t>
            </a:r>
            <a:r>
              <a:rPr lang="en-US" altLang="en-US">
                <a:latin typeface="Tahoma" panose="020B0604030504040204" pitchFamily="34" charset="0"/>
                <a:sym typeface="Wingdings" panose="05000000000000000000" pitchFamily="2" charset="2"/>
              </a:rPr>
              <a:t></a:t>
            </a:r>
            <a:r>
              <a:rPr lang="en-US" altLang="en-US">
                <a:latin typeface="Tahoma" panose="020B0604030504040204" pitchFamily="34" charset="0"/>
              </a:rPr>
              <a:t>More revenue = More profits</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870404"/>
                                        </p:tgtEl>
                                        <p:attrNameLst>
                                          <p:attrName>style.visibility</p:attrName>
                                        </p:attrNameLst>
                                      </p:cBhvr>
                                      <p:to>
                                        <p:strVal val="visible"/>
                                      </p:to>
                                    </p:set>
                                    <p:animEffect transition="in" filter="wipe(down)">
                                      <p:cBhvr>
                                        <p:cTn id="7" dur="500"/>
                                        <p:tgtEl>
                                          <p:spTgt spid="87040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70406"/>
                                        </p:tgtEl>
                                        <p:attrNameLst>
                                          <p:attrName>style.visibility</p:attrName>
                                        </p:attrNameLst>
                                      </p:cBhvr>
                                      <p:to>
                                        <p:strVal val="visible"/>
                                      </p:to>
                                    </p:set>
                                    <p:animEffect transition="in" filter="fade">
                                      <p:cBhvr>
                                        <p:cTn id="10" dur="500"/>
                                        <p:tgtEl>
                                          <p:spTgt spid="87040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70408"/>
                                        </p:tgtEl>
                                        <p:attrNameLst>
                                          <p:attrName>style.visibility</p:attrName>
                                        </p:attrNameLst>
                                      </p:cBhvr>
                                      <p:to>
                                        <p:strVal val="visible"/>
                                      </p:to>
                                    </p:set>
                                    <p:animEffect transition="in" filter="fade">
                                      <p:cBhvr>
                                        <p:cTn id="13" dur="500"/>
                                        <p:tgtEl>
                                          <p:spTgt spid="870408"/>
                                        </p:tgtEl>
                                      </p:cBhvr>
                                    </p:animEffect>
                                  </p:childTnLst>
                                </p:cTn>
                              </p:par>
                              <p:par>
                                <p:cTn id="14" presetID="22" presetClass="entr" presetSubtype="4" fill="hold" nodeType="withEffect">
                                  <p:stCondLst>
                                    <p:cond delay="0"/>
                                  </p:stCondLst>
                                  <p:childTnLst>
                                    <p:set>
                                      <p:cBhvr>
                                        <p:cTn id="15" dur="1" fill="hold">
                                          <p:stCondLst>
                                            <p:cond delay="0"/>
                                          </p:stCondLst>
                                        </p:cTn>
                                        <p:tgtEl>
                                          <p:spTgt spid="870407"/>
                                        </p:tgtEl>
                                        <p:attrNameLst>
                                          <p:attrName>style.visibility</p:attrName>
                                        </p:attrNameLst>
                                      </p:cBhvr>
                                      <p:to>
                                        <p:strVal val="visible"/>
                                      </p:to>
                                    </p:set>
                                    <p:animEffect transition="in" filter="wipe(down)">
                                      <p:cBhvr>
                                        <p:cTn id="16" dur="500"/>
                                        <p:tgtEl>
                                          <p:spTgt spid="87040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70411"/>
                                        </p:tgtEl>
                                        <p:attrNameLst>
                                          <p:attrName>style.visibility</p:attrName>
                                        </p:attrNameLst>
                                      </p:cBhvr>
                                      <p:to>
                                        <p:strVal val="visible"/>
                                      </p:to>
                                    </p:set>
                                    <p:animEffect transition="in" filter="fade">
                                      <p:cBhvr>
                                        <p:cTn id="19" dur="500"/>
                                        <p:tgtEl>
                                          <p:spTgt spid="8704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70405"/>
                                        </p:tgtEl>
                                        <p:attrNameLst>
                                          <p:attrName>style.visibility</p:attrName>
                                        </p:attrNameLst>
                                      </p:cBhvr>
                                      <p:to>
                                        <p:strVal val="visible"/>
                                      </p:to>
                                    </p:set>
                                    <p:animEffect transition="in" filter="fade">
                                      <p:cBhvr>
                                        <p:cTn id="22" dur="500"/>
                                        <p:tgtEl>
                                          <p:spTgt spid="87040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70410"/>
                                        </p:tgtEl>
                                        <p:attrNameLst>
                                          <p:attrName>style.visibility</p:attrName>
                                        </p:attrNameLst>
                                      </p:cBhvr>
                                      <p:to>
                                        <p:strVal val="visible"/>
                                      </p:to>
                                    </p:set>
                                    <p:animEffect transition="in" filter="fade">
                                      <p:cBhvr>
                                        <p:cTn id="25" dur="500"/>
                                        <p:tgtEl>
                                          <p:spTgt spid="8704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70409"/>
                                        </p:tgtEl>
                                        <p:attrNameLst>
                                          <p:attrName>style.visibility</p:attrName>
                                        </p:attrNameLst>
                                      </p:cBhvr>
                                      <p:to>
                                        <p:strVal val="visible"/>
                                      </p:to>
                                    </p:set>
                                    <p:animEffect transition="in" filter="fade">
                                      <p:cBhvr>
                                        <p:cTn id="28" dur="500"/>
                                        <p:tgtEl>
                                          <p:spTgt spid="870409"/>
                                        </p:tgtEl>
                                      </p:cBhvr>
                                    </p:animEffect>
                                  </p:childTnLst>
                                </p:cTn>
                              </p:par>
                              <p:par>
                                <p:cTn id="29" presetID="22" presetClass="entr" presetSubtype="4" fill="hold" nodeType="withEffect">
                                  <p:stCondLst>
                                    <p:cond delay="0"/>
                                  </p:stCondLst>
                                  <p:childTnLst>
                                    <p:set>
                                      <p:cBhvr>
                                        <p:cTn id="30" dur="1" fill="hold">
                                          <p:stCondLst>
                                            <p:cond delay="0"/>
                                          </p:stCondLst>
                                        </p:cTn>
                                        <p:tgtEl>
                                          <p:spTgt spid="870414"/>
                                        </p:tgtEl>
                                        <p:attrNameLst>
                                          <p:attrName>style.visibility</p:attrName>
                                        </p:attrNameLst>
                                      </p:cBhvr>
                                      <p:to>
                                        <p:strVal val="visible"/>
                                      </p:to>
                                    </p:set>
                                    <p:animEffect transition="in" filter="wipe(down)">
                                      <p:cBhvr>
                                        <p:cTn id="31" dur="500"/>
                                        <p:tgtEl>
                                          <p:spTgt spid="8704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0416"/>
                                        </p:tgtEl>
                                        <p:attrNameLst>
                                          <p:attrName>style.visibility</p:attrName>
                                        </p:attrNameLst>
                                      </p:cBhvr>
                                      <p:to>
                                        <p:strVal val="visible"/>
                                      </p:to>
                                    </p:set>
                                    <p:animEffect transition="in" filter="fade">
                                      <p:cBhvr>
                                        <p:cTn id="34" dur="500"/>
                                        <p:tgtEl>
                                          <p:spTgt spid="8704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70415"/>
                                        </p:tgtEl>
                                        <p:attrNameLst>
                                          <p:attrName>style.visibility</p:attrName>
                                        </p:attrNameLst>
                                      </p:cBhvr>
                                      <p:to>
                                        <p:strVal val="visible"/>
                                      </p:to>
                                    </p:set>
                                    <p:animEffect transition="in" filter="fade">
                                      <p:cBhvr>
                                        <p:cTn id="37" dur="500"/>
                                        <p:tgtEl>
                                          <p:spTgt spid="870415"/>
                                        </p:tgtEl>
                                      </p:cBhvr>
                                    </p:animEffect>
                                  </p:childTnLst>
                                </p:cTn>
                              </p:par>
                              <p:par>
                                <p:cTn id="38" presetID="10" presetClass="entr" presetSubtype="0" repeatCount="3000" fill="hold" grpId="0" nodeType="withEffect">
                                  <p:stCondLst>
                                    <p:cond delay="0"/>
                                  </p:stCondLst>
                                  <p:childTnLst>
                                    <p:set>
                                      <p:cBhvr>
                                        <p:cTn id="39" dur="1" fill="hold">
                                          <p:stCondLst>
                                            <p:cond delay="0"/>
                                          </p:stCondLst>
                                        </p:cTn>
                                        <p:tgtEl>
                                          <p:spTgt spid="870412"/>
                                        </p:tgtEl>
                                        <p:attrNameLst>
                                          <p:attrName>style.visibility</p:attrName>
                                        </p:attrNameLst>
                                      </p:cBhvr>
                                      <p:to>
                                        <p:strVal val="visible"/>
                                      </p:to>
                                    </p:set>
                                    <p:animEffect transition="in" filter="fade">
                                      <p:cBhvr>
                                        <p:cTn id="40" dur="1000"/>
                                        <p:tgtEl>
                                          <p:spTgt spid="8704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70413"/>
                                        </p:tgtEl>
                                        <p:attrNameLst>
                                          <p:attrName>style.visibility</p:attrName>
                                        </p:attrNameLst>
                                      </p:cBhvr>
                                      <p:to>
                                        <p:strVal val="visible"/>
                                      </p:to>
                                    </p:set>
                                    <p:animEffect transition="in" filter="fade">
                                      <p:cBhvr>
                                        <p:cTn id="43" dur="2000"/>
                                        <p:tgtEl>
                                          <p:spTgt spid="87041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87041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870417">
                                            <p:txEl>
                                              <p:pRg st="0" end="0"/>
                                            </p:txEl>
                                          </p:spTgt>
                                        </p:tgtEl>
                                        <p:attrNameLst>
                                          <p:attrName>ppt_c</p:attrName>
                                        </p:attrNameLst>
                                      </p:cBhvr>
                                      <p:to>
                                        <a:schemeClr val="folHlink"/>
                                      </p:to>
                                    </p:animClr>
                                  </p:sub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87041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870417">
                                            <p:txEl>
                                              <p:pRg st="1" end="1"/>
                                            </p:txEl>
                                          </p:spTgt>
                                        </p:tgtEl>
                                        <p:attrNameLst>
                                          <p:attrName>ppt_c</p:attrName>
                                        </p:attrNameLst>
                                      </p:cBhvr>
                                      <p:to>
                                        <a:schemeClr val="folHlink"/>
                                      </p:to>
                                    </p:animClr>
                                  </p:sub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87041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870417">
                                            <p:txEl>
                                              <p:pRg st="2" end="2"/>
                                            </p:txEl>
                                          </p:spTgt>
                                        </p:tgtEl>
                                        <p:attrNameLst>
                                          <p:attrName>ppt_c</p:attrName>
                                        </p:attrNameLst>
                                      </p:cBhvr>
                                      <p:to>
                                        <a:schemeClr val="folHlink"/>
                                      </p:to>
                                    </p:animClr>
                                  </p:sub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0"/>
                                          </p:stCondLst>
                                        </p:cTn>
                                        <p:tgtEl>
                                          <p:spTgt spid="87041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870417">
                                            <p:txEl>
                                              <p:pRg st="3" end="3"/>
                                            </p:txEl>
                                          </p:spTgt>
                                        </p:tgtEl>
                                        <p:attrNameLst>
                                          <p:attrName>ppt_c</p:attrName>
                                        </p:attrNameLst>
                                      </p:cBhvr>
                                      <p:to>
                                        <a:srgbClr val="B2B2B2"/>
                                      </p:to>
                                    </p:animClr>
                                  </p:sub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nodeType="clickEffect">
                                  <p:stCondLst>
                                    <p:cond delay="0"/>
                                  </p:stCondLst>
                                  <p:childTnLst>
                                    <p:set>
                                      <p:cBhvr>
                                        <p:cTn id="63" dur="1" fill="hold">
                                          <p:stCondLst>
                                            <p:cond delay="0"/>
                                          </p:stCondLst>
                                        </p:cTn>
                                        <p:tgtEl>
                                          <p:spTgt spid="87041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870417">
                                            <p:txEl>
                                              <p:pRg st="4" end="4"/>
                                            </p:txEl>
                                          </p:spTgt>
                                        </p:tgtEl>
                                        <p:attrNameLst>
                                          <p:attrName>ppt_c</p:attrName>
                                        </p:attrNameLst>
                                      </p:cBhvr>
                                      <p:to>
                                        <a:schemeClr val="folHlink"/>
                                      </p:to>
                                    </p:animClr>
                                  </p:sub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nodeType="clickEffect">
                                  <p:stCondLst>
                                    <p:cond delay="0"/>
                                  </p:stCondLst>
                                  <p:childTnLst>
                                    <p:set>
                                      <p:cBhvr>
                                        <p:cTn id="67" dur="1" fill="hold">
                                          <p:stCondLst>
                                            <p:cond delay="0"/>
                                          </p:stCondLst>
                                        </p:cTn>
                                        <p:tgtEl>
                                          <p:spTgt spid="870417">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870417">
                                            <p:txEl>
                                              <p:pRg st="6" end="6"/>
                                            </p:txEl>
                                          </p:spTgt>
                                        </p:tgtEl>
                                        <p:attrNameLst>
                                          <p:attrName>ppt_c</p:attrName>
                                        </p:attrNameLst>
                                      </p:cBhvr>
                                      <p:to>
                                        <a:schemeClr val="folHlink"/>
                                      </p:to>
                                    </p:animClr>
                                  </p:sub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0"/>
                                          </p:stCondLst>
                                        </p:cTn>
                                        <p:tgtEl>
                                          <p:spTgt spid="870417">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870417">
                                            <p:txEl>
                                              <p:pRg st="7" end="7"/>
                                            </p:txEl>
                                          </p:spTgt>
                                        </p:tgtEl>
                                        <p:attrNameLst>
                                          <p:attrName>ppt_c</p:attrName>
                                        </p:attrNameLst>
                                      </p:cBhvr>
                                      <p:to>
                                        <a:schemeClr val="folHlink"/>
                                      </p:to>
                                    </p:animClr>
                                  </p:sub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0"/>
                                          </p:stCondLst>
                                        </p:cTn>
                                        <p:tgtEl>
                                          <p:spTgt spid="870417">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870417">
                                            <p:txEl>
                                              <p:pRg st="8" end="8"/>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05" grpId="0" animBg="1"/>
      <p:bldP spid="870406" grpId="0" animBg="1"/>
      <p:bldP spid="870408" grpId="0"/>
      <p:bldP spid="870409" grpId="0"/>
      <p:bldP spid="870410" grpId="0"/>
      <p:bldP spid="870411" grpId="0" animBg="1"/>
      <p:bldP spid="870412" grpId="0" animBg="1"/>
      <p:bldP spid="870413" grpId="0"/>
      <p:bldP spid="870415" grpId="0"/>
      <p:bldP spid="8704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F2917C2-153F-4196-B118-6FBA83590337}"/>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21507" name="Rectangle 3">
            <a:extLst>
              <a:ext uri="{FF2B5EF4-FFF2-40B4-BE49-F238E27FC236}">
                <a16:creationId xmlns:a16="http://schemas.microsoft.com/office/drawing/2014/main" id="{49167573-28ED-45CB-9FED-1FE591C39CD5}"/>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1428" name="Freeform 4">
            <a:extLst>
              <a:ext uri="{FF2B5EF4-FFF2-40B4-BE49-F238E27FC236}">
                <a16:creationId xmlns:a16="http://schemas.microsoft.com/office/drawing/2014/main" id="{3CEDA242-E283-4289-95E0-510A3A8D7CC5}"/>
              </a:ext>
            </a:extLst>
          </p:cNvPr>
          <p:cNvSpPr>
            <a:spLocks/>
          </p:cNvSpPr>
          <p:nvPr/>
        </p:nvSpPr>
        <p:spPr bwMode="auto">
          <a:xfrm>
            <a:off x="2452688" y="3667125"/>
            <a:ext cx="1911350" cy="2033588"/>
          </a:xfrm>
          <a:custGeom>
            <a:avLst/>
            <a:gdLst>
              <a:gd name="T0" fmla="*/ 0 w 1204"/>
              <a:gd name="T1" fmla="*/ 2147483646 h 1281"/>
              <a:gd name="T2" fmla="*/ 2147483646 w 1204"/>
              <a:gd name="T3" fmla="*/ 2147483646 h 1281"/>
              <a:gd name="T4" fmla="*/ 2147483646 w 1204"/>
              <a:gd name="T5" fmla="*/ 2147483646 h 1281"/>
              <a:gd name="T6" fmla="*/ 2147483646 w 1204"/>
              <a:gd name="T7" fmla="*/ 2147483646 h 1281"/>
              <a:gd name="T8" fmla="*/ 2147483646 w 1204"/>
              <a:gd name="T9" fmla="*/ 2147483646 h 1281"/>
              <a:gd name="T10" fmla="*/ 2147483646 w 1204"/>
              <a:gd name="T11" fmla="*/ 2147483646 h 1281"/>
              <a:gd name="T12" fmla="*/ 2147483646 w 1204"/>
              <a:gd name="T13" fmla="*/ 2147483646 h 1281"/>
              <a:gd name="T14" fmla="*/ 2147483646 w 1204"/>
              <a:gd name="T15" fmla="*/ 2147483646 h 1281"/>
              <a:gd name="T16" fmla="*/ 2147483646 w 1204"/>
              <a:gd name="T17" fmla="*/ 2147483646 h 1281"/>
              <a:gd name="T18" fmla="*/ 2147483646 w 1204"/>
              <a:gd name="T19" fmla="*/ 0 h 12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1281"/>
              <a:gd name="T32" fmla="*/ 1204 w 1204"/>
              <a:gd name="T33" fmla="*/ 1281 h 128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1281">
                <a:moveTo>
                  <a:pt x="0" y="1281"/>
                </a:moveTo>
                <a:cubicBezTo>
                  <a:pt x="21" y="1278"/>
                  <a:pt x="79" y="1280"/>
                  <a:pt x="128" y="1265"/>
                </a:cubicBezTo>
                <a:cubicBezTo>
                  <a:pt x="177" y="1250"/>
                  <a:pt x="244" y="1229"/>
                  <a:pt x="296" y="1193"/>
                </a:cubicBezTo>
                <a:cubicBezTo>
                  <a:pt x="348" y="1157"/>
                  <a:pt x="424" y="1091"/>
                  <a:pt x="440" y="1052"/>
                </a:cubicBezTo>
                <a:cubicBezTo>
                  <a:pt x="456" y="1013"/>
                  <a:pt x="376" y="957"/>
                  <a:pt x="392" y="957"/>
                </a:cubicBezTo>
                <a:cubicBezTo>
                  <a:pt x="408" y="957"/>
                  <a:pt x="527" y="1060"/>
                  <a:pt x="535" y="1052"/>
                </a:cubicBezTo>
                <a:cubicBezTo>
                  <a:pt x="543" y="1044"/>
                  <a:pt x="441" y="931"/>
                  <a:pt x="440" y="909"/>
                </a:cubicBezTo>
                <a:cubicBezTo>
                  <a:pt x="439" y="887"/>
                  <a:pt x="480" y="961"/>
                  <a:pt x="528" y="921"/>
                </a:cubicBezTo>
                <a:cubicBezTo>
                  <a:pt x="576" y="881"/>
                  <a:pt x="613" y="823"/>
                  <a:pt x="726" y="670"/>
                </a:cubicBezTo>
                <a:cubicBezTo>
                  <a:pt x="839" y="517"/>
                  <a:pt x="1124" y="112"/>
                  <a:pt x="1204"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1429" name="AutoShape 5">
            <a:extLst>
              <a:ext uri="{FF2B5EF4-FFF2-40B4-BE49-F238E27FC236}">
                <a16:creationId xmlns:a16="http://schemas.microsoft.com/office/drawing/2014/main" id="{8165F1F7-3395-442F-9B6D-B8FA83E421D3}"/>
              </a:ext>
            </a:extLst>
          </p:cNvPr>
          <p:cNvSpPr>
            <a:spLocks noChangeArrowheads="1"/>
          </p:cNvSpPr>
          <p:nvPr/>
        </p:nvSpPr>
        <p:spPr bwMode="auto">
          <a:xfrm>
            <a:off x="4292601" y="3581400"/>
            <a:ext cx="150813" cy="152400"/>
          </a:xfrm>
          <a:prstGeom prst="octagon">
            <a:avLst>
              <a:gd name="adj" fmla="val 29287"/>
            </a:avLst>
          </a:prstGeom>
          <a:solidFill>
            <a:srgbClr val="008E00"/>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1430" name="Text Box 6">
            <a:extLst>
              <a:ext uri="{FF2B5EF4-FFF2-40B4-BE49-F238E27FC236}">
                <a16:creationId xmlns:a16="http://schemas.microsoft.com/office/drawing/2014/main" id="{00BDC590-EE7A-469C-B1E3-D1D744A5F3DA}"/>
              </a:ext>
            </a:extLst>
          </p:cNvPr>
          <p:cNvSpPr txBox="1">
            <a:spLocks noChangeArrowheads="1"/>
          </p:cNvSpPr>
          <p:nvPr/>
        </p:nvSpPr>
        <p:spPr bwMode="auto">
          <a:xfrm>
            <a:off x="2832100" y="342900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Go-go</a:t>
            </a:r>
          </a:p>
        </p:txBody>
      </p:sp>
      <p:sp>
        <p:nvSpPr>
          <p:cNvPr id="871431" name="Text Box 7">
            <a:extLst>
              <a:ext uri="{FF2B5EF4-FFF2-40B4-BE49-F238E27FC236}">
                <a16:creationId xmlns:a16="http://schemas.microsoft.com/office/drawing/2014/main" id="{9A1A1DBD-9820-4C99-9481-41AFDC043769}"/>
              </a:ext>
            </a:extLst>
          </p:cNvPr>
          <p:cNvSpPr txBox="1">
            <a:spLocks noChangeArrowheads="1"/>
          </p:cNvSpPr>
          <p:nvPr/>
        </p:nvSpPr>
        <p:spPr bwMode="auto">
          <a:xfrm>
            <a:off x="6229350" y="3213100"/>
            <a:ext cx="4116388" cy="149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8E00"/>
              </a:buClr>
              <a:buFont typeface="Wingdings" panose="05000000000000000000" pitchFamily="2" charset="2"/>
              <a:buChar char="§"/>
            </a:pPr>
            <a:r>
              <a:rPr lang="en-US" altLang="en-US" sz="2400">
                <a:latin typeface="Tahoma" panose="020B0604030504040204" pitchFamily="34" charset="0"/>
              </a:rPr>
              <a:t> Getting sued </a:t>
            </a:r>
          </a:p>
          <a:p>
            <a:pPr>
              <a:spcBef>
                <a:spcPct val="20000"/>
              </a:spcBef>
              <a:spcAft>
                <a:spcPct val="20000"/>
              </a:spcAft>
              <a:buClr>
                <a:srgbClr val="008E00"/>
              </a:buClr>
              <a:buFont typeface="Wingdings" panose="05000000000000000000" pitchFamily="2" charset="2"/>
              <a:buChar char="§"/>
            </a:pPr>
            <a:r>
              <a:rPr lang="en-US" altLang="en-US" sz="2400">
                <a:latin typeface="Tahoma" panose="020B0604030504040204" pitchFamily="34" charset="0"/>
              </a:rPr>
              <a:t> Lose their shirts</a:t>
            </a:r>
          </a:p>
          <a:p>
            <a:pPr>
              <a:spcBef>
                <a:spcPct val="20000"/>
              </a:spcBef>
              <a:spcAft>
                <a:spcPct val="20000"/>
              </a:spcAft>
              <a:buClr>
                <a:srgbClr val="008E00"/>
              </a:buClr>
              <a:buFont typeface="Wingdings" panose="05000000000000000000" pitchFamily="2" charset="2"/>
              <a:buChar char="§"/>
            </a:pPr>
            <a:r>
              <a:rPr lang="en-US" altLang="en-US" sz="2400">
                <a:latin typeface="Tahoma" panose="020B0604030504040204" pitchFamily="34" charset="0"/>
              </a:rPr>
              <a:t> Bad investments</a:t>
            </a:r>
          </a:p>
        </p:txBody>
      </p:sp>
      <p:sp>
        <p:nvSpPr>
          <p:cNvPr id="871432" name="Text Box 8">
            <a:extLst>
              <a:ext uri="{FF2B5EF4-FFF2-40B4-BE49-F238E27FC236}">
                <a16:creationId xmlns:a16="http://schemas.microsoft.com/office/drawing/2014/main" id="{5400742D-3323-417C-BBAD-90FD27150F36}"/>
              </a:ext>
            </a:extLst>
          </p:cNvPr>
          <p:cNvSpPr txBox="1">
            <a:spLocks noChangeArrowheads="1"/>
          </p:cNvSpPr>
          <p:nvPr/>
        </p:nvSpPr>
        <p:spPr bwMode="auto">
          <a:xfrm>
            <a:off x="2528888" y="1454150"/>
            <a:ext cx="6831012" cy="1066800"/>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3200">
                <a:effectLst>
                  <a:outerShdw blurRad="38100" dist="38100" dir="2700000" algn="tl">
                    <a:srgbClr val="C0C0C0"/>
                  </a:outerShdw>
                </a:effectLst>
                <a:latin typeface="Tahoma" pitchFamily="-111" charset="0"/>
                <a:ea typeface="ＭＳ Ｐゴシック" pitchFamily="-111" charset="-128"/>
              </a:rPr>
              <a:t>Crisis prompts the transition to the next stage on the lifecycle</a:t>
            </a:r>
          </a:p>
        </p:txBody>
      </p:sp>
      <p:sp>
        <p:nvSpPr>
          <p:cNvPr id="871433" name="AutoShape 9">
            <a:extLst>
              <a:ext uri="{FF2B5EF4-FFF2-40B4-BE49-F238E27FC236}">
                <a16:creationId xmlns:a16="http://schemas.microsoft.com/office/drawing/2014/main" id="{63102D5C-A88D-460F-BCE3-1EBF4C1A8170}"/>
              </a:ext>
            </a:extLst>
          </p:cNvPr>
          <p:cNvSpPr>
            <a:spLocks noChangeArrowheads="1"/>
          </p:cNvSpPr>
          <p:nvPr/>
        </p:nvSpPr>
        <p:spPr bwMode="auto">
          <a:xfrm>
            <a:off x="2832101" y="5478463"/>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1434" name="Freeform 10">
            <a:extLst>
              <a:ext uri="{FF2B5EF4-FFF2-40B4-BE49-F238E27FC236}">
                <a16:creationId xmlns:a16="http://schemas.microsoft.com/office/drawing/2014/main" id="{F1713A11-6D04-491C-8713-C64388A58FF6}"/>
              </a:ext>
            </a:extLst>
          </p:cNvPr>
          <p:cNvSpPr>
            <a:spLocks/>
          </p:cNvSpPr>
          <p:nvPr/>
        </p:nvSpPr>
        <p:spPr bwMode="auto">
          <a:xfrm>
            <a:off x="3079751" y="522287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1435" name="Oval 11">
            <a:extLst>
              <a:ext uri="{FF2B5EF4-FFF2-40B4-BE49-F238E27FC236}">
                <a16:creationId xmlns:a16="http://schemas.microsoft.com/office/drawing/2014/main" id="{D6052FA0-BC62-4ECE-BB05-ECBC6DC71ED2}"/>
              </a:ext>
            </a:extLst>
          </p:cNvPr>
          <p:cNvSpPr>
            <a:spLocks noChangeArrowheads="1"/>
          </p:cNvSpPr>
          <p:nvPr/>
        </p:nvSpPr>
        <p:spPr bwMode="auto">
          <a:xfrm>
            <a:off x="3762376" y="5392739"/>
            <a:ext cx="136525" cy="136525"/>
          </a:xfrm>
          <a:prstGeom prst="ellipse">
            <a:avLst/>
          </a:prstGeom>
          <a:solidFill>
            <a:srgbClr val="FF0033">
              <a:alpha val="39999"/>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1436" name="AutoShape 12">
            <a:extLst>
              <a:ext uri="{FF2B5EF4-FFF2-40B4-BE49-F238E27FC236}">
                <a16:creationId xmlns:a16="http://schemas.microsoft.com/office/drawing/2014/main" id="{179F6215-CCC2-476E-BFCC-DB3EE20AE9CA}"/>
              </a:ext>
            </a:extLst>
          </p:cNvPr>
          <p:cNvSpPr>
            <a:spLocks noChangeArrowheads="1"/>
          </p:cNvSpPr>
          <p:nvPr/>
        </p:nvSpPr>
        <p:spPr bwMode="auto">
          <a:xfrm>
            <a:off x="3590926" y="4567238"/>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1437" name="Text Box 13">
            <a:extLst>
              <a:ext uri="{FF2B5EF4-FFF2-40B4-BE49-F238E27FC236}">
                <a16:creationId xmlns:a16="http://schemas.microsoft.com/office/drawing/2014/main" id="{D7844DAD-841F-4F4A-8716-F4F6194EEFC7}"/>
              </a:ext>
            </a:extLst>
          </p:cNvPr>
          <p:cNvSpPr txBox="1">
            <a:spLocks noChangeArrowheads="1"/>
          </p:cNvSpPr>
          <p:nvPr/>
        </p:nvSpPr>
        <p:spPr bwMode="auto">
          <a:xfrm>
            <a:off x="1693863" y="502285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Courtship</a:t>
            </a:r>
          </a:p>
        </p:txBody>
      </p:sp>
      <p:sp>
        <p:nvSpPr>
          <p:cNvPr id="871438" name="Text Box 14">
            <a:extLst>
              <a:ext uri="{FF2B5EF4-FFF2-40B4-BE49-F238E27FC236}">
                <a16:creationId xmlns:a16="http://schemas.microsoft.com/office/drawing/2014/main" id="{705414E2-F01D-493A-8A4D-2FB9B35A5861}"/>
              </a:ext>
            </a:extLst>
          </p:cNvPr>
          <p:cNvSpPr txBox="1">
            <a:spLocks noChangeArrowheads="1"/>
          </p:cNvSpPr>
          <p:nvPr/>
        </p:nvSpPr>
        <p:spPr bwMode="auto">
          <a:xfrm>
            <a:off x="2225675" y="4429126"/>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Infancy</a:t>
            </a:r>
          </a:p>
        </p:txBody>
      </p:sp>
      <p:sp>
        <p:nvSpPr>
          <p:cNvPr id="871439" name="Freeform 15">
            <a:extLst>
              <a:ext uri="{FF2B5EF4-FFF2-40B4-BE49-F238E27FC236}">
                <a16:creationId xmlns:a16="http://schemas.microsoft.com/office/drawing/2014/main" id="{9FA39D60-D625-4C58-B140-8945AFF3B83C}"/>
              </a:ext>
            </a:extLst>
          </p:cNvPr>
          <p:cNvSpPr>
            <a:spLocks/>
          </p:cNvSpPr>
          <p:nvPr/>
        </p:nvSpPr>
        <p:spPr bwMode="auto">
          <a:xfrm>
            <a:off x="3990976" y="403542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1440" name="Oval 16">
            <a:extLst>
              <a:ext uri="{FF2B5EF4-FFF2-40B4-BE49-F238E27FC236}">
                <a16:creationId xmlns:a16="http://schemas.microsoft.com/office/drawing/2014/main" id="{D02D2319-A62E-4891-BA34-00BBE7288D5E}"/>
              </a:ext>
            </a:extLst>
          </p:cNvPr>
          <p:cNvSpPr>
            <a:spLocks noChangeArrowheads="1"/>
          </p:cNvSpPr>
          <p:nvPr/>
        </p:nvSpPr>
        <p:spPr bwMode="auto">
          <a:xfrm>
            <a:off x="4670426" y="4203701"/>
            <a:ext cx="136525" cy="136525"/>
          </a:xfrm>
          <a:prstGeom prst="ellipse">
            <a:avLst/>
          </a:prstGeom>
          <a:solidFill>
            <a:srgbClr val="FF0033">
              <a:alpha val="50195"/>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871428"/>
                                        </p:tgtEl>
                                        <p:attrNameLst>
                                          <p:attrName>style.visibility</p:attrName>
                                        </p:attrNameLst>
                                      </p:cBhvr>
                                      <p:to>
                                        <p:strVal val="visible"/>
                                      </p:to>
                                    </p:set>
                                    <p:animEffect transition="in" filter="wipe(down)">
                                      <p:cBhvr>
                                        <p:cTn id="7" dur="500"/>
                                        <p:tgtEl>
                                          <p:spTgt spid="8714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71430"/>
                                        </p:tgtEl>
                                        <p:attrNameLst>
                                          <p:attrName>style.visibility</p:attrName>
                                        </p:attrNameLst>
                                      </p:cBhvr>
                                      <p:to>
                                        <p:strVal val="visible"/>
                                      </p:to>
                                    </p:set>
                                    <p:animEffect transition="in" filter="fade">
                                      <p:cBhvr>
                                        <p:cTn id="10" dur="500"/>
                                        <p:tgtEl>
                                          <p:spTgt spid="8714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71429"/>
                                        </p:tgtEl>
                                        <p:attrNameLst>
                                          <p:attrName>style.visibility</p:attrName>
                                        </p:attrNameLst>
                                      </p:cBhvr>
                                      <p:to>
                                        <p:strVal val="visible"/>
                                      </p:to>
                                    </p:set>
                                    <p:animEffect transition="in" filter="fade">
                                      <p:cBhvr>
                                        <p:cTn id="13" dur="500"/>
                                        <p:tgtEl>
                                          <p:spTgt spid="8714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71433"/>
                                        </p:tgtEl>
                                        <p:attrNameLst>
                                          <p:attrName>style.visibility</p:attrName>
                                        </p:attrNameLst>
                                      </p:cBhvr>
                                      <p:to>
                                        <p:strVal val="visible"/>
                                      </p:to>
                                    </p:set>
                                    <p:animEffect transition="in" filter="fade">
                                      <p:cBhvr>
                                        <p:cTn id="16" dur="500"/>
                                        <p:tgtEl>
                                          <p:spTgt spid="871433"/>
                                        </p:tgtEl>
                                      </p:cBhvr>
                                    </p:animEffect>
                                  </p:childTnLst>
                                </p:cTn>
                              </p:par>
                              <p:par>
                                <p:cTn id="17" presetID="22" presetClass="entr" presetSubtype="4" fill="hold" nodeType="withEffect">
                                  <p:stCondLst>
                                    <p:cond delay="0"/>
                                  </p:stCondLst>
                                  <p:childTnLst>
                                    <p:set>
                                      <p:cBhvr>
                                        <p:cTn id="18" dur="1" fill="hold">
                                          <p:stCondLst>
                                            <p:cond delay="0"/>
                                          </p:stCondLst>
                                        </p:cTn>
                                        <p:tgtEl>
                                          <p:spTgt spid="871434"/>
                                        </p:tgtEl>
                                        <p:attrNameLst>
                                          <p:attrName>style.visibility</p:attrName>
                                        </p:attrNameLst>
                                      </p:cBhvr>
                                      <p:to>
                                        <p:strVal val="visible"/>
                                      </p:to>
                                    </p:set>
                                    <p:animEffect transition="in" filter="wipe(down)">
                                      <p:cBhvr>
                                        <p:cTn id="19" dur="500"/>
                                        <p:tgtEl>
                                          <p:spTgt spid="87143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71435"/>
                                        </p:tgtEl>
                                        <p:attrNameLst>
                                          <p:attrName>style.visibility</p:attrName>
                                        </p:attrNameLst>
                                      </p:cBhvr>
                                      <p:to>
                                        <p:strVal val="visible"/>
                                      </p:to>
                                    </p:set>
                                    <p:animEffect transition="in" filter="fade">
                                      <p:cBhvr>
                                        <p:cTn id="22" dur="500"/>
                                        <p:tgtEl>
                                          <p:spTgt spid="87143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71437"/>
                                        </p:tgtEl>
                                        <p:attrNameLst>
                                          <p:attrName>style.visibility</p:attrName>
                                        </p:attrNameLst>
                                      </p:cBhvr>
                                      <p:to>
                                        <p:strVal val="visible"/>
                                      </p:to>
                                    </p:set>
                                    <p:animEffect transition="in" filter="fade">
                                      <p:cBhvr>
                                        <p:cTn id="25" dur="500"/>
                                        <p:tgtEl>
                                          <p:spTgt spid="87143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71436"/>
                                        </p:tgtEl>
                                        <p:attrNameLst>
                                          <p:attrName>style.visibility</p:attrName>
                                        </p:attrNameLst>
                                      </p:cBhvr>
                                      <p:to>
                                        <p:strVal val="visible"/>
                                      </p:to>
                                    </p:set>
                                    <p:animEffect transition="in" filter="fade">
                                      <p:cBhvr>
                                        <p:cTn id="28" dur="500"/>
                                        <p:tgtEl>
                                          <p:spTgt spid="8714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71438"/>
                                        </p:tgtEl>
                                        <p:attrNameLst>
                                          <p:attrName>style.visibility</p:attrName>
                                        </p:attrNameLst>
                                      </p:cBhvr>
                                      <p:to>
                                        <p:strVal val="visible"/>
                                      </p:to>
                                    </p:set>
                                    <p:animEffect transition="in" filter="fade">
                                      <p:cBhvr>
                                        <p:cTn id="31" dur="500"/>
                                        <p:tgtEl>
                                          <p:spTgt spid="871438"/>
                                        </p:tgtEl>
                                      </p:cBhvr>
                                    </p:animEffect>
                                  </p:childTnLst>
                                </p:cTn>
                              </p:par>
                              <p:par>
                                <p:cTn id="32" presetID="22" presetClass="entr" presetSubtype="4" fill="hold" nodeType="withEffect">
                                  <p:stCondLst>
                                    <p:cond delay="0"/>
                                  </p:stCondLst>
                                  <p:childTnLst>
                                    <p:set>
                                      <p:cBhvr>
                                        <p:cTn id="33" dur="1" fill="hold">
                                          <p:stCondLst>
                                            <p:cond delay="0"/>
                                          </p:stCondLst>
                                        </p:cTn>
                                        <p:tgtEl>
                                          <p:spTgt spid="871439"/>
                                        </p:tgtEl>
                                        <p:attrNameLst>
                                          <p:attrName>style.visibility</p:attrName>
                                        </p:attrNameLst>
                                      </p:cBhvr>
                                      <p:to>
                                        <p:strVal val="visible"/>
                                      </p:to>
                                    </p:set>
                                    <p:animEffect transition="in" filter="wipe(down)">
                                      <p:cBhvr>
                                        <p:cTn id="34" dur="500"/>
                                        <p:tgtEl>
                                          <p:spTgt spid="8714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71440"/>
                                        </p:tgtEl>
                                        <p:attrNameLst>
                                          <p:attrName>style.visibility</p:attrName>
                                        </p:attrNameLst>
                                      </p:cBhvr>
                                      <p:to>
                                        <p:strVal val="visible"/>
                                      </p:to>
                                    </p:set>
                                    <p:animEffect transition="in" filter="fade">
                                      <p:cBhvr>
                                        <p:cTn id="37" dur="500"/>
                                        <p:tgtEl>
                                          <p:spTgt spid="87144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87143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871431">
                                            <p:txEl>
                                              <p:pRg st="0" end="0"/>
                                            </p:txEl>
                                          </p:spTgt>
                                        </p:tgtEl>
                                        <p:attrNameLst>
                                          <p:attrName>ppt_c</p:attrName>
                                        </p:attrNameLst>
                                      </p:cBhvr>
                                      <p:to>
                                        <a:schemeClr val="folHlink"/>
                                      </p:to>
                                    </p:animClr>
                                  </p:sub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87143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871431">
                                            <p:txEl>
                                              <p:pRg st="1" end="1"/>
                                            </p:txEl>
                                          </p:spTgt>
                                        </p:tgtEl>
                                        <p:attrNameLst>
                                          <p:attrName>ppt_c</p:attrName>
                                        </p:attrNameLst>
                                      </p:cBhvr>
                                      <p:to>
                                        <a:schemeClr val="folHlink"/>
                                      </p:to>
                                    </p:animClr>
                                  </p:sub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0"/>
                                          </p:stCondLst>
                                        </p:cTn>
                                        <p:tgtEl>
                                          <p:spTgt spid="87143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871431">
                                            <p:txEl>
                                              <p:pRg st="2" end="2"/>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1429" grpId="0" animBg="1"/>
      <p:bldP spid="871430" grpId="0"/>
      <p:bldP spid="871433" grpId="0" animBg="1"/>
      <p:bldP spid="871435" grpId="0" animBg="1"/>
      <p:bldP spid="871436" grpId="0" animBg="1"/>
      <p:bldP spid="871437" grpId="0"/>
      <p:bldP spid="871438" grpId="0"/>
      <p:bldP spid="87144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85321942-A8D0-4AA4-AF73-14C7D6D11521}"/>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23555" name="Rectangle 3">
            <a:extLst>
              <a:ext uri="{FF2B5EF4-FFF2-40B4-BE49-F238E27FC236}">
                <a16:creationId xmlns:a16="http://schemas.microsoft.com/office/drawing/2014/main" id="{047F1BD2-22F6-4C47-801E-D8A6B121E5DD}"/>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2452" name="Freeform 4">
            <a:extLst>
              <a:ext uri="{FF2B5EF4-FFF2-40B4-BE49-F238E27FC236}">
                <a16:creationId xmlns:a16="http://schemas.microsoft.com/office/drawing/2014/main" id="{1DD0DB30-9E97-43C1-9A04-34E063A23393}"/>
              </a:ext>
            </a:extLst>
          </p:cNvPr>
          <p:cNvSpPr>
            <a:spLocks/>
          </p:cNvSpPr>
          <p:nvPr/>
        </p:nvSpPr>
        <p:spPr bwMode="auto">
          <a:xfrm>
            <a:off x="2452688" y="2286001"/>
            <a:ext cx="2957512" cy="3414713"/>
          </a:xfrm>
          <a:custGeom>
            <a:avLst/>
            <a:gdLst>
              <a:gd name="T0" fmla="*/ 0 w 1863"/>
              <a:gd name="T1" fmla="*/ 2147483646 h 2151"/>
              <a:gd name="T2" fmla="*/ 2147483646 w 1863"/>
              <a:gd name="T3" fmla="*/ 2147483646 h 2151"/>
              <a:gd name="T4" fmla="*/ 2147483646 w 1863"/>
              <a:gd name="T5" fmla="*/ 2147483646 h 2151"/>
              <a:gd name="T6" fmla="*/ 2147483646 w 1863"/>
              <a:gd name="T7" fmla="*/ 2147483646 h 2151"/>
              <a:gd name="T8" fmla="*/ 2147483646 w 1863"/>
              <a:gd name="T9" fmla="*/ 2147483646 h 2151"/>
              <a:gd name="T10" fmla="*/ 2147483646 w 1863"/>
              <a:gd name="T11" fmla="*/ 2147483646 h 2151"/>
              <a:gd name="T12" fmla="*/ 2147483646 w 1863"/>
              <a:gd name="T13" fmla="*/ 2147483646 h 2151"/>
              <a:gd name="T14" fmla="*/ 2147483646 w 1863"/>
              <a:gd name="T15" fmla="*/ 2147483646 h 2151"/>
              <a:gd name="T16" fmla="*/ 2147483646 w 1863"/>
              <a:gd name="T17" fmla="*/ 2147483646 h 2151"/>
              <a:gd name="T18" fmla="*/ 2147483646 w 1863"/>
              <a:gd name="T19" fmla="*/ 2147483646 h 2151"/>
              <a:gd name="T20" fmla="*/ 2147483646 w 1863"/>
              <a:gd name="T21" fmla="*/ 2147483646 h 2151"/>
              <a:gd name="T22" fmla="*/ 2147483646 w 1863"/>
              <a:gd name="T23" fmla="*/ 2147483646 h 2151"/>
              <a:gd name="T24" fmla="*/ 2147483646 w 1863"/>
              <a:gd name="T25" fmla="*/ 2147483646 h 2151"/>
              <a:gd name="T26" fmla="*/ 2147483646 w 1863"/>
              <a:gd name="T27" fmla="*/ 2147483646 h 2151"/>
              <a:gd name="T28" fmla="*/ 2147483646 w 1863"/>
              <a:gd name="T29" fmla="*/ 2147483646 h 2151"/>
              <a:gd name="T30" fmla="*/ 2147483646 w 1863"/>
              <a:gd name="T31" fmla="*/ 2147483646 h 2151"/>
              <a:gd name="T32" fmla="*/ 2147483646 w 1863"/>
              <a:gd name="T33" fmla="*/ 2147483646 h 2151"/>
              <a:gd name="T34" fmla="*/ 2147483646 w 1863"/>
              <a:gd name="T35" fmla="*/ 2147483646 h 2151"/>
              <a:gd name="T36" fmla="*/ 2147483646 w 1863"/>
              <a:gd name="T37" fmla="*/ 2147483646 h 2151"/>
              <a:gd name="T38" fmla="*/ 2147483646 w 1863"/>
              <a:gd name="T39" fmla="*/ 2147483646 h 2151"/>
              <a:gd name="T40" fmla="*/ 2147483646 w 1863"/>
              <a:gd name="T41" fmla="*/ 2147483646 h 2151"/>
              <a:gd name="T42" fmla="*/ 2147483646 w 1863"/>
              <a:gd name="T43" fmla="*/ 2147483646 h 2151"/>
              <a:gd name="T44" fmla="*/ 2147483646 w 1863"/>
              <a:gd name="T45" fmla="*/ 2147483646 h 2151"/>
              <a:gd name="T46" fmla="*/ 2147483646 w 1863"/>
              <a:gd name="T47" fmla="*/ 2147483646 h 2151"/>
              <a:gd name="T48" fmla="*/ 2147483646 w 1863"/>
              <a:gd name="T49" fmla="*/ 2147483646 h 2151"/>
              <a:gd name="T50" fmla="*/ 2147483646 w 1863"/>
              <a:gd name="T51" fmla="*/ 0 h 215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863"/>
              <a:gd name="T79" fmla="*/ 0 h 2151"/>
              <a:gd name="T80" fmla="*/ 1863 w 1863"/>
              <a:gd name="T81" fmla="*/ 2151 h 215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863" h="2151">
                <a:moveTo>
                  <a:pt x="0" y="2151"/>
                </a:moveTo>
                <a:cubicBezTo>
                  <a:pt x="21" y="2148"/>
                  <a:pt x="79" y="2150"/>
                  <a:pt x="128" y="2135"/>
                </a:cubicBezTo>
                <a:cubicBezTo>
                  <a:pt x="177" y="2120"/>
                  <a:pt x="244" y="2099"/>
                  <a:pt x="296" y="2063"/>
                </a:cubicBezTo>
                <a:cubicBezTo>
                  <a:pt x="348" y="2027"/>
                  <a:pt x="424" y="1961"/>
                  <a:pt x="440" y="1922"/>
                </a:cubicBezTo>
                <a:cubicBezTo>
                  <a:pt x="456" y="1883"/>
                  <a:pt x="376" y="1827"/>
                  <a:pt x="392" y="1827"/>
                </a:cubicBezTo>
                <a:cubicBezTo>
                  <a:pt x="408" y="1827"/>
                  <a:pt x="527" y="1930"/>
                  <a:pt x="535" y="1922"/>
                </a:cubicBezTo>
                <a:cubicBezTo>
                  <a:pt x="543" y="1914"/>
                  <a:pt x="441" y="1801"/>
                  <a:pt x="440" y="1779"/>
                </a:cubicBezTo>
                <a:cubicBezTo>
                  <a:pt x="439" y="1757"/>
                  <a:pt x="480" y="1831"/>
                  <a:pt x="528" y="1791"/>
                </a:cubicBezTo>
                <a:cubicBezTo>
                  <a:pt x="576" y="1751"/>
                  <a:pt x="613" y="1693"/>
                  <a:pt x="726" y="1540"/>
                </a:cubicBezTo>
                <a:cubicBezTo>
                  <a:pt x="839" y="1387"/>
                  <a:pt x="1100" y="1013"/>
                  <a:pt x="1204" y="870"/>
                </a:cubicBezTo>
                <a:cubicBezTo>
                  <a:pt x="1308" y="727"/>
                  <a:pt x="1332" y="727"/>
                  <a:pt x="1348" y="679"/>
                </a:cubicBezTo>
                <a:cubicBezTo>
                  <a:pt x="1364" y="631"/>
                  <a:pt x="1285" y="587"/>
                  <a:pt x="1300" y="584"/>
                </a:cubicBezTo>
                <a:cubicBezTo>
                  <a:pt x="1315" y="581"/>
                  <a:pt x="1428" y="667"/>
                  <a:pt x="1436" y="659"/>
                </a:cubicBezTo>
                <a:cubicBezTo>
                  <a:pt x="1444" y="651"/>
                  <a:pt x="1342" y="543"/>
                  <a:pt x="1348" y="536"/>
                </a:cubicBezTo>
                <a:cubicBezTo>
                  <a:pt x="1354" y="529"/>
                  <a:pt x="1464" y="623"/>
                  <a:pt x="1472" y="615"/>
                </a:cubicBezTo>
                <a:cubicBezTo>
                  <a:pt x="1480" y="607"/>
                  <a:pt x="1388" y="497"/>
                  <a:pt x="1396" y="488"/>
                </a:cubicBezTo>
                <a:cubicBezTo>
                  <a:pt x="1404" y="479"/>
                  <a:pt x="1513" y="572"/>
                  <a:pt x="1520" y="563"/>
                </a:cubicBezTo>
                <a:cubicBezTo>
                  <a:pt x="1527" y="554"/>
                  <a:pt x="1433" y="440"/>
                  <a:pt x="1440" y="431"/>
                </a:cubicBezTo>
                <a:cubicBezTo>
                  <a:pt x="1447" y="422"/>
                  <a:pt x="1555" y="519"/>
                  <a:pt x="1560" y="511"/>
                </a:cubicBezTo>
                <a:cubicBezTo>
                  <a:pt x="1565" y="503"/>
                  <a:pt x="1463" y="391"/>
                  <a:pt x="1472" y="383"/>
                </a:cubicBezTo>
                <a:cubicBezTo>
                  <a:pt x="1481" y="375"/>
                  <a:pt x="1607" y="472"/>
                  <a:pt x="1616" y="463"/>
                </a:cubicBezTo>
                <a:cubicBezTo>
                  <a:pt x="1625" y="454"/>
                  <a:pt x="1521" y="337"/>
                  <a:pt x="1528" y="327"/>
                </a:cubicBezTo>
                <a:cubicBezTo>
                  <a:pt x="1535" y="317"/>
                  <a:pt x="1648" y="411"/>
                  <a:pt x="1656" y="403"/>
                </a:cubicBezTo>
                <a:cubicBezTo>
                  <a:pt x="1664" y="395"/>
                  <a:pt x="1574" y="299"/>
                  <a:pt x="1576" y="279"/>
                </a:cubicBezTo>
                <a:cubicBezTo>
                  <a:pt x="1578" y="259"/>
                  <a:pt x="1619" y="326"/>
                  <a:pt x="1667" y="280"/>
                </a:cubicBezTo>
                <a:cubicBezTo>
                  <a:pt x="1715" y="234"/>
                  <a:pt x="1822" y="58"/>
                  <a:pt x="1863"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2453" name="AutoShape 5">
            <a:extLst>
              <a:ext uri="{FF2B5EF4-FFF2-40B4-BE49-F238E27FC236}">
                <a16:creationId xmlns:a16="http://schemas.microsoft.com/office/drawing/2014/main" id="{B823423E-A418-424C-8BC0-0C18B22FA168}"/>
              </a:ext>
            </a:extLst>
          </p:cNvPr>
          <p:cNvSpPr>
            <a:spLocks noChangeArrowheads="1"/>
          </p:cNvSpPr>
          <p:nvPr/>
        </p:nvSpPr>
        <p:spPr bwMode="auto">
          <a:xfrm>
            <a:off x="4292601" y="3581400"/>
            <a:ext cx="150813" cy="152400"/>
          </a:xfrm>
          <a:prstGeom prst="octagon">
            <a:avLst>
              <a:gd name="adj" fmla="val 29287"/>
            </a:avLst>
          </a:prstGeom>
          <a:solidFill>
            <a:srgbClr val="008E00"/>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2454" name="Text Box 6">
            <a:extLst>
              <a:ext uri="{FF2B5EF4-FFF2-40B4-BE49-F238E27FC236}">
                <a16:creationId xmlns:a16="http://schemas.microsoft.com/office/drawing/2014/main" id="{DC9CA00D-FB47-4D70-B011-A8076F5BBC65}"/>
              </a:ext>
            </a:extLst>
          </p:cNvPr>
          <p:cNvSpPr txBox="1">
            <a:spLocks noChangeArrowheads="1"/>
          </p:cNvSpPr>
          <p:nvPr/>
        </p:nvSpPr>
        <p:spPr bwMode="auto">
          <a:xfrm>
            <a:off x="2832100" y="342900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Go-go</a:t>
            </a:r>
          </a:p>
        </p:txBody>
      </p:sp>
      <p:sp>
        <p:nvSpPr>
          <p:cNvPr id="872455" name="Text Box 7">
            <a:extLst>
              <a:ext uri="{FF2B5EF4-FFF2-40B4-BE49-F238E27FC236}">
                <a16:creationId xmlns:a16="http://schemas.microsoft.com/office/drawing/2014/main" id="{FD4F0B60-F78B-40A1-9A8D-7051A3EB4ADD}"/>
              </a:ext>
            </a:extLst>
          </p:cNvPr>
          <p:cNvSpPr txBox="1">
            <a:spLocks noChangeArrowheads="1"/>
          </p:cNvSpPr>
          <p:nvPr/>
        </p:nvSpPr>
        <p:spPr bwMode="auto">
          <a:xfrm>
            <a:off x="5413376" y="3049589"/>
            <a:ext cx="5084763"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Priorities</a:t>
            </a:r>
          </a:p>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Systems &amp; Accounting/Accountability</a:t>
            </a:r>
          </a:p>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Order</a:t>
            </a:r>
          </a:p>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Professional Management</a:t>
            </a:r>
          </a:p>
          <a:p>
            <a:pPr>
              <a:spcBef>
                <a:spcPct val="20000"/>
              </a:spcBef>
              <a:spcAft>
                <a:spcPct val="20000"/>
              </a:spcAft>
              <a:buClr>
                <a:srgbClr val="009900"/>
              </a:buClr>
              <a:buFont typeface="Wingdings" panose="05000000000000000000" pitchFamily="2" charset="2"/>
              <a:buNone/>
            </a:pPr>
            <a:endParaRPr lang="en-US" altLang="en-US">
              <a:latin typeface="Tahoma" panose="020B0604030504040204" pitchFamily="34" charset="0"/>
            </a:endParaRPr>
          </a:p>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SECOND BIRTH</a:t>
            </a:r>
          </a:p>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Love Hate Relationship</a:t>
            </a:r>
          </a:p>
        </p:txBody>
      </p:sp>
      <p:sp>
        <p:nvSpPr>
          <p:cNvPr id="872456" name="Text Box 8">
            <a:extLst>
              <a:ext uri="{FF2B5EF4-FFF2-40B4-BE49-F238E27FC236}">
                <a16:creationId xmlns:a16="http://schemas.microsoft.com/office/drawing/2014/main" id="{18051A6F-904D-451F-9728-4FEE6FAFB12F}"/>
              </a:ext>
            </a:extLst>
          </p:cNvPr>
          <p:cNvSpPr txBox="1">
            <a:spLocks noChangeArrowheads="1"/>
          </p:cNvSpPr>
          <p:nvPr/>
        </p:nvSpPr>
        <p:spPr bwMode="auto">
          <a:xfrm>
            <a:off x="6096001" y="1331914"/>
            <a:ext cx="4098925" cy="1015663"/>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2400">
                <a:solidFill>
                  <a:srgbClr val="FF0033"/>
                </a:solidFill>
                <a:effectLst>
                  <a:outerShdw blurRad="38100" dist="38100" dir="2700000" algn="tl">
                    <a:srgbClr val="C0C0C0"/>
                  </a:outerShdw>
                </a:effectLst>
                <a:latin typeface="Tahoma" pitchFamily="-111" charset="0"/>
                <a:ea typeface="ＭＳ Ｐゴシック" pitchFamily="-111" charset="-128"/>
              </a:rPr>
              <a:t>Needs: </a:t>
            </a:r>
          </a:p>
          <a:p>
            <a:pPr>
              <a:spcBef>
                <a:spcPct val="50000"/>
              </a:spcBef>
              <a:defRPr/>
            </a:pPr>
            <a:r>
              <a:rPr lang="en-US" sz="2400">
                <a:effectLst>
                  <a:outerShdw blurRad="38100" dist="38100" dir="2700000" algn="tl">
                    <a:srgbClr val="C0C0C0"/>
                  </a:outerShdw>
                </a:effectLst>
                <a:latin typeface="Tahoma" pitchFamily="-111" charset="0"/>
                <a:ea typeface="ＭＳ Ｐゴシック" pitchFamily="-111" charset="-128"/>
              </a:rPr>
              <a:t>Transition</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872452"/>
                                        </p:tgtEl>
                                        <p:attrNameLst>
                                          <p:attrName>style.visibility</p:attrName>
                                        </p:attrNameLst>
                                      </p:cBhvr>
                                      <p:to>
                                        <p:strVal val="visible"/>
                                      </p:to>
                                    </p:set>
                                    <p:animEffect transition="in" filter="wipe(down)">
                                      <p:cBhvr>
                                        <p:cTn id="7" dur="500"/>
                                        <p:tgtEl>
                                          <p:spTgt spid="87245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72454"/>
                                        </p:tgtEl>
                                        <p:attrNameLst>
                                          <p:attrName>style.visibility</p:attrName>
                                        </p:attrNameLst>
                                      </p:cBhvr>
                                      <p:to>
                                        <p:strVal val="visible"/>
                                      </p:to>
                                    </p:set>
                                    <p:animEffect transition="in" filter="fade">
                                      <p:cBhvr>
                                        <p:cTn id="10" dur="500"/>
                                        <p:tgtEl>
                                          <p:spTgt spid="87245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72453"/>
                                        </p:tgtEl>
                                        <p:attrNameLst>
                                          <p:attrName>style.visibility</p:attrName>
                                        </p:attrNameLst>
                                      </p:cBhvr>
                                      <p:to>
                                        <p:strVal val="visible"/>
                                      </p:to>
                                    </p:set>
                                    <p:animEffect transition="in" filter="fade">
                                      <p:cBhvr>
                                        <p:cTn id="13" dur="500"/>
                                        <p:tgtEl>
                                          <p:spTgt spid="87245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72456"/>
                                        </p:tgtEl>
                                        <p:attrNameLst>
                                          <p:attrName>style.visibility</p:attrName>
                                        </p:attrNameLst>
                                      </p:cBhvr>
                                      <p:to>
                                        <p:strVal val="visible"/>
                                      </p:to>
                                    </p:set>
                                    <p:animEffect transition="in" filter="fade">
                                      <p:cBhvr>
                                        <p:cTn id="18" dur="1000"/>
                                        <p:tgtEl>
                                          <p:spTgt spid="87245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87245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872455">
                                            <p:txEl>
                                              <p:pRg st="0" end="0"/>
                                            </p:txEl>
                                          </p:spTgt>
                                        </p:tgtEl>
                                        <p:attrNameLst>
                                          <p:attrName>ppt_c</p:attrName>
                                        </p:attrNameLst>
                                      </p:cBhvr>
                                      <p:to>
                                        <a:schemeClr val="folHlink"/>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87245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872455">
                                            <p:txEl>
                                              <p:pRg st="1" end="1"/>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7245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872455">
                                            <p:txEl>
                                              <p:pRg st="2" end="2"/>
                                            </p:txEl>
                                          </p:spTgt>
                                        </p:tgtEl>
                                        <p:attrNameLst>
                                          <p:attrName>ppt_c</p:attrName>
                                        </p:attrNameLst>
                                      </p:cBhvr>
                                      <p:to>
                                        <a:schemeClr val="folHlink"/>
                                      </p:to>
                                    </p:animClr>
                                  </p:sub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87245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872455">
                                            <p:txEl>
                                              <p:pRg st="3" end="3"/>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872455">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872455">
                                            <p:txEl>
                                              <p:pRg st="5" end="5"/>
                                            </p:txEl>
                                          </p:spTgt>
                                        </p:tgtEl>
                                        <p:attrNameLst>
                                          <p:attrName>ppt_c</p:attrName>
                                        </p:attrNameLst>
                                      </p:cBhvr>
                                      <p:to>
                                        <a:schemeClr val="folHlink"/>
                                      </p:to>
                                    </p:animClr>
                                  </p:sub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872455">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872455">
                                            <p:txEl>
                                              <p:pRg st="6" end="6"/>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3" grpId="0" animBg="1"/>
      <p:bldP spid="872454" grpId="0"/>
      <p:bldP spid="87245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69BB940-2162-48BF-8AFF-B6D49BD0E22B}"/>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25603" name="Rectangle 3">
            <a:extLst>
              <a:ext uri="{FF2B5EF4-FFF2-40B4-BE49-F238E27FC236}">
                <a16:creationId xmlns:a16="http://schemas.microsoft.com/office/drawing/2014/main" id="{A7E01438-9FD4-4DB6-8E6B-15E3437A96DE}"/>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3476" name="Freeform 4">
            <a:extLst>
              <a:ext uri="{FF2B5EF4-FFF2-40B4-BE49-F238E27FC236}">
                <a16:creationId xmlns:a16="http://schemas.microsoft.com/office/drawing/2014/main" id="{DF8EF781-FD30-4F5F-A020-5B804AC70108}"/>
              </a:ext>
            </a:extLst>
          </p:cNvPr>
          <p:cNvSpPr>
            <a:spLocks/>
          </p:cNvSpPr>
          <p:nvPr/>
        </p:nvSpPr>
        <p:spPr bwMode="auto">
          <a:xfrm>
            <a:off x="2452688" y="2286001"/>
            <a:ext cx="2957512" cy="3414713"/>
          </a:xfrm>
          <a:custGeom>
            <a:avLst/>
            <a:gdLst>
              <a:gd name="T0" fmla="*/ 0 w 1863"/>
              <a:gd name="T1" fmla="*/ 2147483646 h 2151"/>
              <a:gd name="T2" fmla="*/ 2147483646 w 1863"/>
              <a:gd name="T3" fmla="*/ 2147483646 h 2151"/>
              <a:gd name="T4" fmla="*/ 2147483646 w 1863"/>
              <a:gd name="T5" fmla="*/ 2147483646 h 2151"/>
              <a:gd name="T6" fmla="*/ 2147483646 w 1863"/>
              <a:gd name="T7" fmla="*/ 2147483646 h 2151"/>
              <a:gd name="T8" fmla="*/ 2147483646 w 1863"/>
              <a:gd name="T9" fmla="*/ 2147483646 h 2151"/>
              <a:gd name="T10" fmla="*/ 2147483646 w 1863"/>
              <a:gd name="T11" fmla="*/ 2147483646 h 2151"/>
              <a:gd name="T12" fmla="*/ 2147483646 w 1863"/>
              <a:gd name="T13" fmla="*/ 2147483646 h 2151"/>
              <a:gd name="T14" fmla="*/ 2147483646 w 1863"/>
              <a:gd name="T15" fmla="*/ 2147483646 h 2151"/>
              <a:gd name="T16" fmla="*/ 2147483646 w 1863"/>
              <a:gd name="T17" fmla="*/ 2147483646 h 2151"/>
              <a:gd name="T18" fmla="*/ 2147483646 w 1863"/>
              <a:gd name="T19" fmla="*/ 2147483646 h 2151"/>
              <a:gd name="T20" fmla="*/ 2147483646 w 1863"/>
              <a:gd name="T21" fmla="*/ 2147483646 h 2151"/>
              <a:gd name="T22" fmla="*/ 2147483646 w 1863"/>
              <a:gd name="T23" fmla="*/ 2147483646 h 2151"/>
              <a:gd name="T24" fmla="*/ 2147483646 w 1863"/>
              <a:gd name="T25" fmla="*/ 2147483646 h 2151"/>
              <a:gd name="T26" fmla="*/ 2147483646 w 1863"/>
              <a:gd name="T27" fmla="*/ 2147483646 h 2151"/>
              <a:gd name="T28" fmla="*/ 2147483646 w 1863"/>
              <a:gd name="T29" fmla="*/ 2147483646 h 2151"/>
              <a:gd name="T30" fmla="*/ 2147483646 w 1863"/>
              <a:gd name="T31" fmla="*/ 2147483646 h 2151"/>
              <a:gd name="T32" fmla="*/ 2147483646 w 1863"/>
              <a:gd name="T33" fmla="*/ 2147483646 h 2151"/>
              <a:gd name="T34" fmla="*/ 2147483646 w 1863"/>
              <a:gd name="T35" fmla="*/ 2147483646 h 2151"/>
              <a:gd name="T36" fmla="*/ 2147483646 w 1863"/>
              <a:gd name="T37" fmla="*/ 2147483646 h 2151"/>
              <a:gd name="T38" fmla="*/ 2147483646 w 1863"/>
              <a:gd name="T39" fmla="*/ 2147483646 h 2151"/>
              <a:gd name="T40" fmla="*/ 2147483646 w 1863"/>
              <a:gd name="T41" fmla="*/ 2147483646 h 2151"/>
              <a:gd name="T42" fmla="*/ 2147483646 w 1863"/>
              <a:gd name="T43" fmla="*/ 2147483646 h 2151"/>
              <a:gd name="T44" fmla="*/ 2147483646 w 1863"/>
              <a:gd name="T45" fmla="*/ 2147483646 h 2151"/>
              <a:gd name="T46" fmla="*/ 2147483646 w 1863"/>
              <a:gd name="T47" fmla="*/ 2147483646 h 2151"/>
              <a:gd name="T48" fmla="*/ 2147483646 w 1863"/>
              <a:gd name="T49" fmla="*/ 2147483646 h 2151"/>
              <a:gd name="T50" fmla="*/ 2147483646 w 1863"/>
              <a:gd name="T51" fmla="*/ 0 h 215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863"/>
              <a:gd name="T79" fmla="*/ 0 h 2151"/>
              <a:gd name="T80" fmla="*/ 1863 w 1863"/>
              <a:gd name="T81" fmla="*/ 2151 h 215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863" h="2151">
                <a:moveTo>
                  <a:pt x="0" y="2151"/>
                </a:moveTo>
                <a:cubicBezTo>
                  <a:pt x="21" y="2148"/>
                  <a:pt x="79" y="2150"/>
                  <a:pt x="128" y="2135"/>
                </a:cubicBezTo>
                <a:cubicBezTo>
                  <a:pt x="177" y="2120"/>
                  <a:pt x="244" y="2099"/>
                  <a:pt x="296" y="2063"/>
                </a:cubicBezTo>
                <a:cubicBezTo>
                  <a:pt x="348" y="2027"/>
                  <a:pt x="424" y="1961"/>
                  <a:pt x="440" y="1922"/>
                </a:cubicBezTo>
                <a:cubicBezTo>
                  <a:pt x="456" y="1883"/>
                  <a:pt x="376" y="1827"/>
                  <a:pt x="392" y="1827"/>
                </a:cubicBezTo>
                <a:cubicBezTo>
                  <a:pt x="408" y="1827"/>
                  <a:pt x="527" y="1930"/>
                  <a:pt x="535" y="1922"/>
                </a:cubicBezTo>
                <a:cubicBezTo>
                  <a:pt x="543" y="1914"/>
                  <a:pt x="441" y="1801"/>
                  <a:pt x="440" y="1779"/>
                </a:cubicBezTo>
                <a:cubicBezTo>
                  <a:pt x="439" y="1757"/>
                  <a:pt x="480" y="1831"/>
                  <a:pt x="528" y="1791"/>
                </a:cubicBezTo>
                <a:cubicBezTo>
                  <a:pt x="576" y="1751"/>
                  <a:pt x="613" y="1693"/>
                  <a:pt x="726" y="1540"/>
                </a:cubicBezTo>
                <a:cubicBezTo>
                  <a:pt x="839" y="1387"/>
                  <a:pt x="1100" y="1013"/>
                  <a:pt x="1204" y="870"/>
                </a:cubicBezTo>
                <a:cubicBezTo>
                  <a:pt x="1308" y="727"/>
                  <a:pt x="1332" y="727"/>
                  <a:pt x="1348" y="679"/>
                </a:cubicBezTo>
                <a:cubicBezTo>
                  <a:pt x="1364" y="631"/>
                  <a:pt x="1285" y="587"/>
                  <a:pt x="1300" y="584"/>
                </a:cubicBezTo>
                <a:cubicBezTo>
                  <a:pt x="1315" y="581"/>
                  <a:pt x="1428" y="667"/>
                  <a:pt x="1436" y="659"/>
                </a:cubicBezTo>
                <a:cubicBezTo>
                  <a:pt x="1444" y="651"/>
                  <a:pt x="1342" y="543"/>
                  <a:pt x="1348" y="536"/>
                </a:cubicBezTo>
                <a:cubicBezTo>
                  <a:pt x="1354" y="529"/>
                  <a:pt x="1464" y="623"/>
                  <a:pt x="1472" y="615"/>
                </a:cubicBezTo>
                <a:cubicBezTo>
                  <a:pt x="1480" y="607"/>
                  <a:pt x="1388" y="497"/>
                  <a:pt x="1396" y="488"/>
                </a:cubicBezTo>
                <a:cubicBezTo>
                  <a:pt x="1404" y="479"/>
                  <a:pt x="1513" y="572"/>
                  <a:pt x="1520" y="563"/>
                </a:cubicBezTo>
                <a:cubicBezTo>
                  <a:pt x="1527" y="554"/>
                  <a:pt x="1433" y="440"/>
                  <a:pt x="1440" y="431"/>
                </a:cubicBezTo>
                <a:cubicBezTo>
                  <a:pt x="1447" y="422"/>
                  <a:pt x="1555" y="519"/>
                  <a:pt x="1560" y="511"/>
                </a:cubicBezTo>
                <a:cubicBezTo>
                  <a:pt x="1565" y="503"/>
                  <a:pt x="1463" y="391"/>
                  <a:pt x="1472" y="383"/>
                </a:cubicBezTo>
                <a:cubicBezTo>
                  <a:pt x="1481" y="375"/>
                  <a:pt x="1607" y="472"/>
                  <a:pt x="1616" y="463"/>
                </a:cubicBezTo>
                <a:cubicBezTo>
                  <a:pt x="1625" y="454"/>
                  <a:pt x="1521" y="337"/>
                  <a:pt x="1528" y="327"/>
                </a:cubicBezTo>
                <a:cubicBezTo>
                  <a:pt x="1535" y="317"/>
                  <a:pt x="1648" y="411"/>
                  <a:pt x="1656" y="403"/>
                </a:cubicBezTo>
                <a:cubicBezTo>
                  <a:pt x="1664" y="395"/>
                  <a:pt x="1574" y="299"/>
                  <a:pt x="1576" y="279"/>
                </a:cubicBezTo>
                <a:cubicBezTo>
                  <a:pt x="1578" y="259"/>
                  <a:pt x="1619" y="326"/>
                  <a:pt x="1667" y="280"/>
                </a:cubicBezTo>
                <a:cubicBezTo>
                  <a:pt x="1715" y="234"/>
                  <a:pt x="1822" y="58"/>
                  <a:pt x="1863"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3477" name="AutoShape 5">
            <a:extLst>
              <a:ext uri="{FF2B5EF4-FFF2-40B4-BE49-F238E27FC236}">
                <a16:creationId xmlns:a16="http://schemas.microsoft.com/office/drawing/2014/main" id="{6CFA3EDB-DF7C-4DD4-9960-439037EB6F54}"/>
              </a:ext>
            </a:extLst>
          </p:cNvPr>
          <p:cNvSpPr>
            <a:spLocks noChangeArrowheads="1"/>
          </p:cNvSpPr>
          <p:nvPr/>
        </p:nvSpPr>
        <p:spPr bwMode="auto">
          <a:xfrm>
            <a:off x="4292601" y="3581400"/>
            <a:ext cx="150813" cy="152400"/>
          </a:xfrm>
          <a:prstGeom prst="octagon">
            <a:avLst>
              <a:gd name="adj" fmla="val 29287"/>
            </a:avLst>
          </a:prstGeom>
          <a:solidFill>
            <a:srgbClr val="008E00"/>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3478" name="Text Box 6">
            <a:extLst>
              <a:ext uri="{FF2B5EF4-FFF2-40B4-BE49-F238E27FC236}">
                <a16:creationId xmlns:a16="http://schemas.microsoft.com/office/drawing/2014/main" id="{E4CBEAB3-656F-4B95-9037-6BEC91AE9680}"/>
              </a:ext>
            </a:extLst>
          </p:cNvPr>
          <p:cNvSpPr txBox="1">
            <a:spLocks noChangeArrowheads="1"/>
          </p:cNvSpPr>
          <p:nvPr/>
        </p:nvSpPr>
        <p:spPr bwMode="auto">
          <a:xfrm>
            <a:off x="2832100" y="342900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Go-go</a:t>
            </a:r>
          </a:p>
        </p:txBody>
      </p:sp>
      <p:sp>
        <p:nvSpPr>
          <p:cNvPr id="873479" name="Text Box 7">
            <a:extLst>
              <a:ext uri="{FF2B5EF4-FFF2-40B4-BE49-F238E27FC236}">
                <a16:creationId xmlns:a16="http://schemas.microsoft.com/office/drawing/2014/main" id="{798BC962-FFF6-4C75-8D51-54B6E935B102}"/>
              </a:ext>
            </a:extLst>
          </p:cNvPr>
          <p:cNvSpPr txBox="1">
            <a:spLocks noChangeArrowheads="1"/>
          </p:cNvSpPr>
          <p:nvPr/>
        </p:nvSpPr>
        <p:spPr bwMode="auto">
          <a:xfrm>
            <a:off x="5413376" y="3049588"/>
            <a:ext cx="5084763"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From: 	Entrepreneurial Management</a:t>
            </a:r>
          </a:p>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To:	Professional Management</a:t>
            </a:r>
          </a:p>
          <a:p>
            <a:pPr>
              <a:spcBef>
                <a:spcPct val="20000"/>
              </a:spcBef>
              <a:spcAft>
                <a:spcPct val="20000"/>
              </a:spcAft>
              <a:buClr>
                <a:srgbClr val="009900"/>
              </a:buClr>
              <a:buFont typeface="Wingdings" panose="05000000000000000000" pitchFamily="2" charset="2"/>
              <a:buNone/>
            </a:pPr>
            <a:endParaRPr lang="en-US" altLang="en-US">
              <a:latin typeface="Tahoma" panose="020B0604030504040204" pitchFamily="34" charset="0"/>
            </a:endParaRPr>
          </a:p>
        </p:txBody>
      </p:sp>
      <p:sp>
        <p:nvSpPr>
          <p:cNvPr id="873480" name="Text Box 8">
            <a:extLst>
              <a:ext uri="{FF2B5EF4-FFF2-40B4-BE49-F238E27FC236}">
                <a16:creationId xmlns:a16="http://schemas.microsoft.com/office/drawing/2014/main" id="{80599875-8103-42C0-BFFB-403FA8EC13AE}"/>
              </a:ext>
            </a:extLst>
          </p:cNvPr>
          <p:cNvSpPr txBox="1">
            <a:spLocks noChangeArrowheads="1"/>
          </p:cNvSpPr>
          <p:nvPr/>
        </p:nvSpPr>
        <p:spPr bwMode="auto">
          <a:xfrm>
            <a:off x="6096001" y="1331914"/>
            <a:ext cx="4098925" cy="1015663"/>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2400">
                <a:solidFill>
                  <a:srgbClr val="FF0033"/>
                </a:solidFill>
                <a:effectLst>
                  <a:outerShdw blurRad="38100" dist="38100" dir="2700000" algn="tl">
                    <a:srgbClr val="C0C0C0"/>
                  </a:outerShdw>
                </a:effectLst>
                <a:latin typeface="Tahoma" pitchFamily="-111" charset="0"/>
                <a:ea typeface="ＭＳ Ｐゴシック" pitchFamily="-111" charset="-128"/>
              </a:rPr>
              <a:t>Needs: </a:t>
            </a:r>
          </a:p>
          <a:p>
            <a:pPr>
              <a:spcBef>
                <a:spcPct val="50000"/>
              </a:spcBef>
              <a:defRPr/>
            </a:pPr>
            <a:r>
              <a:rPr lang="en-US" sz="2400">
                <a:effectLst>
                  <a:outerShdw blurRad="38100" dist="38100" dir="2700000" algn="tl">
                    <a:srgbClr val="C0C0C0"/>
                  </a:outerShdw>
                </a:effectLst>
                <a:latin typeface="Tahoma" pitchFamily="-111" charset="0"/>
                <a:ea typeface="ＭＳ Ｐゴシック" pitchFamily="-111" charset="-128"/>
              </a:rPr>
              <a:t>Transition</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873476"/>
                                        </p:tgtEl>
                                        <p:attrNameLst>
                                          <p:attrName>style.visibility</p:attrName>
                                        </p:attrNameLst>
                                      </p:cBhvr>
                                      <p:to>
                                        <p:strVal val="visible"/>
                                      </p:to>
                                    </p:set>
                                    <p:animEffect transition="in" filter="wipe(down)">
                                      <p:cBhvr>
                                        <p:cTn id="7" dur="500"/>
                                        <p:tgtEl>
                                          <p:spTgt spid="8734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73478"/>
                                        </p:tgtEl>
                                        <p:attrNameLst>
                                          <p:attrName>style.visibility</p:attrName>
                                        </p:attrNameLst>
                                      </p:cBhvr>
                                      <p:to>
                                        <p:strVal val="visible"/>
                                      </p:to>
                                    </p:set>
                                    <p:animEffect transition="in" filter="fade">
                                      <p:cBhvr>
                                        <p:cTn id="10" dur="500"/>
                                        <p:tgtEl>
                                          <p:spTgt spid="87347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73477"/>
                                        </p:tgtEl>
                                        <p:attrNameLst>
                                          <p:attrName>style.visibility</p:attrName>
                                        </p:attrNameLst>
                                      </p:cBhvr>
                                      <p:to>
                                        <p:strVal val="visible"/>
                                      </p:to>
                                    </p:set>
                                    <p:animEffect transition="in" filter="fade">
                                      <p:cBhvr>
                                        <p:cTn id="13" dur="500"/>
                                        <p:tgtEl>
                                          <p:spTgt spid="87347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73480"/>
                                        </p:tgtEl>
                                        <p:attrNameLst>
                                          <p:attrName>style.visibility</p:attrName>
                                        </p:attrNameLst>
                                      </p:cBhvr>
                                      <p:to>
                                        <p:strVal val="visible"/>
                                      </p:to>
                                    </p:set>
                                    <p:animEffect transition="in" filter="fade">
                                      <p:cBhvr>
                                        <p:cTn id="18" dur="1000"/>
                                        <p:tgtEl>
                                          <p:spTgt spid="87348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87347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873479">
                                            <p:txEl>
                                              <p:pRg st="0" end="0"/>
                                            </p:txEl>
                                          </p:spTgt>
                                        </p:tgtEl>
                                        <p:attrNameLst>
                                          <p:attrName>ppt_c</p:attrName>
                                        </p:attrNameLst>
                                      </p:cBhvr>
                                      <p:to>
                                        <a:schemeClr val="folHlink"/>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87347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873479">
                                            <p:txEl>
                                              <p:pRg st="1" end="1"/>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3477" grpId="0" animBg="1"/>
      <p:bldP spid="873478" grpId="0"/>
      <p:bldP spid="87348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Freeform 2">
            <a:extLst>
              <a:ext uri="{FF2B5EF4-FFF2-40B4-BE49-F238E27FC236}">
                <a16:creationId xmlns:a16="http://schemas.microsoft.com/office/drawing/2014/main" id="{B5FCD461-1B0F-46BE-BDB4-9F0583DD3D83}"/>
              </a:ext>
            </a:extLst>
          </p:cNvPr>
          <p:cNvSpPr>
            <a:spLocks/>
          </p:cNvSpPr>
          <p:nvPr/>
        </p:nvSpPr>
        <p:spPr bwMode="auto">
          <a:xfrm>
            <a:off x="5267325" y="2182813"/>
            <a:ext cx="781050" cy="284162"/>
          </a:xfrm>
          <a:custGeom>
            <a:avLst/>
            <a:gdLst>
              <a:gd name="T0" fmla="*/ 0 w 492"/>
              <a:gd name="T1" fmla="*/ 2147483646 h 179"/>
              <a:gd name="T2" fmla="*/ 2147483646 w 492"/>
              <a:gd name="T3" fmla="*/ 2147483646 h 179"/>
              <a:gd name="T4" fmla="*/ 2147483646 w 492"/>
              <a:gd name="T5" fmla="*/ 2147483646 h 179"/>
              <a:gd name="T6" fmla="*/ 0 60000 65536"/>
              <a:gd name="T7" fmla="*/ 0 60000 65536"/>
              <a:gd name="T8" fmla="*/ 0 60000 65536"/>
              <a:gd name="T9" fmla="*/ 0 w 492"/>
              <a:gd name="T10" fmla="*/ 0 h 179"/>
              <a:gd name="T11" fmla="*/ 492 w 492"/>
              <a:gd name="T12" fmla="*/ 179 h 179"/>
            </a:gdLst>
            <a:ahLst/>
            <a:cxnLst>
              <a:cxn ang="T6">
                <a:pos x="T0" y="T1"/>
              </a:cxn>
              <a:cxn ang="T7">
                <a:pos x="T2" y="T3"/>
              </a:cxn>
              <a:cxn ang="T8">
                <a:pos x="T4" y="T5"/>
              </a:cxn>
            </a:cxnLst>
            <a:rect l="T9" t="T10" r="T11" b="T12"/>
            <a:pathLst>
              <a:path w="492" h="179">
                <a:moveTo>
                  <a:pt x="0" y="179"/>
                </a:moveTo>
                <a:cubicBezTo>
                  <a:pt x="44" y="154"/>
                  <a:pt x="180" y="44"/>
                  <a:pt x="262" y="22"/>
                </a:cubicBezTo>
                <a:cubicBezTo>
                  <a:pt x="344" y="0"/>
                  <a:pt x="444" y="42"/>
                  <a:pt x="492" y="47"/>
                </a:cubicBezTo>
              </a:path>
            </a:pathLst>
          </a:custGeom>
          <a:noFill/>
          <a:ln w="254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4499" name="Freeform 3">
            <a:extLst>
              <a:ext uri="{FF2B5EF4-FFF2-40B4-BE49-F238E27FC236}">
                <a16:creationId xmlns:a16="http://schemas.microsoft.com/office/drawing/2014/main" id="{941A870E-0D6A-43B6-A7BF-206368EED824}"/>
              </a:ext>
            </a:extLst>
          </p:cNvPr>
          <p:cNvSpPr>
            <a:spLocks/>
          </p:cNvSpPr>
          <p:nvPr/>
        </p:nvSpPr>
        <p:spPr bwMode="auto">
          <a:xfrm>
            <a:off x="5260976" y="2384426"/>
            <a:ext cx="701675" cy="225425"/>
          </a:xfrm>
          <a:custGeom>
            <a:avLst/>
            <a:gdLst>
              <a:gd name="T0" fmla="*/ 0 w 442"/>
              <a:gd name="T1" fmla="*/ 2147483646 h 142"/>
              <a:gd name="T2" fmla="*/ 2147483646 w 442"/>
              <a:gd name="T3" fmla="*/ 2147483646 h 142"/>
              <a:gd name="T4" fmla="*/ 2147483646 w 442"/>
              <a:gd name="T5" fmla="*/ 2147483646 h 142"/>
              <a:gd name="T6" fmla="*/ 0 60000 65536"/>
              <a:gd name="T7" fmla="*/ 0 60000 65536"/>
              <a:gd name="T8" fmla="*/ 0 60000 65536"/>
              <a:gd name="T9" fmla="*/ 0 w 442"/>
              <a:gd name="T10" fmla="*/ 0 h 142"/>
              <a:gd name="T11" fmla="*/ 442 w 442"/>
              <a:gd name="T12" fmla="*/ 142 h 142"/>
            </a:gdLst>
            <a:ahLst/>
            <a:cxnLst>
              <a:cxn ang="T6">
                <a:pos x="T0" y="T1"/>
              </a:cxn>
              <a:cxn ang="T7">
                <a:pos x="T2" y="T3"/>
              </a:cxn>
              <a:cxn ang="T8">
                <a:pos x="T4" y="T5"/>
              </a:cxn>
            </a:cxnLst>
            <a:rect l="T9" t="T10" r="T11" b="T12"/>
            <a:pathLst>
              <a:path w="442" h="142">
                <a:moveTo>
                  <a:pt x="0" y="46"/>
                </a:moveTo>
                <a:cubicBezTo>
                  <a:pt x="47" y="41"/>
                  <a:pt x="206" y="0"/>
                  <a:pt x="280" y="16"/>
                </a:cubicBezTo>
                <a:cubicBezTo>
                  <a:pt x="354" y="32"/>
                  <a:pt x="408" y="116"/>
                  <a:pt x="442" y="142"/>
                </a:cubicBezTo>
              </a:path>
            </a:pathLst>
          </a:custGeom>
          <a:noFill/>
          <a:ln w="254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52" name="Rectangle 4">
            <a:extLst>
              <a:ext uri="{FF2B5EF4-FFF2-40B4-BE49-F238E27FC236}">
                <a16:creationId xmlns:a16="http://schemas.microsoft.com/office/drawing/2014/main" id="{BF278937-2101-48D1-AC44-16DE8D8F65C7}"/>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27653" name="Rectangle 5">
            <a:extLst>
              <a:ext uri="{FF2B5EF4-FFF2-40B4-BE49-F238E27FC236}">
                <a16:creationId xmlns:a16="http://schemas.microsoft.com/office/drawing/2014/main" id="{56C575E4-B8FB-4909-8003-7BE848C8E006}"/>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27654" name="Freeform 6">
            <a:extLst>
              <a:ext uri="{FF2B5EF4-FFF2-40B4-BE49-F238E27FC236}">
                <a16:creationId xmlns:a16="http://schemas.microsoft.com/office/drawing/2014/main" id="{C0458FAA-3580-4D95-BC50-92A512FF3061}"/>
              </a:ext>
            </a:extLst>
          </p:cNvPr>
          <p:cNvSpPr>
            <a:spLocks/>
          </p:cNvSpPr>
          <p:nvPr/>
        </p:nvSpPr>
        <p:spPr bwMode="auto">
          <a:xfrm>
            <a:off x="2452688" y="2286001"/>
            <a:ext cx="2957512" cy="3414713"/>
          </a:xfrm>
          <a:custGeom>
            <a:avLst/>
            <a:gdLst>
              <a:gd name="T0" fmla="*/ 0 w 1863"/>
              <a:gd name="T1" fmla="*/ 2147483646 h 2151"/>
              <a:gd name="T2" fmla="*/ 2147483646 w 1863"/>
              <a:gd name="T3" fmla="*/ 2147483646 h 2151"/>
              <a:gd name="T4" fmla="*/ 2147483646 w 1863"/>
              <a:gd name="T5" fmla="*/ 2147483646 h 2151"/>
              <a:gd name="T6" fmla="*/ 2147483646 w 1863"/>
              <a:gd name="T7" fmla="*/ 2147483646 h 2151"/>
              <a:gd name="T8" fmla="*/ 2147483646 w 1863"/>
              <a:gd name="T9" fmla="*/ 2147483646 h 2151"/>
              <a:gd name="T10" fmla="*/ 2147483646 w 1863"/>
              <a:gd name="T11" fmla="*/ 2147483646 h 2151"/>
              <a:gd name="T12" fmla="*/ 2147483646 w 1863"/>
              <a:gd name="T13" fmla="*/ 2147483646 h 2151"/>
              <a:gd name="T14" fmla="*/ 2147483646 w 1863"/>
              <a:gd name="T15" fmla="*/ 2147483646 h 2151"/>
              <a:gd name="T16" fmla="*/ 2147483646 w 1863"/>
              <a:gd name="T17" fmla="*/ 2147483646 h 2151"/>
              <a:gd name="T18" fmla="*/ 2147483646 w 1863"/>
              <a:gd name="T19" fmla="*/ 2147483646 h 2151"/>
              <a:gd name="T20" fmla="*/ 2147483646 w 1863"/>
              <a:gd name="T21" fmla="*/ 2147483646 h 2151"/>
              <a:gd name="T22" fmla="*/ 2147483646 w 1863"/>
              <a:gd name="T23" fmla="*/ 2147483646 h 2151"/>
              <a:gd name="T24" fmla="*/ 2147483646 w 1863"/>
              <a:gd name="T25" fmla="*/ 2147483646 h 2151"/>
              <a:gd name="T26" fmla="*/ 2147483646 w 1863"/>
              <a:gd name="T27" fmla="*/ 2147483646 h 2151"/>
              <a:gd name="T28" fmla="*/ 2147483646 w 1863"/>
              <a:gd name="T29" fmla="*/ 2147483646 h 2151"/>
              <a:gd name="T30" fmla="*/ 2147483646 w 1863"/>
              <a:gd name="T31" fmla="*/ 2147483646 h 2151"/>
              <a:gd name="T32" fmla="*/ 2147483646 w 1863"/>
              <a:gd name="T33" fmla="*/ 2147483646 h 2151"/>
              <a:gd name="T34" fmla="*/ 2147483646 w 1863"/>
              <a:gd name="T35" fmla="*/ 2147483646 h 2151"/>
              <a:gd name="T36" fmla="*/ 2147483646 w 1863"/>
              <a:gd name="T37" fmla="*/ 2147483646 h 2151"/>
              <a:gd name="T38" fmla="*/ 2147483646 w 1863"/>
              <a:gd name="T39" fmla="*/ 2147483646 h 2151"/>
              <a:gd name="T40" fmla="*/ 2147483646 w 1863"/>
              <a:gd name="T41" fmla="*/ 2147483646 h 2151"/>
              <a:gd name="T42" fmla="*/ 2147483646 w 1863"/>
              <a:gd name="T43" fmla="*/ 2147483646 h 2151"/>
              <a:gd name="T44" fmla="*/ 2147483646 w 1863"/>
              <a:gd name="T45" fmla="*/ 2147483646 h 2151"/>
              <a:gd name="T46" fmla="*/ 2147483646 w 1863"/>
              <a:gd name="T47" fmla="*/ 2147483646 h 2151"/>
              <a:gd name="T48" fmla="*/ 2147483646 w 1863"/>
              <a:gd name="T49" fmla="*/ 2147483646 h 2151"/>
              <a:gd name="T50" fmla="*/ 2147483646 w 1863"/>
              <a:gd name="T51" fmla="*/ 0 h 215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863"/>
              <a:gd name="T79" fmla="*/ 0 h 2151"/>
              <a:gd name="T80" fmla="*/ 1863 w 1863"/>
              <a:gd name="T81" fmla="*/ 2151 h 215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863" h="2151">
                <a:moveTo>
                  <a:pt x="0" y="2151"/>
                </a:moveTo>
                <a:cubicBezTo>
                  <a:pt x="21" y="2148"/>
                  <a:pt x="79" y="2150"/>
                  <a:pt x="128" y="2135"/>
                </a:cubicBezTo>
                <a:cubicBezTo>
                  <a:pt x="177" y="2120"/>
                  <a:pt x="244" y="2099"/>
                  <a:pt x="296" y="2063"/>
                </a:cubicBezTo>
                <a:cubicBezTo>
                  <a:pt x="348" y="2027"/>
                  <a:pt x="424" y="1961"/>
                  <a:pt x="440" y="1922"/>
                </a:cubicBezTo>
                <a:cubicBezTo>
                  <a:pt x="456" y="1883"/>
                  <a:pt x="376" y="1827"/>
                  <a:pt x="392" y="1827"/>
                </a:cubicBezTo>
                <a:cubicBezTo>
                  <a:pt x="408" y="1827"/>
                  <a:pt x="527" y="1930"/>
                  <a:pt x="535" y="1922"/>
                </a:cubicBezTo>
                <a:cubicBezTo>
                  <a:pt x="543" y="1914"/>
                  <a:pt x="441" y="1801"/>
                  <a:pt x="440" y="1779"/>
                </a:cubicBezTo>
                <a:cubicBezTo>
                  <a:pt x="439" y="1757"/>
                  <a:pt x="480" y="1831"/>
                  <a:pt x="528" y="1791"/>
                </a:cubicBezTo>
                <a:cubicBezTo>
                  <a:pt x="576" y="1751"/>
                  <a:pt x="613" y="1693"/>
                  <a:pt x="726" y="1540"/>
                </a:cubicBezTo>
                <a:cubicBezTo>
                  <a:pt x="839" y="1387"/>
                  <a:pt x="1100" y="1013"/>
                  <a:pt x="1204" y="870"/>
                </a:cubicBezTo>
                <a:cubicBezTo>
                  <a:pt x="1308" y="727"/>
                  <a:pt x="1332" y="727"/>
                  <a:pt x="1348" y="679"/>
                </a:cubicBezTo>
                <a:cubicBezTo>
                  <a:pt x="1364" y="631"/>
                  <a:pt x="1285" y="587"/>
                  <a:pt x="1300" y="584"/>
                </a:cubicBezTo>
                <a:cubicBezTo>
                  <a:pt x="1315" y="581"/>
                  <a:pt x="1428" y="667"/>
                  <a:pt x="1436" y="659"/>
                </a:cubicBezTo>
                <a:cubicBezTo>
                  <a:pt x="1444" y="651"/>
                  <a:pt x="1342" y="543"/>
                  <a:pt x="1348" y="536"/>
                </a:cubicBezTo>
                <a:cubicBezTo>
                  <a:pt x="1354" y="529"/>
                  <a:pt x="1464" y="623"/>
                  <a:pt x="1472" y="615"/>
                </a:cubicBezTo>
                <a:cubicBezTo>
                  <a:pt x="1480" y="607"/>
                  <a:pt x="1388" y="497"/>
                  <a:pt x="1396" y="488"/>
                </a:cubicBezTo>
                <a:cubicBezTo>
                  <a:pt x="1404" y="479"/>
                  <a:pt x="1513" y="572"/>
                  <a:pt x="1520" y="563"/>
                </a:cubicBezTo>
                <a:cubicBezTo>
                  <a:pt x="1527" y="554"/>
                  <a:pt x="1433" y="440"/>
                  <a:pt x="1440" y="431"/>
                </a:cubicBezTo>
                <a:cubicBezTo>
                  <a:pt x="1447" y="422"/>
                  <a:pt x="1555" y="519"/>
                  <a:pt x="1560" y="511"/>
                </a:cubicBezTo>
                <a:cubicBezTo>
                  <a:pt x="1565" y="503"/>
                  <a:pt x="1463" y="391"/>
                  <a:pt x="1472" y="383"/>
                </a:cubicBezTo>
                <a:cubicBezTo>
                  <a:pt x="1481" y="375"/>
                  <a:pt x="1607" y="472"/>
                  <a:pt x="1616" y="463"/>
                </a:cubicBezTo>
                <a:cubicBezTo>
                  <a:pt x="1625" y="454"/>
                  <a:pt x="1521" y="337"/>
                  <a:pt x="1528" y="327"/>
                </a:cubicBezTo>
                <a:cubicBezTo>
                  <a:pt x="1535" y="317"/>
                  <a:pt x="1648" y="411"/>
                  <a:pt x="1656" y="403"/>
                </a:cubicBezTo>
                <a:cubicBezTo>
                  <a:pt x="1664" y="395"/>
                  <a:pt x="1574" y="299"/>
                  <a:pt x="1576" y="279"/>
                </a:cubicBezTo>
                <a:cubicBezTo>
                  <a:pt x="1578" y="259"/>
                  <a:pt x="1619" y="326"/>
                  <a:pt x="1667" y="280"/>
                </a:cubicBezTo>
                <a:cubicBezTo>
                  <a:pt x="1715" y="234"/>
                  <a:pt x="1822" y="58"/>
                  <a:pt x="1863"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55" name="AutoShape 7">
            <a:extLst>
              <a:ext uri="{FF2B5EF4-FFF2-40B4-BE49-F238E27FC236}">
                <a16:creationId xmlns:a16="http://schemas.microsoft.com/office/drawing/2014/main" id="{4C6A0795-F14E-4821-A294-35DFF5A24F02}"/>
              </a:ext>
            </a:extLst>
          </p:cNvPr>
          <p:cNvSpPr>
            <a:spLocks noChangeArrowheads="1"/>
          </p:cNvSpPr>
          <p:nvPr/>
        </p:nvSpPr>
        <p:spPr bwMode="auto">
          <a:xfrm>
            <a:off x="3590926" y="4567238"/>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27656" name="AutoShape 8">
            <a:extLst>
              <a:ext uri="{FF2B5EF4-FFF2-40B4-BE49-F238E27FC236}">
                <a16:creationId xmlns:a16="http://schemas.microsoft.com/office/drawing/2014/main" id="{93893429-F7BB-4649-BA0A-22C7475071C2}"/>
              </a:ext>
            </a:extLst>
          </p:cNvPr>
          <p:cNvSpPr>
            <a:spLocks noChangeArrowheads="1"/>
          </p:cNvSpPr>
          <p:nvPr/>
        </p:nvSpPr>
        <p:spPr bwMode="auto">
          <a:xfrm>
            <a:off x="2832101" y="5478463"/>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27657" name="Freeform 9">
            <a:extLst>
              <a:ext uri="{FF2B5EF4-FFF2-40B4-BE49-F238E27FC236}">
                <a16:creationId xmlns:a16="http://schemas.microsoft.com/office/drawing/2014/main" id="{4E1C4ED2-A0C9-4662-A2D1-59F4D320803F}"/>
              </a:ext>
            </a:extLst>
          </p:cNvPr>
          <p:cNvSpPr>
            <a:spLocks/>
          </p:cNvSpPr>
          <p:nvPr/>
        </p:nvSpPr>
        <p:spPr bwMode="auto">
          <a:xfrm>
            <a:off x="3079751" y="522287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4506" name="Text Box 10">
            <a:extLst>
              <a:ext uri="{FF2B5EF4-FFF2-40B4-BE49-F238E27FC236}">
                <a16:creationId xmlns:a16="http://schemas.microsoft.com/office/drawing/2014/main" id="{DCED99A4-53E1-43D8-AA37-EC32AF3427A9}"/>
              </a:ext>
            </a:extLst>
          </p:cNvPr>
          <p:cNvSpPr txBox="1">
            <a:spLocks noChangeArrowheads="1"/>
          </p:cNvSpPr>
          <p:nvPr/>
        </p:nvSpPr>
        <p:spPr bwMode="auto">
          <a:xfrm>
            <a:off x="1693863" y="502285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Courtship</a:t>
            </a:r>
          </a:p>
        </p:txBody>
      </p:sp>
      <p:sp>
        <p:nvSpPr>
          <p:cNvPr id="874507" name="Text Box 11">
            <a:extLst>
              <a:ext uri="{FF2B5EF4-FFF2-40B4-BE49-F238E27FC236}">
                <a16:creationId xmlns:a16="http://schemas.microsoft.com/office/drawing/2014/main" id="{64A7F7FB-55F3-4DA8-B95F-6DF431FA66F5}"/>
              </a:ext>
            </a:extLst>
          </p:cNvPr>
          <p:cNvSpPr txBox="1">
            <a:spLocks noChangeArrowheads="1"/>
          </p:cNvSpPr>
          <p:nvPr/>
        </p:nvSpPr>
        <p:spPr bwMode="auto">
          <a:xfrm>
            <a:off x="2225675" y="4429126"/>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Infancy</a:t>
            </a:r>
          </a:p>
        </p:txBody>
      </p:sp>
      <p:sp>
        <p:nvSpPr>
          <p:cNvPr id="874508" name="Text Box 12">
            <a:extLst>
              <a:ext uri="{FF2B5EF4-FFF2-40B4-BE49-F238E27FC236}">
                <a16:creationId xmlns:a16="http://schemas.microsoft.com/office/drawing/2014/main" id="{2CC147C3-35D0-4463-A279-B6188F23871F}"/>
              </a:ext>
            </a:extLst>
          </p:cNvPr>
          <p:cNvSpPr txBox="1">
            <a:spLocks noChangeArrowheads="1"/>
          </p:cNvSpPr>
          <p:nvPr/>
        </p:nvSpPr>
        <p:spPr bwMode="auto">
          <a:xfrm>
            <a:off x="3516314" y="5507039"/>
            <a:ext cx="682625" cy="274637"/>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Affair</a:t>
            </a:r>
          </a:p>
        </p:txBody>
      </p:sp>
      <p:sp>
        <p:nvSpPr>
          <p:cNvPr id="27661" name="Oval 13">
            <a:extLst>
              <a:ext uri="{FF2B5EF4-FFF2-40B4-BE49-F238E27FC236}">
                <a16:creationId xmlns:a16="http://schemas.microsoft.com/office/drawing/2014/main" id="{34339DB6-131B-4731-9829-F3CF1EFE9872}"/>
              </a:ext>
            </a:extLst>
          </p:cNvPr>
          <p:cNvSpPr>
            <a:spLocks noChangeArrowheads="1"/>
          </p:cNvSpPr>
          <p:nvPr/>
        </p:nvSpPr>
        <p:spPr bwMode="auto">
          <a:xfrm>
            <a:off x="3762376" y="5392739"/>
            <a:ext cx="136525" cy="136525"/>
          </a:xfrm>
          <a:prstGeom prst="ellipse">
            <a:avLst/>
          </a:prstGeom>
          <a:solidFill>
            <a:srgbClr val="FF0033">
              <a:alpha val="39999"/>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27662" name="AutoShape 14">
            <a:extLst>
              <a:ext uri="{FF2B5EF4-FFF2-40B4-BE49-F238E27FC236}">
                <a16:creationId xmlns:a16="http://schemas.microsoft.com/office/drawing/2014/main" id="{BF9BEDA0-7AA8-4AB3-94DD-971377F67638}"/>
              </a:ext>
            </a:extLst>
          </p:cNvPr>
          <p:cNvSpPr>
            <a:spLocks noChangeArrowheads="1"/>
          </p:cNvSpPr>
          <p:nvPr/>
        </p:nvSpPr>
        <p:spPr bwMode="auto">
          <a:xfrm>
            <a:off x="4292601" y="3581400"/>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4511" name="Text Box 15">
            <a:extLst>
              <a:ext uri="{FF2B5EF4-FFF2-40B4-BE49-F238E27FC236}">
                <a16:creationId xmlns:a16="http://schemas.microsoft.com/office/drawing/2014/main" id="{7BAE40BC-BCE8-4815-83CC-D442BC3419C2}"/>
              </a:ext>
            </a:extLst>
          </p:cNvPr>
          <p:cNvSpPr txBox="1">
            <a:spLocks noChangeArrowheads="1"/>
          </p:cNvSpPr>
          <p:nvPr/>
        </p:nvSpPr>
        <p:spPr bwMode="auto">
          <a:xfrm>
            <a:off x="2832100" y="342900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Go-go</a:t>
            </a:r>
          </a:p>
        </p:txBody>
      </p:sp>
      <p:sp>
        <p:nvSpPr>
          <p:cNvPr id="27664" name="Freeform 16">
            <a:extLst>
              <a:ext uri="{FF2B5EF4-FFF2-40B4-BE49-F238E27FC236}">
                <a16:creationId xmlns:a16="http://schemas.microsoft.com/office/drawing/2014/main" id="{B88AD88C-FA94-4019-8C23-E3E74051E4EA}"/>
              </a:ext>
            </a:extLst>
          </p:cNvPr>
          <p:cNvSpPr>
            <a:spLocks/>
          </p:cNvSpPr>
          <p:nvPr/>
        </p:nvSpPr>
        <p:spPr bwMode="auto">
          <a:xfrm>
            <a:off x="3990976" y="403542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4513" name="Text Box 17">
            <a:extLst>
              <a:ext uri="{FF2B5EF4-FFF2-40B4-BE49-F238E27FC236}">
                <a16:creationId xmlns:a16="http://schemas.microsoft.com/office/drawing/2014/main" id="{66FA4A1F-E7BC-4323-A090-6D9842E5689B}"/>
              </a:ext>
            </a:extLst>
          </p:cNvPr>
          <p:cNvSpPr txBox="1">
            <a:spLocks noChangeArrowheads="1"/>
          </p:cNvSpPr>
          <p:nvPr/>
        </p:nvSpPr>
        <p:spPr bwMode="auto">
          <a:xfrm>
            <a:off x="4351339" y="4278313"/>
            <a:ext cx="909637"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Infant Mortality</a:t>
            </a:r>
          </a:p>
        </p:txBody>
      </p:sp>
      <p:sp>
        <p:nvSpPr>
          <p:cNvPr id="27666" name="Oval 18">
            <a:extLst>
              <a:ext uri="{FF2B5EF4-FFF2-40B4-BE49-F238E27FC236}">
                <a16:creationId xmlns:a16="http://schemas.microsoft.com/office/drawing/2014/main" id="{FC69E804-CD0F-4628-90E4-914FCFD8CA3B}"/>
              </a:ext>
            </a:extLst>
          </p:cNvPr>
          <p:cNvSpPr>
            <a:spLocks noChangeArrowheads="1"/>
          </p:cNvSpPr>
          <p:nvPr/>
        </p:nvSpPr>
        <p:spPr bwMode="auto">
          <a:xfrm>
            <a:off x="4670426" y="4203701"/>
            <a:ext cx="136525" cy="136525"/>
          </a:xfrm>
          <a:prstGeom prst="ellipse">
            <a:avLst/>
          </a:prstGeom>
          <a:solidFill>
            <a:srgbClr val="FF0033">
              <a:alpha val="50195"/>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27667" name="Freeform 19">
            <a:extLst>
              <a:ext uri="{FF2B5EF4-FFF2-40B4-BE49-F238E27FC236}">
                <a16:creationId xmlns:a16="http://schemas.microsoft.com/office/drawing/2014/main" id="{4C9EEE61-B128-4271-AEC4-4AEF9F630A4C}"/>
              </a:ext>
            </a:extLst>
          </p:cNvPr>
          <p:cNvSpPr>
            <a:spLocks/>
          </p:cNvSpPr>
          <p:nvPr/>
        </p:nvSpPr>
        <p:spPr bwMode="auto">
          <a:xfrm>
            <a:off x="4391025" y="3201988"/>
            <a:ext cx="927100" cy="398462"/>
          </a:xfrm>
          <a:custGeom>
            <a:avLst/>
            <a:gdLst>
              <a:gd name="T0" fmla="*/ 0 w 584"/>
              <a:gd name="T1" fmla="*/ 2147483646 h 251"/>
              <a:gd name="T2" fmla="*/ 2147483646 w 584"/>
              <a:gd name="T3" fmla="*/ 2147483646 h 251"/>
              <a:gd name="T4" fmla="*/ 2147483646 w 584"/>
              <a:gd name="T5" fmla="*/ 2147483646 h 251"/>
              <a:gd name="T6" fmla="*/ 0 60000 65536"/>
              <a:gd name="T7" fmla="*/ 0 60000 65536"/>
              <a:gd name="T8" fmla="*/ 0 60000 65536"/>
              <a:gd name="T9" fmla="*/ 0 w 584"/>
              <a:gd name="T10" fmla="*/ 0 h 251"/>
              <a:gd name="T11" fmla="*/ 584 w 584"/>
              <a:gd name="T12" fmla="*/ 251 h 251"/>
            </a:gdLst>
            <a:ahLst/>
            <a:cxnLst>
              <a:cxn ang="T6">
                <a:pos x="T0" y="T1"/>
              </a:cxn>
              <a:cxn ang="T7">
                <a:pos x="T2" y="T3"/>
              </a:cxn>
              <a:cxn ang="T8">
                <a:pos x="T4" y="T5"/>
              </a:cxn>
            </a:cxnLst>
            <a:rect l="T9" t="T10" r="T11" b="T12"/>
            <a:pathLst>
              <a:path w="584" h="251">
                <a:moveTo>
                  <a:pt x="0" y="251"/>
                </a:moveTo>
                <a:cubicBezTo>
                  <a:pt x="64" y="212"/>
                  <a:pt x="287" y="46"/>
                  <a:pt x="384" y="23"/>
                </a:cubicBezTo>
                <a:cubicBezTo>
                  <a:pt x="481" y="0"/>
                  <a:pt x="542" y="94"/>
                  <a:pt x="584"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4516" name="Text Box 20">
            <a:extLst>
              <a:ext uri="{FF2B5EF4-FFF2-40B4-BE49-F238E27FC236}">
                <a16:creationId xmlns:a16="http://schemas.microsoft.com/office/drawing/2014/main" id="{293FFD9A-0E25-4D60-8D6C-6B03EB982CFD}"/>
              </a:ext>
            </a:extLst>
          </p:cNvPr>
          <p:cNvSpPr txBox="1">
            <a:spLocks noChangeArrowheads="1"/>
          </p:cNvSpPr>
          <p:nvPr/>
        </p:nvSpPr>
        <p:spPr bwMode="auto">
          <a:xfrm>
            <a:off x="4938714" y="3502175"/>
            <a:ext cx="930275" cy="461665"/>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Founders Trap</a:t>
            </a:r>
          </a:p>
        </p:txBody>
      </p:sp>
      <p:sp>
        <p:nvSpPr>
          <p:cNvPr id="27669" name="Oval 21">
            <a:extLst>
              <a:ext uri="{FF2B5EF4-FFF2-40B4-BE49-F238E27FC236}">
                <a16:creationId xmlns:a16="http://schemas.microsoft.com/office/drawing/2014/main" id="{14AC4CBC-EA0E-4941-8B94-6C8A94676E49}"/>
              </a:ext>
            </a:extLst>
          </p:cNvPr>
          <p:cNvSpPr>
            <a:spLocks noChangeArrowheads="1"/>
          </p:cNvSpPr>
          <p:nvPr/>
        </p:nvSpPr>
        <p:spPr bwMode="auto">
          <a:xfrm>
            <a:off x="5257801" y="3370264"/>
            <a:ext cx="136525" cy="136525"/>
          </a:xfrm>
          <a:prstGeom prst="ellipse">
            <a:avLst/>
          </a:prstGeom>
          <a:solidFill>
            <a:srgbClr val="FF0033">
              <a:alpha val="50195"/>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27670" name="AutoShape 22">
            <a:extLst>
              <a:ext uri="{FF2B5EF4-FFF2-40B4-BE49-F238E27FC236}">
                <a16:creationId xmlns:a16="http://schemas.microsoft.com/office/drawing/2014/main" id="{A5A40C81-4CFB-44DE-99A7-10D715DAB67A}"/>
              </a:ext>
            </a:extLst>
          </p:cNvPr>
          <p:cNvSpPr>
            <a:spLocks noChangeArrowheads="1"/>
          </p:cNvSpPr>
          <p:nvPr/>
        </p:nvSpPr>
        <p:spPr bwMode="auto">
          <a:xfrm>
            <a:off x="5114926" y="2517775"/>
            <a:ext cx="150813"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4519" name="Text Box 23">
            <a:extLst>
              <a:ext uri="{FF2B5EF4-FFF2-40B4-BE49-F238E27FC236}">
                <a16:creationId xmlns:a16="http://schemas.microsoft.com/office/drawing/2014/main" id="{DB8A7C45-8D1F-4740-A7E1-EB013EC030E6}"/>
              </a:ext>
            </a:extLst>
          </p:cNvPr>
          <p:cNvSpPr txBox="1">
            <a:spLocks noChangeArrowheads="1"/>
          </p:cNvSpPr>
          <p:nvPr/>
        </p:nvSpPr>
        <p:spPr bwMode="auto">
          <a:xfrm>
            <a:off x="3363913" y="2366963"/>
            <a:ext cx="1668462" cy="366712"/>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Adolescence</a:t>
            </a:r>
          </a:p>
        </p:txBody>
      </p:sp>
      <p:sp>
        <p:nvSpPr>
          <p:cNvPr id="874520" name="Oval 24">
            <a:extLst>
              <a:ext uri="{FF2B5EF4-FFF2-40B4-BE49-F238E27FC236}">
                <a16:creationId xmlns:a16="http://schemas.microsoft.com/office/drawing/2014/main" id="{7041D46B-75EC-473D-B6F6-9C50D222A595}"/>
              </a:ext>
            </a:extLst>
          </p:cNvPr>
          <p:cNvSpPr>
            <a:spLocks noChangeArrowheads="1"/>
          </p:cNvSpPr>
          <p:nvPr/>
        </p:nvSpPr>
        <p:spPr bwMode="auto">
          <a:xfrm>
            <a:off x="5929314" y="2605089"/>
            <a:ext cx="136525" cy="136525"/>
          </a:xfrm>
          <a:prstGeom prst="ellipse">
            <a:avLst/>
          </a:prstGeom>
          <a:solidFill>
            <a:srgbClr val="FF0033"/>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4521" name="Oval 25">
            <a:extLst>
              <a:ext uri="{FF2B5EF4-FFF2-40B4-BE49-F238E27FC236}">
                <a16:creationId xmlns:a16="http://schemas.microsoft.com/office/drawing/2014/main" id="{7B19B800-AB44-429D-85AF-F645794519E0}"/>
              </a:ext>
            </a:extLst>
          </p:cNvPr>
          <p:cNvSpPr>
            <a:spLocks noChangeArrowheads="1"/>
          </p:cNvSpPr>
          <p:nvPr/>
        </p:nvSpPr>
        <p:spPr bwMode="auto">
          <a:xfrm>
            <a:off x="6035676" y="2214564"/>
            <a:ext cx="136525" cy="136525"/>
          </a:xfrm>
          <a:prstGeom prst="ellipse">
            <a:avLst/>
          </a:prstGeom>
          <a:solidFill>
            <a:srgbClr val="FF0033"/>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4522" name="Text Box 26">
            <a:extLst>
              <a:ext uri="{FF2B5EF4-FFF2-40B4-BE49-F238E27FC236}">
                <a16:creationId xmlns:a16="http://schemas.microsoft.com/office/drawing/2014/main" id="{7767B465-1A70-4227-AC71-19A2F03A7913}"/>
              </a:ext>
            </a:extLst>
          </p:cNvPr>
          <p:cNvSpPr txBox="1">
            <a:spLocks noChangeArrowheads="1"/>
          </p:cNvSpPr>
          <p:nvPr/>
        </p:nvSpPr>
        <p:spPr bwMode="auto">
          <a:xfrm>
            <a:off x="5792788" y="2001451"/>
            <a:ext cx="1441450" cy="276999"/>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lang="en-US" sz="1200">
                <a:effectLst>
                  <a:outerShdw blurRad="38100" dist="38100" dir="2700000" algn="tl">
                    <a:srgbClr val="C0C0C0"/>
                  </a:outerShdw>
                </a:effectLst>
                <a:latin typeface="Tahoma" pitchFamily="-111" charset="0"/>
                <a:ea typeface="ＭＳ Ｐゴシック" pitchFamily="-111" charset="-128"/>
              </a:rPr>
              <a:t>Premature Aging</a:t>
            </a:r>
          </a:p>
        </p:txBody>
      </p:sp>
      <p:sp>
        <p:nvSpPr>
          <p:cNvPr id="874523" name="Text Box 27">
            <a:extLst>
              <a:ext uri="{FF2B5EF4-FFF2-40B4-BE49-F238E27FC236}">
                <a16:creationId xmlns:a16="http://schemas.microsoft.com/office/drawing/2014/main" id="{8B412727-F98E-4B88-AF94-8ED67FA91F5F}"/>
              </a:ext>
            </a:extLst>
          </p:cNvPr>
          <p:cNvSpPr txBox="1">
            <a:spLocks noChangeArrowheads="1"/>
          </p:cNvSpPr>
          <p:nvPr/>
        </p:nvSpPr>
        <p:spPr bwMode="auto">
          <a:xfrm>
            <a:off x="5640389" y="2819400"/>
            <a:ext cx="1233487" cy="457200"/>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lang="en-US" sz="1200">
                <a:effectLst>
                  <a:outerShdw blurRad="38100" dist="38100" dir="2700000" algn="tl">
                    <a:srgbClr val="C0C0C0"/>
                  </a:outerShdw>
                </a:effectLst>
                <a:latin typeface="Tahoma" pitchFamily="-111" charset="0"/>
                <a:ea typeface="ＭＳ Ｐゴシック" pitchFamily="-111" charset="-128"/>
              </a:rPr>
              <a:t>Unfulfilled Entrepreneur</a:t>
            </a:r>
            <a:endParaRPr lang="en-US">
              <a:effectLst>
                <a:outerShdw blurRad="38100" dist="38100" dir="2700000" algn="tl">
                  <a:srgbClr val="C0C0C0"/>
                </a:outerShdw>
              </a:effectLst>
              <a:latin typeface="Times New Roman" pitchFamily="-111" charset="0"/>
              <a:ea typeface="ＭＳ Ｐゴシック" pitchFamily="-111" charset="-128"/>
            </a:endParaRPr>
          </a:p>
        </p:txBody>
      </p:sp>
      <p:sp>
        <p:nvSpPr>
          <p:cNvPr id="874524" name="Text Box 28">
            <a:extLst>
              <a:ext uri="{FF2B5EF4-FFF2-40B4-BE49-F238E27FC236}">
                <a16:creationId xmlns:a16="http://schemas.microsoft.com/office/drawing/2014/main" id="{F0327DE5-8E62-4FF8-9DEA-D429D2642127}"/>
              </a:ext>
            </a:extLst>
          </p:cNvPr>
          <p:cNvSpPr txBox="1">
            <a:spLocks noChangeArrowheads="1"/>
          </p:cNvSpPr>
          <p:nvPr/>
        </p:nvSpPr>
        <p:spPr bwMode="auto">
          <a:xfrm>
            <a:off x="5337175" y="2214564"/>
            <a:ext cx="1062038" cy="274637"/>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lang="en-US" sz="1200">
                <a:effectLst>
                  <a:outerShdw blurRad="38100" dist="38100" dir="2700000" algn="tl">
                    <a:srgbClr val="C0C0C0"/>
                  </a:outerShdw>
                </a:effectLst>
                <a:latin typeface="Tahoma" pitchFamily="-111" charset="0"/>
                <a:ea typeface="ＭＳ Ｐゴシック" pitchFamily="-111" charset="-128"/>
              </a:rPr>
              <a:t>Divorce</a:t>
            </a:r>
          </a:p>
        </p:txBody>
      </p:sp>
      <p:sp>
        <p:nvSpPr>
          <p:cNvPr id="874525" name="Text Box 29">
            <a:extLst>
              <a:ext uri="{FF2B5EF4-FFF2-40B4-BE49-F238E27FC236}">
                <a16:creationId xmlns:a16="http://schemas.microsoft.com/office/drawing/2014/main" id="{C9F30737-5C72-4017-9E0B-D6000D98B85B}"/>
              </a:ext>
            </a:extLst>
          </p:cNvPr>
          <p:cNvSpPr txBox="1">
            <a:spLocks noChangeArrowheads="1"/>
          </p:cNvSpPr>
          <p:nvPr/>
        </p:nvSpPr>
        <p:spPr bwMode="auto">
          <a:xfrm>
            <a:off x="5943600" y="3429000"/>
            <a:ext cx="4478338" cy="1754326"/>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solidFill>
                  <a:srgbClr val="FF3399"/>
                </a:solidFill>
                <a:effectLst>
                  <a:outerShdw blurRad="38100" dist="38100" dir="2700000" algn="tl">
                    <a:srgbClr val="C0C0C0"/>
                  </a:outerShdw>
                </a:effectLst>
                <a:latin typeface="Tahoma" pitchFamily="-111" charset="0"/>
                <a:ea typeface="ＭＳ Ｐゴシック" pitchFamily="-111" charset="-128"/>
              </a:rPr>
              <a:t>The Revolving Door</a:t>
            </a:r>
            <a:br>
              <a:rPr lang="en-US">
                <a:solidFill>
                  <a:srgbClr val="FF3399"/>
                </a:solidFill>
                <a:effectLst>
                  <a:outerShdw blurRad="38100" dist="38100" dir="2700000" algn="tl">
                    <a:srgbClr val="C0C0C0"/>
                  </a:outerShdw>
                </a:effectLst>
                <a:latin typeface="Tahoma" pitchFamily="-111" charset="0"/>
                <a:ea typeface="ＭＳ Ｐゴシック" pitchFamily="-111" charset="-128"/>
              </a:rPr>
            </a:br>
            <a:r>
              <a:rPr lang="en-US">
                <a:effectLst>
                  <a:outerShdw blurRad="38100" dist="38100" dir="2700000" algn="tl">
                    <a:srgbClr val="C0C0C0"/>
                  </a:outerShdw>
                </a:effectLst>
                <a:latin typeface="Tahoma" pitchFamily="-111" charset="0"/>
                <a:ea typeface="ＭＳ Ｐゴシック" pitchFamily="-111" charset="-128"/>
              </a:rPr>
              <a:t>Entrepreneur / Founder unwilling or unable to make the necessary adolescence adaptations fires the professional managers and administrators….AGAIN</a:t>
            </a:r>
          </a:p>
        </p:txBody>
      </p:sp>
      <p:sp>
        <p:nvSpPr>
          <p:cNvPr id="874526" name="Text Box 30">
            <a:extLst>
              <a:ext uri="{FF2B5EF4-FFF2-40B4-BE49-F238E27FC236}">
                <a16:creationId xmlns:a16="http://schemas.microsoft.com/office/drawing/2014/main" id="{8ED36CD9-9B53-4677-B3A9-01DD64174F35}"/>
              </a:ext>
            </a:extLst>
          </p:cNvPr>
          <p:cNvSpPr txBox="1">
            <a:spLocks noChangeArrowheads="1"/>
          </p:cNvSpPr>
          <p:nvPr/>
        </p:nvSpPr>
        <p:spPr bwMode="auto">
          <a:xfrm>
            <a:off x="6837364" y="1758950"/>
            <a:ext cx="3660775" cy="923330"/>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The Risk averse squeezes out the entrepreneurial partners or management  </a:t>
            </a:r>
          </a:p>
        </p:txBody>
      </p:sp>
      <p:sp>
        <p:nvSpPr>
          <p:cNvPr id="874527" name="Text Box 31">
            <a:extLst>
              <a:ext uri="{FF2B5EF4-FFF2-40B4-BE49-F238E27FC236}">
                <a16:creationId xmlns:a16="http://schemas.microsoft.com/office/drawing/2014/main" id="{07BCBC66-44A8-46C2-AAC9-9450879A275B}"/>
              </a:ext>
            </a:extLst>
          </p:cNvPr>
          <p:cNvSpPr txBox="1">
            <a:spLocks noChangeArrowheads="1"/>
          </p:cNvSpPr>
          <p:nvPr/>
        </p:nvSpPr>
        <p:spPr bwMode="auto">
          <a:xfrm>
            <a:off x="3136901" y="1152526"/>
            <a:ext cx="5540375" cy="519113"/>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2800">
                <a:solidFill>
                  <a:srgbClr val="FF0033"/>
                </a:solidFill>
                <a:effectLst>
                  <a:outerShdw blurRad="38100" dist="38100" dir="2700000" algn="tl">
                    <a:srgbClr val="C0C0C0"/>
                  </a:outerShdw>
                </a:effectLst>
                <a:latin typeface="Tahoma" pitchFamily="-111" charset="0"/>
                <a:ea typeface="ＭＳ Ｐゴシック" pitchFamily="-111" charset="-128"/>
              </a:rPr>
              <a:t>Divorce</a:t>
            </a:r>
            <a:endParaRPr lang="en-US" sz="2800">
              <a:effectLst>
                <a:outerShdw blurRad="38100" dist="38100" dir="2700000" algn="tl">
                  <a:srgbClr val="C0C0C0"/>
                </a:outerShdw>
              </a:effectLst>
              <a:latin typeface="Tahoma" pitchFamily="-111" charset="0"/>
              <a:ea typeface="ＭＳ Ｐゴシック" pitchFamily="-111" charset="-128"/>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74524"/>
                                        </p:tgtEl>
                                        <p:attrNameLst>
                                          <p:attrName>style.visibility</p:attrName>
                                        </p:attrNameLst>
                                      </p:cBhvr>
                                      <p:to>
                                        <p:strVal val="visible"/>
                                      </p:to>
                                    </p:set>
                                    <p:animEffect transition="in" filter="fade">
                                      <p:cBhvr>
                                        <p:cTn id="7" dur="2000"/>
                                        <p:tgtEl>
                                          <p:spTgt spid="8745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74498"/>
                                        </p:tgtEl>
                                        <p:attrNameLst>
                                          <p:attrName>style.visibility</p:attrName>
                                        </p:attrNameLst>
                                      </p:cBhvr>
                                      <p:to>
                                        <p:strVal val="visible"/>
                                      </p:to>
                                    </p:set>
                                    <p:animEffect transition="in" filter="wipe(left)">
                                      <p:cBhvr>
                                        <p:cTn id="12" dur="500"/>
                                        <p:tgtEl>
                                          <p:spTgt spid="87449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74521"/>
                                        </p:tgtEl>
                                        <p:attrNameLst>
                                          <p:attrName>style.visibility</p:attrName>
                                        </p:attrNameLst>
                                      </p:cBhvr>
                                      <p:to>
                                        <p:strVal val="visible"/>
                                      </p:to>
                                    </p:set>
                                    <p:animEffect transition="in" filter="fade">
                                      <p:cBhvr>
                                        <p:cTn id="15" dur="2000"/>
                                        <p:tgtEl>
                                          <p:spTgt spid="8745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74522"/>
                                        </p:tgtEl>
                                        <p:attrNameLst>
                                          <p:attrName>style.visibility</p:attrName>
                                        </p:attrNameLst>
                                      </p:cBhvr>
                                      <p:to>
                                        <p:strVal val="visible"/>
                                      </p:to>
                                    </p:set>
                                    <p:animEffect transition="in" filter="fade">
                                      <p:cBhvr>
                                        <p:cTn id="18" dur="2000"/>
                                        <p:tgtEl>
                                          <p:spTgt spid="87452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74526"/>
                                        </p:tgtEl>
                                        <p:attrNameLst>
                                          <p:attrName>style.visibility</p:attrName>
                                        </p:attrNameLst>
                                      </p:cBhvr>
                                      <p:to>
                                        <p:strVal val="visible"/>
                                      </p:to>
                                    </p:set>
                                    <p:animEffect transition="in" filter="fade">
                                      <p:cBhvr>
                                        <p:cTn id="23" dur="1000"/>
                                        <p:tgtEl>
                                          <p:spTgt spid="87452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874499"/>
                                        </p:tgtEl>
                                        <p:attrNameLst>
                                          <p:attrName>style.visibility</p:attrName>
                                        </p:attrNameLst>
                                      </p:cBhvr>
                                      <p:to>
                                        <p:strVal val="visible"/>
                                      </p:to>
                                    </p:set>
                                    <p:animEffect transition="in" filter="wipe(left)">
                                      <p:cBhvr>
                                        <p:cTn id="28" dur="500"/>
                                        <p:tgtEl>
                                          <p:spTgt spid="87449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74520"/>
                                        </p:tgtEl>
                                        <p:attrNameLst>
                                          <p:attrName>style.visibility</p:attrName>
                                        </p:attrNameLst>
                                      </p:cBhvr>
                                      <p:to>
                                        <p:strVal val="visible"/>
                                      </p:to>
                                    </p:set>
                                    <p:animEffect transition="in" filter="fade">
                                      <p:cBhvr>
                                        <p:cTn id="31" dur="2000"/>
                                        <p:tgtEl>
                                          <p:spTgt spid="8745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4523"/>
                                        </p:tgtEl>
                                        <p:attrNameLst>
                                          <p:attrName>style.visibility</p:attrName>
                                        </p:attrNameLst>
                                      </p:cBhvr>
                                      <p:to>
                                        <p:strVal val="visible"/>
                                      </p:to>
                                    </p:set>
                                    <p:animEffect transition="in" filter="fade">
                                      <p:cBhvr>
                                        <p:cTn id="34" dur="2000"/>
                                        <p:tgtEl>
                                          <p:spTgt spid="87452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74525"/>
                                        </p:tgtEl>
                                        <p:attrNameLst>
                                          <p:attrName>style.visibility</p:attrName>
                                        </p:attrNameLst>
                                      </p:cBhvr>
                                      <p:to>
                                        <p:strVal val="visible"/>
                                      </p:to>
                                    </p:set>
                                    <p:animEffect transition="in" filter="fade">
                                      <p:cBhvr>
                                        <p:cTn id="39" dur="1000"/>
                                        <p:tgtEl>
                                          <p:spTgt spid="874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520" grpId="0" animBg="1"/>
      <p:bldP spid="874521" grpId="0" animBg="1"/>
      <p:bldP spid="874522" grpId="0"/>
      <p:bldP spid="874523" grpId="0"/>
      <p:bldP spid="874524" grpId="0"/>
      <p:bldP spid="874525" grpId="0"/>
      <p:bldP spid="8745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1B0FBB33-68C7-4B99-8D3E-55A30A72FA08}"/>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29699" name="Rectangle 3">
            <a:extLst>
              <a:ext uri="{FF2B5EF4-FFF2-40B4-BE49-F238E27FC236}">
                <a16:creationId xmlns:a16="http://schemas.microsoft.com/office/drawing/2014/main" id="{5E35BDCB-95D1-4D69-94A5-43BE19BAD285}"/>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5524" name="Freeform 4">
            <a:extLst>
              <a:ext uri="{FF2B5EF4-FFF2-40B4-BE49-F238E27FC236}">
                <a16:creationId xmlns:a16="http://schemas.microsoft.com/office/drawing/2014/main" id="{1CBB5163-D2A9-427D-8D92-AAE0AF26E953}"/>
              </a:ext>
            </a:extLst>
          </p:cNvPr>
          <p:cNvSpPr>
            <a:spLocks/>
          </p:cNvSpPr>
          <p:nvPr/>
        </p:nvSpPr>
        <p:spPr bwMode="auto">
          <a:xfrm>
            <a:off x="2452688" y="2286001"/>
            <a:ext cx="2957512" cy="3414713"/>
          </a:xfrm>
          <a:custGeom>
            <a:avLst/>
            <a:gdLst>
              <a:gd name="T0" fmla="*/ 0 w 1863"/>
              <a:gd name="T1" fmla="*/ 2147483646 h 2151"/>
              <a:gd name="T2" fmla="*/ 2147483646 w 1863"/>
              <a:gd name="T3" fmla="*/ 2147483646 h 2151"/>
              <a:gd name="T4" fmla="*/ 2147483646 w 1863"/>
              <a:gd name="T5" fmla="*/ 2147483646 h 2151"/>
              <a:gd name="T6" fmla="*/ 2147483646 w 1863"/>
              <a:gd name="T7" fmla="*/ 2147483646 h 2151"/>
              <a:gd name="T8" fmla="*/ 2147483646 w 1863"/>
              <a:gd name="T9" fmla="*/ 2147483646 h 2151"/>
              <a:gd name="T10" fmla="*/ 2147483646 w 1863"/>
              <a:gd name="T11" fmla="*/ 2147483646 h 2151"/>
              <a:gd name="T12" fmla="*/ 2147483646 w 1863"/>
              <a:gd name="T13" fmla="*/ 2147483646 h 2151"/>
              <a:gd name="T14" fmla="*/ 2147483646 w 1863"/>
              <a:gd name="T15" fmla="*/ 2147483646 h 2151"/>
              <a:gd name="T16" fmla="*/ 2147483646 w 1863"/>
              <a:gd name="T17" fmla="*/ 2147483646 h 2151"/>
              <a:gd name="T18" fmla="*/ 2147483646 w 1863"/>
              <a:gd name="T19" fmla="*/ 2147483646 h 2151"/>
              <a:gd name="T20" fmla="*/ 2147483646 w 1863"/>
              <a:gd name="T21" fmla="*/ 2147483646 h 2151"/>
              <a:gd name="T22" fmla="*/ 2147483646 w 1863"/>
              <a:gd name="T23" fmla="*/ 2147483646 h 2151"/>
              <a:gd name="T24" fmla="*/ 2147483646 w 1863"/>
              <a:gd name="T25" fmla="*/ 2147483646 h 2151"/>
              <a:gd name="T26" fmla="*/ 2147483646 w 1863"/>
              <a:gd name="T27" fmla="*/ 2147483646 h 2151"/>
              <a:gd name="T28" fmla="*/ 2147483646 w 1863"/>
              <a:gd name="T29" fmla="*/ 2147483646 h 2151"/>
              <a:gd name="T30" fmla="*/ 2147483646 w 1863"/>
              <a:gd name="T31" fmla="*/ 2147483646 h 2151"/>
              <a:gd name="T32" fmla="*/ 2147483646 w 1863"/>
              <a:gd name="T33" fmla="*/ 2147483646 h 2151"/>
              <a:gd name="T34" fmla="*/ 2147483646 w 1863"/>
              <a:gd name="T35" fmla="*/ 2147483646 h 2151"/>
              <a:gd name="T36" fmla="*/ 2147483646 w 1863"/>
              <a:gd name="T37" fmla="*/ 2147483646 h 2151"/>
              <a:gd name="T38" fmla="*/ 2147483646 w 1863"/>
              <a:gd name="T39" fmla="*/ 2147483646 h 2151"/>
              <a:gd name="T40" fmla="*/ 2147483646 w 1863"/>
              <a:gd name="T41" fmla="*/ 2147483646 h 2151"/>
              <a:gd name="T42" fmla="*/ 2147483646 w 1863"/>
              <a:gd name="T43" fmla="*/ 2147483646 h 2151"/>
              <a:gd name="T44" fmla="*/ 2147483646 w 1863"/>
              <a:gd name="T45" fmla="*/ 2147483646 h 2151"/>
              <a:gd name="T46" fmla="*/ 2147483646 w 1863"/>
              <a:gd name="T47" fmla="*/ 2147483646 h 2151"/>
              <a:gd name="T48" fmla="*/ 2147483646 w 1863"/>
              <a:gd name="T49" fmla="*/ 2147483646 h 2151"/>
              <a:gd name="T50" fmla="*/ 2147483646 w 1863"/>
              <a:gd name="T51" fmla="*/ 0 h 215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863"/>
              <a:gd name="T79" fmla="*/ 0 h 2151"/>
              <a:gd name="T80" fmla="*/ 1863 w 1863"/>
              <a:gd name="T81" fmla="*/ 2151 h 215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863" h="2151">
                <a:moveTo>
                  <a:pt x="0" y="2151"/>
                </a:moveTo>
                <a:cubicBezTo>
                  <a:pt x="21" y="2148"/>
                  <a:pt x="79" y="2150"/>
                  <a:pt x="128" y="2135"/>
                </a:cubicBezTo>
                <a:cubicBezTo>
                  <a:pt x="177" y="2120"/>
                  <a:pt x="244" y="2099"/>
                  <a:pt x="296" y="2063"/>
                </a:cubicBezTo>
                <a:cubicBezTo>
                  <a:pt x="348" y="2027"/>
                  <a:pt x="424" y="1961"/>
                  <a:pt x="440" y="1922"/>
                </a:cubicBezTo>
                <a:cubicBezTo>
                  <a:pt x="456" y="1883"/>
                  <a:pt x="376" y="1827"/>
                  <a:pt x="392" y="1827"/>
                </a:cubicBezTo>
                <a:cubicBezTo>
                  <a:pt x="408" y="1827"/>
                  <a:pt x="527" y="1930"/>
                  <a:pt x="535" y="1922"/>
                </a:cubicBezTo>
                <a:cubicBezTo>
                  <a:pt x="543" y="1914"/>
                  <a:pt x="441" y="1801"/>
                  <a:pt x="440" y="1779"/>
                </a:cubicBezTo>
                <a:cubicBezTo>
                  <a:pt x="439" y="1757"/>
                  <a:pt x="480" y="1831"/>
                  <a:pt x="528" y="1791"/>
                </a:cubicBezTo>
                <a:cubicBezTo>
                  <a:pt x="576" y="1751"/>
                  <a:pt x="613" y="1693"/>
                  <a:pt x="726" y="1540"/>
                </a:cubicBezTo>
                <a:cubicBezTo>
                  <a:pt x="839" y="1387"/>
                  <a:pt x="1100" y="1013"/>
                  <a:pt x="1204" y="870"/>
                </a:cubicBezTo>
                <a:cubicBezTo>
                  <a:pt x="1308" y="727"/>
                  <a:pt x="1332" y="727"/>
                  <a:pt x="1348" y="679"/>
                </a:cubicBezTo>
                <a:cubicBezTo>
                  <a:pt x="1364" y="631"/>
                  <a:pt x="1285" y="587"/>
                  <a:pt x="1300" y="584"/>
                </a:cubicBezTo>
                <a:cubicBezTo>
                  <a:pt x="1315" y="581"/>
                  <a:pt x="1428" y="667"/>
                  <a:pt x="1436" y="659"/>
                </a:cubicBezTo>
                <a:cubicBezTo>
                  <a:pt x="1444" y="651"/>
                  <a:pt x="1342" y="543"/>
                  <a:pt x="1348" y="536"/>
                </a:cubicBezTo>
                <a:cubicBezTo>
                  <a:pt x="1354" y="529"/>
                  <a:pt x="1464" y="623"/>
                  <a:pt x="1472" y="615"/>
                </a:cubicBezTo>
                <a:cubicBezTo>
                  <a:pt x="1480" y="607"/>
                  <a:pt x="1388" y="497"/>
                  <a:pt x="1396" y="488"/>
                </a:cubicBezTo>
                <a:cubicBezTo>
                  <a:pt x="1404" y="479"/>
                  <a:pt x="1513" y="572"/>
                  <a:pt x="1520" y="563"/>
                </a:cubicBezTo>
                <a:cubicBezTo>
                  <a:pt x="1527" y="554"/>
                  <a:pt x="1433" y="440"/>
                  <a:pt x="1440" y="431"/>
                </a:cubicBezTo>
                <a:cubicBezTo>
                  <a:pt x="1447" y="422"/>
                  <a:pt x="1555" y="519"/>
                  <a:pt x="1560" y="511"/>
                </a:cubicBezTo>
                <a:cubicBezTo>
                  <a:pt x="1565" y="503"/>
                  <a:pt x="1463" y="391"/>
                  <a:pt x="1472" y="383"/>
                </a:cubicBezTo>
                <a:cubicBezTo>
                  <a:pt x="1481" y="375"/>
                  <a:pt x="1607" y="472"/>
                  <a:pt x="1616" y="463"/>
                </a:cubicBezTo>
                <a:cubicBezTo>
                  <a:pt x="1625" y="454"/>
                  <a:pt x="1521" y="337"/>
                  <a:pt x="1528" y="327"/>
                </a:cubicBezTo>
                <a:cubicBezTo>
                  <a:pt x="1535" y="317"/>
                  <a:pt x="1648" y="411"/>
                  <a:pt x="1656" y="403"/>
                </a:cubicBezTo>
                <a:cubicBezTo>
                  <a:pt x="1664" y="395"/>
                  <a:pt x="1574" y="299"/>
                  <a:pt x="1576" y="279"/>
                </a:cubicBezTo>
                <a:cubicBezTo>
                  <a:pt x="1578" y="259"/>
                  <a:pt x="1619" y="326"/>
                  <a:pt x="1667" y="280"/>
                </a:cubicBezTo>
                <a:cubicBezTo>
                  <a:pt x="1715" y="234"/>
                  <a:pt x="1822" y="58"/>
                  <a:pt x="1863"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5525" name="AutoShape 5">
            <a:extLst>
              <a:ext uri="{FF2B5EF4-FFF2-40B4-BE49-F238E27FC236}">
                <a16:creationId xmlns:a16="http://schemas.microsoft.com/office/drawing/2014/main" id="{046A04D5-2B0A-4F84-BF81-EB9B94BDEC42}"/>
              </a:ext>
            </a:extLst>
          </p:cNvPr>
          <p:cNvSpPr>
            <a:spLocks noChangeArrowheads="1"/>
          </p:cNvSpPr>
          <p:nvPr/>
        </p:nvSpPr>
        <p:spPr bwMode="auto">
          <a:xfrm>
            <a:off x="4292601" y="3581400"/>
            <a:ext cx="150813" cy="152400"/>
          </a:xfrm>
          <a:prstGeom prst="octagon">
            <a:avLst>
              <a:gd name="adj" fmla="val 29287"/>
            </a:avLst>
          </a:prstGeom>
          <a:solidFill>
            <a:srgbClr val="008E00"/>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5526" name="Text Box 6">
            <a:extLst>
              <a:ext uri="{FF2B5EF4-FFF2-40B4-BE49-F238E27FC236}">
                <a16:creationId xmlns:a16="http://schemas.microsoft.com/office/drawing/2014/main" id="{F9C6E474-B9E7-47E1-9E99-3491BEDEA470}"/>
              </a:ext>
            </a:extLst>
          </p:cNvPr>
          <p:cNvSpPr txBox="1">
            <a:spLocks noChangeArrowheads="1"/>
          </p:cNvSpPr>
          <p:nvPr/>
        </p:nvSpPr>
        <p:spPr bwMode="auto">
          <a:xfrm>
            <a:off x="2832100" y="342900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Go-go</a:t>
            </a:r>
          </a:p>
        </p:txBody>
      </p:sp>
      <p:sp>
        <p:nvSpPr>
          <p:cNvPr id="875527" name="Text Box 7">
            <a:extLst>
              <a:ext uri="{FF2B5EF4-FFF2-40B4-BE49-F238E27FC236}">
                <a16:creationId xmlns:a16="http://schemas.microsoft.com/office/drawing/2014/main" id="{414D4107-F786-4B32-84A9-771731B4F422}"/>
              </a:ext>
            </a:extLst>
          </p:cNvPr>
          <p:cNvSpPr txBox="1">
            <a:spLocks noChangeArrowheads="1"/>
          </p:cNvSpPr>
          <p:nvPr/>
        </p:nvSpPr>
        <p:spPr bwMode="auto">
          <a:xfrm>
            <a:off x="5148264" y="2754313"/>
            <a:ext cx="5692775"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From:	More is Better</a:t>
            </a:r>
          </a:p>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To:	Better is More</a:t>
            </a:r>
          </a:p>
          <a:p>
            <a:pPr>
              <a:spcBef>
                <a:spcPct val="20000"/>
              </a:spcBef>
              <a:spcAft>
                <a:spcPct val="20000"/>
              </a:spcAft>
              <a:buClr>
                <a:srgbClr val="009900"/>
              </a:buClr>
              <a:buFont typeface="Wingdings" panose="05000000000000000000" pitchFamily="2" charset="2"/>
              <a:buNone/>
            </a:pPr>
            <a:endParaRPr lang="en-US" altLang="en-US">
              <a:latin typeface="Tahoma" panose="020B0604030504040204" pitchFamily="34" charset="0"/>
            </a:endParaRPr>
          </a:p>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New Definition of the Company</a:t>
            </a:r>
          </a:p>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Change of Organization Structure</a:t>
            </a:r>
          </a:p>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Change of Incentive Systems</a:t>
            </a:r>
          </a:p>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Change Accountability and Information System</a:t>
            </a:r>
          </a:p>
          <a:p>
            <a:pPr>
              <a:spcBef>
                <a:spcPct val="20000"/>
              </a:spcBef>
              <a:spcAft>
                <a:spcPct val="20000"/>
              </a:spcAft>
              <a:buClr>
                <a:srgbClr val="009900"/>
              </a:buClr>
              <a:buFont typeface="Wingdings" panose="05000000000000000000" pitchFamily="2" charset="2"/>
              <a:buNone/>
            </a:pPr>
            <a:r>
              <a:rPr lang="en-US" altLang="en-US">
                <a:latin typeface="Tahoma" panose="020B0604030504040204" pitchFamily="34" charset="0"/>
              </a:rPr>
              <a:t>Leadership Transition</a:t>
            </a:r>
          </a:p>
        </p:txBody>
      </p:sp>
      <p:sp>
        <p:nvSpPr>
          <p:cNvPr id="875528" name="Text Box 8">
            <a:extLst>
              <a:ext uri="{FF2B5EF4-FFF2-40B4-BE49-F238E27FC236}">
                <a16:creationId xmlns:a16="http://schemas.microsoft.com/office/drawing/2014/main" id="{45694F9B-9138-4F73-814A-D8F93A067358}"/>
              </a:ext>
            </a:extLst>
          </p:cNvPr>
          <p:cNvSpPr txBox="1">
            <a:spLocks noChangeArrowheads="1"/>
          </p:cNvSpPr>
          <p:nvPr/>
        </p:nvSpPr>
        <p:spPr bwMode="auto">
          <a:xfrm>
            <a:off x="6096000" y="1303338"/>
            <a:ext cx="4572000" cy="1084262"/>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2600">
                <a:solidFill>
                  <a:srgbClr val="FF0033"/>
                </a:solidFill>
                <a:effectLst>
                  <a:outerShdw blurRad="38100" dist="38100" dir="2700000" algn="tl">
                    <a:srgbClr val="C0C0C0"/>
                  </a:outerShdw>
                </a:effectLst>
                <a:latin typeface="Tahoma" pitchFamily="-111" charset="0"/>
                <a:ea typeface="ＭＳ Ｐゴシック" pitchFamily="-111" charset="-128"/>
              </a:rPr>
              <a:t>Needs:</a:t>
            </a:r>
            <a:r>
              <a:rPr lang="en-US" sz="2600">
                <a:effectLst>
                  <a:outerShdw blurRad="38100" dist="38100" dir="2700000" algn="tl">
                    <a:srgbClr val="C0C0C0"/>
                  </a:outerShdw>
                </a:effectLst>
                <a:latin typeface="Tahoma" pitchFamily="-111" charset="0"/>
                <a:ea typeface="ＭＳ Ｐゴシック" pitchFamily="-111" charset="-128"/>
              </a:rPr>
              <a:t> </a:t>
            </a:r>
          </a:p>
          <a:p>
            <a:pPr>
              <a:spcBef>
                <a:spcPct val="50000"/>
              </a:spcBef>
              <a:defRPr/>
            </a:pPr>
            <a:r>
              <a:rPr lang="en-US" sz="2600">
                <a:effectLst>
                  <a:outerShdw blurRad="38100" dist="38100" dir="2700000" algn="tl">
                    <a:srgbClr val="C0C0C0"/>
                  </a:outerShdw>
                </a:effectLst>
                <a:latin typeface="Tahoma" pitchFamily="-111" charset="0"/>
                <a:ea typeface="ＭＳ Ｐゴシック" pitchFamily="-111" charset="-128"/>
              </a:rPr>
              <a:t>Transition</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875524"/>
                                        </p:tgtEl>
                                        <p:attrNameLst>
                                          <p:attrName>style.visibility</p:attrName>
                                        </p:attrNameLst>
                                      </p:cBhvr>
                                      <p:to>
                                        <p:strVal val="visible"/>
                                      </p:to>
                                    </p:set>
                                    <p:animEffect transition="in" filter="wipe(down)">
                                      <p:cBhvr>
                                        <p:cTn id="7" dur="500"/>
                                        <p:tgtEl>
                                          <p:spTgt spid="8755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75526"/>
                                        </p:tgtEl>
                                        <p:attrNameLst>
                                          <p:attrName>style.visibility</p:attrName>
                                        </p:attrNameLst>
                                      </p:cBhvr>
                                      <p:to>
                                        <p:strVal val="visible"/>
                                      </p:to>
                                    </p:set>
                                    <p:animEffect transition="in" filter="fade">
                                      <p:cBhvr>
                                        <p:cTn id="10" dur="500"/>
                                        <p:tgtEl>
                                          <p:spTgt spid="8755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75525"/>
                                        </p:tgtEl>
                                        <p:attrNameLst>
                                          <p:attrName>style.visibility</p:attrName>
                                        </p:attrNameLst>
                                      </p:cBhvr>
                                      <p:to>
                                        <p:strVal val="visible"/>
                                      </p:to>
                                    </p:set>
                                    <p:animEffect transition="in" filter="fade">
                                      <p:cBhvr>
                                        <p:cTn id="13" dur="500"/>
                                        <p:tgtEl>
                                          <p:spTgt spid="87552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75528"/>
                                        </p:tgtEl>
                                        <p:attrNameLst>
                                          <p:attrName>style.visibility</p:attrName>
                                        </p:attrNameLst>
                                      </p:cBhvr>
                                      <p:to>
                                        <p:strVal val="visible"/>
                                      </p:to>
                                    </p:set>
                                    <p:animEffect transition="in" filter="fade">
                                      <p:cBhvr>
                                        <p:cTn id="18" dur="1000"/>
                                        <p:tgtEl>
                                          <p:spTgt spid="87552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87552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875527">
                                            <p:txEl>
                                              <p:pRg st="0" end="0"/>
                                            </p:txEl>
                                          </p:spTgt>
                                        </p:tgtEl>
                                        <p:attrNameLst>
                                          <p:attrName>ppt_c</p:attrName>
                                        </p:attrNameLst>
                                      </p:cBhvr>
                                      <p:to>
                                        <a:schemeClr val="folHlink"/>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87552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875527">
                                            <p:txEl>
                                              <p:pRg st="1" end="1"/>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7552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875527">
                                            <p:txEl>
                                              <p:pRg st="3" end="3"/>
                                            </p:txEl>
                                          </p:spTgt>
                                        </p:tgtEl>
                                        <p:attrNameLst>
                                          <p:attrName>ppt_c</p:attrName>
                                        </p:attrNameLst>
                                      </p:cBhvr>
                                      <p:to>
                                        <a:schemeClr val="folHlink"/>
                                      </p:to>
                                    </p:animClr>
                                  </p:sub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87552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875527">
                                            <p:txEl>
                                              <p:pRg st="4" end="4"/>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875527">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875527">
                                            <p:txEl>
                                              <p:pRg st="5" end="5"/>
                                            </p:txEl>
                                          </p:spTgt>
                                        </p:tgtEl>
                                        <p:attrNameLst>
                                          <p:attrName>ppt_c</p:attrName>
                                        </p:attrNameLst>
                                      </p:cBhvr>
                                      <p:to>
                                        <a:schemeClr val="folHlink"/>
                                      </p:to>
                                    </p:animClr>
                                  </p:sub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875527">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875527">
                                            <p:txEl>
                                              <p:pRg st="6" end="6"/>
                                            </p:txEl>
                                          </p:spTgt>
                                        </p:tgtEl>
                                        <p:attrNameLst>
                                          <p:attrName>ppt_c</p:attrName>
                                        </p:attrNameLst>
                                      </p:cBhvr>
                                      <p:to>
                                        <a:schemeClr val="folHlink"/>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875527">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875527">
                                            <p:txEl>
                                              <p:pRg st="7" end="7"/>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5525" grpId="0" animBg="1"/>
      <p:bldP spid="875526" grpId="0"/>
      <p:bldP spid="8755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26216F08-752E-4BF2-BF3D-1CA4426A019D}"/>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31747" name="Rectangle 3">
            <a:extLst>
              <a:ext uri="{FF2B5EF4-FFF2-40B4-BE49-F238E27FC236}">
                <a16:creationId xmlns:a16="http://schemas.microsoft.com/office/drawing/2014/main" id="{E277CA87-8BF3-495E-9226-E59101468753}"/>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6548" name="Freeform 4">
            <a:extLst>
              <a:ext uri="{FF2B5EF4-FFF2-40B4-BE49-F238E27FC236}">
                <a16:creationId xmlns:a16="http://schemas.microsoft.com/office/drawing/2014/main" id="{0D0E2EBF-A109-45F8-9768-DD06B9A86A06}"/>
              </a:ext>
            </a:extLst>
          </p:cNvPr>
          <p:cNvSpPr>
            <a:spLocks/>
          </p:cNvSpPr>
          <p:nvPr/>
        </p:nvSpPr>
        <p:spPr bwMode="auto">
          <a:xfrm>
            <a:off x="2452688" y="2286001"/>
            <a:ext cx="2957512" cy="3414713"/>
          </a:xfrm>
          <a:custGeom>
            <a:avLst/>
            <a:gdLst>
              <a:gd name="T0" fmla="*/ 0 w 1863"/>
              <a:gd name="T1" fmla="*/ 2147483646 h 2151"/>
              <a:gd name="T2" fmla="*/ 2147483646 w 1863"/>
              <a:gd name="T3" fmla="*/ 2147483646 h 2151"/>
              <a:gd name="T4" fmla="*/ 2147483646 w 1863"/>
              <a:gd name="T5" fmla="*/ 2147483646 h 2151"/>
              <a:gd name="T6" fmla="*/ 2147483646 w 1863"/>
              <a:gd name="T7" fmla="*/ 2147483646 h 2151"/>
              <a:gd name="T8" fmla="*/ 2147483646 w 1863"/>
              <a:gd name="T9" fmla="*/ 2147483646 h 2151"/>
              <a:gd name="T10" fmla="*/ 2147483646 w 1863"/>
              <a:gd name="T11" fmla="*/ 2147483646 h 2151"/>
              <a:gd name="T12" fmla="*/ 2147483646 w 1863"/>
              <a:gd name="T13" fmla="*/ 2147483646 h 2151"/>
              <a:gd name="T14" fmla="*/ 2147483646 w 1863"/>
              <a:gd name="T15" fmla="*/ 2147483646 h 2151"/>
              <a:gd name="T16" fmla="*/ 2147483646 w 1863"/>
              <a:gd name="T17" fmla="*/ 2147483646 h 2151"/>
              <a:gd name="T18" fmla="*/ 2147483646 w 1863"/>
              <a:gd name="T19" fmla="*/ 2147483646 h 2151"/>
              <a:gd name="T20" fmla="*/ 2147483646 w 1863"/>
              <a:gd name="T21" fmla="*/ 2147483646 h 2151"/>
              <a:gd name="T22" fmla="*/ 2147483646 w 1863"/>
              <a:gd name="T23" fmla="*/ 2147483646 h 2151"/>
              <a:gd name="T24" fmla="*/ 2147483646 w 1863"/>
              <a:gd name="T25" fmla="*/ 2147483646 h 2151"/>
              <a:gd name="T26" fmla="*/ 2147483646 w 1863"/>
              <a:gd name="T27" fmla="*/ 2147483646 h 2151"/>
              <a:gd name="T28" fmla="*/ 2147483646 w 1863"/>
              <a:gd name="T29" fmla="*/ 2147483646 h 2151"/>
              <a:gd name="T30" fmla="*/ 2147483646 w 1863"/>
              <a:gd name="T31" fmla="*/ 2147483646 h 2151"/>
              <a:gd name="T32" fmla="*/ 2147483646 w 1863"/>
              <a:gd name="T33" fmla="*/ 2147483646 h 2151"/>
              <a:gd name="T34" fmla="*/ 2147483646 w 1863"/>
              <a:gd name="T35" fmla="*/ 2147483646 h 2151"/>
              <a:gd name="T36" fmla="*/ 2147483646 w 1863"/>
              <a:gd name="T37" fmla="*/ 2147483646 h 2151"/>
              <a:gd name="T38" fmla="*/ 2147483646 w 1863"/>
              <a:gd name="T39" fmla="*/ 2147483646 h 2151"/>
              <a:gd name="T40" fmla="*/ 2147483646 w 1863"/>
              <a:gd name="T41" fmla="*/ 2147483646 h 2151"/>
              <a:gd name="T42" fmla="*/ 2147483646 w 1863"/>
              <a:gd name="T43" fmla="*/ 2147483646 h 2151"/>
              <a:gd name="T44" fmla="*/ 2147483646 w 1863"/>
              <a:gd name="T45" fmla="*/ 2147483646 h 2151"/>
              <a:gd name="T46" fmla="*/ 2147483646 w 1863"/>
              <a:gd name="T47" fmla="*/ 2147483646 h 2151"/>
              <a:gd name="T48" fmla="*/ 2147483646 w 1863"/>
              <a:gd name="T49" fmla="*/ 2147483646 h 2151"/>
              <a:gd name="T50" fmla="*/ 2147483646 w 1863"/>
              <a:gd name="T51" fmla="*/ 0 h 215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863"/>
              <a:gd name="T79" fmla="*/ 0 h 2151"/>
              <a:gd name="T80" fmla="*/ 1863 w 1863"/>
              <a:gd name="T81" fmla="*/ 2151 h 215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863" h="2151">
                <a:moveTo>
                  <a:pt x="0" y="2151"/>
                </a:moveTo>
                <a:cubicBezTo>
                  <a:pt x="21" y="2148"/>
                  <a:pt x="79" y="2150"/>
                  <a:pt x="128" y="2135"/>
                </a:cubicBezTo>
                <a:cubicBezTo>
                  <a:pt x="177" y="2120"/>
                  <a:pt x="244" y="2099"/>
                  <a:pt x="296" y="2063"/>
                </a:cubicBezTo>
                <a:cubicBezTo>
                  <a:pt x="348" y="2027"/>
                  <a:pt x="424" y="1961"/>
                  <a:pt x="440" y="1922"/>
                </a:cubicBezTo>
                <a:cubicBezTo>
                  <a:pt x="456" y="1883"/>
                  <a:pt x="376" y="1827"/>
                  <a:pt x="392" y="1827"/>
                </a:cubicBezTo>
                <a:cubicBezTo>
                  <a:pt x="408" y="1827"/>
                  <a:pt x="527" y="1930"/>
                  <a:pt x="535" y="1922"/>
                </a:cubicBezTo>
                <a:cubicBezTo>
                  <a:pt x="543" y="1914"/>
                  <a:pt x="441" y="1801"/>
                  <a:pt x="440" y="1779"/>
                </a:cubicBezTo>
                <a:cubicBezTo>
                  <a:pt x="439" y="1757"/>
                  <a:pt x="480" y="1831"/>
                  <a:pt x="528" y="1791"/>
                </a:cubicBezTo>
                <a:cubicBezTo>
                  <a:pt x="576" y="1751"/>
                  <a:pt x="613" y="1693"/>
                  <a:pt x="726" y="1540"/>
                </a:cubicBezTo>
                <a:cubicBezTo>
                  <a:pt x="839" y="1387"/>
                  <a:pt x="1100" y="1013"/>
                  <a:pt x="1204" y="870"/>
                </a:cubicBezTo>
                <a:cubicBezTo>
                  <a:pt x="1308" y="727"/>
                  <a:pt x="1332" y="727"/>
                  <a:pt x="1348" y="679"/>
                </a:cubicBezTo>
                <a:cubicBezTo>
                  <a:pt x="1364" y="631"/>
                  <a:pt x="1285" y="587"/>
                  <a:pt x="1300" y="584"/>
                </a:cubicBezTo>
                <a:cubicBezTo>
                  <a:pt x="1315" y="581"/>
                  <a:pt x="1428" y="667"/>
                  <a:pt x="1436" y="659"/>
                </a:cubicBezTo>
                <a:cubicBezTo>
                  <a:pt x="1444" y="651"/>
                  <a:pt x="1342" y="543"/>
                  <a:pt x="1348" y="536"/>
                </a:cubicBezTo>
                <a:cubicBezTo>
                  <a:pt x="1354" y="529"/>
                  <a:pt x="1464" y="623"/>
                  <a:pt x="1472" y="615"/>
                </a:cubicBezTo>
                <a:cubicBezTo>
                  <a:pt x="1480" y="607"/>
                  <a:pt x="1388" y="497"/>
                  <a:pt x="1396" y="488"/>
                </a:cubicBezTo>
                <a:cubicBezTo>
                  <a:pt x="1404" y="479"/>
                  <a:pt x="1513" y="572"/>
                  <a:pt x="1520" y="563"/>
                </a:cubicBezTo>
                <a:cubicBezTo>
                  <a:pt x="1527" y="554"/>
                  <a:pt x="1433" y="440"/>
                  <a:pt x="1440" y="431"/>
                </a:cubicBezTo>
                <a:cubicBezTo>
                  <a:pt x="1447" y="422"/>
                  <a:pt x="1555" y="519"/>
                  <a:pt x="1560" y="511"/>
                </a:cubicBezTo>
                <a:cubicBezTo>
                  <a:pt x="1565" y="503"/>
                  <a:pt x="1463" y="391"/>
                  <a:pt x="1472" y="383"/>
                </a:cubicBezTo>
                <a:cubicBezTo>
                  <a:pt x="1481" y="375"/>
                  <a:pt x="1607" y="472"/>
                  <a:pt x="1616" y="463"/>
                </a:cubicBezTo>
                <a:cubicBezTo>
                  <a:pt x="1625" y="454"/>
                  <a:pt x="1521" y="337"/>
                  <a:pt x="1528" y="327"/>
                </a:cubicBezTo>
                <a:cubicBezTo>
                  <a:pt x="1535" y="317"/>
                  <a:pt x="1648" y="411"/>
                  <a:pt x="1656" y="403"/>
                </a:cubicBezTo>
                <a:cubicBezTo>
                  <a:pt x="1664" y="395"/>
                  <a:pt x="1574" y="299"/>
                  <a:pt x="1576" y="279"/>
                </a:cubicBezTo>
                <a:cubicBezTo>
                  <a:pt x="1578" y="259"/>
                  <a:pt x="1619" y="326"/>
                  <a:pt x="1667" y="280"/>
                </a:cubicBezTo>
                <a:cubicBezTo>
                  <a:pt x="1715" y="234"/>
                  <a:pt x="1822" y="58"/>
                  <a:pt x="1863"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6549" name="AutoShape 5">
            <a:extLst>
              <a:ext uri="{FF2B5EF4-FFF2-40B4-BE49-F238E27FC236}">
                <a16:creationId xmlns:a16="http://schemas.microsoft.com/office/drawing/2014/main" id="{A3A83A07-3F49-4352-8181-6616B20E4D43}"/>
              </a:ext>
            </a:extLst>
          </p:cNvPr>
          <p:cNvSpPr>
            <a:spLocks noChangeArrowheads="1"/>
          </p:cNvSpPr>
          <p:nvPr/>
        </p:nvSpPr>
        <p:spPr bwMode="auto">
          <a:xfrm>
            <a:off x="3590926" y="4567238"/>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6550" name="AutoShape 6">
            <a:extLst>
              <a:ext uri="{FF2B5EF4-FFF2-40B4-BE49-F238E27FC236}">
                <a16:creationId xmlns:a16="http://schemas.microsoft.com/office/drawing/2014/main" id="{CD42803A-05FC-41B2-A1BD-168688E3DCDE}"/>
              </a:ext>
            </a:extLst>
          </p:cNvPr>
          <p:cNvSpPr>
            <a:spLocks noChangeArrowheads="1"/>
          </p:cNvSpPr>
          <p:nvPr/>
        </p:nvSpPr>
        <p:spPr bwMode="auto">
          <a:xfrm>
            <a:off x="2832101" y="5478463"/>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6551" name="Freeform 7">
            <a:extLst>
              <a:ext uri="{FF2B5EF4-FFF2-40B4-BE49-F238E27FC236}">
                <a16:creationId xmlns:a16="http://schemas.microsoft.com/office/drawing/2014/main" id="{CA15C3FA-D15D-40DD-8F7E-7E1BACC2611C}"/>
              </a:ext>
            </a:extLst>
          </p:cNvPr>
          <p:cNvSpPr>
            <a:spLocks/>
          </p:cNvSpPr>
          <p:nvPr/>
        </p:nvSpPr>
        <p:spPr bwMode="auto">
          <a:xfrm>
            <a:off x="3079751" y="522287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6552" name="Text Box 8">
            <a:extLst>
              <a:ext uri="{FF2B5EF4-FFF2-40B4-BE49-F238E27FC236}">
                <a16:creationId xmlns:a16="http://schemas.microsoft.com/office/drawing/2014/main" id="{250B0651-3D05-4BF2-A538-EC431F31A5EB}"/>
              </a:ext>
            </a:extLst>
          </p:cNvPr>
          <p:cNvSpPr txBox="1">
            <a:spLocks noChangeArrowheads="1"/>
          </p:cNvSpPr>
          <p:nvPr/>
        </p:nvSpPr>
        <p:spPr bwMode="auto">
          <a:xfrm>
            <a:off x="1693863" y="502285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Courtship</a:t>
            </a:r>
          </a:p>
        </p:txBody>
      </p:sp>
      <p:sp>
        <p:nvSpPr>
          <p:cNvPr id="876553" name="Text Box 9">
            <a:extLst>
              <a:ext uri="{FF2B5EF4-FFF2-40B4-BE49-F238E27FC236}">
                <a16:creationId xmlns:a16="http://schemas.microsoft.com/office/drawing/2014/main" id="{EF79548B-3048-432F-8149-B09F2818278F}"/>
              </a:ext>
            </a:extLst>
          </p:cNvPr>
          <p:cNvSpPr txBox="1">
            <a:spLocks noChangeArrowheads="1"/>
          </p:cNvSpPr>
          <p:nvPr/>
        </p:nvSpPr>
        <p:spPr bwMode="auto">
          <a:xfrm>
            <a:off x="2225675" y="4429126"/>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Infancy</a:t>
            </a:r>
          </a:p>
        </p:txBody>
      </p:sp>
      <p:sp>
        <p:nvSpPr>
          <p:cNvPr id="876554" name="Text Box 10">
            <a:extLst>
              <a:ext uri="{FF2B5EF4-FFF2-40B4-BE49-F238E27FC236}">
                <a16:creationId xmlns:a16="http://schemas.microsoft.com/office/drawing/2014/main" id="{DBE40E90-8FD1-41A6-90A1-11A1005E1B99}"/>
              </a:ext>
            </a:extLst>
          </p:cNvPr>
          <p:cNvSpPr txBox="1">
            <a:spLocks noChangeArrowheads="1"/>
          </p:cNvSpPr>
          <p:nvPr/>
        </p:nvSpPr>
        <p:spPr bwMode="auto">
          <a:xfrm>
            <a:off x="3516314" y="5507039"/>
            <a:ext cx="682625" cy="274637"/>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Affair</a:t>
            </a:r>
          </a:p>
        </p:txBody>
      </p:sp>
      <p:sp>
        <p:nvSpPr>
          <p:cNvPr id="876555" name="Oval 11">
            <a:extLst>
              <a:ext uri="{FF2B5EF4-FFF2-40B4-BE49-F238E27FC236}">
                <a16:creationId xmlns:a16="http://schemas.microsoft.com/office/drawing/2014/main" id="{7714A188-4C1E-495C-B765-17EB4AB46DBC}"/>
              </a:ext>
            </a:extLst>
          </p:cNvPr>
          <p:cNvSpPr>
            <a:spLocks noChangeArrowheads="1"/>
          </p:cNvSpPr>
          <p:nvPr/>
        </p:nvSpPr>
        <p:spPr bwMode="auto">
          <a:xfrm>
            <a:off x="3762376" y="5392739"/>
            <a:ext cx="136525" cy="136525"/>
          </a:xfrm>
          <a:prstGeom prst="ellipse">
            <a:avLst/>
          </a:prstGeom>
          <a:solidFill>
            <a:srgbClr val="FF0033">
              <a:alpha val="39999"/>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6556" name="AutoShape 12">
            <a:extLst>
              <a:ext uri="{FF2B5EF4-FFF2-40B4-BE49-F238E27FC236}">
                <a16:creationId xmlns:a16="http://schemas.microsoft.com/office/drawing/2014/main" id="{AE23E982-6222-4B23-9E15-2797D159610F}"/>
              </a:ext>
            </a:extLst>
          </p:cNvPr>
          <p:cNvSpPr>
            <a:spLocks noChangeArrowheads="1"/>
          </p:cNvSpPr>
          <p:nvPr/>
        </p:nvSpPr>
        <p:spPr bwMode="auto">
          <a:xfrm>
            <a:off x="4292601" y="3581400"/>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6557" name="Text Box 13">
            <a:extLst>
              <a:ext uri="{FF2B5EF4-FFF2-40B4-BE49-F238E27FC236}">
                <a16:creationId xmlns:a16="http://schemas.microsoft.com/office/drawing/2014/main" id="{27402088-D500-49E4-85EF-B1E2B46B08C6}"/>
              </a:ext>
            </a:extLst>
          </p:cNvPr>
          <p:cNvSpPr txBox="1">
            <a:spLocks noChangeArrowheads="1"/>
          </p:cNvSpPr>
          <p:nvPr/>
        </p:nvSpPr>
        <p:spPr bwMode="auto">
          <a:xfrm>
            <a:off x="2832100" y="342900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Go-go</a:t>
            </a:r>
          </a:p>
        </p:txBody>
      </p:sp>
      <p:sp>
        <p:nvSpPr>
          <p:cNvPr id="876558" name="Freeform 14">
            <a:extLst>
              <a:ext uri="{FF2B5EF4-FFF2-40B4-BE49-F238E27FC236}">
                <a16:creationId xmlns:a16="http://schemas.microsoft.com/office/drawing/2014/main" id="{E1AE62F1-66C6-4385-8C19-6A1349081E98}"/>
              </a:ext>
            </a:extLst>
          </p:cNvPr>
          <p:cNvSpPr>
            <a:spLocks/>
          </p:cNvSpPr>
          <p:nvPr/>
        </p:nvSpPr>
        <p:spPr bwMode="auto">
          <a:xfrm>
            <a:off x="3990976" y="403542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6559" name="Text Box 15">
            <a:extLst>
              <a:ext uri="{FF2B5EF4-FFF2-40B4-BE49-F238E27FC236}">
                <a16:creationId xmlns:a16="http://schemas.microsoft.com/office/drawing/2014/main" id="{6F6877CF-4A75-4FDA-948F-26E7D211BD6B}"/>
              </a:ext>
            </a:extLst>
          </p:cNvPr>
          <p:cNvSpPr txBox="1">
            <a:spLocks noChangeArrowheads="1"/>
          </p:cNvSpPr>
          <p:nvPr/>
        </p:nvSpPr>
        <p:spPr bwMode="auto">
          <a:xfrm>
            <a:off x="4351339" y="4278313"/>
            <a:ext cx="909637"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Infant Mortality</a:t>
            </a:r>
          </a:p>
        </p:txBody>
      </p:sp>
      <p:sp>
        <p:nvSpPr>
          <p:cNvPr id="876560" name="Oval 16">
            <a:extLst>
              <a:ext uri="{FF2B5EF4-FFF2-40B4-BE49-F238E27FC236}">
                <a16:creationId xmlns:a16="http://schemas.microsoft.com/office/drawing/2014/main" id="{A28A51C4-B4F2-4644-9D0D-3B788154962D}"/>
              </a:ext>
            </a:extLst>
          </p:cNvPr>
          <p:cNvSpPr>
            <a:spLocks noChangeArrowheads="1"/>
          </p:cNvSpPr>
          <p:nvPr/>
        </p:nvSpPr>
        <p:spPr bwMode="auto">
          <a:xfrm>
            <a:off x="4670426" y="4203701"/>
            <a:ext cx="136525" cy="136525"/>
          </a:xfrm>
          <a:prstGeom prst="ellipse">
            <a:avLst/>
          </a:prstGeom>
          <a:solidFill>
            <a:srgbClr val="FF0033">
              <a:alpha val="50195"/>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6561" name="Text Box 17">
            <a:extLst>
              <a:ext uri="{FF2B5EF4-FFF2-40B4-BE49-F238E27FC236}">
                <a16:creationId xmlns:a16="http://schemas.microsoft.com/office/drawing/2014/main" id="{CF9B20B1-EDF0-4BF5-9D4D-279547991D00}"/>
              </a:ext>
            </a:extLst>
          </p:cNvPr>
          <p:cNvSpPr txBox="1">
            <a:spLocks noChangeArrowheads="1"/>
          </p:cNvSpPr>
          <p:nvPr/>
        </p:nvSpPr>
        <p:spPr bwMode="auto">
          <a:xfrm>
            <a:off x="3363913" y="2366963"/>
            <a:ext cx="1668462" cy="366712"/>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Adolescence</a:t>
            </a:r>
          </a:p>
        </p:txBody>
      </p:sp>
      <p:sp>
        <p:nvSpPr>
          <p:cNvPr id="876562" name="Text Box 18">
            <a:extLst>
              <a:ext uri="{FF2B5EF4-FFF2-40B4-BE49-F238E27FC236}">
                <a16:creationId xmlns:a16="http://schemas.microsoft.com/office/drawing/2014/main" id="{C762E56E-32CA-4A70-9124-46AB60C7B661}"/>
              </a:ext>
            </a:extLst>
          </p:cNvPr>
          <p:cNvSpPr txBox="1">
            <a:spLocks noChangeArrowheads="1"/>
          </p:cNvSpPr>
          <p:nvPr/>
        </p:nvSpPr>
        <p:spPr bwMode="auto">
          <a:xfrm>
            <a:off x="5868988" y="1987550"/>
            <a:ext cx="4343400" cy="444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7800" indent="-177800">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“Us” versus “Them” mentality</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Internal conflicts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Inconsistency in goals and in compensation systems</a:t>
            </a:r>
          </a:p>
          <a:p>
            <a:pPr>
              <a:spcBef>
                <a:spcPct val="20000"/>
              </a:spcBef>
              <a:spcAft>
                <a:spcPct val="20000"/>
              </a:spcAft>
              <a:buClr>
                <a:srgbClr val="008E00"/>
              </a:buClr>
              <a:buFont typeface="Wingdings" panose="05000000000000000000" pitchFamily="2" charset="2"/>
              <a:buChar char="§"/>
            </a:pPr>
            <a:r>
              <a:rPr lang="en-US" altLang="en-US" sz="1800">
                <a:latin typeface="Tahoma" panose="020B0604030504040204" pitchFamily="34" charset="0"/>
              </a:rPr>
              <a:t>Temporary loss of Vision </a:t>
            </a:r>
          </a:p>
          <a:p>
            <a:pPr>
              <a:spcBef>
                <a:spcPct val="20000"/>
              </a:spcBef>
              <a:spcAft>
                <a:spcPct val="20000"/>
              </a:spcAft>
              <a:buClr>
                <a:srgbClr val="008E00"/>
              </a:buClr>
              <a:buFont typeface="Wingdings" panose="05000000000000000000" pitchFamily="2" charset="2"/>
              <a:buChar char="§"/>
            </a:pPr>
            <a:r>
              <a:rPr lang="en-US" altLang="en-US" sz="1800">
                <a:latin typeface="Tahoma" panose="020B0604030504040204" pitchFamily="34" charset="0"/>
              </a:rPr>
              <a:t>Policies made but not adhered to </a:t>
            </a:r>
          </a:p>
          <a:p>
            <a:pPr>
              <a:spcBef>
                <a:spcPct val="20000"/>
              </a:spcBef>
              <a:spcAft>
                <a:spcPct val="20000"/>
              </a:spcAft>
              <a:buClr>
                <a:srgbClr val="008E00"/>
              </a:buClr>
              <a:buFont typeface="Wingdings" panose="05000000000000000000" pitchFamily="2" charset="2"/>
              <a:buChar char="§"/>
            </a:pPr>
            <a:r>
              <a:rPr lang="en-US" altLang="en-US" sz="1800">
                <a:latin typeface="Tahoma" panose="020B0604030504040204" pitchFamily="34" charset="0"/>
              </a:rPr>
              <a:t>Major Transitions: Delegation of Authority, Change in Leadership, and Goals Displacement </a:t>
            </a:r>
          </a:p>
          <a:p>
            <a:pPr>
              <a:spcBef>
                <a:spcPct val="20000"/>
              </a:spcBef>
              <a:spcAft>
                <a:spcPct val="20000"/>
              </a:spcAft>
              <a:buClr>
                <a:srgbClr val="008E00"/>
              </a:buClr>
              <a:buFont typeface="Wingdings" panose="05000000000000000000" pitchFamily="2" charset="2"/>
              <a:buChar char="§"/>
            </a:pPr>
            <a:r>
              <a:rPr lang="en-US" altLang="en-US" sz="1800">
                <a:latin typeface="Tahoma" panose="020B0604030504040204" pitchFamily="34" charset="0"/>
              </a:rPr>
              <a:t>Entrepreneurship feels threatened by Administration</a:t>
            </a:r>
          </a:p>
          <a:p>
            <a:pPr>
              <a:spcBef>
                <a:spcPct val="20000"/>
              </a:spcBef>
              <a:spcAft>
                <a:spcPct val="20000"/>
              </a:spcAft>
              <a:buClr>
                <a:srgbClr val="008E00"/>
              </a:buClr>
              <a:buFont typeface="Wingdings" panose="05000000000000000000" pitchFamily="2" charset="2"/>
              <a:buChar char="§"/>
            </a:pPr>
            <a:r>
              <a:rPr lang="en-US" altLang="en-US" sz="1800">
                <a:latin typeface="Tahoma" panose="020B0604030504040204" pitchFamily="34" charset="0"/>
              </a:rPr>
              <a:t>Yo-Yo: “You’re in charge. No, I’m in charge”</a:t>
            </a:r>
          </a:p>
        </p:txBody>
      </p:sp>
      <p:sp>
        <p:nvSpPr>
          <p:cNvPr id="876563" name="AutoShape 19">
            <a:extLst>
              <a:ext uri="{FF2B5EF4-FFF2-40B4-BE49-F238E27FC236}">
                <a16:creationId xmlns:a16="http://schemas.microsoft.com/office/drawing/2014/main" id="{4D749647-6E4F-4B82-9B3D-7240AA5F67A9}"/>
              </a:ext>
            </a:extLst>
          </p:cNvPr>
          <p:cNvSpPr>
            <a:spLocks noChangeArrowheads="1"/>
          </p:cNvSpPr>
          <p:nvPr/>
        </p:nvSpPr>
        <p:spPr bwMode="auto">
          <a:xfrm>
            <a:off x="5114926" y="2517775"/>
            <a:ext cx="150813"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876548"/>
                                        </p:tgtEl>
                                        <p:attrNameLst>
                                          <p:attrName>style.visibility</p:attrName>
                                        </p:attrNameLst>
                                      </p:cBhvr>
                                      <p:to>
                                        <p:strVal val="visible"/>
                                      </p:to>
                                    </p:set>
                                    <p:animEffect transition="in" filter="wipe(down)">
                                      <p:cBhvr>
                                        <p:cTn id="7" dur="500"/>
                                        <p:tgtEl>
                                          <p:spTgt spid="8765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76550"/>
                                        </p:tgtEl>
                                        <p:attrNameLst>
                                          <p:attrName>style.visibility</p:attrName>
                                        </p:attrNameLst>
                                      </p:cBhvr>
                                      <p:to>
                                        <p:strVal val="visible"/>
                                      </p:to>
                                    </p:set>
                                    <p:animEffect transition="in" filter="fade">
                                      <p:cBhvr>
                                        <p:cTn id="10" dur="500"/>
                                        <p:tgtEl>
                                          <p:spTgt spid="87655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76552"/>
                                        </p:tgtEl>
                                        <p:attrNameLst>
                                          <p:attrName>style.visibility</p:attrName>
                                        </p:attrNameLst>
                                      </p:cBhvr>
                                      <p:to>
                                        <p:strVal val="visible"/>
                                      </p:to>
                                    </p:set>
                                    <p:animEffect transition="in" filter="fade">
                                      <p:cBhvr>
                                        <p:cTn id="13" dur="500"/>
                                        <p:tgtEl>
                                          <p:spTgt spid="876552"/>
                                        </p:tgtEl>
                                      </p:cBhvr>
                                    </p:animEffect>
                                  </p:childTnLst>
                                </p:cTn>
                              </p:par>
                              <p:par>
                                <p:cTn id="14" presetID="22" presetClass="entr" presetSubtype="4" fill="hold" nodeType="withEffect">
                                  <p:stCondLst>
                                    <p:cond delay="0"/>
                                  </p:stCondLst>
                                  <p:childTnLst>
                                    <p:set>
                                      <p:cBhvr>
                                        <p:cTn id="15" dur="1" fill="hold">
                                          <p:stCondLst>
                                            <p:cond delay="0"/>
                                          </p:stCondLst>
                                        </p:cTn>
                                        <p:tgtEl>
                                          <p:spTgt spid="876551"/>
                                        </p:tgtEl>
                                        <p:attrNameLst>
                                          <p:attrName>style.visibility</p:attrName>
                                        </p:attrNameLst>
                                      </p:cBhvr>
                                      <p:to>
                                        <p:strVal val="visible"/>
                                      </p:to>
                                    </p:set>
                                    <p:animEffect transition="in" filter="wipe(down)">
                                      <p:cBhvr>
                                        <p:cTn id="16" dur="500"/>
                                        <p:tgtEl>
                                          <p:spTgt spid="87655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76555"/>
                                        </p:tgtEl>
                                        <p:attrNameLst>
                                          <p:attrName>style.visibility</p:attrName>
                                        </p:attrNameLst>
                                      </p:cBhvr>
                                      <p:to>
                                        <p:strVal val="visible"/>
                                      </p:to>
                                    </p:set>
                                    <p:animEffect transition="in" filter="fade">
                                      <p:cBhvr>
                                        <p:cTn id="19" dur="500"/>
                                        <p:tgtEl>
                                          <p:spTgt spid="87655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76549"/>
                                        </p:tgtEl>
                                        <p:attrNameLst>
                                          <p:attrName>style.visibility</p:attrName>
                                        </p:attrNameLst>
                                      </p:cBhvr>
                                      <p:to>
                                        <p:strVal val="visible"/>
                                      </p:to>
                                    </p:set>
                                    <p:animEffect transition="in" filter="fade">
                                      <p:cBhvr>
                                        <p:cTn id="22" dur="500"/>
                                        <p:tgtEl>
                                          <p:spTgt spid="87654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76554"/>
                                        </p:tgtEl>
                                        <p:attrNameLst>
                                          <p:attrName>style.visibility</p:attrName>
                                        </p:attrNameLst>
                                      </p:cBhvr>
                                      <p:to>
                                        <p:strVal val="visible"/>
                                      </p:to>
                                    </p:set>
                                    <p:animEffect transition="in" filter="fade">
                                      <p:cBhvr>
                                        <p:cTn id="25" dur="500"/>
                                        <p:tgtEl>
                                          <p:spTgt spid="87655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76553"/>
                                        </p:tgtEl>
                                        <p:attrNameLst>
                                          <p:attrName>style.visibility</p:attrName>
                                        </p:attrNameLst>
                                      </p:cBhvr>
                                      <p:to>
                                        <p:strVal val="visible"/>
                                      </p:to>
                                    </p:set>
                                    <p:animEffect transition="in" filter="fade">
                                      <p:cBhvr>
                                        <p:cTn id="28" dur="500"/>
                                        <p:tgtEl>
                                          <p:spTgt spid="876553"/>
                                        </p:tgtEl>
                                      </p:cBhvr>
                                    </p:animEffect>
                                  </p:childTnLst>
                                </p:cTn>
                              </p:par>
                              <p:par>
                                <p:cTn id="29" presetID="22" presetClass="entr" presetSubtype="4" fill="hold" nodeType="withEffect">
                                  <p:stCondLst>
                                    <p:cond delay="0"/>
                                  </p:stCondLst>
                                  <p:childTnLst>
                                    <p:set>
                                      <p:cBhvr>
                                        <p:cTn id="30" dur="1" fill="hold">
                                          <p:stCondLst>
                                            <p:cond delay="0"/>
                                          </p:stCondLst>
                                        </p:cTn>
                                        <p:tgtEl>
                                          <p:spTgt spid="876558"/>
                                        </p:tgtEl>
                                        <p:attrNameLst>
                                          <p:attrName>style.visibility</p:attrName>
                                        </p:attrNameLst>
                                      </p:cBhvr>
                                      <p:to>
                                        <p:strVal val="visible"/>
                                      </p:to>
                                    </p:set>
                                    <p:animEffect transition="in" filter="wipe(down)">
                                      <p:cBhvr>
                                        <p:cTn id="31" dur="500"/>
                                        <p:tgtEl>
                                          <p:spTgt spid="87655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6560"/>
                                        </p:tgtEl>
                                        <p:attrNameLst>
                                          <p:attrName>style.visibility</p:attrName>
                                        </p:attrNameLst>
                                      </p:cBhvr>
                                      <p:to>
                                        <p:strVal val="visible"/>
                                      </p:to>
                                    </p:set>
                                    <p:animEffect transition="in" filter="fade">
                                      <p:cBhvr>
                                        <p:cTn id="34" dur="500"/>
                                        <p:tgtEl>
                                          <p:spTgt spid="87656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76559"/>
                                        </p:tgtEl>
                                        <p:attrNameLst>
                                          <p:attrName>style.visibility</p:attrName>
                                        </p:attrNameLst>
                                      </p:cBhvr>
                                      <p:to>
                                        <p:strVal val="visible"/>
                                      </p:to>
                                    </p:set>
                                    <p:animEffect transition="in" filter="fade">
                                      <p:cBhvr>
                                        <p:cTn id="37" dur="500"/>
                                        <p:tgtEl>
                                          <p:spTgt spid="87655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76557"/>
                                        </p:tgtEl>
                                        <p:attrNameLst>
                                          <p:attrName>style.visibility</p:attrName>
                                        </p:attrNameLst>
                                      </p:cBhvr>
                                      <p:to>
                                        <p:strVal val="visible"/>
                                      </p:to>
                                    </p:set>
                                    <p:animEffect transition="in" filter="fade">
                                      <p:cBhvr>
                                        <p:cTn id="40" dur="500"/>
                                        <p:tgtEl>
                                          <p:spTgt spid="87655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76556"/>
                                        </p:tgtEl>
                                        <p:attrNameLst>
                                          <p:attrName>style.visibility</p:attrName>
                                        </p:attrNameLst>
                                      </p:cBhvr>
                                      <p:to>
                                        <p:strVal val="visible"/>
                                      </p:to>
                                    </p:set>
                                    <p:animEffect transition="in" filter="fade">
                                      <p:cBhvr>
                                        <p:cTn id="43" dur="500"/>
                                        <p:tgtEl>
                                          <p:spTgt spid="87655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876561"/>
                                        </p:tgtEl>
                                        <p:attrNameLst>
                                          <p:attrName>style.visibility</p:attrName>
                                        </p:attrNameLst>
                                      </p:cBhvr>
                                      <p:to>
                                        <p:strVal val="visible"/>
                                      </p:to>
                                    </p:set>
                                    <p:animEffect transition="in" filter="fade">
                                      <p:cBhvr>
                                        <p:cTn id="46" dur="2000"/>
                                        <p:tgtEl>
                                          <p:spTgt spid="876561"/>
                                        </p:tgtEl>
                                      </p:cBhvr>
                                    </p:animEffect>
                                  </p:childTnLst>
                                </p:cTn>
                              </p:par>
                            </p:childTnLst>
                          </p:cTn>
                        </p:par>
                        <p:par>
                          <p:cTn id="47" fill="hold" nodeType="afterGroup">
                            <p:stCondLst>
                              <p:cond delay="2000"/>
                            </p:stCondLst>
                            <p:childTnLst>
                              <p:par>
                                <p:cTn id="48" presetID="10" presetClass="entr" presetSubtype="0" repeatCount="3000" fill="hold" grpId="0" nodeType="afterEffect">
                                  <p:stCondLst>
                                    <p:cond delay="0"/>
                                  </p:stCondLst>
                                  <p:childTnLst>
                                    <p:set>
                                      <p:cBhvr>
                                        <p:cTn id="49" dur="1" fill="hold">
                                          <p:stCondLst>
                                            <p:cond delay="0"/>
                                          </p:stCondLst>
                                        </p:cTn>
                                        <p:tgtEl>
                                          <p:spTgt spid="876563"/>
                                        </p:tgtEl>
                                        <p:attrNameLst>
                                          <p:attrName>style.visibility</p:attrName>
                                        </p:attrNameLst>
                                      </p:cBhvr>
                                      <p:to>
                                        <p:strVal val="visible"/>
                                      </p:to>
                                    </p:set>
                                    <p:animEffect transition="in" filter="fade">
                                      <p:cBhvr>
                                        <p:cTn id="50" dur="1000"/>
                                        <p:tgtEl>
                                          <p:spTgt spid="87656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876562">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876562">
                                            <p:txEl>
                                              <p:pRg st="0" end="0"/>
                                            </p:txEl>
                                          </p:spTgt>
                                        </p:tgtEl>
                                        <p:attrNameLst>
                                          <p:attrName>ppt_c</p:attrName>
                                        </p:attrNameLst>
                                      </p:cBhvr>
                                      <p:to>
                                        <a:schemeClr val="folHlink"/>
                                      </p:to>
                                    </p:animClr>
                                  </p:sub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876562">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876562">
                                            <p:txEl>
                                              <p:pRg st="1" end="1"/>
                                            </p:txEl>
                                          </p:spTgt>
                                        </p:tgtEl>
                                        <p:attrNameLst>
                                          <p:attrName>ppt_c</p:attrName>
                                        </p:attrNameLst>
                                      </p:cBhvr>
                                      <p:to>
                                        <a:schemeClr val="folHlink"/>
                                      </p:to>
                                    </p:animClr>
                                  </p:sub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876562">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876562">
                                            <p:txEl>
                                              <p:pRg st="2" end="2"/>
                                            </p:txEl>
                                          </p:spTgt>
                                        </p:tgtEl>
                                        <p:attrNameLst>
                                          <p:attrName>ppt_c</p:attrName>
                                        </p:attrNameLst>
                                      </p:cBhvr>
                                      <p:to>
                                        <a:schemeClr val="folHlink"/>
                                      </p:to>
                                    </p:animClr>
                                  </p:sub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876562">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876562">
                                            <p:txEl>
                                              <p:pRg st="3" end="3"/>
                                            </p:txEl>
                                          </p:spTgt>
                                        </p:tgtEl>
                                        <p:attrNameLst>
                                          <p:attrName>ppt_c</p:attrName>
                                        </p:attrNameLst>
                                      </p:cBhvr>
                                      <p:to>
                                        <a:schemeClr val="folHlink"/>
                                      </p:to>
                                    </p:animClr>
                                  </p:sub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876562">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876562">
                                            <p:txEl>
                                              <p:pRg st="4" end="4"/>
                                            </p:txEl>
                                          </p:spTgt>
                                        </p:tgtEl>
                                        <p:attrNameLst>
                                          <p:attrName>ppt_c</p:attrName>
                                        </p:attrNameLst>
                                      </p:cBhvr>
                                      <p:to>
                                        <a:schemeClr val="folHlink"/>
                                      </p:to>
                                    </p:animClr>
                                  </p:sub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876562">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876562">
                                            <p:txEl>
                                              <p:pRg st="5" end="5"/>
                                            </p:txEl>
                                          </p:spTgt>
                                        </p:tgtEl>
                                        <p:attrNameLst>
                                          <p:attrName>ppt_c</p:attrName>
                                        </p:attrNameLst>
                                      </p:cBhvr>
                                      <p:to>
                                        <a:schemeClr val="folHlink"/>
                                      </p:to>
                                    </p:animClr>
                                  </p:sub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876562">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876562">
                                            <p:txEl>
                                              <p:pRg st="6" end="6"/>
                                            </p:txEl>
                                          </p:spTgt>
                                        </p:tgtEl>
                                        <p:attrNameLst>
                                          <p:attrName>ppt_c</p:attrName>
                                        </p:attrNameLst>
                                      </p:cBhvr>
                                      <p:to>
                                        <a:schemeClr val="folHlink"/>
                                      </p:to>
                                    </p:animClr>
                                  </p:sub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0"/>
                                          </p:stCondLst>
                                        </p:cTn>
                                        <p:tgtEl>
                                          <p:spTgt spid="87656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549" grpId="0" animBg="1"/>
      <p:bldP spid="876550" grpId="0" animBg="1"/>
      <p:bldP spid="876552" grpId="0"/>
      <p:bldP spid="876553" grpId="0"/>
      <p:bldP spid="876554" grpId="0"/>
      <p:bldP spid="876555" grpId="0" animBg="1"/>
      <p:bldP spid="876556" grpId="0" animBg="1"/>
      <p:bldP spid="876557" grpId="0"/>
      <p:bldP spid="876559" grpId="0"/>
      <p:bldP spid="876560" grpId="0" animBg="1"/>
      <p:bldP spid="876561" grpId="0"/>
      <p:bldP spid="87656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2819CA36-8F41-47C5-97C0-1861D1C5AE45}"/>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33795" name="Rectangle 3">
            <a:extLst>
              <a:ext uri="{FF2B5EF4-FFF2-40B4-BE49-F238E27FC236}">
                <a16:creationId xmlns:a16="http://schemas.microsoft.com/office/drawing/2014/main" id="{0C09239D-6960-402C-A7B8-B57466A5AC3E}"/>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33796" name="Freeform 4">
            <a:extLst>
              <a:ext uri="{FF2B5EF4-FFF2-40B4-BE49-F238E27FC236}">
                <a16:creationId xmlns:a16="http://schemas.microsoft.com/office/drawing/2014/main" id="{AEAD273E-A224-442C-BEEB-8FFE159C2912}"/>
              </a:ext>
            </a:extLst>
          </p:cNvPr>
          <p:cNvSpPr>
            <a:spLocks/>
          </p:cNvSpPr>
          <p:nvPr/>
        </p:nvSpPr>
        <p:spPr bwMode="auto">
          <a:xfrm>
            <a:off x="2452688" y="2286001"/>
            <a:ext cx="2957512" cy="3414713"/>
          </a:xfrm>
          <a:custGeom>
            <a:avLst/>
            <a:gdLst>
              <a:gd name="T0" fmla="*/ 0 w 1863"/>
              <a:gd name="T1" fmla="*/ 2147483646 h 2151"/>
              <a:gd name="T2" fmla="*/ 2147483646 w 1863"/>
              <a:gd name="T3" fmla="*/ 2147483646 h 2151"/>
              <a:gd name="T4" fmla="*/ 2147483646 w 1863"/>
              <a:gd name="T5" fmla="*/ 2147483646 h 2151"/>
              <a:gd name="T6" fmla="*/ 2147483646 w 1863"/>
              <a:gd name="T7" fmla="*/ 2147483646 h 2151"/>
              <a:gd name="T8" fmla="*/ 2147483646 w 1863"/>
              <a:gd name="T9" fmla="*/ 2147483646 h 2151"/>
              <a:gd name="T10" fmla="*/ 2147483646 w 1863"/>
              <a:gd name="T11" fmla="*/ 2147483646 h 2151"/>
              <a:gd name="T12" fmla="*/ 2147483646 w 1863"/>
              <a:gd name="T13" fmla="*/ 2147483646 h 2151"/>
              <a:gd name="T14" fmla="*/ 2147483646 w 1863"/>
              <a:gd name="T15" fmla="*/ 2147483646 h 2151"/>
              <a:gd name="T16" fmla="*/ 2147483646 w 1863"/>
              <a:gd name="T17" fmla="*/ 2147483646 h 2151"/>
              <a:gd name="T18" fmla="*/ 2147483646 w 1863"/>
              <a:gd name="T19" fmla="*/ 2147483646 h 2151"/>
              <a:gd name="T20" fmla="*/ 2147483646 w 1863"/>
              <a:gd name="T21" fmla="*/ 2147483646 h 2151"/>
              <a:gd name="T22" fmla="*/ 2147483646 w 1863"/>
              <a:gd name="T23" fmla="*/ 2147483646 h 2151"/>
              <a:gd name="T24" fmla="*/ 2147483646 w 1863"/>
              <a:gd name="T25" fmla="*/ 2147483646 h 2151"/>
              <a:gd name="T26" fmla="*/ 2147483646 w 1863"/>
              <a:gd name="T27" fmla="*/ 2147483646 h 2151"/>
              <a:gd name="T28" fmla="*/ 2147483646 w 1863"/>
              <a:gd name="T29" fmla="*/ 2147483646 h 2151"/>
              <a:gd name="T30" fmla="*/ 2147483646 w 1863"/>
              <a:gd name="T31" fmla="*/ 2147483646 h 2151"/>
              <a:gd name="T32" fmla="*/ 2147483646 w 1863"/>
              <a:gd name="T33" fmla="*/ 2147483646 h 2151"/>
              <a:gd name="T34" fmla="*/ 2147483646 w 1863"/>
              <a:gd name="T35" fmla="*/ 2147483646 h 2151"/>
              <a:gd name="T36" fmla="*/ 2147483646 w 1863"/>
              <a:gd name="T37" fmla="*/ 2147483646 h 2151"/>
              <a:gd name="T38" fmla="*/ 2147483646 w 1863"/>
              <a:gd name="T39" fmla="*/ 2147483646 h 2151"/>
              <a:gd name="T40" fmla="*/ 2147483646 w 1863"/>
              <a:gd name="T41" fmla="*/ 2147483646 h 2151"/>
              <a:gd name="T42" fmla="*/ 2147483646 w 1863"/>
              <a:gd name="T43" fmla="*/ 2147483646 h 2151"/>
              <a:gd name="T44" fmla="*/ 2147483646 w 1863"/>
              <a:gd name="T45" fmla="*/ 2147483646 h 2151"/>
              <a:gd name="T46" fmla="*/ 2147483646 w 1863"/>
              <a:gd name="T47" fmla="*/ 2147483646 h 2151"/>
              <a:gd name="T48" fmla="*/ 2147483646 w 1863"/>
              <a:gd name="T49" fmla="*/ 2147483646 h 2151"/>
              <a:gd name="T50" fmla="*/ 2147483646 w 1863"/>
              <a:gd name="T51" fmla="*/ 0 h 215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863"/>
              <a:gd name="T79" fmla="*/ 0 h 2151"/>
              <a:gd name="T80" fmla="*/ 1863 w 1863"/>
              <a:gd name="T81" fmla="*/ 2151 h 215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863" h="2151">
                <a:moveTo>
                  <a:pt x="0" y="2151"/>
                </a:moveTo>
                <a:cubicBezTo>
                  <a:pt x="21" y="2148"/>
                  <a:pt x="79" y="2150"/>
                  <a:pt x="128" y="2135"/>
                </a:cubicBezTo>
                <a:cubicBezTo>
                  <a:pt x="177" y="2120"/>
                  <a:pt x="244" y="2099"/>
                  <a:pt x="296" y="2063"/>
                </a:cubicBezTo>
                <a:cubicBezTo>
                  <a:pt x="348" y="2027"/>
                  <a:pt x="424" y="1961"/>
                  <a:pt x="440" y="1922"/>
                </a:cubicBezTo>
                <a:cubicBezTo>
                  <a:pt x="456" y="1883"/>
                  <a:pt x="376" y="1827"/>
                  <a:pt x="392" y="1827"/>
                </a:cubicBezTo>
                <a:cubicBezTo>
                  <a:pt x="408" y="1827"/>
                  <a:pt x="527" y="1930"/>
                  <a:pt x="535" y="1922"/>
                </a:cubicBezTo>
                <a:cubicBezTo>
                  <a:pt x="543" y="1914"/>
                  <a:pt x="441" y="1801"/>
                  <a:pt x="440" y="1779"/>
                </a:cubicBezTo>
                <a:cubicBezTo>
                  <a:pt x="439" y="1757"/>
                  <a:pt x="480" y="1831"/>
                  <a:pt x="528" y="1791"/>
                </a:cubicBezTo>
                <a:cubicBezTo>
                  <a:pt x="576" y="1751"/>
                  <a:pt x="613" y="1693"/>
                  <a:pt x="726" y="1540"/>
                </a:cubicBezTo>
                <a:cubicBezTo>
                  <a:pt x="839" y="1387"/>
                  <a:pt x="1100" y="1013"/>
                  <a:pt x="1204" y="870"/>
                </a:cubicBezTo>
                <a:cubicBezTo>
                  <a:pt x="1308" y="727"/>
                  <a:pt x="1332" y="727"/>
                  <a:pt x="1348" y="679"/>
                </a:cubicBezTo>
                <a:cubicBezTo>
                  <a:pt x="1364" y="631"/>
                  <a:pt x="1285" y="587"/>
                  <a:pt x="1300" y="584"/>
                </a:cubicBezTo>
                <a:cubicBezTo>
                  <a:pt x="1315" y="581"/>
                  <a:pt x="1428" y="667"/>
                  <a:pt x="1436" y="659"/>
                </a:cubicBezTo>
                <a:cubicBezTo>
                  <a:pt x="1444" y="651"/>
                  <a:pt x="1342" y="543"/>
                  <a:pt x="1348" y="536"/>
                </a:cubicBezTo>
                <a:cubicBezTo>
                  <a:pt x="1354" y="529"/>
                  <a:pt x="1464" y="623"/>
                  <a:pt x="1472" y="615"/>
                </a:cubicBezTo>
                <a:cubicBezTo>
                  <a:pt x="1480" y="607"/>
                  <a:pt x="1388" y="497"/>
                  <a:pt x="1396" y="488"/>
                </a:cubicBezTo>
                <a:cubicBezTo>
                  <a:pt x="1404" y="479"/>
                  <a:pt x="1513" y="572"/>
                  <a:pt x="1520" y="563"/>
                </a:cubicBezTo>
                <a:cubicBezTo>
                  <a:pt x="1527" y="554"/>
                  <a:pt x="1433" y="440"/>
                  <a:pt x="1440" y="431"/>
                </a:cubicBezTo>
                <a:cubicBezTo>
                  <a:pt x="1447" y="422"/>
                  <a:pt x="1555" y="519"/>
                  <a:pt x="1560" y="511"/>
                </a:cubicBezTo>
                <a:cubicBezTo>
                  <a:pt x="1565" y="503"/>
                  <a:pt x="1463" y="391"/>
                  <a:pt x="1472" y="383"/>
                </a:cubicBezTo>
                <a:cubicBezTo>
                  <a:pt x="1481" y="375"/>
                  <a:pt x="1607" y="472"/>
                  <a:pt x="1616" y="463"/>
                </a:cubicBezTo>
                <a:cubicBezTo>
                  <a:pt x="1625" y="454"/>
                  <a:pt x="1521" y="337"/>
                  <a:pt x="1528" y="327"/>
                </a:cubicBezTo>
                <a:cubicBezTo>
                  <a:pt x="1535" y="317"/>
                  <a:pt x="1648" y="411"/>
                  <a:pt x="1656" y="403"/>
                </a:cubicBezTo>
                <a:cubicBezTo>
                  <a:pt x="1664" y="395"/>
                  <a:pt x="1574" y="299"/>
                  <a:pt x="1576" y="279"/>
                </a:cubicBezTo>
                <a:cubicBezTo>
                  <a:pt x="1578" y="259"/>
                  <a:pt x="1619" y="326"/>
                  <a:pt x="1667" y="280"/>
                </a:cubicBezTo>
                <a:cubicBezTo>
                  <a:pt x="1715" y="234"/>
                  <a:pt x="1822" y="58"/>
                  <a:pt x="1863"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797" name="AutoShape 5">
            <a:extLst>
              <a:ext uri="{FF2B5EF4-FFF2-40B4-BE49-F238E27FC236}">
                <a16:creationId xmlns:a16="http://schemas.microsoft.com/office/drawing/2014/main" id="{5D35F44E-6BFE-424D-B397-0AF7A5E1B40D}"/>
              </a:ext>
            </a:extLst>
          </p:cNvPr>
          <p:cNvSpPr>
            <a:spLocks noChangeArrowheads="1"/>
          </p:cNvSpPr>
          <p:nvPr/>
        </p:nvSpPr>
        <p:spPr bwMode="auto">
          <a:xfrm>
            <a:off x="3590926" y="4567238"/>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33798" name="AutoShape 6">
            <a:extLst>
              <a:ext uri="{FF2B5EF4-FFF2-40B4-BE49-F238E27FC236}">
                <a16:creationId xmlns:a16="http://schemas.microsoft.com/office/drawing/2014/main" id="{D22C0D55-15B5-4365-9EA1-91E4F9F35B36}"/>
              </a:ext>
            </a:extLst>
          </p:cNvPr>
          <p:cNvSpPr>
            <a:spLocks noChangeArrowheads="1"/>
          </p:cNvSpPr>
          <p:nvPr/>
        </p:nvSpPr>
        <p:spPr bwMode="auto">
          <a:xfrm>
            <a:off x="2832101" y="5478463"/>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33799" name="Freeform 7">
            <a:extLst>
              <a:ext uri="{FF2B5EF4-FFF2-40B4-BE49-F238E27FC236}">
                <a16:creationId xmlns:a16="http://schemas.microsoft.com/office/drawing/2014/main" id="{7253DAD4-40D5-4468-BAD8-34A897D44258}"/>
              </a:ext>
            </a:extLst>
          </p:cNvPr>
          <p:cNvSpPr>
            <a:spLocks/>
          </p:cNvSpPr>
          <p:nvPr/>
        </p:nvSpPr>
        <p:spPr bwMode="auto">
          <a:xfrm>
            <a:off x="3079751" y="522287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7576" name="Text Box 8">
            <a:extLst>
              <a:ext uri="{FF2B5EF4-FFF2-40B4-BE49-F238E27FC236}">
                <a16:creationId xmlns:a16="http://schemas.microsoft.com/office/drawing/2014/main" id="{07720FE3-36A8-4AE2-87BC-091E38DA9715}"/>
              </a:ext>
            </a:extLst>
          </p:cNvPr>
          <p:cNvSpPr txBox="1">
            <a:spLocks noChangeArrowheads="1"/>
          </p:cNvSpPr>
          <p:nvPr/>
        </p:nvSpPr>
        <p:spPr bwMode="auto">
          <a:xfrm>
            <a:off x="1693863" y="502285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Courtship</a:t>
            </a:r>
          </a:p>
        </p:txBody>
      </p:sp>
      <p:sp>
        <p:nvSpPr>
          <p:cNvPr id="877577" name="Text Box 9">
            <a:extLst>
              <a:ext uri="{FF2B5EF4-FFF2-40B4-BE49-F238E27FC236}">
                <a16:creationId xmlns:a16="http://schemas.microsoft.com/office/drawing/2014/main" id="{B19ADAA3-8A45-4BE9-988A-29D5064A22AC}"/>
              </a:ext>
            </a:extLst>
          </p:cNvPr>
          <p:cNvSpPr txBox="1">
            <a:spLocks noChangeArrowheads="1"/>
          </p:cNvSpPr>
          <p:nvPr/>
        </p:nvSpPr>
        <p:spPr bwMode="auto">
          <a:xfrm>
            <a:off x="2225675" y="4429126"/>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Infancy</a:t>
            </a:r>
          </a:p>
        </p:txBody>
      </p:sp>
      <p:sp>
        <p:nvSpPr>
          <p:cNvPr id="877578" name="Text Box 10">
            <a:extLst>
              <a:ext uri="{FF2B5EF4-FFF2-40B4-BE49-F238E27FC236}">
                <a16:creationId xmlns:a16="http://schemas.microsoft.com/office/drawing/2014/main" id="{10F5726E-FA55-4FF4-9509-127CB868CD76}"/>
              </a:ext>
            </a:extLst>
          </p:cNvPr>
          <p:cNvSpPr txBox="1">
            <a:spLocks noChangeArrowheads="1"/>
          </p:cNvSpPr>
          <p:nvPr/>
        </p:nvSpPr>
        <p:spPr bwMode="auto">
          <a:xfrm>
            <a:off x="3516314" y="5507039"/>
            <a:ext cx="682625" cy="274637"/>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Affair</a:t>
            </a:r>
          </a:p>
        </p:txBody>
      </p:sp>
      <p:sp>
        <p:nvSpPr>
          <p:cNvPr id="33803" name="Oval 11">
            <a:extLst>
              <a:ext uri="{FF2B5EF4-FFF2-40B4-BE49-F238E27FC236}">
                <a16:creationId xmlns:a16="http://schemas.microsoft.com/office/drawing/2014/main" id="{7EC9355F-CA1C-4895-B449-B29C0A0FBB9F}"/>
              </a:ext>
            </a:extLst>
          </p:cNvPr>
          <p:cNvSpPr>
            <a:spLocks noChangeArrowheads="1"/>
          </p:cNvSpPr>
          <p:nvPr/>
        </p:nvSpPr>
        <p:spPr bwMode="auto">
          <a:xfrm>
            <a:off x="3762376" y="5392739"/>
            <a:ext cx="136525" cy="136525"/>
          </a:xfrm>
          <a:prstGeom prst="ellipse">
            <a:avLst/>
          </a:prstGeom>
          <a:solidFill>
            <a:srgbClr val="FF0033">
              <a:alpha val="39999"/>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33804" name="AutoShape 12">
            <a:extLst>
              <a:ext uri="{FF2B5EF4-FFF2-40B4-BE49-F238E27FC236}">
                <a16:creationId xmlns:a16="http://schemas.microsoft.com/office/drawing/2014/main" id="{C59905B6-0B56-4675-BC79-87170F15EF97}"/>
              </a:ext>
            </a:extLst>
          </p:cNvPr>
          <p:cNvSpPr>
            <a:spLocks noChangeArrowheads="1"/>
          </p:cNvSpPr>
          <p:nvPr/>
        </p:nvSpPr>
        <p:spPr bwMode="auto">
          <a:xfrm>
            <a:off x="4292601" y="3581400"/>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7581" name="Text Box 13">
            <a:extLst>
              <a:ext uri="{FF2B5EF4-FFF2-40B4-BE49-F238E27FC236}">
                <a16:creationId xmlns:a16="http://schemas.microsoft.com/office/drawing/2014/main" id="{B6A35735-CD7B-46DC-B0EB-E8E796A90488}"/>
              </a:ext>
            </a:extLst>
          </p:cNvPr>
          <p:cNvSpPr txBox="1">
            <a:spLocks noChangeArrowheads="1"/>
          </p:cNvSpPr>
          <p:nvPr/>
        </p:nvSpPr>
        <p:spPr bwMode="auto">
          <a:xfrm>
            <a:off x="2832100" y="342900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Go-go</a:t>
            </a:r>
          </a:p>
        </p:txBody>
      </p:sp>
      <p:sp>
        <p:nvSpPr>
          <p:cNvPr id="33806" name="Freeform 14">
            <a:extLst>
              <a:ext uri="{FF2B5EF4-FFF2-40B4-BE49-F238E27FC236}">
                <a16:creationId xmlns:a16="http://schemas.microsoft.com/office/drawing/2014/main" id="{042BBA4F-839E-4033-9A30-7AE32FC31524}"/>
              </a:ext>
            </a:extLst>
          </p:cNvPr>
          <p:cNvSpPr>
            <a:spLocks/>
          </p:cNvSpPr>
          <p:nvPr/>
        </p:nvSpPr>
        <p:spPr bwMode="auto">
          <a:xfrm>
            <a:off x="3990976" y="403542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7583" name="Text Box 15">
            <a:extLst>
              <a:ext uri="{FF2B5EF4-FFF2-40B4-BE49-F238E27FC236}">
                <a16:creationId xmlns:a16="http://schemas.microsoft.com/office/drawing/2014/main" id="{5B8FCE6B-B053-45E3-B88F-A16E1ADFDF26}"/>
              </a:ext>
            </a:extLst>
          </p:cNvPr>
          <p:cNvSpPr txBox="1">
            <a:spLocks noChangeArrowheads="1"/>
          </p:cNvSpPr>
          <p:nvPr/>
        </p:nvSpPr>
        <p:spPr bwMode="auto">
          <a:xfrm>
            <a:off x="4351339" y="4278313"/>
            <a:ext cx="909637"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Infant Mortality</a:t>
            </a:r>
          </a:p>
        </p:txBody>
      </p:sp>
      <p:sp>
        <p:nvSpPr>
          <p:cNvPr id="33808" name="Oval 16">
            <a:extLst>
              <a:ext uri="{FF2B5EF4-FFF2-40B4-BE49-F238E27FC236}">
                <a16:creationId xmlns:a16="http://schemas.microsoft.com/office/drawing/2014/main" id="{8D6908A0-23F1-4024-93B5-24A1389D852C}"/>
              </a:ext>
            </a:extLst>
          </p:cNvPr>
          <p:cNvSpPr>
            <a:spLocks noChangeArrowheads="1"/>
          </p:cNvSpPr>
          <p:nvPr/>
        </p:nvSpPr>
        <p:spPr bwMode="auto">
          <a:xfrm>
            <a:off x="4670426" y="4203701"/>
            <a:ext cx="136525" cy="136525"/>
          </a:xfrm>
          <a:prstGeom prst="ellipse">
            <a:avLst/>
          </a:prstGeom>
          <a:solidFill>
            <a:srgbClr val="FF0033">
              <a:alpha val="50195"/>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33809" name="AutoShape 17">
            <a:extLst>
              <a:ext uri="{FF2B5EF4-FFF2-40B4-BE49-F238E27FC236}">
                <a16:creationId xmlns:a16="http://schemas.microsoft.com/office/drawing/2014/main" id="{77EBDA55-A21F-4AEA-A740-7BB8ECD88119}"/>
              </a:ext>
            </a:extLst>
          </p:cNvPr>
          <p:cNvSpPr>
            <a:spLocks noChangeArrowheads="1"/>
          </p:cNvSpPr>
          <p:nvPr/>
        </p:nvSpPr>
        <p:spPr bwMode="auto">
          <a:xfrm>
            <a:off x="5114926" y="2517775"/>
            <a:ext cx="150813"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7586" name="Text Box 18">
            <a:extLst>
              <a:ext uri="{FF2B5EF4-FFF2-40B4-BE49-F238E27FC236}">
                <a16:creationId xmlns:a16="http://schemas.microsoft.com/office/drawing/2014/main" id="{9427B0AA-31FC-40EC-927F-B57E4DD55D25}"/>
              </a:ext>
            </a:extLst>
          </p:cNvPr>
          <p:cNvSpPr txBox="1">
            <a:spLocks noChangeArrowheads="1"/>
          </p:cNvSpPr>
          <p:nvPr/>
        </p:nvSpPr>
        <p:spPr bwMode="auto">
          <a:xfrm>
            <a:off x="1770064" y="1228725"/>
            <a:ext cx="8651875" cy="369332"/>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If an effective transition to Adolescence is not made…</a:t>
            </a:r>
          </a:p>
        </p:txBody>
      </p:sp>
      <p:sp>
        <p:nvSpPr>
          <p:cNvPr id="877587" name="Freeform 19">
            <a:extLst>
              <a:ext uri="{FF2B5EF4-FFF2-40B4-BE49-F238E27FC236}">
                <a16:creationId xmlns:a16="http://schemas.microsoft.com/office/drawing/2014/main" id="{50A9DD30-6528-4B4D-B60A-C207708AD1C3}"/>
              </a:ext>
            </a:extLst>
          </p:cNvPr>
          <p:cNvSpPr>
            <a:spLocks/>
          </p:cNvSpPr>
          <p:nvPr/>
        </p:nvSpPr>
        <p:spPr bwMode="auto">
          <a:xfrm>
            <a:off x="4425950" y="3228976"/>
            <a:ext cx="927100" cy="398463"/>
          </a:xfrm>
          <a:custGeom>
            <a:avLst/>
            <a:gdLst>
              <a:gd name="T0" fmla="*/ 0 w 584"/>
              <a:gd name="T1" fmla="*/ 2147483646 h 251"/>
              <a:gd name="T2" fmla="*/ 2147483646 w 584"/>
              <a:gd name="T3" fmla="*/ 2147483646 h 251"/>
              <a:gd name="T4" fmla="*/ 2147483646 w 584"/>
              <a:gd name="T5" fmla="*/ 2147483646 h 251"/>
              <a:gd name="T6" fmla="*/ 0 60000 65536"/>
              <a:gd name="T7" fmla="*/ 0 60000 65536"/>
              <a:gd name="T8" fmla="*/ 0 60000 65536"/>
              <a:gd name="T9" fmla="*/ 0 w 584"/>
              <a:gd name="T10" fmla="*/ 0 h 251"/>
              <a:gd name="T11" fmla="*/ 584 w 584"/>
              <a:gd name="T12" fmla="*/ 251 h 251"/>
            </a:gdLst>
            <a:ahLst/>
            <a:cxnLst>
              <a:cxn ang="T6">
                <a:pos x="T0" y="T1"/>
              </a:cxn>
              <a:cxn ang="T7">
                <a:pos x="T2" y="T3"/>
              </a:cxn>
              <a:cxn ang="T8">
                <a:pos x="T4" y="T5"/>
              </a:cxn>
            </a:cxnLst>
            <a:rect l="T9" t="T10" r="T11" b="T12"/>
            <a:pathLst>
              <a:path w="584" h="251">
                <a:moveTo>
                  <a:pt x="0" y="251"/>
                </a:moveTo>
                <a:cubicBezTo>
                  <a:pt x="64" y="212"/>
                  <a:pt x="287" y="46"/>
                  <a:pt x="384" y="23"/>
                </a:cubicBezTo>
                <a:cubicBezTo>
                  <a:pt x="481" y="0"/>
                  <a:pt x="542" y="94"/>
                  <a:pt x="584" y="113"/>
                </a:cubicBezTo>
              </a:path>
            </a:pathLst>
          </a:custGeom>
          <a:noFill/>
          <a:ln w="25400">
            <a:solidFill>
              <a:srgbClr val="FF0000">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7588" name="Text Box 20">
            <a:extLst>
              <a:ext uri="{FF2B5EF4-FFF2-40B4-BE49-F238E27FC236}">
                <a16:creationId xmlns:a16="http://schemas.microsoft.com/office/drawing/2014/main" id="{6FA25229-13A1-4D94-A9D2-4B3EB7777294}"/>
              </a:ext>
            </a:extLst>
          </p:cNvPr>
          <p:cNvSpPr txBox="1">
            <a:spLocks noChangeArrowheads="1"/>
          </p:cNvSpPr>
          <p:nvPr/>
        </p:nvSpPr>
        <p:spPr bwMode="auto">
          <a:xfrm>
            <a:off x="4938714" y="3502175"/>
            <a:ext cx="930275" cy="461665"/>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Founders Trap</a:t>
            </a:r>
          </a:p>
        </p:txBody>
      </p:sp>
      <p:sp>
        <p:nvSpPr>
          <p:cNvPr id="877589" name="Oval 21">
            <a:extLst>
              <a:ext uri="{FF2B5EF4-FFF2-40B4-BE49-F238E27FC236}">
                <a16:creationId xmlns:a16="http://schemas.microsoft.com/office/drawing/2014/main" id="{D3A5B8B5-766E-46FA-8DDF-BE780A9F727D}"/>
              </a:ext>
            </a:extLst>
          </p:cNvPr>
          <p:cNvSpPr>
            <a:spLocks noChangeArrowheads="1"/>
          </p:cNvSpPr>
          <p:nvPr/>
        </p:nvSpPr>
        <p:spPr bwMode="auto">
          <a:xfrm>
            <a:off x="5257801" y="3370264"/>
            <a:ext cx="136525" cy="136525"/>
          </a:xfrm>
          <a:prstGeom prst="ellipse">
            <a:avLst/>
          </a:prstGeom>
          <a:solidFill>
            <a:srgbClr val="FF0033"/>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7590" name="Text Box 22">
            <a:extLst>
              <a:ext uri="{FF2B5EF4-FFF2-40B4-BE49-F238E27FC236}">
                <a16:creationId xmlns:a16="http://schemas.microsoft.com/office/drawing/2014/main" id="{3E6A6059-2071-4182-A309-A690A0F714B6}"/>
              </a:ext>
            </a:extLst>
          </p:cNvPr>
          <p:cNvSpPr txBox="1">
            <a:spLocks noChangeArrowheads="1"/>
          </p:cNvSpPr>
          <p:nvPr/>
        </p:nvSpPr>
        <p:spPr bwMode="auto">
          <a:xfrm>
            <a:off x="6399214" y="3429001"/>
            <a:ext cx="3870325" cy="646331"/>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Organization ages and dies when the Founder ages </a:t>
            </a:r>
          </a:p>
        </p:txBody>
      </p:sp>
      <p:sp>
        <p:nvSpPr>
          <p:cNvPr id="877591" name="Text Box 23">
            <a:extLst>
              <a:ext uri="{FF2B5EF4-FFF2-40B4-BE49-F238E27FC236}">
                <a16:creationId xmlns:a16="http://schemas.microsoft.com/office/drawing/2014/main" id="{EFD6641C-5094-4EE2-957F-B668B7799EAE}"/>
              </a:ext>
            </a:extLst>
          </p:cNvPr>
          <p:cNvSpPr txBox="1">
            <a:spLocks noChangeArrowheads="1"/>
          </p:cNvSpPr>
          <p:nvPr/>
        </p:nvSpPr>
        <p:spPr bwMode="auto">
          <a:xfrm>
            <a:off x="1770064" y="1590675"/>
            <a:ext cx="8651875" cy="369332"/>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the organization falls into </a:t>
            </a:r>
            <a:r>
              <a:rPr lang="en-US">
                <a:solidFill>
                  <a:srgbClr val="FF0033"/>
                </a:solidFill>
                <a:effectLst>
                  <a:outerShdw blurRad="38100" dist="38100" dir="2700000" algn="tl">
                    <a:srgbClr val="C0C0C0"/>
                  </a:outerShdw>
                </a:effectLst>
                <a:latin typeface="Tahoma" pitchFamily="-111" charset="0"/>
                <a:ea typeface="ＭＳ Ｐゴシック" pitchFamily="-111" charset="-128"/>
              </a:rPr>
              <a:t>Founder’s/Family Trap</a:t>
            </a:r>
            <a:endParaRPr lang="en-US">
              <a:effectLst>
                <a:outerShdw blurRad="38100" dist="38100" dir="2700000" algn="tl">
                  <a:srgbClr val="C0C0C0"/>
                </a:outerShdw>
              </a:effectLst>
              <a:latin typeface="Tahoma" pitchFamily="-111" charset="0"/>
              <a:ea typeface="ＭＳ Ｐゴシック" pitchFamily="-111" charset="-128"/>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7591"/>
                                        </p:tgtEl>
                                        <p:attrNameLst>
                                          <p:attrName>style.visibility</p:attrName>
                                        </p:attrNameLst>
                                      </p:cBhvr>
                                      <p:to>
                                        <p:strVal val="visible"/>
                                      </p:to>
                                    </p:set>
                                    <p:animEffect transition="in" filter="wipe(left)">
                                      <p:cBhvr>
                                        <p:cTn id="7" dur="2000"/>
                                        <p:tgtEl>
                                          <p:spTgt spid="8775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877587"/>
                                        </p:tgtEl>
                                        <p:attrNameLst>
                                          <p:attrName>style.visibility</p:attrName>
                                        </p:attrNameLst>
                                      </p:cBhvr>
                                      <p:to>
                                        <p:strVal val="visible"/>
                                      </p:to>
                                    </p:set>
                                    <p:animEffect transition="in" filter="wipe(down)">
                                      <p:cBhvr>
                                        <p:cTn id="12" dur="500"/>
                                        <p:tgtEl>
                                          <p:spTgt spid="87758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77588"/>
                                        </p:tgtEl>
                                        <p:attrNameLst>
                                          <p:attrName>style.visibility</p:attrName>
                                        </p:attrNameLst>
                                      </p:cBhvr>
                                      <p:to>
                                        <p:strVal val="visible"/>
                                      </p:to>
                                    </p:set>
                                    <p:animEffect transition="in" filter="fade">
                                      <p:cBhvr>
                                        <p:cTn id="15" dur="500"/>
                                        <p:tgtEl>
                                          <p:spTgt spid="87758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77589"/>
                                        </p:tgtEl>
                                        <p:attrNameLst>
                                          <p:attrName>style.visibility</p:attrName>
                                        </p:attrNameLst>
                                      </p:cBhvr>
                                      <p:to>
                                        <p:strVal val="visible"/>
                                      </p:to>
                                    </p:set>
                                    <p:animEffect transition="in" filter="fade">
                                      <p:cBhvr>
                                        <p:cTn id="18" dur="500"/>
                                        <p:tgtEl>
                                          <p:spTgt spid="87758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77590"/>
                                        </p:tgtEl>
                                        <p:attrNameLst>
                                          <p:attrName>style.visibility</p:attrName>
                                        </p:attrNameLst>
                                      </p:cBhvr>
                                      <p:to>
                                        <p:strVal val="visible"/>
                                      </p:to>
                                    </p:set>
                                    <p:animEffect transition="in" filter="fade">
                                      <p:cBhvr>
                                        <p:cTn id="23" dur="1000"/>
                                        <p:tgtEl>
                                          <p:spTgt spid="877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7588" grpId="0"/>
      <p:bldP spid="877589" grpId="0" animBg="1"/>
      <p:bldP spid="877590" grpId="0"/>
      <p:bldP spid="87759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1346AEB-1CED-4FFE-AA7F-4EC637D2B274}"/>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35843" name="Rectangle 3">
            <a:extLst>
              <a:ext uri="{FF2B5EF4-FFF2-40B4-BE49-F238E27FC236}">
                <a16:creationId xmlns:a16="http://schemas.microsoft.com/office/drawing/2014/main" id="{D554E066-85B8-43AC-9D35-508352893514}"/>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pic>
        <p:nvPicPr>
          <p:cNvPr id="35844" name="Picture 12">
            <a:extLst>
              <a:ext uri="{FF2B5EF4-FFF2-40B4-BE49-F238E27FC236}">
                <a16:creationId xmlns:a16="http://schemas.microsoft.com/office/drawing/2014/main" id="{E1D66620-203C-48ED-9234-973ED0B353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4776" y="814388"/>
            <a:ext cx="7559675" cy="571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Freeform 2">
            <a:extLst>
              <a:ext uri="{FF2B5EF4-FFF2-40B4-BE49-F238E27FC236}">
                <a16:creationId xmlns:a16="http://schemas.microsoft.com/office/drawing/2014/main" id="{DD1E2A82-F8A3-452E-96A3-764F4C482247}"/>
              </a:ext>
            </a:extLst>
          </p:cNvPr>
          <p:cNvSpPr>
            <a:spLocks/>
          </p:cNvSpPr>
          <p:nvPr/>
        </p:nvSpPr>
        <p:spPr bwMode="auto">
          <a:xfrm>
            <a:off x="5260976" y="2366964"/>
            <a:ext cx="701675" cy="225425"/>
          </a:xfrm>
          <a:custGeom>
            <a:avLst/>
            <a:gdLst>
              <a:gd name="T0" fmla="*/ 0 w 442"/>
              <a:gd name="T1" fmla="*/ 2147483646 h 142"/>
              <a:gd name="T2" fmla="*/ 2147483646 w 442"/>
              <a:gd name="T3" fmla="*/ 2147483646 h 142"/>
              <a:gd name="T4" fmla="*/ 2147483646 w 442"/>
              <a:gd name="T5" fmla="*/ 2147483646 h 142"/>
              <a:gd name="T6" fmla="*/ 0 60000 65536"/>
              <a:gd name="T7" fmla="*/ 0 60000 65536"/>
              <a:gd name="T8" fmla="*/ 0 60000 65536"/>
              <a:gd name="T9" fmla="*/ 0 w 442"/>
              <a:gd name="T10" fmla="*/ 0 h 142"/>
              <a:gd name="T11" fmla="*/ 442 w 442"/>
              <a:gd name="T12" fmla="*/ 142 h 142"/>
            </a:gdLst>
            <a:ahLst/>
            <a:cxnLst>
              <a:cxn ang="T6">
                <a:pos x="T0" y="T1"/>
              </a:cxn>
              <a:cxn ang="T7">
                <a:pos x="T2" y="T3"/>
              </a:cxn>
              <a:cxn ang="T8">
                <a:pos x="T4" y="T5"/>
              </a:cxn>
            </a:cxnLst>
            <a:rect l="T9" t="T10" r="T11" b="T12"/>
            <a:pathLst>
              <a:path w="442" h="142">
                <a:moveTo>
                  <a:pt x="0" y="46"/>
                </a:moveTo>
                <a:cubicBezTo>
                  <a:pt x="47" y="41"/>
                  <a:pt x="206" y="0"/>
                  <a:pt x="280" y="16"/>
                </a:cubicBezTo>
                <a:cubicBezTo>
                  <a:pt x="354" y="32"/>
                  <a:pt x="408" y="116"/>
                  <a:pt x="442" y="142"/>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891" name="Rectangle 3">
            <a:extLst>
              <a:ext uri="{FF2B5EF4-FFF2-40B4-BE49-F238E27FC236}">
                <a16:creationId xmlns:a16="http://schemas.microsoft.com/office/drawing/2014/main" id="{8AC06B7B-79F4-461B-BC1E-9CE7DF0E8A77}"/>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37892" name="Rectangle 4">
            <a:extLst>
              <a:ext uri="{FF2B5EF4-FFF2-40B4-BE49-F238E27FC236}">
                <a16:creationId xmlns:a16="http://schemas.microsoft.com/office/drawing/2014/main" id="{BB113FE9-D634-4E7D-8249-C4CEF47676C9}"/>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8597" name="Freeform 5">
            <a:extLst>
              <a:ext uri="{FF2B5EF4-FFF2-40B4-BE49-F238E27FC236}">
                <a16:creationId xmlns:a16="http://schemas.microsoft.com/office/drawing/2014/main" id="{48BFB78A-DD3D-4F96-9F38-93411AB163EB}"/>
              </a:ext>
            </a:extLst>
          </p:cNvPr>
          <p:cNvSpPr>
            <a:spLocks/>
          </p:cNvSpPr>
          <p:nvPr/>
        </p:nvSpPr>
        <p:spPr bwMode="auto">
          <a:xfrm>
            <a:off x="2452688" y="2138363"/>
            <a:ext cx="3143250" cy="3562350"/>
          </a:xfrm>
          <a:custGeom>
            <a:avLst/>
            <a:gdLst>
              <a:gd name="T0" fmla="*/ 0 w 1980"/>
              <a:gd name="T1" fmla="*/ 2147483646 h 2244"/>
              <a:gd name="T2" fmla="*/ 2147483646 w 1980"/>
              <a:gd name="T3" fmla="*/ 2147483646 h 2244"/>
              <a:gd name="T4" fmla="*/ 2147483646 w 1980"/>
              <a:gd name="T5" fmla="*/ 2147483646 h 2244"/>
              <a:gd name="T6" fmla="*/ 2147483646 w 1980"/>
              <a:gd name="T7" fmla="*/ 2147483646 h 2244"/>
              <a:gd name="T8" fmla="*/ 2147483646 w 1980"/>
              <a:gd name="T9" fmla="*/ 2147483646 h 2244"/>
              <a:gd name="T10" fmla="*/ 2147483646 w 1980"/>
              <a:gd name="T11" fmla="*/ 2147483646 h 2244"/>
              <a:gd name="T12" fmla="*/ 2147483646 w 1980"/>
              <a:gd name="T13" fmla="*/ 2147483646 h 2244"/>
              <a:gd name="T14" fmla="*/ 2147483646 w 1980"/>
              <a:gd name="T15" fmla="*/ 2147483646 h 2244"/>
              <a:gd name="T16" fmla="*/ 2147483646 w 1980"/>
              <a:gd name="T17" fmla="*/ 2147483646 h 2244"/>
              <a:gd name="T18" fmla="*/ 2147483646 w 1980"/>
              <a:gd name="T19" fmla="*/ 2147483646 h 2244"/>
              <a:gd name="T20" fmla="*/ 2147483646 w 1980"/>
              <a:gd name="T21" fmla="*/ 2147483646 h 2244"/>
              <a:gd name="T22" fmla="*/ 2147483646 w 1980"/>
              <a:gd name="T23" fmla="*/ 2147483646 h 2244"/>
              <a:gd name="T24" fmla="*/ 2147483646 w 1980"/>
              <a:gd name="T25" fmla="*/ 2147483646 h 2244"/>
              <a:gd name="T26" fmla="*/ 2147483646 w 1980"/>
              <a:gd name="T27" fmla="*/ 2147483646 h 2244"/>
              <a:gd name="T28" fmla="*/ 2147483646 w 1980"/>
              <a:gd name="T29" fmla="*/ 2147483646 h 2244"/>
              <a:gd name="T30" fmla="*/ 2147483646 w 1980"/>
              <a:gd name="T31" fmla="*/ 2147483646 h 2244"/>
              <a:gd name="T32" fmla="*/ 2147483646 w 1980"/>
              <a:gd name="T33" fmla="*/ 2147483646 h 2244"/>
              <a:gd name="T34" fmla="*/ 2147483646 w 1980"/>
              <a:gd name="T35" fmla="*/ 2147483646 h 2244"/>
              <a:gd name="T36" fmla="*/ 2147483646 w 1980"/>
              <a:gd name="T37" fmla="*/ 2147483646 h 2244"/>
              <a:gd name="T38" fmla="*/ 2147483646 w 1980"/>
              <a:gd name="T39" fmla="*/ 2147483646 h 2244"/>
              <a:gd name="T40" fmla="*/ 2147483646 w 1980"/>
              <a:gd name="T41" fmla="*/ 2147483646 h 2244"/>
              <a:gd name="T42" fmla="*/ 2147483646 w 1980"/>
              <a:gd name="T43" fmla="*/ 2147483646 h 2244"/>
              <a:gd name="T44" fmla="*/ 2147483646 w 1980"/>
              <a:gd name="T45" fmla="*/ 2147483646 h 2244"/>
              <a:gd name="T46" fmla="*/ 2147483646 w 1980"/>
              <a:gd name="T47" fmla="*/ 2147483646 h 2244"/>
              <a:gd name="T48" fmla="*/ 2147483646 w 1980"/>
              <a:gd name="T49" fmla="*/ 2147483646 h 2244"/>
              <a:gd name="T50" fmla="*/ 2147483646 w 1980"/>
              <a:gd name="T51" fmla="*/ 2147483646 h 2244"/>
              <a:gd name="T52" fmla="*/ 2147483646 w 1980"/>
              <a:gd name="T53" fmla="*/ 2147483646 h 2244"/>
              <a:gd name="T54" fmla="*/ 2147483646 w 1980"/>
              <a:gd name="T55" fmla="*/ 0 h 224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980"/>
              <a:gd name="T85" fmla="*/ 0 h 2244"/>
              <a:gd name="T86" fmla="*/ 1980 w 1980"/>
              <a:gd name="T87" fmla="*/ 2244 h 224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980" h="2244">
                <a:moveTo>
                  <a:pt x="0" y="2244"/>
                </a:moveTo>
                <a:cubicBezTo>
                  <a:pt x="21" y="2241"/>
                  <a:pt x="79" y="2243"/>
                  <a:pt x="128" y="2228"/>
                </a:cubicBezTo>
                <a:cubicBezTo>
                  <a:pt x="177" y="2213"/>
                  <a:pt x="244" y="2192"/>
                  <a:pt x="296" y="2156"/>
                </a:cubicBezTo>
                <a:cubicBezTo>
                  <a:pt x="348" y="2120"/>
                  <a:pt x="424" y="2054"/>
                  <a:pt x="440" y="2015"/>
                </a:cubicBezTo>
                <a:cubicBezTo>
                  <a:pt x="456" y="1976"/>
                  <a:pt x="376" y="1920"/>
                  <a:pt x="392" y="1920"/>
                </a:cubicBezTo>
                <a:cubicBezTo>
                  <a:pt x="408" y="1920"/>
                  <a:pt x="527" y="2023"/>
                  <a:pt x="535" y="2015"/>
                </a:cubicBezTo>
                <a:cubicBezTo>
                  <a:pt x="543" y="2007"/>
                  <a:pt x="441" y="1894"/>
                  <a:pt x="440" y="1872"/>
                </a:cubicBezTo>
                <a:cubicBezTo>
                  <a:pt x="439" y="1850"/>
                  <a:pt x="480" y="1924"/>
                  <a:pt x="528" y="1884"/>
                </a:cubicBezTo>
                <a:cubicBezTo>
                  <a:pt x="576" y="1844"/>
                  <a:pt x="613" y="1786"/>
                  <a:pt x="726" y="1633"/>
                </a:cubicBezTo>
                <a:cubicBezTo>
                  <a:pt x="839" y="1480"/>
                  <a:pt x="1100" y="1106"/>
                  <a:pt x="1204" y="963"/>
                </a:cubicBezTo>
                <a:cubicBezTo>
                  <a:pt x="1308" y="820"/>
                  <a:pt x="1332" y="820"/>
                  <a:pt x="1348" y="772"/>
                </a:cubicBezTo>
                <a:cubicBezTo>
                  <a:pt x="1364" y="724"/>
                  <a:pt x="1285" y="680"/>
                  <a:pt x="1300" y="677"/>
                </a:cubicBezTo>
                <a:cubicBezTo>
                  <a:pt x="1315" y="674"/>
                  <a:pt x="1428" y="760"/>
                  <a:pt x="1436" y="752"/>
                </a:cubicBezTo>
                <a:cubicBezTo>
                  <a:pt x="1444" y="744"/>
                  <a:pt x="1342" y="636"/>
                  <a:pt x="1348" y="629"/>
                </a:cubicBezTo>
                <a:cubicBezTo>
                  <a:pt x="1354" y="622"/>
                  <a:pt x="1464" y="716"/>
                  <a:pt x="1472" y="708"/>
                </a:cubicBezTo>
                <a:cubicBezTo>
                  <a:pt x="1480" y="700"/>
                  <a:pt x="1388" y="590"/>
                  <a:pt x="1396" y="581"/>
                </a:cubicBezTo>
                <a:cubicBezTo>
                  <a:pt x="1404" y="572"/>
                  <a:pt x="1513" y="665"/>
                  <a:pt x="1520" y="656"/>
                </a:cubicBezTo>
                <a:cubicBezTo>
                  <a:pt x="1527" y="647"/>
                  <a:pt x="1433" y="533"/>
                  <a:pt x="1440" y="524"/>
                </a:cubicBezTo>
                <a:cubicBezTo>
                  <a:pt x="1447" y="515"/>
                  <a:pt x="1555" y="612"/>
                  <a:pt x="1560" y="604"/>
                </a:cubicBezTo>
                <a:cubicBezTo>
                  <a:pt x="1565" y="596"/>
                  <a:pt x="1463" y="484"/>
                  <a:pt x="1472" y="476"/>
                </a:cubicBezTo>
                <a:cubicBezTo>
                  <a:pt x="1481" y="468"/>
                  <a:pt x="1607" y="565"/>
                  <a:pt x="1616" y="556"/>
                </a:cubicBezTo>
                <a:cubicBezTo>
                  <a:pt x="1625" y="547"/>
                  <a:pt x="1521" y="430"/>
                  <a:pt x="1528" y="420"/>
                </a:cubicBezTo>
                <a:cubicBezTo>
                  <a:pt x="1535" y="410"/>
                  <a:pt x="1648" y="504"/>
                  <a:pt x="1656" y="496"/>
                </a:cubicBezTo>
                <a:cubicBezTo>
                  <a:pt x="1664" y="488"/>
                  <a:pt x="1580" y="390"/>
                  <a:pt x="1576" y="372"/>
                </a:cubicBezTo>
                <a:cubicBezTo>
                  <a:pt x="1572" y="354"/>
                  <a:pt x="1614" y="403"/>
                  <a:pt x="1635" y="390"/>
                </a:cubicBezTo>
                <a:cubicBezTo>
                  <a:pt x="1656" y="377"/>
                  <a:pt x="1656" y="348"/>
                  <a:pt x="1704" y="292"/>
                </a:cubicBezTo>
                <a:cubicBezTo>
                  <a:pt x="1752" y="236"/>
                  <a:pt x="1876" y="104"/>
                  <a:pt x="1922" y="55"/>
                </a:cubicBezTo>
                <a:cubicBezTo>
                  <a:pt x="1968" y="6"/>
                  <a:pt x="1968" y="11"/>
                  <a:pt x="1980"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8598" name="Freeform 6">
            <a:extLst>
              <a:ext uri="{FF2B5EF4-FFF2-40B4-BE49-F238E27FC236}">
                <a16:creationId xmlns:a16="http://schemas.microsoft.com/office/drawing/2014/main" id="{AD132561-18FC-484E-B13C-4E11582EE95F}"/>
              </a:ext>
            </a:extLst>
          </p:cNvPr>
          <p:cNvSpPr>
            <a:spLocks/>
          </p:cNvSpPr>
          <p:nvPr/>
        </p:nvSpPr>
        <p:spPr bwMode="auto">
          <a:xfrm>
            <a:off x="5267325" y="2182813"/>
            <a:ext cx="781050" cy="284162"/>
          </a:xfrm>
          <a:custGeom>
            <a:avLst/>
            <a:gdLst>
              <a:gd name="T0" fmla="*/ 0 w 492"/>
              <a:gd name="T1" fmla="*/ 2147483646 h 179"/>
              <a:gd name="T2" fmla="*/ 2147483646 w 492"/>
              <a:gd name="T3" fmla="*/ 2147483646 h 179"/>
              <a:gd name="T4" fmla="*/ 2147483646 w 492"/>
              <a:gd name="T5" fmla="*/ 2147483646 h 179"/>
              <a:gd name="T6" fmla="*/ 0 60000 65536"/>
              <a:gd name="T7" fmla="*/ 0 60000 65536"/>
              <a:gd name="T8" fmla="*/ 0 60000 65536"/>
              <a:gd name="T9" fmla="*/ 0 w 492"/>
              <a:gd name="T10" fmla="*/ 0 h 179"/>
              <a:gd name="T11" fmla="*/ 492 w 492"/>
              <a:gd name="T12" fmla="*/ 179 h 179"/>
            </a:gdLst>
            <a:ahLst/>
            <a:cxnLst>
              <a:cxn ang="T6">
                <a:pos x="T0" y="T1"/>
              </a:cxn>
              <a:cxn ang="T7">
                <a:pos x="T2" y="T3"/>
              </a:cxn>
              <a:cxn ang="T8">
                <a:pos x="T4" y="T5"/>
              </a:cxn>
            </a:cxnLst>
            <a:rect l="T9" t="T10" r="T11" b="T12"/>
            <a:pathLst>
              <a:path w="492" h="179">
                <a:moveTo>
                  <a:pt x="0" y="179"/>
                </a:moveTo>
                <a:cubicBezTo>
                  <a:pt x="44" y="154"/>
                  <a:pt x="180" y="44"/>
                  <a:pt x="262" y="22"/>
                </a:cubicBezTo>
                <a:cubicBezTo>
                  <a:pt x="344" y="0"/>
                  <a:pt x="444" y="42"/>
                  <a:pt x="492" y="47"/>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895" name="Rectangle 7">
            <a:extLst>
              <a:ext uri="{FF2B5EF4-FFF2-40B4-BE49-F238E27FC236}">
                <a16:creationId xmlns:a16="http://schemas.microsoft.com/office/drawing/2014/main" id="{A02254F7-8038-4925-9B1E-A1043D4B5BCA}"/>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37896" name="Rectangle 8">
            <a:extLst>
              <a:ext uri="{FF2B5EF4-FFF2-40B4-BE49-F238E27FC236}">
                <a16:creationId xmlns:a16="http://schemas.microsoft.com/office/drawing/2014/main" id="{1D92B22F-EEF8-4D1F-8BE6-1211E6E06443}"/>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8601" name="AutoShape 9">
            <a:extLst>
              <a:ext uri="{FF2B5EF4-FFF2-40B4-BE49-F238E27FC236}">
                <a16:creationId xmlns:a16="http://schemas.microsoft.com/office/drawing/2014/main" id="{12EA3366-F4E3-48FD-8B96-97BBB684A6B7}"/>
              </a:ext>
            </a:extLst>
          </p:cNvPr>
          <p:cNvSpPr>
            <a:spLocks noChangeArrowheads="1"/>
          </p:cNvSpPr>
          <p:nvPr/>
        </p:nvSpPr>
        <p:spPr bwMode="auto">
          <a:xfrm>
            <a:off x="3590926" y="4567238"/>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8602" name="AutoShape 10">
            <a:extLst>
              <a:ext uri="{FF2B5EF4-FFF2-40B4-BE49-F238E27FC236}">
                <a16:creationId xmlns:a16="http://schemas.microsoft.com/office/drawing/2014/main" id="{63C12274-C94E-4002-8E8A-A579C31979BF}"/>
              </a:ext>
            </a:extLst>
          </p:cNvPr>
          <p:cNvSpPr>
            <a:spLocks noChangeArrowheads="1"/>
          </p:cNvSpPr>
          <p:nvPr/>
        </p:nvSpPr>
        <p:spPr bwMode="auto">
          <a:xfrm>
            <a:off x="2832101" y="5478463"/>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8603" name="Freeform 11">
            <a:extLst>
              <a:ext uri="{FF2B5EF4-FFF2-40B4-BE49-F238E27FC236}">
                <a16:creationId xmlns:a16="http://schemas.microsoft.com/office/drawing/2014/main" id="{D01FC4A9-7426-47D6-B0C2-67EC4364B027}"/>
              </a:ext>
            </a:extLst>
          </p:cNvPr>
          <p:cNvSpPr>
            <a:spLocks/>
          </p:cNvSpPr>
          <p:nvPr/>
        </p:nvSpPr>
        <p:spPr bwMode="auto">
          <a:xfrm>
            <a:off x="3079751" y="522287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8604" name="Text Box 12">
            <a:extLst>
              <a:ext uri="{FF2B5EF4-FFF2-40B4-BE49-F238E27FC236}">
                <a16:creationId xmlns:a16="http://schemas.microsoft.com/office/drawing/2014/main" id="{645A2928-DCFF-4CFF-BE25-93DBFF12D219}"/>
              </a:ext>
            </a:extLst>
          </p:cNvPr>
          <p:cNvSpPr txBox="1">
            <a:spLocks noChangeArrowheads="1"/>
          </p:cNvSpPr>
          <p:nvPr/>
        </p:nvSpPr>
        <p:spPr bwMode="auto">
          <a:xfrm>
            <a:off x="1693863" y="502285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Courtship</a:t>
            </a:r>
          </a:p>
        </p:txBody>
      </p:sp>
      <p:sp>
        <p:nvSpPr>
          <p:cNvPr id="878605" name="Text Box 13">
            <a:extLst>
              <a:ext uri="{FF2B5EF4-FFF2-40B4-BE49-F238E27FC236}">
                <a16:creationId xmlns:a16="http://schemas.microsoft.com/office/drawing/2014/main" id="{0780A9E5-EF6D-47E4-A457-B7E385C3D7B6}"/>
              </a:ext>
            </a:extLst>
          </p:cNvPr>
          <p:cNvSpPr txBox="1">
            <a:spLocks noChangeArrowheads="1"/>
          </p:cNvSpPr>
          <p:nvPr/>
        </p:nvSpPr>
        <p:spPr bwMode="auto">
          <a:xfrm>
            <a:off x="2225675" y="4429126"/>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Infancy</a:t>
            </a:r>
          </a:p>
        </p:txBody>
      </p:sp>
      <p:sp>
        <p:nvSpPr>
          <p:cNvPr id="878606" name="Text Box 14">
            <a:extLst>
              <a:ext uri="{FF2B5EF4-FFF2-40B4-BE49-F238E27FC236}">
                <a16:creationId xmlns:a16="http://schemas.microsoft.com/office/drawing/2014/main" id="{C4381D02-5074-4D43-A59F-9C0F9A467174}"/>
              </a:ext>
            </a:extLst>
          </p:cNvPr>
          <p:cNvSpPr txBox="1">
            <a:spLocks noChangeArrowheads="1"/>
          </p:cNvSpPr>
          <p:nvPr/>
        </p:nvSpPr>
        <p:spPr bwMode="auto">
          <a:xfrm>
            <a:off x="3516314" y="5507039"/>
            <a:ext cx="682625" cy="274637"/>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Affair</a:t>
            </a:r>
          </a:p>
        </p:txBody>
      </p:sp>
      <p:sp>
        <p:nvSpPr>
          <p:cNvPr id="878607" name="Oval 15">
            <a:extLst>
              <a:ext uri="{FF2B5EF4-FFF2-40B4-BE49-F238E27FC236}">
                <a16:creationId xmlns:a16="http://schemas.microsoft.com/office/drawing/2014/main" id="{E1BB49AB-7F1B-45FE-8FFA-92155FAD0FD8}"/>
              </a:ext>
            </a:extLst>
          </p:cNvPr>
          <p:cNvSpPr>
            <a:spLocks noChangeArrowheads="1"/>
          </p:cNvSpPr>
          <p:nvPr/>
        </p:nvSpPr>
        <p:spPr bwMode="auto">
          <a:xfrm>
            <a:off x="3762376" y="5392739"/>
            <a:ext cx="136525" cy="136525"/>
          </a:xfrm>
          <a:prstGeom prst="ellipse">
            <a:avLst/>
          </a:prstGeom>
          <a:solidFill>
            <a:srgbClr val="FF0033">
              <a:alpha val="39999"/>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8608" name="AutoShape 16">
            <a:extLst>
              <a:ext uri="{FF2B5EF4-FFF2-40B4-BE49-F238E27FC236}">
                <a16:creationId xmlns:a16="http://schemas.microsoft.com/office/drawing/2014/main" id="{52422039-FE1C-4E0C-90C4-CD96368E829A}"/>
              </a:ext>
            </a:extLst>
          </p:cNvPr>
          <p:cNvSpPr>
            <a:spLocks noChangeArrowheads="1"/>
          </p:cNvSpPr>
          <p:nvPr/>
        </p:nvSpPr>
        <p:spPr bwMode="auto">
          <a:xfrm>
            <a:off x="4292601" y="3581400"/>
            <a:ext cx="150813"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8609" name="Text Box 17">
            <a:extLst>
              <a:ext uri="{FF2B5EF4-FFF2-40B4-BE49-F238E27FC236}">
                <a16:creationId xmlns:a16="http://schemas.microsoft.com/office/drawing/2014/main" id="{26E0C5CD-5684-4E3F-85EB-E769582DDAE7}"/>
              </a:ext>
            </a:extLst>
          </p:cNvPr>
          <p:cNvSpPr txBox="1">
            <a:spLocks noChangeArrowheads="1"/>
          </p:cNvSpPr>
          <p:nvPr/>
        </p:nvSpPr>
        <p:spPr bwMode="auto">
          <a:xfrm>
            <a:off x="2832100" y="3429001"/>
            <a:ext cx="1365250"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Go-go</a:t>
            </a:r>
          </a:p>
        </p:txBody>
      </p:sp>
      <p:sp>
        <p:nvSpPr>
          <p:cNvPr id="878610" name="Freeform 18">
            <a:extLst>
              <a:ext uri="{FF2B5EF4-FFF2-40B4-BE49-F238E27FC236}">
                <a16:creationId xmlns:a16="http://schemas.microsoft.com/office/drawing/2014/main" id="{1D6ABD24-6B7B-4F51-B7C6-80C86E9DAB4F}"/>
              </a:ext>
            </a:extLst>
          </p:cNvPr>
          <p:cNvSpPr>
            <a:spLocks/>
          </p:cNvSpPr>
          <p:nvPr/>
        </p:nvSpPr>
        <p:spPr bwMode="auto">
          <a:xfrm>
            <a:off x="3990976" y="4035426"/>
            <a:ext cx="739775" cy="200025"/>
          </a:xfrm>
          <a:custGeom>
            <a:avLst/>
            <a:gdLst>
              <a:gd name="T0" fmla="*/ 0 w 466"/>
              <a:gd name="T1" fmla="*/ 2147483646 h 126"/>
              <a:gd name="T2" fmla="*/ 2147483646 w 466"/>
              <a:gd name="T3" fmla="*/ 2147483646 h 126"/>
              <a:gd name="T4" fmla="*/ 2147483646 w 466"/>
              <a:gd name="T5" fmla="*/ 2147483646 h 126"/>
              <a:gd name="T6" fmla="*/ 0 60000 65536"/>
              <a:gd name="T7" fmla="*/ 0 60000 65536"/>
              <a:gd name="T8" fmla="*/ 0 60000 65536"/>
              <a:gd name="T9" fmla="*/ 0 w 466"/>
              <a:gd name="T10" fmla="*/ 0 h 126"/>
              <a:gd name="T11" fmla="*/ 466 w 466"/>
              <a:gd name="T12" fmla="*/ 126 h 126"/>
            </a:gdLst>
            <a:ahLst/>
            <a:cxnLst>
              <a:cxn ang="T6">
                <a:pos x="T0" y="T1"/>
              </a:cxn>
              <a:cxn ang="T7">
                <a:pos x="T2" y="T3"/>
              </a:cxn>
              <a:cxn ang="T8">
                <a:pos x="T4" y="T5"/>
              </a:cxn>
            </a:cxnLst>
            <a:rect l="T9" t="T10" r="T11" b="T12"/>
            <a:pathLst>
              <a:path w="466" h="126">
                <a:moveTo>
                  <a:pt x="0" y="126"/>
                </a:moveTo>
                <a:cubicBezTo>
                  <a:pt x="45" y="105"/>
                  <a:pt x="194" y="4"/>
                  <a:pt x="272" y="2"/>
                </a:cubicBezTo>
                <a:cubicBezTo>
                  <a:pt x="350" y="0"/>
                  <a:pt x="426" y="90"/>
                  <a:pt x="466" y="113"/>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8611" name="Text Box 19">
            <a:extLst>
              <a:ext uri="{FF2B5EF4-FFF2-40B4-BE49-F238E27FC236}">
                <a16:creationId xmlns:a16="http://schemas.microsoft.com/office/drawing/2014/main" id="{5FB1130E-24AC-4B58-B253-17DDA917AF68}"/>
              </a:ext>
            </a:extLst>
          </p:cNvPr>
          <p:cNvSpPr txBox="1">
            <a:spLocks noChangeArrowheads="1"/>
          </p:cNvSpPr>
          <p:nvPr/>
        </p:nvSpPr>
        <p:spPr bwMode="auto">
          <a:xfrm>
            <a:off x="4351339" y="4278313"/>
            <a:ext cx="909637" cy="457200"/>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Infant Mortality</a:t>
            </a:r>
          </a:p>
        </p:txBody>
      </p:sp>
      <p:sp>
        <p:nvSpPr>
          <p:cNvPr id="878612" name="Oval 20">
            <a:extLst>
              <a:ext uri="{FF2B5EF4-FFF2-40B4-BE49-F238E27FC236}">
                <a16:creationId xmlns:a16="http://schemas.microsoft.com/office/drawing/2014/main" id="{4E658981-BE20-4AE6-9050-FF780781A7A1}"/>
              </a:ext>
            </a:extLst>
          </p:cNvPr>
          <p:cNvSpPr>
            <a:spLocks noChangeArrowheads="1"/>
          </p:cNvSpPr>
          <p:nvPr/>
        </p:nvSpPr>
        <p:spPr bwMode="auto">
          <a:xfrm>
            <a:off x="4670426" y="4203701"/>
            <a:ext cx="136525" cy="136525"/>
          </a:xfrm>
          <a:prstGeom prst="ellipse">
            <a:avLst/>
          </a:prstGeom>
          <a:solidFill>
            <a:srgbClr val="FF0033">
              <a:alpha val="50195"/>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8613" name="Freeform 21">
            <a:extLst>
              <a:ext uri="{FF2B5EF4-FFF2-40B4-BE49-F238E27FC236}">
                <a16:creationId xmlns:a16="http://schemas.microsoft.com/office/drawing/2014/main" id="{CB4D3B63-5FEE-4A68-9541-F1675C27C56D}"/>
              </a:ext>
            </a:extLst>
          </p:cNvPr>
          <p:cNvSpPr>
            <a:spLocks/>
          </p:cNvSpPr>
          <p:nvPr/>
        </p:nvSpPr>
        <p:spPr bwMode="auto">
          <a:xfrm>
            <a:off x="4429125" y="3205164"/>
            <a:ext cx="889000" cy="376237"/>
          </a:xfrm>
          <a:custGeom>
            <a:avLst/>
            <a:gdLst>
              <a:gd name="T0" fmla="*/ 0 w 560"/>
              <a:gd name="T1" fmla="*/ 2147483646 h 237"/>
              <a:gd name="T2" fmla="*/ 2147483646 w 560"/>
              <a:gd name="T3" fmla="*/ 2147483646 h 237"/>
              <a:gd name="T4" fmla="*/ 2147483646 w 560"/>
              <a:gd name="T5" fmla="*/ 2147483646 h 237"/>
              <a:gd name="T6" fmla="*/ 0 60000 65536"/>
              <a:gd name="T7" fmla="*/ 0 60000 65536"/>
              <a:gd name="T8" fmla="*/ 0 60000 65536"/>
              <a:gd name="T9" fmla="*/ 0 w 560"/>
              <a:gd name="T10" fmla="*/ 0 h 237"/>
              <a:gd name="T11" fmla="*/ 560 w 560"/>
              <a:gd name="T12" fmla="*/ 237 h 237"/>
            </a:gdLst>
            <a:ahLst/>
            <a:cxnLst>
              <a:cxn ang="T6">
                <a:pos x="T0" y="T1"/>
              </a:cxn>
              <a:cxn ang="T7">
                <a:pos x="T2" y="T3"/>
              </a:cxn>
              <a:cxn ang="T8">
                <a:pos x="T4" y="T5"/>
              </a:cxn>
            </a:cxnLst>
            <a:rect l="T9" t="T10" r="T11" b="T12"/>
            <a:pathLst>
              <a:path w="560" h="237">
                <a:moveTo>
                  <a:pt x="0" y="237"/>
                </a:moveTo>
                <a:cubicBezTo>
                  <a:pt x="60" y="200"/>
                  <a:pt x="267" y="42"/>
                  <a:pt x="360" y="21"/>
                </a:cubicBezTo>
                <a:cubicBezTo>
                  <a:pt x="453" y="0"/>
                  <a:pt x="518" y="92"/>
                  <a:pt x="560" y="111"/>
                </a:cubicBezTo>
              </a:path>
            </a:pathLst>
          </a:custGeom>
          <a:noFill/>
          <a:ln w="25400">
            <a:solidFill>
              <a:srgbClr val="FF0033">
                <a:alpha val="50195"/>
              </a:srgb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8614" name="Text Box 22">
            <a:extLst>
              <a:ext uri="{FF2B5EF4-FFF2-40B4-BE49-F238E27FC236}">
                <a16:creationId xmlns:a16="http://schemas.microsoft.com/office/drawing/2014/main" id="{8E81A13B-7CAE-4B13-8FAC-C80FE0400A42}"/>
              </a:ext>
            </a:extLst>
          </p:cNvPr>
          <p:cNvSpPr txBox="1">
            <a:spLocks noChangeArrowheads="1"/>
          </p:cNvSpPr>
          <p:nvPr/>
        </p:nvSpPr>
        <p:spPr bwMode="auto">
          <a:xfrm>
            <a:off x="4938714" y="3502175"/>
            <a:ext cx="930275" cy="461665"/>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Founders Trap</a:t>
            </a:r>
          </a:p>
        </p:txBody>
      </p:sp>
      <p:sp>
        <p:nvSpPr>
          <p:cNvPr id="878615" name="Oval 23">
            <a:extLst>
              <a:ext uri="{FF2B5EF4-FFF2-40B4-BE49-F238E27FC236}">
                <a16:creationId xmlns:a16="http://schemas.microsoft.com/office/drawing/2014/main" id="{F3F37CA2-4117-43D0-9D92-F717124B5FBB}"/>
              </a:ext>
            </a:extLst>
          </p:cNvPr>
          <p:cNvSpPr>
            <a:spLocks noChangeArrowheads="1"/>
          </p:cNvSpPr>
          <p:nvPr/>
        </p:nvSpPr>
        <p:spPr bwMode="auto">
          <a:xfrm>
            <a:off x="5257801" y="3370264"/>
            <a:ext cx="136525" cy="136525"/>
          </a:xfrm>
          <a:prstGeom prst="ellipse">
            <a:avLst/>
          </a:prstGeom>
          <a:solidFill>
            <a:srgbClr val="FF0033">
              <a:alpha val="50195"/>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8616" name="AutoShape 24">
            <a:extLst>
              <a:ext uri="{FF2B5EF4-FFF2-40B4-BE49-F238E27FC236}">
                <a16:creationId xmlns:a16="http://schemas.microsoft.com/office/drawing/2014/main" id="{FE3609D1-3142-41EA-9DC9-26F4996F785F}"/>
              </a:ext>
            </a:extLst>
          </p:cNvPr>
          <p:cNvSpPr>
            <a:spLocks noChangeArrowheads="1"/>
          </p:cNvSpPr>
          <p:nvPr/>
        </p:nvSpPr>
        <p:spPr bwMode="auto">
          <a:xfrm>
            <a:off x="5097463" y="2517775"/>
            <a:ext cx="150812" cy="152400"/>
          </a:xfrm>
          <a:prstGeom prst="octagon">
            <a:avLst>
              <a:gd name="adj" fmla="val 29287"/>
            </a:avLst>
          </a:prstGeom>
          <a:solidFill>
            <a:schemeClr val="folHlink"/>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8617" name="Text Box 25">
            <a:extLst>
              <a:ext uri="{FF2B5EF4-FFF2-40B4-BE49-F238E27FC236}">
                <a16:creationId xmlns:a16="http://schemas.microsoft.com/office/drawing/2014/main" id="{3071F293-8678-4497-990D-29FC6C6E6250}"/>
              </a:ext>
            </a:extLst>
          </p:cNvPr>
          <p:cNvSpPr txBox="1">
            <a:spLocks noChangeArrowheads="1"/>
          </p:cNvSpPr>
          <p:nvPr/>
        </p:nvSpPr>
        <p:spPr bwMode="auto">
          <a:xfrm>
            <a:off x="3363913" y="2366963"/>
            <a:ext cx="1668462" cy="366712"/>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Adolescence</a:t>
            </a:r>
          </a:p>
        </p:txBody>
      </p:sp>
      <p:sp>
        <p:nvSpPr>
          <p:cNvPr id="878618" name="Oval 26">
            <a:extLst>
              <a:ext uri="{FF2B5EF4-FFF2-40B4-BE49-F238E27FC236}">
                <a16:creationId xmlns:a16="http://schemas.microsoft.com/office/drawing/2014/main" id="{009E4829-D6FF-48B8-8F4D-2E54B059BFBB}"/>
              </a:ext>
            </a:extLst>
          </p:cNvPr>
          <p:cNvSpPr>
            <a:spLocks noChangeArrowheads="1"/>
          </p:cNvSpPr>
          <p:nvPr/>
        </p:nvSpPr>
        <p:spPr bwMode="auto">
          <a:xfrm>
            <a:off x="5929314" y="2605089"/>
            <a:ext cx="136525" cy="136525"/>
          </a:xfrm>
          <a:prstGeom prst="ellipse">
            <a:avLst/>
          </a:prstGeom>
          <a:solidFill>
            <a:srgbClr val="FF0033">
              <a:alpha val="50195"/>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8619" name="Oval 27">
            <a:extLst>
              <a:ext uri="{FF2B5EF4-FFF2-40B4-BE49-F238E27FC236}">
                <a16:creationId xmlns:a16="http://schemas.microsoft.com/office/drawing/2014/main" id="{EFF3639F-B6BE-4DB9-8807-0EBF0080AF62}"/>
              </a:ext>
            </a:extLst>
          </p:cNvPr>
          <p:cNvSpPr>
            <a:spLocks noChangeArrowheads="1"/>
          </p:cNvSpPr>
          <p:nvPr/>
        </p:nvSpPr>
        <p:spPr bwMode="auto">
          <a:xfrm>
            <a:off x="6035676" y="2214564"/>
            <a:ext cx="136525" cy="136525"/>
          </a:xfrm>
          <a:prstGeom prst="ellipse">
            <a:avLst/>
          </a:prstGeom>
          <a:solidFill>
            <a:srgbClr val="FF0033">
              <a:alpha val="50195"/>
            </a:srgbClr>
          </a:solidFill>
          <a:ln w="12700">
            <a:solidFill>
              <a:schemeClr val="tx1"/>
            </a:solidFill>
            <a:round/>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8620" name="Text Box 28">
            <a:extLst>
              <a:ext uri="{FF2B5EF4-FFF2-40B4-BE49-F238E27FC236}">
                <a16:creationId xmlns:a16="http://schemas.microsoft.com/office/drawing/2014/main" id="{C47902E7-1486-46A3-99C9-FA20F48D6EE4}"/>
              </a:ext>
            </a:extLst>
          </p:cNvPr>
          <p:cNvSpPr txBox="1">
            <a:spLocks noChangeArrowheads="1"/>
          </p:cNvSpPr>
          <p:nvPr/>
        </p:nvSpPr>
        <p:spPr bwMode="auto">
          <a:xfrm>
            <a:off x="6172200" y="2214563"/>
            <a:ext cx="1365250" cy="457200"/>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Unfulfilled Entrepreneur</a:t>
            </a:r>
          </a:p>
        </p:txBody>
      </p:sp>
      <p:sp>
        <p:nvSpPr>
          <p:cNvPr id="878621" name="Text Box 29">
            <a:extLst>
              <a:ext uri="{FF2B5EF4-FFF2-40B4-BE49-F238E27FC236}">
                <a16:creationId xmlns:a16="http://schemas.microsoft.com/office/drawing/2014/main" id="{6A23E0EE-13AB-4AC8-A5B6-1DB5677FD32B}"/>
              </a:ext>
            </a:extLst>
          </p:cNvPr>
          <p:cNvSpPr txBox="1">
            <a:spLocks noChangeArrowheads="1"/>
          </p:cNvSpPr>
          <p:nvPr/>
        </p:nvSpPr>
        <p:spPr bwMode="auto">
          <a:xfrm>
            <a:off x="5792789" y="2668588"/>
            <a:ext cx="1233487" cy="457200"/>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Premature Aging</a:t>
            </a:r>
          </a:p>
        </p:txBody>
      </p:sp>
      <p:sp>
        <p:nvSpPr>
          <p:cNvPr id="878622" name="AutoShape 30">
            <a:extLst>
              <a:ext uri="{FF2B5EF4-FFF2-40B4-BE49-F238E27FC236}">
                <a16:creationId xmlns:a16="http://schemas.microsoft.com/office/drawing/2014/main" id="{8FEEE8DB-4487-4EB3-9618-7B3687F0A848}"/>
              </a:ext>
            </a:extLst>
          </p:cNvPr>
          <p:cNvSpPr>
            <a:spLocks noChangeArrowheads="1"/>
          </p:cNvSpPr>
          <p:nvPr/>
        </p:nvSpPr>
        <p:spPr bwMode="auto">
          <a:xfrm>
            <a:off x="5489576" y="2062163"/>
            <a:ext cx="150813"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8623" name="Text Box 31">
            <a:extLst>
              <a:ext uri="{FF2B5EF4-FFF2-40B4-BE49-F238E27FC236}">
                <a16:creationId xmlns:a16="http://schemas.microsoft.com/office/drawing/2014/main" id="{4DBD8847-BEAD-43B9-8909-4CFC3A79F162}"/>
              </a:ext>
            </a:extLst>
          </p:cNvPr>
          <p:cNvSpPr txBox="1">
            <a:spLocks noChangeArrowheads="1"/>
          </p:cNvSpPr>
          <p:nvPr/>
        </p:nvSpPr>
        <p:spPr bwMode="auto">
          <a:xfrm>
            <a:off x="5337175" y="2214564"/>
            <a:ext cx="1062038" cy="274637"/>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lang="en-US" sz="1200">
                <a:solidFill>
                  <a:schemeClr val="folHlink"/>
                </a:solidFill>
                <a:effectLst>
                  <a:outerShdw blurRad="38100" dist="38100" dir="2700000" algn="tl">
                    <a:srgbClr val="C0C0C0"/>
                  </a:outerShdw>
                </a:effectLst>
                <a:latin typeface="Tahoma" pitchFamily="-111" charset="0"/>
                <a:ea typeface="ＭＳ Ｐゴシック" pitchFamily="-111" charset="-128"/>
              </a:rPr>
              <a:t>Divorce</a:t>
            </a:r>
          </a:p>
        </p:txBody>
      </p:sp>
      <p:sp>
        <p:nvSpPr>
          <p:cNvPr id="878624" name="Text Box 32">
            <a:extLst>
              <a:ext uri="{FF2B5EF4-FFF2-40B4-BE49-F238E27FC236}">
                <a16:creationId xmlns:a16="http://schemas.microsoft.com/office/drawing/2014/main" id="{C4DBA874-FA68-4C31-9452-890506FDF0CB}"/>
              </a:ext>
            </a:extLst>
          </p:cNvPr>
          <p:cNvSpPr txBox="1">
            <a:spLocks noChangeArrowheads="1"/>
          </p:cNvSpPr>
          <p:nvPr/>
        </p:nvSpPr>
        <p:spPr bwMode="auto">
          <a:xfrm>
            <a:off x="4425950" y="1924051"/>
            <a:ext cx="1062038"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Prime</a:t>
            </a:r>
          </a:p>
        </p:txBody>
      </p:sp>
      <p:sp>
        <p:nvSpPr>
          <p:cNvPr id="878625" name="Text Box 33">
            <a:extLst>
              <a:ext uri="{FF2B5EF4-FFF2-40B4-BE49-F238E27FC236}">
                <a16:creationId xmlns:a16="http://schemas.microsoft.com/office/drawing/2014/main" id="{4B249483-130A-40BD-9576-C5579292A656}"/>
              </a:ext>
            </a:extLst>
          </p:cNvPr>
          <p:cNvSpPr txBox="1">
            <a:spLocks noChangeArrowheads="1"/>
          </p:cNvSpPr>
          <p:nvPr/>
        </p:nvSpPr>
        <p:spPr bwMode="auto">
          <a:xfrm>
            <a:off x="7312026" y="2138364"/>
            <a:ext cx="3186113"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4625" indent="-174625">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Balanced self-control, &amp; flexibility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Functional organization structure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Insufficient managerial depth</a:t>
            </a:r>
            <a:r>
              <a:rPr lang="en-US" altLang="en-US">
                <a:latin typeface="Tahoma" panose="020B0604030504040204" pitchFamily="34" charset="0"/>
              </a:rPr>
              <a:t>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Can increase sales </a:t>
            </a:r>
            <a:r>
              <a:rPr lang="en-US" altLang="en-US" sz="1800">
                <a:solidFill>
                  <a:srgbClr val="FF0033"/>
                </a:solidFill>
                <a:latin typeface="Tahoma" panose="020B0604030504040204" pitchFamily="34" charset="0"/>
              </a:rPr>
              <a:t>AND</a:t>
            </a:r>
            <a:r>
              <a:rPr lang="en-US" altLang="en-US" sz="1800">
                <a:latin typeface="Tahoma" panose="020B0604030504040204" pitchFamily="34" charset="0"/>
              </a:rPr>
              <a:t> profits simultaneously</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Creates new infant organizations</a:t>
            </a:r>
            <a:r>
              <a:rPr lang="en-US" altLang="en-US" sz="1800" u="sng">
                <a:latin typeface="Tahoma" panose="020B0604030504040204" pitchFamily="34" charset="0"/>
              </a:rPr>
              <a:t>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Reorganizes and Emancipates as needed</a:t>
            </a:r>
          </a:p>
        </p:txBody>
      </p:sp>
      <p:sp>
        <p:nvSpPr>
          <p:cNvPr id="37922" name="Text Box 34">
            <a:extLst>
              <a:ext uri="{FF2B5EF4-FFF2-40B4-BE49-F238E27FC236}">
                <a16:creationId xmlns:a16="http://schemas.microsoft.com/office/drawing/2014/main" id="{18EEC0E0-4BDE-4832-8D24-1F8D83D049C8}"/>
              </a:ext>
            </a:extLst>
          </p:cNvPr>
          <p:cNvSpPr txBox="1">
            <a:spLocks noChangeArrowheads="1"/>
          </p:cNvSpPr>
          <p:nvPr/>
        </p:nvSpPr>
        <p:spPr bwMode="auto">
          <a:xfrm>
            <a:off x="3440114" y="1303338"/>
            <a:ext cx="5387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buClr>
                <a:srgbClr val="009900"/>
              </a:buClr>
              <a:buFont typeface="Wingdings" panose="05000000000000000000" pitchFamily="2" charset="2"/>
              <a:buNone/>
            </a:pPr>
            <a:r>
              <a:rPr lang="en-US" altLang="en-US" sz="2800">
                <a:latin typeface="Tahoma" panose="020B0604030504040204" pitchFamily="34" charset="0"/>
              </a:rPr>
              <a:t>The “Optimum” </a:t>
            </a:r>
            <a:r>
              <a:rPr lang="en-US" altLang="en-US" sz="2800">
                <a:solidFill>
                  <a:srgbClr val="FF0033"/>
                </a:solidFill>
                <a:latin typeface="Tahoma" panose="020B0604030504040204" pitchFamily="34" charset="0"/>
              </a:rPr>
              <a:t>Region</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878597"/>
                                        </p:tgtEl>
                                        <p:attrNameLst>
                                          <p:attrName>style.visibility</p:attrName>
                                        </p:attrNameLst>
                                      </p:cBhvr>
                                      <p:to>
                                        <p:strVal val="visible"/>
                                      </p:to>
                                    </p:set>
                                    <p:animEffect transition="in" filter="wipe(down)">
                                      <p:cBhvr>
                                        <p:cTn id="7" dur="500"/>
                                        <p:tgtEl>
                                          <p:spTgt spid="87859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78602"/>
                                        </p:tgtEl>
                                        <p:attrNameLst>
                                          <p:attrName>style.visibility</p:attrName>
                                        </p:attrNameLst>
                                      </p:cBhvr>
                                      <p:to>
                                        <p:strVal val="visible"/>
                                      </p:to>
                                    </p:set>
                                    <p:animEffect transition="in" filter="fade">
                                      <p:cBhvr>
                                        <p:cTn id="10" dur="2000"/>
                                        <p:tgtEl>
                                          <p:spTgt spid="87860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78604"/>
                                        </p:tgtEl>
                                        <p:attrNameLst>
                                          <p:attrName>style.visibility</p:attrName>
                                        </p:attrNameLst>
                                      </p:cBhvr>
                                      <p:to>
                                        <p:strVal val="visible"/>
                                      </p:to>
                                    </p:set>
                                    <p:animEffect transition="in" filter="fade">
                                      <p:cBhvr>
                                        <p:cTn id="13" dur="2000"/>
                                        <p:tgtEl>
                                          <p:spTgt spid="878604"/>
                                        </p:tgtEl>
                                      </p:cBhvr>
                                    </p:animEffect>
                                  </p:childTnLst>
                                </p:cTn>
                              </p:par>
                              <p:par>
                                <p:cTn id="14" presetID="22" presetClass="entr" presetSubtype="4" fill="hold" nodeType="withEffect">
                                  <p:stCondLst>
                                    <p:cond delay="0"/>
                                  </p:stCondLst>
                                  <p:childTnLst>
                                    <p:set>
                                      <p:cBhvr>
                                        <p:cTn id="15" dur="1" fill="hold">
                                          <p:stCondLst>
                                            <p:cond delay="0"/>
                                          </p:stCondLst>
                                        </p:cTn>
                                        <p:tgtEl>
                                          <p:spTgt spid="878603"/>
                                        </p:tgtEl>
                                        <p:attrNameLst>
                                          <p:attrName>style.visibility</p:attrName>
                                        </p:attrNameLst>
                                      </p:cBhvr>
                                      <p:to>
                                        <p:strVal val="visible"/>
                                      </p:to>
                                    </p:set>
                                    <p:animEffect transition="in" filter="wipe(down)">
                                      <p:cBhvr>
                                        <p:cTn id="16" dur="500"/>
                                        <p:tgtEl>
                                          <p:spTgt spid="87860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78607"/>
                                        </p:tgtEl>
                                        <p:attrNameLst>
                                          <p:attrName>style.visibility</p:attrName>
                                        </p:attrNameLst>
                                      </p:cBhvr>
                                      <p:to>
                                        <p:strVal val="visible"/>
                                      </p:to>
                                    </p:set>
                                    <p:animEffect transition="in" filter="fade">
                                      <p:cBhvr>
                                        <p:cTn id="19" dur="2000"/>
                                        <p:tgtEl>
                                          <p:spTgt spid="87860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78601"/>
                                        </p:tgtEl>
                                        <p:attrNameLst>
                                          <p:attrName>style.visibility</p:attrName>
                                        </p:attrNameLst>
                                      </p:cBhvr>
                                      <p:to>
                                        <p:strVal val="visible"/>
                                      </p:to>
                                    </p:set>
                                    <p:animEffect transition="in" filter="fade">
                                      <p:cBhvr>
                                        <p:cTn id="22" dur="2000"/>
                                        <p:tgtEl>
                                          <p:spTgt spid="87860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78606"/>
                                        </p:tgtEl>
                                        <p:attrNameLst>
                                          <p:attrName>style.visibility</p:attrName>
                                        </p:attrNameLst>
                                      </p:cBhvr>
                                      <p:to>
                                        <p:strVal val="visible"/>
                                      </p:to>
                                    </p:set>
                                    <p:animEffect transition="in" filter="fade">
                                      <p:cBhvr>
                                        <p:cTn id="25" dur="2000"/>
                                        <p:tgtEl>
                                          <p:spTgt spid="87860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78605"/>
                                        </p:tgtEl>
                                        <p:attrNameLst>
                                          <p:attrName>style.visibility</p:attrName>
                                        </p:attrNameLst>
                                      </p:cBhvr>
                                      <p:to>
                                        <p:strVal val="visible"/>
                                      </p:to>
                                    </p:set>
                                    <p:animEffect transition="in" filter="fade">
                                      <p:cBhvr>
                                        <p:cTn id="28" dur="2000"/>
                                        <p:tgtEl>
                                          <p:spTgt spid="878605"/>
                                        </p:tgtEl>
                                      </p:cBhvr>
                                    </p:animEffect>
                                  </p:childTnLst>
                                </p:cTn>
                              </p:par>
                              <p:par>
                                <p:cTn id="29" presetID="22" presetClass="entr" presetSubtype="4" fill="hold" nodeType="withEffect">
                                  <p:stCondLst>
                                    <p:cond delay="0"/>
                                  </p:stCondLst>
                                  <p:childTnLst>
                                    <p:set>
                                      <p:cBhvr>
                                        <p:cTn id="30" dur="1" fill="hold">
                                          <p:stCondLst>
                                            <p:cond delay="0"/>
                                          </p:stCondLst>
                                        </p:cTn>
                                        <p:tgtEl>
                                          <p:spTgt spid="878610"/>
                                        </p:tgtEl>
                                        <p:attrNameLst>
                                          <p:attrName>style.visibility</p:attrName>
                                        </p:attrNameLst>
                                      </p:cBhvr>
                                      <p:to>
                                        <p:strVal val="visible"/>
                                      </p:to>
                                    </p:set>
                                    <p:animEffect transition="in" filter="wipe(down)">
                                      <p:cBhvr>
                                        <p:cTn id="31" dur="500"/>
                                        <p:tgtEl>
                                          <p:spTgt spid="8786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8612"/>
                                        </p:tgtEl>
                                        <p:attrNameLst>
                                          <p:attrName>style.visibility</p:attrName>
                                        </p:attrNameLst>
                                      </p:cBhvr>
                                      <p:to>
                                        <p:strVal val="visible"/>
                                      </p:to>
                                    </p:set>
                                    <p:animEffect transition="in" filter="fade">
                                      <p:cBhvr>
                                        <p:cTn id="34" dur="2000"/>
                                        <p:tgtEl>
                                          <p:spTgt spid="8786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78611"/>
                                        </p:tgtEl>
                                        <p:attrNameLst>
                                          <p:attrName>style.visibility</p:attrName>
                                        </p:attrNameLst>
                                      </p:cBhvr>
                                      <p:to>
                                        <p:strVal val="visible"/>
                                      </p:to>
                                    </p:set>
                                    <p:animEffect transition="in" filter="fade">
                                      <p:cBhvr>
                                        <p:cTn id="37" dur="2000"/>
                                        <p:tgtEl>
                                          <p:spTgt spid="8786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78609"/>
                                        </p:tgtEl>
                                        <p:attrNameLst>
                                          <p:attrName>style.visibility</p:attrName>
                                        </p:attrNameLst>
                                      </p:cBhvr>
                                      <p:to>
                                        <p:strVal val="visible"/>
                                      </p:to>
                                    </p:set>
                                    <p:animEffect transition="in" filter="fade">
                                      <p:cBhvr>
                                        <p:cTn id="40" dur="2000"/>
                                        <p:tgtEl>
                                          <p:spTgt spid="878609"/>
                                        </p:tgtEl>
                                      </p:cBhvr>
                                    </p:animEffect>
                                  </p:childTnLst>
                                </p:cTn>
                              </p:par>
                              <p:par>
                                <p:cTn id="41" presetID="22" presetClass="entr" presetSubtype="4" fill="hold" nodeType="withEffect">
                                  <p:stCondLst>
                                    <p:cond delay="0"/>
                                  </p:stCondLst>
                                  <p:childTnLst>
                                    <p:set>
                                      <p:cBhvr>
                                        <p:cTn id="42" dur="1" fill="hold">
                                          <p:stCondLst>
                                            <p:cond delay="0"/>
                                          </p:stCondLst>
                                        </p:cTn>
                                        <p:tgtEl>
                                          <p:spTgt spid="878613"/>
                                        </p:tgtEl>
                                        <p:attrNameLst>
                                          <p:attrName>style.visibility</p:attrName>
                                        </p:attrNameLst>
                                      </p:cBhvr>
                                      <p:to>
                                        <p:strVal val="visible"/>
                                      </p:to>
                                    </p:set>
                                    <p:animEffect transition="in" filter="wipe(down)">
                                      <p:cBhvr>
                                        <p:cTn id="43" dur="500"/>
                                        <p:tgtEl>
                                          <p:spTgt spid="8786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878608"/>
                                        </p:tgtEl>
                                        <p:attrNameLst>
                                          <p:attrName>style.visibility</p:attrName>
                                        </p:attrNameLst>
                                      </p:cBhvr>
                                      <p:to>
                                        <p:strVal val="visible"/>
                                      </p:to>
                                    </p:set>
                                    <p:animEffect transition="in" filter="fade">
                                      <p:cBhvr>
                                        <p:cTn id="46" dur="2000"/>
                                        <p:tgtEl>
                                          <p:spTgt spid="87860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878614"/>
                                        </p:tgtEl>
                                        <p:attrNameLst>
                                          <p:attrName>style.visibility</p:attrName>
                                        </p:attrNameLst>
                                      </p:cBhvr>
                                      <p:to>
                                        <p:strVal val="visible"/>
                                      </p:to>
                                    </p:set>
                                    <p:animEffect transition="in" filter="fade">
                                      <p:cBhvr>
                                        <p:cTn id="49" dur="2000"/>
                                        <p:tgtEl>
                                          <p:spTgt spid="87861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878615"/>
                                        </p:tgtEl>
                                        <p:attrNameLst>
                                          <p:attrName>style.visibility</p:attrName>
                                        </p:attrNameLst>
                                      </p:cBhvr>
                                      <p:to>
                                        <p:strVal val="visible"/>
                                      </p:to>
                                    </p:set>
                                    <p:animEffect transition="in" filter="fade">
                                      <p:cBhvr>
                                        <p:cTn id="52" dur="2000"/>
                                        <p:tgtEl>
                                          <p:spTgt spid="87861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878617"/>
                                        </p:tgtEl>
                                        <p:attrNameLst>
                                          <p:attrName>style.visibility</p:attrName>
                                        </p:attrNameLst>
                                      </p:cBhvr>
                                      <p:to>
                                        <p:strVal val="visible"/>
                                      </p:to>
                                    </p:set>
                                    <p:animEffect transition="in" filter="fade">
                                      <p:cBhvr>
                                        <p:cTn id="55" dur="2000"/>
                                        <p:tgtEl>
                                          <p:spTgt spid="8786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878623"/>
                                        </p:tgtEl>
                                        <p:attrNameLst>
                                          <p:attrName>style.visibility</p:attrName>
                                        </p:attrNameLst>
                                      </p:cBhvr>
                                      <p:to>
                                        <p:strVal val="visible"/>
                                      </p:to>
                                    </p:set>
                                    <p:animEffect transition="in" filter="fade">
                                      <p:cBhvr>
                                        <p:cTn id="58" dur="2000"/>
                                        <p:tgtEl>
                                          <p:spTgt spid="878623"/>
                                        </p:tgtEl>
                                      </p:cBhvr>
                                    </p:animEffect>
                                  </p:childTnLst>
                                </p:cTn>
                              </p:par>
                              <p:par>
                                <p:cTn id="59" presetID="22" presetClass="entr" presetSubtype="4" fill="hold" nodeType="withEffect">
                                  <p:stCondLst>
                                    <p:cond delay="0"/>
                                  </p:stCondLst>
                                  <p:childTnLst>
                                    <p:set>
                                      <p:cBhvr>
                                        <p:cTn id="60" dur="1" fill="hold">
                                          <p:stCondLst>
                                            <p:cond delay="0"/>
                                          </p:stCondLst>
                                        </p:cTn>
                                        <p:tgtEl>
                                          <p:spTgt spid="878598"/>
                                        </p:tgtEl>
                                        <p:attrNameLst>
                                          <p:attrName>style.visibility</p:attrName>
                                        </p:attrNameLst>
                                      </p:cBhvr>
                                      <p:to>
                                        <p:strVal val="visible"/>
                                      </p:to>
                                    </p:set>
                                    <p:animEffect transition="in" filter="wipe(down)">
                                      <p:cBhvr>
                                        <p:cTn id="61" dur="500"/>
                                        <p:tgtEl>
                                          <p:spTgt spid="87859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878619"/>
                                        </p:tgtEl>
                                        <p:attrNameLst>
                                          <p:attrName>style.visibility</p:attrName>
                                        </p:attrNameLst>
                                      </p:cBhvr>
                                      <p:to>
                                        <p:strVal val="visible"/>
                                      </p:to>
                                    </p:set>
                                    <p:animEffect transition="in" filter="fade">
                                      <p:cBhvr>
                                        <p:cTn id="64" dur="2000"/>
                                        <p:tgtEl>
                                          <p:spTgt spid="87861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878620"/>
                                        </p:tgtEl>
                                        <p:attrNameLst>
                                          <p:attrName>style.visibility</p:attrName>
                                        </p:attrNameLst>
                                      </p:cBhvr>
                                      <p:to>
                                        <p:strVal val="visible"/>
                                      </p:to>
                                    </p:set>
                                    <p:animEffect transition="in" filter="fade">
                                      <p:cBhvr>
                                        <p:cTn id="67" dur="2000"/>
                                        <p:tgtEl>
                                          <p:spTgt spid="878620"/>
                                        </p:tgtEl>
                                      </p:cBhvr>
                                    </p:animEffect>
                                  </p:childTnLst>
                                </p:cTn>
                              </p:par>
                              <p:par>
                                <p:cTn id="68" presetID="22" presetClass="entr" presetSubtype="4" fill="hold" nodeType="withEffect">
                                  <p:stCondLst>
                                    <p:cond delay="0"/>
                                  </p:stCondLst>
                                  <p:childTnLst>
                                    <p:set>
                                      <p:cBhvr>
                                        <p:cTn id="69" dur="1" fill="hold">
                                          <p:stCondLst>
                                            <p:cond delay="0"/>
                                          </p:stCondLst>
                                        </p:cTn>
                                        <p:tgtEl>
                                          <p:spTgt spid="878594"/>
                                        </p:tgtEl>
                                        <p:attrNameLst>
                                          <p:attrName>style.visibility</p:attrName>
                                        </p:attrNameLst>
                                      </p:cBhvr>
                                      <p:to>
                                        <p:strVal val="visible"/>
                                      </p:to>
                                    </p:set>
                                    <p:animEffect transition="in" filter="wipe(down)">
                                      <p:cBhvr>
                                        <p:cTn id="70" dur="500"/>
                                        <p:tgtEl>
                                          <p:spTgt spid="87859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878618"/>
                                        </p:tgtEl>
                                        <p:attrNameLst>
                                          <p:attrName>style.visibility</p:attrName>
                                        </p:attrNameLst>
                                      </p:cBhvr>
                                      <p:to>
                                        <p:strVal val="visible"/>
                                      </p:to>
                                    </p:set>
                                    <p:animEffect transition="in" filter="fade">
                                      <p:cBhvr>
                                        <p:cTn id="73" dur="2000"/>
                                        <p:tgtEl>
                                          <p:spTgt spid="87861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878616"/>
                                        </p:tgtEl>
                                        <p:attrNameLst>
                                          <p:attrName>style.visibility</p:attrName>
                                        </p:attrNameLst>
                                      </p:cBhvr>
                                      <p:to>
                                        <p:strVal val="visible"/>
                                      </p:to>
                                    </p:set>
                                    <p:animEffect transition="in" filter="fade">
                                      <p:cBhvr>
                                        <p:cTn id="76" dur="2000"/>
                                        <p:tgtEl>
                                          <p:spTgt spid="878616"/>
                                        </p:tgtEl>
                                      </p:cBhvr>
                                    </p:animEffect>
                                  </p:childTnLst>
                                </p:cTn>
                              </p:par>
                              <p:par>
                                <p:cTn id="77" presetID="10" presetClass="entr" presetSubtype="0" fill="hold" nodeType="withEffect">
                                  <p:stCondLst>
                                    <p:cond delay="0"/>
                                  </p:stCondLst>
                                  <p:childTnLst>
                                    <p:set>
                                      <p:cBhvr>
                                        <p:cTn id="78" dur="1" fill="hold">
                                          <p:stCondLst>
                                            <p:cond delay="0"/>
                                          </p:stCondLst>
                                        </p:cTn>
                                        <p:tgtEl>
                                          <p:spTgt spid="878621"/>
                                        </p:tgtEl>
                                        <p:attrNameLst>
                                          <p:attrName>style.visibility</p:attrName>
                                        </p:attrNameLst>
                                      </p:cBhvr>
                                      <p:to>
                                        <p:strVal val="visible"/>
                                      </p:to>
                                    </p:set>
                                    <p:animEffect transition="in" filter="fade">
                                      <p:cBhvr>
                                        <p:cTn id="79" dur="2000"/>
                                        <p:tgtEl>
                                          <p:spTgt spid="878621"/>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0" presetClass="entr" presetSubtype="0" repeatCount="3000" fill="hold" grpId="0" nodeType="clickEffect">
                                  <p:stCondLst>
                                    <p:cond delay="0"/>
                                  </p:stCondLst>
                                  <p:childTnLst>
                                    <p:set>
                                      <p:cBhvr>
                                        <p:cTn id="83" dur="1" fill="hold">
                                          <p:stCondLst>
                                            <p:cond delay="0"/>
                                          </p:stCondLst>
                                        </p:cTn>
                                        <p:tgtEl>
                                          <p:spTgt spid="878622"/>
                                        </p:tgtEl>
                                        <p:attrNameLst>
                                          <p:attrName>style.visibility</p:attrName>
                                        </p:attrNameLst>
                                      </p:cBhvr>
                                      <p:to>
                                        <p:strVal val="visible"/>
                                      </p:to>
                                    </p:set>
                                    <p:animEffect transition="in" filter="fade">
                                      <p:cBhvr>
                                        <p:cTn id="84" dur="1000"/>
                                        <p:tgtEl>
                                          <p:spTgt spid="878622"/>
                                        </p:tgtEl>
                                      </p:cBhvr>
                                    </p:animEffect>
                                  </p:childTnLst>
                                </p:cTn>
                              </p:par>
                            </p:childTnLst>
                          </p:cTn>
                        </p:par>
                        <p:par>
                          <p:cTn id="85" fill="hold" nodeType="afterGroup">
                            <p:stCondLst>
                              <p:cond delay="3000"/>
                            </p:stCondLst>
                            <p:childTnLst>
                              <p:par>
                                <p:cTn id="86" presetID="10" presetClass="entr" presetSubtype="0" fill="hold" grpId="0" nodeType="afterEffect">
                                  <p:stCondLst>
                                    <p:cond delay="0"/>
                                  </p:stCondLst>
                                  <p:childTnLst>
                                    <p:set>
                                      <p:cBhvr>
                                        <p:cTn id="87" dur="1" fill="hold">
                                          <p:stCondLst>
                                            <p:cond delay="0"/>
                                          </p:stCondLst>
                                        </p:cTn>
                                        <p:tgtEl>
                                          <p:spTgt spid="878624"/>
                                        </p:tgtEl>
                                        <p:attrNameLst>
                                          <p:attrName>style.visibility</p:attrName>
                                        </p:attrNameLst>
                                      </p:cBhvr>
                                      <p:to>
                                        <p:strVal val="visible"/>
                                      </p:to>
                                    </p:set>
                                    <p:animEffect transition="in" filter="fade">
                                      <p:cBhvr>
                                        <p:cTn id="88" dur="500"/>
                                        <p:tgtEl>
                                          <p:spTgt spid="87862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nodeType="clickEffect">
                                  <p:stCondLst>
                                    <p:cond delay="0"/>
                                  </p:stCondLst>
                                  <p:childTnLst>
                                    <p:set>
                                      <p:cBhvr>
                                        <p:cTn id="92" dur="1" fill="hold">
                                          <p:stCondLst>
                                            <p:cond delay="0"/>
                                          </p:stCondLst>
                                        </p:cTn>
                                        <p:tgtEl>
                                          <p:spTgt spid="87862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878625">
                                            <p:txEl>
                                              <p:pRg st="0" end="0"/>
                                            </p:txEl>
                                          </p:spTgt>
                                        </p:tgtEl>
                                        <p:attrNameLst>
                                          <p:attrName>ppt_c</p:attrName>
                                        </p:attrNameLst>
                                      </p:cBhvr>
                                      <p:to>
                                        <a:schemeClr val="folHlink"/>
                                      </p:to>
                                    </p:animClr>
                                  </p:sub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0"/>
                                          </p:stCondLst>
                                        </p:cTn>
                                        <p:tgtEl>
                                          <p:spTgt spid="87862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878625">
                                            <p:txEl>
                                              <p:pRg st="1" end="1"/>
                                            </p:txEl>
                                          </p:spTgt>
                                        </p:tgtEl>
                                        <p:attrNameLst>
                                          <p:attrName>ppt_c</p:attrName>
                                        </p:attrNameLst>
                                      </p:cBhvr>
                                      <p:to>
                                        <a:schemeClr val="folHlink"/>
                                      </p:to>
                                    </p:animClr>
                                  </p:sub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0"/>
                                          </p:stCondLst>
                                        </p:cTn>
                                        <p:tgtEl>
                                          <p:spTgt spid="87862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878625">
                                            <p:txEl>
                                              <p:pRg st="2" end="2"/>
                                            </p:txEl>
                                          </p:spTgt>
                                        </p:tgtEl>
                                        <p:attrNameLst>
                                          <p:attrName>ppt_c</p:attrName>
                                        </p:attrNameLst>
                                      </p:cBhvr>
                                      <p:to>
                                        <a:schemeClr val="folHlink"/>
                                      </p:to>
                                    </p:animClr>
                                  </p:sub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0"/>
                                          </p:stCondLst>
                                        </p:cTn>
                                        <p:tgtEl>
                                          <p:spTgt spid="87862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878625">
                                            <p:txEl>
                                              <p:pRg st="3" end="3"/>
                                            </p:txEl>
                                          </p:spTgt>
                                        </p:tgtEl>
                                        <p:attrNameLst>
                                          <p:attrName>ppt_c</p:attrName>
                                        </p:attrNameLst>
                                      </p:cBhvr>
                                      <p:to>
                                        <a:schemeClr val="folHlink"/>
                                      </p:to>
                                    </p:animClr>
                                  </p:sub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nodeType="clickEffect">
                                  <p:stCondLst>
                                    <p:cond delay="0"/>
                                  </p:stCondLst>
                                  <p:childTnLst>
                                    <p:set>
                                      <p:cBhvr>
                                        <p:cTn id="108" dur="1" fill="hold">
                                          <p:stCondLst>
                                            <p:cond delay="0"/>
                                          </p:stCondLst>
                                        </p:cTn>
                                        <p:tgtEl>
                                          <p:spTgt spid="87862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878625">
                                            <p:txEl>
                                              <p:pRg st="4" end="4"/>
                                            </p:txEl>
                                          </p:spTgt>
                                        </p:tgtEl>
                                        <p:attrNameLst>
                                          <p:attrName>ppt_c</p:attrName>
                                        </p:attrNameLst>
                                      </p:cBhvr>
                                      <p:to>
                                        <a:schemeClr val="folHlink"/>
                                      </p:to>
                                    </p:animClr>
                                  </p:sub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nodeType="clickEffect">
                                  <p:stCondLst>
                                    <p:cond delay="0"/>
                                  </p:stCondLst>
                                  <p:childTnLst>
                                    <p:set>
                                      <p:cBhvr>
                                        <p:cTn id="112" dur="1" fill="hold">
                                          <p:stCondLst>
                                            <p:cond delay="0"/>
                                          </p:stCondLst>
                                        </p:cTn>
                                        <p:tgtEl>
                                          <p:spTgt spid="878625">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878625">
                                            <p:txEl>
                                              <p:pRg st="5" end="5"/>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8601" grpId="0" animBg="1"/>
      <p:bldP spid="878602" grpId="0" animBg="1"/>
      <p:bldP spid="878604" grpId="0"/>
      <p:bldP spid="878605" grpId="0"/>
      <p:bldP spid="878606" grpId="0"/>
      <p:bldP spid="878607" grpId="0" animBg="1"/>
      <p:bldP spid="878608" grpId="0" animBg="1"/>
      <p:bldP spid="878609" grpId="0"/>
      <p:bldP spid="878611" grpId="0"/>
      <p:bldP spid="878612" grpId="0" animBg="1"/>
      <p:bldP spid="878614" grpId="0"/>
      <p:bldP spid="878615" grpId="0" animBg="1"/>
      <p:bldP spid="878616" grpId="0" animBg="1"/>
      <p:bldP spid="878617" grpId="0"/>
      <p:bldP spid="878618" grpId="0" animBg="1"/>
      <p:bldP spid="878619" grpId="0" animBg="1"/>
      <p:bldP spid="878620" grpId="0"/>
      <p:bldP spid="878622" grpId="0" animBg="1"/>
      <p:bldP spid="878623" grpId="0"/>
      <p:bldP spid="87862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0D6F47A-E7C6-41F4-9C56-B0D333A7A59A}"/>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39939" name="Rectangle 3">
            <a:extLst>
              <a:ext uri="{FF2B5EF4-FFF2-40B4-BE49-F238E27FC236}">
                <a16:creationId xmlns:a16="http://schemas.microsoft.com/office/drawing/2014/main" id="{2BCC2D7E-7585-432D-86A8-26F0CFD7C086}"/>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9620" name="Freeform 4">
            <a:extLst>
              <a:ext uri="{FF2B5EF4-FFF2-40B4-BE49-F238E27FC236}">
                <a16:creationId xmlns:a16="http://schemas.microsoft.com/office/drawing/2014/main" id="{7FE914D1-92D9-49CB-87A8-994E9C11FA32}"/>
              </a:ext>
            </a:extLst>
          </p:cNvPr>
          <p:cNvSpPr>
            <a:spLocks/>
          </p:cNvSpPr>
          <p:nvPr/>
        </p:nvSpPr>
        <p:spPr bwMode="auto">
          <a:xfrm>
            <a:off x="2452688" y="2138363"/>
            <a:ext cx="3143250" cy="3562350"/>
          </a:xfrm>
          <a:custGeom>
            <a:avLst/>
            <a:gdLst>
              <a:gd name="T0" fmla="*/ 0 w 1980"/>
              <a:gd name="T1" fmla="*/ 2147483646 h 2244"/>
              <a:gd name="T2" fmla="*/ 2147483646 w 1980"/>
              <a:gd name="T3" fmla="*/ 2147483646 h 2244"/>
              <a:gd name="T4" fmla="*/ 2147483646 w 1980"/>
              <a:gd name="T5" fmla="*/ 2147483646 h 2244"/>
              <a:gd name="T6" fmla="*/ 2147483646 w 1980"/>
              <a:gd name="T7" fmla="*/ 2147483646 h 2244"/>
              <a:gd name="T8" fmla="*/ 2147483646 w 1980"/>
              <a:gd name="T9" fmla="*/ 2147483646 h 2244"/>
              <a:gd name="T10" fmla="*/ 2147483646 w 1980"/>
              <a:gd name="T11" fmla="*/ 2147483646 h 2244"/>
              <a:gd name="T12" fmla="*/ 2147483646 w 1980"/>
              <a:gd name="T13" fmla="*/ 2147483646 h 2244"/>
              <a:gd name="T14" fmla="*/ 2147483646 w 1980"/>
              <a:gd name="T15" fmla="*/ 2147483646 h 2244"/>
              <a:gd name="T16" fmla="*/ 2147483646 w 1980"/>
              <a:gd name="T17" fmla="*/ 2147483646 h 2244"/>
              <a:gd name="T18" fmla="*/ 2147483646 w 1980"/>
              <a:gd name="T19" fmla="*/ 2147483646 h 2244"/>
              <a:gd name="T20" fmla="*/ 2147483646 w 1980"/>
              <a:gd name="T21" fmla="*/ 2147483646 h 2244"/>
              <a:gd name="T22" fmla="*/ 2147483646 w 1980"/>
              <a:gd name="T23" fmla="*/ 2147483646 h 2244"/>
              <a:gd name="T24" fmla="*/ 2147483646 w 1980"/>
              <a:gd name="T25" fmla="*/ 2147483646 h 2244"/>
              <a:gd name="T26" fmla="*/ 2147483646 w 1980"/>
              <a:gd name="T27" fmla="*/ 2147483646 h 2244"/>
              <a:gd name="T28" fmla="*/ 2147483646 w 1980"/>
              <a:gd name="T29" fmla="*/ 2147483646 h 2244"/>
              <a:gd name="T30" fmla="*/ 2147483646 w 1980"/>
              <a:gd name="T31" fmla="*/ 2147483646 h 2244"/>
              <a:gd name="T32" fmla="*/ 2147483646 w 1980"/>
              <a:gd name="T33" fmla="*/ 2147483646 h 2244"/>
              <a:gd name="T34" fmla="*/ 2147483646 w 1980"/>
              <a:gd name="T35" fmla="*/ 2147483646 h 2244"/>
              <a:gd name="T36" fmla="*/ 2147483646 w 1980"/>
              <a:gd name="T37" fmla="*/ 2147483646 h 2244"/>
              <a:gd name="T38" fmla="*/ 2147483646 w 1980"/>
              <a:gd name="T39" fmla="*/ 2147483646 h 2244"/>
              <a:gd name="T40" fmla="*/ 2147483646 w 1980"/>
              <a:gd name="T41" fmla="*/ 2147483646 h 2244"/>
              <a:gd name="T42" fmla="*/ 2147483646 w 1980"/>
              <a:gd name="T43" fmla="*/ 2147483646 h 2244"/>
              <a:gd name="T44" fmla="*/ 2147483646 w 1980"/>
              <a:gd name="T45" fmla="*/ 2147483646 h 2244"/>
              <a:gd name="T46" fmla="*/ 2147483646 w 1980"/>
              <a:gd name="T47" fmla="*/ 2147483646 h 2244"/>
              <a:gd name="T48" fmla="*/ 2147483646 w 1980"/>
              <a:gd name="T49" fmla="*/ 2147483646 h 2244"/>
              <a:gd name="T50" fmla="*/ 2147483646 w 1980"/>
              <a:gd name="T51" fmla="*/ 2147483646 h 2244"/>
              <a:gd name="T52" fmla="*/ 2147483646 w 1980"/>
              <a:gd name="T53" fmla="*/ 2147483646 h 2244"/>
              <a:gd name="T54" fmla="*/ 2147483646 w 1980"/>
              <a:gd name="T55" fmla="*/ 0 h 224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980"/>
              <a:gd name="T85" fmla="*/ 0 h 2244"/>
              <a:gd name="T86" fmla="*/ 1980 w 1980"/>
              <a:gd name="T87" fmla="*/ 2244 h 224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980" h="2244">
                <a:moveTo>
                  <a:pt x="0" y="2244"/>
                </a:moveTo>
                <a:cubicBezTo>
                  <a:pt x="21" y="2241"/>
                  <a:pt x="79" y="2243"/>
                  <a:pt x="128" y="2228"/>
                </a:cubicBezTo>
                <a:cubicBezTo>
                  <a:pt x="177" y="2213"/>
                  <a:pt x="244" y="2192"/>
                  <a:pt x="296" y="2156"/>
                </a:cubicBezTo>
                <a:cubicBezTo>
                  <a:pt x="348" y="2120"/>
                  <a:pt x="424" y="2054"/>
                  <a:pt x="440" y="2015"/>
                </a:cubicBezTo>
                <a:cubicBezTo>
                  <a:pt x="456" y="1976"/>
                  <a:pt x="376" y="1920"/>
                  <a:pt x="392" y="1920"/>
                </a:cubicBezTo>
                <a:cubicBezTo>
                  <a:pt x="408" y="1920"/>
                  <a:pt x="527" y="2023"/>
                  <a:pt x="535" y="2015"/>
                </a:cubicBezTo>
                <a:cubicBezTo>
                  <a:pt x="543" y="2007"/>
                  <a:pt x="441" y="1894"/>
                  <a:pt x="440" y="1872"/>
                </a:cubicBezTo>
                <a:cubicBezTo>
                  <a:pt x="439" y="1850"/>
                  <a:pt x="480" y="1924"/>
                  <a:pt x="528" y="1884"/>
                </a:cubicBezTo>
                <a:cubicBezTo>
                  <a:pt x="576" y="1844"/>
                  <a:pt x="613" y="1786"/>
                  <a:pt x="726" y="1633"/>
                </a:cubicBezTo>
                <a:cubicBezTo>
                  <a:pt x="839" y="1480"/>
                  <a:pt x="1100" y="1106"/>
                  <a:pt x="1204" y="963"/>
                </a:cubicBezTo>
                <a:cubicBezTo>
                  <a:pt x="1308" y="820"/>
                  <a:pt x="1332" y="820"/>
                  <a:pt x="1348" y="772"/>
                </a:cubicBezTo>
                <a:cubicBezTo>
                  <a:pt x="1364" y="724"/>
                  <a:pt x="1285" y="680"/>
                  <a:pt x="1300" y="677"/>
                </a:cubicBezTo>
                <a:cubicBezTo>
                  <a:pt x="1315" y="674"/>
                  <a:pt x="1428" y="760"/>
                  <a:pt x="1436" y="752"/>
                </a:cubicBezTo>
                <a:cubicBezTo>
                  <a:pt x="1444" y="744"/>
                  <a:pt x="1342" y="636"/>
                  <a:pt x="1348" y="629"/>
                </a:cubicBezTo>
                <a:cubicBezTo>
                  <a:pt x="1354" y="622"/>
                  <a:pt x="1464" y="716"/>
                  <a:pt x="1472" y="708"/>
                </a:cubicBezTo>
                <a:cubicBezTo>
                  <a:pt x="1480" y="700"/>
                  <a:pt x="1388" y="590"/>
                  <a:pt x="1396" y="581"/>
                </a:cubicBezTo>
                <a:cubicBezTo>
                  <a:pt x="1404" y="572"/>
                  <a:pt x="1513" y="665"/>
                  <a:pt x="1520" y="656"/>
                </a:cubicBezTo>
                <a:cubicBezTo>
                  <a:pt x="1527" y="647"/>
                  <a:pt x="1433" y="533"/>
                  <a:pt x="1440" y="524"/>
                </a:cubicBezTo>
                <a:cubicBezTo>
                  <a:pt x="1447" y="515"/>
                  <a:pt x="1555" y="612"/>
                  <a:pt x="1560" y="604"/>
                </a:cubicBezTo>
                <a:cubicBezTo>
                  <a:pt x="1565" y="596"/>
                  <a:pt x="1463" y="484"/>
                  <a:pt x="1472" y="476"/>
                </a:cubicBezTo>
                <a:cubicBezTo>
                  <a:pt x="1481" y="468"/>
                  <a:pt x="1607" y="565"/>
                  <a:pt x="1616" y="556"/>
                </a:cubicBezTo>
                <a:cubicBezTo>
                  <a:pt x="1625" y="547"/>
                  <a:pt x="1521" y="430"/>
                  <a:pt x="1528" y="420"/>
                </a:cubicBezTo>
                <a:cubicBezTo>
                  <a:pt x="1535" y="410"/>
                  <a:pt x="1648" y="504"/>
                  <a:pt x="1656" y="496"/>
                </a:cubicBezTo>
                <a:cubicBezTo>
                  <a:pt x="1664" y="488"/>
                  <a:pt x="1580" y="390"/>
                  <a:pt x="1576" y="372"/>
                </a:cubicBezTo>
                <a:cubicBezTo>
                  <a:pt x="1572" y="354"/>
                  <a:pt x="1614" y="403"/>
                  <a:pt x="1635" y="390"/>
                </a:cubicBezTo>
                <a:cubicBezTo>
                  <a:pt x="1656" y="377"/>
                  <a:pt x="1656" y="348"/>
                  <a:pt x="1704" y="292"/>
                </a:cubicBezTo>
                <a:cubicBezTo>
                  <a:pt x="1752" y="236"/>
                  <a:pt x="1876" y="104"/>
                  <a:pt x="1922" y="55"/>
                </a:cubicBezTo>
                <a:cubicBezTo>
                  <a:pt x="1968" y="6"/>
                  <a:pt x="1968" y="11"/>
                  <a:pt x="1980" y="0"/>
                </a:cubicBezTo>
              </a:path>
            </a:pathLst>
          </a:custGeom>
          <a:noFill/>
          <a:ln w="50800">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9621" name="Freeform 5">
            <a:extLst>
              <a:ext uri="{FF2B5EF4-FFF2-40B4-BE49-F238E27FC236}">
                <a16:creationId xmlns:a16="http://schemas.microsoft.com/office/drawing/2014/main" id="{5A7FEDCA-05B4-4A05-8E62-66AA2CCCAD9B}"/>
              </a:ext>
            </a:extLst>
          </p:cNvPr>
          <p:cNvSpPr>
            <a:spLocks/>
          </p:cNvSpPr>
          <p:nvPr/>
        </p:nvSpPr>
        <p:spPr bwMode="auto">
          <a:xfrm>
            <a:off x="5591176" y="1843089"/>
            <a:ext cx="1624013" cy="993775"/>
          </a:xfrm>
          <a:custGeom>
            <a:avLst/>
            <a:gdLst>
              <a:gd name="T0" fmla="*/ 0 w 1023"/>
              <a:gd name="T1" fmla="*/ 2147483646 h 626"/>
              <a:gd name="T2" fmla="*/ 2147483646 w 1023"/>
              <a:gd name="T3" fmla="*/ 2147483646 h 626"/>
              <a:gd name="T4" fmla="*/ 2147483646 w 1023"/>
              <a:gd name="T5" fmla="*/ 2147483646 h 626"/>
              <a:gd name="T6" fmla="*/ 2147483646 w 1023"/>
              <a:gd name="T7" fmla="*/ 2147483646 h 626"/>
              <a:gd name="T8" fmla="*/ 2147483646 w 1023"/>
              <a:gd name="T9" fmla="*/ 2147483646 h 626"/>
              <a:gd name="T10" fmla="*/ 0 60000 65536"/>
              <a:gd name="T11" fmla="*/ 0 60000 65536"/>
              <a:gd name="T12" fmla="*/ 0 60000 65536"/>
              <a:gd name="T13" fmla="*/ 0 60000 65536"/>
              <a:gd name="T14" fmla="*/ 0 60000 65536"/>
              <a:gd name="T15" fmla="*/ 0 w 1023"/>
              <a:gd name="T16" fmla="*/ 0 h 626"/>
              <a:gd name="T17" fmla="*/ 1023 w 1023"/>
              <a:gd name="T18" fmla="*/ 626 h 626"/>
            </a:gdLst>
            <a:ahLst/>
            <a:cxnLst>
              <a:cxn ang="T10">
                <a:pos x="T0" y="T1"/>
              </a:cxn>
              <a:cxn ang="T11">
                <a:pos x="T2" y="T3"/>
              </a:cxn>
              <a:cxn ang="T12">
                <a:pos x="T4" y="T5"/>
              </a:cxn>
              <a:cxn ang="T13">
                <a:pos x="T6" y="T7"/>
              </a:cxn>
              <a:cxn ang="T14">
                <a:pos x="T8" y="T9"/>
              </a:cxn>
            </a:cxnLst>
            <a:rect l="T15" t="T16" r="T17" b="T18"/>
            <a:pathLst>
              <a:path w="1023" h="626">
                <a:moveTo>
                  <a:pt x="0" y="187"/>
                </a:moveTo>
                <a:cubicBezTo>
                  <a:pt x="38" y="161"/>
                  <a:pt x="150" y="55"/>
                  <a:pt x="230" y="31"/>
                </a:cubicBezTo>
                <a:cubicBezTo>
                  <a:pt x="310" y="7"/>
                  <a:pt x="390" y="0"/>
                  <a:pt x="479" y="42"/>
                </a:cubicBezTo>
                <a:cubicBezTo>
                  <a:pt x="568" y="84"/>
                  <a:pt x="674" y="186"/>
                  <a:pt x="765" y="283"/>
                </a:cubicBezTo>
                <a:cubicBezTo>
                  <a:pt x="856" y="380"/>
                  <a:pt x="980" y="569"/>
                  <a:pt x="1023" y="626"/>
                </a:cubicBezTo>
              </a:path>
            </a:pathLst>
          </a:custGeom>
          <a:noFill/>
          <a:ln w="508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9622" name="Rectangle 6">
            <a:extLst>
              <a:ext uri="{FF2B5EF4-FFF2-40B4-BE49-F238E27FC236}">
                <a16:creationId xmlns:a16="http://schemas.microsoft.com/office/drawing/2014/main" id="{B4AD752F-0F11-42FA-9FD7-988A01561BCC}"/>
              </a:ext>
            </a:extLst>
          </p:cNvPr>
          <p:cNvSpPr>
            <a:spLocks noChangeArrowheads="1"/>
          </p:cNvSpPr>
          <p:nvPr/>
        </p:nvSpPr>
        <p:spPr bwMode="auto">
          <a:xfrm>
            <a:off x="5564189" y="1682751"/>
            <a:ext cx="1138237" cy="4175125"/>
          </a:xfrm>
          <a:prstGeom prst="rect">
            <a:avLst/>
          </a:prstGeom>
          <a:solidFill>
            <a:srgbClr val="CC00FF">
              <a:alpha val="45097"/>
            </a:srgbClr>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9623" name="AutoShape 7">
            <a:extLst>
              <a:ext uri="{FF2B5EF4-FFF2-40B4-BE49-F238E27FC236}">
                <a16:creationId xmlns:a16="http://schemas.microsoft.com/office/drawing/2014/main" id="{4311D16F-76EA-4254-B906-7BE707BB42B8}"/>
              </a:ext>
            </a:extLst>
          </p:cNvPr>
          <p:cNvSpPr>
            <a:spLocks noChangeArrowheads="1"/>
          </p:cNvSpPr>
          <p:nvPr/>
        </p:nvSpPr>
        <p:spPr bwMode="auto">
          <a:xfrm>
            <a:off x="5489576" y="2062163"/>
            <a:ext cx="150813"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9624" name="Text Box 8">
            <a:extLst>
              <a:ext uri="{FF2B5EF4-FFF2-40B4-BE49-F238E27FC236}">
                <a16:creationId xmlns:a16="http://schemas.microsoft.com/office/drawing/2014/main" id="{F7ABF23C-856E-4E23-90DF-0F854B51EDFB}"/>
              </a:ext>
            </a:extLst>
          </p:cNvPr>
          <p:cNvSpPr txBox="1">
            <a:spLocks noChangeArrowheads="1"/>
          </p:cNvSpPr>
          <p:nvPr/>
        </p:nvSpPr>
        <p:spPr bwMode="auto">
          <a:xfrm>
            <a:off x="4654551" y="4035425"/>
            <a:ext cx="606425" cy="1098550"/>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6600">
                <a:solidFill>
                  <a:schemeClr val="accent1"/>
                </a:solidFill>
                <a:effectLst>
                  <a:outerShdw blurRad="38100" dist="38100" dir="2700000" algn="tl">
                    <a:srgbClr val="C0C0C0"/>
                  </a:outerShdw>
                </a:effectLst>
                <a:latin typeface="Tahoma" pitchFamily="-111" charset="0"/>
                <a:ea typeface="ＭＳ Ｐゴシック" pitchFamily="-111" charset="-128"/>
              </a:rPr>
              <a:t>1</a:t>
            </a:r>
          </a:p>
        </p:txBody>
      </p:sp>
      <p:sp>
        <p:nvSpPr>
          <p:cNvPr id="879625" name="Text Box 9">
            <a:extLst>
              <a:ext uri="{FF2B5EF4-FFF2-40B4-BE49-F238E27FC236}">
                <a16:creationId xmlns:a16="http://schemas.microsoft.com/office/drawing/2014/main" id="{CFC5CD28-DA4D-4668-8E7A-0F5BE946E18A}"/>
              </a:ext>
            </a:extLst>
          </p:cNvPr>
          <p:cNvSpPr txBox="1">
            <a:spLocks noChangeArrowheads="1"/>
          </p:cNvSpPr>
          <p:nvPr/>
        </p:nvSpPr>
        <p:spPr bwMode="auto">
          <a:xfrm>
            <a:off x="6931026" y="4076700"/>
            <a:ext cx="606425" cy="1098550"/>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6600">
                <a:solidFill>
                  <a:srgbClr val="FF0033"/>
                </a:solidFill>
                <a:effectLst>
                  <a:outerShdw blurRad="38100" dist="38100" dir="2700000" algn="tl">
                    <a:srgbClr val="C0C0C0"/>
                  </a:outerShdw>
                </a:effectLst>
                <a:latin typeface="Tahoma" pitchFamily="-111" charset="0"/>
                <a:ea typeface="ＭＳ Ｐゴシック" pitchFamily="-111" charset="-128"/>
              </a:rPr>
              <a:t>2</a:t>
            </a:r>
          </a:p>
        </p:txBody>
      </p:sp>
      <p:sp>
        <p:nvSpPr>
          <p:cNvPr id="879626" name="AutoShape 10">
            <a:extLst>
              <a:ext uri="{FF2B5EF4-FFF2-40B4-BE49-F238E27FC236}">
                <a16:creationId xmlns:a16="http://schemas.microsoft.com/office/drawing/2014/main" id="{0D05090A-A83C-4AD9-99F8-E8B7E55CF299}"/>
              </a:ext>
            </a:extLst>
          </p:cNvPr>
          <p:cNvSpPr>
            <a:spLocks noChangeArrowheads="1"/>
          </p:cNvSpPr>
          <p:nvPr/>
        </p:nvSpPr>
        <p:spPr bwMode="auto">
          <a:xfrm>
            <a:off x="6097588" y="1773238"/>
            <a:ext cx="150812"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79627" name="Text Box 11">
            <a:extLst>
              <a:ext uri="{FF2B5EF4-FFF2-40B4-BE49-F238E27FC236}">
                <a16:creationId xmlns:a16="http://schemas.microsoft.com/office/drawing/2014/main" id="{087D5F6B-45B4-4432-8DA4-6FE3E8310C0E}"/>
              </a:ext>
            </a:extLst>
          </p:cNvPr>
          <p:cNvSpPr txBox="1">
            <a:spLocks noChangeArrowheads="1"/>
          </p:cNvSpPr>
          <p:nvPr/>
        </p:nvSpPr>
        <p:spPr bwMode="auto">
          <a:xfrm>
            <a:off x="5564189" y="1228726"/>
            <a:ext cx="1062037"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Stable</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879620"/>
                                        </p:tgtEl>
                                        <p:attrNameLst>
                                          <p:attrName>style.visibility</p:attrName>
                                        </p:attrNameLst>
                                      </p:cBhvr>
                                      <p:to>
                                        <p:strVal val="visible"/>
                                      </p:to>
                                    </p:set>
                                    <p:animEffect transition="in" filter="wipe(down)">
                                      <p:cBhvr>
                                        <p:cTn id="7" dur="500"/>
                                        <p:tgtEl>
                                          <p:spTgt spid="8796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79623"/>
                                        </p:tgtEl>
                                        <p:attrNameLst>
                                          <p:attrName>style.visibility</p:attrName>
                                        </p:attrNameLst>
                                      </p:cBhvr>
                                      <p:to>
                                        <p:strVal val="visible"/>
                                      </p:to>
                                    </p:set>
                                    <p:animEffect transition="in" filter="fade">
                                      <p:cBhvr>
                                        <p:cTn id="10" dur="2000"/>
                                        <p:tgtEl>
                                          <p:spTgt spid="87962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879621"/>
                                        </p:tgtEl>
                                        <p:attrNameLst>
                                          <p:attrName>style.visibility</p:attrName>
                                        </p:attrNameLst>
                                      </p:cBhvr>
                                      <p:to>
                                        <p:strVal val="visible"/>
                                      </p:to>
                                    </p:set>
                                    <p:animEffect transition="in" filter="wipe(left)">
                                      <p:cBhvr>
                                        <p:cTn id="15" dur="500"/>
                                        <p:tgtEl>
                                          <p:spTgt spid="879621"/>
                                        </p:tgtEl>
                                      </p:cBhvr>
                                    </p:animEffect>
                                  </p:childTnLst>
                                </p:cTn>
                              </p:par>
                            </p:childTnLst>
                          </p:cTn>
                        </p:par>
                        <p:par>
                          <p:cTn id="16" fill="hold" nodeType="afterGroup">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879626"/>
                                        </p:tgtEl>
                                        <p:attrNameLst>
                                          <p:attrName>style.visibility</p:attrName>
                                        </p:attrNameLst>
                                      </p:cBhvr>
                                      <p:to>
                                        <p:strVal val="visible"/>
                                      </p:to>
                                    </p:set>
                                    <p:animEffect transition="in" filter="fade">
                                      <p:cBhvr>
                                        <p:cTn id="19" dur="500"/>
                                        <p:tgtEl>
                                          <p:spTgt spid="8796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79627"/>
                                        </p:tgtEl>
                                        <p:attrNameLst>
                                          <p:attrName>style.visibility</p:attrName>
                                        </p:attrNameLst>
                                      </p:cBhvr>
                                      <p:to>
                                        <p:strVal val="visible"/>
                                      </p:to>
                                    </p:set>
                                    <p:animEffect transition="in" filter="fade">
                                      <p:cBhvr>
                                        <p:cTn id="22" dur="500"/>
                                        <p:tgtEl>
                                          <p:spTgt spid="87962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879622"/>
                                        </p:tgtEl>
                                        <p:attrNameLst>
                                          <p:attrName>style.visibility</p:attrName>
                                        </p:attrNameLst>
                                      </p:cBhvr>
                                      <p:to>
                                        <p:strVal val="visible"/>
                                      </p:to>
                                    </p:set>
                                    <p:anim calcmode="lin" valueType="num">
                                      <p:cBhvr>
                                        <p:cTn id="27" dur="500" fill="hold"/>
                                        <p:tgtEl>
                                          <p:spTgt spid="879622"/>
                                        </p:tgtEl>
                                        <p:attrNameLst>
                                          <p:attrName>ppt_x</p:attrName>
                                        </p:attrNameLst>
                                      </p:cBhvr>
                                      <p:tavLst>
                                        <p:tav tm="0">
                                          <p:val>
                                            <p:strVal val="#ppt_x-#ppt_w/2"/>
                                          </p:val>
                                        </p:tav>
                                        <p:tav tm="100000">
                                          <p:val>
                                            <p:strVal val="#ppt_x"/>
                                          </p:val>
                                        </p:tav>
                                      </p:tavLst>
                                    </p:anim>
                                    <p:anim calcmode="lin" valueType="num">
                                      <p:cBhvr>
                                        <p:cTn id="28" dur="500" fill="hold"/>
                                        <p:tgtEl>
                                          <p:spTgt spid="879622"/>
                                        </p:tgtEl>
                                        <p:attrNameLst>
                                          <p:attrName>ppt_y</p:attrName>
                                        </p:attrNameLst>
                                      </p:cBhvr>
                                      <p:tavLst>
                                        <p:tav tm="0">
                                          <p:val>
                                            <p:strVal val="#ppt_y"/>
                                          </p:val>
                                        </p:tav>
                                        <p:tav tm="100000">
                                          <p:val>
                                            <p:strVal val="#ppt_y"/>
                                          </p:val>
                                        </p:tav>
                                      </p:tavLst>
                                    </p:anim>
                                    <p:anim calcmode="lin" valueType="num">
                                      <p:cBhvr>
                                        <p:cTn id="29" dur="500" fill="hold"/>
                                        <p:tgtEl>
                                          <p:spTgt spid="879622"/>
                                        </p:tgtEl>
                                        <p:attrNameLst>
                                          <p:attrName>ppt_w</p:attrName>
                                        </p:attrNameLst>
                                      </p:cBhvr>
                                      <p:tavLst>
                                        <p:tav tm="0">
                                          <p:val>
                                            <p:fltVal val="0"/>
                                          </p:val>
                                        </p:tav>
                                        <p:tav tm="100000">
                                          <p:val>
                                            <p:strVal val="#ppt_w"/>
                                          </p:val>
                                        </p:tav>
                                      </p:tavLst>
                                    </p:anim>
                                    <p:anim calcmode="lin" valueType="num">
                                      <p:cBhvr>
                                        <p:cTn id="30" dur="500" fill="hold"/>
                                        <p:tgtEl>
                                          <p:spTgt spid="879622"/>
                                        </p:tgtEl>
                                        <p:attrNameLst>
                                          <p:attrName>ppt_h</p:attrName>
                                        </p:attrNameLst>
                                      </p:cBhvr>
                                      <p:tavLst>
                                        <p:tav tm="0">
                                          <p:val>
                                            <p:strVal val="#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79624"/>
                                        </p:tgtEl>
                                        <p:attrNameLst>
                                          <p:attrName>style.visibility</p:attrName>
                                        </p:attrNameLst>
                                      </p:cBhvr>
                                      <p:to>
                                        <p:strVal val="visible"/>
                                      </p:to>
                                    </p:set>
                                    <p:animEffect transition="in" filter="fade">
                                      <p:cBhvr>
                                        <p:cTn id="35" dur="2000"/>
                                        <p:tgtEl>
                                          <p:spTgt spid="87962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879625"/>
                                        </p:tgtEl>
                                        <p:attrNameLst>
                                          <p:attrName>style.visibility</p:attrName>
                                        </p:attrNameLst>
                                      </p:cBhvr>
                                      <p:to>
                                        <p:strVal val="visible"/>
                                      </p:to>
                                    </p:set>
                                    <p:animEffect transition="in" filter="fade">
                                      <p:cBhvr>
                                        <p:cTn id="40" dur="2000"/>
                                        <p:tgtEl>
                                          <p:spTgt spid="8796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22" grpId="0" animBg="1"/>
      <p:bldP spid="879623" grpId="0" animBg="1"/>
      <p:bldP spid="879624" grpId="0"/>
      <p:bldP spid="879625" grpId="0"/>
      <p:bldP spid="879626" grpId="0" animBg="1"/>
      <p:bldP spid="8796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28E43582-EC9F-4B16-B135-D1300F27EC2B}"/>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41987" name="Rectangle 3">
            <a:extLst>
              <a:ext uri="{FF2B5EF4-FFF2-40B4-BE49-F238E27FC236}">
                <a16:creationId xmlns:a16="http://schemas.microsoft.com/office/drawing/2014/main" id="{B1388E2C-3955-4A4A-A6AC-37FB0D1F17C8}"/>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1940" name="Text Box 4">
            <a:extLst>
              <a:ext uri="{FF2B5EF4-FFF2-40B4-BE49-F238E27FC236}">
                <a16:creationId xmlns:a16="http://schemas.microsoft.com/office/drawing/2014/main" id="{A2049239-832F-4A07-8362-E98FC274ED83}"/>
              </a:ext>
            </a:extLst>
          </p:cNvPr>
          <p:cNvSpPr txBox="1">
            <a:spLocks noChangeArrowheads="1"/>
          </p:cNvSpPr>
          <p:nvPr/>
        </p:nvSpPr>
        <p:spPr bwMode="auto">
          <a:xfrm>
            <a:off x="1328738" y="1228725"/>
            <a:ext cx="5008563" cy="4762842"/>
          </a:xfrm>
          <a:prstGeom prst="rect">
            <a:avLst/>
          </a:prstGeom>
          <a:noFill/>
          <a:ln w="12700">
            <a:noFill/>
            <a:miter lim="800000"/>
            <a:headEnd type="none" w="sm" len="sm"/>
            <a:tailEnd type="none" w="sm" len="sm"/>
          </a:ln>
          <a:effectLst/>
        </p:spPr>
        <p:txBody>
          <a:bodyPr>
            <a:spAutoFit/>
          </a:bodyPr>
          <a:lstStyle/>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Personal success stems from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taking</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risk</a:t>
            </a:r>
          </a:p>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Expectations exceed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results</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a:t>
            </a:r>
          </a:p>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The organization is in cash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poor</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a:t>
            </a:r>
            <a:endParaRPr lang="en-US" sz="1400" dirty="0">
              <a:solidFill>
                <a:schemeClr val="accent1"/>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The organization emphasizes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function over form </a:t>
            </a:r>
          </a:p>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People focus on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why</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and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what</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to do	 </a:t>
            </a:r>
          </a:p>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People are kept for their</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contributions</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despite</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their personalities</a:t>
            </a:r>
          </a:p>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Everything is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permitted</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unless expressly forbidden	</a:t>
            </a:r>
            <a:endPar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Problems</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are seen as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opportunities</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a:t>
            </a:r>
            <a:endPar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The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marketing and sales</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departments have political power</a:t>
            </a:r>
            <a:r>
              <a:rPr lang="en-US" sz="1400" dirty="0">
                <a:effectLst>
                  <a:outerShdw blurRad="38100" dist="38100" dir="2700000" algn="tl">
                    <a:srgbClr val="C0C0C0"/>
                  </a:outerShdw>
                </a:effectLst>
                <a:latin typeface="Tahoma" pitchFamily="-111" charset="0"/>
                <a:ea typeface="ＭＳ Ｐゴシック" pitchFamily="-111" charset="-128"/>
              </a:rPr>
              <a:t> 	</a:t>
            </a:r>
            <a:endPar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People on the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line</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call the shots	 	</a:t>
            </a:r>
          </a:p>
          <a:p>
            <a:pPr marL="457200" indent="-457200">
              <a:spcAft>
                <a:spcPts val="300"/>
              </a:spcAft>
              <a:buClr>
                <a:schemeClr val="bg1"/>
              </a:buClr>
              <a:buSzPct val="25000"/>
              <a:buFont typeface="Wingdings" pitchFamily="-111" charset="2"/>
              <a:buChar char=" "/>
              <a:defRPr/>
            </a:pP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Responsibility</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is not matched with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authority</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a:t>
            </a:r>
          </a:p>
          <a:p>
            <a:pPr marL="457200" indent="-457200">
              <a:spcAft>
                <a:spcPts val="300"/>
              </a:spcAft>
              <a:buClr>
                <a:schemeClr val="bg1"/>
              </a:buClr>
              <a:buSzPct val="25000"/>
              <a:buFont typeface="Wingdings" pitchFamily="-111" charset="2"/>
              <a:buChar char=" "/>
              <a:defRPr/>
            </a:pP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Management drives</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the organization</a:t>
            </a:r>
            <a:endPar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Management drives the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momentum</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a:t>
            </a:r>
            <a:endParaRPr lang="en-US" sz="1400" dirty="0">
              <a:solidFill>
                <a:schemeClr val="accent1"/>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Change in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leadership</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can lead to change in organizational behavior</a:t>
            </a:r>
            <a:r>
              <a:rPr lang="en-US" sz="1400" dirty="0">
                <a:effectLst>
                  <a:outerShdw blurRad="38100" dist="38100" dir="2700000" algn="tl">
                    <a:srgbClr val="C0C0C0"/>
                  </a:outerShdw>
                </a:effectLst>
                <a:latin typeface="Tahoma" pitchFamily="-111" charset="0"/>
                <a:ea typeface="ＭＳ Ｐゴシック" pitchFamily="-111" charset="-128"/>
              </a:rPr>
              <a:t> </a:t>
            </a:r>
          </a:p>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The organization needs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consultants</a:t>
            </a: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		</a:t>
            </a:r>
            <a:endPar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rPr>
              <a:t>The organization exists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to create value</a:t>
            </a:r>
          </a:p>
        </p:txBody>
      </p:sp>
      <p:sp>
        <p:nvSpPr>
          <p:cNvPr id="551941" name="Text Box 5">
            <a:extLst>
              <a:ext uri="{FF2B5EF4-FFF2-40B4-BE49-F238E27FC236}">
                <a16:creationId xmlns:a16="http://schemas.microsoft.com/office/drawing/2014/main" id="{FE492A24-2E68-4E58-A33F-E49E66EE5E81}"/>
              </a:ext>
            </a:extLst>
          </p:cNvPr>
          <p:cNvSpPr txBox="1">
            <a:spLocks noChangeArrowheads="1"/>
          </p:cNvSpPr>
          <p:nvPr/>
        </p:nvSpPr>
        <p:spPr bwMode="auto">
          <a:xfrm>
            <a:off x="1657351" y="773113"/>
            <a:ext cx="3567113" cy="369332"/>
          </a:xfrm>
          <a:prstGeom prst="rect">
            <a:avLst/>
          </a:prstGeom>
          <a:noFill/>
          <a:ln w="12700">
            <a:noFill/>
            <a:miter lim="800000"/>
            <a:headEnd type="none" w="sm" len="sm"/>
            <a:tailEnd type="none" w="sm" len="sm"/>
          </a:ln>
          <a:effectLst/>
        </p:spPr>
        <p:txBody>
          <a:bodyPr>
            <a:spAutoFit/>
          </a:bodyPr>
          <a:lstStyle/>
          <a:p>
            <a:pPr>
              <a:buClr>
                <a:srgbClr val="FF0033"/>
              </a:buClr>
              <a:defRPr/>
            </a:pPr>
            <a:r>
              <a:rPr lang="en-US" dirty="0">
                <a:solidFill>
                  <a:srgbClr val="008E00"/>
                </a:solidFill>
                <a:effectLst>
                  <a:outerShdw blurRad="38100" dist="38100" dir="2700000" algn="tl">
                    <a:srgbClr val="C0C0C0"/>
                  </a:outerShdw>
                </a:effectLst>
                <a:latin typeface="Times New Roman" pitchFamily="-111" charset="0"/>
                <a:ea typeface="ＭＳ Ｐゴシック" pitchFamily="-111" charset="-128"/>
              </a:rPr>
              <a:t>Growing Companies</a:t>
            </a:r>
            <a:endParaRPr lang="en-US" dirty="0">
              <a:effectLst>
                <a:outerShdw blurRad="38100" dist="38100" dir="2700000" algn="tl">
                  <a:srgbClr val="C0C0C0"/>
                </a:outerShdw>
              </a:effectLst>
              <a:latin typeface="Times New Roman" pitchFamily="-111" charset="0"/>
              <a:ea typeface="ＭＳ Ｐゴシック" pitchFamily="-111" charset="-128"/>
            </a:endParaRPr>
          </a:p>
        </p:txBody>
      </p:sp>
      <p:sp>
        <p:nvSpPr>
          <p:cNvPr id="551942" name="Text Box 6">
            <a:extLst>
              <a:ext uri="{FF2B5EF4-FFF2-40B4-BE49-F238E27FC236}">
                <a16:creationId xmlns:a16="http://schemas.microsoft.com/office/drawing/2014/main" id="{0CD8770C-EEEB-4426-A01C-9D46581F2F14}"/>
              </a:ext>
            </a:extLst>
          </p:cNvPr>
          <p:cNvSpPr txBox="1">
            <a:spLocks noChangeArrowheads="1"/>
          </p:cNvSpPr>
          <p:nvPr/>
        </p:nvSpPr>
        <p:spPr bwMode="auto">
          <a:xfrm>
            <a:off x="6323013" y="773113"/>
            <a:ext cx="3567112" cy="369332"/>
          </a:xfrm>
          <a:prstGeom prst="rect">
            <a:avLst/>
          </a:prstGeom>
          <a:noFill/>
          <a:ln w="12700">
            <a:noFill/>
            <a:miter lim="800000"/>
            <a:headEnd type="none" w="sm" len="sm"/>
            <a:tailEnd type="none" w="sm" len="sm"/>
          </a:ln>
          <a:effectLst/>
        </p:spPr>
        <p:txBody>
          <a:bodyPr>
            <a:spAutoFit/>
          </a:bodyPr>
          <a:lstStyle/>
          <a:p>
            <a:pPr>
              <a:buClr>
                <a:srgbClr val="FF0033"/>
              </a:buClr>
              <a:defRPr/>
            </a:pPr>
            <a:r>
              <a:rPr lang="en-US" dirty="0">
                <a:solidFill>
                  <a:srgbClr val="FF0033"/>
                </a:solidFill>
                <a:effectLst>
                  <a:outerShdw blurRad="38100" dist="38100" dir="2700000" algn="tl">
                    <a:srgbClr val="C0C0C0"/>
                  </a:outerShdw>
                </a:effectLst>
                <a:latin typeface="Times New Roman" pitchFamily="-111" charset="0"/>
                <a:ea typeface="ＭＳ Ｐゴシック" pitchFamily="-111" charset="-128"/>
              </a:rPr>
              <a:t>Aging Companies</a:t>
            </a:r>
          </a:p>
        </p:txBody>
      </p:sp>
      <p:sp>
        <p:nvSpPr>
          <p:cNvPr id="551943" name="Text Box 7">
            <a:extLst>
              <a:ext uri="{FF2B5EF4-FFF2-40B4-BE49-F238E27FC236}">
                <a16:creationId xmlns:a16="http://schemas.microsoft.com/office/drawing/2014/main" id="{1DBB4B8F-4D16-4E66-9C1F-78BBF5E157C0}"/>
              </a:ext>
            </a:extLst>
          </p:cNvPr>
          <p:cNvSpPr txBox="1">
            <a:spLocks noChangeArrowheads="1"/>
          </p:cNvSpPr>
          <p:nvPr/>
        </p:nvSpPr>
        <p:spPr bwMode="auto">
          <a:xfrm>
            <a:off x="5880100" y="1228725"/>
            <a:ext cx="4800600" cy="4762842"/>
          </a:xfrm>
          <a:prstGeom prst="rect">
            <a:avLst/>
          </a:prstGeom>
          <a:noFill/>
          <a:ln w="12700">
            <a:noFill/>
            <a:miter lim="800000"/>
            <a:headEnd type="none" w="sm" len="sm"/>
            <a:tailEnd type="none" w="sm" len="sm"/>
          </a:ln>
          <a:effectLst/>
        </p:spPr>
        <p:txBody>
          <a:bodyPr>
            <a:spAutoFit/>
          </a:bodyPr>
          <a:lstStyle/>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Personal success stems from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avoiding</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risk</a:t>
            </a:r>
            <a:endPar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Results exceed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expectations</a:t>
            </a:r>
            <a:r>
              <a:rPr lang="en-US" sz="1400" dirty="0">
                <a:effectLst>
                  <a:outerShdw blurRad="38100" dist="38100" dir="2700000" algn="tl">
                    <a:srgbClr val="C0C0C0"/>
                  </a:outerShdw>
                </a:effectLst>
                <a:latin typeface="Tahoma" pitchFamily="-111" charset="0"/>
                <a:ea typeface="ＭＳ Ｐゴシック" pitchFamily="-111" charset="-128"/>
              </a:rPr>
              <a:t> </a:t>
            </a:r>
            <a:endPar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The organization is in cash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rich</a:t>
            </a:r>
          </a:p>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The organization emphasizes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form over function</a:t>
            </a:r>
          </a:p>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People focus on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how</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and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who</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did it</a:t>
            </a:r>
            <a:endPar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People are kept for their personalities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despite</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their lack of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contributions</a:t>
            </a:r>
          </a:p>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Everything is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forbidden</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unless expressly permitted</a:t>
            </a:r>
          </a:p>
          <a:p>
            <a:pPr marL="457200" indent="-457200">
              <a:spcAft>
                <a:spcPts val="300"/>
              </a:spcAft>
              <a:buClr>
                <a:schemeClr val="bg1"/>
              </a:buClr>
              <a:buSzPct val="25000"/>
              <a:buFont typeface="Wingdings" pitchFamily="-111" charset="2"/>
              <a:buChar char=" "/>
              <a:defRPr/>
            </a:pP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Opportunities</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are seen as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problems</a:t>
            </a:r>
          </a:p>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The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accounting, finance and legal</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departments have political power</a:t>
            </a:r>
            <a:endPar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Corporate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staff</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calls the shots</a:t>
            </a:r>
            <a:endPar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Authority</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is not matched with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responsibility</a:t>
            </a:r>
          </a:p>
          <a:p>
            <a:pPr marL="457200" indent="-457200">
              <a:spcAft>
                <a:spcPts val="300"/>
              </a:spcAft>
              <a:buClr>
                <a:schemeClr val="bg1"/>
              </a:buClr>
              <a:buSzPct val="25000"/>
              <a:buFont typeface="Wingdings" pitchFamily="-111" charset="2"/>
              <a:buChar char=" "/>
              <a:defRPr/>
            </a:pP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The organization</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 drives management</a:t>
            </a:r>
          </a:p>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Management rides the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inertia</a:t>
            </a:r>
          </a:p>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To change organizational behavior, it’s necessary to change the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system</a:t>
            </a:r>
          </a:p>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The organization needs “</a:t>
            </a:r>
            <a:r>
              <a:rPr lang="en-US" sz="1400" dirty="0" err="1">
                <a:solidFill>
                  <a:schemeClr val="accent2"/>
                </a:solidFill>
                <a:effectLst>
                  <a:outerShdw blurRad="38100" dist="38100" dir="2700000" algn="tl">
                    <a:srgbClr val="C0C0C0"/>
                  </a:outerShdw>
                </a:effectLst>
                <a:latin typeface="Tahoma" pitchFamily="-111" charset="0"/>
                <a:ea typeface="ＭＳ Ｐゴシック" pitchFamily="-111" charset="-128"/>
              </a:rPr>
              <a:t>insultants</a:t>
            </a: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a:t>
            </a:r>
            <a:endParaRPr lang="en-US" sz="1400" dirty="0">
              <a:solidFill>
                <a:srgbClr val="008E00"/>
              </a:solidFill>
              <a:effectLst>
                <a:outerShdw blurRad="38100" dist="38100" dir="2700000" algn="tl">
                  <a:srgbClr val="C0C0C0"/>
                </a:outerShdw>
              </a:effectLst>
              <a:latin typeface="Tahoma" pitchFamily="-111" charset="0"/>
              <a:ea typeface="ＭＳ Ｐゴシック" pitchFamily="-111" charset="-128"/>
            </a:endParaRPr>
          </a:p>
          <a:p>
            <a:pPr marL="457200" indent="-457200">
              <a:spcAft>
                <a:spcPts val="300"/>
              </a:spcAft>
              <a:buClr>
                <a:schemeClr val="bg1"/>
              </a:buClr>
              <a:buSzPct val="25000"/>
              <a:buFont typeface="Wingdings" pitchFamily="-111" charset="2"/>
              <a:buChar char=" "/>
              <a:defRPr/>
            </a:pPr>
            <a:r>
              <a:rPr lang="en-US" sz="1400" dirty="0">
                <a:solidFill>
                  <a:srgbClr val="FF0033"/>
                </a:solidFill>
                <a:effectLst>
                  <a:outerShdw blurRad="38100" dist="38100" dir="2700000" algn="tl">
                    <a:srgbClr val="C0C0C0"/>
                  </a:outerShdw>
                </a:effectLst>
                <a:latin typeface="Tahoma" pitchFamily="-111" charset="0"/>
                <a:ea typeface="ＭＳ Ｐゴシック" pitchFamily="-111" charset="-128"/>
              </a:rPr>
              <a:t>The organization is </a:t>
            </a:r>
            <a:r>
              <a:rPr lang="en-US" sz="1400" dirty="0">
                <a:solidFill>
                  <a:schemeClr val="accent2"/>
                </a:solidFill>
                <a:effectLst>
                  <a:outerShdw blurRad="38100" dist="38100" dir="2700000" algn="tl">
                    <a:srgbClr val="C0C0C0"/>
                  </a:outerShdw>
                </a:effectLst>
                <a:latin typeface="Tahoma" pitchFamily="-111" charset="0"/>
                <a:ea typeface="ＭＳ Ｐゴシック" pitchFamily="-111" charset="-128"/>
              </a:rPr>
              <a:t>profit-obsessed</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551940">
                                            <p:txEl>
                                              <p:pRg st="0" end="0"/>
                                            </p:txEl>
                                          </p:spTgt>
                                        </p:tgtEl>
                                        <p:attrNameLst>
                                          <p:attrName>style.visibility</p:attrName>
                                        </p:attrNameLst>
                                      </p:cBhvr>
                                      <p:to>
                                        <p:strVal val="visible"/>
                                      </p:to>
                                    </p:set>
                                    <p:anim calcmode="lin" valueType="num">
                                      <p:cBhvr>
                                        <p:cTn id="7" dur="500" fill="hold"/>
                                        <p:tgtEl>
                                          <p:spTgt spid="551940">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51940">
                                            <p:txEl>
                                              <p:pRg st="0" end="0"/>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0" end="0"/>
                                            </p:txEl>
                                          </p:spTgt>
                                        </p:tgtEl>
                                        <p:attrNameLst>
                                          <p:attrName>ppt_c</p:attrName>
                                        </p:attrNameLst>
                                      </p:cBhvr>
                                      <p:to>
                                        <a:schemeClr val="folHlink"/>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551943">
                                            <p:txEl>
                                              <p:pRg st="0" end="0"/>
                                            </p:txEl>
                                          </p:spTgt>
                                        </p:tgtEl>
                                        <p:attrNameLst>
                                          <p:attrName>style.visibility</p:attrName>
                                        </p:attrNameLst>
                                      </p:cBhvr>
                                      <p:to>
                                        <p:strVal val="visible"/>
                                      </p:to>
                                    </p:set>
                                    <p:anim calcmode="lin" valueType="num">
                                      <p:cBhvr>
                                        <p:cTn id="13" dur="500" fill="hold"/>
                                        <p:tgtEl>
                                          <p:spTgt spid="55194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551943">
                                            <p:txEl>
                                              <p:pRg st="0" end="0"/>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0" end="0"/>
                                            </p:txEl>
                                          </p:spTgt>
                                        </p:tgtEl>
                                        <p:attrNameLst>
                                          <p:attrName>ppt_c</p:attrName>
                                        </p:attrNameLst>
                                      </p:cBhvr>
                                      <p:to>
                                        <a:schemeClr val="folHlink"/>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551940">
                                            <p:txEl>
                                              <p:pRg st="1" end="1"/>
                                            </p:txEl>
                                          </p:spTgt>
                                        </p:tgtEl>
                                        <p:attrNameLst>
                                          <p:attrName>style.visibility</p:attrName>
                                        </p:attrNameLst>
                                      </p:cBhvr>
                                      <p:to>
                                        <p:strVal val="visible"/>
                                      </p:to>
                                    </p:set>
                                    <p:anim calcmode="lin" valueType="num">
                                      <p:cBhvr>
                                        <p:cTn id="19" dur="500" fill="hold"/>
                                        <p:tgtEl>
                                          <p:spTgt spid="551940">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551940">
                                            <p:txEl>
                                              <p:pRg st="1" end="1"/>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1" end="1"/>
                                            </p:txEl>
                                          </p:spTgt>
                                        </p:tgtEl>
                                        <p:attrNameLst>
                                          <p:attrName>ppt_c</p:attrName>
                                        </p:attrNameLst>
                                      </p:cBhvr>
                                      <p:to>
                                        <a:schemeClr val="folHlink"/>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nodeType="clickEffect">
                                  <p:stCondLst>
                                    <p:cond delay="0"/>
                                  </p:stCondLst>
                                  <p:childTnLst>
                                    <p:set>
                                      <p:cBhvr>
                                        <p:cTn id="24" dur="1" fill="hold">
                                          <p:stCondLst>
                                            <p:cond delay="0"/>
                                          </p:stCondLst>
                                        </p:cTn>
                                        <p:tgtEl>
                                          <p:spTgt spid="551943">
                                            <p:txEl>
                                              <p:pRg st="1" end="1"/>
                                            </p:txEl>
                                          </p:spTgt>
                                        </p:tgtEl>
                                        <p:attrNameLst>
                                          <p:attrName>style.visibility</p:attrName>
                                        </p:attrNameLst>
                                      </p:cBhvr>
                                      <p:to>
                                        <p:strVal val="visible"/>
                                      </p:to>
                                    </p:set>
                                    <p:anim calcmode="lin" valueType="num">
                                      <p:cBhvr>
                                        <p:cTn id="25" dur="500" fill="hold"/>
                                        <p:tgtEl>
                                          <p:spTgt spid="551943">
                                            <p:txEl>
                                              <p:pRg st="1" end="1"/>
                                            </p:txEl>
                                          </p:spTgt>
                                        </p:tgtEl>
                                        <p:attrNameLst>
                                          <p:attrName>ppt_w</p:attrName>
                                        </p:attrNameLst>
                                      </p:cBhvr>
                                      <p:tavLst>
                                        <p:tav tm="0">
                                          <p:val>
                                            <p:fltVal val="0"/>
                                          </p:val>
                                        </p:tav>
                                        <p:tav tm="100000">
                                          <p:val>
                                            <p:strVal val="#ppt_w"/>
                                          </p:val>
                                        </p:tav>
                                      </p:tavLst>
                                    </p:anim>
                                    <p:anim calcmode="lin" valueType="num">
                                      <p:cBhvr>
                                        <p:cTn id="26" dur="500" fill="hold"/>
                                        <p:tgtEl>
                                          <p:spTgt spid="551943">
                                            <p:txEl>
                                              <p:pRg st="1" end="1"/>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1" end="1"/>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nodeType="clickEffect">
                                  <p:stCondLst>
                                    <p:cond delay="0"/>
                                  </p:stCondLst>
                                  <p:childTnLst>
                                    <p:set>
                                      <p:cBhvr>
                                        <p:cTn id="30" dur="1" fill="hold">
                                          <p:stCondLst>
                                            <p:cond delay="0"/>
                                          </p:stCondLst>
                                        </p:cTn>
                                        <p:tgtEl>
                                          <p:spTgt spid="551940">
                                            <p:txEl>
                                              <p:pRg st="2" end="2"/>
                                            </p:txEl>
                                          </p:spTgt>
                                        </p:tgtEl>
                                        <p:attrNameLst>
                                          <p:attrName>style.visibility</p:attrName>
                                        </p:attrNameLst>
                                      </p:cBhvr>
                                      <p:to>
                                        <p:strVal val="visible"/>
                                      </p:to>
                                    </p:set>
                                    <p:anim calcmode="lin" valueType="num">
                                      <p:cBhvr>
                                        <p:cTn id="31" dur="500" fill="hold"/>
                                        <p:tgtEl>
                                          <p:spTgt spid="551940">
                                            <p:txEl>
                                              <p:pRg st="2" end="2"/>
                                            </p:txEl>
                                          </p:spTgt>
                                        </p:tgtEl>
                                        <p:attrNameLst>
                                          <p:attrName>ppt_w</p:attrName>
                                        </p:attrNameLst>
                                      </p:cBhvr>
                                      <p:tavLst>
                                        <p:tav tm="0">
                                          <p:val>
                                            <p:fltVal val="0"/>
                                          </p:val>
                                        </p:tav>
                                        <p:tav tm="100000">
                                          <p:val>
                                            <p:strVal val="#ppt_w"/>
                                          </p:val>
                                        </p:tav>
                                      </p:tavLst>
                                    </p:anim>
                                    <p:anim calcmode="lin" valueType="num">
                                      <p:cBhvr>
                                        <p:cTn id="32" dur="500" fill="hold"/>
                                        <p:tgtEl>
                                          <p:spTgt spid="551940">
                                            <p:txEl>
                                              <p:pRg st="2" end="2"/>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2" end="2"/>
                                            </p:txEl>
                                          </p:spTgt>
                                        </p:tgtEl>
                                        <p:attrNameLst>
                                          <p:attrName>ppt_c</p:attrName>
                                        </p:attrNameLst>
                                      </p:cBhvr>
                                      <p:to>
                                        <a:schemeClr val="folHlink"/>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nodeType="clickEffect">
                                  <p:stCondLst>
                                    <p:cond delay="0"/>
                                  </p:stCondLst>
                                  <p:childTnLst>
                                    <p:set>
                                      <p:cBhvr>
                                        <p:cTn id="36" dur="1" fill="hold">
                                          <p:stCondLst>
                                            <p:cond delay="0"/>
                                          </p:stCondLst>
                                        </p:cTn>
                                        <p:tgtEl>
                                          <p:spTgt spid="551943">
                                            <p:txEl>
                                              <p:pRg st="2" end="2"/>
                                            </p:txEl>
                                          </p:spTgt>
                                        </p:tgtEl>
                                        <p:attrNameLst>
                                          <p:attrName>style.visibility</p:attrName>
                                        </p:attrNameLst>
                                      </p:cBhvr>
                                      <p:to>
                                        <p:strVal val="visible"/>
                                      </p:to>
                                    </p:set>
                                    <p:anim calcmode="lin" valueType="num">
                                      <p:cBhvr>
                                        <p:cTn id="37" dur="500" fill="hold"/>
                                        <p:tgtEl>
                                          <p:spTgt spid="551943">
                                            <p:txEl>
                                              <p:pRg st="2" end="2"/>
                                            </p:txEl>
                                          </p:spTgt>
                                        </p:tgtEl>
                                        <p:attrNameLst>
                                          <p:attrName>ppt_w</p:attrName>
                                        </p:attrNameLst>
                                      </p:cBhvr>
                                      <p:tavLst>
                                        <p:tav tm="0">
                                          <p:val>
                                            <p:fltVal val="0"/>
                                          </p:val>
                                        </p:tav>
                                        <p:tav tm="100000">
                                          <p:val>
                                            <p:strVal val="#ppt_w"/>
                                          </p:val>
                                        </p:tav>
                                      </p:tavLst>
                                    </p:anim>
                                    <p:anim calcmode="lin" valueType="num">
                                      <p:cBhvr>
                                        <p:cTn id="38" dur="500" fill="hold"/>
                                        <p:tgtEl>
                                          <p:spTgt spid="551943">
                                            <p:txEl>
                                              <p:pRg st="2" end="2"/>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2" end="2"/>
                                            </p:txEl>
                                          </p:spTgt>
                                        </p:tgtEl>
                                        <p:attrNameLst>
                                          <p:attrName>ppt_c</p:attrName>
                                        </p:attrNameLst>
                                      </p:cBhvr>
                                      <p:to>
                                        <a:schemeClr val="folHlink"/>
                                      </p:to>
                                    </p:animClr>
                                  </p:sub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nodeType="clickEffect">
                                  <p:stCondLst>
                                    <p:cond delay="0"/>
                                  </p:stCondLst>
                                  <p:childTnLst>
                                    <p:set>
                                      <p:cBhvr>
                                        <p:cTn id="42" dur="1" fill="hold">
                                          <p:stCondLst>
                                            <p:cond delay="0"/>
                                          </p:stCondLst>
                                        </p:cTn>
                                        <p:tgtEl>
                                          <p:spTgt spid="551940">
                                            <p:txEl>
                                              <p:pRg st="3" end="3"/>
                                            </p:txEl>
                                          </p:spTgt>
                                        </p:tgtEl>
                                        <p:attrNameLst>
                                          <p:attrName>style.visibility</p:attrName>
                                        </p:attrNameLst>
                                      </p:cBhvr>
                                      <p:to>
                                        <p:strVal val="visible"/>
                                      </p:to>
                                    </p:set>
                                    <p:anim calcmode="lin" valueType="num">
                                      <p:cBhvr>
                                        <p:cTn id="43" dur="500" fill="hold"/>
                                        <p:tgtEl>
                                          <p:spTgt spid="551940">
                                            <p:txEl>
                                              <p:pRg st="3" end="3"/>
                                            </p:txEl>
                                          </p:spTgt>
                                        </p:tgtEl>
                                        <p:attrNameLst>
                                          <p:attrName>ppt_w</p:attrName>
                                        </p:attrNameLst>
                                      </p:cBhvr>
                                      <p:tavLst>
                                        <p:tav tm="0">
                                          <p:val>
                                            <p:fltVal val="0"/>
                                          </p:val>
                                        </p:tav>
                                        <p:tav tm="100000">
                                          <p:val>
                                            <p:strVal val="#ppt_w"/>
                                          </p:val>
                                        </p:tav>
                                      </p:tavLst>
                                    </p:anim>
                                    <p:anim calcmode="lin" valueType="num">
                                      <p:cBhvr>
                                        <p:cTn id="44" dur="500" fill="hold"/>
                                        <p:tgtEl>
                                          <p:spTgt spid="551940">
                                            <p:txEl>
                                              <p:pRg st="3" end="3"/>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3" end="3"/>
                                            </p:txEl>
                                          </p:spTgt>
                                        </p:tgtEl>
                                        <p:attrNameLst>
                                          <p:attrName>ppt_c</p:attrName>
                                        </p:attrNameLst>
                                      </p:cBhvr>
                                      <p:to>
                                        <a:schemeClr val="folHlink"/>
                                      </p:to>
                                    </p:animClr>
                                  </p:sub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10" fill="hold" nodeType="clickEffect">
                                  <p:stCondLst>
                                    <p:cond delay="0"/>
                                  </p:stCondLst>
                                  <p:childTnLst>
                                    <p:set>
                                      <p:cBhvr>
                                        <p:cTn id="48" dur="1" fill="hold">
                                          <p:stCondLst>
                                            <p:cond delay="0"/>
                                          </p:stCondLst>
                                        </p:cTn>
                                        <p:tgtEl>
                                          <p:spTgt spid="551943">
                                            <p:txEl>
                                              <p:pRg st="3" end="3"/>
                                            </p:txEl>
                                          </p:spTgt>
                                        </p:tgtEl>
                                        <p:attrNameLst>
                                          <p:attrName>style.visibility</p:attrName>
                                        </p:attrNameLst>
                                      </p:cBhvr>
                                      <p:to>
                                        <p:strVal val="visible"/>
                                      </p:to>
                                    </p:set>
                                    <p:anim calcmode="lin" valueType="num">
                                      <p:cBhvr>
                                        <p:cTn id="49" dur="500" fill="hold"/>
                                        <p:tgtEl>
                                          <p:spTgt spid="551943">
                                            <p:txEl>
                                              <p:pRg st="3" end="3"/>
                                            </p:txEl>
                                          </p:spTgt>
                                        </p:tgtEl>
                                        <p:attrNameLst>
                                          <p:attrName>ppt_w</p:attrName>
                                        </p:attrNameLst>
                                      </p:cBhvr>
                                      <p:tavLst>
                                        <p:tav tm="0">
                                          <p:val>
                                            <p:fltVal val="0"/>
                                          </p:val>
                                        </p:tav>
                                        <p:tav tm="100000">
                                          <p:val>
                                            <p:strVal val="#ppt_w"/>
                                          </p:val>
                                        </p:tav>
                                      </p:tavLst>
                                    </p:anim>
                                    <p:anim calcmode="lin" valueType="num">
                                      <p:cBhvr>
                                        <p:cTn id="50" dur="500" fill="hold"/>
                                        <p:tgtEl>
                                          <p:spTgt spid="551943">
                                            <p:txEl>
                                              <p:pRg st="3" end="3"/>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3" end="3"/>
                                            </p:txEl>
                                          </p:spTgt>
                                        </p:tgtEl>
                                        <p:attrNameLst>
                                          <p:attrName>ppt_c</p:attrName>
                                        </p:attrNameLst>
                                      </p:cBhvr>
                                      <p:to>
                                        <a:schemeClr val="folHlink"/>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10" fill="hold" nodeType="clickEffect">
                                  <p:stCondLst>
                                    <p:cond delay="0"/>
                                  </p:stCondLst>
                                  <p:childTnLst>
                                    <p:set>
                                      <p:cBhvr>
                                        <p:cTn id="54" dur="1" fill="hold">
                                          <p:stCondLst>
                                            <p:cond delay="0"/>
                                          </p:stCondLst>
                                        </p:cTn>
                                        <p:tgtEl>
                                          <p:spTgt spid="551940">
                                            <p:txEl>
                                              <p:pRg st="4" end="4"/>
                                            </p:txEl>
                                          </p:spTgt>
                                        </p:tgtEl>
                                        <p:attrNameLst>
                                          <p:attrName>style.visibility</p:attrName>
                                        </p:attrNameLst>
                                      </p:cBhvr>
                                      <p:to>
                                        <p:strVal val="visible"/>
                                      </p:to>
                                    </p:set>
                                    <p:anim calcmode="lin" valueType="num">
                                      <p:cBhvr>
                                        <p:cTn id="55" dur="500" fill="hold"/>
                                        <p:tgtEl>
                                          <p:spTgt spid="551940">
                                            <p:txEl>
                                              <p:pRg st="4" end="4"/>
                                            </p:txEl>
                                          </p:spTgt>
                                        </p:tgtEl>
                                        <p:attrNameLst>
                                          <p:attrName>ppt_w</p:attrName>
                                        </p:attrNameLst>
                                      </p:cBhvr>
                                      <p:tavLst>
                                        <p:tav tm="0">
                                          <p:val>
                                            <p:fltVal val="0"/>
                                          </p:val>
                                        </p:tav>
                                        <p:tav tm="100000">
                                          <p:val>
                                            <p:strVal val="#ppt_w"/>
                                          </p:val>
                                        </p:tav>
                                      </p:tavLst>
                                    </p:anim>
                                    <p:anim calcmode="lin" valueType="num">
                                      <p:cBhvr>
                                        <p:cTn id="56" dur="500" fill="hold"/>
                                        <p:tgtEl>
                                          <p:spTgt spid="551940">
                                            <p:txEl>
                                              <p:pRg st="4" end="4"/>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4" end="4"/>
                                            </p:txEl>
                                          </p:spTgt>
                                        </p:tgtEl>
                                        <p:attrNameLst>
                                          <p:attrName>ppt_c</p:attrName>
                                        </p:attrNameLst>
                                      </p:cBhvr>
                                      <p:to>
                                        <a:schemeClr val="folHlink"/>
                                      </p:to>
                                    </p:animClr>
                                  </p:sub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10" fill="hold" nodeType="clickEffect">
                                  <p:stCondLst>
                                    <p:cond delay="0"/>
                                  </p:stCondLst>
                                  <p:childTnLst>
                                    <p:set>
                                      <p:cBhvr>
                                        <p:cTn id="60" dur="1" fill="hold">
                                          <p:stCondLst>
                                            <p:cond delay="0"/>
                                          </p:stCondLst>
                                        </p:cTn>
                                        <p:tgtEl>
                                          <p:spTgt spid="551943">
                                            <p:txEl>
                                              <p:pRg st="4" end="4"/>
                                            </p:txEl>
                                          </p:spTgt>
                                        </p:tgtEl>
                                        <p:attrNameLst>
                                          <p:attrName>style.visibility</p:attrName>
                                        </p:attrNameLst>
                                      </p:cBhvr>
                                      <p:to>
                                        <p:strVal val="visible"/>
                                      </p:to>
                                    </p:set>
                                    <p:anim calcmode="lin" valueType="num">
                                      <p:cBhvr>
                                        <p:cTn id="61" dur="500" fill="hold"/>
                                        <p:tgtEl>
                                          <p:spTgt spid="551943">
                                            <p:txEl>
                                              <p:pRg st="4" end="4"/>
                                            </p:txEl>
                                          </p:spTgt>
                                        </p:tgtEl>
                                        <p:attrNameLst>
                                          <p:attrName>ppt_w</p:attrName>
                                        </p:attrNameLst>
                                      </p:cBhvr>
                                      <p:tavLst>
                                        <p:tav tm="0">
                                          <p:val>
                                            <p:fltVal val="0"/>
                                          </p:val>
                                        </p:tav>
                                        <p:tav tm="100000">
                                          <p:val>
                                            <p:strVal val="#ppt_w"/>
                                          </p:val>
                                        </p:tav>
                                      </p:tavLst>
                                    </p:anim>
                                    <p:anim calcmode="lin" valueType="num">
                                      <p:cBhvr>
                                        <p:cTn id="62" dur="500" fill="hold"/>
                                        <p:tgtEl>
                                          <p:spTgt spid="551943">
                                            <p:txEl>
                                              <p:pRg st="4" end="4"/>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4" end="4"/>
                                            </p:txEl>
                                          </p:spTgt>
                                        </p:tgtEl>
                                        <p:attrNameLst>
                                          <p:attrName>ppt_c</p:attrName>
                                        </p:attrNameLst>
                                      </p:cBhvr>
                                      <p:to>
                                        <a:schemeClr val="folHlink"/>
                                      </p:to>
                                    </p:animClr>
                                  </p:subTnLst>
                                </p:cTn>
                              </p:par>
                            </p:childTnLst>
                          </p:cTn>
                        </p:par>
                      </p:childTnLst>
                    </p:cTn>
                  </p:par>
                  <p:par>
                    <p:cTn id="63" fill="hold" nodeType="clickPar">
                      <p:stCondLst>
                        <p:cond delay="indefinite"/>
                      </p:stCondLst>
                      <p:childTnLst>
                        <p:par>
                          <p:cTn id="64" fill="hold" nodeType="withGroup">
                            <p:stCondLst>
                              <p:cond delay="0"/>
                            </p:stCondLst>
                            <p:childTnLst>
                              <p:par>
                                <p:cTn id="65" presetID="17" presetClass="entr" presetSubtype="10" fill="hold" nodeType="clickEffect">
                                  <p:stCondLst>
                                    <p:cond delay="0"/>
                                  </p:stCondLst>
                                  <p:childTnLst>
                                    <p:set>
                                      <p:cBhvr>
                                        <p:cTn id="66" dur="1" fill="hold">
                                          <p:stCondLst>
                                            <p:cond delay="0"/>
                                          </p:stCondLst>
                                        </p:cTn>
                                        <p:tgtEl>
                                          <p:spTgt spid="551940">
                                            <p:txEl>
                                              <p:pRg st="5" end="5"/>
                                            </p:txEl>
                                          </p:spTgt>
                                        </p:tgtEl>
                                        <p:attrNameLst>
                                          <p:attrName>style.visibility</p:attrName>
                                        </p:attrNameLst>
                                      </p:cBhvr>
                                      <p:to>
                                        <p:strVal val="visible"/>
                                      </p:to>
                                    </p:set>
                                    <p:anim calcmode="lin" valueType="num">
                                      <p:cBhvr>
                                        <p:cTn id="67" dur="500" fill="hold"/>
                                        <p:tgtEl>
                                          <p:spTgt spid="551940">
                                            <p:txEl>
                                              <p:pRg st="5" end="5"/>
                                            </p:txEl>
                                          </p:spTgt>
                                        </p:tgtEl>
                                        <p:attrNameLst>
                                          <p:attrName>ppt_w</p:attrName>
                                        </p:attrNameLst>
                                      </p:cBhvr>
                                      <p:tavLst>
                                        <p:tav tm="0">
                                          <p:val>
                                            <p:fltVal val="0"/>
                                          </p:val>
                                        </p:tav>
                                        <p:tav tm="100000">
                                          <p:val>
                                            <p:strVal val="#ppt_w"/>
                                          </p:val>
                                        </p:tav>
                                      </p:tavLst>
                                    </p:anim>
                                    <p:anim calcmode="lin" valueType="num">
                                      <p:cBhvr>
                                        <p:cTn id="68" dur="500" fill="hold"/>
                                        <p:tgtEl>
                                          <p:spTgt spid="551940">
                                            <p:txEl>
                                              <p:pRg st="5" end="5"/>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5" end="5"/>
                                            </p:txEl>
                                          </p:spTgt>
                                        </p:tgtEl>
                                        <p:attrNameLst>
                                          <p:attrName>ppt_c</p:attrName>
                                        </p:attrNameLst>
                                      </p:cBhvr>
                                      <p:to>
                                        <a:schemeClr val="folHlink"/>
                                      </p:to>
                                    </p:animClr>
                                  </p:subTnLst>
                                </p:cTn>
                              </p:par>
                            </p:childTnLst>
                          </p:cTn>
                        </p:par>
                      </p:childTnLst>
                    </p:cTn>
                  </p:par>
                  <p:par>
                    <p:cTn id="69" fill="hold" nodeType="clickPar">
                      <p:stCondLst>
                        <p:cond delay="indefinite"/>
                      </p:stCondLst>
                      <p:childTnLst>
                        <p:par>
                          <p:cTn id="70" fill="hold" nodeType="withGroup">
                            <p:stCondLst>
                              <p:cond delay="0"/>
                            </p:stCondLst>
                            <p:childTnLst>
                              <p:par>
                                <p:cTn id="71" presetID="17" presetClass="entr" presetSubtype="10" fill="hold" nodeType="clickEffect">
                                  <p:stCondLst>
                                    <p:cond delay="0"/>
                                  </p:stCondLst>
                                  <p:childTnLst>
                                    <p:set>
                                      <p:cBhvr>
                                        <p:cTn id="72" dur="1" fill="hold">
                                          <p:stCondLst>
                                            <p:cond delay="0"/>
                                          </p:stCondLst>
                                        </p:cTn>
                                        <p:tgtEl>
                                          <p:spTgt spid="551943">
                                            <p:txEl>
                                              <p:pRg st="5" end="5"/>
                                            </p:txEl>
                                          </p:spTgt>
                                        </p:tgtEl>
                                        <p:attrNameLst>
                                          <p:attrName>style.visibility</p:attrName>
                                        </p:attrNameLst>
                                      </p:cBhvr>
                                      <p:to>
                                        <p:strVal val="visible"/>
                                      </p:to>
                                    </p:set>
                                    <p:anim calcmode="lin" valueType="num">
                                      <p:cBhvr>
                                        <p:cTn id="73" dur="500" fill="hold"/>
                                        <p:tgtEl>
                                          <p:spTgt spid="551943">
                                            <p:txEl>
                                              <p:pRg st="5" end="5"/>
                                            </p:txEl>
                                          </p:spTgt>
                                        </p:tgtEl>
                                        <p:attrNameLst>
                                          <p:attrName>ppt_w</p:attrName>
                                        </p:attrNameLst>
                                      </p:cBhvr>
                                      <p:tavLst>
                                        <p:tav tm="0">
                                          <p:val>
                                            <p:fltVal val="0"/>
                                          </p:val>
                                        </p:tav>
                                        <p:tav tm="100000">
                                          <p:val>
                                            <p:strVal val="#ppt_w"/>
                                          </p:val>
                                        </p:tav>
                                      </p:tavLst>
                                    </p:anim>
                                    <p:anim calcmode="lin" valueType="num">
                                      <p:cBhvr>
                                        <p:cTn id="74" dur="500" fill="hold"/>
                                        <p:tgtEl>
                                          <p:spTgt spid="551943">
                                            <p:txEl>
                                              <p:pRg st="5" end="5"/>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5" end="5"/>
                                            </p:txEl>
                                          </p:spTgt>
                                        </p:tgtEl>
                                        <p:attrNameLst>
                                          <p:attrName>ppt_c</p:attrName>
                                        </p:attrNameLst>
                                      </p:cBhvr>
                                      <p:to>
                                        <a:schemeClr val="folHlink"/>
                                      </p:to>
                                    </p:animClr>
                                  </p:sub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10" fill="hold" nodeType="clickEffect">
                                  <p:stCondLst>
                                    <p:cond delay="0"/>
                                  </p:stCondLst>
                                  <p:childTnLst>
                                    <p:set>
                                      <p:cBhvr>
                                        <p:cTn id="78" dur="1" fill="hold">
                                          <p:stCondLst>
                                            <p:cond delay="0"/>
                                          </p:stCondLst>
                                        </p:cTn>
                                        <p:tgtEl>
                                          <p:spTgt spid="551940">
                                            <p:txEl>
                                              <p:pRg st="6" end="6"/>
                                            </p:txEl>
                                          </p:spTgt>
                                        </p:tgtEl>
                                        <p:attrNameLst>
                                          <p:attrName>style.visibility</p:attrName>
                                        </p:attrNameLst>
                                      </p:cBhvr>
                                      <p:to>
                                        <p:strVal val="visible"/>
                                      </p:to>
                                    </p:set>
                                    <p:anim calcmode="lin" valueType="num">
                                      <p:cBhvr>
                                        <p:cTn id="79" dur="500" fill="hold"/>
                                        <p:tgtEl>
                                          <p:spTgt spid="551940">
                                            <p:txEl>
                                              <p:pRg st="6" end="6"/>
                                            </p:txEl>
                                          </p:spTgt>
                                        </p:tgtEl>
                                        <p:attrNameLst>
                                          <p:attrName>ppt_w</p:attrName>
                                        </p:attrNameLst>
                                      </p:cBhvr>
                                      <p:tavLst>
                                        <p:tav tm="0">
                                          <p:val>
                                            <p:fltVal val="0"/>
                                          </p:val>
                                        </p:tav>
                                        <p:tav tm="100000">
                                          <p:val>
                                            <p:strVal val="#ppt_w"/>
                                          </p:val>
                                        </p:tav>
                                      </p:tavLst>
                                    </p:anim>
                                    <p:anim calcmode="lin" valueType="num">
                                      <p:cBhvr>
                                        <p:cTn id="80" dur="500" fill="hold"/>
                                        <p:tgtEl>
                                          <p:spTgt spid="551940">
                                            <p:txEl>
                                              <p:pRg st="6" end="6"/>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6" end="6"/>
                                            </p:txEl>
                                          </p:spTgt>
                                        </p:tgtEl>
                                        <p:attrNameLst>
                                          <p:attrName>ppt_c</p:attrName>
                                        </p:attrNameLst>
                                      </p:cBhvr>
                                      <p:to>
                                        <a:schemeClr val="folHlink"/>
                                      </p:to>
                                    </p:animClr>
                                  </p:subTnLst>
                                </p:cTn>
                              </p:par>
                            </p:childTnLst>
                          </p:cTn>
                        </p:par>
                      </p:childTnLst>
                    </p:cTn>
                  </p:par>
                  <p:par>
                    <p:cTn id="81" fill="hold" nodeType="clickPar">
                      <p:stCondLst>
                        <p:cond delay="indefinite"/>
                      </p:stCondLst>
                      <p:childTnLst>
                        <p:par>
                          <p:cTn id="82" fill="hold" nodeType="withGroup">
                            <p:stCondLst>
                              <p:cond delay="0"/>
                            </p:stCondLst>
                            <p:childTnLst>
                              <p:par>
                                <p:cTn id="83" presetID="17" presetClass="entr" presetSubtype="10" fill="hold" nodeType="clickEffect">
                                  <p:stCondLst>
                                    <p:cond delay="0"/>
                                  </p:stCondLst>
                                  <p:childTnLst>
                                    <p:set>
                                      <p:cBhvr>
                                        <p:cTn id="84" dur="1" fill="hold">
                                          <p:stCondLst>
                                            <p:cond delay="0"/>
                                          </p:stCondLst>
                                        </p:cTn>
                                        <p:tgtEl>
                                          <p:spTgt spid="551943">
                                            <p:txEl>
                                              <p:pRg st="6" end="6"/>
                                            </p:txEl>
                                          </p:spTgt>
                                        </p:tgtEl>
                                        <p:attrNameLst>
                                          <p:attrName>style.visibility</p:attrName>
                                        </p:attrNameLst>
                                      </p:cBhvr>
                                      <p:to>
                                        <p:strVal val="visible"/>
                                      </p:to>
                                    </p:set>
                                    <p:anim calcmode="lin" valueType="num">
                                      <p:cBhvr>
                                        <p:cTn id="85" dur="500" fill="hold"/>
                                        <p:tgtEl>
                                          <p:spTgt spid="551943">
                                            <p:txEl>
                                              <p:pRg st="6" end="6"/>
                                            </p:txEl>
                                          </p:spTgt>
                                        </p:tgtEl>
                                        <p:attrNameLst>
                                          <p:attrName>ppt_w</p:attrName>
                                        </p:attrNameLst>
                                      </p:cBhvr>
                                      <p:tavLst>
                                        <p:tav tm="0">
                                          <p:val>
                                            <p:fltVal val="0"/>
                                          </p:val>
                                        </p:tav>
                                        <p:tav tm="100000">
                                          <p:val>
                                            <p:strVal val="#ppt_w"/>
                                          </p:val>
                                        </p:tav>
                                      </p:tavLst>
                                    </p:anim>
                                    <p:anim calcmode="lin" valueType="num">
                                      <p:cBhvr>
                                        <p:cTn id="86" dur="500" fill="hold"/>
                                        <p:tgtEl>
                                          <p:spTgt spid="551943">
                                            <p:txEl>
                                              <p:pRg st="6" end="6"/>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6" end="6"/>
                                            </p:txEl>
                                          </p:spTgt>
                                        </p:tgtEl>
                                        <p:attrNameLst>
                                          <p:attrName>ppt_c</p:attrName>
                                        </p:attrNameLst>
                                      </p:cBhvr>
                                      <p:to>
                                        <a:schemeClr val="folHlink"/>
                                      </p:to>
                                    </p:animClr>
                                  </p:subTnLst>
                                </p:cTn>
                              </p:par>
                            </p:childTnLst>
                          </p:cTn>
                        </p:par>
                      </p:childTnLst>
                    </p:cTn>
                  </p:par>
                  <p:par>
                    <p:cTn id="87" fill="hold" nodeType="clickPar">
                      <p:stCondLst>
                        <p:cond delay="indefinite"/>
                      </p:stCondLst>
                      <p:childTnLst>
                        <p:par>
                          <p:cTn id="88" fill="hold" nodeType="withGroup">
                            <p:stCondLst>
                              <p:cond delay="0"/>
                            </p:stCondLst>
                            <p:childTnLst>
                              <p:par>
                                <p:cTn id="89" presetID="17" presetClass="entr" presetSubtype="10" fill="hold" nodeType="clickEffect">
                                  <p:stCondLst>
                                    <p:cond delay="0"/>
                                  </p:stCondLst>
                                  <p:childTnLst>
                                    <p:set>
                                      <p:cBhvr>
                                        <p:cTn id="90" dur="1" fill="hold">
                                          <p:stCondLst>
                                            <p:cond delay="0"/>
                                          </p:stCondLst>
                                        </p:cTn>
                                        <p:tgtEl>
                                          <p:spTgt spid="551940">
                                            <p:txEl>
                                              <p:pRg st="7" end="7"/>
                                            </p:txEl>
                                          </p:spTgt>
                                        </p:tgtEl>
                                        <p:attrNameLst>
                                          <p:attrName>style.visibility</p:attrName>
                                        </p:attrNameLst>
                                      </p:cBhvr>
                                      <p:to>
                                        <p:strVal val="visible"/>
                                      </p:to>
                                    </p:set>
                                    <p:anim calcmode="lin" valueType="num">
                                      <p:cBhvr>
                                        <p:cTn id="91" dur="500" fill="hold"/>
                                        <p:tgtEl>
                                          <p:spTgt spid="551940">
                                            <p:txEl>
                                              <p:pRg st="7" end="7"/>
                                            </p:txEl>
                                          </p:spTgt>
                                        </p:tgtEl>
                                        <p:attrNameLst>
                                          <p:attrName>ppt_w</p:attrName>
                                        </p:attrNameLst>
                                      </p:cBhvr>
                                      <p:tavLst>
                                        <p:tav tm="0">
                                          <p:val>
                                            <p:fltVal val="0"/>
                                          </p:val>
                                        </p:tav>
                                        <p:tav tm="100000">
                                          <p:val>
                                            <p:strVal val="#ppt_w"/>
                                          </p:val>
                                        </p:tav>
                                      </p:tavLst>
                                    </p:anim>
                                    <p:anim calcmode="lin" valueType="num">
                                      <p:cBhvr>
                                        <p:cTn id="92" dur="500" fill="hold"/>
                                        <p:tgtEl>
                                          <p:spTgt spid="551940">
                                            <p:txEl>
                                              <p:pRg st="7" end="7"/>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7" end="7"/>
                                            </p:txEl>
                                          </p:spTgt>
                                        </p:tgtEl>
                                        <p:attrNameLst>
                                          <p:attrName>ppt_c</p:attrName>
                                        </p:attrNameLst>
                                      </p:cBhvr>
                                      <p:to>
                                        <a:schemeClr val="folHlink"/>
                                      </p:to>
                                    </p:animClr>
                                  </p:subTnLst>
                                </p:cTn>
                              </p:par>
                            </p:childTnLst>
                          </p:cTn>
                        </p:par>
                      </p:childTnLst>
                    </p:cTn>
                  </p:par>
                  <p:par>
                    <p:cTn id="93" fill="hold" nodeType="clickPar">
                      <p:stCondLst>
                        <p:cond delay="indefinite"/>
                      </p:stCondLst>
                      <p:childTnLst>
                        <p:par>
                          <p:cTn id="94" fill="hold" nodeType="withGroup">
                            <p:stCondLst>
                              <p:cond delay="0"/>
                            </p:stCondLst>
                            <p:childTnLst>
                              <p:par>
                                <p:cTn id="95" presetID="17" presetClass="entr" presetSubtype="10" fill="hold" nodeType="clickEffect">
                                  <p:stCondLst>
                                    <p:cond delay="0"/>
                                  </p:stCondLst>
                                  <p:childTnLst>
                                    <p:set>
                                      <p:cBhvr>
                                        <p:cTn id="96" dur="1" fill="hold">
                                          <p:stCondLst>
                                            <p:cond delay="0"/>
                                          </p:stCondLst>
                                        </p:cTn>
                                        <p:tgtEl>
                                          <p:spTgt spid="551943">
                                            <p:txEl>
                                              <p:pRg st="7" end="7"/>
                                            </p:txEl>
                                          </p:spTgt>
                                        </p:tgtEl>
                                        <p:attrNameLst>
                                          <p:attrName>style.visibility</p:attrName>
                                        </p:attrNameLst>
                                      </p:cBhvr>
                                      <p:to>
                                        <p:strVal val="visible"/>
                                      </p:to>
                                    </p:set>
                                    <p:anim calcmode="lin" valueType="num">
                                      <p:cBhvr>
                                        <p:cTn id="97" dur="500" fill="hold"/>
                                        <p:tgtEl>
                                          <p:spTgt spid="551943">
                                            <p:txEl>
                                              <p:pRg st="7" end="7"/>
                                            </p:txEl>
                                          </p:spTgt>
                                        </p:tgtEl>
                                        <p:attrNameLst>
                                          <p:attrName>ppt_w</p:attrName>
                                        </p:attrNameLst>
                                      </p:cBhvr>
                                      <p:tavLst>
                                        <p:tav tm="0">
                                          <p:val>
                                            <p:fltVal val="0"/>
                                          </p:val>
                                        </p:tav>
                                        <p:tav tm="100000">
                                          <p:val>
                                            <p:strVal val="#ppt_w"/>
                                          </p:val>
                                        </p:tav>
                                      </p:tavLst>
                                    </p:anim>
                                    <p:anim calcmode="lin" valueType="num">
                                      <p:cBhvr>
                                        <p:cTn id="98" dur="500" fill="hold"/>
                                        <p:tgtEl>
                                          <p:spTgt spid="551943">
                                            <p:txEl>
                                              <p:pRg st="7" end="7"/>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7" end="7"/>
                                            </p:txEl>
                                          </p:spTgt>
                                        </p:tgtEl>
                                        <p:attrNameLst>
                                          <p:attrName>ppt_c</p:attrName>
                                        </p:attrNameLst>
                                      </p:cBhvr>
                                      <p:to>
                                        <a:schemeClr val="folHlink"/>
                                      </p:to>
                                    </p:animClr>
                                  </p:subTnLst>
                                </p:cTn>
                              </p:par>
                            </p:childTnLst>
                          </p:cTn>
                        </p:par>
                      </p:childTnLst>
                    </p:cTn>
                  </p:par>
                  <p:par>
                    <p:cTn id="99" fill="hold" nodeType="clickPar">
                      <p:stCondLst>
                        <p:cond delay="indefinite"/>
                      </p:stCondLst>
                      <p:childTnLst>
                        <p:par>
                          <p:cTn id="100" fill="hold" nodeType="withGroup">
                            <p:stCondLst>
                              <p:cond delay="0"/>
                            </p:stCondLst>
                            <p:childTnLst>
                              <p:par>
                                <p:cTn id="101" presetID="17" presetClass="entr" presetSubtype="10" fill="hold" nodeType="clickEffect">
                                  <p:stCondLst>
                                    <p:cond delay="0"/>
                                  </p:stCondLst>
                                  <p:childTnLst>
                                    <p:set>
                                      <p:cBhvr>
                                        <p:cTn id="102" dur="1" fill="hold">
                                          <p:stCondLst>
                                            <p:cond delay="0"/>
                                          </p:stCondLst>
                                        </p:cTn>
                                        <p:tgtEl>
                                          <p:spTgt spid="551940">
                                            <p:txEl>
                                              <p:pRg st="8" end="8"/>
                                            </p:txEl>
                                          </p:spTgt>
                                        </p:tgtEl>
                                        <p:attrNameLst>
                                          <p:attrName>style.visibility</p:attrName>
                                        </p:attrNameLst>
                                      </p:cBhvr>
                                      <p:to>
                                        <p:strVal val="visible"/>
                                      </p:to>
                                    </p:set>
                                    <p:anim calcmode="lin" valueType="num">
                                      <p:cBhvr>
                                        <p:cTn id="103" dur="500" fill="hold"/>
                                        <p:tgtEl>
                                          <p:spTgt spid="551940">
                                            <p:txEl>
                                              <p:pRg st="8" end="8"/>
                                            </p:txEl>
                                          </p:spTgt>
                                        </p:tgtEl>
                                        <p:attrNameLst>
                                          <p:attrName>ppt_w</p:attrName>
                                        </p:attrNameLst>
                                      </p:cBhvr>
                                      <p:tavLst>
                                        <p:tav tm="0">
                                          <p:val>
                                            <p:fltVal val="0"/>
                                          </p:val>
                                        </p:tav>
                                        <p:tav tm="100000">
                                          <p:val>
                                            <p:strVal val="#ppt_w"/>
                                          </p:val>
                                        </p:tav>
                                      </p:tavLst>
                                    </p:anim>
                                    <p:anim calcmode="lin" valueType="num">
                                      <p:cBhvr>
                                        <p:cTn id="104" dur="500" fill="hold"/>
                                        <p:tgtEl>
                                          <p:spTgt spid="551940">
                                            <p:txEl>
                                              <p:pRg st="8" end="8"/>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8" end="8"/>
                                            </p:txEl>
                                          </p:spTgt>
                                        </p:tgtEl>
                                        <p:attrNameLst>
                                          <p:attrName>ppt_c</p:attrName>
                                        </p:attrNameLst>
                                      </p:cBhvr>
                                      <p:to>
                                        <a:schemeClr val="folHlink"/>
                                      </p:to>
                                    </p:animClr>
                                  </p:subTnLst>
                                </p:cTn>
                              </p:par>
                            </p:childTnLst>
                          </p:cTn>
                        </p:par>
                      </p:childTnLst>
                    </p:cTn>
                  </p:par>
                  <p:par>
                    <p:cTn id="105" fill="hold" nodeType="clickPar">
                      <p:stCondLst>
                        <p:cond delay="indefinite"/>
                      </p:stCondLst>
                      <p:childTnLst>
                        <p:par>
                          <p:cTn id="106" fill="hold" nodeType="withGroup">
                            <p:stCondLst>
                              <p:cond delay="0"/>
                            </p:stCondLst>
                            <p:childTnLst>
                              <p:par>
                                <p:cTn id="107" presetID="17" presetClass="entr" presetSubtype="10" fill="hold" nodeType="clickEffect">
                                  <p:stCondLst>
                                    <p:cond delay="0"/>
                                  </p:stCondLst>
                                  <p:childTnLst>
                                    <p:set>
                                      <p:cBhvr>
                                        <p:cTn id="108" dur="1" fill="hold">
                                          <p:stCondLst>
                                            <p:cond delay="0"/>
                                          </p:stCondLst>
                                        </p:cTn>
                                        <p:tgtEl>
                                          <p:spTgt spid="551943">
                                            <p:txEl>
                                              <p:pRg st="8" end="8"/>
                                            </p:txEl>
                                          </p:spTgt>
                                        </p:tgtEl>
                                        <p:attrNameLst>
                                          <p:attrName>style.visibility</p:attrName>
                                        </p:attrNameLst>
                                      </p:cBhvr>
                                      <p:to>
                                        <p:strVal val="visible"/>
                                      </p:to>
                                    </p:set>
                                    <p:anim calcmode="lin" valueType="num">
                                      <p:cBhvr>
                                        <p:cTn id="109" dur="500" fill="hold"/>
                                        <p:tgtEl>
                                          <p:spTgt spid="551943">
                                            <p:txEl>
                                              <p:pRg st="8" end="8"/>
                                            </p:txEl>
                                          </p:spTgt>
                                        </p:tgtEl>
                                        <p:attrNameLst>
                                          <p:attrName>ppt_w</p:attrName>
                                        </p:attrNameLst>
                                      </p:cBhvr>
                                      <p:tavLst>
                                        <p:tav tm="0">
                                          <p:val>
                                            <p:fltVal val="0"/>
                                          </p:val>
                                        </p:tav>
                                        <p:tav tm="100000">
                                          <p:val>
                                            <p:strVal val="#ppt_w"/>
                                          </p:val>
                                        </p:tav>
                                      </p:tavLst>
                                    </p:anim>
                                    <p:anim calcmode="lin" valueType="num">
                                      <p:cBhvr>
                                        <p:cTn id="110" dur="500" fill="hold"/>
                                        <p:tgtEl>
                                          <p:spTgt spid="551943">
                                            <p:txEl>
                                              <p:pRg st="8" end="8"/>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8" end="8"/>
                                            </p:txEl>
                                          </p:spTgt>
                                        </p:tgtEl>
                                        <p:attrNameLst>
                                          <p:attrName>ppt_c</p:attrName>
                                        </p:attrNameLst>
                                      </p:cBhvr>
                                      <p:to>
                                        <a:schemeClr val="folHlink"/>
                                      </p:to>
                                    </p:animClr>
                                  </p:subTnLst>
                                </p:cTn>
                              </p:par>
                            </p:childTnLst>
                          </p:cTn>
                        </p:par>
                      </p:childTnLst>
                    </p:cTn>
                  </p:par>
                  <p:par>
                    <p:cTn id="111" fill="hold" nodeType="clickPar">
                      <p:stCondLst>
                        <p:cond delay="indefinite"/>
                      </p:stCondLst>
                      <p:childTnLst>
                        <p:par>
                          <p:cTn id="112" fill="hold" nodeType="withGroup">
                            <p:stCondLst>
                              <p:cond delay="0"/>
                            </p:stCondLst>
                            <p:childTnLst>
                              <p:par>
                                <p:cTn id="113" presetID="17" presetClass="entr" presetSubtype="10" fill="hold" nodeType="clickEffect">
                                  <p:stCondLst>
                                    <p:cond delay="0"/>
                                  </p:stCondLst>
                                  <p:childTnLst>
                                    <p:set>
                                      <p:cBhvr>
                                        <p:cTn id="114" dur="1" fill="hold">
                                          <p:stCondLst>
                                            <p:cond delay="0"/>
                                          </p:stCondLst>
                                        </p:cTn>
                                        <p:tgtEl>
                                          <p:spTgt spid="551940">
                                            <p:txEl>
                                              <p:pRg st="9" end="9"/>
                                            </p:txEl>
                                          </p:spTgt>
                                        </p:tgtEl>
                                        <p:attrNameLst>
                                          <p:attrName>style.visibility</p:attrName>
                                        </p:attrNameLst>
                                      </p:cBhvr>
                                      <p:to>
                                        <p:strVal val="visible"/>
                                      </p:to>
                                    </p:set>
                                    <p:anim calcmode="lin" valueType="num">
                                      <p:cBhvr>
                                        <p:cTn id="115" dur="500" fill="hold"/>
                                        <p:tgtEl>
                                          <p:spTgt spid="551940">
                                            <p:txEl>
                                              <p:pRg st="9" end="9"/>
                                            </p:txEl>
                                          </p:spTgt>
                                        </p:tgtEl>
                                        <p:attrNameLst>
                                          <p:attrName>ppt_w</p:attrName>
                                        </p:attrNameLst>
                                      </p:cBhvr>
                                      <p:tavLst>
                                        <p:tav tm="0">
                                          <p:val>
                                            <p:fltVal val="0"/>
                                          </p:val>
                                        </p:tav>
                                        <p:tav tm="100000">
                                          <p:val>
                                            <p:strVal val="#ppt_w"/>
                                          </p:val>
                                        </p:tav>
                                      </p:tavLst>
                                    </p:anim>
                                    <p:anim calcmode="lin" valueType="num">
                                      <p:cBhvr>
                                        <p:cTn id="116" dur="500" fill="hold"/>
                                        <p:tgtEl>
                                          <p:spTgt spid="551940">
                                            <p:txEl>
                                              <p:pRg st="9" end="9"/>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9" end="9"/>
                                            </p:txEl>
                                          </p:spTgt>
                                        </p:tgtEl>
                                        <p:attrNameLst>
                                          <p:attrName>ppt_c</p:attrName>
                                        </p:attrNameLst>
                                      </p:cBhvr>
                                      <p:to>
                                        <a:schemeClr val="folHlink"/>
                                      </p:to>
                                    </p:animClr>
                                  </p:subTnLst>
                                </p:cTn>
                              </p:par>
                            </p:childTnLst>
                          </p:cTn>
                        </p:par>
                      </p:childTnLst>
                    </p:cTn>
                  </p:par>
                  <p:par>
                    <p:cTn id="117" fill="hold" nodeType="clickPar">
                      <p:stCondLst>
                        <p:cond delay="indefinite"/>
                      </p:stCondLst>
                      <p:childTnLst>
                        <p:par>
                          <p:cTn id="118" fill="hold" nodeType="withGroup">
                            <p:stCondLst>
                              <p:cond delay="0"/>
                            </p:stCondLst>
                            <p:childTnLst>
                              <p:par>
                                <p:cTn id="119" presetID="17" presetClass="entr" presetSubtype="10" fill="hold" nodeType="clickEffect">
                                  <p:stCondLst>
                                    <p:cond delay="0"/>
                                  </p:stCondLst>
                                  <p:childTnLst>
                                    <p:set>
                                      <p:cBhvr>
                                        <p:cTn id="120" dur="1" fill="hold">
                                          <p:stCondLst>
                                            <p:cond delay="0"/>
                                          </p:stCondLst>
                                        </p:cTn>
                                        <p:tgtEl>
                                          <p:spTgt spid="551943">
                                            <p:txEl>
                                              <p:pRg st="9" end="9"/>
                                            </p:txEl>
                                          </p:spTgt>
                                        </p:tgtEl>
                                        <p:attrNameLst>
                                          <p:attrName>style.visibility</p:attrName>
                                        </p:attrNameLst>
                                      </p:cBhvr>
                                      <p:to>
                                        <p:strVal val="visible"/>
                                      </p:to>
                                    </p:set>
                                    <p:anim calcmode="lin" valueType="num">
                                      <p:cBhvr>
                                        <p:cTn id="121" dur="500" fill="hold"/>
                                        <p:tgtEl>
                                          <p:spTgt spid="551943">
                                            <p:txEl>
                                              <p:pRg st="9" end="9"/>
                                            </p:txEl>
                                          </p:spTgt>
                                        </p:tgtEl>
                                        <p:attrNameLst>
                                          <p:attrName>ppt_w</p:attrName>
                                        </p:attrNameLst>
                                      </p:cBhvr>
                                      <p:tavLst>
                                        <p:tav tm="0">
                                          <p:val>
                                            <p:fltVal val="0"/>
                                          </p:val>
                                        </p:tav>
                                        <p:tav tm="100000">
                                          <p:val>
                                            <p:strVal val="#ppt_w"/>
                                          </p:val>
                                        </p:tav>
                                      </p:tavLst>
                                    </p:anim>
                                    <p:anim calcmode="lin" valueType="num">
                                      <p:cBhvr>
                                        <p:cTn id="122" dur="500" fill="hold"/>
                                        <p:tgtEl>
                                          <p:spTgt spid="551943">
                                            <p:txEl>
                                              <p:pRg st="9" end="9"/>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9" end="9"/>
                                            </p:txEl>
                                          </p:spTgt>
                                        </p:tgtEl>
                                        <p:attrNameLst>
                                          <p:attrName>ppt_c</p:attrName>
                                        </p:attrNameLst>
                                      </p:cBhvr>
                                      <p:to>
                                        <a:schemeClr val="folHlink"/>
                                      </p:to>
                                    </p:animClr>
                                  </p:subTnLst>
                                </p:cTn>
                              </p:par>
                            </p:childTnLst>
                          </p:cTn>
                        </p:par>
                      </p:childTnLst>
                    </p:cTn>
                  </p:par>
                  <p:par>
                    <p:cTn id="123" fill="hold" nodeType="clickPar">
                      <p:stCondLst>
                        <p:cond delay="indefinite"/>
                      </p:stCondLst>
                      <p:childTnLst>
                        <p:par>
                          <p:cTn id="124" fill="hold" nodeType="withGroup">
                            <p:stCondLst>
                              <p:cond delay="0"/>
                            </p:stCondLst>
                            <p:childTnLst>
                              <p:par>
                                <p:cTn id="125" presetID="17" presetClass="entr" presetSubtype="10" fill="hold" nodeType="clickEffect">
                                  <p:stCondLst>
                                    <p:cond delay="0"/>
                                  </p:stCondLst>
                                  <p:childTnLst>
                                    <p:set>
                                      <p:cBhvr>
                                        <p:cTn id="126" dur="1" fill="hold">
                                          <p:stCondLst>
                                            <p:cond delay="0"/>
                                          </p:stCondLst>
                                        </p:cTn>
                                        <p:tgtEl>
                                          <p:spTgt spid="551940">
                                            <p:txEl>
                                              <p:pRg st="10" end="10"/>
                                            </p:txEl>
                                          </p:spTgt>
                                        </p:tgtEl>
                                        <p:attrNameLst>
                                          <p:attrName>style.visibility</p:attrName>
                                        </p:attrNameLst>
                                      </p:cBhvr>
                                      <p:to>
                                        <p:strVal val="visible"/>
                                      </p:to>
                                    </p:set>
                                    <p:anim calcmode="lin" valueType="num">
                                      <p:cBhvr>
                                        <p:cTn id="127" dur="500" fill="hold"/>
                                        <p:tgtEl>
                                          <p:spTgt spid="551940">
                                            <p:txEl>
                                              <p:pRg st="10" end="10"/>
                                            </p:txEl>
                                          </p:spTgt>
                                        </p:tgtEl>
                                        <p:attrNameLst>
                                          <p:attrName>ppt_w</p:attrName>
                                        </p:attrNameLst>
                                      </p:cBhvr>
                                      <p:tavLst>
                                        <p:tav tm="0">
                                          <p:val>
                                            <p:fltVal val="0"/>
                                          </p:val>
                                        </p:tav>
                                        <p:tav tm="100000">
                                          <p:val>
                                            <p:strVal val="#ppt_w"/>
                                          </p:val>
                                        </p:tav>
                                      </p:tavLst>
                                    </p:anim>
                                    <p:anim calcmode="lin" valueType="num">
                                      <p:cBhvr>
                                        <p:cTn id="128" dur="500" fill="hold"/>
                                        <p:tgtEl>
                                          <p:spTgt spid="551940">
                                            <p:txEl>
                                              <p:pRg st="10" end="10"/>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10" end="10"/>
                                            </p:txEl>
                                          </p:spTgt>
                                        </p:tgtEl>
                                        <p:attrNameLst>
                                          <p:attrName>ppt_c</p:attrName>
                                        </p:attrNameLst>
                                      </p:cBhvr>
                                      <p:to>
                                        <a:schemeClr val="folHlink"/>
                                      </p:to>
                                    </p:animClr>
                                  </p:subTnLst>
                                </p:cTn>
                              </p:par>
                            </p:childTnLst>
                          </p:cTn>
                        </p:par>
                      </p:childTnLst>
                    </p:cTn>
                  </p:par>
                  <p:par>
                    <p:cTn id="129" fill="hold" nodeType="clickPar">
                      <p:stCondLst>
                        <p:cond delay="indefinite"/>
                      </p:stCondLst>
                      <p:childTnLst>
                        <p:par>
                          <p:cTn id="130" fill="hold" nodeType="withGroup">
                            <p:stCondLst>
                              <p:cond delay="0"/>
                            </p:stCondLst>
                            <p:childTnLst>
                              <p:par>
                                <p:cTn id="131" presetID="17" presetClass="entr" presetSubtype="10" fill="hold" nodeType="clickEffect">
                                  <p:stCondLst>
                                    <p:cond delay="0"/>
                                  </p:stCondLst>
                                  <p:childTnLst>
                                    <p:set>
                                      <p:cBhvr>
                                        <p:cTn id="132" dur="1" fill="hold">
                                          <p:stCondLst>
                                            <p:cond delay="0"/>
                                          </p:stCondLst>
                                        </p:cTn>
                                        <p:tgtEl>
                                          <p:spTgt spid="551943">
                                            <p:txEl>
                                              <p:pRg st="10" end="10"/>
                                            </p:txEl>
                                          </p:spTgt>
                                        </p:tgtEl>
                                        <p:attrNameLst>
                                          <p:attrName>style.visibility</p:attrName>
                                        </p:attrNameLst>
                                      </p:cBhvr>
                                      <p:to>
                                        <p:strVal val="visible"/>
                                      </p:to>
                                    </p:set>
                                    <p:anim calcmode="lin" valueType="num">
                                      <p:cBhvr>
                                        <p:cTn id="133" dur="500" fill="hold"/>
                                        <p:tgtEl>
                                          <p:spTgt spid="551943">
                                            <p:txEl>
                                              <p:pRg st="10" end="10"/>
                                            </p:txEl>
                                          </p:spTgt>
                                        </p:tgtEl>
                                        <p:attrNameLst>
                                          <p:attrName>ppt_w</p:attrName>
                                        </p:attrNameLst>
                                      </p:cBhvr>
                                      <p:tavLst>
                                        <p:tav tm="0">
                                          <p:val>
                                            <p:fltVal val="0"/>
                                          </p:val>
                                        </p:tav>
                                        <p:tav tm="100000">
                                          <p:val>
                                            <p:strVal val="#ppt_w"/>
                                          </p:val>
                                        </p:tav>
                                      </p:tavLst>
                                    </p:anim>
                                    <p:anim calcmode="lin" valueType="num">
                                      <p:cBhvr>
                                        <p:cTn id="134" dur="500" fill="hold"/>
                                        <p:tgtEl>
                                          <p:spTgt spid="551943">
                                            <p:txEl>
                                              <p:pRg st="10" end="10"/>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10" end="10"/>
                                            </p:txEl>
                                          </p:spTgt>
                                        </p:tgtEl>
                                        <p:attrNameLst>
                                          <p:attrName>ppt_c</p:attrName>
                                        </p:attrNameLst>
                                      </p:cBhvr>
                                      <p:to>
                                        <a:schemeClr val="folHlink"/>
                                      </p:to>
                                    </p:animClr>
                                  </p:subTnLst>
                                </p:cTn>
                              </p:par>
                            </p:childTnLst>
                          </p:cTn>
                        </p:par>
                      </p:childTnLst>
                    </p:cTn>
                  </p:par>
                  <p:par>
                    <p:cTn id="135" fill="hold" nodeType="clickPar">
                      <p:stCondLst>
                        <p:cond delay="indefinite"/>
                      </p:stCondLst>
                      <p:childTnLst>
                        <p:par>
                          <p:cTn id="136" fill="hold" nodeType="withGroup">
                            <p:stCondLst>
                              <p:cond delay="0"/>
                            </p:stCondLst>
                            <p:childTnLst>
                              <p:par>
                                <p:cTn id="137" presetID="17" presetClass="entr" presetSubtype="10" fill="hold" nodeType="clickEffect">
                                  <p:stCondLst>
                                    <p:cond delay="0"/>
                                  </p:stCondLst>
                                  <p:childTnLst>
                                    <p:set>
                                      <p:cBhvr>
                                        <p:cTn id="138" dur="1" fill="hold">
                                          <p:stCondLst>
                                            <p:cond delay="0"/>
                                          </p:stCondLst>
                                        </p:cTn>
                                        <p:tgtEl>
                                          <p:spTgt spid="551940">
                                            <p:txEl>
                                              <p:pRg st="11" end="11"/>
                                            </p:txEl>
                                          </p:spTgt>
                                        </p:tgtEl>
                                        <p:attrNameLst>
                                          <p:attrName>style.visibility</p:attrName>
                                        </p:attrNameLst>
                                      </p:cBhvr>
                                      <p:to>
                                        <p:strVal val="visible"/>
                                      </p:to>
                                    </p:set>
                                    <p:anim calcmode="lin" valueType="num">
                                      <p:cBhvr>
                                        <p:cTn id="139" dur="500" fill="hold"/>
                                        <p:tgtEl>
                                          <p:spTgt spid="551940">
                                            <p:txEl>
                                              <p:pRg st="11" end="11"/>
                                            </p:txEl>
                                          </p:spTgt>
                                        </p:tgtEl>
                                        <p:attrNameLst>
                                          <p:attrName>ppt_w</p:attrName>
                                        </p:attrNameLst>
                                      </p:cBhvr>
                                      <p:tavLst>
                                        <p:tav tm="0">
                                          <p:val>
                                            <p:fltVal val="0"/>
                                          </p:val>
                                        </p:tav>
                                        <p:tav tm="100000">
                                          <p:val>
                                            <p:strVal val="#ppt_w"/>
                                          </p:val>
                                        </p:tav>
                                      </p:tavLst>
                                    </p:anim>
                                    <p:anim calcmode="lin" valueType="num">
                                      <p:cBhvr>
                                        <p:cTn id="140" dur="500" fill="hold"/>
                                        <p:tgtEl>
                                          <p:spTgt spid="551940">
                                            <p:txEl>
                                              <p:pRg st="11" end="11"/>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11" end="11"/>
                                            </p:txEl>
                                          </p:spTgt>
                                        </p:tgtEl>
                                        <p:attrNameLst>
                                          <p:attrName>ppt_c</p:attrName>
                                        </p:attrNameLst>
                                      </p:cBhvr>
                                      <p:to>
                                        <a:schemeClr val="folHlink"/>
                                      </p:to>
                                    </p:animClr>
                                  </p:subTnLst>
                                </p:cTn>
                              </p:par>
                            </p:childTnLst>
                          </p:cTn>
                        </p:par>
                      </p:childTnLst>
                    </p:cTn>
                  </p:par>
                  <p:par>
                    <p:cTn id="141" fill="hold" nodeType="clickPar">
                      <p:stCondLst>
                        <p:cond delay="indefinite"/>
                      </p:stCondLst>
                      <p:childTnLst>
                        <p:par>
                          <p:cTn id="142" fill="hold" nodeType="withGroup">
                            <p:stCondLst>
                              <p:cond delay="0"/>
                            </p:stCondLst>
                            <p:childTnLst>
                              <p:par>
                                <p:cTn id="143" presetID="17" presetClass="entr" presetSubtype="10" fill="hold" nodeType="clickEffect">
                                  <p:stCondLst>
                                    <p:cond delay="0"/>
                                  </p:stCondLst>
                                  <p:childTnLst>
                                    <p:set>
                                      <p:cBhvr>
                                        <p:cTn id="144" dur="1" fill="hold">
                                          <p:stCondLst>
                                            <p:cond delay="0"/>
                                          </p:stCondLst>
                                        </p:cTn>
                                        <p:tgtEl>
                                          <p:spTgt spid="551943">
                                            <p:txEl>
                                              <p:pRg st="11" end="11"/>
                                            </p:txEl>
                                          </p:spTgt>
                                        </p:tgtEl>
                                        <p:attrNameLst>
                                          <p:attrName>style.visibility</p:attrName>
                                        </p:attrNameLst>
                                      </p:cBhvr>
                                      <p:to>
                                        <p:strVal val="visible"/>
                                      </p:to>
                                    </p:set>
                                    <p:anim calcmode="lin" valueType="num">
                                      <p:cBhvr>
                                        <p:cTn id="145" dur="500" fill="hold"/>
                                        <p:tgtEl>
                                          <p:spTgt spid="551943">
                                            <p:txEl>
                                              <p:pRg st="11" end="11"/>
                                            </p:txEl>
                                          </p:spTgt>
                                        </p:tgtEl>
                                        <p:attrNameLst>
                                          <p:attrName>ppt_w</p:attrName>
                                        </p:attrNameLst>
                                      </p:cBhvr>
                                      <p:tavLst>
                                        <p:tav tm="0">
                                          <p:val>
                                            <p:fltVal val="0"/>
                                          </p:val>
                                        </p:tav>
                                        <p:tav tm="100000">
                                          <p:val>
                                            <p:strVal val="#ppt_w"/>
                                          </p:val>
                                        </p:tav>
                                      </p:tavLst>
                                    </p:anim>
                                    <p:anim calcmode="lin" valueType="num">
                                      <p:cBhvr>
                                        <p:cTn id="146" dur="500" fill="hold"/>
                                        <p:tgtEl>
                                          <p:spTgt spid="551943">
                                            <p:txEl>
                                              <p:pRg st="11" end="11"/>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11" end="11"/>
                                            </p:txEl>
                                          </p:spTgt>
                                        </p:tgtEl>
                                        <p:attrNameLst>
                                          <p:attrName>ppt_c</p:attrName>
                                        </p:attrNameLst>
                                      </p:cBhvr>
                                      <p:to>
                                        <a:schemeClr val="folHlink"/>
                                      </p:to>
                                    </p:animClr>
                                  </p:subTnLst>
                                </p:cTn>
                              </p:par>
                            </p:childTnLst>
                          </p:cTn>
                        </p:par>
                      </p:childTnLst>
                    </p:cTn>
                  </p:par>
                  <p:par>
                    <p:cTn id="147" fill="hold" nodeType="clickPar">
                      <p:stCondLst>
                        <p:cond delay="indefinite"/>
                      </p:stCondLst>
                      <p:childTnLst>
                        <p:par>
                          <p:cTn id="148" fill="hold" nodeType="withGroup">
                            <p:stCondLst>
                              <p:cond delay="0"/>
                            </p:stCondLst>
                            <p:childTnLst>
                              <p:par>
                                <p:cTn id="149" presetID="17" presetClass="entr" presetSubtype="10" fill="hold" nodeType="clickEffect">
                                  <p:stCondLst>
                                    <p:cond delay="0"/>
                                  </p:stCondLst>
                                  <p:childTnLst>
                                    <p:set>
                                      <p:cBhvr>
                                        <p:cTn id="150" dur="1" fill="hold">
                                          <p:stCondLst>
                                            <p:cond delay="0"/>
                                          </p:stCondLst>
                                        </p:cTn>
                                        <p:tgtEl>
                                          <p:spTgt spid="551940">
                                            <p:txEl>
                                              <p:pRg st="12" end="12"/>
                                            </p:txEl>
                                          </p:spTgt>
                                        </p:tgtEl>
                                        <p:attrNameLst>
                                          <p:attrName>style.visibility</p:attrName>
                                        </p:attrNameLst>
                                      </p:cBhvr>
                                      <p:to>
                                        <p:strVal val="visible"/>
                                      </p:to>
                                    </p:set>
                                    <p:anim calcmode="lin" valueType="num">
                                      <p:cBhvr>
                                        <p:cTn id="151" dur="500" fill="hold"/>
                                        <p:tgtEl>
                                          <p:spTgt spid="551940">
                                            <p:txEl>
                                              <p:pRg st="12" end="12"/>
                                            </p:txEl>
                                          </p:spTgt>
                                        </p:tgtEl>
                                        <p:attrNameLst>
                                          <p:attrName>ppt_w</p:attrName>
                                        </p:attrNameLst>
                                      </p:cBhvr>
                                      <p:tavLst>
                                        <p:tav tm="0">
                                          <p:val>
                                            <p:fltVal val="0"/>
                                          </p:val>
                                        </p:tav>
                                        <p:tav tm="100000">
                                          <p:val>
                                            <p:strVal val="#ppt_w"/>
                                          </p:val>
                                        </p:tav>
                                      </p:tavLst>
                                    </p:anim>
                                    <p:anim calcmode="lin" valueType="num">
                                      <p:cBhvr>
                                        <p:cTn id="152" dur="500" fill="hold"/>
                                        <p:tgtEl>
                                          <p:spTgt spid="551940">
                                            <p:txEl>
                                              <p:pRg st="12" end="12"/>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12" end="12"/>
                                            </p:txEl>
                                          </p:spTgt>
                                        </p:tgtEl>
                                        <p:attrNameLst>
                                          <p:attrName>ppt_c</p:attrName>
                                        </p:attrNameLst>
                                      </p:cBhvr>
                                      <p:to>
                                        <a:schemeClr val="folHlink"/>
                                      </p:to>
                                    </p:animClr>
                                  </p:subTnLst>
                                </p:cTn>
                              </p:par>
                            </p:childTnLst>
                          </p:cTn>
                        </p:par>
                      </p:childTnLst>
                    </p:cTn>
                  </p:par>
                  <p:par>
                    <p:cTn id="153" fill="hold" nodeType="clickPar">
                      <p:stCondLst>
                        <p:cond delay="indefinite"/>
                      </p:stCondLst>
                      <p:childTnLst>
                        <p:par>
                          <p:cTn id="154" fill="hold" nodeType="withGroup">
                            <p:stCondLst>
                              <p:cond delay="0"/>
                            </p:stCondLst>
                            <p:childTnLst>
                              <p:par>
                                <p:cTn id="155" presetID="17" presetClass="entr" presetSubtype="10" fill="hold" nodeType="clickEffect">
                                  <p:stCondLst>
                                    <p:cond delay="0"/>
                                  </p:stCondLst>
                                  <p:childTnLst>
                                    <p:set>
                                      <p:cBhvr>
                                        <p:cTn id="156" dur="1" fill="hold">
                                          <p:stCondLst>
                                            <p:cond delay="0"/>
                                          </p:stCondLst>
                                        </p:cTn>
                                        <p:tgtEl>
                                          <p:spTgt spid="551943">
                                            <p:txEl>
                                              <p:pRg st="12" end="12"/>
                                            </p:txEl>
                                          </p:spTgt>
                                        </p:tgtEl>
                                        <p:attrNameLst>
                                          <p:attrName>style.visibility</p:attrName>
                                        </p:attrNameLst>
                                      </p:cBhvr>
                                      <p:to>
                                        <p:strVal val="visible"/>
                                      </p:to>
                                    </p:set>
                                    <p:anim calcmode="lin" valueType="num">
                                      <p:cBhvr>
                                        <p:cTn id="157" dur="500" fill="hold"/>
                                        <p:tgtEl>
                                          <p:spTgt spid="551943">
                                            <p:txEl>
                                              <p:pRg st="12" end="12"/>
                                            </p:txEl>
                                          </p:spTgt>
                                        </p:tgtEl>
                                        <p:attrNameLst>
                                          <p:attrName>ppt_w</p:attrName>
                                        </p:attrNameLst>
                                      </p:cBhvr>
                                      <p:tavLst>
                                        <p:tav tm="0">
                                          <p:val>
                                            <p:fltVal val="0"/>
                                          </p:val>
                                        </p:tav>
                                        <p:tav tm="100000">
                                          <p:val>
                                            <p:strVal val="#ppt_w"/>
                                          </p:val>
                                        </p:tav>
                                      </p:tavLst>
                                    </p:anim>
                                    <p:anim calcmode="lin" valueType="num">
                                      <p:cBhvr>
                                        <p:cTn id="158" dur="500" fill="hold"/>
                                        <p:tgtEl>
                                          <p:spTgt spid="551943">
                                            <p:txEl>
                                              <p:pRg st="12" end="12"/>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12" end="12"/>
                                            </p:txEl>
                                          </p:spTgt>
                                        </p:tgtEl>
                                        <p:attrNameLst>
                                          <p:attrName>ppt_c</p:attrName>
                                        </p:attrNameLst>
                                      </p:cBhvr>
                                      <p:to>
                                        <a:schemeClr val="folHlink"/>
                                      </p:to>
                                    </p:animClr>
                                  </p:subTnLst>
                                </p:cTn>
                              </p:par>
                            </p:childTnLst>
                          </p:cTn>
                        </p:par>
                      </p:childTnLst>
                    </p:cTn>
                  </p:par>
                  <p:par>
                    <p:cTn id="159" fill="hold" nodeType="clickPar">
                      <p:stCondLst>
                        <p:cond delay="indefinite"/>
                      </p:stCondLst>
                      <p:childTnLst>
                        <p:par>
                          <p:cTn id="160" fill="hold" nodeType="withGroup">
                            <p:stCondLst>
                              <p:cond delay="0"/>
                            </p:stCondLst>
                            <p:childTnLst>
                              <p:par>
                                <p:cTn id="161" presetID="17" presetClass="entr" presetSubtype="10" fill="hold" nodeType="clickEffect">
                                  <p:stCondLst>
                                    <p:cond delay="0"/>
                                  </p:stCondLst>
                                  <p:childTnLst>
                                    <p:set>
                                      <p:cBhvr>
                                        <p:cTn id="162" dur="1" fill="hold">
                                          <p:stCondLst>
                                            <p:cond delay="0"/>
                                          </p:stCondLst>
                                        </p:cTn>
                                        <p:tgtEl>
                                          <p:spTgt spid="551940">
                                            <p:txEl>
                                              <p:pRg st="13" end="13"/>
                                            </p:txEl>
                                          </p:spTgt>
                                        </p:tgtEl>
                                        <p:attrNameLst>
                                          <p:attrName>style.visibility</p:attrName>
                                        </p:attrNameLst>
                                      </p:cBhvr>
                                      <p:to>
                                        <p:strVal val="visible"/>
                                      </p:to>
                                    </p:set>
                                    <p:anim calcmode="lin" valueType="num">
                                      <p:cBhvr>
                                        <p:cTn id="163" dur="500" fill="hold"/>
                                        <p:tgtEl>
                                          <p:spTgt spid="551940">
                                            <p:txEl>
                                              <p:pRg st="13" end="13"/>
                                            </p:txEl>
                                          </p:spTgt>
                                        </p:tgtEl>
                                        <p:attrNameLst>
                                          <p:attrName>ppt_w</p:attrName>
                                        </p:attrNameLst>
                                      </p:cBhvr>
                                      <p:tavLst>
                                        <p:tav tm="0">
                                          <p:val>
                                            <p:fltVal val="0"/>
                                          </p:val>
                                        </p:tav>
                                        <p:tav tm="100000">
                                          <p:val>
                                            <p:strVal val="#ppt_w"/>
                                          </p:val>
                                        </p:tav>
                                      </p:tavLst>
                                    </p:anim>
                                    <p:anim calcmode="lin" valueType="num">
                                      <p:cBhvr>
                                        <p:cTn id="164" dur="500" fill="hold"/>
                                        <p:tgtEl>
                                          <p:spTgt spid="551940">
                                            <p:txEl>
                                              <p:pRg st="13" end="13"/>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13" end="13"/>
                                            </p:txEl>
                                          </p:spTgt>
                                        </p:tgtEl>
                                        <p:attrNameLst>
                                          <p:attrName>ppt_c</p:attrName>
                                        </p:attrNameLst>
                                      </p:cBhvr>
                                      <p:to>
                                        <a:schemeClr val="folHlink"/>
                                      </p:to>
                                    </p:animClr>
                                  </p:subTnLst>
                                </p:cTn>
                              </p:par>
                            </p:childTnLst>
                          </p:cTn>
                        </p:par>
                      </p:childTnLst>
                    </p:cTn>
                  </p:par>
                  <p:par>
                    <p:cTn id="165" fill="hold" nodeType="clickPar">
                      <p:stCondLst>
                        <p:cond delay="indefinite"/>
                      </p:stCondLst>
                      <p:childTnLst>
                        <p:par>
                          <p:cTn id="166" fill="hold" nodeType="withGroup">
                            <p:stCondLst>
                              <p:cond delay="0"/>
                            </p:stCondLst>
                            <p:childTnLst>
                              <p:par>
                                <p:cTn id="167" presetID="17" presetClass="entr" presetSubtype="10" fill="hold" nodeType="clickEffect">
                                  <p:stCondLst>
                                    <p:cond delay="0"/>
                                  </p:stCondLst>
                                  <p:childTnLst>
                                    <p:set>
                                      <p:cBhvr>
                                        <p:cTn id="168" dur="1" fill="hold">
                                          <p:stCondLst>
                                            <p:cond delay="0"/>
                                          </p:stCondLst>
                                        </p:cTn>
                                        <p:tgtEl>
                                          <p:spTgt spid="551943">
                                            <p:txEl>
                                              <p:pRg st="13" end="13"/>
                                            </p:txEl>
                                          </p:spTgt>
                                        </p:tgtEl>
                                        <p:attrNameLst>
                                          <p:attrName>style.visibility</p:attrName>
                                        </p:attrNameLst>
                                      </p:cBhvr>
                                      <p:to>
                                        <p:strVal val="visible"/>
                                      </p:to>
                                    </p:set>
                                    <p:anim calcmode="lin" valueType="num">
                                      <p:cBhvr>
                                        <p:cTn id="169" dur="500" fill="hold"/>
                                        <p:tgtEl>
                                          <p:spTgt spid="551943">
                                            <p:txEl>
                                              <p:pRg st="13" end="13"/>
                                            </p:txEl>
                                          </p:spTgt>
                                        </p:tgtEl>
                                        <p:attrNameLst>
                                          <p:attrName>ppt_w</p:attrName>
                                        </p:attrNameLst>
                                      </p:cBhvr>
                                      <p:tavLst>
                                        <p:tav tm="0">
                                          <p:val>
                                            <p:fltVal val="0"/>
                                          </p:val>
                                        </p:tav>
                                        <p:tav tm="100000">
                                          <p:val>
                                            <p:strVal val="#ppt_w"/>
                                          </p:val>
                                        </p:tav>
                                      </p:tavLst>
                                    </p:anim>
                                    <p:anim calcmode="lin" valueType="num">
                                      <p:cBhvr>
                                        <p:cTn id="170" dur="500" fill="hold"/>
                                        <p:tgtEl>
                                          <p:spTgt spid="551943">
                                            <p:txEl>
                                              <p:pRg st="13" end="13"/>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13" end="13"/>
                                            </p:txEl>
                                          </p:spTgt>
                                        </p:tgtEl>
                                        <p:attrNameLst>
                                          <p:attrName>ppt_c</p:attrName>
                                        </p:attrNameLst>
                                      </p:cBhvr>
                                      <p:to>
                                        <a:schemeClr val="folHlink"/>
                                      </p:to>
                                    </p:animClr>
                                  </p:subTnLst>
                                </p:cTn>
                              </p:par>
                            </p:childTnLst>
                          </p:cTn>
                        </p:par>
                      </p:childTnLst>
                    </p:cTn>
                  </p:par>
                  <p:par>
                    <p:cTn id="171" fill="hold" nodeType="clickPar">
                      <p:stCondLst>
                        <p:cond delay="indefinite"/>
                      </p:stCondLst>
                      <p:childTnLst>
                        <p:par>
                          <p:cTn id="172" fill="hold" nodeType="withGroup">
                            <p:stCondLst>
                              <p:cond delay="0"/>
                            </p:stCondLst>
                            <p:childTnLst>
                              <p:par>
                                <p:cTn id="173" presetID="17" presetClass="entr" presetSubtype="10" fill="hold" nodeType="clickEffect">
                                  <p:stCondLst>
                                    <p:cond delay="0"/>
                                  </p:stCondLst>
                                  <p:childTnLst>
                                    <p:set>
                                      <p:cBhvr>
                                        <p:cTn id="174" dur="1" fill="hold">
                                          <p:stCondLst>
                                            <p:cond delay="0"/>
                                          </p:stCondLst>
                                        </p:cTn>
                                        <p:tgtEl>
                                          <p:spTgt spid="551940">
                                            <p:txEl>
                                              <p:pRg st="14" end="14"/>
                                            </p:txEl>
                                          </p:spTgt>
                                        </p:tgtEl>
                                        <p:attrNameLst>
                                          <p:attrName>style.visibility</p:attrName>
                                        </p:attrNameLst>
                                      </p:cBhvr>
                                      <p:to>
                                        <p:strVal val="visible"/>
                                      </p:to>
                                    </p:set>
                                    <p:anim calcmode="lin" valueType="num">
                                      <p:cBhvr>
                                        <p:cTn id="175" dur="500" fill="hold"/>
                                        <p:tgtEl>
                                          <p:spTgt spid="551940">
                                            <p:txEl>
                                              <p:pRg st="14" end="14"/>
                                            </p:txEl>
                                          </p:spTgt>
                                        </p:tgtEl>
                                        <p:attrNameLst>
                                          <p:attrName>ppt_w</p:attrName>
                                        </p:attrNameLst>
                                      </p:cBhvr>
                                      <p:tavLst>
                                        <p:tav tm="0">
                                          <p:val>
                                            <p:fltVal val="0"/>
                                          </p:val>
                                        </p:tav>
                                        <p:tav tm="100000">
                                          <p:val>
                                            <p:strVal val="#ppt_w"/>
                                          </p:val>
                                        </p:tav>
                                      </p:tavLst>
                                    </p:anim>
                                    <p:anim calcmode="lin" valueType="num">
                                      <p:cBhvr>
                                        <p:cTn id="176" dur="500" fill="hold"/>
                                        <p:tgtEl>
                                          <p:spTgt spid="551940">
                                            <p:txEl>
                                              <p:pRg st="14" end="14"/>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0">
                                            <p:txEl>
                                              <p:pRg st="14" end="14"/>
                                            </p:txEl>
                                          </p:spTgt>
                                        </p:tgtEl>
                                        <p:attrNameLst>
                                          <p:attrName>ppt_c</p:attrName>
                                        </p:attrNameLst>
                                      </p:cBhvr>
                                      <p:to>
                                        <a:schemeClr val="folHlink"/>
                                      </p:to>
                                    </p:animClr>
                                  </p:subTnLst>
                                </p:cTn>
                              </p:par>
                            </p:childTnLst>
                          </p:cTn>
                        </p:par>
                      </p:childTnLst>
                    </p:cTn>
                  </p:par>
                  <p:par>
                    <p:cTn id="177" fill="hold" nodeType="clickPar">
                      <p:stCondLst>
                        <p:cond delay="indefinite"/>
                      </p:stCondLst>
                      <p:childTnLst>
                        <p:par>
                          <p:cTn id="178" fill="hold" nodeType="withGroup">
                            <p:stCondLst>
                              <p:cond delay="0"/>
                            </p:stCondLst>
                            <p:childTnLst>
                              <p:par>
                                <p:cTn id="179" presetID="17" presetClass="entr" presetSubtype="10" fill="hold" nodeType="clickEffect">
                                  <p:stCondLst>
                                    <p:cond delay="0"/>
                                  </p:stCondLst>
                                  <p:childTnLst>
                                    <p:set>
                                      <p:cBhvr>
                                        <p:cTn id="180" dur="1" fill="hold">
                                          <p:stCondLst>
                                            <p:cond delay="0"/>
                                          </p:stCondLst>
                                        </p:cTn>
                                        <p:tgtEl>
                                          <p:spTgt spid="551943">
                                            <p:txEl>
                                              <p:pRg st="14" end="14"/>
                                            </p:txEl>
                                          </p:spTgt>
                                        </p:tgtEl>
                                        <p:attrNameLst>
                                          <p:attrName>style.visibility</p:attrName>
                                        </p:attrNameLst>
                                      </p:cBhvr>
                                      <p:to>
                                        <p:strVal val="visible"/>
                                      </p:to>
                                    </p:set>
                                    <p:anim calcmode="lin" valueType="num">
                                      <p:cBhvr>
                                        <p:cTn id="181" dur="500" fill="hold"/>
                                        <p:tgtEl>
                                          <p:spTgt spid="551943">
                                            <p:txEl>
                                              <p:pRg st="14" end="14"/>
                                            </p:txEl>
                                          </p:spTgt>
                                        </p:tgtEl>
                                        <p:attrNameLst>
                                          <p:attrName>ppt_w</p:attrName>
                                        </p:attrNameLst>
                                      </p:cBhvr>
                                      <p:tavLst>
                                        <p:tav tm="0">
                                          <p:val>
                                            <p:fltVal val="0"/>
                                          </p:val>
                                        </p:tav>
                                        <p:tav tm="100000">
                                          <p:val>
                                            <p:strVal val="#ppt_w"/>
                                          </p:val>
                                        </p:tav>
                                      </p:tavLst>
                                    </p:anim>
                                    <p:anim calcmode="lin" valueType="num">
                                      <p:cBhvr>
                                        <p:cTn id="182" dur="500" fill="hold"/>
                                        <p:tgtEl>
                                          <p:spTgt spid="551943">
                                            <p:txEl>
                                              <p:pRg st="14" end="14"/>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14" end="14"/>
                                            </p:txEl>
                                          </p:spTgt>
                                        </p:tgtEl>
                                        <p:attrNameLst>
                                          <p:attrName>ppt_c</p:attrName>
                                        </p:attrNameLst>
                                      </p:cBhvr>
                                      <p:to>
                                        <a:schemeClr val="folHlink"/>
                                      </p:to>
                                    </p:animClr>
                                  </p:subTnLst>
                                </p:cTn>
                              </p:par>
                            </p:childTnLst>
                          </p:cTn>
                        </p:par>
                      </p:childTnLst>
                    </p:cTn>
                  </p:par>
                  <p:par>
                    <p:cTn id="183" fill="hold" nodeType="clickPar">
                      <p:stCondLst>
                        <p:cond delay="indefinite"/>
                      </p:stCondLst>
                      <p:childTnLst>
                        <p:par>
                          <p:cTn id="184" fill="hold" nodeType="withGroup">
                            <p:stCondLst>
                              <p:cond delay="0"/>
                            </p:stCondLst>
                            <p:childTnLst>
                              <p:par>
                                <p:cTn id="185" presetID="17" presetClass="entr" presetSubtype="10" fill="hold" nodeType="clickEffect">
                                  <p:stCondLst>
                                    <p:cond delay="0"/>
                                  </p:stCondLst>
                                  <p:childTnLst>
                                    <p:set>
                                      <p:cBhvr>
                                        <p:cTn id="186" dur="1" fill="hold">
                                          <p:stCondLst>
                                            <p:cond delay="0"/>
                                          </p:stCondLst>
                                        </p:cTn>
                                        <p:tgtEl>
                                          <p:spTgt spid="551940">
                                            <p:txEl>
                                              <p:pRg st="15" end="15"/>
                                            </p:txEl>
                                          </p:spTgt>
                                        </p:tgtEl>
                                        <p:attrNameLst>
                                          <p:attrName>style.visibility</p:attrName>
                                        </p:attrNameLst>
                                      </p:cBhvr>
                                      <p:to>
                                        <p:strVal val="visible"/>
                                      </p:to>
                                    </p:set>
                                    <p:anim calcmode="lin" valueType="num">
                                      <p:cBhvr>
                                        <p:cTn id="187" dur="500" fill="hold"/>
                                        <p:tgtEl>
                                          <p:spTgt spid="551940">
                                            <p:txEl>
                                              <p:pRg st="15" end="15"/>
                                            </p:txEl>
                                          </p:spTgt>
                                        </p:tgtEl>
                                        <p:attrNameLst>
                                          <p:attrName>ppt_w</p:attrName>
                                        </p:attrNameLst>
                                      </p:cBhvr>
                                      <p:tavLst>
                                        <p:tav tm="0">
                                          <p:val>
                                            <p:fltVal val="0"/>
                                          </p:val>
                                        </p:tav>
                                        <p:tav tm="100000">
                                          <p:val>
                                            <p:strVal val="#ppt_w"/>
                                          </p:val>
                                        </p:tav>
                                      </p:tavLst>
                                    </p:anim>
                                    <p:anim calcmode="lin" valueType="num">
                                      <p:cBhvr>
                                        <p:cTn id="188" dur="500" fill="hold"/>
                                        <p:tgtEl>
                                          <p:spTgt spid="551940">
                                            <p:txEl>
                                              <p:pRg st="15" end="15"/>
                                            </p:txEl>
                                          </p:spTgt>
                                        </p:tgtEl>
                                        <p:attrNameLst>
                                          <p:attrName>ppt_h</p:attrName>
                                        </p:attrNameLst>
                                      </p:cBhvr>
                                      <p:tavLst>
                                        <p:tav tm="0">
                                          <p:val>
                                            <p:strVal val="#ppt_h"/>
                                          </p:val>
                                        </p:tav>
                                        <p:tav tm="100000">
                                          <p:val>
                                            <p:strVal val="#ppt_h"/>
                                          </p:val>
                                        </p:tav>
                                      </p:tavLst>
                                    </p:anim>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7" presetClass="entr" presetSubtype="10" fill="hold" nodeType="clickEffect">
                                  <p:stCondLst>
                                    <p:cond delay="0"/>
                                  </p:stCondLst>
                                  <p:childTnLst>
                                    <p:set>
                                      <p:cBhvr>
                                        <p:cTn id="192" dur="1" fill="hold">
                                          <p:stCondLst>
                                            <p:cond delay="0"/>
                                          </p:stCondLst>
                                        </p:cTn>
                                        <p:tgtEl>
                                          <p:spTgt spid="551943">
                                            <p:txEl>
                                              <p:pRg st="15" end="15"/>
                                            </p:txEl>
                                          </p:spTgt>
                                        </p:tgtEl>
                                        <p:attrNameLst>
                                          <p:attrName>style.visibility</p:attrName>
                                        </p:attrNameLst>
                                      </p:cBhvr>
                                      <p:to>
                                        <p:strVal val="visible"/>
                                      </p:to>
                                    </p:set>
                                    <p:anim calcmode="lin" valueType="num">
                                      <p:cBhvr>
                                        <p:cTn id="193" dur="500" fill="hold"/>
                                        <p:tgtEl>
                                          <p:spTgt spid="551943">
                                            <p:txEl>
                                              <p:pRg st="15" end="15"/>
                                            </p:txEl>
                                          </p:spTgt>
                                        </p:tgtEl>
                                        <p:attrNameLst>
                                          <p:attrName>ppt_w</p:attrName>
                                        </p:attrNameLst>
                                      </p:cBhvr>
                                      <p:tavLst>
                                        <p:tav tm="0">
                                          <p:val>
                                            <p:fltVal val="0"/>
                                          </p:val>
                                        </p:tav>
                                        <p:tav tm="100000">
                                          <p:val>
                                            <p:strVal val="#ppt_w"/>
                                          </p:val>
                                        </p:tav>
                                      </p:tavLst>
                                    </p:anim>
                                    <p:anim calcmode="lin" valueType="num">
                                      <p:cBhvr>
                                        <p:cTn id="194" dur="500" fill="hold"/>
                                        <p:tgtEl>
                                          <p:spTgt spid="551943">
                                            <p:txEl>
                                              <p:pRg st="15" end="15"/>
                                            </p:txEl>
                                          </p:spTgt>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51943">
                                            <p:txEl>
                                              <p:pRg st="15" end="15"/>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A6A40B17-1620-4CEF-A1BE-6A44E4A33A5B}"/>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44035" name="Rectangle 3">
            <a:extLst>
              <a:ext uri="{FF2B5EF4-FFF2-40B4-BE49-F238E27FC236}">
                <a16:creationId xmlns:a16="http://schemas.microsoft.com/office/drawing/2014/main" id="{8211DB8E-F4F1-4284-B3DB-2B13C401D64E}"/>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80644" name="Freeform 4">
            <a:extLst>
              <a:ext uri="{FF2B5EF4-FFF2-40B4-BE49-F238E27FC236}">
                <a16:creationId xmlns:a16="http://schemas.microsoft.com/office/drawing/2014/main" id="{22DCEB51-2AF2-479B-ABAD-5ACBBDD3DC71}"/>
              </a:ext>
            </a:extLst>
          </p:cNvPr>
          <p:cNvSpPr>
            <a:spLocks/>
          </p:cNvSpPr>
          <p:nvPr/>
        </p:nvSpPr>
        <p:spPr bwMode="auto">
          <a:xfrm>
            <a:off x="5564188" y="1835151"/>
            <a:ext cx="1624012" cy="993775"/>
          </a:xfrm>
          <a:custGeom>
            <a:avLst/>
            <a:gdLst>
              <a:gd name="T0" fmla="*/ 0 w 1023"/>
              <a:gd name="T1" fmla="*/ 2147483646 h 626"/>
              <a:gd name="T2" fmla="*/ 2147483646 w 1023"/>
              <a:gd name="T3" fmla="*/ 2147483646 h 626"/>
              <a:gd name="T4" fmla="*/ 2147483646 w 1023"/>
              <a:gd name="T5" fmla="*/ 2147483646 h 626"/>
              <a:gd name="T6" fmla="*/ 2147483646 w 1023"/>
              <a:gd name="T7" fmla="*/ 2147483646 h 626"/>
              <a:gd name="T8" fmla="*/ 2147483646 w 1023"/>
              <a:gd name="T9" fmla="*/ 2147483646 h 626"/>
              <a:gd name="T10" fmla="*/ 0 60000 65536"/>
              <a:gd name="T11" fmla="*/ 0 60000 65536"/>
              <a:gd name="T12" fmla="*/ 0 60000 65536"/>
              <a:gd name="T13" fmla="*/ 0 60000 65536"/>
              <a:gd name="T14" fmla="*/ 0 60000 65536"/>
              <a:gd name="T15" fmla="*/ 0 w 1023"/>
              <a:gd name="T16" fmla="*/ 0 h 626"/>
              <a:gd name="T17" fmla="*/ 1023 w 1023"/>
              <a:gd name="T18" fmla="*/ 626 h 626"/>
            </a:gdLst>
            <a:ahLst/>
            <a:cxnLst>
              <a:cxn ang="T10">
                <a:pos x="T0" y="T1"/>
              </a:cxn>
              <a:cxn ang="T11">
                <a:pos x="T2" y="T3"/>
              </a:cxn>
              <a:cxn ang="T12">
                <a:pos x="T4" y="T5"/>
              </a:cxn>
              <a:cxn ang="T13">
                <a:pos x="T6" y="T7"/>
              </a:cxn>
              <a:cxn ang="T14">
                <a:pos x="T8" y="T9"/>
              </a:cxn>
            </a:cxnLst>
            <a:rect l="T15" t="T16" r="T17" b="T18"/>
            <a:pathLst>
              <a:path w="1023" h="626">
                <a:moveTo>
                  <a:pt x="0" y="187"/>
                </a:moveTo>
                <a:cubicBezTo>
                  <a:pt x="38" y="161"/>
                  <a:pt x="150" y="55"/>
                  <a:pt x="230" y="31"/>
                </a:cubicBezTo>
                <a:cubicBezTo>
                  <a:pt x="310" y="7"/>
                  <a:pt x="390" y="0"/>
                  <a:pt x="479" y="42"/>
                </a:cubicBezTo>
                <a:cubicBezTo>
                  <a:pt x="568" y="84"/>
                  <a:pt x="674" y="186"/>
                  <a:pt x="765" y="283"/>
                </a:cubicBezTo>
                <a:cubicBezTo>
                  <a:pt x="856" y="380"/>
                  <a:pt x="980" y="569"/>
                  <a:pt x="1023" y="626"/>
                </a:cubicBezTo>
              </a:path>
            </a:pathLst>
          </a:custGeom>
          <a:noFill/>
          <a:ln w="508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0645" name="AutoShape 5">
            <a:extLst>
              <a:ext uri="{FF2B5EF4-FFF2-40B4-BE49-F238E27FC236}">
                <a16:creationId xmlns:a16="http://schemas.microsoft.com/office/drawing/2014/main" id="{19784DC0-C156-4F4B-A1AE-31FC4CDE8246}"/>
              </a:ext>
            </a:extLst>
          </p:cNvPr>
          <p:cNvSpPr>
            <a:spLocks noChangeArrowheads="1"/>
          </p:cNvSpPr>
          <p:nvPr/>
        </p:nvSpPr>
        <p:spPr bwMode="auto">
          <a:xfrm>
            <a:off x="6075363" y="1773238"/>
            <a:ext cx="150812" cy="152400"/>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80646" name="AutoShape 6">
            <a:extLst>
              <a:ext uri="{FF2B5EF4-FFF2-40B4-BE49-F238E27FC236}">
                <a16:creationId xmlns:a16="http://schemas.microsoft.com/office/drawing/2014/main" id="{D3440FE8-BB08-4B12-8CBD-238F12B57AE5}"/>
              </a:ext>
            </a:extLst>
          </p:cNvPr>
          <p:cNvSpPr>
            <a:spLocks noChangeArrowheads="1"/>
          </p:cNvSpPr>
          <p:nvPr/>
        </p:nvSpPr>
        <p:spPr bwMode="auto">
          <a:xfrm>
            <a:off x="6834188" y="2366963"/>
            <a:ext cx="150812"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880647" name="Text Box 7">
            <a:extLst>
              <a:ext uri="{FF2B5EF4-FFF2-40B4-BE49-F238E27FC236}">
                <a16:creationId xmlns:a16="http://schemas.microsoft.com/office/drawing/2014/main" id="{71EA1660-512F-4F1E-9285-D699C0DD0E75}"/>
              </a:ext>
            </a:extLst>
          </p:cNvPr>
          <p:cNvSpPr txBox="1">
            <a:spLocks noChangeArrowheads="1"/>
          </p:cNvSpPr>
          <p:nvPr/>
        </p:nvSpPr>
        <p:spPr bwMode="auto">
          <a:xfrm>
            <a:off x="5564189" y="1228726"/>
            <a:ext cx="1062037"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Stable</a:t>
            </a:r>
          </a:p>
        </p:txBody>
      </p:sp>
      <p:sp>
        <p:nvSpPr>
          <p:cNvPr id="880648" name="Text Box 8">
            <a:extLst>
              <a:ext uri="{FF2B5EF4-FFF2-40B4-BE49-F238E27FC236}">
                <a16:creationId xmlns:a16="http://schemas.microsoft.com/office/drawing/2014/main" id="{E316DB5E-D45A-4F4E-A27D-56F08357498C}"/>
              </a:ext>
            </a:extLst>
          </p:cNvPr>
          <p:cNvSpPr txBox="1">
            <a:spLocks noChangeArrowheads="1"/>
          </p:cNvSpPr>
          <p:nvPr/>
        </p:nvSpPr>
        <p:spPr bwMode="auto">
          <a:xfrm>
            <a:off x="7081838" y="2227263"/>
            <a:ext cx="1670050" cy="366712"/>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Aristocracy</a:t>
            </a:r>
          </a:p>
        </p:txBody>
      </p:sp>
      <p:sp>
        <p:nvSpPr>
          <p:cNvPr id="880649" name="Text Box 9">
            <a:extLst>
              <a:ext uri="{FF2B5EF4-FFF2-40B4-BE49-F238E27FC236}">
                <a16:creationId xmlns:a16="http://schemas.microsoft.com/office/drawing/2014/main" id="{676A71F8-9B02-4AB4-B246-C2801D76AFC0}"/>
              </a:ext>
            </a:extLst>
          </p:cNvPr>
          <p:cNvSpPr txBox="1">
            <a:spLocks noChangeArrowheads="1"/>
          </p:cNvSpPr>
          <p:nvPr/>
        </p:nvSpPr>
        <p:spPr bwMode="auto">
          <a:xfrm>
            <a:off x="1920875" y="2573338"/>
            <a:ext cx="6224588" cy="389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4625" indent="-174625">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Cultural Change</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Meeting Formality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Dress code, address and tradition</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“Don’t make waves”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Enamored with the past, paralyzed to deal with the future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Cash rich &amp; Financial Statements look good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Externalizes the problem, wishes the external environment would become favorable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Buys new products, ideas or companies versus “self’ innovation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880644"/>
                                        </p:tgtEl>
                                        <p:attrNameLst>
                                          <p:attrName>style.visibility</p:attrName>
                                        </p:attrNameLst>
                                      </p:cBhvr>
                                      <p:to>
                                        <p:strVal val="visible"/>
                                      </p:to>
                                    </p:set>
                                    <p:animEffect transition="in" filter="wipe(left)">
                                      <p:cBhvr>
                                        <p:cTn id="7" dur="500"/>
                                        <p:tgtEl>
                                          <p:spTgt spid="880644"/>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80645"/>
                                        </p:tgtEl>
                                        <p:attrNameLst>
                                          <p:attrName>style.visibility</p:attrName>
                                        </p:attrNameLst>
                                      </p:cBhvr>
                                      <p:to>
                                        <p:strVal val="visible"/>
                                      </p:to>
                                    </p:set>
                                    <p:animEffect transition="in" filter="fade">
                                      <p:cBhvr>
                                        <p:cTn id="11" dur="500"/>
                                        <p:tgtEl>
                                          <p:spTgt spid="88064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80647"/>
                                        </p:tgtEl>
                                        <p:attrNameLst>
                                          <p:attrName>style.visibility</p:attrName>
                                        </p:attrNameLst>
                                      </p:cBhvr>
                                      <p:to>
                                        <p:strVal val="visible"/>
                                      </p:to>
                                    </p:set>
                                    <p:animEffect transition="in" filter="fade">
                                      <p:cBhvr>
                                        <p:cTn id="14" dur="500"/>
                                        <p:tgtEl>
                                          <p:spTgt spid="88064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repeatCount="3000" fill="hold" grpId="0" nodeType="clickEffect">
                                  <p:stCondLst>
                                    <p:cond delay="0"/>
                                  </p:stCondLst>
                                  <p:childTnLst>
                                    <p:set>
                                      <p:cBhvr>
                                        <p:cTn id="18" dur="1" fill="hold">
                                          <p:stCondLst>
                                            <p:cond delay="0"/>
                                          </p:stCondLst>
                                        </p:cTn>
                                        <p:tgtEl>
                                          <p:spTgt spid="880646"/>
                                        </p:tgtEl>
                                        <p:attrNameLst>
                                          <p:attrName>style.visibility</p:attrName>
                                        </p:attrNameLst>
                                      </p:cBhvr>
                                      <p:to>
                                        <p:strVal val="visible"/>
                                      </p:to>
                                    </p:set>
                                    <p:animEffect transition="in" filter="fade">
                                      <p:cBhvr>
                                        <p:cTn id="19" dur="1000"/>
                                        <p:tgtEl>
                                          <p:spTgt spid="88064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80648"/>
                                        </p:tgtEl>
                                        <p:attrNameLst>
                                          <p:attrName>style.visibility</p:attrName>
                                        </p:attrNameLst>
                                      </p:cBhvr>
                                      <p:to>
                                        <p:strVal val="visible"/>
                                      </p:to>
                                    </p:set>
                                    <p:animEffect transition="in" filter="fade">
                                      <p:cBhvr>
                                        <p:cTn id="22" dur="2000"/>
                                        <p:tgtEl>
                                          <p:spTgt spid="88064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88064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880649">
                                            <p:txEl>
                                              <p:pRg st="0" end="0"/>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8064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880649">
                                            <p:txEl>
                                              <p:pRg st="1" end="1"/>
                                            </p:txEl>
                                          </p:spTgt>
                                        </p:tgtEl>
                                        <p:attrNameLst>
                                          <p:attrName>ppt_c</p:attrName>
                                        </p:attrNameLst>
                                      </p:cBhvr>
                                      <p:to>
                                        <a:schemeClr val="folHlink"/>
                                      </p:to>
                                    </p:animClr>
                                  </p:sub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88064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880649">
                                            <p:txEl>
                                              <p:pRg st="2" end="2"/>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880649">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880649">
                                            <p:txEl>
                                              <p:pRg st="3" end="3"/>
                                            </p:txEl>
                                          </p:spTgt>
                                        </p:tgtEl>
                                        <p:attrNameLst>
                                          <p:attrName>ppt_c</p:attrName>
                                        </p:attrNameLst>
                                      </p:cBhvr>
                                      <p:to>
                                        <a:schemeClr val="folHlink"/>
                                      </p:to>
                                    </p:animClr>
                                  </p:sub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880649">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880649">
                                            <p:txEl>
                                              <p:pRg st="4" end="4"/>
                                            </p:txEl>
                                          </p:spTgt>
                                        </p:tgtEl>
                                        <p:attrNameLst>
                                          <p:attrName>ppt_c</p:attrName>
                                        </p:attrNameLst>
                                      </p:cBhvr>
                                      <p:to>
                                        <a:schemeClr val="folHlink"/>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880649">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880649">
                                            <p:txEl>
                                              <p:pRg st="5" end="5"/>
                                            </p:txEl>
                                          </p:spTgt>
                                        </p:tgtEl>
                                        <p:attrNameLst>
                                          <p:attrName>ppt_c</p:attrName>
                                        </p:attrNameLst>
                                      </p:cBhvr>
                                      <p:to>
                                        <a:schemeClr val="folHlink"/>
                                      </p:to>
                                    </p:animClr>
                                  </p:sub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880649">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880649">
                                            <p:txEl>
                                              <p:pRg st="7" end="7"/>
                                            </p:txEl>
                                          </p:spTgt>
                                        </p:tgtEl>
                                        <p:attrNameLst>
                                          <p:attrName>ppt_c</p:attrName>
                                        </p:attrNameLst>
                                      </p:cBhvr>
                                      <p:to>
                                        <a:schemeClr val="folHlink"/>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880649">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880649">
                                            <p:txEl>
                                              <p:pRg st="6" end="6"/>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45" grpId="0" animBg="1"/>
      <p:bldP spid="880646" grpId="0" animBg="1"/>
      <p:bldP spid="880647" grpId="0"/>
      <p:bldP spid="88064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D1E7FEB-CF38-45F9-B5E4-E14BE7DE75E9}"/>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3987" name="Freeform 3">
            <a:extLst>
              <a:ext uri="{FF2B5EF4-FFF2-40B4-BE49-F238E27FC236}">
                <a16:creationId xmlns:a16="http://schemas.microsoft.com/office/drawing/2014/main" id="{3971DE25-CD41-44F5-A2F4-CD3B3DB18CB7}"/>
              </a:ext>
            </a:extLst>
          </p:cNvPr>
          <p:cNvSpPr>
            <a:spLocks/>
          </p:cNvSpPr>
          <p:nvPr/>
        </p:nvSpPr>
        <p:spPr bwMode="auto">
          <a:xfrm>
            <a:off x="5591176" y="1843088"/>
            <a:ext cx="2049463" cy="1587500"/>
          </a:xfrm>
          <a:custGeom>
            <a:avLst/>
            <a:gdLst>
              <a:gd name="T0" fmla="*/ 0 w 1291"/>
              <a:gd name="T1" fmla="*/ 2147483646 h 1000"/>
              <a:gd name="T2" fmla="*/ 2147483646 w 1291"/>
              <a:gd name="T3" fmla="*/ 2147483646 h 1000"/>
              <a:gd name="T4" fmla="*/ 2147483646 w 1291"/>
              <a:gd name="T5" fmla="*/ 2147483646 h 1000"/>
              <a:gd name="T6" fmla="*/ 2147483646 w 1291"/>
              <a:gd name="T7" fmla="*/ 2147483646 h 1000"/>
              <a:gd name="T8" fmla="*/ 2147483646 w 1291"/>
              <a:gd name="T9" fmla="*/ 2147483646 h 1000"/>
              <a:gd name="T10" fmla="*/ 2147483646 w 1291"/>
              <a:gd name="T11" fmla="*/ 2147483646 h 1000"/>
              <a:gd name="T12" fmla="*/ 0 60000 65536"/>
              <a:gd name="T13" fmla="*/ 0 60000 65536"/>
              <a:gd name="T14" fmla="*/ 0 60000 65536"/>
              <a:gd name="T15" fmla="*/ 0 60000 65536"/>
              <a:gd name="T16" fmla="*/ 0 60000 65536"/>
              <a:gd name="T17" fmla="*/ 0 60000 65536"/>
              <a:gd name="T18" fmla="*/ 0 w 1291"/>
              <a:gd name="T19" fmla="*/ 0 h 1000"/>
              <a:gd name="T20" fmla="*/ 1291 w 1291"/>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291" h="1000">
                <a:moveTo>
                  <a:pt x="0" y="187"/>
                </a:moveTo>
                <a:cubicBezTo>
                  <a:pt x="38" y="161"/>
                  <a:pt x="150" y="55"/>
                  <a:pt x="230" y="31"/>
                </a:cubicBezTo>
                <a:cubicBezTo>
                  <a:pt x="310" y="7"/>
                  <a:pt x="390" y="0"/>
                  <a:pt x="479" y="42"/>
                </a:cubicBezTo>
                <a:cubicBezTo>
                  <a:pt x="568" y="84"/>
                  <a:pt x="674" y="186"/>
                  <a:pt x="765" y="283"/>
                </a:cubicBezTo>
                <a:cubicBezTo>
                  <a:pt x="856" y="380"/>
                  <a:pt x="935" y="507"/>
                  <a:pt x="1023" y="626"/>
                </a:cubicBezTo>
                <a:cubicBezTo>
                  <a:pt x="1111" y="745"/>
                  <a:pt x="1246" y="938"/>
                  <a:pt x="1291" y="1000"/>
                </a:cubicBezTo>
              </a:path>
            </a:pathLst>
          </a:custGeom>
          <a:noFill/>
          <a:ln w="508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988" name="AutoShape 4">
            <a:extLst>
              <a:ext uri="{FF2B5EF4-FFF2-40B4-BE49-F238E27FC236}">
                <a16:creationId xmlns:a16="http://schemas.microsoft.com/office/drawing/2014/main" id="{FCD5F7DB-61ED-4180-8D86-9E4576C49004}"/>
              </a:ext>
            </a:extLst>
          </p:cNvPr>
          <p:cNvSpPr>
            <a:spLocks noChangeArrowheads="1"/>
          </p:cNvSpPr>
          <p:nvPr/>
        </p:nvSpPr>
        <p:spPr bwMode="auto">
          <a:xfrm>
            <a:off x="6075363" y="1773238"/>
            <a:ext cx="150812" cy="152400"/>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3989" name="Text Box 5">
            <a:extLst>
              <a:ext uri="{FF2B5EF4-FFF2-40B4-BE49-F238E27FC236}">
                <a16:creationId xmlns:a16="http://schemas.microsoft.com/office/drawing/2014/main" id="{50D1783E-81F4-4056-8D88-0EE5252483F0}"/>
              </a:ext>
            </a:extLst>
          </p:cNvPr>
          <p:cNvSpPr txBox="1">
            <a:spLocks noChangeArrowheads="1"/>
          </p:cNvSpPr>
          <p:nvPr/>
        </p:nvSpPr>
        <p:spPr bwMode="auto">
          <a:xfrm>
            <a:off x="5564189" y="1228726"/>
            <a:ext cx="1062037"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Stable</a:t>
            </a:r>
          </a:p>
        </p:txBody>
      </p:sp>
      <p:sp>
        <p:nvSpPr>
          <p:cNvPr id="553990" name="Text Box 6">
            <a:extLst>
              <a:ext uri="{FF2B5EF4-FFF2-40B4-BE49-F238E27FC236}">
                <a16:creationId xmlns:a16="http://schemas.microsoft.com/office/drawing/2014/main" id="{A5FEEF9E-ACA7-429C-9AB8-24626939E3CC}"/>
              </a:ext>
            </a:extLst>
          </p:cNvPr>
          <p:cNvSpPr txBox="1">
            <a:spLocks noChangeArrowheads="1"/>
          </p:cNvSpPr>
          <p:nvPr/>
        </p:nvSpPr>
        <p:spPr bwMode="auto">
          <a:xfrm>
            <a:off x="7081838" y="2227263"/>
            <a:ext cx="1670050" cy="366712"/>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Aristocracy</a:t>
            </a:r>
          </a:p>
        </p:txBody>
      </p:sp>
      <p:sp>
        <p:nvSpPr>
          <p:cNvPr id="553991" name="AutoShape 7">
            <a:extLst>
              <a:ext uri="{FF2B5EF4-FFF2-40B4-BE49-F238E27FC236}">
                <a16:creationId xmlns:a16="http://schemas.microsoft.com/office/drawing/2014/main" id="{3FAC1E13-E0F5-41A2-A769-C2440CD70D4C}"/>
              </a:ext>
            </a:extLst>
          </p:cNvPr>
          <p:cNvSpPr>
            <a:spLocks noChangeArrowheads="1"/>
          </p:cNvSpPr>
          <p:nvPr/>
        </p:nvSpPr>
        <p:spPr bwMode="auto">
          <a:xfrm>
            <a:off x="6854826" y="2366963"/>
            <a:ext cx="150813" cy="152400"/>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3992" name="AutoShape 8">
            <a:extLst>
              <a:ext uri="{FF2B5EF4-FFF2-40B4-BE49-F238E27FC236}">
                <a16:creationId xmlns:a16="http://schemas.microsoft.com/office/drawing/2014/main" id="{3FEA1834-EF3B-4C2D-8C36-0AB89973D4D0}"/>
              </a:ext>
            </a:extLst>
          </p:cNvPr>
          <p:cNvSpPr>
            <a:spLocks noChangeArrowheads="1"/>
          </p:cNvSpPr>
          <p:nvPr/>
        </p:nvSpPr>
        <p:spPr bwMode="auto">
          <a:xfrm>
            <a:off x="7289801" y="2962275"/>
            <a:ext cx="150813"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3993" name="Text Box 9">
            <a:extLst>
              <a:ext uri="{FF2B5EF4-FFF2-40B4-BE49-F238E27FC236}">
                <a16:creationId xmlns:a16="http://schemas.microsoft.com/office/drawing/2014/main" id="{0B147116-25A2-49B8-8F37-4E55106ECAFF}"/>
              </a:ext>
            </a:extLst>
          </p:cNvPr>
          <p:cNvSpPr txBox="1">
            <a:spLocks noChangeArrowheads="1"/>
          </p:cNvSpPr>
          <p:nvPr/>
        </p:nvSpPr>
        <p:spPr bwMode="auto">
          <a:xfrm>
            <a:off x="7537450" y="2822576"/>
            <a:ext cx="2266950" cy="779463"/>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Witch Hunt</a:t>
            </a:r>
          </a:p>
          <a:p>
            <a:pP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Early Bureaucracy</a:t>
            </a:r>
          </a:p>
        </p:txBody>
      </p:sp>
      <p:sp>
        <p:nvSpPr>
          <p:cNvPr id="553994" name="Text Box 10">
            <a:extLst>
              <a:ext uri="{FF2B5EF4-FFF2-40B4-BE49-F238E27FC236}">
                <a16:creationId xmlns:a16="http://schemas.microsoft.com/office/drawing/2014/main" id="{9891F23F-50BA-49B8-A709-80375BE878A2}"/>
              </a:ext>
            </a:extLst>
          </p:cNvPr>
          <p:cNvSpPr txBox="1">
            <a:spLocks noChangeArrowheads="1"/>
          </p:cNvSpPr>
          <p:nvPr/>
        </p:nvSpPr>
        <p:spPr bwMode="auto">
          <a:xfrm>
            <a:off x="2452688" y="3352800"/>
            <a:ext cx="5160962" cy="289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4625" indent="-174625">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Emphasis on </a:t>
            </a:r>
            <a:r>
              <a:rPr lang="en-US" altLang="en-US" sz="1800" u="sng">
                <a:latin typeface="Tahoma" panose="020B0604030504040204" pitchFamily="34" charset="0"/>
              </a:rPr>
              <a:t>Who</a:t>
            </a:r>
            <a:r>
              <a:rPr lang="en-US" altLang="en-US" sz="1800">
                <a:latin typeface="Tahoma" panose="020B0604030504040204" pitchFamily="34" charset="0"/>
              </a:rPr>
              <a:t> caused the problem rather than on solving the problem - as if solving the “</a:t>
            </a:r>
            <a:r>
              <a:rPr lang="en-US" altLang="en-US" sz="1800" u="sng">
                <a:latin typeface="Tahoma" panose="020B0604030504040204" pitchFamily="34" charset="0"/>
              </a:rPr>
              <a:t>who</a:t>
            </a:r>
            <a:r>
              <a:rPr lang="en-US" altLang="en-US" sz="1800">
                <a:latin typeface="Tahoma" panose="020B0604030504040204" pitchFamily="34" charset="0"/>
              </a:rPr>
              <a:t>” solves the “</a:t>
            </a:r>
            <a:r>
              <a:rPr lang="en-US" altLang="en-US" sz="1800" u="sng">
                <a:latin typeface="Tahoma" panose="020B0604030504040204" pitchFamily="34" charset="0"/>
              </a:rPr>
              <a:t>what</a:t>
            </a:r>
            <a:r>
              <a:rPr lang="en-US" altLang="en-US" sz="1800">
                <a:latin typeface="Tahoma" panose="020B0604030504040204" pitchFamily="34" charset="0"/>
              </a:rPr>
              <a:t>”</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Conflict &amp; paranoia (backstabbing and infighting)</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Focus on internal turf wars, where the external customer becomes a nuisance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Internal conflicts hampers alignment to markets</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53987"/>
                                        </p:tgtEl>
                                        <p:attrNameLst>
                                          <p:attrName>style.visibility</p:attrName>
                                        </p:attrNameLst>
                                      </p:cBhvr>
                                      <p:to>
                                        <p:strVal val="visible"/>
                                      </p:to>
                                    </p:set>
                                    <p:animEffect transition="in" filter="wipe(left)">
                                      <p:cBhvr>
                                        <p:cTn id="7" dur="500"/>
                                        <p:tgtEl>
                                          <p:spTgt spid="55398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53988"/>
                                        </p:tgtEl>
                                        <p:attrNameLst>
                                          <p:attrName>style.visibility</p:attrName>
                                        </p:attrNameLst>
                                      </p:cBhvr>
                                      <p:to>
                                        <p:strVal val="visible"/>
                                      </p:to>
                                    </p:set>
                                    <p:animEffect transition="in" filter="fade">
                                      <p:cBhvr>
                                        <p:cTn id="10" dur="500"/>
                                        <p:tgtEl>
                                          <p:spTgt spid="55398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53989"/>
                                        </p:tgtEl>
                                        <p:attrNameLst>
                                          <p:attrName>style.visibility</p:attrName>
                                        </p:attrNameLst>
                                      </p:cBhvr>
                                      <p:to>
                                        <p:strVal val="visible"/>
                                      </p:to>
                                    </p:set>
                                    <p:animEffect transition="in" filter="fade">
                                      <p:cBhvr>
                                        <p:cTn id="13" dur="500"/>
                                        <p:tgtEl>
                                          <p:spTgt spid="55398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53991"/>
                                        </p:tgtEl>
                                        <p:attrNameLst>
                                          <p:attrName>style.visibility</p:attrName>
                                        </p:attrNameLst>
                                      </p:cBhvr>
                                      <p:to>
                                        <p:strVal val="visible"/>
                                      </p:to>
                                    </p:set>
                                    <p:animEffect transition="in" filter="fade">
                                      <p:cBhvr>
                                        <p:cTn id="16" dur="500"/>
                                        <p:tgtEl>
                                          <p:spTgt spid="55399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53990"/>
                                        </p:tgtEl>
                                        <p:attrNameLst>
                                          <p:attrName>style.visibility</p:attrName>
                                        </p:attrNameLst>
                                      </p:cBhvr>
                                      <p:to>
                                        <p:strVal val="visible"/>
                                      </p:to>
                                    </p:set>
                                    <p:animEffect transition="in" filter="fade">
                                      <p:cBhvr>
                                        <p:cTn id="19" dur="500"/>
                                        <p:tgtEl>
                                          <p:spTgt spid="55399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repeatCount="3000" fill="hold" grpId="0" nodeType="clickEffect">
                                  <p:stCondLst>
                                    <p:cond delay="0"/>
                                  </p:stCondLst>
                                  <p:childTnLst>
                                    <p:set>
                                      <p:cBhvr>
                                        <p:cTn id="23" dur="1" fill="hold">
                                          <p:stCondLst>
                                            <p:cond delay="0"/>
                                          </p:stCondLst>
                                        </p:cTn>
                                        <p:tgtEl>
                                          <p:spTgt spid="553992"/>
                                        </p:tgtEl>
                                        <p:attrNameLst>
                                          <p:attrName>style.visibility</p:attrName>
                                        </p:attrNameLst>
                                      </p:cBhvr>
                                      <p:to>
                                        <p:strVal val="visible"/>
                                      </p:to>
                                    </p:set>
                                    <p:animEffect transition="in" filter="fade">
                                      <p:cBhvr>
                                        <p:cTn id="24" dur="1000"/>
                                        <p:tgtEl>
                                          <p:spTgt spid="55399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53993"/>
                                        </p:tgtEl>
                                        <p:attrNameLst>
                                          <p:attrName>style.visibility</p:attrName>
                                        </p:attrNameLst>
                                      </p:cBhvr>
                                      <p:to>
                                        <p:strVal val="visible"/>
                                      </p:to>
                                    </p:set>
                                    <p:animEffect transition="in" filter="fade">
                                      <p:cBhvr>
                                        <p:cTn id="27" dur="2000"/>
                                        <p:tgtEl>
                                          <p:spTgt spid="55399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553994">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53994">
                                            <p:txEl>
                                              <p:pRg st="0" end="0"/>
                                            </p:txEl>
                                          </p:spTgt>
                                        </p:tgtEl>
                                        <p:attrNameLst>
                                          <p:attrName>ppt_c</p:attrName>
                                        </p:attrNameLst>
                                      </p:cBhvr>
                                      <p:to>
                                        <a:schemeClr val="folHlink"/>
                                      </p:to>
                                    </p:animClr>
                                  </p:sub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553994">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53994">
                                            <p:txEl>
                                              <p:pRg st="1" end="1"/>
                                            </p:txEl>
                                          </p:spTgt>
                                        </p:tgtEl>
                                        <p:attrNameLst>
                                          <p:attrName>ppt_c</p:attrName>
                                        </p:attrNameLst>
                                      </p:cBhvr>
                                      <p:to>
                                        <a:schemeClr val="folHlink"/>
                                      </p:to>
                                    </p:animClr>
                                  </p:sub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553994">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53994">
                                            <p:txEl>
                                              <p:pRg st="2" end="2"/>
                                            </p:txEl>
                                          </p:spTgt>
                                        </p:tgtEl>
                                        <p:attrNameLst>
                                          <p:attrName>ppt_c</p:attrName>
                                        </p:attrNameLst>
                                      </p:cBhvr>
                                      <p:to>
                                        <a:schemeClr val="folHlink"/>
                                      </p:to>
                                    </p:animClr>
                                  </p:sub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5539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8" grpId="0" animBg="1"/>
      <p:bldP spid="553989" grpId="0"/>
      <p:bldP spid="553990" grpId="0"/>
      <p:bldP spid="553991" grpId="0" animBg="1"/>
      <p:bldP spid="553992" grpId="0" animBg="1"/>
      <p:bldP spid="55399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4D787E75-7E40-4283-8AFC-CCFE19A368C9}"/>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48131" name="Rectangle 3">
            <a:extLst>
              <a:ext uri="{FF2B5EF4-FFF2-40B4-BE49-F238E27FC236}">
                <a16:creationId xmlns:a16="http://schemas.microsoft.com/office/drawing/2014/main" id="{3416ACB6-6F7F-4F3D-A22C-292BA0BAF728}"/>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5012" name="Freeform 4">
            <a:extLst>
              <a:ext uri="{FF2B5EF4-FFF2-40B4-BE49-F238E27FC236}">
                <a16:creationId xmlns:a16="http://schemas.microsoft.com/office/drawing/2014/main" id="{483F2C75-EAF3-4FFB-ABEC-FB725A429F39}"/>
              </a:ext>
            </a:extLst>
          </p:cNvPr>
          <p:cNvSpPr>
            <a:spLocks/>
          </p:cNvSpPr>
          <p:nvPr/>
        </p:nvSpPr>
        <p:spPr bwMode="auto">
          <a:xfrm>
            <a:off x="5591175" y="1843088"/>
            <a:ext cx="3036888" cy="3028950"/>
          </a:xfrm>
          <a:custGeom>
            <a:avLst/>
            <a:gdLst>
              <a:gd name="T0" fmla="*/ 0 w 1913"/>
              <a:gd name="T1" fmla="*/ 2147483646 h 1908"/>
              <a:gd name="T2" fmla="*/ 2147483646 w 1913"/>
              <a:gd name="T3" fmla="*/ 2147483646 h 1908"/>
              <a:gd name="T4" fmla="*/ 2147483646 w 1913"/>
              <a:gd name="T5" fmla="*/ 2147483646 h 1908"/>
              <a:gd name="T6" fmla="*/ 2147483646 w 1913"/>
              <a:gd name="T7" fmla="*/ 2147483646 h 1908"/>
              <a:gd name="T8" fmla="*/ 2147483646 w 1913"/>
              <a:gd name="T9" fmla="*/ 2147483646 h 1908"/>
              <a:gd name="T10" fmla="*/ 2147483646 w 1913"/>
              <a:gd name="T11" fmla="*/ 2147483646 h 1908"/>
              <a:gd name="T12" fmla="*/ 2147483646 w 1913"/>
              <a:gd name="T13" fmla="*/ 2147483646 h 1908"/>
              <a:gd name="T14" fmla="*/ 2147483646 w 1913"/>
              <a:gd name="T15" fmla="*/ 2147483646 h 1908"/>
              <a:gd name="T16" fmla="*/ 2147483646 w 1913"/>
              <a:gd name="T17" fmla="*/ 2147483646 h 1908"/>
              <a:gd name="T18" fmla="*/ 2147483646 w 1913"/>
              <a:gd name="T19" fmla="*/ 2147483646 h 1908"/>
              <a:gd name="T20" fmla="*/ 2147483646 w 1913"/>
              <a:gd name="T21" fmla="*/ 2147483646 h 1908"/>
              <a:gd name="T22" fmla="*/ 2147483646 w 1913"/>
              <a:gd name="T23" fmla="*/ 2147483646 h 190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13"/>
              <a:gd name="T37" fmla="*/ 0 h 1908"/>
              <a:gd name="T38" fmla="*/ 1913 w 1913"/>
              <a:gd name="T39" fmla="*/ 1908 h 190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13" h="1908">
                <a:moveTo>
                  <a:pt x="0" y="187"/>
                </a:moveTo>
                <a:cubicBezTo>
                  <a:pt x="38" y="161"/>
                  <a:pt x="150" y="55"/>
                  <a:pt x="230" y="31"/>
                </a:cubicBezTo>
                <a:cubicBezTo>
                  <a:pt x="310" y="7"/>
                  <a:pt x="390" y="0"/>
                  <a:pt x="479" y="42"/>
                </a:cubicBezTo>
                <a:cubicBezTo>
                  <a:pt x="568" y="84"/>
                  <a:pt x="674" y="186"/>
                  <a:pt x="765" y="283"/>
                </a:cubicBezTo>
                <a:cubicBezTo>
                  <a:pt x="856" y="380"/>
                  <a:pt x="935" y="507"/>
                  <a:pt x="1023" y="626"/>
                </a:cubicBezTo>
                <a:cubicBezTo>
                  <a:pt x="1111" y="745"/>
                  <a:pt x="1226" y="936"/>
                  <a:pt x="1291" y="1000"/>
                </a:cubicBezTo>
                <a:cubicBezTo>
                  <a:pt x="1356" y="1064"/>
                  <a:pt x="1407" y="993"/>
                  <a:pt x="1411" y="1012"/>
                </a:cubicBezTo>
                <a:cubicBezTo>
                  <a:pt x="1415" y="1031"/>
                  <a:pt x="1308" y="1105"/>
                  <a:pt x="1315" y="1116"/>
                </a:cubicBezTo>
                <a:cubicBezTo>
                  <a:pt x="1322" y="1127"/>
                  <a:pt x="1437" y="1067"/>
                  <a:pt x="1455" y="1080"/>
                </a:cubicBezTo>
                <a:cubicBezTo>
                  <a:pt x="1473" y="1093"/>
                  <a:pt x="1382" y="1105"/>
                  <a:pt x="1423" y="1196"/>
                </a:cubicBezTo>
                <a:cubicBezTo>
                  <a:pt x="1464" y="1287"/>
                  <a:pt x="1621" y="1505"/>
                  <a:pt x="1703" y="1624"/>
                </a:cubicBezTo>
                <a:cubicBezTo>
                  <a:pt x="1785" y="1743"/>
                  <a:pt x="1878" y="1861"/>
                  <a:pt x="1913" y="1908"/>
                </a:cubicBezTo>
              </a:path>
            </a:pathLst>
          </a:custGeom>
          <a:noFill/>
          <a:ln w="508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5013" name="AutoShape 5">
            <a:extLst>
              <a:ext uri="{FF2B5EF4-FFF2-40B4-BE49-F238E27FC236}">
                <a16:creationId xmlns:a16="http://schemas.microsoft.com/office/drawing/2014/main" id="{555551A0-697A-45D5-9C0E-909C64627266}"/>
              </a:ext>
            </a:extLst>
          </p:cNvPr>
          <p:cNvSpPr>
            <a:spLocks noChangeArrowheads="1"/>
          </p:cNvSpPr>
          <p:nvPr/>
        </p:nvSpPr>
        <p:spPr bwMode="auto">
          <a:xfrm>
            <a:off x="6075363" y="1773238"/>
            <a:ext cx="150812" cy="152400"/>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5014" name="Text Box 6">
            <a:extLst>
              <a:ext uri="{FF2B5EF4-FFF2-40B4-BE49-F238E27FC236}">
                <a16:creationId xmlns:a16="http://schemas.microsoft.com/office/drawing/2014/main" id="{EA281E23-FFE4-4CEE-A974-433A91FDC2CF}"/>
              </a:ext>
            </a:extLst>
          </p:cNvPr>
          <p:cNvSpPr txBox="1">
            <a:spLocks noChangeArrowheads="1"/>
          </p:cNvSpPr>
          <p:nvPr/>
        </p:nvSpPr>
        <p:spPr bwMode="auto">
          <a:xfrm>
            <a:off x="5564189" y="1228726"/>
            <a:ext cx="1062037"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Stable</a:t>
            </a:r>
          </a:p>
        </p:txBody>
      </p:sp>
      <p:sp>
        <p:nvSpPr>
          <p:cNvPr id="555015" name="Text Box 7">
            <a:extLst>
              <a:ext uri="{FF2B5EF4-FFF2-40B4-BE49-F238E27FC236}">
                <a16:creationId xmlns:a16="http://schemas.microsoft.com/office/drawing/2014/main" id="{3ED5F298-5C0C-428B-B4F8-75991A31A6DC}"/>
              </a:ext>
            </a:extLst>
          </p:cNvPr>
          <p:cNvSpPr txBox="1">
            <a:spLocks noChangeArrowheads="1"/>
          </p:cNvSpPr>
          <p:nvPr/>
        </p:nvSpPr>
        <p:spPr bwMode="auto">
          <a:xfrm>
            <a:off x="7081838" y="2227263"/>
            <a:ext cx="1670050" cy="366712"/>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Aristocracy</a:t>
            </a:r>
          </a:p>
        </p:txBody>
      </p:sp>
      <p:sp>
        <p:nvSpPr>
          <p:cNvPr id="555016" name="AutoShape 8">
            <a:extLst>
              <a:ext uri="{FF2B5EF4-FFF2-40B4-BE49-F238E27FC236}">
                <a16:creationId xmlns:a16="http://schemas.microsoft.com/office/drawing/2014/main" id="{BB8FE1A3-3D07-4B55-B644-ECDDE73C5935}"/>
              </a:ext>
            </a:extLst>
          </p:cNvPr>
          <p:cNvSpPr>
            <a:spLocks noChangeArrowheads="1"/>
          </p:cNvSpPr>
          <p:nvPr/>
        </p:nvSpPr>
        <p:spPr bwMode="auto">
          <a:xfrm>
            <a:off x="6854826" y="2366963"/>
            <a:ext cx="150813" cy="152400"/>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5017" name="Text Box 9">
            <a:extLst>
              <a:ext uri="{FF2B5EF4-FFF2-40B4-BE49-F238E27FC236}">
                <a16:creationId xmlns:a16="http://schemas.microsoft.com/office/drawing/2014/main" id="{A5C62717-EFB6-435F-B878-09EBC8AD1017}"/>
              </a:ext>
            </a:extLst>
          </p:cNvPr>
          <p:cNvSpPr txBox="1">
            <a:spLocks noChangeArrowheads="1"/>
          </p:cNvSpPr>
          <p:nvPr/>
        </p:nvSpPr>
        <p:spPr bwMode="auto">
          <a:xfrm>
            <a:off x="7537450" y="2822576"/>
            <a:ext cx="2533650" cy="366713"/>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Early Bureaucracy</a:t>
            </a:r>
          </a:p>
        </p:txBody>
      </p:sp>
      <p:sp>
        <p:nvSpPr>
          <p:cNvPr id="555018" name="AutoShape 10">
            <a:extLst>
              <a:ext uri="{FF2B5EF4-FFF2-40B4-BE49-F238E27FC236}">
                <a16:creationId xmlns:a16="http://schemas.microsoft.com/office/drawing/2014/main" id="{581A70CC-41F6-4F59-9E73-7E735F042DE8}"/>
              </a:ext>
            </a:extLst>
          </p:cNvPr>
          <p:cNvSpPr>
            <a:spLocks noChangeArrowheads="1"/>
          </p:cNvSpPr>
          <p:nvPr/>
        </p:nvSpPr>
        <p:spPr bwMode="auto">
          <a:xfrm>
            <a:off x="7281863" y="2973388"/>
            <a:ext cx="150812" cy="152400"/>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5019" name="AutoShape 11">
            <a:extLst>
              <a:ext uri="{FF2B5EF4-FFF2-40B4-BE49-F238E27FC236}">
                <a16:creationId xmlns:a16="http://schemas.microsoft.com/office/drawing/2014/main" id="{9C4B3F51-0317-4818-BF9F-971B3B20A699}"/>
              </a:ext>
            </a:extLst>
          </p:cNvPr>
          <p:cNvSpPr>
            <a:spLocks noChangeArrowheads="1"/>
          </p:cNvSpPr>
          <p:nvPr/>
        </p:nvSpPr>
        <p:spPr bwMode="auto">
          <a:xfrm>
            <a:off x="8145463" y="4251325"/>
            <a:ext cx="150812"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5020" name="Text Box 12">
            <a:extLst>
              <a:ext uri="{FF2B5EF4-FFF2-40B4-BE49-F238E27FC236}">
                <a16:creationId xmlns:a16="http://schemas.microsoft.com/office/drawing/2014/main" id="{EEF3CEC9-0922-4D3C-A618-B3ADCBDE0676}"/>
              </a:ext>
            </a:extLst>
          </p:cNvPr>
          <p:cNvSpPr txBox="1">
            <a:spLocks noChangeArrowheads="1"/>
          </p:cNvSpPr>
          <p:nvPr/>
        </p:nvSpPr>
        <p:spPr bwMode="auto">
          <a:xfrm>
            <a:off x="8448675" y="4111626"/>
            <a:ext cx="1670050" cy="366713"/>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Bureaucracy</a:t>
            </a:r>
          </a:p>
        </p:txBody>
      </p:sp>
      <p:sp>
        <p:nvSpPr>
          <p:cNvPr id="555021" name="Text Box 13">
            <a:extLst>
              <a:ext uri="{FF2B5EF4-FFF2-40B4-BE49-F238E27FC236}">
                <a16:creationId xmlns:a16="http://schemas.microsoft.com/office/drawing/2014/main" id="{E06583C2-DFA6-408A-B165-17AEA2C9D384}"/>
              </a:ext>
            </a:extLst>
          </p:cNvPr>
          <p:cNvSpPr txBox="1">
            <a:spLocks noChangeArrowheads="1"/>
          </p:cNvSpPr>
          <p:nvPr/>
        </p:nvSpPr>
        <p:spPr bwMode="auto">
          <a:xfrm>
            <a:off x="1920876" y="3702051"/>
            <a:ext cx="5692775"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4625" indent="-174625">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Many systems but little functional orientation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Internal Focus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“It’s the policy”... without having a functional explanation for it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Lots of policies, but no “real” control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Customers have difficulty being heard or served and need bypass systems to deal with the Bureaucracy</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55012"/>
                                        </p:tgtEl>
                                        <p:attrNameLst>
                                          <p:attrName>style.visibility</p:attrName>
                                        </p:attrNameLst>
                                      </p:cBhvr>
                                      <p:to>
                                        <p:strVal val="visible"/>
                                      </p:to>
                                    </p:set>
                                    <p:animEffect transition="in" filter="wipe(left)">
                                      <p:cBhvr>
                                        <p:cTn id="7" dur="500"/>
                                        <p:tgtEl>
                                          <p:spTgt spid="5550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55013"/>
                                        </p:tgtEl>
                                        <p:attrNameLst>
                                          <p:attrName>style.visibility</p:attrName>
                                        </p:attrNameLst>
                                      </p:cBhvr>
                                      <p:to>
                                        <p:strVal val="visible"/>
                                      </p:to>
                                    </p:set>
                                    <p:animEffect transition="in" filter="fade">
                                      <p:cBhvr>
                                        <p:cTn id="10" dur="500"/>
                                        <p:tgtEl>
                                          <p:spTgt spid="5550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55014"/>
                                        </p:tgtEl>
                                        <p:attrNameLst>
                                          <p:attrName>style.visibility</p:attrName>
                                        </p:attrNameLst>
                                      </p:cBhvr>
                                      <p:to>
                                        <p:strVal val="visible"/>
                                      </p:to>
                                    </p:set>
                                    <p:animEffect transition="in" filter="fade">
                                      <p:cBhvr>
                                        <p:cTn id="13" dur="500"/>
                                        <p:tgtEl>
                                          <p:spTgt spid="5550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55016"/>
                                        </p:tgtEl>
                                        <p:attrNameLst>
                                          <p:attrName>style.visibility</p:attrName>
                                        </p:attrNameLst>
                                      </p:cBhvr>
                                      <p:to>
                                        <p:strVal val="visible"/>
                                      </p:to>
                                    </p:set>
                                    <p:animEffect transition="in" filter="fade">
                                      <p:cBhvr>
                                        <p:cTn id="16" dur="500"/>
                                        <p:tgtEl>
                                          <p:spTgt spid="5550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55015"/>
                                        </p:tgtEl>
                                        <p:attrNameLst>
                                          <p:attrName>style.visibility</p:attrName>
                                        </p:attrNameLst>
                                      </p:cBhvr>
                                      <p:to>
                                        <p:strVal val="visible"/>
                                      </p:to>
                                    </p:set>
                                    <p:animEffect transition="in" filter="fade">
                                      <p:cBhvr>
                                        <p:cTn id="19" dur="500"/>
                                        <p:tgtEl>
                                          <p:spTgt spid="5550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55017"/>
                                        </p:tgtEl>
                                        <p:attrNameLst>
                                          <p:attrName>style.visibility</p:attrName>
                                        </p:attrNameLst>
                                      </p:cBhvr>
                                      <p:to>
                                        <p:strVal val="visible"/>
                                      </p:to>
                                    </p:set>
                                    <p:animEffect transition="in" filter="fade">
                                      <p:cBhvr>
                                        <p:cTn id="22" dur="500"/>
                                        <p:tgtEl>
                                          <p:spTgt spid="5550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55018"/>
                                        </p:tgtEl>
                                        <p:attrNameLst>
                                          <p:attrName>style.visibility</p:attrName>
                                        </p:attrNameLst>
                                      </p:cBhvr>
                                      <p:to>
                                        <p:strVal val="visible"/>
                                      </p:to>
                                    </p:set>
                                    <p:animEffect transition="in" filter="fade">
                                      <p:cBhvr>
                                        <p:cTn id="25" dur="500"/>
                                        <p:tgtEl>
                                          <p:spTgt spid="55501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repeatCount="3000" fill="hold" grpId="0" nodeType="clickEffect">
                                  <p:stCondLst>
                                    <p:cond delay="0"/>
                                  </p:stCondLst>
                                  <p:childTnLst>
                                    <p:set>
                                      <p:cBhvr>
                                        <p:cTn id="29" dur="1" fill="hold">
                                          <p:stCondLst>
                                            <p:cond delay="0"/>
                                          </p:stCondLst>
                                        </p:cTn>
                                        <p:tgtEl>
                                          <p:spTgt spid="555019"/>
                                        </p:tgtEl>
                                        <p:attrNameLst>
                                          <p:attrName>style.visibility</p:attrName>
                                        </p:attrNameLst>
                                      </p:cBhvr>
                                      <p:to>
                                        <p:strVal val="visible"/>
                                      </p:to>
                                    </p:set>
                                    <p:animEffect transition="in" filter="fade">
                                      <p:cBhvr>
                                        <p:cTn id="30" dur="1000"/>
                                        <p:tgtEl>
                                          <p:spTgt spid="5550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55020"/>
                                        </p:tgtEl>
                                        <p:attrNameLst>
                                          <p:attrName>style.visibility</p:attrName>
                                        </p:attrNameLst>
                                      </p:cBhvr>
                                      <p:to>
                                        <p:strVal val="visible"/>
                                      </p:to>
                                    </p:set>
                                    <p:animEffect transition="in" filter="fade">
                                      <p:cBhvr>
                                        <p:cTn id="33" dur="2000"/>
                                        <p:tgtEl>
                                          <p:spTgt spid="55502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55502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55021">
                                            <p:txEl>
                                              <p:pRg st="0" end="0"/>
                                            </p:txEl>
                                          </p:spTgt>
                                        </p:tgtEl>
                                        <p:attrNameLst>
                                          <p:attrName>ppt_c</p:attrName>
                                        </p:attrNameLst>
                                      </p:cBhvr>
                                      <p:to>
                                        <a:schemeClr val="folHlink"/>
                                      </p:to>
                                    </p:animClr>
                                  </p:sub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55502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55021">
                                            <p:txEl>
                                              <p:pRg st="1" end="1"/>
                                            </p:txEl>
                                          </p:spTgt>
                                        </p:tgtEl>
                                        <p:attrNameLst>
                                          <p:attrName>ppt_c</p:attrName>
                                        </p:attrNameLst>
                                      </p:cBhvr>
                                      <p:to>
                                        <a:schemeClr val="folHlink"/>
                                      </p:to>
                                    </p:animClr>
                                  </p:sub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55502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55021">
                                            <p:txEl>
                                              <p:pRg st="2" end="2"/>
                                            </p:txEl>
                                          </p:spTgt>
                                        </p:tgtEl>
                                        <p:attrNameLst>
                                          <p:attrName>ppt_c</p:attrName>
                                        </p:attrNameLst>
                                      </p:cBhvr>
                                      <p:to>
                                        <a:schemeClr val="folHlink"/>
                                      </p:to>
                                    </p:animClr>
                                  </p:sub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0"/>
                                          </p:stCondLst>
                                        </p:cTn>
                                        <p:tgtEl>
                                          <p:spTgt spid="555021">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555021">
                                            <p:txEl>
                                              <p:pRg st="3" end="3"/>
                                            </p:txEl>
                                          </p:spTgt>
                                        </p:tgtEl>
                                        <p:attrNameLst>
                                          <p:attrName>ppt_c</p:attrName>
                                        </p:attrNameLst>
                                      </p:cBhvr>
                                      <p:to>
                                        <a:schemeClr val="folHlink"/>
                                      </p:to>
                                    </p:animClr>
                                  </p:sub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nodeType="clickEffect">
                                  <p:stCondLst>
                                    <p:cond delay="0"/>
                                  </p:stCondLst>
                                  <p:childTnLst>
                                    <p:set>
                                      <p:cBhvr>
                                        <p:cTn id="53" dur="1" fill="hold">
                                          <p:stCondLst>
                                            <p:cond delay="0"/>
                                          </p:stCondLst>
                                        </p:cTn>
                                        <p:tgtEl>
                                          <p:spTgt spid="5550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3" grpId="0" animBg="1"/>
      <p:bldP spid="555014" grpId="0"/>
      <p:bldP spid="555015" grpId="0"/>
      <p:bldP spid="555016" grpId="0" animBg="1"/>
      <p:bldP spid="555017" grpId="0"/>
      <p:bldP spid="555018" grpId="0" animBg="1"/>
      <p:bldP spid="555019" grpId="0" animBg="1"/>
      <p:bldP spid="5550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0E104CC-2AAA-4A89-BE7E-3853FD3A7602}"/>
              </a:ext>
            </a:extLst>
          </p:cNvPr>
          <p:cNvSpPr>
            <a:spLocks noChangeArrowheads="1"/>
          </p:cNvSpPr>
          <p:nvPr/>
        </p:nvSpPr>
        <p:spPr bwMode="auto">
          <a:xfrm>
            <a:off x="2286000" y="5867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0179" name="Rectangle 3">
            <a:extLst>
              <a:ext uri="{FF2B5EF4-FFF2-40B4-BE49-F238E27FC236}">
                <a16:creationId xmlns:a16="http://schemas.microsoft.com/office/drawing/2014/main" id="{3D27BA8C-30BF-4783-92A0-45D55E9BAA4E}"/>
              </a:ext>
            </a:extLst>
          </p:cNvPr>
          <p:cNvSpPr>
            <a:spLocks noChangeArrowheads="1"/>
          </p:cNvSpPr>
          <p:nvPr/>
        </p:nvSpPr>
        <p:spPr bwMode="auto">
          <a:xfrm>
            <a:off x="4724400" y="586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6036" name="Freeform 4">
            <a:extLst>
              <a:ext uri="{FF2B5EF4-FFF2-40B4-BE49-F238E27FC236}">
                <a16:creationId xmlns:a16="http://schemas.microsoft.com/office/drawing/2014/main" id="{A2586990-FE6E-4C5A-A739-7E9CBE9545ED}"/>
              </a:ext>
            </a:extLst>
          </p:cNvPr>
          <p:cNvSpPr>
            <a:spLocks/>
          </p:cNvSpPr>
          <p:nvPr/>
        </p:nvSpPr>
        <p:spPr bwMode="auto">
          <a:xfrm>
            <a:off x="5591176" y="1843088"/>
            <a:ext cx="4175125" cy="3943350"/>
          </a:xfrm>
          <a:custGeom>
            <a:avLst/>
            <a:gdLst>
              <a:gd name="T0" fmla="*/ 0 w 2630"/>
              <a:gd name="T1" fmla="*/ 2147483646 h 2484"/>
              <a:gd name="T2" fmla="*/ 2147483646 w 2630"/>
              <a:gd name="T3" fmla="*/ 2147483646 h 2484"/>
              <a:gd name="T4" fmla="*/ 2147483646 w 2630"/>
              <a:gd name="T5" fmla="*/ 2147483646 h 2484"/>
              <a:gd name="T6" fmla="*/ 2147483646 w 2630"/>
              <a:gd name="T7" fmla="*/ 2147483646 h 2484"/>
              <a:gd name="T8" fmla="*/ 2147483646 w 2630"/>
              <a:gd name="T9" fmla="*/ 2147483646 h 2484"/>
              <a:gd name="T10" fmla="*/ 2147483646 w 2630"/>
              <a:gd name="T11" fmla="*/ 2147483646 h 2484"/>
              <a:gd name="T12" fmla="*/ 2147483646 w 2630"/>
              <a:gd name="T13" fmla="*/ 2147483646 h 2484"/>
              <a:gd name="T14" fmla="*/ 2147483646 w 2630"/>
              <a:gd name="T15" fmla="*/ 2147483646 h 2484"/>
              <a:gd name="T16" fmla="*/ 2147483646 w 2630"/>
              <a:gd name="T17" fmla="*/ 2147483646 h 2484"/>
              <a:gd name="T18" fmla="*/ 2147483646 w 2630"/>
              <a:gd name="T19" fmla="*/ 2147483646 h 2484"/>
              <a:gd name="T20" fmla="*/ 2147483646 w 2630"/>
              <a:gd name="T21" fmla="*/ 2147483646 h 2484"/>
              <a:gd name="T22" fmla="*/ 2147483646 w 2630"/>
              <a:gd name="T23" fmla="*/ 2147483646 h 2484"/>
              <a:gd name="T24" fmla="*/ 2147483646 w 2630"/>
              <a:gd name="T25" fmla="*/ 2147483646 h 2484"/>
              <a:gd name="T26" fmla="*/ 2147483646 w 2630"/>
              <a:gd name="T27" fmla="*/ 2147483646 h 2484"/>
              <a:gd name="T28" fmla="*/ 2147483646 w 2630"/>
              <a:gd name="T29" fmla="*/ 2147483646 h 248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30"/>
              <a:gd name="T46" fmla="*/ 0 h 2484"/>
              <a:gd name="T47" fmla="*/ 2630 w 2630"/>
              <a:gd name="T48" fmla="*/ 2484 h 248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30" h="2484">
                <a:moveTo>
                  <a:pt x="0" y="187"/>
                </a:moveTo>
                <a:cubicBezTo>
                  <a:pt x="38" y="161"/>
                  <a:pt x="150" y="55"/>
                  <a:pt x="230" y="31"/>
                </a:cubicBezTo>
                <a:cubicBezTo>
                  <a:pt x="310" y="7"/>
                  <a:pt x="390" y="0"/>
                  <a:pt x="479" y="42"/>
                </a:cubicBezTo>
                <a:cubicBezTo>
                  <a:pt x="568" y="84"/>
                  <a:pt x="674" y="186"/>
                  <a:pt x="765" y="283"/>
                </a:cubicBezTo>
                <a:cubicBezTo>
                  <a:pt x="856" y="380"/>
                  <a:pt x="935" y="507"/>
                  <a:pt x="1023" y="626"/>
                </a:cubicBezTo>
                <a:cubicBezTo>
                  <a:pt x="1111" y="745"/>
                  <a:pt x="1226" y="936"/>
                  <a:pt x="1291" y="1000"/>
                </a:cubicBezTo>
                <a:cubicBezTo>
                  <a:pt x="1356" y="1064"/>
                  <a:pt x="1407" y="993"/>
                  <a:pt x="1411" y="1012"/>
                </a:cubicBezTo>
                <a:cubicBezTo>
                  <a:pt x="1415" y="1031"/>
                  <a:pt x="1308" y="1105"/>
                  <a:pt x="1315" y="1116"/>
                </a:cubicBezTo>
                <a:cubicBezTo>
                  <a:pt x="1322" y="1127"/>
                  <a:pt x="1437" y="1067"/>
                  <a:pt x="1455" y="1080"/>
                </a:cubicBezTo>
                <a:cubicBezTo>
                  <a:pt x="1473" y="1093"/>
                  <a:pt x="1382" y="1105"/>
                  <a:pt x="1423" y="1196"/>
                </a:cubicBezTo>
                <a:cubicBezTo>
                  <a:pt x="1464" y="1287"/>
                  <a:pt x="1621" y="1505"/>
                  <a:pt x="1703" y="1624"/>
                </a:cubicBezTo>
                <a:cubicBezTo>
                  <a:pt x="1785" y="1743"/>
                  <a:pt x="1822" y="1797"/>
                  <a:pt x="1913" y="1908"/>
                </a:cubicBezTo>
                <a:cubicBezTo>
                  <a:pt x="2004" y="2019"/>
                  <a:pt x="2153" y="2200"/>
                  <a:pt x="2247" y="2291"/>
                </a:cubicBezTo>
                <a:cubicBezTo>
                  <a:pt x="2341" y="2382"/>
                  <a:pt x="2415" y="2420"/>
                  <a:pt x="2479" y="2452"/>
                </a:cubicBezTo>
                <a:cubicBezTo>
                  <a:pt x="2543" y="2484"/>
                  <a:pt x="2599" y="2476"/>
                  <a:pt x="2630" y="2482"/>
                </a:cubicBezTo>
              </a:path>
            </a:pathLst>
          </a:custGeom>
          <a:noFill/>
          <a:ln w="508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6037" name="AutoShape 5">
            <a:extLst>
              <a:ext uri="{FF2B5EF4-FFF2-40B4-BE49-F238E27FC236}">
                <a16:creationId xmlns:a16="http://schemas.microsoft.com/office/drawing/2014/main" id="{DBF2942D-7221-4E10-80BF-AE4336185DE4}"/>
              </a:ext>
            </a:extLst>
          </p:cNvPr>
          <p:cNvSpPr>
            <a:spLocks noChangeArrowheads="1"/>
          </p:cNvSpPr>
          <p:nvPr/>
        </p:nvSpPr>
        <p:spPr bwMode="auto">
          <a:xfrm>
            <a:off x="6075363" y="1773238"/>
            <a:ext cx="150812" cy="152400"/>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6038" name="Text Box 6">
            <a:extLst>
              <a:ext uri="{FF2B5EF4-FFF2-40B4-BE49-F238E27FC236}">
                <a16:creationId xmlns:a16="http://schemas.microsoft.com/office/drawing/2014/main" id="{A8428744-E360-49ED-917E-221FAF20D7D0}"/>
              </a:ext>
            </a:extLst>
          </p:cNvPr>
          <p:cNvSpPr txBox="1">
            <a:spLocks noChangeArrowheads="1"/>
          </p:cNvSpPr>
          <p:nvPr/>
        </p:nvSpPr>
        <p:spPr bwMode="auto">
          <a:xfrm>
            <a:off x="5564189" y="1228726"/>
            <a:ext cx="1062037" cy="366713"/>
          </a:xfrm>
          <a:prstGeom prst="rect">
            <a:avLst/>
          </a:prstGeom>
          <a:noFill/>
          <a:ln w="12700">
            <a:noFill/>
            <a:miter lim="800000"/>
            <a:headEnd type="none" w="sm" len="sm"/>
            <a:tailEnd type="none" w="sm" len="sm"/>
          </a:ln>
          <a:effectLst/>
        </p:spPr>
        <p:txBody>
          <a:bodyPr>
            <a:spAutoFit/>
          </a:bodyPr>
          <a:lstStyle/>
          <a:p>
            <a:pPr algn="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Stable</a:t>
            </a:r>
          </a:p>
        </p:txBody>
      </p:sp>
      <p:sp>
        <p:nvSpPr>
          <p:cNvPr id="556039" name="Text Box 7">
            <a:extLst>
              <a:ext uri="{FF2B5EF4-FFF2-40B4-BE49-F238E27FC236}">
                <a16:creationId xmlns:a16="http://schemas.microsoft.com/office/drawing/2014/main" id="{4ACDF771-7BAA-4679-A93D-7058A835215D}"/>
              </a:ext>
            </a:extLst>
          </p:cNvPr>
          <p:cNvSpPr txBox="1">
            <a:spLocks noChangeArrowheads="1"/>
          </p:cNvSpPr>
          <p:nvPr/>
        </p:nvSpPr>
        <p:spPr bwMode="auto">
          <a:xfrm>
            <a:off x="7081838" y="2227263"/>
            <a:ext cx="1670050" cy="366712"/>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Aristocracy</a:t>
            </a:r>
          </a:p>
        </p:txBody>
      </p:sp>
      <p:sp>
        <p:nvSpPr>
          <p:cNvPr id="556040" name="AutoShape 8">
            <a:extLst>
              <a:ext uri="{FF2B5EF4-FFF2-40B4-BE49-F238E27FC236}">
                <a16:creationId xmlns:a16="http://schemas.microsoft.com/office/drawing/2014/main" id="{2A2DE826-B7AE-42AD-949C-228C89C66C4F}"/>
              </a:ext>
            </a:extLst>
          </p:cNvPr>
          <p:cNvSpPr>
            <a:spLocks noChangeArrowheads="1"/>
          </p:cNvSpPr>
          <p:nvPr/>
        </p:nvSpPr>
        <p:spPr bwMode="auto">
          <a:xfrm>
            <a:off x="6854826" y="2366963"/>
            <a:ext cx="150813" cy="152400"/>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6041" name="Text Box 9">
            <a:extLst>
              <a:ext uri="{FF2B5EF4-FFF2-40B4-BE49-F238E27FC236}">
                <a16:creationId xmlns:a16="http://schemas.microsoft.com/office/drawing/2014/main" id="{90712264-8613-422A-9933-EE9C20783EEC}"/>
              </a:ext>
            </a:extLst>
          </p:cNvPr>
          <p:cNvSpPr txBox="1">
            <a:spLocks noChangeArrowheads="1"/>
          </p:cNvSpPr>
          <p:nvPr/>
        </p:nvSpPr>
        <p:spPr bwMode="auto">
          <a:xfrm>
            <a:off x="7537450" y="2822576"/>
            <a:ext cx="2622550" cy="366713"/>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Early Bureaucracy</a:t>
            </a:r>
          </a:p>
        </p:txBody>
      </p:sp>
      <p:sp>
        <p:nvSpPr>
          <p:cNvPr id="556042" name="AutoShape 10">
            <a:extLst>
              <a:ext uri="{FF2B5EF4-FFF2-40B4-BE49-F238E27FC236}">
                <a16:creationId xmlns:a16="http://schemas.microsoft.com/office/drawing/2014/main" id="{54FFDF0B-6674-4ABE-8871-7D5608D3BF22}"/>
              </a:ext>
            </a:extLst>
          </p:cNvPr>
          <p:cNvSpPr>
            <a:spLocks noChangeArrowheads="1"/>
          </p:cNvSpPr>
          <p:nvPr/>
        </p:nvSpPr>
        <p:spPr bwMode="auto">
          <a:xfrm>
            <a:off x="7281863" y="2973388"/>
            <a:ext cx="150812" cy="152400"/>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6043" name="Text Box 11">
            <a:extLst>
              <a:ext uri="{FF2B5EF4-FFF2-40B4-BE49-F238E27FC236}">
                <a16:creationId xmlns:a16="http://schemas.microsoft.com/office/drawing/2014/main" id="{94BD00B8-F181-4C42-9448-3D62B0F46464}"/>
              </a:ext>
            </a:extLst>
          </p:cNvPr>
          <p:cNvSpPr txBox="1">
            <a:spLocks noChangeArrowheads="1"/>
          </p:cNvSpPr>
          <p:nvPr/>
        </p:nvSpPr>
        <p:spPr bwMode="auto">
          <a:xfrm>
            <a:off x="8448675" y="4111626"/>
            <a:ext cx="1670050" cy="366713"/>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solidFill>
                  <a:schemeClr val="folHlink"/>
                </a:solidFill>
                <a:effectLst>
                  <a:outerShdw blurRad="38100" dist="38100" dir="2700000" algn="tl">
                    <a:srgbClr val="C0C0C0"/>
                  </a:outerShdw>
                </a:effectLst>
                <a:latin typeface="Tahoma" pitchFamily="-111" charset="0"/>
                <a:ea typeface="ＭＳ Ｐゴシック" pitchFamily="-111" charset="-128"/>
              </a:rPr>
              <a:t>Bureaucracy</a:t>
            </a:r>
          </a:p>
        </p:txBody>
      </p:sp>
      <p:sp>
        <p:nvSpPr>
          <p:cNvPr id="556044" name="AutoShape 12">
            <a:extLst>
              <a:ext uri="{FF2B5EF4-FFF2-40B4-BE49-F238E27FC236}">
                <a16:creationId xmlns:a16="http://schemas.microsoft.com/office/drawing/2014/main" id="{BA9E8A1B-CA39-4F45-82FE-F34E495FC968}"/>
              </a:ext>
            </a:extLst>
          </p:cNvPr>
          <p:cNvSpPr>
            <a:spLocks noChangeArrowheads="1"/>
          </p:cNvSpPr>
          <p:nvPr/>
        </p:nvSpPr>
        <p:spPr bwMode="auto">
          <a:xfrm>
            <a:off x="8145463" y="4264025"/>
            <a:ext cx="150812" cy="152400"/>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6045" name="AutoShape 13">
            <a:extLst>
              <a:ext uri="{FF2B5EF4-FFF2-40B4-BE49-F238E27FC236}">
                <a16:creationId xmlns:a16="http://schemas.microsoft.com/office/drawing/2014/main" id="{1EBC9947-4D4D-474B-A9B6-0A49F91B286E}"/>
              </a:ext>
            </a:extLst>
          </p:cNvPr>
          <p:cNvSpPr>
            <a:spLocks noChangeArrowheads="1"/>
          </p:cNvSpPr>
          <p:nvPr/>
        </p:nvSpPr>
        <p:spPr bwMode="auto">
          <a:xfrm>
            <a:off x="9663113" y="5705475"/>
            <a:ext cx="150812" cy="152400"/>
          </a:xfrm>
          <a:prstGeom prst="octagon">
            <a:avLst>
              <a:gd name="adj" fmla="val 29287"/>
            </a:avLst>
          </a:prstGeom>
          <a:solidFill>
            <a:schemeClr val="accent1"/>
          </a:solidFill>
          <a:ln w="12700">
            <a:solidFill>
              <a:schemeClr val="tx1"/>
            </a:solidFill>
            <a:miter lim="800000"/>
            <a:headEnd type="none" w="sm" len="sm"/>
            <a:tailEnd type="none" w="sm" len="sm"/>
          </a:ln>
        </p:spPr>
        <p:txBody>
          <a:bodyPr wrap="none" anchor="ct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endParaRPr lang="lt-LT" altLang="en-US"/>
          </a:p>
        </p:txBody>
      </p:sp>
      <p:sp>
        <p:nvSpPr>
          <p:cNvPr id="556046" name="Text Box 14">
            <a:extLst>
              <a:ext uri="{FF2B5EF4-FFF2-40B4-BE49-F238E27FC236}">
                <a16:creationId xmlns:a16="http://schemas.microsoft.com/office/drawing/2014/main" id="{D6739F5E-CA1D-4DA3-AEFE-B0ACEAB94D2E}"/>
              </a:ext>
            </a:extLst>
          </p:cNvPr>
          <p:cNvSpPr txBox="1">
            <a:spLocks noChangeArrowheads="1"/>
          </p:cNvSpPr>
          <p:nvPr/>
        </p:nvSpPr>
        <p:spPr bwMode="auto">
          <a:xfrm>
            <a:off x="9283700" y="5262563"/>
            <a:ext cx="1138238" cy="366712"/>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a:effectLst>
                  <a:outerShdw blurRad="38100" dist="38100" dir="2700000" algn="tl">
                    <a:srgbClr val="C0C0C0"/>
                  </a:outerShdw>
                </a:effectLst>
                <a:latin typeface="Tahoma" pitchFamily="-111" charset="0"/>
                <a:ea typeface="ＭＳ Ｐゴシック" pitchFamily="-111" charset="-128"/>
              </a:rPr>
              <a:t>Death</a:t>
            </a:r>
          </a:p>
        </p:txBody>
      </p:sp>
      <p:sp>
        <p:nvSpPr>
          <p:cNvPr id="556047" name="Text Box 15">
            <a:extLst>
              <a:ext uri="{FF2B5EF4-FFF2-40B4-BE49-F238E27FC236}">
                <a16:creationId xmlns:a16="http://schemas.microsoft.com/office/drawing/2014/main" id="{0E604160-A6F3-4E06-8DC7-AD24B8199AA4}"/>
              </a:ext>
            </a:extLst>
          </p:cNvPr>
          <p:cNvSpPr txBox="1">
            <a:spLocks noChangeArrowheads="1"/>
          </p:cNvSpPr>
          <p:nvPr/>
        </p:nvSpPr>
        <p:spPr bwMode="auto">
          <a:xfrm>
            <a:off x="2605088" y="4052888"/>
            <a:ext cx="5237162"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4625" indent="-174625">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No one committed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Death may take years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Unwilling to eliminate jobs </a:t>
            </a:r>
            <a:br>
              <a:rPr lang="en-US" altLang="en-US" sz="1800">
                <a:latin typeface="Tahoma" panose="020B0604030504040204" pitchFamily="34" charset="0"/>
              </a:rPr>
            </a:br>
            <a:r>
              <a:rPr lang="en-US" altLang="en-US" sz="1800">
                <a:latin typeface="Tahoma" panose="020B0604030504040204" pitchFamily="34" charset="0"/>
              </a:rPr>
              <a:t>(government agencies, union pressures) </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Very expensive artificial prolonging of life</a:t>
            </a:r>
          </a:p>
          <a:p>
            <a:pPr>
              <a:spcBef>
                <a:spcPct val="20000"/>
              </a:spcBef>
              <a:spcAft>
                <a:spcPct val="20000"/>
              </a:spcAft>
              <a:buClr>
                <a:srgbClr val="009900"/>
              </a:buClr>
              <a:buFont typeface="Wingdings" panose="05000000000000000000" pitchFamily="2" charset="2"/>
              <a:buChar char="§"/>
            </a:pPr>
            <a:r>
              <a:rPr lang="en-US" altLang="en-US" sz="1800">
                <a:latin typeface="Tahoma" panose="020B0604030504040204" pitchFamily="34" charset="0"/>
              </a:rPr>
              <a:t>“If - only” mentality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56036"/>
                                        </p:tgtEl>
                                        <p:attrNameLst>
                                          <p:attrName>style.visibility</p:attrName>
                                        </p:attrNameLst>
                                      </p:cBhvr>
                                      <p:to>
                                        <p:strVal val="visible"/>
                                      </p:to>
                                    </p:set>
                                    <p:animEffect transition="in" filter="wipe(left)">
                                      <p:cBhvr>
                                        <p:cTn id="7" dur="500"/>
                                        <p:tgtEl>
                                          <p:spTgt spid="5560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56037"/>
                                        </p:tgtEl>
                                        <p:attrNameLst>
                                          <p:attrName>style.visibility</p:attrName>
                                        </p:attrNameLst>
                                      </p:cBhvr>
                                      <p:to>
                                        <p:strVal val="visible"/>
                                      </p:to>
                                    </p:set>
                                    <p:animEffect transition="in" filter="fade">
                                      <p:cBhvr>
                                        <p:cTn id="10" dur="500"/>
                                        <p:tgtEl>
                                          <p:spTgt spid="55603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56038"/>
                                        </p:tgtEl>
                                        <p:attrNameLst>
                                          <p:attrName>style.visibility</p:attrName>
                                        </p:attrNameLst>
                                      </p:cBhvr>
                                      <p:to>
                                        <p:strVal val="visible"/>
                                      </p:to>
                                    </p:set>
                                    <p:animEffect transition="in" filter="fade">
                                      <p:cBhvr>
                                        <p:cTn id="13" dur="500"/>
                                        <p:tgtEl>
                                          <p:spTgt spid="5560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56040"/>
                                        </p:tgtEl>
                                        <p:attrNameLst>
                                          <p:attrName>style.visibility</p:attrName>
                                        </p:attrNameLst>
                                      </p:cBhvr>
                                      <p:to>
                                        <p:strVal val="visible"/>
                                      </p:to>
                                    </p:set>
                                    <p:animEffect transition="in" filter="fade">
                                      <p:cBhvr>
                                        <p:cTn id="16" dur="500"/>
                                        <p:tgtEl>
                                          <p:spTgt spid="55604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56039"/>
                                        </p:tgtEl>
                                        <p:attrNameLst>
                                          <p:attrName>style.visibility</p:attrName>
                                        </p:attrNameLst>
                                      </p:cBhvr>
                                      <p:to>
                                        <p:strVal val="visible"/>
                                      </p:to>
                                    </p:set>
                                    <p:animEffect transition="in" filter="fade">
                                      <p:cBhvr>
                                        <p:cTn id="19" dur="500"/>
                                        <p:tgtEl>
                                          <p:spTgt spid="55603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56041"/>
                                        </p:tgtEl>
                                        <p:attrNameLst>
                                          <p:attrName>style.visibility</p:attrName>
                                        </p:attrNameLst>
                                      </p:cBhvr>
                                      <p:to>
                                        <p:strVal val="visible"/>
                                      </p:to>
                                    </p:set>
                                    <p:animEffect transition="in" filter="fade">
                                      <p:cBhvr>
                                        <p:cTn id="22" dur="500"/>
                                        <p:tgtEl>
                                          <p:spTgt spid="55604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56042"/>
                                        </p:tgtEl>
                                        <p:attrNameLst>
                                          <p:attrName>style.visibility</p:attrName>
                                        </p:attrNameLst>
                                      </p:cBhvr>
                                      <p:to>
                                        <p:strVal val="visible"/>
                                      </p:to>
                                    </p:set>
                                    <p:animEffect transition="in" filter="fade">
                                      <p:cBhvr>
                                        <p:cTn id="25" dur="500"/>
                                        <p:tgtEl>
                                          <p:spTgt spid="55604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56043"/>
                                        </p:tgtEl>
                                        <p:attrNameLst>
                                          <p:attrName>style.visibility</p:attrName>
                                        </p:attrNameLst>
                                      </p:cBhvr>
                                      <p:to>
                                        <p:strVal val="visible"/>
                                      </p:to>
                                    </p:set>
                                    <p:animEffect transition="in" filter="fade">
                                      <p:cBhvr>
                                        <p:cTn id="28" dur="500"/>
                                        <p:tgtEl>
                                          <p:spTgt spid="55604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56044"/>
                                        </p:tgtEl>
                                        <p:attrNameLst>
                                          <p:attrName>style.visibility</p:attrName>
                                        </p:attrNameLst>
                                      </p:cBhvr>
                                      <p:to>
                                        <p:strVal val="visible"/>
                                      </p:to>
                                    </p:set>
                                    <p:animEffect transition="in" filter="fade">
                                      <p:cBhvr>
                                        <p:cTn id="31" dur="500"/>
                                        <p:tgtEl>
                                          <p:spTgt spid="55604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repeatCount="3000" fill="hold" grpId="0" nodeType="clickEffect">
                                  <p:stCondLst>
                                    <p:cond delay="0"/>
                                  </p:stCondLst>
                                  <p:childTnLst>
                                    <p:set>
                                      <p:cBhvr>
                                        <p:cTn id="35" dur="1" fill="hold">
                                          <p:stCondLst>
                                            <p:cond delay="0"/>
                                          </p:stCondLst>
                                        </p:cTn>
                                        <p:tgtEl>
                                          <p:spTgt spid="556045"/>
                                        </p:tgtEl>
                                        <p:attrNameLst>
                                          <p:attrName>style.visibility</p:attrName>
                                        </p:attrNameLst>
                                      </p:cBhvr>
                                      <p:to>
                                        <p:strVal val="visible"/>
                                      </p:to>
                                    </p:set>
                                    <p:animEffect transition="in" filter="fade">
                                      <p:cBhvr>
                                        <p:cTn id="36" dur="1000"/>
                                        <p:tgtEl>
                                          <p:spTgt spid="55604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56046"/>
                                        </p:tgtEl>
                                        <p:attrNameLst>
                                          <p:attrName>style.visibility</p:attrName>
                                        </p:attrNameLst>
                                      </p:cBhvr>
                                      <p:to>
                                        <p:strVal val="visible"/>
                                      </p:to>
                                    </p:set>
                                    <p:animEffect transition="in" filter="fade">
                                      <p:cBhvr>
                                        <p:cTn id="39" dur="2000"/>
                                        <p:tgtEl>
                                          <p:spTgt spid="55604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55604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56047">
                                            <p:txEl>
                                              <p:pRg st="0" end="0"/>
                                            </p:txEl>
                                          </p:spTgt>
                                        </p:tgtEl>
                                        <p:attrNameLst>
                                          <p:attrName>ppt_c</p:attrName>
                                        </p:attrNameLst>
                                      </p:cBhvr>
                                      <p:to>
                                        <a:schemeClr val="folHlink"/>
                                      </p:to>
                                    </p:animClr>
                                  </p:sub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55604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56047">
                                            <p:txEl>
                                              <p:pRg st="1" end="1"/>
                                            </p:txEl>
                                          </p:spTgt>
                                        </p:tgtEl>
                                        <p:attrNameLst>
                                          <p:attrName>ppt_c</p:attrName>
                                        </p:attrNameLst>
                                      </p:cBhvr>
                                      <p:to>
                                        <a:schemeClr val="folHlink"/>
                                      </p:to>
                                    </p:animClr>
                                  </p:sub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55604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56047">
                                            <p:txEl>
                                              <p:pRg st="2" end="2"/>
                                            </p:txEl>
                                          </p:spTgt>
                                        </p:tgtEl>
                                        <p:attrNameLst>
                                          <p:attrName>ppt_c</p:attrName>
                                        </p:attrNameLst>
                                      </p:cBhvr>
                                      <p:to>
                                        <a:schemeClr val="folHlink"/>
                                      </p:to>
                                    </p:animClr>
                                  </p:sub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55604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556047">
                                            <p:txEl>
                                              <p:pRg st="3" end="3"/>
                                            </p:txEl>
                                          </p:spTgt>
                                        </p:tgtEl>
                                        <p:attrNameLst>
                                          <p:attrName>ppt_c</p:attrName>
                                        </p:attrNameLst>
                                      </p:cBhvr>
                                      <p:to>
                                        <a:schemeClr val="folHlink"/>
                                      </p:to>
                                    </p:animClr>
                                  </p:sub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0"/>
                                          </p:stCondLst>
                                        </p:cTn>
                                        <p:tgtEl>
                                          <p:spTgt spid="5560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7" grpId="0" animBg="1"/>
      <p:bldP spid="556038" grpId="0"/>
      <p:bldP spid="556039" grpId="0"/>
      <p:bldP spid="556040" grpId="0" animBg="1"/>
      <p:bldP spid="556041" grpId="0"/>
      <p:bldP spid="556042" grpId="0" animBg="1"/>
      <p:bldP spid="556043" grpId="0"/>
      <p:bldP spid="556044" grpId="0" animBg="1"/>
      <p:bldP spid="556045" grpId="0" animBg="1"/>
      <p:bldP spid="55604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Text Box 2">
            <a:extLst>
              <a:ext uri="{FF2B5EF4-FFF2-40B4-BE49-F238E27FC236}">
                <a16:creationId xmlns:a16="http://schemas.microsoft.com/office/drawing/2014/main" id="{B5AECD96-B169-41B5-8F78-8D329F5543CE}"/>
              </a:ext>
            </a:extLst>
          </p:cNvPr>
          <p:cNvSpPr txBox="1">
            <a:spLocks noChangeArrowheads="1"/>
          </p:cNvSpPr>
          <p:nvPr/>
        </p:nvSpPr>
        <p:spPr bwMode="auto">
          <a:xfrm>
            <a:off x="2719761" y="207964"/>
            <a:ext cx="9144000" cy="579437"/>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3200">
                <a:effectLst>
                  <a:outerShdw blurRad="38100" dist="38100" dir="2700000" algn="tl">
                    <a:srgbClr val="C0C0C0"/>
                  </a:outerShdw>
                </a:effectLst>
                <a:latin typeface="Tahoma" pitchFamily="-111" charset="0"/>
                <a:ea typeface="ＭＳ Ｐゴシック" pitchFamily="-111" charset="-128"/>
              </a:rPr>
              <a:t>Lifecycle of an Organization</a:t>
            </a:r>
          </a:p>
        </p:txBody>
      </p:sp>
      <p:pic>
        <p:nvPicPr>
          <p:cNvPr id="52227" name="Picture 3" descr="LifeCycles_Contemporary">
            <a:extLst>
              <a:ext uri="{FF2B5EF4-FFF2-40B4-BE49-F238E27FC236}">
                <a16:creationId xmlns:a16="http://schemas.microsoft.com/office/drawing/2014/main" id="{10911BEF-EA71-4C53-9223-3AAE3BCB96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581151"/>
            <a:ext cx="6083300" cy="465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Text Box 2">
            <a:extLst>
              <a:ext uri="{FF2B5EF4-FFF2-40B4-BE49-F238E27FC236}">
                <a16:creationId xmlns:a16="http://schemas.microsoft.com/office/drawing/2014/main" id="{3106BEBF-2C56-4443-AEAC-87B1494694A0}"/>
              </a:ext>
            </a:extLst>
          </p:cNvPr>
          <p:cNvSpPr txBox="1">
            <a:spLocks noChangeArrowheads="1"/>
          </p:cNvSpPr>
          <p:nvPr/>
        </p:nvSpPr>
        <p:spPr bwMode="auto">
          <a:xfrm>
            <a:off x="2719749" y="207964"/>
            <a:ext cx="9144000" cy="579437"/>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3200" dirty="0">
                <a:effectLst>
                  <a:outerShdw blurRad="38100" dist="38100" dir="2700000" algn="tl">
                    <a:srgbClr val="C0C0C0"/>
                  </a:outerShdw>
                </a:effectLst>
                <a:latin typeface="Tahoma" pitchFamily="-111" charset="0"/>
                <a:ea typeface="ＭＳ Ｐゴシック" pitchFamily="-111" charset="-128"/>
              </a:rPr>
              <a:t>Lifecycle of an Organization</a:t>
            </a:r>
          </a:p>
        </p:txBody>
      </p:sp>
      <p:pic>
        <p:nvPicPr>
          <p:cNvPr id="54275" name="Picture 3" descr="LifeCycles_Contemporary">
            <a:extLst>
              <a:ext uri="{FF2B5EF4-FFF2-40B4-BE49-F238E27FC236}">
                <a16:creationId xmlns:a16="http://schemas.microsoft.com/office/drawing/2014/main" id="{B1DF8C7A-68B6-4D24-9C15-0DF14F3796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581151"/>
            <a:ext cx="6083300" cy="465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
            <a:extLst>
              <a:ext uri="{FF2B5EF4-FFF2-40B4-BE49-F238E27FC236}">
                <a16:creationId xmlns:a16="http://schemas.microsoft.com/office/drawing/2014/main" id="{40FC9B61-A201-4226-9E0E-EA2ECEF22CA3}"/>
              </a:ext>
            </a:extLst>
          </p:cNvPr>
          <p:cNvSpPr txBox="1">
            <a:spLocks noChangeArrowheads="1"/>
          </p:cNvSpPr>
          <p:nvPr/>
        </p:nvSpPr>
        <p:spPr bwMode="auto">
          <a:xfrm>
            <a:off x="2314575" y="5746751"/>
            <a:ext cx="6094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000">
                <a:solidFill>
                  <a:srgbClr val="FF0066"/>
                </a:solidFill>
                <a:latin typeface="Tahoma" panose="020B0604030504040204" pitchFamily="34" charset="0"/>
              </a:rPr>
              <a:t>PA</a:t>
            </a:r>
            <a:r>
              <a:rPr lang="en-US" altLang="en-US" sz="2400">
                <a:solidFill>
                  <a:srgbClr val="FF0066"/>
                </a:solidFill>
                <a:latin typeface="Tahoma" panose="020B0604030504040204" pitchFamily="34" charset="0"/>
              </a:rPr>
              <a:t>E</a:t>
            </a:r>
            <a:r>
              <a:rPr lang="en-US" altLang="en-US" sz="1000">
                <a:solidFill>
                  <a:srgbClr val="FF0066"/>
                </a:solidFill>
                <a:latin typeface="Tahoma" panose="020B0604030504040204" pitchFamily="34" charset="0"/>
              </a:rPr>
              <a:t>I</a:t>
            </a:r>
          </a:p>
        </p:txBody>
      </p:sp>
      <p:sp>
        <p:nvSpPr>
          <p:cNvPr id="5" name="Text Box 5">
            <a:extLst>
              <a:ext uri="{FF2B5EF4-FFF2-40B4-BE49-F238E27FC236}">
                <a16:creationId xmlns:a16="http://schemas.microsoft.com/office/drawing/2014/main" id="{5C3CB428-9275-49E0-9E46-06BEFAE74514}"/>
              </a:ext>
            </a:extLst>
          </p:cNvPr>
          <p:cNvSpPr txBox="1">
            <a:spLocks noChangeArrowheads="1"/>
          </p:cNvSpPr>
          <p:nvPr/>
        </p:nvSpPr>
        <p:spPr bwMode="auto">
          <a:xfrm>
            <a:off x="2517775" y="4718051"/>
            <a:ext cx="6158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2400">
                <a:solidFill>
                  <a:srgbClr val="FF0066"/>
                </a:solidFill>
                <a:latin typeface="Tahoma" panose="020B0604030504040204" pitchFamily="34" charset="0"/>
              </a:rPr>
              <a:t>P</a:t>
            </a:r>
            <a:r>
              <a:rPr lang="en-US" altLang="en-US" sz="1000">
                <a:solidFill>
                  <a:srgbClr val="FF0066"/>
                </a:solidFill>
                <a:latin typeface="Tahoma" panose="020B0604030504040204" pitchFamily="34" charset="0"/>
              </a:rPr>
              <a:t>AEI</a:t>
            </a:r>
          </a:p>
        </p:txBody>
      </p:sp>
      <p:sp>
        <p:nvSpPr>
          <p:cNvPr id="6" name="Text Box 6">
            <a:extLst>
              <a:ext uri="{FF2B5EF4-FFF2-40B4-BE49-F238E27FC236}">
                <a16:creationId xmlns:a16="http://schemas.microsoft.com/office/drawing/2014/main" id="{85E57286-7BF8-42DB-9B32-8281E5B22E3E}"/>
              </a:ext>
            </a:extLst>
          </p:cNvPr>
          <p:cNvSpPr txBox="1">
            <a:spLocks noChangeArrowheads="1"/>
          </p:cNvSpPr>
          <p:nvPr/>
        </p:nvSpPr>
        <p:spPr bwMode="auto">
          <a:xfrm>
            <a:off x="2749551" y="3978276"/>
            <a:ext cx="7264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2400">
                <a:solidFill>
                  <a:srgbClr val="FF0066"/>
                </a:solidFill>
                <a:latin typeface="Tahoma" panose="020B0604030504040204" pitchFamily="34" charset="0"/>
              </a:rPr>
              <a:t>P</a:t>
            </a:r>
            <a:r>
              <a:rPr lang="en-US" altLang="en-US" sz="1000">
                <a:solidFill>
                  <a:srgbClr val="FF0066"/>
                </a:solidFill>
                <a:latin typeface="Tahoma" panose="020B0604030504040204" pitchFamily="34" charset="0"/>
              </a:rPr>
              <a:t>A</a:t>
            </a:r>
            <a:r>
              <a:rPr lang="en-US" altLang="en-US" sz="2400">
                <a:solidFill>
                  <a:srgbClr val="FF0066"/>
                </a:solidFill>
                <a:latin typeface="Tahoma" panose="020B0604030504040204" pitchFamily="34" charset="0"/>
              </a:rPr>
              <a:t>E</a:t>
            </a:r>
            <a:r>
              <a:rPr lang="en-US" altLang="en-US" sz="1000">
                <a:solidFill>
                  <a:srgbClr val="FF0066"/>
                </a:solidFill>
                <a:latin typeface="Tahoma" panose="020B0604030504040204" pitchFamily="34" charset="0"/>
              </a:rPr>
              <a:t>I</a:t>
            </a:r>
          </a:p>
        </p:txBody>
      </p:sp>
      <p:sp>
        <p:nvSpPr>
          <p:cNvPr id="7" name="Text Box 7">
            <a:extLst>
              <a:ext uri="{FF2B5EF4-FFF2-40B4-BE49-F238E27FC236}">
                <a16:creationId xmlns:a16="http://schemas.microsoft.com/office/drawing/2014/main" id="{CAD11F57-0BC1-4784-8F5F-181EEA10F5D4}"/>
              </a:ext>
            </a:extLst>
          </p:cNvPr>
          <p:cNvSpPr txBox="1">
            <a:spLocks noChangeArrowheads="1"/>
          </p:cNvSpPr>
          <p:nvPr/>
        </p:nvSpPr>
        <p:spPr bwMode="auto">
          <a:xfrm>
            <a:off x="2771776" y="2822576"/>
            <a:ext cx="7809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600">
                <a:solidFill>
                  <a:srgbClr val="FF0066"/>
                </a:solidFill>
                <a:latin typeface="Tahoma" panose="020B0604030504040204" pitchFamily="34" charset="0"/>
              </a:rPr>
              <a:t>P</a:t>
            </a:r>
            <a:r>
              <a:rPr lang="en-US" altLang="en-US" sz="2400">
                <a:solidFill>
                  <a:srgbClr val="FF0066"/>
                </a:solidFill>
                <a:latin typeface="Tahoma" panose="020B0604030504040204" pitchFamily="34" charset="0"/>
              </a:rPr>
              <a:t>AE</a:t>
            </a:r>
            <a:r>
              <a:rPr lang="en-US" altLang="en-US" sz="1000">
                <a:solidFill>
                  <a:srgbClr val="FF0066"/>
                </a:solidFill>
                <a:latin typeface="Tahoma" panose="020B0604030504040204" pitchFamily="34" charset="0"/>
              </a:rPr>
              <a:t>I</a:t>
            </a:r>
          </a:p>
        </p:txBody>
      </p:sp>
      <p:sp>
        <p:nvSpPr>
          <p:cNvPr id="8" name="Text Box 8">
            <a:extLst>
              <a:ext uri="{FF2B5EF4-FFF2-40B4-BE49-F238E27FC236}">
                <a16:creationId xmlns:a16="http://schemas.microsoft.com/office/drawing/2014/main" id="{634CB676-5E69-4559-9C79-E8E4467B60A2}"/>
              </a:ext>
            </a:extLst>
          </p:cNvPr>
          <p:cNvSpPr txBox="1">
            <a:spLocks noChangeArrowheads="1"/>
          </p:cNvSpPr>
          <p:nvPr/>
        </p:nvSpPr>
        <p:spPr bwMode="auto">
          <a:xfrm>
            <a:off x="3587751" y="1833564"/>
            <a:ext cx="8851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2400">
                <a:solidFill>
                  <a:srgbClr val="FF0066"/>
                </a:solidFill>
                <a:latin typeface="Tahoma" panose="020B0604030504040204" pitchFamily="34" charset="0"/>
              </a:rPr>
              <a:t>PAE</a:t>
            </a:r>
            <a:r>
              <a:rPr lang="en-US" altLang="en-US" sz="1600">
                <a:solidFill>
                  <a:srgbClr val="FF0066"/>
                </a:solidFill>
                <a:latin typeface="Tahoma" panose="020B0604030504040204" pitchFamily="34" charset="0"/>
              </a:rPr>
              <a:t>I</a:t>
            </a:r>
          </a:p>
        </p:txBody>
      </p:sp>
      <p:sp>
        <p:nvSpPr>
          <p:cNvPr id="9" name="Text Box 9">
            <a:extLst>
              <a:ext uri="{FF2B5EF4-FFF2-40B4-BE49-F238E27FC236}">
                <a16:creationId xmlns:a16="http://schemas.microsoft.com/office/drawing/2014/main" id="{99E4822C-3313-41E2-90FF-17AB95844A04}"/>
              </a:ext>
            </a:extLst>
          </p:cNvPr>
          <p:cNvSpPr txBox="1">
            <a:spLocks noChangeArrowheads="1"/>
          </p:cNvSpPr>
          <p:nvPr/>
        </p:nvSpPr>
        <p:spPr bwMode="auto">
          <a:xfrm>
            <a:off x="6181726" y="1133476"/>
            <a:ext cx="8723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2400">
                <a:solidFill>
                  <a:srgbClr val="FF0066"/>
                </a:solidFill>
                <a:latin typeface="Tahoma" panose="020B0604030504040204" pitchFamily="34" charset="0"/>
              </a:rPr>
              <a:t>PA</a:t>
            </a:r>
            <a:r>
              <a:rPr lang="en-US" altLang="en-US" sz="1600">
                <a:solidFill>
                  <a:srgbClr val="FF0066"/>
                </a:solidFill>
                <a:latin typeface="Tahoma" panose="020B0604030504040204" pitchFamily="34" charset="0"/>
              </a:rPr>
              <a:t>E</a:t>
            </a:r>
            <a:r>
              <a:rPr lang="en-US" altLang="en-US" sz="2400">
                <a:solidFill>
                  <a:srgbClr val="FF0066"/>
                </a:solidFill>
                <a:latin typeface="Tahoma" panose="020B0604030504040204" pitchFamily="34" charset="0"/>
              </a:rPr>
              <a:t>I</a:t>
            </a:r>
          </a:p>
        </p:txBody>
      </p:sp>
      <p:sp>
        <p:nvSpPr>
          <p:cNvPr id="10" name="Text Box 10">
            <a:extLst>
              <a:ext uri="{FF2B5EF4-FFF2-40B4-BE49-F238E27FC236}">
                <a16:creationId xmlns:a16="http://schemas.microsoft.com/office/drawing/2014/main" id="{17AC798E-9947-4B13-8CE4-943EBB5824B4}"/>
              </a:ext>
            </a:extLst>
          </p:cNvPr>
          <p:cNvSpPr txBox="1">
            <a:spLocks noChangeArrowheads="1"/>
          </p:cNvSpPr>
          <p:nvPr/>
        </p:nvSpPr>
        <p:spPr bwMode="auto">
          <a:xfrm>
            <a:off x="8232775" y="2251076"/>
            <a:ext cx="10534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600">
                <a:solidFill>
                  <a:srgbClr val="FF0066"/>
                </a:solidFill>
                <a:latin typeface="Tahoma" panose="020B0604030504040204" pitchFamily="34" charset="0"/>
              </a:rPr>
              <a:t>P</a:t>
            </a:r>
            <a:r>
              <a:rPr lang="en-US" altLang="en-US" sz="2400">
                <a:solidFill>
                  <a:srgbClr val="FF0066"/>
                </a:solidFill>
                <a:latin typeface="Tahoma" panose="020B0604030504040204" pitchFamily="34" charset="0"/>
              </a:rPr>
              <a:t>A _ I</a:t>
            </a:r>
          </a:p>
        </p:txBody>
      </p:sp>
      <p:sp>
        <p:nvSpPr>
          <p:cNvPr id="11" name="Text Box 11">
            <a:extLst>
              <a:ext uri="{FF2B5EF4-FFF2-40B4-BE49-F238E27FC236}">
                <a16:creationId xmlns:a16="http://schemas.microsoft.com/office/drawing/2014/main" id="{426A30DE-5707-4E4F-842D-21DA07E4910B}"/>
              </a:ext>
            </a:extLst>
          </p:cNvPr>
          <p:cNvSpPr txBox="1">
            <a:spLocks noChangeArrowheads="1"/>
          </p:cNvSpPr>
          <p:nvPr/>
        </p:nvSpPr>
        <p:spPr bwMode="auto">
          <a:xfrm>
            <a:off x="8858250" y="3179764"/>
            <a:ext cx="11047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2400">
                <a:solidFill>
                  <a:srgbClr val="FF0066"/>
                </a:solidFill>
                <a:latin typeface="Tahoma" panose="020B0604030504040204" pitchFamily="34" charset="0"/>
              </a:rPr>
              <a:t>_</a:t>
            </a:r>
            <a:r>
              <a:rPr lang="en-US" altLang="en-US" sz="2400">
                <a:solidFill>
                  <a:srgbClr val="FF0066"/>
                </a:solidFill>
              </a:rPr>
              <a:t> </a:t>
            </a:r>
            <a:r>
              <a:rPr lang="en-US" altLang="en-US" sz="2400">
                <a:solidFill>
                  <a:srgbClr val="FF0066"/>
                </a:solidFill>
                <a:latin typeface="Tahoma" panose="020B0604030504040204" pitchFamily="34" charset="0"/>
              </a:rPr>
              <a:t>A _ </a:t>
            </a:r>
            <a:r>
              <a:rPr lang="en-US" altLang="en-US" sz="1000">
                <a:solidFill>
                  <a:srgbClr val="FF0066"/>
                </a:solidFill>
                <a:latin typeface="Tahoma" panose="020B0604030504040204" pitchFamily="34" charset="0"/>
              </a:rPr>
              <a:t>I</a:t>
            </a:r>
          </a:p>
        </p:txBody>
      </p:sp>
      <p:sp>
        <p:nvSpPr>
          <p:cNvPr id="12" name="Text Box 12">
            <a:extLst>
              <a:ext uri="{FF2B5EF4-FFF2-40B4-BE49-F238E27FC236}">
                <a16:creationId xmlns:a16="http://schemas.microsoft.com/office/drawing/2014/main" id="{AFA99BF4-BB41-4293-83B8-29EB0FDE8F0B}"/>
              </a:ext>
            </a:extLst>
          </p:cNvPr>
          <p:cNvSpPr txBox="1">
            <a:spLocks noChangeArrowheads="1"/>
          </p:cNvSpPr>
          <p:nvPr/>
        </p:nvSpPr>
        <p:spPr bwMode="auto">
          <a:xfrm>
            <a:off x="8858251" y="4387851"/>
            <a:ext cx="12378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2400">
                <a:solidFill>
                  <a:srgbClr val="FF0066"/>
                </a:solidFill>
                <a:latin typeface="Tahoma" panose="020B0604030504040204" pitchFamily="34" charset="0"/>
              </a:rPr>
              <a:t>_</a:t>
            </a:r>
            <a:r>
              <a:rPr lang="en-US" altLang="en-US" sz="2400">
                <a:solidFill>
                  <a:srgbClr val="FF0066"/>
                </a:solidFill>
              </a:rPr>
              <a:t> </a:t>
            </a:r>
            <a:r>
              <a:rPr lang="en-US" altLang="en-US" sz="2400">
                <a:solidFill>
                  <a:srgbClr val="FF0066"/>
                </a:solidFill>
                <a:latin typeface="Tahoma" panose="020B0604030504040204" pitchFamily="34" charset="0"/>
              </a:rPr>
              <a:t>A _ _</a:t>
            </a:r>
          </a:p>
        </p:txBody>
      </p:sp>
      <p:sp>
        <p:nvSpPr>
          <p:cNvPr id="13" name="Text Box 13">
            <a:extLst>
              <a:ext uri="{FF2B5EF4-FFF2-40B4-BE49-F238E27FC236}">
                <a16:creationId xmlns:a16="http://schemas.microsoft.com/office/drawing/2014/main" id="{65418C8D-7FAD-4AC8-8D6C-B5B3B7E04125}"/>
              </a:ext>
            </a:extLst>
          </p:cNvPr>
          <p:cNvSpPr txBox="1">
            <a:spLocks noChangeArrowheads="1"/>
          </p:cNvSpPr>
          <p:nvPr/>
        </p:nvSpPr>
        <p:spPr bwMode="auto">
          <a:xfrm>
            <a:off x="9043988" y="5656264"/>
            <a:ext cx="1217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2400">
                <a:solidFill>
                  <a:srgbClr val="FF0066"/>
                </a:solidFill>
                <a:latin typeface="Tahoma" panose="020B0604030504040204" pitchFamily="34" charset="0"/>
              </a:rPr>
              <a:t>_</a:t>
            </a:r>
            <a:r>
              <a:rPr lang="en-US" altLang="en-US" sz="2200"/>
              <a:t> </a:t>
            </a:r>
            <a:r>
              <a:rPr lang="en-US" altLang="en-US" sz="2400">
                <a:solidFill>
                  <a:srgbClr val="FF0066"/>
                </a:solidFill>
                <a:latin typeface="Tahoma" panose="020B0604030504040204" pitchFamily="34" charset="0"/>
              </a:rPr>
              <a:t>_ _ _</a:t>
            </a:r>
          </a:p>
        </p:txBody>
      </p:sp>
      <p:sp>
        <p:nvSpPr>
          <p:cNvPr id="14" name="Text Box 14">
            <a:extLst>
              <a:ext uri="{FF2B5EF4-FFF2-40B4-BE49-F238E27FC236}">
                <a16:creationId xmlns:a16="http://schemas.microsoft.com/office/drawing/2014/main" id="{752BCD8F-88B1-454B-B7BA-CAD40CB30FFF}"/>
              </a:ext>
            </a:extLst>
          </p:cNvPr>
          <p:cNvSpPr txBox="1">
            <a:spLocks noChangeArrowheads="1"/>
          </p:cNvSpPr>
          <p:nvPr/>
        </p:nvSpPr>
        <p:spPr bwMode="auto">
          <a:xfrm>
            <a:off x="5022851" y="5699125"/>
            <a:ext cx="837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800">
                <a:solidFill>
                  <a:srgbClr val="FF0066"/>
                </a:solidFill>
                <a:latin typeface="Tahoma" panose="020B0604030504040204" pitchFamily="34" charset="0"/>
              </a:rPr>
              <a:t>_ _E_</a:t>
            </a:r>
          </a:p>
        </p:txBody>
      </p:sp>
      <p:sp>
        <p:nvSpPr>
          <p:cNvPr id="15" name="Text Box 15">
            <a:extLst>
              <a:ext uri="{FF2B5EF4-FFF2-40B4-BE49-F238E27FC236}">
                <a16:creationId xmlns:a16="http://schemas.microsoft.com/office/drawing/2014/main" id="{766DF75C-C481-4E6A-B266-A6CF22B592C6}"/>
              </a:ext>
            </a:extLst>
          </p:cNvPr>
          <p:cNvSpPr txBox="1">
            <a:spLocks noChangeArrowheads="1"/>
          </p:cNvSpPr>
          <p:nvPr/>
        </p:nvSpPr>
        <p:spPr bwMode="auto">
          <a:xfrm>
            <a:off x="6242051" y="4937125"/>
            <a:ext cx="9140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800">
                <a:solidFill>
                  <a:srgbClr val="FF0066"/>
                </a:solidFill>
                <a:latin typeface="Tahoma" panose="020B0604030504040204" pitchFamily="34" charset="0"/>
              </a:rPr>
              <a:t>P_ _ _</a:t>
            </a:r>
          </a:p>
        </p:txBody>
      </p:sp>
      <p:sp>
        <p:nvSpPr>
          <p:cNvPr id="16" name="Text Box 16">
            <a:extLst>
              <a:ext uri="{FF2B5EF4-FFF2-40B4-BE49-F238E27FC236}">
                <a16:creationId xmlns:a16="http://schemas.microsoft.com/office/drawing/2014/main" id="{2D6C4C44-86D0-4D97-A841-57490CC5C873}"/>
              </a:ext>
            </a:extLst>
          </p:cNvPr>
          <p:cNvSpPr txBox="1">
            <a:spLocks noChangeArrowheads="1"/>
          </p:cNvSpPr>
          <p:nvPr/>
        </p:nvSpPr>
        <p:spPr bwMode="auto">
          <a:xfrm>
            <a:off x="6302376" y="3852863"/>
            <a:ext cx="8851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800">
                <a:solidFill>
                  <a:srgbClr val="FF0066"/>
                </a:solidFill>
                <a:latin typeface="Tahoma" panose="020B0604030504040204" pitchFamily="34" charset="0"/>
              </a:rPr>
              <a:t>P</a:t>
            </a:r>
            <a:r>
              <a:rPr lang="en-US" altLang="en-US" sz="1000">
                <a:solidFill>
                  <a:srgbClr val="FF0066"/>
                </a:solidFill>
                <a:latin typeface="Tahoma" panose="020B0604030504040204" pitchFamily="34" charset="0"/>
              </a:rPr>
              <a:t> </a:t>
            </a:r>
            <a:r>
              <a:rPr lang="en-US" altLang="en-US" sz="1800">
                <a:solidFill>
                  <a:srgbClr val="FF0066"/>
                </a:solidFill>
                <a:latin typeface="Tahoma" panose="020B0604030504040204" pitchFamily="34" charset="0"/>
              </a:rPr>
              <a:t>_</a:t>
            </a:r>
            <a:r>
              <a:rPr lang="en-US" altLang="en-US" sz="1000">
                <a:solidFill>
                  <a:srgbClr val="FF0066"/>
                </a:solidFill>
                <a:latin typeface="Tahoma" panose="020B0604030504040204" pitchFamily="34" charset="0"/>
              </a:rPr>
              <a:t> </a:t>
            </a:r>
            <a:r>
              <a:rPr lang="en-US" altLang="en-US" sz="1800">
                <a:solidFill>
                  <a:srgbClr val="FF0066"/>
                </a:solidFill>
                <a:latin typeface="Tahoma" panose="020B0604030504040204" pitchFamily="34" charset="0"/>
              </a:rPr>
              <a:t>E</a:t>
            </a:r>
            <a:r>
              <a:rPr lang="en-US" altLang="en-US" sz="1000">
                <a:solidFill>
                  <a:srgbClr val="FF0066"/>
                </a:solidFill>
                <a:latin typeface="Tahoma" panose="020B0604030504040204" pitchFamily="34" charset="0"/>
              </a:rPr>
              <a:t> </a:t>
            </a:r>
            <a:r>
              <a:rPr lang="en-US" altLang="en-US" sz="1800">
                <a:solidFill>
                  <a:srgbClr val="FF0066"/>
                </a:solidFill>
                <a:latin typeface="Tahoma" panose="020B0604030504040204" pitchFamily="34" charset="0"/>
              </a:rPr>
              <a:t>_</a:t>
            </a:r>
          </a:p>
        </p:txBody>
      </p:sp>
      <p:sp>
        <p:nvSpPr>
          <p:cNvPr id="17" name="Text Box 17">
            <a:extLst>
              <a:ext uri="{FF2B5EF4-FFF2-40B4-BE49-F238E27FC236}">
                <a16:creationId xmlns:a16="http://schemas.microsoft.com/office/drawing/2014/main" id="{05A401A4-7BB9-46F5-A766-CF921BDD7779}"/>
              </a:ext>
            </a:extLst>
          </p:cNvPr>
          <p:cNvSpPr txBox="1">
            <a:spLocks noChangeArrowheads="1"/>
          </p:cNvSpPr>
          <p:nvPr/>
        </p:nvSpPr>
        <p:spPr bwMode="auto">
          <a:xfrm>
            <a:off x="6523039" y="2938463"/>
            <a:ext cx="9252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800">
                <a:solidFill>
                  <a:srgbClr val="FF0066"/>
                </a:solidFill>
                <a:latin typeface="Tahoma" panose="020B0604030504040204" pitchFamily="34" charset="0"/>
              </a:rPr>
              <a:t>PA _ _</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Text Box 2">
            <a:extLst>
              <a:ext uri="{FF2B5EF4-FFF2-40B4-BE49-F238E27FC236}">
                <a16:creationId xmlns:a16="http://schemas.microsoft.com/office/drawing/2014/main" id="{E111367B-3CA3-44CA-BE8A-9615E449531C}"/>
              </a:ext>
            </a:extLst>
          </p:cNvPr>
          <p:cNvSpPr txBox="1">
            <a:spLocks noChangeArrowheads="1"/>
          </p:cNvSpPr>
          <p:nvPr/>
        </p:nvSpPr>
        <p:spPr bwMode="auto">
          <a:xfrm>
            <a:off x="2719753" y="207964"/>
            <a:ext cx="9144000" cy="579437"/>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3200">
                <a:effectLst>
                  <a:outerShdw blurRad="38100" dist="38100" dir="2700000" algn="tl">
                    <a:srgbClr val="C0C0C0"/>
                  </a:outerShdw>
                </a:effectLst>
                <a:latin typeface="Tahoma" pitchFamily="-111" charset="0"/>
                <a:ea typeface="ＭＳ Ｐゴシック" pitchFamily="-111" charset="-128"/>
              </a:rPr>
              <a:t>Lifecycle of an Organization</a:t>
            </a:r>
          </a:p>
        </p:txBody>
      </p:sp>
      <p:pic>
        <p:nvPicPr>
          <p:cNvPr id="56323" name="Picture 3" descr="LifeCycles_Contemporary">
            <a:extLst>
              <a:ext uri="{FF2B5EF4-FFF2-40B4-BE49-F238E27FC236}">
                <a16:creationId xmlns:a16="http://schemas.microsoft.com/office/drawing/2014/main" id="{44274641-93FA-4E56-8E03-E48FBB10F6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581151"/>
            <a:ext cx="6083300" cy="465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
            <a:extLst>
              <a:ext uri="{FF2B5EF4-FFF2-40B4-BE49-F238E27FC236}">
                <a16:creationId xmlns:a16="http://schemas.microsoft.com/office/drawing/2014/main" id="{6AD93AA8-8969-4300-A560-9D7A3261DCE5}"/>
              </a:ext>
            </a:extLst>
          </p:cNvPr>
          <p:cNvSpPr txBox="1">
            <a:spLocks noChangeArrowheads="1"/>
          </p:cNvSpPr>
          <p:nvPr/>
        </p:nvSpPr>
        <p:spPr bwMode="auto">
          <a:xfrm>
            <a:off x="1893889" y="5749926"/>
            <a:ext cx="1203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200">
                <a:solidFill>
                  <a:srgbClr val="FF0066"/>
                </a:solidFill>
                <a:latin typeface="Tahoma" panose="020B0604030504040204" pitchFamily="34" charset="0"/>
              </a:rPr>
              <a:t>RESPOND</a:t>
            </a:r>
          </a:p>
          <a:p>
            <a:r>
              <a:rPr lang="en-US" altLang="en-US" sz="1200">
                <a:solidFill>
                  <a:srgbClr val="FF0066"/>
                </a:solidFill>
                <a:latin typeface="Tahoma" panose="020B0604030504040204" pitchFamily="34" charset="0"/>
              </a:rPr>
              <a:t>TO NEEDS</a:t>
            </a:r>
          </a:p>
        </p:txBody>
      </p:sp>
      <p:sp>
        <p:nvSpPr>
          <p:cNvPr id="5" name="Text Box 5">
            <a:extLst>
              <a:ext uri="{FF2B5EF4-FFF2-40B4-BE49-F238E27FC236}">
                <a16:creationId xmlns:a16="http://schemas.microsoft.com/office/drawing/2014/main" id="{6CEF6417-A890-47B0-AACF-A59DB3AA6E4D}"/>
              </a:ext>
            </a:extLst>
          </p:cNvPr>
          <p:cNvSpPr txBox="1">
            <a:spLocks noChangeArrowheads="1"/>
          </p:cNvSpPr>
          <p:nvPr/>
        </p:nvSpPr>
        <p:spPr bwMode="auto">
          <a:xfrm>
            <a:off x="2311401" y="4797426"/>
            <a:ext cx="60801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200">
                <a:solidFill>
                  <a:srgbClr val="FF0066"/>
                </a:solidFill>
                <a:latin typeface="Tahoma" panose="020B0604030504040204" pitchFamily="34" charset="0"/>
              </a:rPr>
              <a:t>CASH</a:t>
            </a:r>
          </a:p>
        </p:txBody>
      </p:sp>
      <p:sp>
        <p:nvSpPr>
          <p:cNvPr id="6" name="Text Box 6">
            <a:extLst>
              <a:ext uri="{FF2B5EF4-FFF2-40B4-BE49-F238E27FC236}">
                <a16:creationId xmlns:a16="http://schemas.microsoft.com/office/drawing/2014/main" id="{046D6041-A601-45E3-B2F5-43AFBD5AE2A2}"/>
              </a:ext>
            </a:extLst>
          </p:cNvPr>
          <p:cNvSpPr txBox="1">
            <a:spLocks noChangeArrowheads="1"/>
          </p:cNvSpPr>
          <p:nvPr/>
        </p:nvSpPr>
        <p:spPr bwMode="auto">
          <a:xfrm>
            <a:off x="2124075" y="4054476"/>
            <a:ext cx="1365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200">
                <a:solidFill>
                  <a:srgbClr val="FF0066"/>
                </a:solidFill>
                <a:latin typeface="Tahoma" panose="020B0604030504040204" pitchFamily="34" charset="0"/>
              </a:rPr>
              <a:t>SALES &amp;</a:t>
            </a:r>
          </a:p>
          <a:p>
            <a:r>
              <a:rPr lang="en-US" altLang="en-US" sz="1200">
                <a:solidFill>
                  <a:srgbClr val="FF0066"/>
                </a:solidFill>
                <a:latin typeface="Tahoma" panose="020B0604030504040204" pitchFamily="34" charset="0"/>
              </a:rPr>
              <a:t>MARKETSHARE</a:t>
            </a:r>
          </a:p>
        </p:txBody>
      </p:sp>
      <p:sp>
        <p:nvSpPr>
          <p:cNvPr id="7" name="Text Box 7">
            <a:extLst>
              <a:ext uri="{FF2B5EF4-FFF2-40B4-BE49-F238E27FC236}">
                <a16:creationId xmlns:a16="http://schemas.microsoft.com/office/drawing/2014/main" id="{552D93F8-D4A2-4D87-870D-04F210EAD0AF}"/>
              </a:ext>
            </a:extLst>
          </p:cNvPr>
          <p:cNvSpPr txBox="1">
            <a:spLocks noChangeArrowheads="1"/>
          </p:cNvSpPr>
          <p:nvPr/>
        </p:nvSpPr>
        <p:spPr bwMode="auto">
          <a:xfrm>
            <a:off x="2430464" y="2941638"/>
            <a:ext cx="8715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200">
                <a:solidFill>
                  <a:srgbClr val="FF0066"/>
                </a:solidFill>
                <a:latin typeface="Tahoma" panose="020B0604030504040204" pitchFamily="34" charset="0"/>
              </a:rPr>
              <a:t>PROFITS</a:t>
            </a:r>
          </a:p>
        </p:txBody>
      </p:sp>
      <p:sp>
        <p:nvSpPr>
          <p:cNvPr id="8" name="Text Box 8">
            <a:extLst>
              <a:ext uri="{FF2B5EF4-FFF2-40B4-BE49-F238E27FC236}">
                <a16:creationId xmlns:a16="http://schemas.microsoft.com/office/drawing/2014/main" id="{28BAE8F8-69A6-4564-BF3A-737B4AF74FBC}"/>
              </a:ext>
            </a:extLst>
          </p:cNvPr>
          <p:cNvSpPr txBox="1">
            <a:spLocks noChangeArrowheads="1"/>
          </p:cNvSpPr>
          <p:nvPr/>
        </p:nvSpPr>
        <p:spPr bwMode="auto">
          <a:xfrm>
            <a:off x="3408364" y="1903413"/>
            <a:ext cx="8715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200">
                <a:solidFill>
                  <a:srgbClr val="FF0066"/>
                </a:solidFill>
                <a:latin typeface="Tahoma" panose="020B0604030504040204" pitchFamily="34" charset="0"/>
              </a:rPr>
              <a:t>SALES &amp;</a:t>
            </a:r>
          </a:p>
          <a:p>
            <a:r>
              <a:rPr lang="en-US" altLang="en-US" sz="1200">
                <a:solidFill>
                  <a:srgbClr val="FF0066"/>
                </a:solidFill>
                <a:latin typeface="Tahoma" panose="020B0604030504040204" pitchFamily="34" charset="0"/>
              </a:rPr>
              <a:t>PROFITS</a:t>
            </a:r>
          </a:p>
        </p:txBody>
      </p:sp>
      <p:sp>
        <p:nvSpPr>
          <p:cNvPr id="9" name="Text Box 9">
            <a:extLst>
              <a:ext uri="{FF2B5EF4-FFF2-40B4-BE49-F238E27FC236}">
                <a16:creationId xmlns:a16="http://schemas.microsoft.com/office/drawing/2014/main" id="{C8159134-1789-4D5B-82A1-1C19A0E1FFEF}"/>
              </a:ext>
            </a:extLst>
          </p:cNvPr>
          <p:cNvSpPr txBox="1">
            <a:spLocks noChangeArrowheads="1"/>
          </p:cNvSpPr>
          <p:nvPr/>
        </p:nvSpPr>
        <p:spPr bwMode="auto">
          <a:xfrm>
            <a:off x="6219826" y="1063626"/>
            <a:ext cx="10461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200">
                <a:solidFill>
                  <a:srgbClr val="FF0066"/>
                </a:solidFill>
                <a:latin typeface="Tahoma" panose="020B0604030504040204" pitchFamily="34" charset="0"/>
              </a:rPr>
              <a:t>PROTECT</a:t>
            </a:r>
          </a:p>
          <a:p>
            <a:r>
              <a:rPr lang="en-US" altLang="en-US" sz="1200">
                <a:solidFill>
                  <a:srgbClr val="FF0066"/>
                </a:solidFill>
                <a:latin typeface="Tahoma" panose="020B0604030504040204" pitchFamily="34" charset="0"/>
              </a:rPr>
              <a:t>THE GAINS</a:t>
            </a:r>
          </a:p>
        </p:txBody>
      </p:sp>
      <p:sp>
        <p:nvSpPr>
          <p:cNvPr id="10" name="Text Box 10">
            <a:extLst>
              <a:ext uri="{FF2B5EF4-FFF2-40B4-BE49-F238E27FC236}">
                <a16:creationId xmlns:a16="http://schemas.microsoft.com/office/drawing/2014/main" id="{6F4ECA18-E8DC-4486-951E-7EF2395CB16E}"/>
              </a:ext>
            </a:extLst>
          </p:cNvPr>
          <p:cNvSpPr txBox="1">
            <a:spLocks noChangeArrowheads="1"/>
          </p:cNvSpPr>
          <p:nvPr/>
        </p:nvSpPr>
        <p:spPr bwMode="auto">
          <a:xfrm>
            <a:off x="8228013" y="2327276"/>
            <a:ext cx="4889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200">
                <a:solidFill>
                  <a:srgbClr val="FF0066"/>
                </a:solidFill>
                <a:latin typeface="Tahoma" panose="020B0604030504040204" pitchFamily="34" charset="0"/>
              </a:rPr>
              <a:t>ROI</a:t>
            </a:r>
          </a:p>
        </p:txBody>
      </p:sp>
      <p:sp>
        <p:nvSpPr>
          <p:cNvPr id="11" name="Text Box 11">
            <a:extLst>
              <a:ext uri="{FF2B5EF4-FFF2-40B4-BE49-F238E27FC236}">
                <a16:creationId xmlns:a16="http://schemas.microsoft.com/office/drawing/2014/main" id="{AAB7EFE7-8C64-407E-91E1-68C4331B8A23}"/>
              </a:ext>
            </a:extLst>
          </p:cNvPr>
          <p:cNvSpPr txBox="1">
            <a:spLocks noChangeArrowheads="1"/>
          </p:cNvSpPr>
          <p:nvPr/>
        </p:nvSpPr>
        <p:spPr bwMode="auto">
          <a:xfrm>
            <a:off x="8197851" y="3376614"/>
            <a:ext cx="18653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200">
                <a:solidFill>
                  <a:srgbClr val="FF0066"/>
                </a:solidFill>
                <a:latin typeface="Tahoma" panose="020B0604030504040204" pitchFamily="34" charset="0"/>
              </a:rPr>
              <a:t>PERSONAL SURVIVAL</a:t>
            </a:r>
          </a:p>
        </p:txBody>
      </p:sp>
      <p:sp>
        <p:nvSpPr>
          <p:cNvPr id="12" name="Text Box 12">
            <a:extLst>
              <a:ext uri="{FF2B5EF4-FFF2-40B4-BE49-F238E27FC236}">
                <a16:creationId xmlns:a16="http://schemas.microsoft.com/office/drawing/2014/main" id="{A8D7FB41-63C7-475C-AB13-B57EF978680F}"/>
              </a:ext>
            </a:extLst>
          </p:cNvPr>
          <p:cNvSpPr txBox="1">
            <a:spLocks noChangeArrowheads="1"/>
          </p:cNvSpPr>
          <p:nvPr/>
        </p:nvSpPr>
        <p:spPr bwMode="auto">
          <a:xfrm>
            <a:off x="8763000" y="4475163"/>
            <a:ext cx="11636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200">
                <a:solidFill>
                  <a:srgbClr val="FF0066"/>
                </a:solidFill>
                <a:latin typeface="Tahoma" panose="020B0604030504040204" pitchFamily="34" charset="0"/>
              </a:rPr>
              <a:t>EXTERNAL &amp;</a:t>
            </a:r>
          </a:p>
          <a:p>
            <a:r>
              <a:rPr lang="en-US" altLang="en-US" sz="1200">
                <a:solidFill>
                  <a:srgbClr val="FF0066"/>
                </a:solidFill>
                <a:latin typeface="Tahoma" panose="020B0604030504040204" pitchFamily="34" charset="0"/>
              </a:rPr>
              <a:t>INTERNAL</a:t>
            </a:r>
          </a:p>
          <a:p>
            <a:r>
              <a:rPr lang="en-US" altLang="en-US" sz="1200">
                <a:solidFill>
                  <a:srgbClr val="FF0066"/>
                </a:solidFill>
                <a:latin typeface="Tahoma" panose="020B0604030504040204" pitchFamily="34" charset="0"/>
              </a:rPr>
              <a:t>POLITICS</a:t>
            </a:r>
          </a:p>
        </p:txBody>
      </p:sp>
      <p:sp>
        <p:nvSpPr>
          <p:cNvPr id="13" name="Text Box 13">
            <a:extLst>
              <a:ext uri="{FF2B5EF4-FFF2-40B4-BE49-F238E27FC236}">
                <a16:creationId xmlns:a16="http://schemas.microsoft.com/office/drawing/2014/main" id="{8D93C6DD-64AD-45FE-95FE-AD94C792553C}"/>
              </a:ext>
            </a:extLst>
          </p:cNvPr>
          <p:cNvSpPr txBox="1">
            <a:spLocks noChangeArrowheads="1"/>
          </p:cNvSpPr>
          <p:nvPr/>
        </p:nvSpPr>
        <p:spPr bwMode="auto">
          <a:xfrm>
            <a:off x="9036050" y="5745164"/>
            <a:ext cx="9969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tx1"/>
                </a:solidFill>
                <a:latin typeface="Times New Roman" panose="02020603050405020304" pitchFamily="18" charset="0"/>
                <a:ea typeface="ＭＳ Ｐゴシック" panose="020B0600070205080204" pitchFamily="34" charset="-128"/>
              </a:defRPr>
            </a:lvl1pPr>
            <a:lvl2pPr marL="742950" indent="-285750">
              <a:defRPr sz="2000" b="1">
                <a:solidFill>
                  <a:schemeClr val="tx1"/>
                </a:solidFill>
                <a:latin typeface="Times New Roman" panose="02020603050405020304" pitchFamily="18" charset="0"/>
                <a:ea typeface="ＭＳ Ｐゴシック" panose="020B0600070205080204" pitchFamily="34" charset="-128"/>
              </a:defRPr>
            </a:lvl2pPr>
            <a:lvl3pPr marL="1143000" indent="-228600">
              <a:defRPr sz="2000" b="1">
                <a:solidFill>
                  <a:schemeClr val="tx1"/>
                </a:solidFill>
                <a:latin typeface="Times New Roman" panose="02020603050405020304" pitchFamily="18" charset="0"/>
                <a:ea typeface="ＭＳ Ｐゴシック" panose="020B0600070205080204" pitchFamily="34" charset="-128"/>
              </a:defRPr>
            </a:lvl3pPr>
            <a:lvl4pPr marL="1600200" indent="-228600">
              <a:defRPr sz="2000" b="1">
                <a:solidFill>
                  <a:schemeClr val="tx1"/>
                </a:solidFill>
                <a:latin typeface="Times New Roman" panose="02020603050405020304" pitchFamily="18" charset="0"/>
                <a:ea typeface="ＭＳ Ｐゴシック" panose="020B0600070205080204" pitchFamily="34" charset="-128"/>
              </a:defRPr>
            </a:lvl4pPr>
            <a:lvl5pPr marL="2057400" indent="-228600">
              <a:defRPr sz="20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ＭＳ Ｐゴシック" panose="020B0600070205080204" pitchFamily="34" charset="-128"/>
              </a:defRPr>
            </a:lvl9pPr>
          </a:lstStyle>
          <a:p>
            <a:r>
              <a:rPr lang="en-US" altLang="en-US" sz="1200">
                <a:solidFill>
                  <a:srgbClr val="FF0066"/>
                </a:solidFill>
                <a:latin typeface="Tahoma" panose="020B0604030504040204" pitchFamily="34" charset="0"/>
              </a:rPr>
              <a:t>MIRACLES</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D7E38E-DDCB-407B-92EC-B18CF1BCF0DC}"/>
              </a:ext>
            </a:extLst>
          </p:cNvPr>
          <p:cNvSpPr txBox="1"/>
          <p:nvPr/>
        </p:nvSpPr>
        <p:spPr>
          <a:xfrm>
            <a:off x="1274729" y="1349188"/>
            <a:ext cx="9626161" cy="2923877"/>
          </a:xfrm>
          <a:prstGeom prst="rect">
            <a:avLst/>
          </a:prstGeom>
          <a:noFill/>
        </p:spPr>
        <p:txBody>
          <a:bodyPr wrap="none" rtlCol="0">
            <a:spAutoFit/>
          </a:bodyPr>
          <a:lstStyle/>
          <a:p>
            <a:pPr algn="ctr"/>
            <a:r>
              <a:rPr lang="en-US" sz="3200" dirty="0"/>
              <a:t>Thank You!</a:t>
            </a:r>
          </a:p>
          <a:p>
            <a:pPr algn="ctr"/>
            <a:endParaRPr lang="en-US" sz="3200" dirty="0"/>
          </a:p>
          <a:p>
            <a:pPr algn="ctr"/>
            <a:r>
              <a:rPr lang="en-US" sz="3200" dirty="0"/>
              <a:t>Next week </a:t>
            </a:r>
            <a:r>
              <a:rPr lang="lv-LV" sz="3200"/>
              <a:t>article</a:t>
            </a:r>
          </a:p>
          <a:p>
            <a:pPr algn="ctr"/>
            <a:endParaRPr lang="en-US" sz="3200" dirty="0"/>
          </a:p>
          <a:p>
            <a:pPr algn="ctr"/>
            <a:r>
              <a:rPr lang="lv-LV" sz="2400" u="sng" dirty="0">
                <a:hlinkClick r:id="rId2"/>
              </a:rPr>
              <a:t>http://www.fastcompany.com/41088/i-can-only-compete-through-my-crew</a:t>
            </a:r>
            <a:endParaRPr lang="en-US" sz="2400" dirty="0"/>
          </a:p>
          <a:p>
            <a:pPr algn="ctr"/>
            <a:endParaRPr lang="en-US" sz="3200" dirty="0"/>
          </a:p>
        </p:txBody>
      </p:sp>
    </p:spTree>
    <p:extLst>
      <p:ext uri="{BB962C8B-B14F-4D97-AF65-F5344CB8AC3E}">
        <p14:creationId xmlns:p14="http://schemas.microsoft.com/office/powerpoint/2010/main" val="2074828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2658</TotalTime>
  <Words>1302</Words>
  <Application>Microsoft Office PowerPoint</Application>
  <PresentationFormat>Widescreen</PresentationFormat>
  <Paragraphs>372</Paragraphs>
  <Slides>31</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Arial Black</vt:lpstr>
      <vt:lpstr>Arial Narrow</vt:lpstr>
      <vt:lpstr>Calibri</vt:lpstr>
      <vt:lpstr>Calibri Light</vt:lpstr>
      <vt:lpstr>Tahoma</vt:lpstr>
      <vt:lpstr>Times New Roman</vt:lpstr>
      <vt:lpstr>Wingdings</vt:lpstr>
      <vt:lpstr>Office Theme</vt:lpstr>
      <vt:lpstr>Growing Incredible Managers:   </vt:lpstr>
      <vt:lpstr>Celeritas</vt:lpstr>
      <vt:lpstr>Celeritas</vt:lpstr>
      <vt:lpstr>PowerPoint Presentation</vt:lpstr>
      <vt:lpstr>9 Characteristics of a Good Manager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Growing Incredible Managers:</dc:title>
  <dc:creator>Greg Mathers</dc:creator>
  <cp:lastModifiedBy>Greg Mathers</cp:lastModifiedBy>
  <cp:revision>45</cp:revision>
  <cp:lastPrinted>2019-06-01T13:05:55Z</cp:lastPrinted>
  <dcterms:created xsi:type="dcterms:W3CDTF">2019-05-30T13:31:17Z</dcterms:created>
  <dcterms:modified xsi:type="dcterms:W3CDTF">2019-06-16T18:23:29Z</dcterms:modified>
</cp:coreProperties>
</file>