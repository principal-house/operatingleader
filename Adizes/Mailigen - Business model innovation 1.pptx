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385" r:id="rId4"/>
    <p:sldId id="259" r:id="rId5"/>
    <p:sldId id="386" r:id="rId6"/>
    <p:sldId id="258" r:id="rId7"/>
    <p:sldId id="414" r:id="rId8"/>
    <p:sldId id="416" r:id="rId9"/>
    <p:sldId id="417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354" r:id="rId31"/>
    <p:sldId id="332" r:id="rId32"/>
    <p:sldId id="347" r:id="rId33"/>
    <p:sldId id="349" r:id="rId34"/>
    <p:sldId id="348" r:id="rId35"/>
    <p:sldId id="356" r:id="rId36"/>
    <p:sldId id="647" r:id="rId3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763CF-8EEC-4E9E-804A-A3E4A8A7D11F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05D69-EBDC-4833-908C-FF30DEAD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454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AE1E3-CE9F-46DC-B08F-FC1766280897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D7879B-59DB-4E3A-9432-66587A0E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857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17377EF-251F-4AD5-B9B3-3AAC4F0A70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8195" name="Rectangle 6">
            <a:extLst>
              <a:ext uri="{FF2B5EF4-FFF2-40B4-BE49-F238E27FC236}">
                <a16:creationId xmlns:a16="http://schemas.microsoft.com/office/drawing/2014/main" id="{1692F7ED-B179-499A-A6BE-44BFC5B3B1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8196" name="Rectangle 7">
            <a:extLst>
              <a:ext uri="{FF2B5EF4-FFF2-40B4-BE49-F238E27FC236}">
                <a16:creationId xmlns:a16="http://schemas.microsoft.com/office/drawing/2014/main" id="{8533C1D2-323C-4A4E-B13D-4CEB566DE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5F2AADE-9213-4333-9840-9D10E28A4FB6}" type="slidenum">
              <a:rPr lang="en-US" altLang="en-US" sz="1000" b="0" smtClean="0">
                <a:solidFill>
                  <a:schemeClr val="accent1"/>
                </a:solidFill>
              </a:rPr>
              <a:pPr/>
              <a:t>7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BFDB0721-0FBA-4012-B379-D10A1C456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8198" name="Rectangle 3">
            <a:extLst>
              <a:ext uri="{FF2B5EF4-FFF2-40B4-BE49-F238E27FC236}">
                <a16:creationId xmlns:a16="http://schemas.microsoft.com/office/drawing/2014/main" id="{3C70C777-E569-43FC-A1EF-73898E511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686FB26-C11F-473A-B96B-84AA4E4582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181561A0-2669-4127-9843-62EAEEEC9E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0244" name="Rectangle 7">
            <a:extLst>
              <a:ext uri="{FF2B5EF4-FFF2-40B4-BE49-F238E27FC236}">
                <a16:creationId xmlns:a16="http://schemas.microsoft.com/office/drawing/2014/main" id="{4921C844-2B49-4697-A343-979A574148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0852B34-6D68-4B53-8509-96A3FB3D8EDC}" type="slidenum">
              <a:rPr lang="en-US" altLang="en-US" sz="1000" b="0" smtClean="0">
                <a:solidFill>
                  <a:schemeClr val="accent1"/>
                </a:solidFill>
              </a:rPr>
              <a:pPr/>
              <a:t>8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B26E622E-B24E-473A-965F-E1889F1381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10246" name="Rectangle 3">
            <a:extLst>
              <a:ext uri="{FF2B5EF4-FFF2-40B4-BE49-F238E27FC236}">
                <a16:creationId xmlns:a16="http://schemas.microsoft.com/office/drawing/2014/main" id="{39FF8712-ABDC-411A-BD3C-6924A120F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52B6823-04EE-434B-B78F-8B93C31484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2291" name="Rectangle 6">
            <a:extLst>
              <a:ext uri="{FF2B5EF4-FFF2-40B4-BE49-F238E27FC236}">
                <a16:creationId xmlns:a16="http://schemas.microsoft.com/office/drawing/2014/main" id="{DB38EE44-F858-4AEB-A42A-2F1601DEB8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2292" name="Rectangle 7">
            <a:extLst>
              <a:ext uri="{FF2B5EF4-FFF2-40B4-BE49-F238E27FC236}">
                <a16:creationId xmlns:a16="http://schemas.microsoft.com/office/drawing/2014/main" id="{CEFDC599-D513-4C4B-9702-8834A0B3A8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7DF3C72-BEEE-4361-838B-676586D2A3D3}" type="slidenum">
              <a:rPr lang="en-US" altLang="en-US" sz="1000" b="0" smtClean="0">
                <a:solidFill>
                  <a:schemeClr val="accent1"/>
                </a:solidFill>
              </a:rPr>
              <a:pPr/>
              <a:t>9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8DADAB6C-2DEC-45B6-B3D7-D43E2C5DEA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A3BF1166-C8E5-42E3-BD80-3E49026CF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81F3982-4362-4100-8322-8E749EA3C1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4339" name="Rectangle 6">
            <a:extLst>
              <a:ext uri="{FF2B5EF4-FFF2-40B4-BE49-F238E27FC236}">
                <a16:creationId xmlns:a16="http://schemas.microsoft.com/office/drawing/2014/main" id="{AFC09905-73AE-4D3D-875E-275957A007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4340" name="Rectangle 7">
            <a:extLst>
              <a:ext uri="{FF2B5EF4-FFF2-40B4-BE49-F238E27FC236}">
                <a16:creationId xmlns:a16="http://schemas.microsoft.com/office/drawing/2014/main" id="{5FDCDF2A-8188-4F6A-9771-013EEC0E7A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38138FF-47B3-426A-9C93-6058F70614C8}" type="slidenum">
              <a:rPr lang="en-US" altLang="en-US" sz="1000" b="0" smtClean="0">
                <a:solidFill>
                  <a:schemeClr val="accent1"/>
                </a:solidFill>
              </a:rPr>
              <a:pPr/>
              <a:t>10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F192B602-BD07-49D2-AC5D-0C75C0E8DC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>
            <a:extLst>
              <a:ext uri="{FF2B5EF4-FFF2-40B4-BE49-F238E27FC236}">
                <a16:creationId xmlns:a16="http://schemas.microsoft.com/office/drawing/2014/main" id="{0DEE6196-4944-4F59-B400-E1ACE839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DB4DED8-633B-42B6-9852-1DC6F0C22E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6387" name="Rectangle 6">
            <a:extLst>
              <a:ext uri="{FF2B5EF4-FFF2-40B4-BE49-F238E27FC236}">
                <a16:creationId xmlns:a16="http://schemas.microsoft.com/office/drawing/2014/main" id="{5393E951-1E0C-40F6-882A-7F110FC350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6388" name="Rectangle 7">
            <a:extLst>
              <a:ext uri="{FF2B5EF4-FFF2-40B4-BE49-F238E27FC236}">
                <a16:creationId xmlns:a16="http://schemas.microsoft.com/office/drawing/2014/main" id="{0CD78CF0-4017-451F-B3C1-8A17267BB3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9FD2EA8-736B-4B5C-B8D3-F8317D5F7175}" type="slidenum">
              <a:rPr lang="en-US" altLang="en-US" sz="1000" b="0" smtClean="0">
                <a:solidFill>
                  <a:schemeClr val="accent1"/>
                </a:solidFill>
              </a:rPr>
              <a:pPr/>
              <a:t>11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ED741AC0-38A5-43DA-A35E-D5468B8B9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9A7129E0-10A9-4418-A9C5-8BD328B45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4335EA0-17A6-4476-BA8C-89668A9B6F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259DC926-9708-4E63-B625-F659D11BA5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1E39576B-9534-47AE-BA8A-5C5C65781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34BF4F1-27E7-4DBF-B242-1A06624CAC01}" type="slidenum">
              <a:rPr lang="en-US" altLang="en-US" sz="1000" b="0" smtClean="0">
                <a:solidFill>
                  <a:schemeClr val="accent1"/>
                </a:solidFill>
              </a:rPr>
              <a:pPr/>
              <a:t>12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ABC9F1E9-B77C-4212-9C73-6A5929844B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5EF39600-B885-4BB6-9FA9-C8C353D9F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72677BB-03EC-4977-B7D6-768D6C3CCD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D19A23BD-FCD6-4550-8F9A-435A4BBE4E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3888FAA1-BA97-4F84-A61E-8F28066677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7D5A176-7589-46E9-B1C8-57CD89E05D97}" type="slidenum">
              <a:rPr lang="en-US" altLang="en-US" sz="1000" b="0" smtClean="0">
                <a:solidFill>
                  <a:schemeClr val="accent1"/>
                </a:solidFill>
              </a:rPr>
              <a:pPr/>
              <a:t>13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495D0D80-18A1-44E8-9BBB-71AAA5504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5403370E-3583-45DD-AC8D-494D4413A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F79B3D6-6C3D-47EA-829A-9A8D74C1D4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2531" name="Rectangle 6">
            <a:extLst>
              <a:ext uri="{FF2B5EF4-FFF2-40B4-BE49-F238E27FC236}">
                <a16:creationId xmlns:a16="http://schemas.microsoft.com/office/drawing/2014/main" id="{9EFA434F-D2DE-4485-B196-5ECDFA5DDD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8F8E3889-B4A6-48E1-AAE3-CB897BB324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8EB6950-E1D7-42E9-8E45-B69E2B9A6AF8}" type="slidenum">
              <a:rPr lang="en-US" altLang="en-US" sz="1000" b="0" smtClean="0">
                <a:solidFill>
                  <a:schemeClr val="accent1"/>
                </a:solidFill>
              </a:rPr>
              <a:pPr/>
              <a:t>14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8E91CBEE-2D44-4492-8BDA-BE7F089772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641DF0CB-6C9D-47C2-95D3-0DECF479F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6C3E221-DA50-40AD-8388-67E5697D2C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4579" name="Rectangle 6">
            <a:extLst>
              <a:ext uri="{FF2B5EF4-FFF2-40B4-BE49-F238E27FC236}">
                <a16:creationId xmlns:a16="http://schemas.microsoft.com/office/drawing/2014/main" id="{213360B5-0BE1-4E09-8178-53D4135A09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C9FFF0CF-9C1E-450C-8BDB-3D48B3F75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D76853F-81B9-4B6C-94BB-0CEC900EC678}" type="slidenum">
              <a:rPr lang="en-US" altLang="en-US" sz="1000" b="0" smtClean="0">
                <a:solidFill>
                  <a:schemeClr val="accent1"/>
                </a:solidFill>
              </a:rPr>
              <a:pPr/>
              <a:t>15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5423D01A-F357-4B0F-A3AB-32898BCC0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44F876E5-3FE4-491A-A8BD-CBEA8F4EB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F1FEDDB-CBFC-41E7-A3FF-FA59C70E53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F81F7C20-4505-436F-9D35-E88F0F188C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0F66FD03-7DBF-467B-A9E2-46B0FFE796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69B5224-373F-41E1-A77F-F6C1FDC26A2A}" type="slidenum">
              <a:rPr lang="en-US" altLang="en-US" sz="1000" b="0" smtClean="0">
                <a:solidFill>
                  <a:schemeClr val="accent1"/>
                </a:solidFill>
              </a:rPr>
              <a:pPr/>
              <a:t>16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8D1CCCB3-EA71-407C-9EA4-B2FE03A292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35144B44-6261-4DEF-B398-B5C260C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DA25DB0-839B-4697-8A3D-C6D67B0E3A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216C7006-073E-4D45-B942-6267A33870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36902AA6-205E-4216-B944-7FF1267DC3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7C5A106-4288-4595-99DD-496B3C08276A}" type="slidenum">
              <a:rPr lang="en-US" altLang="en-US" sz="1000" b="0" smtClean="0">
                <a:solidFill>
                  <a:schemeClr val="accent1"/>
                </a:solidFill>
              </a:rPr>
              <a:pPr/>
              <a:t>17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5D445B08-1649-47F3-84AA-627F6104B3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C7334632-0ED3-4B43-9DC9-1F8C9A4C6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1EA52EF-D824-4BDA-81DA-3B2E6F0852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0723" name="Rectangle 6">
            <a:extLst>
              <a:ext uri="{FF2B5EF4-FFF2-40B4-BE49-F238E27FC236}">
                <a16:creationId xmlns:a16="http://schemas.microsoft.com/office/drawing/2014/main" id="{58835BB7-C481-423D-BFBF-D82738FBF1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0724" name="Rectangle 7">
            <a:extLst>
              <a:ext uri="{FF2B5EF4-FFF2-40B4-BE49-F238E27FC236}">
                <a16:creationId xmlns:a16="http://schemas.microsoft.com/office/drawing/2014/main" id="{67789A5D-9973-4B44-B4DC-353E5868B4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137E6E6-96F3-455D-B4AA-0F09767AC9C4}" type="slidenum">
              <a:rPr lang="en-US" altLang="en-US" sz="1000" b="0" smtClean="0">
                <a:solidFill>
                  <a:schemeClr val="accent1"/>
                </a:solidFill>
              </a:rPr>
              <a:pPr/>
              <a:t>18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7DC9F3B9-9BE3-4076-8446-FA501B4BD4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DD0737A1-73C6-4AD3-9224-FE94B67CF8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0333B7E-FF48-4394-ABE8-99183E32C7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2771" name="Rectangle 6">
            <a:extLst>
              <a:ext uri="{FF2B5EF4-FFF2-40B4-BE49-F238E27FC236}">
                <a16:creationId xmlns:a16="http://schemas.microsoft.com/office/drawing/2014/main" id="{D5117130-AD3C-46E8-8493-8299557E68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2772" name="Rectangle 7">
            <a:extLst>
              <a:ext uri="{FF2B5EF4-FFF2-40B4-BE49-F238E27FC236}">
                <a16:creationId xmlns:a16="http://schemas.microsoft.com/office/drawing/2014/main" id="{C650BA80-7CD9-460E-956A-80633C16C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4434D80-DD4C-4B50-893D-999BEB93F668}" type="slidenum">
              <a:rPr lang="en-US" altLang="en-US" sz="1000" b="0" smtClean="0">
                <a:solidFill>
                  <a:schemeClr val="accent1"/>
                </a:solidFill>
              </a:rPr>
              <a:pPr/>
              <a:t>19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93414FA5-AF45-4DC5-B18A-E9B40C37E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C624085A-2773-4145-B9ED-0A0489D34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6E81869-E28E-44B0-9F6D-0282EBB97E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4819" name="Rectangle 6">
            <a:extLst>
              <a:ext uri="{FF2B5EF4-FFF2-40B4-BE49-F238E27FC236}">
                <a16:creationId xmlns:a16="http://schemas.microsoft.com/office/drawing/2014/main" id="{FC1CFE0F-8ECB-488E-BE3C-A0622055A5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4820" name="Rectangle 7">
            <a:extLst>
              <a:ext uri="{FF2B5EF4-FFF2-40B4-BE49-F238E27FC236}">
                <a16:creationId xmlns:a16="http://schemas.microsoft.com/office/drawing/2014/main" id="{1FC98784-F417-43A8-A21F-CC955D420F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65D5523-465A-4A6C-83F7-1C85EB64E164}" type="slidenum">
              <a:rPr lang="en-US" altLang="en-US" sz="1000" b="0" smtClean="0">
                <a:solidFill>
                  <a:schemeClr val="accent1"/>
                </a:solidFill>
              </a:rPr>
              <a:pPr/>
              <a:t>20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2B083352-EEF5-47CA-B464-71A8E0E71F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154C7ACB-884A-4554-A733-DBF169B63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B2FD78A-DF0B-4529-99EB-D1A42E689F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6867" name="Rectangle 6">
            <a:extLst>
              <a:ext uri="{FF2B5EF4-FFF2-40B4-BE49-F238E27FC236}">
                <a16:creationId xmlns:a16="http://schemas.microsoft.com/office/drawing/2014/main" id="{CC431737-FD20-4E34-9561-5288AC22BC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6868" name="Rectangle 7">
            <a:extLst>
              <a:ext uri="{FF2B5EF4-FFF2-40B4-BE49-F238E27FC236}">
                <a16:creationId xmlns:a16="http://schemas.microsoft.com/office/drawing/2014/main" id="{D8BB9C7E-8112-47BC-A235-FE95840E5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FF61AE8-496F-4693-AEAC-78820A7BB5E4}" type="slidenum">
              <a:rPr lang="en-US" altLang="en-US" sz="1000" b="0" smtClean="0">
                <a:solidFill>
                  <a:schemeClr val="accent1"/>
                </a:solidFill>
              </a:rPr>
              <a:pPr/>
              <a:t>21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383A42D2-DE2A-4D36-A905-9F95C03855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C2CEC6A7-AA28-4DC6-B50E-14A7DF7B8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729CB99-E458-4170-92EB-E3D1E87241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8915" name="Rectangle 6">
            <a:extLst>
              <a:ext uri="{FF2B5EF4-FFF2-40B4-BE49-F238E27FC236}">
                <a16:creationId xmlns:a16="http://schemas.microsoft.com/office/drawing/2014/main" id="{006A0181-5513-4E3D-A4B1-77A9CAD541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71E47D87-240D-4A91-9CA5-093A0F813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29F5222-BA6C-4118-BBBD-33BD18E7DB22}" type="slidenum">
              <a:rPr lang="en-US" altLang="en-US" sz="1000" b="0" smtClean="0">
                <a:solidFill>
                  <a:schemeClr val="accent1"/>
                </a:solidFill>
              </a:rPr>
              <a:pPr/>
              <a:t>22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C4AE9EFB-A5AA-4B3C-BA9A-01464C2C96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6BE63F5E-B761-4877-855E-072DE1A48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733A4DF-6435-4C42-AE41-5545FBB247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0963" name="Rectangle 6">
            <a:extLst>
              <a:ext uri="{FF2B5EF4-FFF2-40B4-BE49-F238E27FC236}">
                <a16:creationId xmlns:a16="http://schemas.microsoft.com/office/drawing/2014/main" id="{C55DBEAF-E36F-43B2-9DB4-E0D0697DD9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0964" name="Rectangle 7">
            <a:extLst>
              <a:ext uri="{FF2B5EF4-FFF2-40B4-BE49-F238E27FC236}">
                <a16:creationId xmlns:a16="http://schemas.microsoft.com/office/drawing/2014/main" id="{25517F44-B4A6-4FA9-97C3-C7EFF3495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4E08E98-63A3-4E3F-B52C-CC8F2683B1C0}" type="slidenum">
              <a:rPr lang="en-US" altLang="en-US" sz="1000" b="0" smtClean="0">
                <a:solidFill>
                  <a:schemeClr val="accent1"/>
                </a:solidFill>
              </a:rPr>
              <a:pPr/>
              <a:t>23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A0A32E20-96CA-4248-A16A-23E8416F2B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CA601834-4B4A-41AB-BB8F-8C70509AC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91EC9E0-237D-4F86-9413-70D8A50823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3011" name="Rectangle 6">
            <a:extLst>
              <a:ext uri="{FF2B5EF4-FFF2-40B4-BE49-F238E27FC236}">
                <a16:creationId xmlns:a16="http://schemas.microsoft.com/office/drawing/2014/main" id="{0293E48C-0469-4B9A-8479-68F247F237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3012" name="Rectangle 7">
            <a:extLst>
              <a:ext uri="{FF2B5EF4-FFF2-40B4-BE49-F238E27FC236}">
                <a16:creationId xmlns:a16="http://schemas.microsoft.com/office/drawing/2014/main" id="{EE689A3C-3B2C-4F4C-B38E-4D1D471E2A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385D4EB-4184-4075-8483-83A36C468DF5}" type="slidenum">
              <a:rPr lang="en-US" altLang="en-US" sz="1000" b="0" smtClean="0">
                <a:solidFill>
                  <a:schemeClr val="accent1"/>
                </a:solidFill>
              </a:rPr>
              <a:pPr/>
              <a:t>24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29457B95-2782-4D0C-ACEF-A7E9F416E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E6FBB3AD-D41E-4157-8F40-174B500BF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4AE389A-9A98-48DA-B77B-59BE26CC93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5059" name="Rectangle 6">
            <a:extLst>
              <a:ext uri="{FF2B5EF4-FFF2-40B4-BE49-F238E27FC236}">
                <a16:creationId xmlns:a16="http://schemas.microsoft.com/office/drawing/2014/main" id="{58347636-6A04-4356-BC8F-0E3E5E8480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FC8DA197-2047-4EAC-8E6B-A70876745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286DB06-13D4-46BE-8420-D75806CF95AB}" type="slidenum">
              <a:rPr lang="en-US" altLang="en-US" sz="1000" b="0" smtClean="0">
                <a:solidFill>
                  <a:schemeClr val="accent1"/>
                </a:solidFill>
              </a:rPr>
              <a:pPr/>
              <a:t>25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4208A6F8-8BCD-4B2D-998D-029952BE91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60460385-C850-44D6-8E8D-408694DF7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F1807CE-C9BE-43C7-883B-1756F8FE13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7107" name="Rectangle 6">
            <a:extLst>
              <a:ext uri="{FF2B5EF4-FFF2-40B4-BE49-F238E27FC236}">
                <a16:creationId xmlns:a16="http://schemas.microsoft.com/office/drawing/2014/main" id="{B4E2D62C-FA38-4F16-910A-9B4C67B862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7108" name="Rectangle 7">
            <a:extLst>
              <a:ext uri="{FF2B5EF4-FFF2-40B4-BE49-F238E27FC236}">
                <a16:creationId xmlns:a16="http://schemas.microsoft.com/office/drawing/2014/main" id="{65A1309D-381A-4340-AD25-BA2648CF88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5E1CC58-B7AE-44CF-B1B2-CBFE5B4BE595}" type="slidenum">
              <a:rPr lang="en-US" altLang="en-US" sz="1000" b="0" smtClean="0">
                <a:solidFill>
                  <a:schemeClr val="accent1"/>
                </a:solidFill>
              </a:rPr>
              <a:pPr/>
              <a:t>26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44928F20-69DC-4BF1-83DC-1A00B7C4F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BEFB598D-71CC-4BAF-AA01-4281862A8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B910040-0038-4A44-AD31-C5F66A29CE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9155" name="Rectangle 6">
            <a:extLst>
              <a:ext uri="{FF2B5EF4-FFF2-40B4-BE49-F238E27FC236}">
                <a16:creationId xmlns:a16="http://schemas.microsoft.com/office/drawing/2014/main" id="{5E5E58FC-2D2D-4D12-A72C-F763E1B605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9156" name="Rectangle 7">
            <a:extLst>
              <a:ext uri="{FF2B5EF4-FFF2-40B4-BE49-F238E27FC236}">
                <a16:creationId xmlns:a16="http://schemas.microsoft.com/office/drawing/2014/main" id="{525117B6-020B-4173-9A1A-F832D3F022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5452D40-59A0-42B6-9332-2066BCB2ECB6}" type="slidenum">
              <a:rPr lang="en-US" altLang="en-US" sz="1000" b="0" smtClean="0">
                <a:solidFill>
                  <a:schemeClr val="accent1"/>
                </a:solidFill>
              </a:rPr>
              <a:pPr/>
              <a:t>27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C89009C3-B0F8-4198-83EB-4840710305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>
            <a:extLst>
              <a:ext uri="{FF2B5EF4-FFF2-40B4-BE49-F238E27FC236}">
                <a16:creationId xmlns:a16="http://schemas.microsoft.com/office/drawing/2014/main" id="{86E322FA-049B-4266-93CD-E58D2674E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7C91C0E-69F1-445C-AC07-64750B6185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51203" name="Rectangle 6">
            <a:extLst>
              <a:ext uri="{FF2B5EF4-FFF2-40B4-BE49-F238E27FC236}">
                <a16:creationId xmlns:a16="http://schemas.microsoft.com/office/drawing/2014/main" id="{44B0EEB2-0857-4A49-BBDD-B28DBC3DC9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51204" name="Rectangle 7">
            <a:extLst>
              <a:ext uri="{FF2B5EF4-FFF2-40B4-BE49-F238E27FC236}">
                <a16:creationId xmlns:a16="http://schemas.microsoft.com/office/drawing/2014/main" id="{25081195-19AE-4921-A128-D976908CD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8EFEADE-F60A-452A-9C97-72AABE5F21F7}" type="slidenum">
              <a:rPr lang="en-US" altLang="en-US" sz="1000" b="0" smtClean="0">
                <a:solidFill>
                  <a:schemeClr val="accent1"/>
                </a:solidFill>
              </a:rPr>
              <a:pPr/>
              <a:t>28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E0D75DBA-1CB0-4F81-9605-86C948D32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1F316C00-E8A4-42CE-BBC6-6D199D465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90E76A3-F861-4198-B8A0-79BCC304E2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53251" name="Rectangle 6">
            <a:extLst>
              <a:ext uri="{FF2B5EF4-FFF2-40B4-BE49-F238E27FC236}">
                <a16:creationId xmlns:a16="http://schemas.microsoft.com/office/drawing/2014/main" id="{DF4B9732-6931-4513-A13E-33F562CF5C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53252" name="Rectangle 7">
            <a:extLst>
              <a:ext uri="{FF2B5EF4-FFF2-40B4-BE49-F238E27FC236}">
                <a16:creationId xmlns:a16="http://schemas.microsoft.com/office/drawing/2014/main" id="{2F4A6AA9-832D-40A2-A2F5-EDD47971D6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D619571-A938-45BE-8EE2-D400B5379C06}" type="slidenum">
              <a:rPr lang="en-US" altLang="en-US" sz="1000" b="0" smtClean="0">
                <a:solidFill>
                  <a:schemeClr val="accent1"/>
                </a:solidFill>
              </a:rPr>
              <a:pPr/>
              <a:t>29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1A1AC769-6BA1-4733-BE9C-FD963EA9E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2150"/>
            <a:ext cx="6070600" cy="3416300"/>
          </a:xfrm>
          <a:ln/>
        </p:spPr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C4959265-AC43-4259-B632-275A020A5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1175" y="4340225"/>
            <a:ext cx="5894388" cy="41195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Times New Roman" pitchFamily="-32" charset="0"/>
              <a:buNone/>
            </a:pPr>
            <a:fld id="{0D1A05C4-4B23-4E67-AC37-BE4D26D7177B}" type="slidenum">
              <a:rPr lang="en-US">
                <a:latin typeface="Times New Roman" pitchFamily="-32" charset="0"/>
                <a:ea typeface="Arial Unicode MS" pitchFamily="-32" charset="0"/>
                <a:cs typeface="Arial Unicode MS" pitchFamily="-32" charset="0"/>
              </a:rPr>
              <a:pPr>
                <a:buFont typeface="Times New Roman" pitchFamily="-32" charset="0"/>
                <a:buNone/>
              </a:pPr>
              <a:t>31</a:t>
            </a:fld>
            <a:endParaRPr lang="en-US">
              <a:latin typeface="Times New Roman" pitchFamily="-32" charset="0"/>
              <a:ea typeface="Arial Unicode MS" pitchFamily="-32" charset="0"/>
              <a:cs typeface="Arial Unicode MS" pitchFamily="-32" charset="0"/>
            </a:endParaRPr>
          </a:p>
        </p:txBody>
      </p:sp>
      <p:sp>
        <p:nvSpPr>
          <p:cNvPr id="635907" name="Placeholder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35908" name="Placeholder 2"/>
          <p:cNvSpPr txBox="1">
            <a:spLocks noGrp="1" noChangeArrowheads="1"/>
          </p:cNvSpPr>
          <p:nvPr>
            <p:ph type="body" idx="1"/>
          </p:nvPr>
        </p:nvSpPr>
        <p:spPr>
          <a:xfrm>
            <a:off x="0" y="0"/>
            <a:ext cx="1588" cy="1588"/>
          </a:xfrm>
          <a:noFill/>
          <a:ln>
            <a:solidFill>
              <a:srgbClr val="000000"/>
            </a:solidFill>
          </a:ln>
        </p:spPr>
        <p:txBody>
          <a:bodyPr wrap="none" anchor="ctr"/>
          <a:lstStyle/>
          <a:p>
            <a:endParaRPr lang="en-US">
              <a:latin typeface="Times New Roman" pitchFamily="-32" charset="0"/>
            </a:endParaRPr>
          </a:p>
        </p:txBody>
      </p:sp>
      <p:sp>
        <p:nvSpPr>
          <p:cNvPr id="635909" name="Text Box 3"/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0000" tIns="66168" rIns="90000" bIns="45000" anchor="b">
            <a:prstTxWarp prst="textNoShape">
              <a:avLst/>
            </a:prstTxWarp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-32" charset="0"/>
              <a:buNone/>
            </a:pPr>
            <a:fld id="{831DFAD3-B836-44B1-9543-8F405A1D5D38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31</a:t>
            </a:fld>
            <a:fld id="{9E8C416F-9D47-4D04-AD3B-C224ED15532B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711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Times New Roman" pitchFamily="-32" charset="0"/>
              <a:buNone/>
            </a:pPr>
            <a:fld id="{0D1A05C4-4B23-4E67-AC37-BE4D26D7177B}" type="slidenum">
              <a:rPr lang="en-US">
                <a:latin typeface="Times New Roman" pitchFamily="-32" charset="0"/>
                <a:ea typeface="Arial Unicode MS" pitchFamily="-32" charset="0"/>
                <a:cs typeface="Arial Unicode MS" pitchFamily="-32" charset="0"/>
              </a:rPr>
              <a:pPr>
                <a:buFont typeface="Times New Roman" pitchFamily="-32" charset="0"/>
                <a:buNone/>
              </a:pPr>
              <a:t>33</a:t>
            </a:fld>
            <a:endParaRPr lang="en-US">
              <a:latin typeface="Times New Roman" pitchFamily="-32" charset="0"/>
              <a:ea typeface="Arial Unicode MS" pitchFamily="-32" charset="0"/>
              <a:cs typeface="Arial Unicode MS" pitchFamily="-32" charset="0"/>
            </a:endParaRPr>
          </a:p>
        </p:txBody>
      </p:sp>
      <p:sp>
        <p:nvSpPr>
          <p:cNvPr id="635907" name="Placeholder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35908" name="Placeholder 2"/>
          <p:cNvSpPr txBox="1">
            <a:spLocks noGrp="1" noChangeArrowheads="1"/>
          </p:cNvSpPr>
          <p:nvPr>
            <p:ph type="body" idx="1"/>
          </p:nvPr>
        </p:nvSpPr>
        <p:spPr>
          <a:xfrm>
            <a:off x="0" y="0"/>
            <a:ext cx="1588" cy="1588"/>
          </a:xfrm>
          <a:noFill/>
          <a:ln>
            <a:solidFill>
              <a:srgbClr val="000000"/>
            </a:solidFill>
          </a:ln>
        </p:spPr>
        <p:txBody>
          <a:bodyPr wrap="none" anchor="ctr"/>
          <a:lstStyle/>
          <a:p>
            <a:endParaRPr lang="en-US">
              <a:latin typeface="Times New Roman" pitchFamily="-32" charset="0"/>
            </a:endParaRPr>
          </a:p>
        </p:txBody>
      </p:sp>
      <p:sp>
        <p:nvSpPr>
          <p:cNvPr id="635909" name="Text Box 3"/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0000" tIns="66168" rIns="90000" bIns="45000" anchor="b">
            <a:prstTxWarp prst="textNoShape">
              <a:avLst/>
            </a:prstTxWarp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-32" charset="0"/>
              <a:buNone/>
            </a:pPr>
            <a:fld id="{831DFAD3-B836-44B1-9543-8F405A1D5D38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33</a:t>
            </a:fld>
            <a:fld id="{9E8C416F-9D47-4D04-AD3B-C224ED15532B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48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77F5-4244-4F7A-BBE8-97878006C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05871-FB3E-481F-A31B-C91AE9123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028EE-7E1D-403E-B22D-EE8AB476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A6B1-30C0-41BF-AA03-441FCAF2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B83D0-617E-44AA-9E7B-56679ADA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1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AA3A-102D-44F8-860E-06D6CF00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C2CA5-FB60-428F-AEF5-D1311D6A8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4EC1-56C6-41AB-B1D6-2D73B630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9BBE2-B067-4FE2-8804-4FE11726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3B6C-D790-4675-9EDE-43CAB69F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4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76E4-1EB5-4480-996E-E6806433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F6CEA-03D9-458A-942C-889F7D4E2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9384-A8C6-4523-ABED-3FCD7FE1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53B3-6034-4156-B209-9E70AEBC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4945-AAE7-4CE6-99C5-02402442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9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F750-2072-4E6D-B31A-3A82ED34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44B60-B835-485D-9BA0-63197D969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99CCD-0D13-4CE6-B555-32018F273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931E1-ED62-4002-83C2-B0FB5DCA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8F1C6-D4D7-414F-BE43-B2AA0E55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ECCB8-A5B6-4233-B3E7-0CCC27D9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E35F-EAA2-4B26-8799-171BE4C75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A14C3-A582-4EEF-953A-393CDD806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5CAC9-070F-4241-AD2F-B6193CE05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074F1-5694-4C84-88D8-6F8D1D544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503C2-5AA8-400B-A83D-1BAC022B3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0B6EF-0686-4D08-8C7B-9F2407E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E99E9-F48C-44F9-9947-1BEE6D79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246FE-327E-484B-BBE6-398463CE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7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3152-77EE-4010-BB91-ED2D0669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39C7D-3B70-4C51-89D9-4E7198EC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9857D-FFAE-4CCC-88AF-8272DF9A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19231-646E-49E6-A541-601AF920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3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65375-F8E6-41D1-BF8A-C3A153E8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B92A6-90CC-4224-A639-E0C41B89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1650A-EA59-4A11-AFE0-70529B76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1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7FBD-E610-4C33-8F0D-D9B22E62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0BDE-DD2C-428C-9E15-09E056C0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15841-DB8B-4EAB-9435-82567B628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BDCA8-098C-402C-966F-F4774FCB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BFFBC-AF8F-44EA-80F6-0F25A630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FAF33-D4A3-46E4-A1D2-DD2930CD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45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41C1D-9801-4329-AB9C-4A6C9BC4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36158-4071-4452-B232-FB682379D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8FA33-2B5D-4F83-844D-C87741F62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861B6-B57E-48FF-8110-8E0A32E7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D3E17-44D7-4982-A79D-D7B1852E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F2079-68FC-42BF-8BB2-C2A32D36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15FB-02F2-49D2-85B7-0A526191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FC434-6A2F-44CD-9F04-AB0D246C8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FA849-2DD5-42EB-A2A6-41A2F8DB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5F79-978D-4944-A40E-7402FBFF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27133-1FF0-4AC4-B645-A783C0AC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F560FB-2EE9-44DC-9CA3-6AF21A9E5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E2C0B-E8FF-4835-96EC-5909A3341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9D359-93D5-4182-928B-F0CAB5BF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88A0-34F8-4819-9FC2-EE72B060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9692-67A8-46BA-912F-CC7C0CCA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30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1097068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1354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40714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Image result for mailigen logo">
            <a:extLst>
              <a:ext uri="{FF2B5EF4-FFF2-40B4-BE49-F238E27FC236}">
                <a16:creationId xmlns:a16="http://schemas.microsoft.com/office/drawing/2014/main" id="{D044AA18-D3D9-4B93-81FB-E781C3CACF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65" y="-57439"/>
            <a:ext cx="1580648" cy="118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29B1F-63A4-4F2A-8273-50779B79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D2D1C-798B-4E91-A1EF-8C0218387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893C-F97A-4BCF-A2AC-CAF7D0A53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B0965-CD1A-490D-A218-2A8EBE129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A4AA-F367-4C1E-BC29-49DDE5772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237D94-E1B3-4F22-8324-EDF544826B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72467" y="6569075"/>
            <a:ext cx="4064000" cy="2746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lIns="90000" tIns="55584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93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itchFamily="8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sz="1200" dirty="0">
                <a:solidFill>
                  <a:srgbClr val="000000"/>
                </a:solidFill>
              </a:rPr>
              <a:t>©Adizes Institute 2019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C9DF46-6828-4623-A6A9-DF9C6B296FC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94173" y="6176857"/>
            <a:ext cx="1598652" cy="5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9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astcompany.com/41088/i-can-only-compete-through-my-crew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1A2E2C-0B30-4D77-8D1A-3E72BAAFE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9465" y="1849009"/>
            <a:ext cx="7772400" cy="2033829"/>
          </a:xfrm>
        </p:spPr>
        <p:txBody>
          <a:bodyPr/>
          <a:lstStyle/>
          <a:p>
            <a:pPr algn="ctr"/>
            <a:r>
              <a:rPr lang="lv-LV" sz="3600" i="1" dirty="0">
                <a:solidFill>
                  <a:srgbClr val="FF0000"/>
                </a:solidFill>
              </a:rPr>
              <a:t>Growing Incredible </a:t>
            </a:r>
            <a:r>
              <a:rPr lang="en-US" sz="3600" i="1" dirty="0">
                <a:solidFill>
                  <a:srgbClr val="FF0000"/>
                </a:solidFill>
              </a:rPr>
              <a:t>Managers: </a:t>
            </a:r>
            <a:br>
              <a:rPr lang="en-US" sz="3600" i="1" dirty="0">
                <a:solidFill>
                  <a:srgbClr val="FF0000"/>
                </a:solidFill>
              </a:rPr>
            </a:br>
            <a:br>
              <a:rPr lang="en-US" sz="2400" i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C0F7E41-707C-45B5-A1A2-27BDDBA26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5349" y="2862009"/>
            <a:ext cx="8360564" cy="3511075"/>
          </a:xfrm>
        </p:spPr>
        <p:txBody>
          <a:bodyPr/>
          <a:lstStyle/>
          <a:p>
            <a:r>
              <a:rPr lang="en-US" i="1" dirty="0"/>
              <a:t>Business Models to Drive Innovation</a:t>
            </a:r>
          </a:p>
          <a:p>
            <a:endParaRPr lang="lv-LV" sz="1800" i="1" dirty="0"/>
          </a:p>
          <a:p>
            <a:endParaRPr lang="lv-LV" sz="1800" i="1" dirty="0"/>
          </a:p>
          <a:p>
            <a:r>
              <a:rPr lang="en-US" sz="1800" dirty="0"/>
              <a:t>Prepared by </a:t>
            </a:r>
          </a:p>
          <a:p>
            <a:r>
              <a:rPr lang="lv-LV" sz="2000" dirty="0" err="1"/>
              <a:t>Greg</a:t>
            </a:r>
            <a:r>
              <a:rPr lang="lv-LV" sz="2000" dirty="0"/>
              <a:t> Mathers</a:t>
            </a:r>
            <a:r>
              <a:rPr lang="en-US" sz="2000" dirty="0"/>
              <a:t>, Certified Adizes Senior Associate</a:t>
            </a:r>
          </a:p>
          <a:p>
            <a:r>
              <a:rPr lang="lv-LV" sz="2000" dirty="0"/>
              <a:t>June</a:t>
            </a:r>
            <a:r>
              <a:rPr lang="en-US" sz="2000" dirty="0"/>
              <a:t>-July 2019</a:t>
            </a:r>
          </a:p>
          <a:p>
            <a:endParaRPr lang="en-US" sz="2000" dirty="0"/>
          </a:p>
          <a:p>
            <a:r>
              <a:rPr lang="en-US" sz="2000" dirty="0"/>
              <a:t>Projekts Nr./ CFLA l</a:t>
            </a:r>
            <a:r>
              <a:rPr lang="lv-LV" sz="2000" dirty="0"/>
              <a:t>ī</a:t>
            </a:r>
            <a:r>
              <a:rPr lang="en-US" sz="2000" dirty="0"/>
              <a:t>gums Nr.</a:t>
            </a:r>
            <a:r>
              <a:rPr lang="lv-LV" sz="2000" dirty="0"/>
              <a:t> 1.2.2.3/16/i/001</a:t>
            </a:r>
            <a:endParaRPr lang="en-US" sz="2000" dirty="0"/>
          </a:p>
          <a:p>
            <a:endParaRPr lang="en-US" sz="2000" dirty="0"/>
          </a:p>
          <a:p>
            <a:endParaRPr lang="en-US" i="1" dirty="0"/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D1102B30-1D50-46BD-9A21-D90E3A0A6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56749" y="323560"/>
            <a:ext cx="3472492" cy="18012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2187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mailigen logo">
            <a:extLst>
              <a:ext uri="{FF2B5EF4-FFF2-40B4-BE49-F238E27FC236}">
                <a16:creationId xmlns:a16="http://schemas.microsoft.com/office/drawing/2014/main" id="{33817BED-D52E-45D6-A1EE-1DA455A88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65" y="-57439"/>
            <a:ext cx="1580648" cy="118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92E657F-EDF1-49C3-B45A-43285F38D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467" y="6569075"/>
            <a:ext cx="4064000" cy="2746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lIns="90000" tIns="55584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93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itchFamily="8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sz="1200" dirty="0">
                <a:solidFill>
                  <a:srgbClr val="000000"/>
                </a:solidFill>
              </a:rPr>
              <a:t>©Adizes Institute 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29D44-E79A-4CF1-9159-C6008C42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73" y="6176857"/>
            <a:ext cx="1598652" cy="54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err="1"/>
              <a:t>Appex</a:t>
            </a:r>
            <a:r>
              <a:rPr lang="en-US" sz="3200" dirty="0"/>
              <a:t> Case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3A5BB-9075-4E0D-9BF0-9DD401359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74888"/>
          </a:xfrm>
        </p:spPr>
        <p:txBody>
          <a:bodyPr/>
          <a:lstStyle/>
          <a:p>
            <a:r>
              <a:rPr lang="en-US" dirty="0"/>
              <a:t>What are the PIPs facing Ghosh when takes over?</a:t>
            </a:r>
          </a:p>
          <a:p>
            <a:r>
              <a:rPr lang="en-US" dirty="0"/>
              <a:t>Agree on and be ready to discuss 3 key lessons from the case with </a:t>
            </a:r>
            <a:r>
              <a:rPr lang="en-US" dirty="0" err="1"/>
              <a:t>Appex</a:t>
            </a:r>
            <a:r>
              <a:rPr lang="en-US" dirty="0"/>
              <a:t> Corp.</a:t>
            </a:r>
          </a:p>
          <a:p>
            <a:r>
              <a:rPr lang="en-US" dirty="0"/>
              <a:t>Is there anything you think Ghosh should have done differently and if 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361569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981186" y="104828"/>
            <a:ext cx="4018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Business Model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6423" y="657932"/>
            <a:ext cx="8594125" cy="600804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1746422" y="5277216"/>
            <a:ext cx="8594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337735" y="650662"/>
            <a:ext cx="12323" cy="4606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629591" y="650662"/>
            <a:ext cx="2907" cy="4626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5233018" y="657932"/>
            <a:ext cx="15322" cy="4599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6852616" y="657933"/>
            <a:ext cx="23172" cy="4626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876927" y="3319893"/>
            <a:ext cx="1756709" cy="13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353058" y="3248250"/>
            <a:ext cx="1895282" cy="13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844822" y="5319798"/>
            <a:ext cx="417367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Cost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are the most important costs inherent to our business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resources are most expensive?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activities are most expensive? </a:t>
            </a:r>
          </a:p>
          <a:p>
            <a:endParaRPr 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1820258" y="782284"/>
            <a:ext cx="148758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Key Partners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Who are our key partners?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Who are our key suppliers?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resources are we acquiring from our partners?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activities do partners perform? 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3435536" y="782284"/>
            <a:ext cx="170748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Key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key activities do our value propositions require?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Our distribution channels?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Customer relationships?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Revenue streams?</a:t>
            </a:r>
          </a:p>
          <a:p>
            <a:endParaRPr lang="en-US" sz="1200" u="sng" dirty="0"/>
          </a:p>
        </p:txBody>
      </p:sp>
      <p:sp>
        <p:nvSpPr>
          <p:cNvPr id="47" name="TextBox 46"/>
          <p:cNvSpPr txBox="1"/>
          <p:nvPr/>
        </p:nvSpPr>
        <p:spPr>
          <a:xfrm>
            <a:off x="3371408" y="3246917"/>
            <a:ext cx="184105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Key Resources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key resources do our value propositions require?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Our distribution channels?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Customer relationships?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Revenue streams</a:t>
            </a:r>
          </a:p>
          <a:p>
            <a:endParaRPr lang="en-US" sz="1200" dirty="0"/>
          </a:p>
        </p:txBody>
      </p:sp>
      <p:sp>
        <p:nvSpPr>
          <p:cNvPr id="68" name="TextBox 67"/>
          <p:cNvSpPr txBox="1"/>
          <p:nvPr/>
        </p:nvSpPr>
        <p:spPr>
          <a:xfrm>
            <a:off x="8670674" y="796824"/>
            <a:ext cx="157854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Customers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do we get, keep and grow customers?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customer relationships have we established?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are they integrated with the rest of our business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costly are they?</a:t>
            </a:r>
          </a:p>
          <a:p>
            <a:endParaRPr 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6896345" y="796824"/>
            <a:ext cx="168254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Customer Relationships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do we get, keep and grow customers?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customer relationships have we established?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are they integrated with the rest of our business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costly are they?</a:t>
            </a:r>
          </a:p>
          <a:p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6920902" y="3343080"/>
            <a:ext cx="1707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Channels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Through which channels do our customer segments want to be reached?</a:t>
            </a:r>
          </a:p>
          <a:p>
            <a:endParaRPr lang="en-US" sz="900" dirty="0"/>
          </a:p>
        </p:txBody>
      </p:sp>
      <p:sp>
        <p:nvSpPr>
          <p:cNvPr id="71" name="TextBox 70"/>
          <p:cNvSpPr txBox="1"/>
          <p:nvPr/>
        </p:nvSpPr>
        <p:spPr>
          <a:xfrm>
            <a:off x="5257328" y="790676"/>
            <a:ext cx="16184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Value Proposition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value do we deliver to the customer?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one of our customers’ problems are we helping to solve?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bundles of products and services are we offering to each segment?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customer needs are we satisfying?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is the minimum viable product?</a:t>
            </a:r>
          </a:p>
          <a:p>
            <a:endParaRPr lang="en-US" sz="1200" u="sng" dirty="0"/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6148110" y="5266200"/>
            <a:ext cx="14511" cy="1407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89915" y="5328070"/>
            <a:ext cx="3804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Revenue Streams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For what value are our customers really willing to pay?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For what do they currently pay?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is the revenue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are the pricing tactics? </a:t>
            </a:r>
          </a:p>
          <a:p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2066188" y="2350920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8743" y="1829966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76632" y="2698542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33369" y="2285507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0789" y="2360140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69945" y="4210639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9512" y="3978904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70183" y="6070434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89915" y="6196961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62887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46820" y="114686"/>
            <a:ext cx="1756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Lean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114684"/>
            <a:ext cx="3276600" cy="4616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0" y="114684"/>
            <a:ext cx="1752600" cy="201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01-Jan-2014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375182"/>
            <a:ext cx="1752600" cy="201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Iteration #x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6401" y="4639985"/>
            <a:ext cx="4398041" cy="133840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Cost Structure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Customer Acquisition costs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Distribution costs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Hosting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People, etc.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4442" y="4639985"/>
            <a:ext cx="4398041" cy="133840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Revenue Streams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Revenue Model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Life Time Value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Revenue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Gross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76400" y="664126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Problem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Top 3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1192" y="664126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Top 3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1192" y="2652055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Key Metrics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Key activities you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8106" y="664126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Unique Value Proposition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Single, clear, compelling message that states why you are different and worth paying attention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2898" y="664126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Unfair Advantage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Can’t be easily copied or bought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2898" y="2652055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Channels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Path to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7690" y="664126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Customer Segments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Target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6400" y="664126"/>
            <a:ext cx="8796082" cy="5314267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112713"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77342" y="6028996"/>
            <a:ext cx="11961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007DDA"/>
                </a:solidFill>
                <a:latin typeface="Arial" pitchFamily="34" charset="0"/>
                <a:cs typeface="Arial" pitchFamily="34" charset="0"/>
              </a:rPr>
              <a:t>PRODUCT</a:t>
            </a:r>
            <a:endParaRPr lang="en-US" sz="2000" dirty="0">
              <a:solidFill>
                <a:srgbClr val="007DDA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754731" y="6028996"/>
            <a:ext cx="10374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007DDA"/>
                </a:solidFill>
                <a:latin typeface="Arial" pitchFamily="34" charset="0"/>
                <a:cs typeface="Arial" pitchFamily="34" charset="0"/>
              </a:rPr>
              <a:t>MARKET</a:t>
            </a:r>
            <a:endParaRPr lang="en-US" sz="2000" dirty="0">
              <a:solidFill>
                <a:srgbClr val="007DDA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074441" y="559952"/>
            <a:ext cx="0" cy="5731399"/>
          </a:xfrm>
          <a:prstGeom prst="line">
            <a:avLst/>
          </a:prstGeom>
          <a:ln w="19050" cap="rnd">
            <a:solidFill>
              <a:srgbClr val="007DDA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59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CC5A53-672B-467C-979F-B21085DAD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39288"/>
              </p:ext>
            </p:extLst>
          </p:nvPr>
        </p:nvGraphicFramePr>
        <p:xfrm>
          <a:off x="1566159" y="928915"/>
          <a:ext cx="9537270" cy="5204506"/>
        </p:xfrm>
        <a:graphic>
          <a:graphicData uri="http://schemas.openxmlformats.org/drawingml/2006/table">
            <a:tbl>
              <a:tblPr/>
              <a:tblGrid>
                <a:gridCol w="1450024">
                  <a:extLst>
                    <a:ext uri="{9D8B030D-6E8A-4147-A177-3AD203B41FA5}">
                      <a16:colId xmlns:a16="http://schemas.microsoft.com/office/drawing/2014/main" val="3128278539"/>
                    </a:ext>
                  </a:extLst>
                </a:gridCol>
                <a:gridCol w="4125841">
                  <a:extLst>
                    <a:ext uri="{9D8B030D-6E8A-4147-A177-3AD203B41FA5}">
                      <a16:colId xmlns:a16="http://schemas.microsoft.com/office/drawing/2014/main" val="3836628306"/>
                    </a:ext>
                  </a:extLst>
                </a:gridCol>
                <a:gridCol w="3961405">
                  <a:extLst>
                    <a:ext uri="{9D8B030D-6E8A-4147-A177-3AD203B41FA5}">
                      <a16:colId xmlns:a16="http://schemas.microsoft.com/office/drawing/2014/main" val="4034776071"/>
                    </a:ext>
                  </a:extLst>
                </a:gridCol>
              </a:tblGrid>
              <a:tr h="415083">
                <a:tc>
                  <a:txBody>
                    <a:bodyPr/>
                    <a:lstStyle/>
                    <a:p>
                      <a:pPr fontAlgn="base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Element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Business Model Canvas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Lean Canvas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71453"/>
                  </a:ext>
                </a:extLst>
              </a:tr>
              <a:tr h="415083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 dirty="0">
                          <a:effectLst/>
                          <a:latin typeface="inherit"/>
                        </a:rPr>
                        <a:t>Target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New and existing businesses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Startup businesses purely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745102"/>
                  </a:ext>
                </a:extLst>
              </a:tr>
              <a:tr h="670520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 dirty="0">
                          <a:effectLst/>
                          <a:latin typeface="inherit"/>
                        </a:rPr>
                        <a:t>Focus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Customers, Investors, Entrepreneurs, Consultants, Advisors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Entrepreneurs purely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496301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>
                          <a:effectLst/>
                          <a:latin typeface="inherit"/>
                        </a:rPr>
                        <a:t>Customers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Lays emphasis on customer segments, channels and customer relationships for all businesses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Does not lay much emphasis on customer segments because startups have no known or tested products to sell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850991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Approach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lays down the infrastructure, lists the nature and sources of financing and the anticipated revenue streams of the business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begins with the problem, a proposed solution, the channels to achieving the solution, costs involved and the anticipated revenue streams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64841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>
                          <a:effectLst/>
                          <a:latin typeface="inherit"/>
                        </a:rPr>
                        <a:t>Competition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focuses on value proposition in quantitative and qualitative terms as way to stay smart in the market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assesses whether the business has an unfair advantage over the rest and how to capitalize on it for better grounding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771127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>
                          <a:effectLst/>
                          <a:latin typeface="inherit"/>
                        </a:rPr>
                        <a:t>Application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fosters candid understanding, creativity, discussion and constructive analysis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dirty="0">
                          <a:effectLst/>
                          <a:latin typeface="inherit"/>
                        </a:rPr>
                        <a:t>It is a simple problem-solution oriented approach which enables the entrepreneur to develop step-by-step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65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07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0821" y="2130426"/>
            <a:ext cx="8049828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Source of corporate success</a:t>
            </a:r>
            <a:br>
              <a:rPr lang="en-US" sz="4000" dirty="0"/>
            </a:br>
            <a:br>
              <a:rPr lang="en-US" sz="4000" dirty="0"/>
            </a:br>
            <a:endParaRPr 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87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45" name="Text Box 13">
            <a:extLst>
              <a:ext uri="{FF2B5EF4-FFF2-40B4-BE49-F238E27FC236}">
                <a16:creationId xmlns:a16="http://schemas.microsoft.com/office/drawing/2014/main" id="{1561A825-1D93-4FA5-A123-FB6F54F84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4" y="2413681"/>
            <a:ext cx="355282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/>
              <a:t>It is not the strongest of the species that survive, nor the most intelligent, but the one most responsive to change.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Charles Darwin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E76366-7E87-4C3B-B9D3-A6D6640053E7}"/>
              </a:ext>
            </a:extLst>
          </p:cNvPr>
          <p:cNvSpPr txBox="1"/>
          <p:nvPr/>
        </p:nvSpPr>
        <p:spPr>
          <a:xfrm>
            <a:off x="3287068" y="322036"/>
            <a:ext cx="577344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000" dirty="0">
                <a:latin typeface="+mj-lt"/>
                <a:ea typeface="ＭＳ Ｐゴシック" pitchFamily="-111" charset="-128"/>
              </a:rPr>
              <a:t>Organizational Lifecycles &amp; </a:t>
            </a:r>
          </a:p>
          <a:p>
            <a:pPr algn="ctr">
              <a:defRPr/>
            </a:pPr>
            <a:r>
              <a:rPr lang="en-US" sz="4000" dirty="0">
                <a:latin typeface="+mj-lt"/>
                <a:ea typeface="ＭＳ Ｐゴシック" pitchFamily="-111" charset="-128"/>
              </a:rPr>
              <a:t>Related Business Models</a:t>
            </a: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DAB26349-36D2-4BAA-A912-A858DF592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2488294"/>
            <a:ext cx="292100" cy="2506663"/>
          </a:xfrm>
          <a:prstGeom prst="rect">
            <a:avLst/>
          </a:prstGeom>
          <a:gradFill rotWithShape="0">
            <a:gsLst>
              <a:gs pos="0">
                <a:srgbClr val="3399FF"/>
              </a:gs>
              <a:gs pos="100000">
                <a:srgbClr val="FF66FF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eaLnBrk="1" hangingPunct="1">
              <a:defRPr/>
            </a:pPr>
            <a:endParaRPr kumimoji="1" lang="lt-LT" sz="2400">
              <a:effectLst>
                <a:outerShdw blurRad="38100" dist="38100" dir="2700000" algn="tl">
                  <a:srgbClr val="FFFFFF"/>
                </a:outerShdw>
              </a:effectLst>
              <a:latin typeface="Arial Narrow" pitchFamily="-111" charset="0"/>
              <a:ea typeface="ＭＳ Ｐゴシック" pitchFamily="-111" charset="-128"/>
            </a:endParaRPr>
          </a:p>
        </p:txBody>
      </p:sp>
      <p:grpSp>
        <p:nvGrpSpPr>
          <p:cNvPr id="32" name="Group 15">
            <a:extLst>
              <a:ext uri="{FF2B5EF4-FFF2-40B4-BE49-F238E27FC236}">
                <a16:creationId xmlns:a16="http://schemas.microsoft.com/office/drawing/2014/main" id="{E86DA4CD-CB0B-437B-BDA0-4C3581E201A1}"/>
              </a:ext>
            </a:extLst>
          </p:cNvPr>
          <p:cNvGrpSpPr>
            <a:grpSpLocks/>
          </p:cNvGrpSpPr>
          <p:nvPr/>
        </p:nvGrpSpPr>
        <p:grpSpPr bwMode="auto">
          <a:xfrm>
            <a:off x="4341813" y="2488294"/>
            <a:ext cx="1541462" cy="2886075"/>
            <a:chOff x="817" y="1420"/>
            <a:chExt cx="2063" cy="2541"/>
          </a:xfrm>
        </p:grpSpPr>
        <p:sp>
          <p:nvSpPr>
            <p:cNvPr id="33" name="Rectangle 16">
              <a:extLst>
                <a:ext uri="{FF2B5EF4-FFF2-40B4-BE49-F238E27FC236}">
                  <a16:creationId xmlns:a16="http://schemas.microsoft.com/office/drawing/2014/main" id="{C492EE22-18EE-4E04-ACA5-5A7A57591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420"/>
              <a:ext cx="2063" cy="220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defRPr/>
              </a:pPr>
              <a:endParaRPr kumimoji="1" lang="lt-LT" sz="240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-111" charset="0"/>
                <a:ea typeface="ＭＳ Ｐゴシック" pitchFamily="-111" charset="-128"/>
              </a:endParaRPr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8CD82E50-B73A-4498-B5CB-5E17361AE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3665"/>
              <a:ext cx="1075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sz="16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itchFamily="-111" charset="0"/>
                  <a:ea typeface="ＭＳ Ｐゴシック" pitchFamily="-111" charset="-128"/>
                </a:rPr>
                <a:t>Growing</a:t>
              </a:r>
            </a:p>
          </p:txBody>
        </p:sp>
      </p:grpSp>
      <p:grpSp>
        <p:nvGrpSpPr>
          <p:cNvPr id="35" name="Group 18">
            <a:extLst>
              <a:ext uri="{FF2B5EF4-FFF2-40B4-BE49-F238E27FC236}">
                <a16:creationId xmlns:a16="http://schemas.microsoft.com/office/drawing/2014/main" id="{7087EA3B-204E-4BAF-A7D3-5016AB3CEBFE}"/>
              </a:ext>
            </a:extLst>
          </p:cNvPr>
          <p:cNvGrpSpPr>
            <a:grpSpLocks/>
          </p:cNvGrpSpPr>
          <p:nvPr/>
        </p:nvGrpSpPr>
        <p:grpSpPr bwMode="auto">
          <a:xfrm>
            <a:off x="6159500" y="2488294"/>
            <a:ext cx="1836738" cy="2886075"/>
            <a:chOff x="2880" y="1420"/>
            <a:chExt cx="2545" cy="2541"/>
          </a:xfrm>
        </p:grpSpPr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EBB405BD-CB24-4AD3-B0C1-3E4737AF2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20"/>
              <a:ext cx="2545" cy="220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1" lang="lt-LT" sz="240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-111" charset="0"/>
                <a:ea typeface="ＭＳ Ｐゴシック" pitchFamily="-111" charset="-128"/>
              </a:endParaRPr>
            </a:p>
          </p:txBody>
        </p:sp>
        <p:sp>
          <p:nvSpPr>
            <p:cNvPr id="37" name="Rectangle 20">
              <a:extLst>
                <a:ext uri="{FF2B5EF4-FFF2-40B4-BE49-F238E27FC236}">
                  <a16:creationId xmlns:a16="http://schemas.microsoft.com/office/drawing/2014/main" id="{F8CFBF15-463C-4562-9C55-28245C386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3665"/>
              <a:ext cx="842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sz="16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itchFamily="-111" charset="0"/>
                  <a:ea typeface="ＭＳ Ｐゴシック" pitchFamily="-111" charset="-128"/>
                </a:rPr>
                <a:t>Aging</a:t>
              </a:r>
            </a:p>
          </p:txBody>
        </p:sp>
      </p:grpSp>
      <p:sp>
        <p:nvSpPr>
          <p:cNvPr id="38" name="Freeform 21">
            <a:extLst>
              <a:ext uri="{FF2B5EF4-FFF2-40B4-BE49-F238E27FC236}">
                <a16:creationId xmlns:a16="http://schemas.microsoft.com/office/drawing/2014/main" id="{BB595E1A-FCB5-4AF6-8695-9C5EBA4F5E9A}"/>
              </a:ext>
            </a:extLst>
          </p:cNvPr>
          <p:cNvSpPr>
            <a:spLocks/>
          </p:cNvSpPr>
          <p:nvPr/>
        </p:nvSpPr>
        <p:spPr bwMode="auto">
          <a:xfrm>
            <a:off x="4624388" y="2764518"/>
            <a:ext cx="3090862" cy="1963738"/>
          </a:xfrm>
          <a:custGeom>
            <a:avLst/>
            <a:gdLst>
              <a:gd name="T0" fmla="*/ 2147483646 w 3899"/>
              <a:gd name="T1" fmla="*/ 2147483646 h 1729"/>
              <a:gd name="T2" fmla="*/ 2147483646 w 3899"/>
              <a:gd name="T3" fmla="*/ 2147483646 h 1729"/>
              <a:gd name="T4" fmla="*/ 2147483646 w 3899"/>
              <a:gd name="T5" fmla="*/ 2147483646 h 1729"/>
              <a:gd name="T6" fmla="*/ 2147483646 w 3899"/>
              <a:gd name="T7" fmla="*/ 2147483646 h 1729"/>
              <a:gd name="T8" fmla="*/ 2147483646 w 3899"/>
              <a:gd name="T9" fmla="*/ 2147483646 h 1729"/>
              <a:gd name="T10" fmla="*/ 2147483646 w 3899"/>
              <a:gd name="T11" fmla="*/ 2147483646 h 1729"/>
              <a:gd name="T12" fmla="*/ 2147483646 w 3899"/>
              <a:gd name="T13" fmla="*/ 2147483646 h 1729"/>
              <a:gd name="T14" fmla="*/ 2147483646 w 3899"/>
              <a:gd name="T15" fmla="*/ 2147483646 h 1729"/>
              <a:gd name="T16" fmla="*/ 2147483646 w 3899"/>
              <a:gd name="T17" fmla="*/ 2147483646 h 1729"/>
              <a:gd name="T18" fmla="*/ 2147483646 w 3899"/>
              <a:gd name="T19" fmla="*/ 2147483646 h 1729"/>
              <a:gd name="T20" fmla="*/ 2147483646 w 3899"/>
              <a:gd name="T21" fmla="*/ 2147483646 h 1729"/>
              <a:gd name="T22" fmla="*/ 2147483646 w 3899"/>
              <a:gd name="T23" fmla="*/ 2147483646 h 1729"/>
              <a:gd name="T24" fmla="*/ 2147483646 w 3899"/>
              <a:gd name="T25" fmla="*/ 2147483646 h 1729"/>
              <a:gd name="T26" fmla="*/ 2147483646 w 3899"/>
              <a:gd name="T27" fmla="*/ 2147483646 h 1729"/>
              <a:gd name="T28" fmla="*/ 2147483646 w 3899"/>
              <a:gd name="T29" fmla="*/ 2147483646 h 1729"/>
              <a:gd name="T30" fmla="*/ 2147483646 w 3899"/>
              <a:gd name="T31" fmla="*/ 2147483646 h 1729"/>
              <a:gd name="T32" fmla="*/ 2147483646 w 3899"/>
              <a:gd name="T33" fmla="*/ 2147483646 h 1729"/>
              <a:gd name="T34" fmla="*/ 2147483646 w 3899"/>
              <a:gd name="T35" fmla="*/ 2147483646 h 1729"/>
              <a:gd name="T36" fmla="*/ 2147483646 w 3899"/>
              <a:gd name="T37" fmla="*/ 2147483646 h 1729"/>
              <a:gd name="T38" fmla="*/ 2147483646 w 3899"/>
              <a:gd name="T39" fmla="*/ 2147483646 h 1729"/>
              <a:gd name="T40" fmla="*/ 2147483646 w 3899"/>
              <a:gd name="T41" fmla="*/ 2147483646 h 1729"/>
              <a:gd name="T42" fmla="*/ 2147483646 w 3899"/>
              <a:gd name="T43" fmla="*/ 2147483646 h 1729"/>
              <a:gd name="T44" fmla="*/ 2147483646 w 3899"/>
              <a:gd name="T45" fmla="*/ 2147483646 h 1729"/>
              <a:gd name="T46" fmla="*/ 2147483646 w 3899"/>
              <a:gd name="T47" fmla="*/ 2147483646 h 1729"/>
              <a:gd name="T48" fmla="*/ 2147483646 w 3899"/>
              <a:gd name="T49" fmla="*/ 2147483646 h 1729"/>
              <a:gd name="T50" fmla="*/ 2147483646 w 3899"/>
              <a:gd name="T51" fmla="*/ 2147483646 h 1729"/>
              <a:gd name="T52" fmla="*/ 2147483646 w 3899"/>
              <a:gd name="T53" fmla="*/ 2147483646 h 1729"/>
              <a:gd name="T54" fmla="*/ 2147483646 w 3899"/>
              <a:gd name="T55" fmla="*/ 2147483646 h 1729"/>
              <a:gd name="T56" fmla="*/ 2147483646 w 3899"/>
              <a:gd name="T57" fmla="*/ 2147483646 h 1729"/>
              <a:gd name="T58" fmla="*/ 2147483646 w 3899"/>
              <a:gd name="T59" fmla="*/ 2147483646 h 1729"/>
              <a:gd name="T60" fmla="*/ 2147483646 w 3899"/>
              <a:gd name="T61" fmla="*/ 2147483646 h 1729"/>
              <a:gd name="T62" fmla="*/ 2147483646 w 3899"/>
              <a:gd name="T63" fmla="*/ 0 h 1729"/>
              <a:gd name="T64" fmla="*/ 2147483646 w 3899"/>
              <a:gd name="T65" fmla="*/ 2147483646 h 1729"/>
              <a:gd name="T66" fmla="*/ 2147483646 w 3899"/>
              <a:gd name="T67" fmla="*/ 2147483646 h 1729"/>
              <a:gd name="T68" fmla="*/ 2147483646 w 3899"/>
              <a:gd name="T69" fmla="*/ 2147483646 h 1729"/>
              <a:gd name="T70" fmla="*/ 2147483646 w 3899"/>
              <a:gd name="T71" fmla="*/ 2147483646 h 1729"/>
              <a:gd name="T72" fmla="*/ 2147483646 w 3899"/>
              <a:gd name="T73" fmla="*/ 2147483646 h 1729"/>
              <a:gd name="T74" fmla="*/ 2147483646 w 3899"/>
              <a:gd name="T75" fmla="*/ 2147483646 h 1729"/>
              <a:gd name="T76" fmla="*/ 2147483646 w 3899"/>
              <a:gd name="T77" fmla="*/ 2147483646 h 1729"/>
              <a:gd name="T78" fmla="*/ 2147483646 w 3899"/>
              <a:gd name="T79" fmla="*/ 2147483646 h 1729"/>
              <a:gd name="T80" fmla="*/ 2147483646 w 3899"/>
              <a:gd name="T81" fmla="*/ 2147483646 h 1729"/>
              <a:gd name="T82" fmla="*/ 2147483646 w 3899"/>
              <a:gd name="T83" fmla="*/ 2147483646 h 1729"/>
              <a:gd name="T84" fmla="*/ 2147483646 w 3899"/>
              <a:gd name="T85" fmla="*/ 2147483646 h 1729"/>
              <a:gd name="T86" fmla="*/ 2147483646 w 3899"/>
              <a:gd name="T87" fmla="*/ 2147483646 h 1729"/>
              <a:gd name="T88" fmla="*/ 2147483646 w 3899"/>
              <a:gd name="T89" fmla="*/ 2147483646 h 1729"/>
              <a:gd name="T90" fmla="*/ 2147483646 w 3899"/>
              <a:gd name="T91" fmla="*/ 2147483646 h 1729"/>
              <a:gd name="T92" fmla="*/ 2147483646 w 3899"/>
              <a:gd name="T93" fmla="*/ 2147483646 h 1729"/>
              <a:gd name="T94" fmla="*/ 2147483646 w 3899"/>
              <a:gd name="T95" fmla="*/ 2147483646 h 1729"/>
              <a:gd name="T96" fmla="*/ 2147483646 w 3899"/>
              <a:gd name="T97" fmla="*/ 2147483646 h 1729"/>
              <a:gd name="T98" fmla="*/ 2147483646 w 3899"/>
              <a:gd name="T99" fmla="*/ 2147483646 h 1729"/>
              <a:gd name="T100" fmla="*/ 2147483646 w 3899"/>
              <a:gd name="T101" fmla="*/ 2147483646 h 1729"/>
              <a:gd name="T102" fmla="*/ 2147483646 w 3899"/>
              <a:gd name="T103" fmla="*/ 2147483646 h 1729"/>
              <a:gd name="T104" fmla="*/ 2147483646 w 3899"/>
              <a:gd name="T105" fmla="*/ 2147483646 h 1729"/>
              <a:gd name="T106" fmla="*/ 2147483646 w 3899"/>
              <a:gd name="T107" fmla="*/ 2147483646 h 1729"/>
              <a:gd name="T108" fmla="*/ 2147483646 w 3899"/>
              <a:gd name="T109" fmla="*/ 2147483646 h 1729"/>
              <a:gd name="T110" fmla="*/ 2147483646 w 3899"/>
              <a:gd name="T111" fmla="*/ 2147483646 h 1729"/>
              <a:gd name="T112" fmla="*/ 2147483646 w 3899"/>
              <a:gd name="T113" fmla="*/ 2147483646 h 1729"/>
              <a:gd name="T114" fmla="*/ 2147483646 w 3899"/>
              <a:gd name="T115" fmla="*/ 2147483646 h 1729"/>
              <a:gd name="T116" fmla="*/ 2147483646 w 3899"/>
              <a:gd name="T117" fmla="*/ 2147483646 h 1729"/>
              <a:gd name="T118" fmla="*/ 2147483646 w 3899"/>
              <a:gd name="T119" fmla="*/ 2147483646 h 1729"/>
              <a:gd name="T120" fmla="*/ 2147483646 w 3899"/>
              <a:gd name="T121" fmla="*/ 2147483646 h 1729"/>
              <a:gd name="T122" fmla="*/ 2147483646 w 3899"/>
              <a:gd name="T123" fmla="*/ 2147483646 h 1729"/>
              <a:gd name="T124" fmla="*/ 2147483646 w 3899"/>
              <a:gd name="T125" fmla="*/ 2147483646 h 1729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3899"/>
              <a:gd name="T190" fmla="*/ 0 h 1729"/>
              <a:gd name="T191" fmla="*/ 3899 w 3899"/>
              <a:gd name="T192" fmla="*/ 1729 h 1729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3899" h="1729">
                <a:moveTo>
                  <a:pt x="3899" y="1729"/>
                </a:moveTo>
                <a:lnTo>
                  <a:pt x="3860" y="1727"/>
                </a:lnTo>
                <a:lnTo>
                  <a:pt x="3824" y="1723"/>
                </a:lnTo>
                <a:lnTo>
                  <a:pt x="3785" y="1717"/>
                </a:lnTo>
                <a:lnTo>
                  <a:pt x="3748" y="1708"/>
                </a:lnTo>
                <a:lnTo>
                  <a:pt x="3712" y="1698"/>
                </a:lnTo>
                <a:lnTo>
                  <a:pt x="3677" y="1685"/>
                </a:lnTo>
                <a:lnTo>
                  <a:pt x="3641" y="1669"/>
                </a:lnTo>
                <a:lnTo>
                  <a:pt x="3606" y="1652"/>
                </a:lnTo>
                <a:lnTo>
                  <a:pt x="3569" y="1633"/>
                </a:lnTo>
                <a:lnTo>
                  <a:pt x="3535" y="1612"/>
                </a:lnTo>
                <a:lnTo>
                  <a:pt x="3500" y="1589"/>
                </a:lnTo>
                <a:lnTo>
                  <a:pt x="3465" y="1564"/>
                </a:lnTo>
                <a:lnTo>
                  <a:pt x="3431" y="1537"/>
                </a:lnTo>
                <a:lnTo>
                  <a:pt x="3398" y="1510"/>
                </a:lnTo>
                <a:lnTo>
                  <a:pt x="3363" y="1479"/>
                </a:lnTo>
                <a:lnTo>
                  <a:pt x="3331" y="1450"/>
                </a:lnTo>
                <a:lnTo>
                  <a:pt x="3298" y="1418"/>
                </a:lnTo>
                <a:lnTo>
                  <a:pt x="3265" y="1385"/>
                </a:lnTo>
                <a:lnTo>
                  <a:pt x="3233" y="1350"/>
                </a:lnTo>
                <a:lnTo>
                  <a:pt x="3200" y="1314"/>
                </a:lnTo>
                <a:lnTo>
                  <a:pt x="3167" y="1279"/>
                </a:lnTo>
                <a:lnTo>
                  <a:pt x="3134" y="1241"/>
                </a:lnTo>
                <a:lnTo>
                  <a:pt x="3104" y="1203"/>
                </a:lnTo>
                <a:lnTo>
                  <a:pt x="3071" y="1164"/>
                </a:lnTo>
                <a:lnTo>
                  <a:pt x="3040" y="1126"/>
                </a:lnTo>
                <a:lnTo>
                  <a:pt x="3009" y="1085"/>
                </a:lnTo>
                <a:lnTo>
                  <a:pt x="2978" y="1045"/>
                </a:lnTo>
                <a:lnTo>
                  <a:pt x="2948" y="1005"/>
                </a:lnTo>
                <a:lnTo>
                  <a:pt x="2917" y="964"/>
                </a:lnTo>
                <a:lnTo>
                  <a:pt x="2886" y="922"/>
                </a:lnTo>
                <a:lnTo>
                  <a:pt x="2855" y="882"/>
                </a:lnTo>
                <a:lnTo>
                  <a:pt x="2824" y="841"/>
                </a:lnTo>
                <a:lnTo>
                  <a:pt x="2796" y="799"/>
                </a:lnTo>
                <a:lnTo>
                  <a:pt x="2765" y="759"/>
                </a:lnTo>
                <a:lnTo>
                  <a:pt x="2736" y="717"/>
                </a:lnTo>
                <a:lnTo>
                  <a:pt x="2707" y="676"/>
                </a:lnTo>
                <a:lnTo>
                  <a:pt x="2676" y="636"/>
                </a:lnTo>
                <a:lnTo>
                  <a:pt x="2647" y="597"/>
                </a:lnTo>
                <a:lnTo>
                  <a:pt x="2618" y="557"/>
                </a:lnTo>
                <a:lnTo>
                  <a:pt x="2590" y="519"/>
                </a:lnTo>
                <a:lnTo>
                  <a:pt x="2561" y="482"/>
                </a:lnTo>
                <a:lnTo>
                  <a:pt x="2532" y="444"/>
                </a:lnTo>
                <a:lnTo>
                  <a:pt x="2503" y="409"/>
                </a:lnTo>
                <a:lnTo>
                  <a:pt x="2474" y="373"/>
                </a:lnTo>
                <a:lnTo>
                  <a:pt x="2445" y="338"/>
                </a:lnTo>
                <a:lnTo>
                  <a:pt x="2418" y="306"/>
                </a:lnTo>
                <a:lnTo>
                  <a:pt x="2389" y="275"/>
                </a:lnTo>
                <a:lnTo>
                  <a:pt x="2360" y="244"/>
                </a:lnTo>
                <a:lnTo>
                  <a:pt x="2332" y="215"/>
                </a:lnTo>
                <a:lnTo>
                  <a:pt x="2305" y="186"/>
                </a:lnTo>
                <a:lnTo>
                  <a:pt x="2276" y="161"/>
                </a:lnTo>
                <a:lnTo>
                  <a:pt x="2249" y="136"/>
                </a:lnTo>
                <a:lnTo>
                  <a:pt x="2220" y="113"/>
                </a:lnTo>
                <a:lnTo>
                  <a:pt x="2193" y="92"/>
                </a:lnTo>
                <a:lnTo>
                  <a:pt x="2164" y="73"/>
                </a:lnTo>
                <a:lnTo>
                  <a:pt x="2137" y="58"/>
                </a:lnTo>
                <a:lnTo>
                  <a:pt x="2110" y="42"/>
                </a:lnTo>
                <a:lnTo>
                  <a:pt x="2081" y="29"/>
                </a:lnTo>
                <a:lnTo>
                  <a:pt x="2054" y="19"/>
                </a:lnTo>
                <a:lnTo>
                  <a:pt x="2025" y="10"/>
                </a:lnTo>
                <a:lnTo>
                  <a:pt x="1999" y="4"/>
                </a:lnTo>
                <a:lnTo>
                  <a:pt x="1972" y="0"/>
                </a:lnTo>
                <a:lnTo>
                  <a:pt x="1943" y="0"/>
                </a:lnTo>
                <a:lnTo>
                  <a:pt x="1916" y="2"/>
                </a:lnTo>
                <a:lnTo>
                  <a:pt x="1889" y="6"/>
                </a:lnTo>
                <a:lnTo>
                  <a:pt x="1862" y="12"/>
                </a:lnTo>
                <a:lnTo>
                  <a:pt x="1833" y="21"/>
                </a:lnTo>
                <a:lnTo>
                  <a:pt x="1806" y="33"/>
                </a:lnTo>
                <a:lnTo>
                  <a:pt x="1779" y="46"/>
                </a:lnTo>
                <a:lnTo>
                  <a:pt x="1752" y="62"/>
                </a:lnTo>
                <a:lnTo>
                  <a:pt x="1723" y="79"/>
                </a:lnTo>
                <a:lnTo>
                  <a:pt x="1696" y="98"/>
                </a:lnTo>
                <a:lnTo>
                  <a:pt x="1669" y="119"/>
                </a:lnTo>
                <a:lnTo>
                  <a:pt x="1640" y="142"/>
                </a:lnTo>
                <a:lnTo>
                  <a:pt x="1613" y="167"/>
                </a:lnTo>
                <a:lnTo>
                  <a:pt x="1587" y="192"/>
                </a:lnTo>
                <a:lnTo>
                  <a:pt x="1558" y="221"/>
                </a:lnTo>
                <a:lnTo>
                  <a:pt x="1531" y="250"/>
                </a:lnTo>
                <a:lnTo>
                  <a:pt x="1502" y="281"/>
                </a:lnTo>
                <a:lnTo>
                  <a:pt x="1473" y="313"/>
                </a:lnTo>
                <a:lnTo>
                  <a:pt x="1446" y="346"/>
                </a:lnTo>
                <a:lnTo>
                  <a:pt x="1417" y="380"/>
                </a:lnTo>
                <a:lnTo>
                  <a:pt x="1388" y="415"/>
                </a:lnTo>
                <a:lnTo>
                  <a:pt x="1361" y="451"/>
                </a:lnTo>
                <a:lnTo>
                  <a:pt x="1332" y="488"/>
                </a:lnTo>
                <a:lnTo>
                  <a:pt x="1304" y="526"/>
                </a:lnTo>
                <a:lnTo>
                  <a:pt x="1275" y="565"/>
                </a:lnTo>
                <a:lnTo>
                  <a:pt x="1246" y="603"/>
                </a:lnTo>
                <a:lnTo>
                  <a:pt x="1217" y="644"/>
                </a:lnTo>
                <a:lnTo>
                  <a:pt x="1186" y="684"/>
                </a:lnTo>
                <a:lnTo>
                  <a:pt x="1157" y="724"/>
                </a:lnTo>
                <a:lnTo>
                  <a:pt x="1128" y="765"/>
                </a:lnTo>
                <a:lnTo>
                  <a:pt x="1098" y="805"/>
                </a:lnTo>
                <a:lnTo>
                  <a:pt x="1069" y="847"/>
                </a:lnTo>
                <a:lnTo>
                  <a:pt x="1038" y="888"/>
                </a:lnTo>
                <a:lnTo>
                  <a:pt x="1009" y="928"/>
                </a:lnTo>
                <a:lnTo>
                  <a:pt x="978" y="970"/>
                </a:lnTo>
                <a:lnTo>
                  <a:pt x="947" y="1010"/>
                </a:lnTo>
                <a:lnTo>
                  <a:pt x="917" y="1051"/>
                </a:lnTo>
                <a:lnTo>
                  <a:pt x="886" y="1091"/>
                </a:lnTo>
                <a:lnTo>
                  <a:pt x="855" y="1130"/>
                </a:lnTo>
                <a:lnTo>
                  <a:pt x="824" y="1168"/>
                </a:lnTo>
                <a:lnTo>
                  <a:pt x="791" y="1206"/>
                </a:lnTo>
                <a:lnTo>
                  <a:pt x="761" y="1245"/>
                </a:lnTo>
                <a:lnTo>
                  <a:pt x="728" y="1281"/>
                </a:lnTo>
                <a:lnTo>
                  <a:pt x="697" y="1318"/>
                </a:lnTo>
                <a:lnTo>
                  <a:pt x="664" y="1352"/>
                </a:lnTo>
                <a:lnTo>
                  <a:pt x="632" y="1387"/>
                </a:lnTo>
                <a:lnTo>
                  <a:pt x="599" y="1420"/>
                </a:lnTo>
                <a:lnTo>
                  <a:pt x="566" y="1452"/>
                </a:lnTo>
                <a:lnTo>
                  <a:pt x="532" y="1481"/>
                </a:lnTo>
                <a:lnTo>
                  <a:pt x="499" y="1512"/>
                </a:lnTo>
                <a:lnTo>
                  <a:pt x="464" y="1539"/>
                </a:lnTo>
                <a:lnTo>
                  <a:pt x="431" y="1566"/>
                </a:lnTo>
                <a:lnTo>
                  <a:pt x="397" y="1589"/>
                </a:lnTo>
                <a:lnTo>
                  <a:pt x="362" y="1612"/>
                </a:lnTo>
                <a:lnTo>
                  <a:pt x="328" y="1633"/>
                </a:lnTo>
                <a:lnTo>
                  <a:pt x="291" y="1652"/>
                </a:lnTo>
                <a:lnTo>
                  <a:pt x="256" y="1669"/>
                </a:lnTo>
                <a:lnTo>
                  <a:pt x="220" y="1685"/>
                </a:lnTo>
                <a:lnTo>
                  <a:pt x="185" y="1698"/>
                </a:lnTo>
                <a:lnTo>
                  <a:pt x="148" y="1708"/>
                </a:lnTo>
                <a:lnTo>
                  <a:pt x="112" y="1717"/>
                </a:lnTo>
                <a:lnTo>
                  <a:pt x="73" y="1723"/>
                </a:lnTo>
                <a:lnTo>
                  <a:pt x="37" y="1727"/>
                </a:lnTo>
                <a:lnTo>
                  <a:pt x="0" y="1729"/>
                </a:lnTo>
              </a:path>
            </a:pathLst>
          </a:custGeom>
          <a:noFill/>
          <a:ln w="52388">
            <a:solidFill>
              <a:srgbClr val="000000"/>
            </a:solidFill>
            <a:round/>
            <a:headEnd/>
            <a:tailEnd/>
          </a:ln>
          <a:effectLst>
            <a:prstShdw prst="shdw17" dist="17961" dir="2700000">
              <a:srgbClr val="80808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45" grpId="0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Freeform 2">
            <a:extLst>
              <a:ext uri="{FF2B5EF4-FFF2-40B4-BE49-F238E27FC236}">
                <a16:creationId xmlns:a16="http://schemas.microsoft.com/office/drawing/2014/main" id="{E67E6221-D060-4624-9866-7DB73E02D475}"/>
              </a:ext>
            </a:extLst>
          </p:cNvPr>
          <p:cNvSpPr>
            <a:spLocks/>
          </p:cNvSpPr>
          <p:nvPr/>
        </p:nvSpPr>
        <p:spPr bwMode="auto">
          <a:xfrm>
            <a:off x="4267200" y="2355850"/>
            <a:ext cx="3873500" cy="2757488"/>
          </a:xfrm>
          <a:custGeom>
            <a:avLst/>
            <a:gdLst>
              <a:gd name="T0" fmla="*/ 0 w 2440"/>
              <a:gd name="T1" fmla="*/ 2147483646 h 1737"/>
              <a:gd name="T2" fmla="*/ 2147483646 w 2440"/>
              <a:gd name="T3" fmla="*/ 2147483646 h 1737"/>
              <a:gd name="T4" fmla="*/ 2147483646 w 2440"/>
              <a:gd name="T5" fmla="*/ 2147483646 h 1737"/>
              <a:gd name="T6" fmla="*/ 2147483646 w 2440"/>
              <a:gd name="T7" fmla="*/ 2147483646 h 1737"/>
              <a:gd name="T8" fmla="*/ 0 60000 65536"/>
              <a:gd name="T9" fmla="*/ 0 60000 65536"/>
              <a:gd name="T10" fmla="*/ 0 60000 65536"/>
              <a:gd name="T11" fmla="*/ 0 60000 65536"/>
              <a:gd name="T12" fmla="*/ 0 w 2440"/>
              <a:gd name="T13" fmla="*/ 0 h 1737"/>
              <a:gd name="T14" fmla="*/ 2440 w 2440"/>
              <a:gd name="T15" fmla="*/ 1737 h 17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40" h="1737">
                <a:moveTo>
                  <a:pt x="0" y="49"/>
                </a:moveTo>
                <a:cubicBezTo>
                  <a:pt x="159" y="81"/>
                  <a:pt x="687" y="0"/>
                  <a:pt x="952" y="241"/>
                </a:cubicBezTo>
                <a:cubicBezTo>
                  <a:pt x="1217" y="482"/>
                  <a:pt x="1344" y="1257"/>
                  <a:pt x="1592" y="1497"/>
                </a:cubicBezTo>
                <a:cubicBezTo>
                  <a:pt x="1840" y="1737"/>
                  <a:pt x="2263" y="1643"/>
                  <a:pt x="2440" y="1681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389EFB78-60CB-460D-BD04-60B35E41B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1804988"/>
            <a:ext cx="0" cy="3490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A552EF74-0352-4B48-A124-D38D66605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5295900"/>
            <a:ext cx="47815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461C9879-9F65-4BC9-B391-5E9400DA7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725" y="5368925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Growing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BD663959-6979-4EEB-9C9D-9ED1F15FB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9" y="5372100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Aging</a:t>
            </a:r>
          </a:p>
        </p:txBody>
      </p:sp>
      <p:sp>
        <p:nvSpPr>
          <p:cNvPr id="967687" name="Text Box 7">
            <a:extLst>
              <a:ext uri="{FF2B5EF4-FFF2-40B4-BE49-F238E27FC236}">
                <a16:creationId xmlns:a16="http://schemas.microsoft.com/office/drawing/2014/main" id="{0CFF850F-EB11-4E9E-B1E7-D496B7D81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6" y="1879600"/>
            <a:ext cx="220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Flexibility</a:t>
            </a:r>
          </a:p>
        </p:txBody>
      </p:sp>
      <p:sp>
        <p:nvSpPr>
          <p:cNvPr id="967688" name="Oval 8">
            <a:extLst>
              <a:ext uri="{FF2B5EF4-FFF2-40B4-BE49-F238E27FC236}">
                <a16:creationId xmlns:a16="http://schemas.microsoft.com/office/drawing/2014/main" id="{150EFEBD-7973-4360-8A47-AA25D1471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2335213"/>
            <a:ext cx="152400" cy="152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7689" name="Oval 9">
            <a:extLst>
              <a:ext uri="{FF2B5EF4-FFF2-40B4-BE49-F238E27FC236}">
                <a16:creationId xmlns:a16="http://schemas.microsoft.com/office/drawing/2014/main" id="{C8226506-2740-494C-BB5F-606AE2D28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4992688"/>
            <a:ext cx="152400" cy="152400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7690" name="Text Box 10">
            <a:extLst>
              <a:ext uri="{FF2B5EF4-FFF2-40B4-BE49-F238E27FC236}">
                <a16:creationId xmlns:a16="http://schemas.microsoft.com/office/drawing/2014/main" id="{C65D2461-124E-42FC-B538-CE4305F42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6" y="4457701"/>
            <a:ext cx="2335213" cy="461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Predictability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313002C3-326F-44BB-A7B8-E710B2FB2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9" y="4425950"/>
            <a:ext cx="2732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33"/>
                </a:solidFill>
                <a:latin typeface="Tahoma" panose="020B0604030504040204" pitchFamily="34" charset="0"/>
              </a:rPr>
              <a:t>Controllability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96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87" grpId="0"/>
      <p:bldP spid="967688" grpId="0" animBg="1"/>
      <p:bldP spid="967689" grpId="0" animBg="1"/>
      <p:bldP spid="96769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">
            <a:extLst>
              <a:ext uri="{FF2B5EF4-FFF2-40B4-BE49-F238E27FC236}">
                <a16:creationId xmlns:a16="http://schemas.microsoft.com/office/drawing/2014/main" id="{09265060-2E8A-437E-8E4B-8BAB952F3471}"/>
              </a:ext>
            </a:extLst>
          </p:cNvPr>
          <p:cNvSpPr>
            <a:spLocks/>
          </p:cNvSpPr>
          <p:nvPr/>
        </p:nvSpPr>
        <p:spPr bwMode="auto">
          <a:xfrm>
            <a:off x="4267200" y="2355850"/>
            <a:ext cx="3873500" cy="2757488"/>
          </a:xfrm>
          <a:custGeom>
            <a:avLst/>
            <a:gdLst>
              <a:gd name="T0" fmla="*/ 0 w 2440"/>
              <a:gd name="T1" fmla="*/ 2147483646 h 1737"/>
              <a:gd name="T2" fmla="*/ 2147483646 w 2440"/>
              <a:gd name="T3" fmla="*/ 2147483646 h 1737"/>
              <a:gd name="T4" fmla="*/ 2147483646 w 2440"/>
              <a:gd name="T5" fmla="*/ 2147483646 h 1737"/>
              <a:gd name="T6" fmla="*/ 2147483646 w 2440"/>
              <a:gd name="T7" fmla="*/ 2147483646 h 1737"/>
              <a:gd name="T8" fmla="*/ 0 60000 65536"/>
              <a:gd name="T9" fmla="*/ 0 60000 65536"/>
              <a:gd name="T10" fmla="*/ 0 60000 65536"/>
              <a:gd name="T11" fmla="*/ 0 60000 65536"/>
              <a:gd name="T12" fmla="*/ 0 w 2440"/>
              <a:gd name="T13" fmla="*/ 0 h 1737"/>
              <a:gd name="T14" fmla="*/ 2440 w 2440"/>
              <a:gd name="T15" fmla="*/ 1737 h 17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40" h="1737">
                <a:moveTo>
                  <a:pt x="0" y="49"/>
                </a:moveTo>
                <a:cubicBezTo>
                  <a:pt x="159" y="81"/>
                  <a:pt x="687" y="0"/>
                  <a:pt x="952" y="241"/>
                </a:cubicBezTo>
                <a:cubicBezTo>
                  <a:pt x="1217" y="482"/>
                  <a:pt x="1344" y="1257"/>
                  <a:pt x="1592" y="1497"/>
                </a:cubicBezTo>
                <a:cubicBezTo>
                  <a:pt x="1840" y="1737"/>
                  <a:pt x="2263" y="1643"/>
                  <a:pt x="2440" y="1681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9731" name="Freeform 3">
            <a:extLst>
              <a:ext uri="{FF2B5EF4-FFF2-40B4-BE49-F238E27FC236}">
                <a16:creationId xmlns:a16="http://schemas.microsoft.com/office/drawing/2014/main" id="{4451F4B7-41F3-46C9-BC94-CA7861028D88}"/>
              </a:ext>
            </a:extLst>
          </p:cNvPr>
          <p:cNvSpPr>
            <a:spLocks/>
          </p:cNvSpPr>
          <p:nvPr/>
        </p:nvSpPr>
        <p:spPr bwMode="auto">
          <a:xfrm>
            <a:off x="4216400" y="2400300"/>
            <a:ext cx="3924300" cy="2649538"/>
          </a:xfrm>
          <a:custGeom>
            <a:avLst/>
            <a:gdLst>
              <a:gd name="T0" fmla="*/ 0 w 2472"/>
              <a:gd name="T1" fmla="*/ 2147483646 h 1669"/>
              <a:gd name="T2" fmla="*/ 2147483646 w 2472"/>
              <a:gd name="T3" fmla="*/ 2147483646 h 1669"/>
              <a:gd name="T4" fmla="*/ 2147483646 w 2472"/>
              <a:gd name="T5" fmla="*/ 2147483646 h 1669"/>
              <a:gd name="T6" fmla="*/ 2147483646 w 2472"/>
              <a:gd name="T7" fmla="*/ 2147483646 h 1669"/>
              <a:gd name="T8" fmla="*/ 2147483646 w 2472"/>
              <a:gd name="T9" fmla="*/ 2147483646 h 1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72"/>
              <a:gd name="T16" fmla="*/ 0 h 1669"/>
              <a:gd name="T17" fmla="*/ 2472 w 2472"/>
              <a:gd name="T18" fmla="*/ 1669 h 16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72" h="1669">
                <a:moveTo>
                  <a:pt x="0" y="1669"/>
                </a:moveTo>
                <a:cubicBezTo>
                  <a:pt x="127" y="1606"/>
                  <a:pt x="532" y="1545"/>
                  <a:pt x="760" y="1293"/>
                </a:cubicBezTo>
                <a:cubicBezTo>
                  <a:pt x="988" y="1041"/>
                  <a:pt x="1163" y="314"/>
                  <a:pt x="1368" y="157"/>
                </a:cubicBezTo>
                <a:cubicBezTo>
                  <a:pt x="1573" y="0"/>
                  <a:pt x="1808" y="97"/>
                  <a:pt x="1992" y="349"/>
                </a:cubicBezTo>
                <a:cubicBezTo>
                  <a:pt x="2176" y="601"/>
                  <a:pt x="2372" y="1394"/>
                  <a:pt x="2472" y="1669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Line 4">
            <a:extLst>
              <a:ext uri="{FF2B5EF4-FFF2-40B4-BE49-F238E27FC236}">
                <a16:creationId xmlns:a16="http://schemas.microsoft.com/office/drawing/2014/main" id="{18E488D5-5783-4EAA-B153-C2A2E27A0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1804988"/>
            <a:ext cx="0" cy="3490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8F652AF6-5EC3-4560-8399-305A05154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5295900"/>
            <a:ext cx="47815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9734" name="Rectangle 6">
            <a:extLst>
              <a:ext uri="{FF2B5EF4-FFF2-40B4-BE49-F238E27FC236}">
                <a16:creationId xmlns:a16="http://schemas.microsoft.com/office/drawing/2014/main" id="{FA691438-A4EE-416E-9ECB-6C76A3DA2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589" y="2640013"/>
            <a:ext cx="682625" cy="1365250"/>
          </a:xfrm>
          <a:prstGeom prst="rect">
            <a:avLst/>
          </a:prstGeom>
          <a:solidFill>
            <a:srgbClr val="008080">
              <a:alpha val="25098"/>
            </a:srgbClr>
          </a:solidFill>
          <a:ln w="254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9735" name="Line 7">
            <a:extLst>
              <a:ext uri="{FF2B5EF4-FFF2-40B4-BE49-F238E27FC236}">
                <a16:creationId xmlns:a16="http://schemas.microsoft.com/office/drawing/2014/main" id="{CEEE5DE7-1051-4669-A01C-56FBFDFB6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537076"/>
            <a:ext cx="0" cy="7588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Text Box 8">
            <a:extLst>
              <a:ext uri="{FF2B5EF4-FFF2-40B4-BE49-F238E27FC236}">
                <a16:creationId xmlns:a16="http://schemas.microsoft.com/office/drawing/2014/main" id="{3EBCA1BA-0693-4CAC-9FC3-8D269BC17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6" y="5368925"/>
            <a:ext cx="1592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Growing</a:t>
            </a:r>
          </a:p>
        </p:txBody>
      </p:sp>
      <p:sp>
        <p:nvSpPr>
          <p:cNvPr id="969737" name="Text Box 9">
            <a:extLst>
              <a:ext uri="{FF2B5EF4-FFF2-40B4-BE49-F238E27FC236}">
                <a16:creationId xmlns:a16="http://schemas.microsoft.com/office/drawing/2014/main" id="{C43045A8-B037-43AE-A1AA-361C813FB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5372100"/>
            <a:ext cx="1138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009900"/>
                </a:solidFill>
                <a:latin typeface="Tahoma" panose="020B0604030504040204" pitchFamily="34" charset="0"/>
              </a:rPr>
              <a:t>Prime</a:t>
            </a:r>
          </a:p>
        </p:txBody>
      </p:sp>
      <p:sp>
        <p:nvSpPr>
          <p:cNvPr id="11274" name="Text Box 10">
            <a:extLst>
              <a:ext uri="{FF2B5EF4-FFF2-40B4-BE49-F238E27FC236}">
                <a16:creationId xmlns:a16="http://schemas.microsoft.com/office/drawing/2014/main" id="{7B3CAE42-69E1-4CA6-80CC-97C61403D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9" y="5372100"/>
            <a:ext cx="136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Aging</a:t>
            </a: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555DC2B2-34E8-4D0D-9710-DBC0A6B7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6" y="1879600"/>
            <a:ext cx="220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Flexibility</a:t>
            </a:r>
          </a:p>
        </p:txBody>
      </p:sp>
      <p:sp>
        <p:nvSpPr>
          <p:cNvPr id="11276" name="Oval 13">
            <a:extLst>
              <a:ext uri="{FF2B5EF4-FFF2-40B4-BE49-F238E27FC236}">
                <a16:creationId xmlns:a16="http://schemas.microsoft.com/office/drawing/2014/main" id="{9CCF86A2-7D98-40A3-B047-575242A6B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4992688"/>
            <a:ext cx="152400" cy="152400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1277" name="Oval 14">
            <a:extLst>
              <a:ext uri="{FF2B5EF4-FFF2-40B4-BE49-F238E27FC236}">
                <a16:creationId xmlns:a16="http://schemas.microsoft.com/office/drawing/2014/main" id="{01D9FA5D-EBC3-4F5C-9341-6B30F6FEB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2335213"/>
            <a:ext cx="152400" cy="152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9743" name="Text Box 15">
            <a:extLst>
              <a:ext uri="{FF2B5EF4-FFF2-40B4-BE49-F238E27FC236}">
                <a16:creationId xmlns:a16="http://schemas.microsoft.com/office/drawing/2014/main" id="{EFA87EE7-0EA6-4D95-9BF7-27A8E371D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1664" y="4764088"/>
            <a:ext cx="106362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Death</a:t>
            </a:r>
          </a:p>
        </p:txBody>
      </p:sp>
      <p:sp>
        <p:nvSpPr>
          <p:cNvPr id="11279" name="Text Box 12">
            <a:extLst>
              <a:ext uri="{FF2B5EF4-FFF2-40B4-BE49-F238E27FC236}">
                <a16:creationId xmlns:a16="http://schemas.microsoft.com/office/drawing/2014/main" id="{B759DCD7-F68D-48C1-88D4-A5A5043D9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9" y="4425950"/>
            <a:ext cx="2732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33"/>
                </a:solidFill>
                <a:latin typeface="Tahoma" panose="020B0604030504040204" pitchFamily="34" charset="0"/>
              </a:rPr>
              <a:t>Controllability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6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6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4" grpId="0" animBg="1"/>
      <p:bldP spid="969737" grpId="0"/>
      <p:bldP spid="9697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Freeform 2">
            <a:extLst>
              <a:ext uri="{FF2B5EF4-FFF2-40B4-BE49-F238E27FC236}">
                <a16:creationId xmlns:a16="http://schemas.microsoft.com/office/drawing/2014/main" id="{ED27694F-67D1-493D-93B4-2C152EE32732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5DD6B27-D960-4BE4-9AB5-22D58C9B9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82D6745-4159-4753-8545-1A2034FA4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7333" name="Freeform 5">
            <a:extLst>
              <a:ext uri="{FF2B5EF4-FFF2-40B4-BE49-F238E27FC236}">
                <a16:creationId xmlns:a16="http://schemas.microsoft.com/office/drawing/2014/main" id="{BE624271-540A-4A5B-9E3B-F67E56021FE7}"/>
              </a:ext>
            </a:extLst>
          </p:cNvPr>
          <p:cNvSpPr>
            <a:spLocks/>
          </p:cNvSpPr>
          <p:nvPr/>
        </p:nvSpPr>
        <p:spPr bwMode="auto">
          <a:xfrm>
            <a:off x="2452688" y="5337175"/>
            <a:ext cx="698500" cy="363538"/>
          </a:xfrm>
          <a:custGeom>
            <a:avLst/>
            <a:gdLst>
              <a:gd name="T0" fmla="*/ 0 w 440"/>
              <a:gd name="T1" fmla="*/ 2147483646 h 229"/>
              <a:gd name="T2" fmla="*/ 2147483646 w 440"/>
              <a:gd name="T3" fmla="*/ 2147483646 h 229"/>
              <a:gd name="T4" fmla="*/ 2147483646 w 440"/>
              <a:gd name="T5" fmla="*/ 2147483646 h 229"/>
              <a:gd name="T6" fmla="*/ 2147483646 w 440"/>
              <a:gd name="T7" fmla="*/ 0 h 229"/>
              <a:gd name="T8" fmla="*/ 0 60000 65536"/>
              <a:gd name="T9" fmla="*/ 0 60000 65536"/>
              <a:gd name="T10" fmla="*/ 0 60000 65536"/>
              <a:gd name="T11" fmla="*/ 0 60000 65536"/>
              <a:gd name="T12" fmla="*/ 0 w 440"/>
              <a:gd name="T13" fmla="*/ 0 h 229"/>
              <a:gd name="T14" fmla="*/ 440 w 440"/>
              <a:gd name="T15" fmla="*/ 229 h 2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0" h="229">
                <a:moveTo>
                  <a:pt x="0" y="229"/>
                </a:moveTo>
                <a:cubicBezTo>
                  <a:pt x="21" y="226"/>
                  <a:pt x="79" y="228"/>
                  <a:pt x="128" y="213"/>
                </a:cubicBezTo>
                <a:cubicBezTo>
                  <a:pt x="177" y="198"/>
                  <a:pt x="244" y="177"/>
                  <a:pt x="296" y="141"/>
                </a:cubicBezTo>
                <a:cubicBezTo>
                  <a:pt x="348" y="105"/>
                  <a:pt x="416" y="23"/>
                  <a:pt x="440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7334" name="AutoShape 6">
            <a:extLst>
              <a:ext uri="{FF2B5EF4-FFF2-40B4-BE49-F238E27FC236}">
                <a16:creationId xmlns:a16="http://schemas.microsoft.com/office/drawing/2014/main" id="{736F4745-A5A3-4227-87F9-6E5C4DC6B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7335" name="Text Box 7">
            <a:extLst>
              <a:ext uri="{FF2B5EF4-FFF2-40B4-BE49-F238E27FC236}">
                <a16:creationId xmlns:a16="http://schemas.microsoft.com/office/drawing/2014/main" id="{4582A127-E7F1-48D2-9A10-D73CCBC14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67336" name="Oval 8">
            <a:extLst>
              <a:ext uri="{FF2B5EF4-FFF2-40B4-BE49-F238E27FC236}">
                <a16:creationId xmlns:a16="http://schemas.microsoft.com/office/drawing/2014/main" id="{B132AF4C-D9D4-437B-BB57-E3DBBE8F2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1" y="5341939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7337" name="Text Box 9">
            <a:extLst>
              <a:ext uri="{FF2B5EF4-FFF2-40B4-BE49-F238E27FC236}">
                <a16:creationId xmlns:a16="http://schemas.microsoft.com/office/drawing/2014/main" id="{3B89639D-76B0-4FF4-9BB7-CA9F1E039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5478464"/>
            <a:ext cx="7588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67338" name="Text Box 10">
            <a:extLst>
              <a:ext uri="{FF2B5EF4-FFF2-40B4-BE49-F238E27FC236}">
                <a16:creationId xmlns:a16="http://schemas.microsoft.com/office/drawing/2014/main" id="{ECEC7FB3-11BB-4FA4-B7A8-47F6687BF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8" y="3125788"/>
            <a:ext cx="462915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The “organization” is an ‘idea’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Building Commitment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Founder(s) run the  risk of losing     control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endParaRPr lang="en-US" altLang="en-US"/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Prophet or Profit?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Commitment &lt; Risk </a:t>
            </a:r>
            <a:r>
              <a:rPr lang="en-US" altLang="en-US"/>
              <a:t> </a:t>
            </a:r>
            <a:r>
              <a:rPr lang="en-US" altLang="en-US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>
                <a:sym typeface="Wingdings" panose="05000000000000000000" pitchFamily="2" charset="2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Affair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6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6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6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6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67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7334" grpId="0" animBg="1"/>
      <p:bldP spid="867335" grpId="0"/>
      <p:bldP spid="867336" grpId="0" animBg="1"/>
      <p:bldP spid="867337" grpId="0"/>
      <p:bldP spid="867338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Freeform 2">
            <a:extLst>
              <a:ext uri="{FF2B5EF4-FFF2-40B4-BE49-F238E27FC236}">
                <a16:creationId xmlns:a16="http://schemas.microsoft.com/office/drawing/2014/main" id="{5165A26F-24C6-4EAB-82E1-84AC17384523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1DCDAC0-9AA6-4CA7-8734-4535F727C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56" name="Freeform 4">
            <a:extLst>
              <a:ext uri="{FF2B5EF4-FFF2-40B4-BE49-F238E27FC236}">
                <a16:creationId xmlns:a16="http://schemas.microsoft.com/office/drawing/2014/main" id="{0FC33F93-0212-4B5D-9972-C9DE5E5B0BFE}"/>
              </a:ext>
            </a:extLst>
          </p:cNvPr>
          <p:cNvSpPr>
            <a:spLocks/>
          </p:cNvSpPr>
          <p:nvPr/>
        </p:nvSpPr>
        <p:spPr bwMode="auto">
          <a:xfrm>
            <a:off x="2452688" y="3937001"/>
            <a:ext cx="1712912" cy="1763713"/>
          </a:xfrm>
          <a:custGeom>
            <a:avLst/>
            <a:gdLst>
              <a:gd name="T0" fmla="*/ 0 w 1079"/>
              <a:gd name="T1" fmla="*/ 2147483646 h 1111"/>
              <a:gd name="T2" fmla="*/ 2147483646 w 1079"/>
              <a:gd name="T3" fmla="*/ 2147483646 h 1111"/>
              <a:gd name="T4" fmla="*/ 2147483646 w 1079"/>
              <a:gd name="T5" fmla="*/ 2147483646 h 1111"/>
              <a:gd name="T6" fmla="*/ 2147483646 w 1079"/>
              <a:gd name="T7" fmla="*/ 2147483646 h 1111"/>
              <a:gd name="T8" fmla="*/ 2147483646 w 1079"/>
              <a:gd name="T9" fmla="*/ 2147483646 h 1111"/>
              <a:gd name="T10" fmla="*/ 2147483646 w 1079"/>
              <a:gd name="T11" fmla="*/ 2147483646 h 1111"/>
              <a:gd name="T12" fmla="*/ 2147483646 w 1079"/>
              <a:gd name="T13" fmla="*/ 2147483646 h 1111"/>
              <a:gd name="T14" fmla="*/ 2147483646 w 1079"/>
              <a:gd name="T15" fmla="*/ 2147483646 h 1111"/>
              <a:gd name="T16" fmla="*/ 2147483646 w 1079"/>
              <a:gd name="T17" fmla="*/ 2147483646 h 1111"/>
              <a:gd name="T18" fmla="*/ 2147483646 w 1079"/>
              <a:gd name="T19" fmla="*/ 0 h 11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79"/>
              <a:gd name="T31" fmla="*/ 0 h 1111"/>
              <a:gd name="T32" fmla="*/ 1079 w 1079"/>
              <a:gd name="T33" fmla="*/ 1111 h 11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79" h="1111">
                <a:moveTo>
                  <a:pt x="0" y="1111"/>
                </a:moveTo>
                <a:cubicBezTo>
                  <a:pt x="21" y="1108"/>
                  <a:pt x="79" y="1110"/>
                  <a:pt x="128" y="1095"/>
                </a:cubicBezTo>
                <a:cubicBezTo>
                  <a:pt x="177" y="1080"/>
                  <a:pt x="244" y="1059"/>
                  <a:pt x="296" y="1023"/>
                </a:cubicBezTo>
                <a:cubicBezTo>
                  <a:pt x="348" y="987"/>
                  <a:pt x="424" y="921"/>
                  <a:pt x="440" y="882"/>
                </a:cubicBezTo>
                <a:cubicBezTo>
                  <a:pt x="456" y="843"/>
                  <a:pt x="376" y="787"/>
                  <a:pt x="392" y="787"/>
                </a:cubicBezTo>
                <a:cubicBezTo>
                  <a:pt x="408" y="787"/>
                  <a:pt x="527" y="890"/>
                  <a:pt x="535" y="882"/>
                </a:cubicBezTo>
                <a:cubicBezTo>
                  <a:pt x="543" y="874"/>
                  <a:pt x="441" y="761"/>
                  <a:pt x="440" y="739"/>
                </a:cubicBezTo>
                <a:cubicBezTo>
                  <a:pt x="439" y="717"/>
                  <a:pt x="480" y="791"/>
                  <a:pt x="528" y="751"/>
                </a:cubicBezTo>
                <a:cubicBezTo>
                  <a:pt x="576" y="711"/>
                  <a:pt x="634" y="625"/>
                  <a:pt x="726" y="500"/>
                </a:cubicBezTo>
                <a:cubicBezTo>
                  <a:pt x="818" y="375"/>
                  <a:pt x="1006" y="104"/>
                  <a:pt x="1079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8357" name="AutoShape 5">
            <a:extLst>
              <a:ext uri="{FF2B5EF4-FFF2-40B4-BE49-F238E27FC236}">
                <a16:creationId xmlns:a16="http://schemas.microsoft.com/office/drawing/2014/main" id="{49195FCB-814C-41DE-8912-65BE01C6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58" name="AutoShape 6">
            <a:extLst>
              <a:ext uri="{FF2B5EF4-FFF2-40B4-BE49-F238E27FC236}">
                <a16:creationId xmlns:a16="http://schemas.microsoft.com/office/drawing/2014/main" id="{491C6EF1-74F7-4B05-B274-D599F5032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59" name="Text Box 7">
            <a:extLst>
              <a:ext uri="{FF2B5EF4-FFF2-40B4-BE49-F238E27FC236}">
                <a16:creationId xmlns:a16="http://schemas.microsoft.com/office/drawing/2014/main" id="{E5669F39-4FA7-4500-8CCF-BF7224B58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68360" name="Text Box 8">
            <a:extLst>
              <a:ext uri="{FF2B5EF4-FFF2-40B4-BE49-F238E27FC236}">
                <a16:creationId xmlns:a16="http://schemas.microsoft.com/office/drawing/2014/main" id="{50909225-540D-4060-BB3F-5C21E8E9F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68361" name="Text Box 9">
            <a:extLst>
              <a:ext uri="{FF2B5EF4-FFF2-40B4-BE49-F238E27FC236}">
                <a16:creationId xmlns:a16="http://schemas.microsoft.com/office/drawing/2014/main" id="{EE6E51EF-F5E4-481C-8BF0-465D9D4AC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5554664"/>
            <a:ext cx="8350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68362" name="Oval 10">
            <a:extLst>
              <a:ext uri="{FF2B5EF4-FFF2-40B4-BE49-F238E27FC236}">
                <a16:creationId xmlns:a16="http://schemas.microsoft.com/office/drawing/2014/main" id="{AD228D85-D705-4396-8F01-9520B1EF8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63" name="Text Box 11">
            <a:extLst>
              <a:ext uri="{FF2B5EF4-FFF2-40B4-BE49-F238E27FC236}">
                <a16:creationId xmlns:a16="http://schemas.microsoft.com/office/drawing/2014/main" id="{A0420969-79B8-49EB-80A2-46DD11820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2670175"/>
            <a:ext cx="5084763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“We don’t need any more ideas, WE NEED RESULTS.”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Action oriented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Few policies, systems, procedures,               budgets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Job description: everything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Limited delegation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Authoritarian Leadership</a:t>
            </a:r>
          </a:p>
        </p:txBody>
      </p:sp>
      <p:sp>
        <p:nvSpPr>
          <p:cNvPr id="868364" name="Text Box 12">
            <a:extLst>
              <a:ext uri="{FF2B5EF4-FFF2-40B4-BE49-F238E27FC236}">
                <a16:creationId xmlns:a16="http://schemas.microsoft.com/office/drawing/2014/main" id="{70D3730F-EAB9-4D01-B4FA-666B5C3FC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3" y="1758950"/>
            <a:ext cx="6375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company is born when risk is taken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6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6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6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6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6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57" grpId="0" animBg="1"/>
      <p:bldP spid="868358" grpId="0" animBg="1"/>
      <p:bldP spid="868359" grpId="0"/>
      <p:bldP spid="868360" grpId="0"/>
      <p:bldP spid="868361" grpId="0"/>
      <p:bldP spid="868362" grpId="0" animBg="1"/>
      <p:bldP spid="8683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reeform 2">
            <a:extLst>
              <a:ext uri="{FF2B5EF4-FFF2-40B4-BE49-F238E27FC236}">
                <a16:creationId xmlns:a16="http://schemas.microsoft.com/office/drawing/2014/main" id="{54C0178E-C8D8-45A5-B97E-AD575B9DBB03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9E2DB23-0904-4C4A-9E0C-73E45FB4D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7412" name="Freeform 4">
            <a:extLst>
              <a:ext uri="{FF2B5EF4-FFF2-40B4-BE49-F238E27FC236}">
                <a16:creationId xmlns:a16="http://schemas.microsoft.com/office/drawing/2014/main" id="{1E005633-BD01-4BFB-9537-8E3EA7D5A819}"/>
              </a:ext>
            </a:extLst>
          </p:cNvPr>
          <p:cNvSpPr>
            <a:spLocks/>
          </p:cNvSpPr>
          <p:nvPr/>
        </p:nvSpPr>
        <p:spPr bwMode="auto">
          <a:xfrm>
            <a:off x="2452688" y="3937001"/>
            <a:ext cx="1712912" cy="1763713"/>
          </a:xfrm>
          <a:custGeom>
            <a:avLst/>
            <a:gdLst>
              <a:gd name="T0" fmla="*/ 0 w 1079"/>
              <a:gd name="T1" fmla="*/ 2147483646 h 1111"/>
              <a:gd name="T2" fmla="*/ 2147483646 w 1079"/>
              <a:gd name="T3" fmla="*/ 2147483646 h 1111"/>
              <a:gd name="T4" fmla="*/ 2147483646 w 1079"/>
              <a:gd name="T5" fmla="*/ 2147483646 h 1111"/>
              <a:gd name="T6" fmla="*/ 2147483646 w 1079"/>
              <a:gd name="T7" fmla="*/ 2147483646 h 1111"/>
              <a:gd name="T8" fmla="*/ 2147483646 w 1079"/>
              <a:gd name="T9" fmla="*/ 2147483646 h 1111"/>
              <a:gd name="T10" fmla="*/ 2147483646 w 1079"/>
              <a:gd name="T11" fmla="*/ 2147483646 h 1111"/>
              <a:gd name="T12" fmla="*/ 2147483646 w 1079"/>
              <a:gd name="T13" fmla="*/ 2147483646 h 1111"/>
              <a:gd name="T14" fmla="*/ 2147483646 w 1079"/>
              <a:gd name="T15" fmla="*/ 2147483646 h 1111"/>
              <a:gd name="T16" fmla="*/ 2147483646 w 1079"/>
              <a:gd name="T17" fmla="*/ 2147483646 h 1111"/>
              <a:gd name="T18" fmla="*/ 2147483646 w 1079"/>
              <a:gd name="T19" fmla="*/ 0 h 11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79"/>
              <a:gd name="T31" fmla="*/ 0 h 1111"/>
              <a:gd name="T32" fmla="*/ 1079 w 1079"/>
              <a:gd name="T33" fmla="*/ 1111 h 11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79" h="1111">
                <a:moveTo>
                  <a:pt x="0" y="1111"/>
                </a:moveTo>
                <a:cubicBezTo>
                  <a:pt x="21" y="1108"/>
                  <a:pt x="79" y="1110"/>
                  <a:pt x="128" y="1095"/>
                </a:cubicBezTo>
                <a:cubicBezTo>
                  <a:pt x="177" y="1080"/>
                  <a:pt x="244" y="1059"/>
                  <a:pt x="296" y="1023"/>
                </a:cubicBezTo>
                <a:cubicBezTo>
                  <a:pt x="348" y="987"/>
                  <a:pt x="424" y="921"/>
                  <a:pt x="440" y="882"/>
                </a:cubicBezTo>
                <a:cubicBezTo>
                  <a:pt x="456" y="843"/>
                  <a:pt x="376" y="787"/>
                  <a:pt x="392" y="787"/>
                </a:cubicBezTo>
                <a:cubicBezTo>
                  <a:pt x="408" y="787"/>
                  <a:pt x="527" y="890"/>
                  <a:pt x="535" y="882"/>
                </a:cubicBezTo>
                <a:cubicBezTo>
                  <a:pt x="543" y="874"/>
                  <a:pt x="441" y="761"/>
                  <a:pt x="440" y="739"/>
                </a:cubicBezTo>
                <a:cubicBezTo>
                  <a:pt x="439" y="717"/>
                  <a:pt x="480" y="791"/>
                  <a:pt x="528" y="751"/>
                </a:cubicBezTo>
                <a:cubicBezTo>
                  <a:pt x="576" y="711"/>
                  <a:pt x="634" y="625"/>
                  <a:pt x="726" y="500"/>
                </a:cubicBezTo>
                <a:cubicBezTo>
                  <a:pt x="818" y="375"/>
                  <a:pt x="1006" y="104"/>
                  <a:pt x="1079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AutoShape 5">
            <a:extLst>
              <a:ext uri="{FF2B5EF4-FFF2-40B4-BE49-F238E27FC236}">
                <a16:creationId xmlns:a16="http://schemas.microsoft.com/office/drawing/2014/main" id="{FFB5077B-B8FF-4AD1-95E9-974F30DEB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7414" name="AutoShape 6">
            <a:extLst>
              <a:ext uri="{FF2B5EF4-FFF2-40B4-BE49-F238E27FC236}">
                <a16:creationId xmlns:a16="http://schemas.microsoft.com/office/drawing/2014/main" id="{71779970-28FB-42FA-AFF8-CE57F24C4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9383" name="Text Box 7">
            <a:extLst>
              <a:ext uri="{FF2B5EF4-FFF2-40B4-BE49-F238E27FC236}">
                <a16:creationId xmlns:a16="http://schemas.microsoft.com/office/drawing/2014/main" id="{EECA4730-6268-42B7-A06B-88DF9739A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69384" name="Text Box 8">
            <a:extLst>
              <a:ext uri="{FF2B5EF4-FFF2-40B4-BE49-F238E27FC236}">
                <a16:creationId xmlns:a16="http://schemas.microsoft.com/office/drawing/2014/main" id="{B21BC03D-D181-424C-B9B5-02679D9BC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69385" name="Text Box 9">
            <a:extLst>
              <a:ext uri="{FF2B5EF4-FFF2-40B4-BE49-F238E27FC236}">
                <a16:creationId xmlns:a16="http://schemas.microsoft.com/office/drawing/2014/main" id="{D020B752-336C-4E6D-8831-A3215CFE8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5554664"/>
            <a:ext cx="8350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17418" name="Oval 10">
            <a:extLst>
              <a:ext uri="{FF2B5EF4-FFF2-40B4-BE49-F238E27FC236}">
                <a16:creationId xmlns:a16="http://schemas.microsoft.com/office/drawing/2014/main" id="{49DFE05B-7DE2-4292-B08A-B62225D6A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9387" name="Freeform 11">
            <a:extLst>
              <a:ext uri="{FF2B5EF4-FFF2-40B4-BE49-F238E27FC236}">
                <a16:creationId xmlns:a16="http://schemas.microsoft.com/office/drawing/2014/main" id="{AAC607E2-C93A-4386-B744-443070ECB87E}"/>
              </a:ext>
            </a:extLst>
          </p:cNvPr>
          <p:cNvSpPr>
            <a:spLocks/>
          </p:cNvSpPr>
          <p:nvPr/>
        </p:nvSpPr>
        <p:spPr bwMode="auto">
          <a:xfrm>
            <a:off x="3721100" y="4144964"/>
            <a:ext cx="1041400" cy="427037"/>
          </a:xfrm>
          <a:custGeom>
            <a:avLst/>
            <a:gdLst>
              <a:gd name="T0" fmla="*/ 0 w 656"/>
              <a:gd name="T1" fmla="*/ 2147483646 h 269"/>
              <a:gd name="T2" fmla="*/ 2147483646 w 656"/>
              <a:gd name="T3" fmla="*/ 2147483646 h 269"/>
              <a:gd name="T4" fmla="*/ 2147483646 w 656"/>
              <a:gd name="T5" fmla="*/ 2147483646 h 269"/>
              <a:gd name="T6" fmla="*/ 0 60000 65536"/>
              <a:gd name="T7" fmla="*/ 0 60000 65536"/>
              <a:gd name="T8" fmla="*/ 0 60000 65536"/>
              <a:gd name="T9" fmla="*/ 0 w 656"/>
              <a:gd name="T10" fmla="*/ 0 h 269"/>
              <a:gd name="T11" fmla="*/ 656 w 656"/>
              <a:gd name="T12" fmla="*/ 269 h 2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6" h="269">
                <a:moveTo>
                  <a:pt x="0" y="269"/>
                </a:moveTo>
                <a:cubicBezTo>
                  <a:pt x="69" y="228"/>
                  <a:pt x="307" y="42"/>
                  <a:pt x="416" y="21"/>
                </a:cubicBezTo>
                <a:cubicBezTo>
                  <a:pt x="525" y="0"/>
                  <a:pt x="606" y="116"/>
                  <a:pt x="656" y="141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9388" name="Text Box 12">
            <a:extLst>
              <a:ext uri="{FF2B5EF4-FFF2-40B4-BE49-F238E27FC236}">
                <a16:creationId xmlns:a16="http://schemas.microsoft.com/office/drawing/2014/main" id="{7CED378C-A7A8-4F22-9658-0BF4D9BAE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9" y="4567238"/>
            <a:ext cx="9858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69389" name="Oval 13">
            <a:extLst>
              <a:ext uri="{FF2B5EF4-FFF2-40B4-BE49-F238E27FC236}">
                <a16:creationId xmlns:a16="http://schemas.microsoft.com/office/drawing/2014/main" id="{4A8644D2-8E61-4DB1-A845-56513554D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839" y="4340226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9390" name="Text Box 14">
            <a:extLst>
              <a:ext uri="{FF2B5EF4-FFF2-40B4-BE49-F238E27FC236}">
                <a16:creationId xmlns:a16="http://schemas.microsoft.com/office/drawing/2014/main" id="{0A88CF3C-F423-4D24-AD66-4CC4DFD8A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4" y="1531938"/>
            <a:ext cx="4022725" cy="48567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commitment</a:t>
            </a:r>
          </a:p>
          <a:p>
            <a:pPr marL="228600" indent="-228600"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Vulnerability, a problem can become a crisis on short notice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cash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window of opportunity (timing)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founder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family support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“life”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6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9388" grpId="0"/>
      <p:bldP spid="869389" grpId="0" animBg="1"/>
      <p:bldP spid="86938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0E55CFC-7364-4355-84D5-AF21CD1C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2298638-F9DC-4C97-A26D-907FB104F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04" name="Freeform 4">
            <a:extLst>
              <a:ext uri="{FF2B5EF4-FFF2-40B4-BE49-F238E27FC236}">
                <a16:creationId xmlns:a16="http://schemas.microsoft.com/office/drawing/2014/main" id="{CE40CEE6-28BC-4D35-A594-F1AA23C51F80}"/>
              </a:ext>
            </a:extLst>
          </p:cNvPr>
          <p:cNvSpPr>
            <a:spLocks/>
          </p:cNvSpPr>
          <p:nvPr/>
        </p:nvSpPr>
        <p:spPr bwMode="auto">
          <a:xfrm>
            <a:off x="2452689" y="3219451"/>
            <a:ext cx="2243137" cy="2481263"/>
          </a:xfrm>
          <a:custGeom>
            <a:avLst/>
            <a:gdLst>
              <a:gd name="T0" fmla="*/ 0 w 1413"/>
              <a:gd name="T1" fmla="*/ 2147483646 h 1563"/>
              <a:gd name="T2" fmla="*/ 2147483646 w 1413"/>
              <a:gd name="T3" fmla="*/ 2147483646 h 1563"/>
              <a:gd name="T4" fmla="*/ 2147483646 w 1413"/>
              <a:gd name="T5" fmla="*/ 2147483646 h 1563"/>
              <a:gd name="T6" fmla="*/ 2147483646 w 1413"/>
              <a:gd name="T7" fmla="*/ 2147483646 h 1563"/>
              <a:gd name="T8" fmla="*/ 2147483646 w 1413"/>
              <a:gd name="T9" fmla="*/ 2147483646 h 1563"/>
              <a:gd name="T10" fmla="*/ 2147483646 w 1413"/>
              <a:gd name="T11" fmla="*/ 2147483646 h 1563"/>
              <a:gd name="T12" fmla="*/ 2147483646 w 1413"/>
              <a:gd name="T13" fmla="*/ 2147483646 h 1563"/>
              <a:gd name="T14" fmla="*/ 2147483646 w 1413"/>
              <a:gd name="T15" fmla="*/ 2147483646 h 1563"/>
              <a:gd name="T16" fmla="*/ 2147483646 w 1413"/>
              <a:gd name="T17" fmla="*/ 2147483646 h 1563"/>
              <a:gd name="T18" fmla="*/ 2147483646 w 1413"/>
              <a:gd name="T19" fmla="*/ 2147483646 h 1563"/>
              <a:gd name="T20" fmla="*/ 2147483646 w 1413"/>
              <a:gd name="T21" fmla="*/ 0 h 156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13"/>
              <a:gd name="T34" fmla="*/ 0 h 1563"/>
              <a:gd name="T35" fmla="*/ 1413 w 1413"/>
              <a:gd name="T36" fmla="*/ 1563 h 156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13" h="1563">
                <a:moveTo>
                  <a:pt x="0" y="1563"/>
                </a:moveTo>
                <a:cubicBezTo>
                  <a:pt x="21" y="1560"/>
                  <a:pt x="79" y="1562"/>
                  <a:pt x="128" y="1547"/>
                </a:cubicBezTo>
                <a:cubicBezTo>
                  <a:pt x="177" y="1532"/>
                  <a:pt x="244" y="1511"/>
                  <a:pt x="296" y="1475"/>
                </a:cubicBezTo>
                <a:cubicBezTo>
                  <a:pt x="348" y="1439"/>
                  <a:pt x="424" y="1373"/>
                  <a:pt x="440" y="1334"/>
                </a:cubicBezTo>
                <a:cubicBezTo>
                  <a:pt x="456" y="1295"/>
                  <a:pt x="376" y="1239"/>
                  <a:pt x="392" y="1239"/>
                </a:cubicBezTo>
                <a:cubicBezTo>
                  <a:pt x="408" y="1239"/>
                  <a:pt x="527" y="1342"/>
                  <a:pt x="535" y="1334"/>
                </a:cubicBezTo>
                <a:cubicBezTo>
                  <a:pt x="543" y="1326"/>
                  <a:pt x="441" y="1213"/>
                  <a:pt x="440" y="1191"/>
                </a:cubicBezTo>
                <a:cubicBezTo>
                  <a:pt x="439" y="1169"/>
                  <a:pt x="480" y="1243"/>
                  <a:pt x="528" y="1203"/>
                </a:cubicBezTo>
                <a:cubicBezTo>
                  <a:pt x="576" y="1163"/>
                  <a:pt x="613" y="1105"/>
                  <a:pt x="726" y="952"/>
                </a:cubicBezTo>
                <a:cubicBezTo>
                  <a:pt x="839" y="799"/>
                  <a:pt x="1090" y="441"/>
                  <a:pt x="1204" y="282"/>
                </a:cubicBezTo>
                <a:cubicBezTo>
                  <a:pt x="1318" y="123"/>
                  <a:pt x="1369" y="59"/>
                  <a:pt x="141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05" name="AutoShape 5">
            <a:extLst>
              <a:ext uri="{FF2B5EF4-FFF2-40B4-BE49-F238E27FC236}">
                <a16:creationId xmlns:a16="http://schemas.microsoft.com/office/drawing/2014/main" id="{38BA361B-7179-4CA7-93D2-A2C9949EA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06" name="AutoShape 6">
            <a:extLst>
              <a:ext uri="{FF2B5EF4-FFF2-40B4-BE49-F238E27FC236}">
                <a16:creationId xmlns:a16="http://schemas.microsoft.com/office/drawing/2014/main" id="{670D9EAE-C157-4310-AEA0-9F7E656E3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07" name="Freeform 7">
            <a:extLst>
              <a:ext uri="{FF2B5EF4-FFF2-40B4-BE49-F238E27FC236}">
                <a16:creationId xmlns:a16="http://schemas.microsoft.com/office/drawing/2014/main" id="{5908169F-154F-429A-ACA6-A34DC4960BCE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08" name="Text Box 8">
            <a:extLst>
              <a:ext uri="{FF2B5EF4-FFF2-40B4-BE49-F238E27FC236}">
                <a16:creationId xmlns:a16="http://schemas.microsoft.com/office/drawing/2014/main" id="{1C847D2E-6E5E-4AF1-814F-7573F3AF1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0409" name="Text Box 9">
            <a:extLst>
              <a:ext uri="{FF2B5EF4-FFF2-40B4-BE49-F238E27FC236}">
                <a16:creationId xmlns:a16="http://schemas.microsoft.com/office/drawing/2014/main" id="{594FBF0E-89EE-4204-98C8-24F30798D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0410" name="Text Box 10">
            <a:extLst>
              <a:ext uri="{FF2B5EF4-FFF2-40B4-BE49-F238E27FC236}">
                <a16:creationId xmlns:a16="http://schemas.microsoft.com/office/drawing/2014/main" id="{6C73C858-0652-45D3-86C2-B42005960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53075"/>
            <a:ext cx="682625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70411" name="Oval 11">
            <a:extLst>
              <a:ext uri="{FF2B5EF4-FFF2-40B4-BE49-F238E27FC236}">
                <a16:creationId xmlns:a16="http://schemas.microsoft.com/office/drawing/2014/main" id="{12449D27-8683-45C5-91BC-7FE75D4CF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12" name="AutoShape 12">
            <a:extLst>
              <a:ext uri="{FF2B5EF4-FFF2-40B4-BE49-F238E27FC236}">
                <a16:creationId xmlns:a16="http://schemas.microsoft.com/office/drawing/2014/main" id="{B11FE3E1-D19F-43C1-BC47-F65ECEF9E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13" name="Text Box 13">
            <a:extLst>
              <a:ext uri="{FF2B5EF4-FFF2-40B4-BE49-F238E27FC236}">
                <a16:creationId xmlns:a16="http://schemas.microsoft.com/office/drawing/2014/main" id="{E08B8777-D6D9-44B3-B659-7271FE6A4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0414" name="Freeform 14">
            <a:extLst>
              <a:ext uri="{FF2B5EF4-FFF2-40B4-BE49-F238E27FC236}">
                <a16:creationId xmlns:a16="http://schemas.microsoft.com/office/drawing/2014/main" id="{34FB19E6-ECCD-43E3-9DF2-C8098F794EAA}"/>
              </a:ext>
            </a:extLst>
          </p:cNvPr>
          <p:cNvSpPr>
            <a:spLocks/>
          </p:cNvSpPr>
          <p:nvPr/>
        </p:nvSpPr>
        <p:spPr bwMode="auto">
          <a:xfrm>
            <a:off x="3708400" y="4140200"/>
            <a:ext cx="1041400" cy="419100"/>
          </a:xfrm>
          <a:custGeom>
            <a:avLst/>
            <a:gdLst>
              <a:gd name="T0" fmla="*/ 0 w 656"/>
              <a:gd name="T1" fmla="*/ 2147483646 h 264"/>
              <a:gd name="T2" fmla="*/ 2147483646 w 656"/>
              <a:gd name="T3" fmla="*/ 2147483646 h 264"/>
              <a:gd name="T4" fmla="*/ 2147483646 w 656"/>
              <a:gd name="T5" fmla="*/ 2147483646 h 264"/>
              <a:gd name="T6" fmla="*/ 0 60000 65536"/>
              <a:gd name="T7" fmla="*/ 0 60000 65536"/>
              <a:gd name="T8" fmla="*/ 0 60000 65536"/>
              <a:gd name="T9" fmla="*/ 0 w 656"/>
              <a:gd name="T10" fmla="*/ 0 h 264"/>
              <a:gd name="T11" fmla="*/ 656 w 656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6" h="264">
                <a:moveTo>
                  <a:pt x="0" y="264"/>
                </a:moveTo>
                <a:cubicBezTo>
                  <a:pt x="73" y="224"/>
                  <a:pt x="331" y="48"/>
                  <a:pt x="440" y="24"/>
                </a:cubicBezTo>
                <a:cubicBezTo>
                  <a:pt x="549" y="0"/>
                  <a:pt x="611" y="100"/>
                  <a:pt x="656" y="120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15" name="Text Box 15">
            <a:extLst>
              <a:ext uri="{FF2B5EF4-FFF2-40B4-BE49-F238E27FC236}">
                <a16:creationId xmlns:a16="http://schemas.microsoft.com/office/drawing/2014/main" id="{77048A87-3F03-4E40-AC47-FC80436F9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9" y="4414838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70416" name="Oval 16">
            <a:extLst>
              <a:ext uri="{FF2B5EF4-FFF2-40B4-BE49-F238E27FC236}">
                <a16:creationId xmlns:a16="http://schemas.microsoft.com/office/drawing/2014/main" id="{998B0F81-DDAB-4163-89C6-381C5142B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1" y="4264026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17" name="Text Box 17">
            <a:extLst>
              <a:ext uri="{FF2B5EF4-FFF2-40B4-BE49-F238E27FC236}">
                <a16:creationId xmlns:a16="http://schemas.microsoft.com/office/drawing/2014/main" id="{EDE7799D-7EA9-4517-830A-924FA537F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30375"/>
            <a:ext cx="4402138" cy="475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Organization is </a:t>
            </a:r>
            <a:r>
              <a:rPr lang="en-US" altLang="en-US" sz="3600">
                <a:latin typeface="Tahoma" panose="020B0604030504040204" pitchFamily="34" charset="0"/>
              </a:rPr>
              <a:t>A</a:t>
            </a:r>
            <a:r>
              <a:rPr lang="en-US" altLang="en-US">
                <a:latin typeface="Tahoma" panose="020B0604030504040204" pitchFamily="34" charset="0"/>
              </a:rPr>
              <a:t>rrogant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Rapid Growth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Sales Oriented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Organized around people, not around tasks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Lack of Accountability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Opportunity </a:t>
            </a:r>
            <a:r>
              <a:rPr lang="en-US" altLang="en-US">
                <a:solidFill>
                  <a:srgbClr val="FF0033"/>
                </a:solidFill>
                <a:latin typeface="Tahoma" panose="020B0604030504040204" pitchFamily="34" charset="0"/>
              </a:rPr>
              <a:t>driven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Too many priorities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Assumes </a:t>
            </a:r>
            <a:r>
              <a:rPr lang="en-US" altLang="en-US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>
                <a:latin typeface="Tahoma" panose="020B0604030504040204" pitchFamily="34" charset="0"/>
              </a:rPr>
              <a:t>More revenue = More profits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7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7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87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05" grpId="0" animBg="1"/>
      <p:bldP spid="870406" grpId="0" animBg="1"/>
      <p:bldP spid="870408" grpId="0"/>
      <p:bldP spid="870409" grpId="0"/>
      <p:bldP spid="870410" grpId="0"/>
      <p:bldP spid="870411" grpId="0" animBg="1"/>
      <p:bldP spid="870412" grpId="0" animBg="1"/>
      <p:bldP spid="870413" grpId="0"/>
      <p:bldP spid="870415" grpId="0"/>
      <p:bldP spid="8704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F2917C2-153F-4196-B118-6FBA8359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9167573-28ED-45CB-9FED-1FE591C3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28" name="Freeform 4">
            <a:extLst>
              <a:ext uri="{FF2B5EF4-FFF2-40B4-BE49-F238E27FC236}">
                <a16:creationId xmlns:a16="http://schemas.microsoft.com/office/drawing/2014/main" id="{3CEDA242-E283-4289-95E0-510A3A8D7CC5}"/>
              </a:ext>
            </a:extLst>
          </p:cNvPr>
          <p:cNvSpPr>
            <a:spLocks/>
          </p:cNvSpPr>
          <p:nvPr/>
        </p:nvSpPr>
        <p:spPr bwMode="auto">
          <a:xfrm>
            <a:off x="2452688" y="3667125"/>
            <a:ext cx="1911350" cy="2033588"/>
          </a:xfrm>
          <a:custGeom>
            <a:avLst/>
            <a:gdLst>
              <a:gd name="T0" fmla="*/ 0 w 1204"/>
              <a:gd name="T1" fmla="*/ 2147483646 h 1281"/>
              <a:gd name="T2" fmla="*/ 2147483646 w 1204"/>
              <a:gd name="T3" fmla="*/ 2147483646 h 1281"/>
              <a:gd name="T4" fmla="*/ 2147483646 w 1204"/>
              <a:gd name="T5" fmla="*/ 2147483646 h 1281"/>
              <a:gd name="T6" fmla="*/ 2147483646 w 1204"/>
              <a:gd name="T7" fmla="*/ 2147483646 h 1281"/>
              <a:gd name="T8" fmla="*/ 2147483646 w 1204"/>
              <a:gd name="T9" fmla="*/ 2147483646 h 1281"/>
              <a:gd name="T10" fmla="*/ 2147483646 w 1204"/>
              <a:gd name="T11" fmla="*/ 2147483646 h 1281"/>
              <a:gd name="T12" fmla="*/ 2147483646 w 1204"/>
              <a:gd name="T13" fmla="*/ 2147483646 h 1281"/>
              <a:gd name="T14" fmla="*/ 2147483646 w 1204"/>
              <a:gd name="T15" fmla="*/ 2147483646 h 1281"/>
              <a:gd name="T16" fmla="*/ 2147483646 w 1204"/>
              <a:gd name="T17" fmla="*/ 2147483646 h 1281"/>
              <a:gd name="T18" fmla="*/ 2147483646 w 1204"/>
              <a:gd name="T19" fmla="*/ 0 h 128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04"/>
              <a:gd name="T31" fmla="*/ 0 h 1281"/>
              <a:gd name="T32" fmla="*/ 1204 w 1204"/>
              <a:gd name="T33" fmla="*/ 1281 h 128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04" h="1281">
                <a:moveTo>
                  <a:pt x="0" y="1281"/>
                </a:moveTo>
                <a:cubicBezTo>
                  <a:pt x="21" y="1278"/>
                  <a:pt x="79" y="1280"/>
                  <a:pt x="128" y="1265"/>
                </a:cubicBezTo>
                <a:cubicBezTo>
                  <a:pt x="177" y="1250"/>
                  <a:pt x="244" y="1229"/>
                  <a:pt x="296" y="1193"/>
                </a:cubicBezTo>
                <a:cubicBezTo>
                  <a:pt x="348" y="1157"/>
                  <a:pt x="424" y="1091"/>
                  <a:pt x="440" y="1052"/>
                </a:cubicBezTo>
                <a:cubicBezTo>
                  <a:pt x="456" y="1013"/>
                  <a:pt x="376" y="957"/>
                  <a:pt x="392" y="957"/>
                </a:cubicBezTo>
                <a:cubicBezTo>
                  <a:pt x="408" y="957"/>
                  <a:pt x="527" y="1060"/>
                  <a:pt x="535" y="1052"/>
                </a:cubicBezTo>
                <a:cubicBezTo>
                  <a:pt x="543" y="1044"/>
                  <a:pt x="441" y="931"/>
                  <a:pt x="440" y="909"/>
                </a:cubicBezTo>
                <a:cubicBezTo>
                  <a:pt x="439" y="887"/>
                  <a:pt x="480" y="961"/>
                  <a:pt x="528" y="921"/>
                </a:cubicBezTo>
                <a:cubicBezTo>
                  <a:pt x="576" y="881"/>
                  <a:pt x="613" y="823"/>
                  <a:pt x="726" y="670"/>
                </a:cubicBezTo>
                <a:cubicBezTo>
                  <a:pt x="839" y="517"/>
                  <a:pt x="1124" y="112"/>
                  <a:pt x="1204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29" name="AutoShape 5">
            <a:extLst>
              <a:ext uri="{FF2B5EF4-FFF2-40B4-BE49-F238E27FC236}">
                <a16:creationId xmlns:a16="http://schemas.microsoft.com/office/drawing/2014/main" id="{8165F1F7-3395-442F-9B6D-B8FA83E42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0" name="Text Box 6">
            <a:extLst>
              <a:ext uri="{FF2B5EF4-FFF2-40B4-BE49-F238E27FC236}">
                <a16:creationId xmlns:a16="http://schemas.microsoft.com/office/drawing/2014/main" id="{00BDC590-EE7A-469C-B1E3-D1D744A5F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1431" name="Text Box 7">
            <a:extLst>
              <a:ext uri="{FF2B5EF4-FFF2-40B4-BE49-F238E27FC236}">
                <a16:creationId xmlns:a16="http://schemas.microsoft.com/office/drawing/2014/main" id="{9A1A1DBD-9820-4C99-9481-41AFDC043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3213100"/>
            <a:ext cx="4116388" cy="149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Tahoma" panose="020B0604030504040204" pitchFamily="34" charset="0"/>
              </a:rPr>
              <a:t> Getting sued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Tahoma" panose="020B0604030504040204" pitchFamily="34" charset="0"/>
              </a:rPr>
              <a:t> Lose their shirts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Tahoma" panose="020B0604030504040204" pitchFamily="34" charset="0"/>
              </a:rPr>
              <a:t> Bad investments</a:t>
            </a:r>
          </a:p>
        </p:txBody>
      </p:sp>
      <p:sp>
        <p:nvSpPr>
          <p:cNvPr id="871432" name="Text Box 8">
            <a:extLst>
              <a:ext uri="{FF2B5EF4-FFF2-40B4-BE49-F238E27FC236}">
                <a16:creationId xmlns:a16="http://schemas.microsoft.com/office/drawing/2014/main" id="{5400742D-3323-417C-BBAD-90FD27150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8" y="1454150"/>
            <a:ext cx="6831012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Crisis prompts the transition to the next stage on the lifecycle</a:t>
            </a:r>
          </a:p>
        </p:txBody>
      </p:sp>
      <p:sp>
        <p:nvSpPr>
          <p:cNvPr id="871433" name="AutoShape 9">
            <a:extLst>
              <a:ext uri="{FF2B5EF4-FFF2-40B4-BE49-F238E27FC236}">
                <a16:creationId xmlns:a16="http://schemas.microsoft.com/office/drawing/2014/main" id="{63102D5C-A88D-460F-BCE3-1EBF4C1A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4" name="Freeform 10">
            <a:extLst>
              <a:ext uri="{FF2B5EF4-FFF2-40B4-BE49-F238E27FC236}">
                <a16:creationId xmlns:a16="http://schemas.microsoft.com/office/drawing/2014/main" id="{F1713A11-6D04-491C-8713-C64388A58FF6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35" name="Oval 11">
            <a:extLst>
              <a:ext uri="{FF2B5EF4-FFF2-40B4-BE49-F238E27FC236}">
                <a16:creationId xmlns:a16="http://schemas.microsoft.com/office/drawing/2014/main" id="{D6052FA0-BC62-4ECE-BB05-ECBC6DC71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6" name="AutoShape 12">
            <a:extLst>
              <a:ext uri="{FF2B5EF4-FFF2-40B4-BE49-F238E27FC236}">
                <a16:creationId xmlns:a16="http://schemas.microsoft.com/office/drawing/2014/main" id="{179F6215-CCC2-476E-BFCC-DB3EE20AE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7" name="Text Box 13">
            <a:extLst>
              <a:ext uri="{FF2B5EF4-FFF2-40B4-BE49-F238E27FC236}">
                <a16:creationId xmlns:a16="http://schemas.microsoft.com/office/drawing/2014/main" id="{D7844DAD-841F-4F4A-8716-F4F6194EE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1438" name="Text Box 14">
            <a:extLst>
              <a:ext uri="{FF2B5EF4-FFF2-40B4-BE49-F238E27FC236}">
                <a16:creationId xmlns:a16="http://schemas.microsoft.com/office/drawing/2014/main" id="{705414E2-F01D-493A-8A4D-2FB9B35A5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1439" name="Freeform 15">
            <a:extLst>
              <a:ext uri="{FF2B5EF4-FFF2-40B4-BE49-F238E27FC236}">
                <a16:creationId xmlns:a16="http://schemas.microsoft.com/office/drawing/2014/main" id="{9FA39D60-D625-4C58-B140-8945AFF3B83C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40" name="Oval 16">
            <a:extLst>
              <a:ext uri="{FF2B5EF4-FFF2-40B4-BE49-F238E27FC236}">
                <a16:creationId xmlns:a16="http://schemas.microsoft.com/office/drawing/2014/main" id="{D02D2319-A62E-4891-BA34-00BBE7288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7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7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7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9" grpId="0" animBg="1"/>
      <p:bldP spid="871430" grpId="0"/>
      <p:bldP spid="871433" grpId="0" animBg="1"/>
      <p:bldP spid="871435" grpId="0" animBg="1"/>
      <p:bldP spid="871436" grpId="0" animBg="1"/>
      <p:bldP spid="871437" grpId="0"/>
      <p:bldP spid="871438" grpId="0"/>
      <p:bldP spid="8714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321942-A8D0-4AA4-AF73-14C7D6D11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47F1BD2-22F6-4C47-801E-D8A6B121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2452" name="Freeform 4">
            <a:extLst>
              <a:ext uri="{FF2B5EF4-FFF2-40B4-BE49-F238E27FC236}">
                <a16:creationId xmlns:a16="http://schemas.microsoft.com/office/drawing/2014/main" id="{1DD0DB30-9E97-43C1-9A04-34E063A23393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2453" name="AutoShape 5">
            <a:extLst>
              <a:ext uri="{FF2B5EF4-FFF2-40B4-BE49-F238E27FC236}">
                <a16:creationId xmlns:a16="http://schemas.microsoft.com/office/drawing/2014/main" id="{B823423E-A418-424C-8BC0-0C18B22FA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2454" name="Text Box 6">
            <a:extLst>
              <a:ext uri="{FF2B5EF4-FFF2-40B4-BE49-F238E27FC236}">
                <a16:creationId xmlns:a16="http://schemas.microsoft.com/office/drawing/2014/main" id="{DC9CA00D-FB47-4D70-B011-A8076F5BB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2455" name="Text Box 7">
            <a:extLst>
              <a:ext uri="{FF2B5EF4-FFF2-40B4-BE49-F238E27FC236}">
                <a16:creationId xmlns:a16="http://schemas.microsoft.com/office/drawing/2014/main" id="{FD4F0B60-F78B-40A1-9A8D-7051A3EB4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3049589"/>
            <a:ext cx="5084763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Priorities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Systems &amp; Accounting/Accountability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Order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Professional Management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SECOND BIRTH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Love Hate Relationship</a:t>
            </a:r>
          </a:p>
        </p:txBody>
      </p:sp>
      <p:sp>
        <p:nvSpPr>
          <p:cNvPr id="872456" name="Text Box 8">
            <a:extLst>
              <a:ext uri="{FF2B5EF4-FFF2-40B4-BE49-F238E27FC236}">
                <a16:creationId xmlns:a16="http://schemas.microsoft.com/office/drawing/2014/main" id="{18051A6F-904D-451F-9728-4FEE6FAFB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1331914"/>
            <a:ext cx="4098925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Needs: </a:t>
            </a:r>
          </a:p>
          <a:p>
            <a:pPr>
              <a:spcBef>
                <a:spcPct val="50000"/>
              </a:spcBef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Transition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7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453" grpId="0" animBg="1"/>
      <p:bldP spid="872454" grpId="0"/>
      <p:bldP spid="8724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69BB940-2162-48BF-8AFF-B6D49BD0E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7E01438-9FD4-4DB6-8E6B-15E3437A9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3476" name="Freeform 4">
            <a:extLst>
              <a:ext uri="{FF2B5EF4-FFF2-40B4-BE49-F238E27FC236}">
                <a16:creationId xmlns:a16="http://schemas.microsoft.com/office/drawing/2014/main" id="{DF8EF781-FD30-4F5F-A020-5B804AC70108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3477" name="AutoShape 5">
            <a:extLst>
              <a:ext uri="{FF2B5EF4-FFF2-40B4-BE49-F238E27FC236}">
                <a16:creationId xmlns:a16="http://schemas.microsoft.com/office/drawing/2014/main" id="{6CFA3EDB-DF7C-4DD4-9960-439037EB6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3478" name="Text Box 6">
            <a:extLst>
              <a:ext uri="{FF2B5EF4-FFF2-40B4-BE49-F238E27FC236}">
                <a16:creationId xmlns:a16="http://schemas.microsoft.com/office/drawing/2014/main" id="{E4CBEAB3-656F-4B95-9037-6BEC91AE9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3479" name="Text Box 7">
            <a:extLst>
              <a:ext uri="{FF2B5EF4-FFF2-40B4-BE49-F238E27FC236}">
                <a16:creationId xmlns:a16="http://schemas.microsoft.com/office/drawing/2014/main" id="{798BC962-FFF6-4C75-8D51-54B6E935B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3049588"/>
            <a:ext cx="5084763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From: 	Entrepreneurial Management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To:	Professional Management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73480" name="Text Box 8">
            <a:extLst>
              <a:ext uri="{FF2B5EF4-FFF2-40B4-BE49-F238E27FC236}">
                <a16:creationId xmlns:a16="http://schemas.microsoft.com/office/drawing/2014/main" id="{80599875-8103-42C0-BFFB-403FA8EC1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1331914"/>
            <a:ext cx="4098925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Needs: </a:t>
            </a:r>
          </a:p>
          <a:p>
            <a:pPr>
              <a:spcBef>
                <a:spcPct val="50000"/>
              </a:spcBef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Transition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7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3477" grpId="0" animBg="1"/>
      <p:bldP spid="873478" grpId="0"/>
      <p:bldP spid="87348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Freeform 2">
            <a:extLst>
              <a:ext uri="{FF2B5EF4-FFF2-40B4-BE49-F238E27FC236}">
                <a16:creationId xmlns:a16="http://schemas.microsoft.com/office/drawing/2014/main" id="{B5FCD461-1B0F-46BE-BDB4-9F0583DD3D83}"/>
              </a:ext>
            </a:extLst>
          </p:cNvPr>
          <p:cNvSpPr>
            <a:spLocks/>
          </p:cNvSpPr>
          <p:nvPr/>
        </p:nvSpPr>
        <p:spPr bwMode="auto">
          <a:xfrm>
            <a:off x="5267325" y="2182813"/>
            <a:ext cx="781050" cy="284162"/>
          </a:xfrm>
          <a:custGeom>
            <a:avLst/>
            <a:gdLst>
              <a:gd name="T0" fmla="*/ 0 w 492"/>
              <a:gd name="T1" fmla="*/ 2147483646 h 179"/>
              <a:gd name="T2" fmla="*/ 2147483646 w 492"/>
              <a:gd name="T3" fmla="*/ 2147483646 h 179"/>
              <a:gd name="T4" fmla="*/ 2147483646 w 492"/>
              <a:gd name="T5" fmla="*/ 2147483646 h 179"/>
              <a:gd name="T6" fmla="*/ 0 60000 65536"/>
              <a:gd name="T7" fmla="*/ 0 60000 65536"/>
              <a:gd name="T8" fmla="*/ 0 60000 65536"/>
              <a:gd name="T9" fmla="*/ 0 w 492"/>
              <a:gd name="T10" fmla="*/ 0 h 179"/>
              <a:gd name="T11" fmla="*/ 492 w 492"/>
              <a:gd name="T12" fmla="*/ 179 h 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2" h="179">
                <a:moveTo>
                  <a:pt x="0" y="179"/>
                </a:moveTo>
                <a:cubicBezTo>
                  <a:pt x="44" y="154"/>
                  <a:pt x="180" y="44"/>
                  <a:pt x="262" y="22"/>
                </a:cubicBezTo>
                <a:cubicBezTo>
                  <a:pt x="344" y="0"/>
                  <a:pt x="444" y="42"/>
                  <a:pt x="492" y="47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499" name="Freeform 3">
            <a:extLst>
              <a:ext uri="{FF2B5EF4-FFF2-40B4-BE49-F238E27FC236}">
                <a16:creationId xmlns:a16="http://schemas.microsoft.com/office/drawing/2014/main" id="{941A870E-0D6A-43B6-A7BF-206368EED824}"/>
              </a:ext>
            </a:extLst>
          </p:cNvPr>
          <p:cNvSpPr>
            <a:spLocks/>
          </p:cNvSpPr>
          <p:nvPr/>
        </p:nvSpPr>
        <p:spPr bwMode="auto">
          <a:xfrm>
            <a:off x="5260976" y="2384426"/>
            <a:ext cx="701675" cy="225425"/>
          </a:xfrm>
          <a:custGeom>
            <a:avLst/>
            <a:gdLst>
              <a:gd name="T0" fmla="*/ 0 w 442"/>
              <a:gd name="T1" fmla="*/ 2147483646 h 142"/>
              <a:gd name="T2" fmla="*/ 2147483646 w 442"/>
              <a:gd name="T3" fmla="*/ 2147483646 h 142"/>
              <a:gd name="T4" fmla="*/ 2147483646 w 442"/>
              <a:gd name="T5" fmla="*/ 2147483646 h 142"/>
              <a:gd name="T6" fmla="*/ 0 60000 65536"/>
              <a:gd name="T7" fmla="*/ 0 60000 65536"/>
              <a:gd name="T8" fmla="*/ 0 60000 65536"/>
              <a:gd name="T9" fmla="*/ 0 w 442"/>
              <a:gd name="T10" fmla="*/ 0 h 142"/>
              <a:gd name="T11" fmla="*/ 442 w 442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2" h="142">
                <a:moveTo>
                  <a:pt x="0" y="46"/>
                </a:moveTo>
                <a:cubicBezTo>
                  <a:pt x="47" y="41"/>
                  <a:pt x="206" y="0"/>
                  <a:pt x="280" y="16"/>
                </a:cubicBezTo>
                <a:cubicBezTo>
                  <a:pt x="354" y="32"/>
                  <a:pt x="408" y="116"/>
                  <a:pt x="442" y="142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BF278937-2101-48D1-AC44-16DE8D8F6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6C575E4-B8FB-4909-8003-7BE848C8E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4" name="Freeform 6">
            <a:extLst>
              <a:ext uri="{FF2B5EF4-FFF2-40B4-BE49-F238E27FC236}">
                <a16:creationId xmlns:a16="http://schemas.microsoft.com/office/drawing/2014/main" id="{C0458FAA-3580-4D95-BC50-92A512FF3061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AutoShape 7">
            <a:extLst>
              <a:ext uri="{FF2B5EF4-FFF2-40B4-BE49-F238E27FC236}">
                <a16:creationId xmlns:a16="http://schemas.microsoft.com/office/drawing/2014/main" id="{4C6A0795-F14E-4821-A294-35DFF5A24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6" name="AutoShape 8">
            <a:extLst>
              <a:ext uri="{FF2B5EF4-FFF2-40B4-BE49-F238E27FC236}">
                <a16:creationId xmlns:a16="http://schemas.microsoft.com/office/drawing/2014/main" id="{93893429-F7BB-4649-BA0A-22C747507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7" name="Freeform 9">
            <a:extLst>
              <a:ext uri="{FF2B5EF4-FFF2-40B4-BE49-F238E27FC236}">
                <a16:creationId xmlns:a16="http://schemas.microsoft.com/office/drawing/2014/main" id="{4E1C4ED2-A0C9-4662-A2D1-59F4D320803F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06" name="Text Box 10">
            <a:extLst>
              <a:ext uri="{FF2B5EF4-FFF2-40B4-BE49-F238E27FC236}">
                <a16:creationId xmlns:a16="http://schemas.microsoft.com/office/drawing/2014/main" id="{DCED99A4-53E1-43D8-AA37-EC32AF342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4507" name="Text Box 11">
            <a:extLst>
              <a:ext uri="{FF2B5EF4-FFF2-40B4-BE49-F238E27FC236}">
                <a16:creationId xmlns:a16="http://schemas.microsoft.com/office/drawing/2014/main" id="{64A7F7FB-55F3-4DA8-B95F-6DF431FA6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4508" name="Text Box 12">
            <a:extLst>
              <a:ext uri="{FF2B5EF4-FFF2-40B4-BE49-F238E27FC236}">
                <a16:creationId xmlns:a16="http://schemas.microsoft.com/office/drawing/2014/main" id="{2CC147C3-35D0-4463-A279-B6188F238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27661" name="Oval 13">
            <a:extLst>
              <a:ext uri="{FF2B5EF4-FFF2-40B4-BE49-F238E27FC236}">
                <a16:creationId xmlns:a16="http://schemas.microsoft.com/office/drawing/2014/main" id="{34339DB6-131B-4731-9829-F3CF1EFE9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62" name="AutoShape 14">
            <a:extLst>
              <a:ext uri="{FF2B5EF4-FFF2-40B4-BE49-F238E27FC236}">
                <a16:creationId xmlns:a16="http://schemas.microsoft.com/office/drawing/2014/main" id="{BF9BEDA0-7AA8-4AB3-94DD-971377F67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11" name="Text Box 15">
            <a:extLst>
              <a:ext uri="{FF2B5EF4-FFF2-40B4-BE49-F238E27FC236}">
                <a16:creationId xmlns:a16="http://schemas.microsoft.com/office/drawing/2014/main" id="{7BAE40BC-BCE8-4815-83CC-D442BC341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27664" name="Freeform 16">
            <a:extLst>
              <a:ext uri="{FF2B5EF4-FFF2-40B4-BE49-F238E27FC236}">
                <a16:creationId xmlns:a16="http://schemas.microsoft.com/office/drawing/2014/main" id="{B88AD88C-FA94-4019-8C23-E3E74051E4EA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13" name="Text Box 17">
            <a:extLst>
              <a:ext uri="{FF2B5EF4-FFF2-40B4-BE49-F238E27FC236}">
                <a16:creationId xmlns:a16="http://schemas.microsoft.com/office/drawing/2014/main" id="{66FA4A1F-E7BC-4323-A090-6D9842E56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27666" name="Oval 18">
            <a:extLst>
              <a:ext uri="{FF2B5EF4-FFF2-40B4-BE49-F238E27FC236}">
                <a16:creationId xmlns:a16="http://schemas.microsoft.com/office/drawing/2014/main" id="{FC69E804-CD0F-4628-90E4-914FCFD8C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67" name="Freeform 19">
            <a:extLst>
              <a:ext uri="{FF2B5EF4-FFF2-40B4-BE49-F238E27FC236}">
                <a16:creationId xmlns:a16="http://schemas.microsoft.com/office/drawing/2014/main" id="{4C9EEE61-B128-4271-AEC4-4AEF9F630A4C}"/>
              </a:ext>
            </a:extLst>
          </p:cNvPr>
          <p:cNvSpPr>
            <a:spLocks/>
          </p:cNvSpPr>
          <p:nvPr/>
        </p:nvSpPr>
        <p:spPr bwMode="auto">
          <a:xfrm>
            <a:off x="4391025" y="3201988"/>
            <a:ext cx="927100" cy="398462"/>
          </a:xfrm>
          <a:custGeom>
            <a:avLst/>
            <a:gdLst>
              <a:gd name="T0" fmla="*/ 0 w 584"/>
              <a:gd name="T1" fmla="*/ 2147483646 h 251"/>
              <a:gd name="T2" fmla="*/ 2147483646 w 584"/>
              <a:gd name="T3" fmla="*/ 2147483646 h 251"/>
              <a:gd name="T4" fmla="*/ 2147483646 w 584"/>
              <a:gd name="T5" fmla="*/ 2147483646 h 251"/>
              <a:gd name="T6" fmla="*/ 0 60000 65536"/>
              <a:gd name="T7" fmla="*/ 0 60000 65536"/>
              <a:gd name="T8" fmla="*/ 0 60000 65536"/>
              <a:gd name="T9" fmla="*/ 0 w 584"/>
              <a:gd name="T10" fmla="*/ 0 h 251"/>
              <a:gd name="T11" fmla="*/ 584 w 584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84" h="251">
                <a:moveTo>
                  <a:pt x="0" y="251"/>
                </a:moveTo>
                <a:cubicBezTo>
                  <a:pt x="64" y="212"/>
                  <a:pt x="287" y="46"/>
                  <a:pt x="384" y="23"/>
                </a:cubicBezTo>
                <a:cubicBezTo>
                  <a:pt x="481" y="0"/>
                  <a:pt x="542" y="94"/>
                  <a:pt x="584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16" name="Text Box 20">
            <a:extLst>
              <a:ext uri="{FF2B5EF4-FFF2-40B4-BE49-F238E27FC236}">
                <a16:creationId xmlns:a16="http://schemas.microsoft.com/office/drawing/2014/main" id="{293FFD9A-0E25-4D60-8D6C-6B03EB982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4" y="3502175"/>
            <a:ext cx="930275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Founders Trap</a:t>
            </a:r>
          </a:p>
        </p:txBody>
      </p:sp>
      <p:sp>
        <p:nvSpPr>
          <p:cNvPr id="27669" name="Oval 21">
            <a:extLst>
              <a:ext uri="{FF2B5EF4-FFF2-40B4-BE49-F238E27FC236}">
                <a16:creationId xmlns:a16="http://schemas.microsoft.com/office/drawing/2014/main" id="{14AC4CBC-EA0E-4941-8B94-6C8A94676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3370264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70" name="AutoShape 22">
            <a:extLst>
              <a:ext uri="{FF2B5EF4-FFF2-40B4-BE49-F238E27FC236}">
                <a16:creationId xmlns:a16="http://schemas.microsoft.com/office/drawing/2014/main" id="{A5A40C81-4CFB-44DE-99A7-10D715DAB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6" y="25177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19" name="Text Box 23">
            <a:extLst>
              <a:ext uri="{FF2B5EF4-FFF2-40B4-BE49-F238E27FC236}">
                <a16:creationId xmlns:a16="http://schemas.microsoft.com/office/drawing/2014/main" id="{DB8A7C45-8D1F-4740-A7E1-EB013EC03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2366963"/>
            <a:ext cx="16684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Adolescence</a:t>
            </a:r>
          </a:p>
        </p:txBody>
      </p:sp>
      <p:sp>
        <p:nvSpPr>
          <p:cNvPr id="874520" name="Oval 24">
            <a:extLst>
              <a:ext uri="{FF2B5EF4-FFF2-40B4-BE49-F238E27FC236}">
                <a16:creationId xmlns:a16="http://schemas.microsoft.com/office/drawing/2014/main" id="{7041D46B-75EC-473D-B6F6-9C50D222A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4" y="2605089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21" name="Oval 25">
            <a:extLst>
              <a:ext uri="{FF2B5EF4-FFF2-40B4-BE49-F238E27FC236}">
                <a16:creationId xmlns:a16="http://schemas.microsoft.com/office/drawing/2014/main" id="{7B19B800-AB44-429D-85AF-F64579451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2214564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22" name="Text Box 26">
            <a:extLst>
              <a:ext uri="{FF2B5EF4-FFF2-40B4-BE49-F238E27FC236}">
                <a16:creationId xmlns:a16="http://schemas.microsoft.com/office/drawing/2014/main" id="{7767B465-1A70-4227-AC71-19A2F03A7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8" y="2001451"/>
            <a:ext cx="144145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Premature Aging</a:t>
            </a:r>
          </a:p>
        </p:txBody>
      </p:sp>
      <p:sp>
        <p:nvSpPr>
          <p:cNvPr id="874523" name="Text Box 27">
            <a:extLst>
              <a:ext uri="{FF2B5EF4-FFF2-40B4-BE49-F238E27FC236}">
                <a16:creationId xmlns:a16="http://schemas.microsoft.com/office/drawing/2014/main" id="{8B412727-F98E-4B88-AF94-8ED67FA9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2819400"/>
            <a:ext cx="12334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Unfulfilled Entrepreneur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-111" charset="0"/>
              <a:ea typeface="ＭＳ Ｐゴシック" pitchFamily="-111" charset="-128"/>
            </a:endParaRPr>
          </a:p>
        </p:txBody>
      </p:sp>
      <p:sp>
        <p:nvSpPr>
          <p:cNvPr id="874524" name="Text Box 28">
            <a:extLst>
              <a:ext uri="{FF2B5EF4-FFF2-40B4-BE49-F238E27FC236}">
                <a16:creationId xmlns:a16="http://schemas.microsoft.com/office/drawing/2014/main" id="{F0327DE5-8E62-4FF8-9DEA-D429D2642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2214564"/>
            <a:ext cx="1062038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Divorce</a:t>
            </a:r>
          </a:p>
        </p:txBody>
      </p:sp>
      <p:sp>
        <p:nvSpPr>
          <p:cNvPr id="874525" name="Text Box 29">
            <a:extLst>
              <a:ext uri="{FF2B5EF4-FFF2-40B4-BE49-F238E27FC236}">
                <a16:creationId xmlns:a16="http://schemas.microsoft.com/office/drawing/2014/main" id="{C9F30737-5C72-4017-9E0B-D6000D98B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429000"/>
            <a:ext cx="4478338" cy="175432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Revolving Door</a:t>
            </a:r>
            <a:br>
              <a:rPr lang="en-US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</a:b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Entrepreneur / Founder unwilling or unable to make the necessary adolescence adaptations fires the professional managers and administrators….AGAIN</a:t>
            </a:r>
          </a:p>
        </p:txBody>
      </p:sp>
      <p:sp>
        <p:nvSpPr>
          <p:cNvPr id="874526" name="Text Box 30">
            <a:extLst>
              <a:ext uri="{FF2B5EF4-FFF2-40B4-BE49-F238E27FC236}">
                <a16:creationId xmlns:a16="http://schemas.microsoft.com/office/drawing/2014/main" id="{8ED36CD9-9B53-4677-B3A9-01DD64174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4" y="1758950"/>
            <a:ext cx="3660775" cy="9233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Risk averse squeezes out the entrepreneurial partners or management  </a:t>
            </a:r>
          </a:p>
        </p:txBody>
      </p:sp>
      <p:sp>
        <p:nvSpPr>
          <p:cNvPr id="874527" name="Text Box 31">
            <a:extLst>
              <a:ext uri="{FF2B5EF4-FFF2-40B4-BE49-F238E27FC236}">
                <a16:creationId xmlns:a16="http://schemas.microsoft.com/office/drawing/2014/main" id="{07BCBC66-44A8-46C2-AAC9-9450879A2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1" y="1152526"/>
            <a:ext cx="554037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Divorce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7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7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7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7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7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7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7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7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4520" grpId="0" animBg="1"/>
      <p:bldP spid="874521" grpId="0" animBg="1"/>
      <p:bldP spid="874522" grpId="0"/>
      <p:bldP spid="874523" grpId="0"/>
      <p:bldP spid="874524" grpId="0"/>
      <p:bldP spid="874525" grpId="0"/>
      <p:bldP spid="8745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B0FBB33-68C7-4B99-8D3E-55A30A72F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E35BDCB-95D1-4D69-94A5-43BE19BAD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5524" name="Freeform 4">
            <a:extLst>
              <a:ext uri="{FF2B5EF4-FFF2-40B4-BE49-F238E27FC236}">
                <a16:creationId xmlns:a16="http://schemas.microsoft.com/office/drawing/2014/main" id="{1CBB5163-D2A9-427D-8D92-AAE0AF26E953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5525" name="AutoShape 5">
            <a:extLst>
              <a:ext uri="{FF2B5EF4-FFF2-40B4-BE49-F238E27FC236}">
                <a16:creationId xmlns:a16="http://schemas.microsoft.com/office/drawing/2014/main" id="{046A04D5-2B0A-4F84-BF81-EB9B94BD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5526" name="Text Box 6">
            <a:extLst>
              <a:ext uri="{FF2B5EF4-FFF2-40B4-BE49-F238E27FC236}">
                <a16:creationId xmlns:a16="http://schemas.microsoft.com/office/drawing/2014/main" id="{F9C6E474-B9E7-47E1-9E99-3491BEDEA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5527" name="Text Box 7">
            <a:extLst>
              <a:ext uri="{FF2B5EF4-FFF2-40B4-BE49-F238E27FC236}">
                <a16:creationId xmlns:a16="http://schemas.microsoft.com/office/drawing/2014/main" id="{414D4107-F786-4B32-84A9-771731B4F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4" y="2754313"/>
            <a:ext cx="5692775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From:	More is Better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To:	Better is More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New Definition of the Company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Change of Organization Structure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Change of Incentive Systems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Change Accountability and Information System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Leadership Transition</a:t>
            </a:r>
          </a:p>
        </p:txBody>
      </p:sp>
      <p:sp>
        <p:nvSpPr>
          <p:cNvPr id="875528" name="Text Box 8">
            <a:extLst>
              <a:ext uri="{FF2B5EF4-FFF2-40B4-BE49-F238E27FC236}">
                <a16:creationId xmlns:a16="http://schemas.microsoft.com/office/drawing/2014/main" id="{45694F9B-9138-4F73-814A-D8F93A06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03338"/>
            <a:ext cx="4572000" cy="10842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6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Needs:</a:t>
            </a:r>
            <a:r>
              <a:rPr lang="en-US" sz="26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en-US" sz="26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Transition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7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5525" grpId="0" animBg="1"/>
      <p:bldP spid="875526" grpId="0"/>
      <p:bldP spid="8755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6216F08-752E-4BF2-BF3D-1CA4426A0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277CA87-8BF3-495E-9226-E59101468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48" name="Freeform 4">
            <a:extLst>
              <a:ext uri="{FF2B5EF4-FFF2-40B4-BE49-F238E27FC236}">
                <a16:creationId xmlns:a16="http://schemas.microsoft.com/office/drawing/2014/main" id="{0D0E2EBF-A109-45F8-9768-DD06B9A86A06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AutoShape 5">
            <a:extLst>
              <a:ext uri="{FF2B5EF4-FFF2-40B4-BE49-F238E27FC236}">
                <a16:creationId xmlns:a16="http://schemas.microsoft.com/office/drawing/2014/main" id="{A3A83A07-3F49-4352-8181-6616B20E4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0" name="AutoShape 6">
            <a:extLst>
              <a:ext uri="{FF2B5EF4-FFF2-40B4-BE49-F238E27FC236}">
                <a16:creationId xmlns:a16="http://schemas.microsoft.com/office/drawing/2014/main" id="{CD42803A-05FC-41B2-A1BD-168688E3D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1" name="Freeform 7">
            <a:extLst>
              <a:ext uri="{FF2B5EF4-FFF2-40B4-BE49-F238E27FC236}">
                <a16:creationId xmlns:a16="http://schemas.microsoft.com/office/drawing/2014/main" id="{CA15C3FA-D15D-40DD-8F7E-7E1BACC2611C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2" name="Text Box 8">
            <a:extLst>
              <a:ext uri="{FF2B5EF4-FFF2-40B4-BE49-F238E27FC236}">
                <a16:creationId xmlns:a16="http://schemas.microsoft.com/office/drawing/2014/main" id="{250B0651-3D05-4BF2-A538-EC431F31A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6553" name="Text Box 9">
            <a:extLst>
              <a:ext uri="{FF2B5EF4-FFF2-40B4-BE49-F238E27FC236}">
                <a16:creationId xmlns:a16="http://schemas.microsoft.com/office/drawing/2014/main" id="{EF79548B-3048-432F-8149-B09F28182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6554" name="Text Box 10">
            <a:extLst>
              <a:ext uri="{FF2B5EF4-FFF2-40B4-BE49-F238E27FC236}">
                <a16:creationId xmlns:a16="http://schemas.microsoft.com/office/drawing/2014/main" id="{DBE40E90-8FD1-41A6-90A1-11A1005E1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76555" name="Oval 11">
            <a:extLst>
              <a:ext uri="{FF2B5EF4-FFF2-40B4-BE49-F238E27FC236}">
                <a16:creationId xmlns:a16="http://schemas.microsoft.com/office/drawing/2014/main" id="{7714A188-4C1E-495C-B765-17EB4AB46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6" name="AutoShape 12">
            <a:extLst>
              <a:ext uri="{FF2B5EF4-FFF2-40B4-BE49-F238E27FC236}">
                <a16:creationId xmlns:a16="http://schemas.microsoft.com/office/drawing/2014/main" id="{AE23E982-6222-4B23-9E15-2797D1596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7" name="Text Box 13">
            <a:extLst>
              <a:ext uri="{FF2B5EF4-FFF2-40B4-BE49-F238E27FC236}">
                <a16:creationId xmlns:a16="http://schemas.microsoft.com/office/drawing/2014/main" id="{27402088-D500-49E4-85EF-B1E2B46B0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6558" name="Freeform 14">
            <a:extLst>
              <a:ext uri="{FF2B5EF4-FFF2-40B4-BE49-F238E27FC236}">
                <a16:creationId xmlns:a16="http://schemas.microsoft.com/office/drawing/2014/main" id="{E1AE62F1-66C6-4385-8C19-6A1349081E98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9" name="Text Box 15">
            <a:extLst>
              <a:ext uri="{FF2B5EF4-FFF2-40B4-BE49-F238E27FC236}">
                <a16:creationId xmlns:a16="http://schemas.microsoft.com/office/drawing/2014/main" id="{6F6877CF-4A75-4FDA-948F-26E7D211B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76560" name="Oval 16">
            <a:extLst>
              <a:ext uri="{FF2B5EF4-FFF2-40B4-BE49-F238E27FC236}">
                <a16:creationId xmlns:a16="http://schemas.microsoft.com/office/drawing/2014/main" id="{A28A51C4-B4F2-4644-9D0D-3B7881549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61" name="Text Box 17">
            <a:extLst>
              <a:ext uri="{FF2B5EF4-FFF2-40B4-BE49-F238E27FC236}">
                <a16:creationId xmlns:a16="http://schemas.microsoft.com/office/drawing/2014/main" id="{CF9B20B1-EDF0-4BF5-9D4D-279547991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2366963"/>
            <a:ext cx="16684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Adolescence</a:t>
            </a:r>
          </a:p>
        </p:txBody>
      </p:sp>
      <p:sp>
        <p:nvSpPr>
          <p:cNvPr id="876562" name="Text Box 18">
            <a:extLst>
              <a:ext uri="{FF2B5EF4-FFF2-40B4-BE49-F238E27FC236}">
                <a16:creationId xmlns:a16="http://schemas.microsoft.com/office/drawing/2014/main" id="{C762E56E-32CA-4A70-9124-46AB60C7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1987550"/>
            <a:ext cx="4343400" cy="444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“Us” versus “Them” mentality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Internal conflicts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Inconsistency in goals and in compensation systems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Temporary loss of Vision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Policies made but not adhered to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Major Transitions: Delegation of Authority, Change in Leadership, and Goals Displacement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Entrepreneurship feels threatened by Administration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Yo-Yo: “You’re in charge. No, I’m in charge”</a:t>
            </a:r>
          </a:p>
        </p:txBody>
      </p:sp>
      <p:sp>
        <p:nvSpPr>
          <p:cNvPr id="876563" name="AutoShape 19">
            <a:extLst>
              <a:ext uri="{FF2B5EF4-FFF2-40B4-BE49-F238E27FC236}">
                <a16:creationId xmlns:a16="http://schemas.microsoft.com/office/drawing/2014/main" id="{4D749647-6E4F-4B82-9B3D-7240AA5F6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6" y="25177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7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7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7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876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7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549" grpId="0" animBg="1"/>
      <p:bldP spid="876550" grpId="0" animBg="1"/>
      <p:bldP spid="876552" grpId="0"/>
      <p:bldP spid="876553" grpId="0"/>
      <p:bldP spid="876554" grpId="0"/>
      <p:bldP spid="876555" grpId="0" animBg="1"/>
      <p:bldP spid="876556" grpId="0" animBg="1"/>
      <p:bldP spid="876557" grpId="0"/>
      <p:bldP spid="876559" grpId="0"/>
      <p:bldP spid="876560" grpId="0" animBg="1"/>
      <p:bldP spid="876561" grpId="0"/>
      <p:bldP spid="8765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819CA36-8F41-47C5-97C0-1861D1C5A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C09239D-6960-402C-A7B8-B57466A5A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6" name="Freeform 4">
            <a:extLst>
              <a:ext uri="{FF2B5EF4-FFF2-40B4-BE49-F238E27FC236}">
                <a16:creationId xmlns:a16="http://schemas.microsoft.com/office/drawing/2014/main" id="{AEAD273E-A224-442C-BEEB-8FFE159C2912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AutoShape 5">
            <a:extLst>
              <a:ext uri="{FF2B5EF4-FFF2-40B4-BE49-F238E27FC236}">
                <a16:creationId xmlns:a16="http://schemas.microsoft.com/office/drawing/2014/main" id="{5D35F44E-6BFE-424D-B397-0AF7A5E1B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8" name="AutoShape 6">
            <a:extLst>
              <a:ext uri="{FF2B5EF4-FFF2-40B4-BE49-F238E27FC236}">
                <a16:creationId xmlns:a16="http://schemas.microsoft.com/office/drawing/2014/main" id="{D22C0D55-15B5-4365-9EA1-91E4F9F35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9" name="Freeform 7">
            <a:extLst>
              <a:ext uri="{FF2B5EF4-FFF2-40B4-BE49-F238E27FC236}">
                <a16:creationId xmlns:a16="http://schemas.microsoft.com/office/drawing/2014/main" id="{7253DAD4-40D5-4468-BAD8-34A897D44258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7576" name="Text Box 8">
            <a:extLst>
              <a:ext uri="{FF2B5EF4-FFF2-40B4-BE49-F238E27FC236}">
                <a16:creationId xmlns:a16="http://schemas.microsoft.com/office/drawing/2014/main" id="{07720FE3-36A8-4AE2-87BC-091E38DA9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7577" name="Text Box 9">
            <a:extLst>
              <a:ext uri="{FF2B5EF4-FFF2-40B4-BE49-F238E27FC236}">
                <a16:creationId xmlns:a16="http://schemas.microsoft.com/office/drawing/2014/main" id="{B19ADAA3-8A45-4BE9-988A-29D5064A2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7578" name="Text Box 10">
            <a:extLst>
              <a:ext uri="{FF2B5EF4-FFF2-40B4-BE49-F238E27FC236}">
                <a16:creationId xmlns:a16="http://schemas.microsoft.com/office/drawing/2014/main" id="{10F5726E-FA55-4FF4-9509-127CB868C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33803" name="Oval 11">
            <a:extLst>
              <a:ext uri="{FF2B5EF4-FFF2-40B4-BE49-F238E27FC236}">
                <a16:creationId xmlns:a16="http://schemas.microsoft.com/office/drawing/2014/main" id="{7EC9355F-CA1C-4895-B449-B29C0A0FB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804" name="AutoShape 12">
            <a:extLst>
              <a:ext uri="{FF2B5EF4-FFF2-40B4-BE49-F238E27FC236}">
                <a16:creationId xmlns:a16="http://schemas.microsoft.com/office/drawing/2014/main" id="{C59905B6-0B56-4675-BC79-87170F15E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7581" name="Text Box 13">
            <a:extLst>
              <a:ext uri="{FF2B5EF4-FFF2-40B4-BE49-F238E27FC236}">
                <a16:creationId xmlns:a16="http://schemas.microsoft.com/office/drawing/2014/main" id="{B6A35735-CD7B-46DC-B0EB-E8E796A90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33806" name="Freeform 14">
            <a:extLst>
              <a:ext uri="{FF2B5EF4-FFF2-40B4-BE49-F238E27FC236}">
                <a16:creationId xmlns:a16="http://schemas.microsoft.com/office/drawing/2014/main" id="{042BBA4F-839E-4033-9A30-7AE32FC31524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7583" name="Text Box 15">
            <a:extLst>
              <a:ext uri="{FF2B5EF4-FFF2-40B4-BE49-F238E27FC236}">
                <a16:creationId xmlns:a16="http://schemas.microsoft.com/office/drawing/2014/main" id="{5B8FCE6B-B053-45E3-B88F-A16E1ADFD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33808" name="Oval 16">
            <a:extLst>
              <a:ext uri="{FF2B5EF4-FFF2-40B4-BE49-F238E27FC236}">
                <a16:creationId xmlns:a16="http://schemas.microsoft.com/office/drawing/2014/main" id="{8D6908A0-23F1-4024-93B5-24A1389D8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809" name="AutoShape 17">
            <a:extLst>
              <a:ext uri="{FF2B5EF4-FFF2-40B4-BE49-F238E27FC236}">
                <a16:creationId xmlns:a16="http://schemas.microsoft.com/office/drawing/2014/main" id="{77EBDA55-A21F-4AEA-A740-7BB8ECD88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6" y="25177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7586" name="Text Box 18">
            <a:extLst>
              <a:ext uri="{FF2B5EF4-FFF2-40B4-BE49-F238E27FC236}">
                <a16:creationId xmlns:a16="http://schemas.microsoft.com/office/drawing/2014/main" id="{9427B0AA-31FC-40EC-927F-B57E4DD55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4" y="1228725"/>
            <a:ext cx="86518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If an effective transition to Adolescence is not made…</a:t>
            </a:r>
          </a:p>
        </p:txBody>
      </p:sp>
      <p:sp>
        <p:nvSpPr>
          <p:cNvPr id="877587" name="Freeform 19">
            <a:extLst>
              <a:ext uri="{FF2B5EF4-FFF2-40B4-BE49-F238E27FC236}">
                <a16:creationId xmlns:a16="http://schemas.microsoft.com/office/drawing/2014/main" id="{50A9DD30-6528-4B4D-B60A-C207708AD1C3}"/>
              </a:ext>
            </a:extLst>
          </p:cNvPr>
          <p:cNvSpPr>
            <a:spLocks/>
          </p:cNvSpPr>
          <p:nvPr/>
        </p:nvSpPr>
        <p:spPr bwMode="auto">
          <a:xfrm>
            <a:off x="4425950" y="3228976"/>
            <a:ext cx="927100" cy="398463"/>
          </a:xfrm>
          <a:custGeom>
            <a:avLst/>
            <a:gdLst>
              <a:gd name="T0" fmla="*/ 0 w 584"/>
              <a:gd name="T1" fmla="*/ 2147483646 h 251"/>
              <a:gd name="T2" fmla="*/ 2147483646 w 584"/>
              <a:gd name="T3" fmla="*/ 2147483646 h 251"/>
              <a:gd name="T4" fmla="*/ 2147483646 w 584"/>
              <a:gd name="T5" fmla="*/ 2147483646 h 251"/>
              <a:gd name="T6" fmla="*/ 0 60000 65536"/>
              <a:gd name="T7" fmla="*/ 0 60000 65536"/>
              <a:gd name="T8" fmla="*/ 0 60000 65536"/>
              <a:gd name="T9" fmla="*/ 0 w 584"/>
              <a:gd name="T10" fmla="*/ 0 h 251"/>
              <a:gd name="T11" fmla="*/ 584 w 584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84" h="251">
                <a:moveTo>
                  <a:pt x="0" y="251"/>
                </a:moveTo>
                <a:cubicBezTo>
                  <a:pt x="64" y="212"/>
                  <a:pt x="287" y="46"/>
                  <a:pt x="384" y="23"/>
                </a:cubicBezTo>
                <a:cubicBezTo>
                  <a:pt x="481" y="0"/>
                  <a:pt x="542" y="94"/>
                  <a:pt x="584" y="113"/>
                </a:cubicBezTo>
              </a:path>
            </a:pathLst>
          </a:custGeom>
          <a:noFill/>
          <a:ln w="25400">
            <a:solidFill>
              <a:srgbClr val="FF0000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7588" name="Text Box 20">
            <a:extLst>
              <a:ext uri="{FF2B5EF4-FFF2-40B4-BE49-F238E27FC236}">
                <a16:creationId xmlns:a16="http://schemas.microsoft.com/office/drawing/2014/main" id="{6FA25229-13A1-4D94-A9D2-4B3EB7777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4" y="3502175"/>
            <a:ext cx="930275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Founders Trap</a:t>
            </a:r>
          </a:p>
        </p:txBody>
      </p:sp>
      <p:sp>
        <p:nvSpPr>
          <p:cNvPr id="877589" name="Oval 21">
            <a:extLst>
              <a:ext uri="{FF2B5EF4-FFF2-40B4-BE49-F238E27FC236}">
                <a16:creationId xmlns:a16="http://schemas.microsoft.com/office/drawing/2014/main" id="{D3A5B8B5-766E-46FA-8DDF-BE780A9F7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3370264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7590" name="Text Box 22">
            <a:extLst>
              <a:ext uri="{FF2B5EF4-FFF2-40B4-BE49-F238E27FC236}">
                <a16:creationId xmlns:a16="http://schemas.microsoft.com/office/drawing/2014/main" id="{3E6A6059-2071-4182-A309-A690A0F71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214" y="3429001"/>
            <a:ext cx="3870325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Organization ages and dies when the Founder ages </a:t>
            </a:r>
          </a:p>
        </p:txBody>
      </p:sp>
      <p:sp>
        <p:nvSpPr>
          <p:cNvPr id="877591" name="Text Box 23">
            <a:extLst>
              <a:ext uri="{FF2B5EF4-FFF2-40B4-BE49-F238E27FC236}">
                <a16:creationId xmlns:a16="http://schemas.microsoft.com/office/drawing/2014/main" id="{EFD6641C-5094-4EE2-957F-B668B7799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4" y="1590675"/>
            <a:ext cx="86518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falls into </a:t>
            </a:r>
            <a:r>
              <a:rPr lang="en-US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Founder’s/Family Trap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7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7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7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7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7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7588" grpId="0"/>
      <p:bldP spid="877589" grpId="0" animBg="1"/>
      <p:bldP spid="877590" grpId="0"/>
      <p:bldP spid="87759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1346AEB-1CED-4FFE-AA7F-4EC637D2B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554E066-85B8-43AC-9D35-50835289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pic>
        <p:nvPicPr>
          <p:cNvPr id="35844" name="Picture 12">
            <a:extLst>
              <a:ext uri="{FF2B5EF4-FFF2-40B4-BE49-F238E27FC236}">
                <a16:creationId xmlns:a16="http://schemas.microsoft.com/office/drawing/2014/main" id="{E1D66620-203C-48ED-9234-973ED0B35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776" y="814388"/>
            <a:ext cx="7559675" cy="571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Freeform 2">
            <a:extLst>
              <a:ext uri="{FF2B5EF4-FFF2-40B4-BE49-F238E27FC236}">
                <a16:creationId xmlns:a16="http://schemas.microsoft.com/office/drawing/2014/main" id="{DD1E2A82-F8A3-452E-96A3-764F4C482247}"/>
              </a:ext>
            </a:extLst>
          </p:cNvPr>
          <p:cNvSpPr>
            <a:spLocks/>
          </p:cNvSpPr>
          <p:nvPr/>
        </p:nvSpPr>
        <p:spPr bwMode="auto">
          <a:xfrm>
            <a:off x="5260976" y="2366964"/>
            <a:ext cx="701675" cy="225425"/>
          </a:xfrm>
          <a:custGeom>
            <a:avLst/>
            <a:gdLst>
              <a:gd name="T0" fmla="*/ 0 w 442"/>
              <a:gd name="T1" fmla="*/ 2147483646 h 142"/>
              <a:gd name="T2" fmla="*/ 2147483646 w 442"/>
              <a:gd name="T3" fmla="*/ 2147483646 h 142"/>
              <a:gd name="T4" fmla="*/ 2147483646 w 442"/>
              <a:gd name="T5" fmla="*/ 2147483646 h 142"/>
              <a:gd name="T6" fmla="*/ 0 60000 65536"/>
              <a:gd name="T7" fmla="*/ 0 60000 65536"/>
              <a:gd name="T8" fmla="*/ 0 60000 65536"/>
              <a:gd name="T9" fmla="*/ 0 w 442"/>
              <a:gd name="T10" fmla="*/ 0 h 142"/>
              <a:gd name="T11" fmla="*/ 442 w 442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2" h="142">
                <a:moveTo>
                  <a:pt x="0" y="46"/>
                </a:moveTo>
                <a:cubicBezTo>
                  <a:pt x="47" y="41"/>
                  <a:pt x="206" y="0"/>
                  <a:pt x="280" y="16"/>
                </a:cubicBezTo>
                <a:cubicBezTo>
                  <a:pt x="354" y="32"/>
                  <a:pt x="408" y="116"/>
                  <a:pt x="442" y="142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AC06B7B-79F4-461B-BC1E-9CE7DF0E8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BB113FE9-D634-4E7D-8249-C4CEF4767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597" name="Freeform 5">
            <a:extLst>
              <a:ext uri="{FF2B5EF4-FFF2-40B4-BE49-F238E27FC236}">
                <a16:creationId xmlns:a16="http://schemas.microsoft.com/office/drawing/2014/main" id="{48BFB78A-DD3D-4F96-9F38-93411AB163EB}"/>
              </a:ext>
            </a:extLst>
          </p:cNvPr>
          <p:cNvSpPr>
            <a:spLocks/>
          </p:cNvSpPr>
          <p:nvPr/>
        </p:nvSpPr>
        <p:spPr bwMode="auto">
          <a:xfrm>
            <a:off x="2452688" y="2138363"/>
            <a:ext cx="3143250" cy="3562350"/>
          </a:xfrm>
          <a:custGeom>
            <a:avLst/>
            <a:gdLst>
              <a:gd name="T0" fmla="*/ 0 w 1980"/>
              <a:gd name="T1" fmla="*/ 2147483646 h 2244"/>
              <a:gd name="T2" fmla="*/ 2147483646 w 1980"/>
              <a:gd name="T3" fmla="*/ 2147483646 h 2244"/>
              <a:gd name="T4" fmla="*/ 2147483646 w 1980"/>
              <a:gd name="T5" fmla="*/ 2147483646 h 2244"/>
              <a:gd name="T6" fmla="*/ 2147483646 w 1980"/>
              <a:gd name="T7" fmla="*/ 2147483646 h 2244"/>
              <a:gd name="T8" fmla="*/ 2147483646 w 1980"/>
              <a:gd name="T9" fmla="*/ 2147483646 h 2244"/>
              <a:gd name="T10" fmla="*/ 2147483646 w 1980"/>
              <a:gd name="T11" fmla="*/ 2147483646 h 2244"/>
              <a:gd name="T12" fmla="*/ 2147483646 w 1980"/>
              <a:gd name="T13" fmla="*/ 2147483646 h 2244"/>
              <a:gd name="T14" fmla="*/ 2147483646 w 1980"/>
              <a:gd name="T15" fmla="*/ 2147483646 h 2244"/>
              <a:gd name="T16" fmla="*/ 2147483646 w 1980"/>
              <a:gd name="T17" fmla="*/ 2147483646 h 2244"/>
              <a:gd name="T18" fmla="*/ 2147483646 w 1980"/>
              <a:gd name="T19" fmla="*/ 2147483646 h 2244"/>
              <a:gd name="T20" fmla="*/ 2147483646 w 1980"/>
              <a:gd name="T21" fmla="*/ 2147483646 h 2244"/>
              <a:gd name="T22" fmla="*/ 2147483646 w 1980"/>
              <a:gd name="T23" fmla="*/ 2147483646 h 2244"/>
              <a:gd name="T24" fmla="*/ 2147483646 w 1980"/>
              <a:gd name="T25" fmla="*/ 2147483646 h 2244"/>
              <a:gd name="T26" fmla="*/ 2147483646 w 1980"/>
              <a:gd name="T27" fmla="*/ 2147483646 h 2244"/>
              <a:gd name="T28" fmla="*/ 2147483646 w 1980"/>
              <a:gd name="T29" fmla="*/ 2147483646 h 2244"/>
              <a:gd name="T30" fmla="*/ 2147483646 w 1980"/>
              <a:gd name="T31" fmla="*/ 2147483646 h 2244"/>
              <a:gd name="T32" fmla="*/ 2147483646 w 1980"/>
              <a:gd name="T33" fmla="*/ 2147483646 h 2244"/>
              <a:gd name="T34" fmla="*/ 2147483646 w 1980"/>
              <a:gd name="T35" fmla="*/ 2147483646 h 2244"/>
              <a:gd name="T36" fmla="*/ 2147483646 w 1980"/>
              <a:gd name="T37" fmla="*/ 2147483646 h 2244"/>
              <a:gd name="T38" fmla="*/ 2147483646 w 1980"/>
              <a:gd name="T39" fmla="*/ 2147483646 h 2244"/>
              <a:gd name="T40" fmla="*/ 2147483646 w 1980"/>
              <a:gd name="T41" fmla="*/ 2147483646 h 2244"/>
              <a:gd name="T42" fmla="*/ 2147483646 w 1980"/>
              <a:gd name="T43" fmla="*/ 2147483646 h 2244"/>
              <a:gd name="T44" fmla="*/ 2147483646 w 1980"/>
              <a:gd name="T45" fmla="*/ 2147483646 h 2244"/>
              <a:gd name="T46" fmla="*/ 2147483646 w 1980"/>
              <a:gd name="T47" fmla="*/ 2147483646 h 2244"/>
              <a:gd name="T48" fmla="*/ 2147483646 w 1980"/>
              <a:gd name="T49" fmla="*/ 2147483646 h 2244"/>
              <a:gd name="T50" fmla="*/ 2147483646 w 1980"/>
              <a:gd name="T51" fmla="*/ 2147483646 h 2244"/>
              <a:gd name="T52" fmla="*/ 2147483646 w 1980"/>
              <a:gd name="T53" fmla="*/ 2147483646 h 2244"/>
              <a:gd name="T54" fmla="*/ 2147483646 w 1980"/>
              <a:gd name="T55" fmla="*/ 0 h 224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980"/>
              <a:gd name="T85" fmla="*/ 0 h 2244"/>
              <a:gd name="T86" fmla="*/ 1980 w 1980"/>
              <a:gd name="T87" fmla="*/ 2244 h 224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980" h="2244">
                <a:moveTo>
                  <a:pt x="0" y="2244"/>
                </a:moveTo>
                <a:cubicBezTo>
                  <a:pt x="21" y="2241"/>
                  <a:pt x="79" y="2243"/>
                  <a:pt x="128" y="2228"/>
                </a:cubicBezTo>
                <a:cubicBezTo>
                  <a:pt x="177" y="2213"/>
                  <a:pt x="244" y="2192"/>
                  <a:pt x="296" y="2156"/>
                </a:cubicBezTo>
                <a:cubicBezTo>
                  <a:pt x="348" y="2120"/>
                  <a:pt x="424" y="2054"/>
                  <a:pt x="440" y="2015"/>
                </a:cubicBezTo>
                <a:cubicBezTo>
                  <a:pt x="456" y="1976"/>
                  <a:pt x="376" y="1920"/>
                  <a:pt x="392" y="1920"/>
                </a:cubicBezTo>
                <a:cubicBezTo>
                  <a:pt x="408" y="1920"/>
                  <a:pt x="527" y="2023"/>
                  <a:pt x="535" y="2015"/>
                </a:cubicBezTo>
                <a:cubicBezTo>
                  <a:pt x="543" y="2007"/>
                  <a:pt x="441" y="1894"/>
                  <a:pt x="440" y="1872"/>
                </a:cubicBezTo>
                <a:cubicBezTo>
                  <a:pt x="439" y="1850"/>
                  <a:pt x="480" y="1924"/>
                  <a:pt x="528" y="1884"/>
                </a:cubicBezTo>
                <a:cubicBezTo>
                  <a:pt x="576" y="1844"/>
                  <a:pt x="613" y="1786"/>
                  <a:pt x="726" y="1633"/>
                </a:cubicBezTo>
                <a:cubicBezTo>
                  <a:pt x="839" y="1480"/>
                  <a:pt x="1100" y="1106"/>
                  <a:pt x="1204" y="963"/>
                </a:cubicBezTo>
                <a:cubicBezTo>
                  <a:pt x="1308" y="820"/>
                  <a:pt x="1332" y="820"/>
                  <a:pt x="1348" y="772"/>
                </a:cubicBezTo>
                <a:cubicBezTo>
                  <a:pt x="1364" y="724"/>
                  <a:pt x="1285" y="680"/>
                  <a:pt x="1300" y="677"/>
                </a:cubicBezTo>
                <a:cubicBezTo>
                  <a:pt x="1315" y="674"/>
                  <a:pt x="1428" y="760"/>
                  <a:pt x="1436" y="752"/>
                </a:cubicBezTo>
                <a:cubicBezTo>
                  <a:pt x="1444" y="744"/>
                  <a:pt x="1342" y="636"/>
                  <a:pt x="1348" y="629"/>
                </a:cubicBezTo>
                <a:cubicBezTo>
                  <a:pt x="1354" y="622"/>
                  <a:pt x="1464" y="716"/>
                  <a:pt x="1472" y="708"/>
                </a:cubicBezTo>
                <a:cubicBezTo>
                  <a:pt x="1480" y="700"/>
                  <a:pt x="1388" y="590"/>
                  <a:pt x="1396" y="581"/>
                </a:cubicBezTo>
                <a:cubicBezTo>
                  <a:pt x="1404" y="572"/>
                  <a:pt x="1513" y="665"/>
                  <a:pt x="1520" y="656"/>
                </a:cubicBezTo>
                <a:cubicBezTo>
                  <a:pt x="1527" y="647"/>
                  <a:pt x="1433" y="533"/>
                  <a:pt x="1440" y="524"/>
                </a:cubicBezTo>
                <a:cubicBezTo>
                  <a:pt x="1447" y="515"/>
                  <a:pt x="1555" y="612"/>
                  <a:pt x="1560" y="604"/>
                </a:cubicBezTo>
                <a:cubicBezTo>
                  <a:pt x="1565" y="596"/>
                  <a:pt x="1463" y="484"/>
                  <a:pt x="1472" y="476"/>
                </a:cubicBezTo>
                <a:cubicBezTo>
                  <a:pt x="1481" y="468"/>
                  <a:pt x="1607" y="565"/>
                  <a:pt x="1616" y="556"/>
                </a:cubicBezTo>
                <a:cubicBezTo>
                  <a:pt x="1625" y="547"/>
                  <a:pt x="1521" y="430"/>
                  <a:pt x="1528" y="420"/>
                </a:cubicBezTo>
                <a:cubicBezTo>
                  <a:pt x="1535" y="410"/>
                  <a:pt x="1648" y="504"/>
                  <a:pt x="1656" y="496"/>
                </a:cubicBezTo>
                <a:cubicBezTo>
                  <a:pt x="1664" y="488"/>
                  <a:pt x="1580" y="390"/>
                  <a:pt x="1576" y="372"/>
                </a:cubicBezTo>
                <a:cubicBezTo>
                  <a:pt x="1572" y="354"/>
                  <a:pt x="1614" y="403"/>
                  <a:pt x="1635" y="390"/>
                </a:cubicBezTo>
                <a:cubicBezTo>
                  <a:pt x="1656" y="377"/>
                  <a:pt x="1656" y="348"/>
                  <a:pt x="1704" y="292"/>
                </a:cubicBezTo>
                <a:cubicBezTo>
                  <a:pt x="1752" y="236"/>
                  <a:pt x="1876" y="104"/>
                  <a:pt x="1922" y="55"/>
                </a:cubicBezTo>
                <a:cubicBezTo>
                  <a:pt x="1968" y="6"/>
                  <a:pt x="1968" y="11"/>
                  <a:pt x="1980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598" name="Freeform 6">
            <a:extLst>
              <a:ext uri="{FF2B5EF4-FFF2-40B4-BE49-F238E27FC236}">
                <a16:creationId xmlns:a16="http://schemas.microsoft.com/office/drawing/2014/main" id="{AD132561-18FC-484E-B13C-4E11582EE95F}"/>
              </a:ext>
            </a:extLst>
          </p:cNvPr>
          <p:cNvSpPr>
            <a:spLocks/>
          </p:cNvSpPr>
          <p:nvPr/>
        </p:nvSpPr>
        <p:spPr bwMode="auto">
          <a:xfrm>
            <a:off x="5267325" y="2182813"/>
            <a:ext cx="781050" cy="284162"/>
          </a:xfrm>
          <a:custGeom>
            <a:avLst/>
            <a:gdLst>
              <a:gd name="T0" fmla="*/ 0 w 492"/>
              <a:gd name="T1" fmla="*/ 2147483646 h 179"/>
              <a:gd name="T2" fmla="*/ 2147483646 w 492"/>
              <a:gd name="T3" fmla="*/ 2147483646 h 179"/>
              <a:gd name="T4" fmla="*/ 2147483646 w 492"/>
              <a:gd name="T5" fmla="*/ 2147483646 h 179"/>
              <a:gd name="T6" fmla="*/ 0 60000 65536"/>
              <a:gd name="T7" fmla="*/ 0 60000 65536"/>
              <a:gd name="T8" fmla="*/ 0 60000 65536"/>
              <a:gd name="T9" fmla="*/ 0 w 492"/>
              <a:gd name="T10" fmla="*/ 0 h 179"/>
              <a:gd name="T11" fmla="*/ 492 w 492"/>
              <a:gd name="T12" fmla="*/ 179 h 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2" h="179">
                <a:moveTo>
                  <a:pt x="0" y="179"/>
                </a:moveTo>
                <a:cubicBezTo>
                  <a:pt x="44" y="154"/>
                  <a:pt x="180" y="44"/>
                  <a:pt x="262" y="22"/>
                </a:cubicBezTo>
                <a:cubicBezTo>
                  <a:pt x="344" y="0"/>
                  <a:pt x="444" y="42"/>
                  <a:pt x="492" y="47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A02254F7-8038-4925-9B1E-A1043D4B5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1D92B22F-EEF8-4D1F-8BE6-1211E6E06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1" name="AutoShape 9">
            <a:extLst>
              <a:ext uri="{FF2B5EF4-FFF2-40B4-BE49-F238E27FC236}">
                <a16:creationId xmlns:a16="http://schemas.microsoft.com/office/drawing/2014/main" id="{12EA3366-F4E3-48FD-8B96-97BBB684A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2" name="AutoShape 10">
            <a:extLst>
              <a:ext uri="{FF2B5EF4-FFF2-40B4-BE49-F238E27FC236}">
                <a16:creationId xmlns:a16="http://schemas.microsoft.com/office/drawing/2014/main" id="{63C12274-C94E-4002-8E8A-A579C3197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3" name="Freeform 11">
            <a:extLst>
              <a:ext uri="{FF2B5EF4-FFF2-40B4-BE49-F238E27FC236}">
                <a16:creationId xmlns:a16="http://schemas.microsoft.com/office/drawing/2014/main" id="{D01FC4A9-7426-47D6-B0C2-67EC4364B027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604" name="Text Box 12">
            <a:extLst>
              <a:ext uri="{FF2B5EF4-FFF2-40B4-BE49-F238E27FC236}">
                <a16:creationId xmlns:a16="http://schemas.microsoft.com/office/drawing/2014/main" id="{645A2928-DCFF-4CFF-BE25-93DBFF12D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8605" name="Text Box 13">
            <a:extLst>
              <a:ext uri="{FF2B5EF4-FFF2-40B4-BE49-F238E27FC236}">
                <a16:creationId xmlns:a16="http://schemas.microsoft.com/office/drawing/2014/main" id="{0780A9E5-EF6D-47E4-A457-B7E385C3D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8606" name="Text Box 14">
            <a:extLst>
              <a:ext uri="{FF2B5EF4-FFF2-40B4-BE49-F238E27FC236}">
                <a16:creationId xmlns:a16="http://schemas.microsoft.com/office/drawing/2014/main" id="{C4381D02-5074-4D43-A59F-9C0F9A467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78607" name="Oval 15">
            <a:extLst>
              <a:ext uri="{FF2B5EF4-FFF2-40B4-BE49-F238E27FC236}">
                <a16:creationId xmlns:a16="http://schemas.microsoft.com/office/drawing/2014/main" id="{E1BB49AB-7F1B-45FE-8FFA-92155FAD0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8" name="AutoShape 16">
            <a:extLst>
              <a:ext uri="{FF2B5EF4-FFF2-40B4-BE49-F238E27FC236}">
                <a16:creationId xmlns:a16="http://schemas.microsoft.com/office/drawing/2014/main" id="{52422039-FE1C-4E0C-90C4-CD96368E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9" name="Text Box 17">
            <a:extLst>
              <a:ext uri="{FF2B5EF4-FFF2-40B4-BE49-F238E27FC236}">
                <a16:creationId xmlns:a16="http://schemas.microsoft.com/office/drawing/2014/main" id="{26E0C5CD-5684-4E3F-85EB-E769582DD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8610" name="Freeform 18">
            <a:extLst>
              <a:ext uri="{FF2B5EF4-FFF2-40B4-BE49-F238E27FC236}">
                <a16:creationId xmlns:a16="http://schemas.microsoft.com/office/drawing/2014/main" id="{1D6ABD24-6B7B-4F51-B7C6-80C86E9DAB4F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611" name="Text Box 19">
            <a:extLst>
              <a:ext uri="{FF2B5EF4-FFF2-40B4-BE49-F238E27FC236}">
                <a16:creationId xmlns:a16="http://schemas.microsoft.com/office/drawing/2014/main" id="{5FB1130E-24AC-4B58-B253-17DDA917A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78612" name="Oval 20">
            <a:extLst>
              <a:ext uri="{FF2B5EF4-FFF2-40B4-BE49-F238E27FC236}">
                <a16:creationId xmlns:a16="http://schemas.microsoft.com/office/drawing/2014/main" id="{4E658981-BE20-4AE6-9050-FF780781A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3" name="Freeform 21">
            <a:extLst>
              <a:ext uri="{FF2B5EF4-FFF2-40B4-BE49-F238E27FC236}">
                <a16:creationId xmlns:a16="http://schemas.microsoft.com/office/drawing/2014/main" id="{CB4D3B63-5FEE-4A68-9541-F1675C27C56D}"/>
              </a:ext>
            </a:extLst>
          </p:cNvPr>
          <p:cNvSpPr>
            <a:spLocks/>
          </p:cNvSpPr>
          <p:nvPr/>
        </p:nvSpPr>
        <p:spPr bwMode="auto">
          <a:xfrm>
            <a:off x="4429125" y="3205164"/>
            <a:ext cx="889000" cy="376237"/>
          </a:xfrm>
          <a:custGeom>
            <a:avLst/>
            <a:gdLst>
              <a:gd name="T0" fmla="*/ 0 w 560"/>
              <a:gd name="T1" fmla="*/ 2147483646 h 237"/>
              <a:gd name="T2" fmla="*/ 2147483646 w 560"/>
              <a:gd name="T3" fmla="*/ 2147483646 h 237"/>
              <a:gd name="T4" fmla="*/ 2147483646 w 560"/>
              <a:gd name="T5" fmla="*/ 2147483646 h 237"/>
              <a:gd name="T6" fmla="*/ 0 60000 65536"/>
              <a:gd name="T7" fmla="*/ 0 60000 65536"/>
              <a:gd name="T8" fmla="*/ 0 60000 65536"/>
              <a:gd name="T9" fmla="*/ 0 w 560"/>
              <a:gd name="T10" fmla="*/ 0 h 237"/>
              <a:gd name="T11" fmla="*/ 560 w 560"/>
              <a:gd name="T12" fmla="*/ 237 h 2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0" h="237">
                <a:moveTo>
                  <a:pt x="0" y="237"/>
                </a:moveTo>
                <a:cubicBezTo>
                  <a:pt x="60" y="200"/>
                  <a:pt x="267" y="42"/>
                  <a:pt x="360" y="21"/>
                </a:cubicBezTo>
                <a:cubicBezTo>
                  <a:pt x="453" y="0"/>
                  <a:pt x="518" y="92"/>
                  <a:pt x="560" y="111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614" name="Text Box 22">
            <a:extLst>
              <a:ext uri="{FF2B5EF4-FFF2-40B4-BE49-F238E27FC236}">
                <a16:creationId xmlns:a16="http://schemas.microsoft.com/office/drawing/2014/main" id="{8E81A13B-7CAE-4B13-8FAC-C80FE0400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4" y="3502175"/>
            <a:ext cx="930275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Founders Trap</a:t>
            </a:r>
          </a:p>
        </p:txBody>
      </p:sp>
      <p:sp>
        <p:nvSpPr>
          <p:cNvPr id="878615" name="Oval 23">
            <a:extLst>
              <a:ext uri="{FF2B5EF4-FFF2-40B4-BE49-F238E27FC236}">
                <a16:creationId xmlns:a16="http://schemas.microsoft.com/office/drawing/2014/main" id="{F3F37CA2-4117-43D0-9D92-F717124B5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3370264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6" name="AutoShape 24">
            <a:extLst>
              <a:ext uri="{FF2B5EF4-FFF2-40B4-BE49-F238E27FC236}">
                <a16:creationId xmlns:a16="http://schemas.microsoft.com/office/drawing/2014/main" id="{FE3609D1-3142-41EA-9DC9-26F4996F7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251777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7" name="Text Box 25">
            <a:extLst>
              <a:ext uri="{FF2B5EF4-FFF2-40B4-BE49-F238E27FC236}">
                <a16:creationId xmlns:a16="http://schemas.microsoft.com/office/drawing/2014/main" id="{3071F293-8678-4497-990D-29FC6C6E6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2366963"/>
            <a:ext cx="16684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Adolescence</a:t>
            </a:r>
          </a:p>
        </p:txBody>
      </p:sp>
      <p:sp>
        <p:nvSpPr>
          <p:cNvPr id="878618" name="Oval 26">
            <a:extLst>
              <a:ext uri="{FF2B5EF4-FFF2-40B4-BE49-F238E27FC236}">
                <a16:creationId xmlns:a16="http://schemas.microsoft.com/office/drawing/2014/main" id="{009E4829-D6FF-48B8-8F4D-2E54B059B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4" y="2605089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9" name="Oval 27">
            <a:extLst>
              <a:ext uri="{FF2B5EF4-FFF2-40B4-BE49-F238E27FC236}">
                <a16:creationId xmlns:a16="http://schemas.microsoft.com/office/drawing/2014/main" id="{EFF3639F-B6BE-4DB9-8807-0EBF0080A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2214564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20" name="Text Box 28">
            <a:extLst>
              <a:ext uri="{FF2B5EF4-FFF2-40B4-BE49-F238E27FC236}">
                <a16:creationId xmlns:a16="http://schemas.microsoft.com/office/drawing/2014/main" id="{C47902E7-1486-46A3-99C9-FA20F48D6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214563"/>
            <a:ext cx="13652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Unfulfilled Entrepreneur</a:t>
            </a:r>
          </a:p>
        </p:txBody>
      </p:sp>
      <p:sp>
        <p:nvSpPr>
          <p:cNvPr id="878621" name="Text Box 29">
            <a:extLst>
              <a:ext uri="{FF2B5EF4-FFF2-40B4-BE49-F238E27FC236}">
                <a16:creationId xmlns:a16="http://schemas.microsoft.com/office/drawing/2014/main" id="{6A23E0EE-13AB-4AC8-A5B6-1DB5677FD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9" y="2668588"/>
            <a:ext cx="12334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Premature Aging</a:t>
            </a:r>
          </a:p>
        </p:txBody>
      </p:sp>
      <p:sp>
        <p:nvSpPr>
          <p:cNvPr id="878622" name="AutoShape 30">
            <a:extLst>
              <a:ext uri="{FF2B5EF4-FFF2-40B4-BE49-F238E27FC236}">
                <a16:creationId xmlns:a16="http://schemas.microsoft.com/office/drawing/2014/main" id="{8FEEE8DB-4487-4EB3-9618-7B3687F0A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6" y="20621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23" name="Text Box 31">
            <a:extLst>
              <a:ext uri="{FF2B5EF4-FFF2-40B4-BE49-F238E27FC236}">
                <a16:creationId xmlns:a16="http://schemas.microsoft.com/office/drawing/2014/main" id="{4DBD8847-BEAD-43B9-8909-4CFC3A79F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2214564"/>
            <a:ext cx="1062038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Divorce</a:t>
            </a:r>
          </a:p>
        </p:txBody>
      </p:sp>
      <p:sp>
        <p:nvSpPr>
          <p:cNvPr id="878624" name="Text Box 32">
            <a:extLst>
              <a:ext uri="{FF2B5EF4-FFF2-40B4-BE49-F238E27FC236}">
                <a16:creationId xmlns:a16="http://schemas.microsoft.com/office/drawing/2014/main" id="{C4DBA874-FA68-4C31-9452-890506FDF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1924051"/>
            <a:ext cx="10620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Prime</a:t>
            </a:r>
          </a:p>
        </p:txBody>
      </p:sp>
      <p:sp>
        <p:nvSpPr>
          <p:cNvPr id="878625" name="Text Box 33">
            <a:extLst>
              <a:ext uri="{FF2B5EF4-FFF2-40B4-BE49-F238E27FC236}">
                <a16:creationId xmlns:a16="http://schemas.microsoft.com/office/drawing/2014/main" id="{4B249483-130A-40BD-9576-C5579292A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6" y="2138364"/>
            <a:ext cx="3186113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Balanced self-control, &amp; flexibility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Functional organization structure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Insufficient managerial depth</a:t>
            </a:r>
            <a:r>
              <a:rPr lang="en-US" altLang="en-US"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Can increase sales </a:t>
            </a:r>
            <a:r>
              <a:rPr lang="en-US" altLang="en-US" sz="1800">
                <a:solidFill>
                  <a:srgbClr val="FF0033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profits simultaneously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Creates new infant organizations</a:t>
            </a:r>
            <a:r>
              <a:rPr lang="en-US" altLang="en-US" sz="1800" u="sng"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Reorganizes and Emancipates as needed</a:t>
            </a:r>
          </a:p>
        </p:txBody>
      </p:sp>
      <p:sp>
        <p:nvSpPr>
          <p:cNvPr id="37922" name="Text Box 34">
            <a:extLst>
              <a:ext uri="{FF2B5EF4-FFF2-40B4-BE49-F238E27FC236}">
                <a16:creationId xmlns:a16="http://schemas.microsoft.com/office/drawing/2014/main" id="{18EEC0E0-4BDE-4832-8D24-1F8D83D04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1303338"/>
            <a:ext cx="5387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 sz="2800">
                <a:latin typeface="Tahoma" panose="020B0604030504040204" pitchFamily="34" charset="0"/>
              </a:rPr>
              <a:t>The “Optimum” </a:t>
            </a:r>
            <a:r>
              <a:rPr lang="en-US" altLang="en-US" sz="2800">
                <a:solidFill>
                  <a:srgbClr val="FF0033"/>
                </a:solidFill>
                <a:latin typeface="Tahoma" panose="020B0604030504040204" pitchFamily="34" charset="0"/>
              </a:rPr>
              <a:t>Region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7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7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7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7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7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7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7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7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7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7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7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87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87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87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87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87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7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87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87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87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87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87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87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7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7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8601" grpId="0" animBg="1"/>
      <p:bldP spid="878602" grpId="0" animBg="1"/>
      <p:bldP spid="878604" grpId="0"/>
      <p:bldP spid="878605" grpId="0"/>
      <p:bldP spid="878606" grpId="0"/>
      <p:bldP spid="878607" grpId="0" animBg="1"/>
      <p:bldP spid="878608" grpId="0" animBg="1"/>
      <p:bldP spid="878609" grpId="0"/>
      <p:bldP spid="878611" grpId="0"/>
      <p:bldP spid="878612" grpId="0" animBg="1"/>
      <p:bldP spid="878614" grpId="0"/>
      <p:bldP spid="878615" grpId="0" animBg="1"/>
      <p:bldP spid="878616" grpId="0" animBg="1"/>
      <p:bldP spid="878617" grpId="0"/>
      <p:bldP spid="878618" grpId="0" animBg="1"/>
      <p:bldP spid="878619" grpId="0" animBg="1"/>
      <p:bldP spid="878620" grpId="0"/>
      <p:bldP spid="878622" grpId="0" animBg="1"/>
      <p:bldP spid="878623" grpId="0"/>
      <p:bldP spid="8786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0D6F47A-E7C6-41F4-9C56-B0D333A7A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BCC2D7E-7585-432D-86A8-26F0CFD7C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0" name="Freeform 4">
            <a:extLst>
              <a:ext uri="{FF2B5EF4-FFF2-40B4-BE49-F238E27FC236}">
                <a16:creationId xmlns:a16="http://schemas.microsoft.com/office/drawing/2014/main" id="{7FE914D1-92D9-49CB-87A8-994E9C11FA32}"/>
              </a:ext>
            </a:extLst>
          </p:cNvPr>
          <p:cNvSpPr>
            <a:spLocks/>
          </p:cNvSpPr>
          <p:nvPr/>
        </p:nvSpPr>
        <p:spPr bwMode="auto">
          <a:xfrm>
            <a:off x="2452688" y="2138363"/>
            <a:ext cx="3143250" cy="3562350"/>
          </a:xfrm>
          <a:custGeom>
            <a:avLst/>
            <a:gdLst>
              <a:gd name="T0" fmla="*/ 0 w 1980"/>
              <a:gd name="T1" fmla="*/ 2147483646 h 2244"/>
              <a:gd name="T2" fmla="*/ 2147483646 w 1980"/>
              <a:gd name="T3" fmla="*/ 2147483646 h 2244"/>
              <a:gd name="T4" fmla="*/ 2147483646 w 1980"/>
              <a:gd name="T5" fmla="*/ 2147483646 h 2244"/>
              <a:gd name="T6" fmla="*/ 2147483646 w 1980"/>
              <a:gd name="T7" fmla="*/ 2147483646 h 2244"/>
              <a:gd name="T8" fmla="*/ 2147483646 w 1980"/>
              <a:gd name="T9" fmla="*/ 2147483646 h 2244"/>
              <a:gd name="T10" fmla="*/ 2147483646 w 1980"/>
              <a:gd name="T11" fmla="*/ 2147483646 h 2244"/>
              <a:gd name="T12" fmla="*/ 2147483646 w 1980"/>
              <a:gd name="T13" fmla="*/ 2147483646 h 2244"/>
              <a:gd name="T14" fmla="*/ 2147483646 w 1980"/>
              <a:gd name="T15" fmla="*/ 2147483646 h 2244"/>
              <a:gd name="T16" fmla="*/ 2147483646 w 1980"/>
              <a:gd name="T17" fmla="*/ 2147483646 h 2244"/>
              <a:gd name="T18" fmla="*/ 2147483646 w 1980"/>
              <a:gd name="T19" fmla="*/ 2147483646 h 2244"/>
              <a:gd name="T20" fmla="*/ 2147483646 w 1980"/>
              <a:gd name="T21" fmla="*/ 2147483646 h 2244"/>
              <a:gd name="T22" fmla="*/ 2147483646 w 1980"/>
              <a:gd name="T23" fmla="*/ 2147483646 h 2244"/>
              <a:gd name="T24" fmla="*/ 2147483646 w 1980"/>
              <a:gd name="T25" fmla="*/ 2147483646 h 2244"/>
              <a:gd name="T26" fmla="*/ 2147483646 w 1980"/>
              <a:gd name="T27" fmla="*/ 2147483646 h 2244"/>
              <a:gd name="T28" fmla="*/ 2147483646 w 1980"/>
              <a:gd name="T29" fmla="*/ 2147483646 h 2244"/>
              <a:gd name="T30" fmla="*/ 2147483646 w 1980"/>
              <a:gd name="T31" fmla="*/ 2147483646 h 2244"/>
              <a:gd name="T32" fmla="*/ 2147483646 w 1980"/>
              <a:gd name="T33" fmla="*/ 2147483646 h 2244"/>
              <a:gd name="T34" fmla="*/ 2147483646 w 1980"/>
              <a:gd name="T35" fmla="*/ 2147483646 h 2244"/>
              <a:gd name="T36" fmla="*/ 2147483646 w 1980"/>
              <a:gd name="T37" fmla="*/ 2147483646 h 2244"/>
              <a:gd name="T38" fmla="*/ 2147483646 w 1980"/>
              <a:gd name="T39" fmla="*/ 2147483646 h 2244"/>
              <a:gd name="T40" fmla="*/ 2147483646 w 1980"/>
              <a:gd name="T41" fmla="*/ 2147483646 h 2244"/>
              <a:gd name="T42" fmla="*/ 2147483646 w 1980"/>
              <a:gd name="T43" fmla="*/ 2147483646 h 2244"/>
              <a:gd name="T44" fmla="*/ 2147483646 w 1980"/>
              <a:gd name="T45" fmla="*/ 2147483646 h 2244"/>
              <a:gd name="T46" fmla="*/ 2147483646 w 1980"/>
              <a:gd name="T47" fmla="*/ 2147483646 h 2244"/>
              <a:gd name="T48" fmla="*/ 2147483646 w 1980"/>
              <a:gd name="T49" fmla="*/ 2147483646 h 2244"/>
              <a:gd name="T50" fmla="*/ 2147483646 w 1980"/>
              <a:gd name="T51" fmla="*/ 2147483646 h 2244"/>
              <a:gd name="T52" fmla="*/ 2147483646 w 1980"/>
              <a:gd name="T53" fmla="*/ 2147483646 h 2244"/>
              <a:gd name="T54" fmla="*/ 2147483646 w 1980"/>
              <a:gd name="T55" fmla="*/ 0 h 224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980"/>
              <a:gd name="T85" fmla="*/ 0 h 2244"/>
              <a:gd name="T86" fmla="*/ 1980 w 1980"/>
              <a:gd name="T87" fmla="*/ 2244 h 224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980" h="2244">
                <a:moveTo>
                  <a:pt x="0" y="2244"/>
                </a:moveTo>
                <a:cubicBezTo>
                  <a:pt x="21" y="2241"/>
                  <a:pt x="79" y="2243"/>
                  <a:pt x="128" y="2228"/>
                </a:cubicBezTo>
                <a:cubicBezTo>
                  <a:pt x="177" y="2213"/>
                  <a:pt x="244" y="2192"/>
                  <a:pt x="296" y="2156"/>
                </a:cubicBezTo>
                <a:cubicBezTo>
                  <a:pt x="348" y="2120"/>
                  <a:pt x="424" y="2054"/>
                  <a:pt x="440" y="2015"/>
                </a:cubicBezTo>
                <a:cubicBezTo>
                  <a:pt x="456" y="1976"/>
                  <a:pt x="376" y="1920"/>
                  <a:pt x="392" y="1920"/>
                </a:cubicBezTo>
                <a:cubicBezTo>
                  <a:pt x="408" y="1920"/>
                  <a:pt x="527" y="2023"/>
                  <a:pt x="535" y="2015"/>
                </a:cubicBezTo>
                <a:cubicBezTo>
                  <a:pt x="543" y="2007"/>
                  <a:pt x="441" y="1894"/>
                  <a:pt x="440" y="1872"/>
                </a:cubicBezTo>
                <a:cubicBezTo>
                  <a:pt x="439" y="1850"/>
                  <a:pt x="480" y="1924"/>
                  <a:pt x="528" y="1884"/>
                </a:cubicBezTo>
                <a:cubicBezTo>
                  <a:pt x="576" y="1844"/>
                  <a:pt x="613" y="1786"/>
                  <a:pt x="726" y="1633"/>
                </a:cubicBezTo>
                <a:cubicBezTo>
                  <a:pt x="839" y="1480"/>
                  <a:pt x="1100" y="1106"/>
                  <a:pt x="1204" y="963"/>
                </a:cubicBezTo>
                <a:cubicBezTo>
                  <a:pt x="1308" y="820"/>
                  <a:pt x="1332" y="820"/>
                  <a:pt x="1348" y="772"/>
                </a:cubicBezTo>
                <a:cubicBezTo>
                  <a:pt x="1364" y="724"/>
                  <a:pt x="1285" y="680"/>
                  <a:pt x="1300" y="677"/>
                </a:cubicBezTo>
                <a:cubicBezTo>
                  <a:pt x="1315" y="674"/>
                  <a:pt x="1428" y="760"/>
                  <a:pt x="1436" y="752"/>
                </a:cubicBezTo>
                <a:cubicBezTo>
                  <a:pt x="1444" y="744"/>
                  <a:pt x="1342" y="636"/>
                  <a:pt x="1348" y="629"/>
                </a:cubicBezTo>
                <a:cubicBezTo>
                  <a:pt x="1354" y="622"/>
                  <a:pt x="1464" y="716"/>
                  <a:pt x="1472" y="708"/>
                </a:cubicBezTo>
                <a:cubicBezTo>
                  <a:pt x="1480" y="700"/>
                  <a:pt x="1388" y="590"/>
                  <a:pt x="1396" y="581"/>
                </a:cubicBezTo>
                <a:cubicBezTo>
                  <a:pt x="1404" y="572"/>
                  <a:pt x="1513" y="665"/>
                  <a:pt x="1520" y="656"/>
                </a:cubicBezTo>
                <a:cubicBezTo>
                  <a:pt x="1527" y="647"/>
                  <a:pt x="1433" y="533"/>
                  <a:pt x="1440" y="524"/>
                </a:cubicBezTo>
                <a:cubicBezTo>
                  <a:pt x="1447" y="515"/>
                  <a:pt x="1555" y="612"/>
                  <a:pt x="1560" y="604"/>
                </a:cubicBezTo>
                <a:cubicBezTo>
                  <a:pt x="1565" y="596"/>
                  <a:pt x="1463" y="484"/>
                  <a:pt x="1472" y="476"/>
                </a:cubicBezTo>
                <a:cubicBezTo>
                  <a:pt x="1481" y="468"/>
                  <a:pt x="1607" y="565"/>
                  <a:pt x="1616" y="556"/>
                </a:cubicBezTo>
                <a:cubicBezTo>
                  <a:pt x="1625" y="547"/>
                  <a:pt x="1521" y="430"/>
                  <a:pt x="1528" y="420"/>
                </a:cubicBezTo>
                <a:cubicBezTo>
                  <a:pt x="1535" y="410"/>
                  <a:pt x="1648" y="504"/>
                  <a:pt x="1656" y="496"/>
                </a:cubicBezTo>
                <a:cubicBezTo>
                  <a:pt x="1664" y="488"/>
                  <a:pt x="1580" y="390"/>
                  <a:pt x="1576" y="372"/>
                </a:cubicBezTo>
                <a:cubicBezTo>
                  <a:pt x="1572" y="354"/>
                  <a:pt x="1614" y="403"/>
                  <a:pt x="1635" y="390"/>
                </a:cubicBezTo>
                <a:cubicBezTo>
                  <a:pt x="1656" y="377"/>
                  <a:pt x="1656" y="348"/>
                  <a:pt x="1704" y="292"/>
                </a:cubicBezTo>
                <a:cubicBezTo>
                  <a:pt x="1752" y="236"/>
                  <a:pt x="1876" y="104"/>
                  <a:pt x="1922" y="55"/>
                </a:cubicBezTo>
                <a:cubicBezTo>
                  <a:pt x="1968" y="6"/>
                  <a:pt x="1968" y="11"/>
                  <a:pt x="1980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9621" name="Freeform 5">
            <a:extLst>
              <a:ext uri="{FF2B5EF4-FFF2-40B4-BE49-F238E27FC236}">
                <a16:creationId xmlns:a16="http://schemas.microsoft.com/office/drawing/2014/main" id="{5A7FEDCA-05B4-4A05-8E62-66AA2CCCAD9B}"/>
              </a:ext>
            </a:extLst>
          </p:cNvPr>
          <p:cNvSpPr>
            <a:spLocks/>
          </p:cNvSpPr>
          <p:nvPr/>
        </p:nvSpPr>
        <p:spPr bwMode="auto">
          <a:xfrm>
            <a:off x="5591176" y="1843089"/>
            <a:ext cx="1624013" cy="993775"/>
          </a:xfrm>
          <a:custGeom>
            <a:avLst/>
            <a:gdLst>
              <a:gd name="T0" fmla="*/ 0 w 1023"/>
              <a:gd name="T1" fmla="*/ 2147483646 h 626"/>
              <a:gd name="T2" fmla="*/ 2147483646 w 1023"/>
              <a:gd name="T3" fmla="*/ 2147483646 h 626"/>
              <a:gd name="T4" fmla="*/ 2147483646 w 1023"/>
              <a:gd name="T5" fmla="*/ 2147483646 h 626"/>
              <a:gd name="T6" fmla="*/ 2147483646 w 1023"/>
              <a:gd name="T7" fmla="*/ 2147483646 h 626"/>
              <a:gd name="T8" fmla="*/ 2147483646 w 1023"/>
              <a:gd name="T9" fmla="*/ 2147483646 h 6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626"/>
              <a:gd name="T17" fmla="*/ 1023 w 1023"/>
              <a:gd name="T18" fmla="*/ 626 h 6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626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80" y="569"/>
                  <a:pt x="1023" y="626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9622" name="Rectangle 6">
            <a:extLst>
              <a:ext uri="{FF2B5EF4-FFF2-40B4-BE49-F238E27FC236}">
                <a16:creationId xmlns:a16="http://schemas.microsoft.com/office/drawing/2014/main" id="{B4AD752F-0F11-42FA-9FD7-988A0156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9" y="1682751"/>
            <a:ext cx="1138237" cy="4175125"/>
          </a:xfrm>
          <a:prstGeom prst="rect">
            <a:avLst/>
          </a:prstGeom>
          <a:solidFill>
            <a:srgbClr val="CC00FF">
              <a:alpha val="4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3" name="AutoShape 7">
            <a:extLst>
              <a:ext uri="{FF2B5EF4-FFF2-40B4-BE49-F238E27FC236}">
                <a16:creationId xmlns:a16="http://schemas.microsoft.com/office/drawing/2014/main" id="{4311D16F-76EA-4254-B906-7BE707BB4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6" y="20621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4" name="Text Box 8">
            <a:extLst>
              <a:ext uri="{FF2B5EF4-FFF2-40B4-BE49-F238E27FC236}">
                <a16:creationId xmlns:a16="http://schemas.microsoft.com/office/drawing/2014/main" id="{F7ABF23C-856E-4E23-90DF-0F854B51E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551" y="4035425"/>
            <a:ext cx="606425" cy="1098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660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1</a:t>
            </a:r>
          </a:p>
        </p:txBody>
      </p:sp>
      <p:sp>
        <p:nvSpPr>
          <p:cNvPr id="879625" name="Text Box 9">
            <a:extLst>
              <a:ext uri="{FF2B5EF4-FFF2-40B4-BE49-F238E27FC236}">
                <a16:creationId xmlns:a16="http://schemas.microsoft.com/office/drawing/2014/main" id="{CFC5CD28-DA4D-4668-8E7A-0F5BE946E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1026" y="4076700"/>
            <a:ext cx="606425" cy="1098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66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2</a:t>
            </a:r>
          </a:p>
        </p:txBody>
      </p:sp>
      <p:sp>
        <p:nvSpPr>
          <p:cNvPr id="879626" name="AutoShape 10">
            <a:extLst>
              <a:ext uri="{FF2B5EF4-FFF2-40B4-BE49-F238E27FC236}">
                <a16:creationId xmlns:a16="http://schemas.microsoft.com/office/drawing/2014/main" id="{0D05090A-A83C-4AD9-99F8-E8B7E55C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588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7" name="Text Box 11">
            <a:extLst>
              <a:ext uri="{FF2B5EF4-FFF2-40B4-BE49-F238E27FC236}">
                <a16:creationId xmlns:a16="http://schemas.microsoft.com/office/drawing/2014/main" id="{087D5F6B-45B4-4432-8DA4-6FE3E8310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7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7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7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7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622" grpId="0" animBg="1"/>
      <p:bldP spid="879623" grpId="0" animBg="1"/>
      <p:bldP spid="879624" grpId="0"/>
      <p:bldP spid="879625" grpId="0"/>
      <p:bldP spid="879626" grpId="0" animBg="1"/>
      <p:bldP spid="8796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8E43582-EC9F-4B16-B135-D1300F27E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1388E2C-3955-4A4A-A6AC-37FB0D1F1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1940" name="Text Box 4">
            <a:extLst>
              <a:ext uri="{FF2B5EF4-FFF2-40B4-BE49-F238E27FC236}">
                <a16:creationId xmlns:a16="http://schemas.microsoft.com/office/drawing/2014/main" id="{A2049239-832F-4A07-8362-E98FC274E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738" y="1228725"/>
            <a:ext cx="5008563" cy="47628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Personal success stems from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taking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risk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Expectations exceed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results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		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is in cash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poor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	</a:t>
            </a:r>
            <a:endParaRPr lang="en-US" sz="1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emphasizes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function over form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focus on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why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and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what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to do	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are kept for their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contributions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despite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their personalities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Everything is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permitted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, unless expressly forbidden	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Problems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are seen as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opportunities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	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marketing and sales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departments have political power</a:t>
            </a:r>
            <a:r>
              <a:rPr lang="en-US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	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on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line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call the shots	 	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Responsibility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is not matched with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authority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Management drives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the organization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Management drives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momentum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 	</a:t>
            </a:r>
            <a:endParaRPr lang="en-US" sz="1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Change in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leadership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can lead to change in organizational behavior</a:t>
            </a:r>
            <a:r>
              <a:rPr lang="en-US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needs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consultants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	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exists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to create value</a:t>
            </a:r>
          </a:p>
        </p:txBody>
      </p:sp>
      <p:sp>
        <p:nvSpPr>
          <p:cNvPr id="551941" name="Text Box 5">
            <a:extLst>
              <a:ext uri="{FF2B5EF4-FFF2-40B4-BE49-F238E27FC236}">
                <a16:creationId xmlns:a16="http://schemas.microsoft.com/office/drawing/2014/main" id="{FE492A24-2E68-4E58-A33F-E49E66EE5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51" y="773113"/>
            <a:ext cx="356711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buClr>
                <a:srgbClr val="FF0033"/>
              </a:buClr>
              <a:defRPr/>
            </a:pPr>
            <a:r>
              <a:rPr lang="en-US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-111" charset="0"/>
                <a:ea typeface="ＭＳ Ｐゴシック" pitchFamily="-111" charset="-128"/>
              </a:rPr>
              <a:t>Growing Companies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-111" charset="0"/>
              <a:ea typeface="ＭＳ Ｐゴシック" pitchFamily="-111" charset="-128"/>
            </a:endParaRPr>
          </a:p>
        </p:txBody>
      </p:sp>
      <p:sp>
        <p:nvSpPr>
          <p:cNvPr id="551942" name="Text Box 6">
            <a:extLst>
              <a:ext uri="{FF2B5EF4-FFF2-40B4-BE49-F238E27FC236}">
                <a16:creationId xmlns:a16="http://schemas.microsoft.com/office/drawing/2014/main" id="{0CD8770C-EEEB-4426-A01C-9D46581F2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3" y="773113"/>
            <a:ext cx="356711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buClr>
                <a:srgbClr val="FF0033"/>
              </a:buClr>
              <a:defRPr/>
            </a:pPr>
            <a:r>
              <a:rPr lang="en-US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-111" charset="0"/>
                <a:ea typeface="ＭＳ Ｐゴシック" pitchFamily="-111" charset="-128"/>
              </a:rPr>
              <a:t>Aging Companies</a:t>
            </a:r>
          </a:p>
        </p:txBody>
      </p:sp>
      <p:sp>
        <p:nvSpPr>
          <p:cNvPr id="551943" name="Text Box 7">
            <a:extLst>
              <a:ext uri="{FF2B5EF4-FFF2-40B4-BE49-F238E27FC236}">
                <a16:creationId xmlns:a16="http://schemas.microsoft.com/office/drawing/2014/main" id="{1DBB4B8F-4D16-4E66-9C1F-78BBF5E1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1228725"/>
            <a:ext cx="4800600" cy="47628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Personal success stems from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avoiding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risk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Results exceed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expectations</a:t>
            </a:r>
            <a:r>
              <a:rPr lang="en-US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is in cash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rich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emphasizes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form over function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focus on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how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and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who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did it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are kept for their personalities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despite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their lack of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contributions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Everything is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forbidden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, unless expressly permitted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Opportunities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are seen as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problems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accounting, finance and legal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departments have political power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Corporate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staff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calls the shots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Authority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is not matched with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responsibility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drives management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Management rides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inertia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To change organizational behavior, it’s necessary to change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system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needs “</a:t>
            </a:r>
            <a:r>
              <a:rPr lang="en-US" sz="1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insultants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”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is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profit-obsessed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519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519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6A40B17-1620-4CEF-A1BE-6A44E4A33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211DB8E-F4F1-4284-B3DB-2B13C401D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80644" name="Freeform 4">
            <a:extLst>
              <a:ext uri="{FF2B5EF4-FFF2-40B4-BE49-F238E27FC236}">
                <a16:creationId xmlns:a16="http://schemas.microsoft.com/office/drawing/2014/main" id="{22DCEB51-2AF2-479B-ABAD-5ACBBDD3DC71}"/>
              </a:ext>
            </a:extLst>
          </p:cNvPr>
          <p:cNvSpPr>
            <a:spLocks/>
          </p:cNvSpPr>
          <p:nvPr/>
        </p:nvSpPr>
        <p:spPr bwMode="auto">
          <a:xfrm>
            <a:off x="5564188" y="1835151"/>
            <a:ext cx="1624012" cy="993775"/>
          </a:xfrm>
          <a:custGeom>
            <a:avLst/>
            <a:gdLst>
              <a:gd name="T0" fmla="*/ 0 w 1023"/>
              <a:gd name="T1" fmla="*/ 2147483646 h 626"/>
              <a:gd name="T2" fmla="*/ 2147483646 w 1023"/>
              <a:gd name="T3" fmla="*/ 2147483646 h 626"/>
              <a:gd name="T4" fmla="*/ 2147483646 w 1023"/>
              <a:gd name="T5" fmla="*/ 2147483646 h 626"/>
              <a:gd name="T6" fmla="*/ 2147483646 w 1023"/>
              <a:gd name="T7" fmla="*/ 2147483646 h 626"/>
              <a:gd name="T8" fmla="*/ 2147483646 w 1023"/>
              <a:gd name="T9" fmla="*/ 2147483646 h 6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626"/>
              <a:gd name="T17" fmla="*/ 1023 w 1023"/>
              <a:gd name="T18" fmla="*/ 626 h 6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626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80" y="569"/>
                  <a:pt x="1023" y="626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645" name="AutoShape 5">
            <a:extLst>
              <a:ext uri="{FF2B5EF4-FFF2-40B4-BE49-F238E27FC236}">
                <a16:creationId xmlns:a16="http://schemas.microsoft.com/office/drawing/2014/main" id="{19784DC0-C156-4F4B-A1AE-31FC4CDE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80646" name="AutoShape 6">
            <a:extLst>
              <a:ext uri="{FF2B5EF4-FFF2-40B4-BE49-F238E27FC236}">
                <a16:creationId xmlns:a16="http://schemas.microsoft.com/office/drawing/2014/main" id="{D3440FE8-BB08-4B12-8CBD-238F12B57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188" y="2366963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80647" name="Text Box 7">
            <a:extLst>
              <a:ext uri="{FF2B5EF4-FFF2-40B4-BE49-F238E27FC236}">
                <a16:creationId xmlns:a16="http://schemas.microsoft.com/office/drawing/2014/main" id="{71EA1660-512F-4F1E-9285-D699C0DD0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880648" name="Text Box 8">
            <a:extLst>
              <a:ext uri="{FF2B5EF4-FFF2-40B4-BE49-F238E27FC236}">
                <a16:creationId xmlns:a16="http://schemas.microsoft.com/office/drawing/2014/main" id="{E316DB5E-D45A-4F4E-A27D-56F083574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880649" name="Text Box 9">
            <a:extLst>
              <a:ext uri="{FF2B5EF4-FFF2-40B4-BE49-F238E27FC236}">
                <a16:creationId xmlns:a16="http://schemas.microsoft.com/office/drawing/2014/main" id="{676A71F8-9B02-4AB4-B246-C2801D76A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573338"/>
            <a:ext cx="6224588" cy="389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Cultural Change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Meeting Formality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Dress code, address and tradition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“Don’t make waves”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Enamored with the past, paralyzed to deal with the future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Cash rich &amp; Financial Statements look good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Externalizes the problem, wishes the external environment would become favorable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Buys new products, ideas or companies versus “self’ innovation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8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8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8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 animBg="1"/>
      <p:bldP spid="880646" grpId="0" animBg="1"/>
      <p:bldP spid="880647" grpId="0"/>
      <p:bldP spid="88064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D1E7FEB-CF38-45F9-B5E4-E14BE7DE7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87" name="Freeform 3">
            <a:extLst>
              <a:ext uri="{FF2B5EF4-FFF2-40B4-BE49-F238E27FC236}">
                <a16:creationId xmlns:a16="http://schemas.microsoft.com/office/drawing/2014/main" id="{3971DE25-CD41-44F5-A2F4-CD3B3DB18CB7}"/>
              </a:ext>
            </a:extLst>
          </p:cNvPr>
          <p:cNvSpPr>
            <a:spLocks/>
          </p:cNvSpPr>
          <p:nvPr/>
        </p:nvSpPr>
        <p:spPr bwMode="auto">
          <a:xfrm>
            <a:off x="5591176" y="1843088"/>
            <a:ext cx="2049463" cy="1587500"/>
          </a:xfrm>
          <a:custGeom>
            <a:avLst/>
            <a:gdLst>
              <a:gd name="T0" fmla="*/ 0 w 1291"/>
              <a:gd name="T1" fmla="*/ 2147483646 h 1000"/>
              <a:gd name="T2" fmla="*/ 2147483646 w 1291"/>
              <a:gd name="T3" fmla="*/ 2147483646 h 1000"/>
              <a:gd name="T4" fmla="*/ 2147483646 w 1291"/>
              <a:gd name="T5" fmla="*/ 2147483646 h 1000"/>
              <a:gd name="T6" fmla="*/ 2147483646 w 1291"/>
              <a:gd name="T7" fmla="*/ 2147483646 h 1000"/>
              <a:gd name="T8" fmla="*/ 2147483646 w 1291"/>
              <a:gd name="T9" fmla="*/ 2147483646 h 1000"/>
              <a:gd name="T10" fmla="*/ 2147483646 w 1291"/>
              <a:gd name="T11" fmla="*/ 2147483646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91"/>
              <a:gd name="T19" fmla="*/ 0 h 1000"/>
              <a:gd name="T20" fmla="*/ 1291 w 1291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91" h="1000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35" y="507"/>
                  <a:pt x="1023" y="626"/>
                </a:cubicBezTo>
                <a:cubicBezTo>
                  <a:pt x="1111" y="745"/>
                  <a:pt x="1246" y="938"/>
                  <a:pt x="1291" y="1000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988" name="AutoShape 4">
            <a:extLst>
              <a:ext uri="{FF2B5EF4-FFF2-40B4-BE49-F238E27FC236}">
                <a16:creationId xmlns:a16="http://schemas.microsoft.com/office/drawing/2014/main" id="{FCD5F7DB-61ED-4180-8D86-9E4576C49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89" name="Text Box 5">
            <a:extLst>
              <a:ext uri="{FF2B5EF4-FFF2-40B4-BE49-F238E27FC236}">
                <a16:creationId xmlns:a16="http://schemas.microsoft.com/office/drawing/2014/main" id="{50D1783E-81F4-4056-8D88-0EE525248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553990" name="Text Box 6">
            <a:extLst>
              <a:ext uri="{FF2B5EF4-FFF2-40B4-BE49-F238E27FC236}">
                <a16:creationId xmlns:a16="http://schemas.microsoft.com/office/drawing/2014/main" id="{A5FEEF9E-ACA7-429C-9AB8-24626939E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553991" name="AutoShape 7">
            <a:extLst>
              <a:ext uri="{FF2B5EF4-FFF2-40B4-BE49-F238E27FC236}">
                <a16:creationId xmlns:a16="http://schemas.microsoft.com/office/drawing/2014/main" id="{3FAC1E13-E0F5-41A2-A769-C2440CD70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6" y="23669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92" name="AutoShape 8">
            <a:extLst>
              <a:ext uri="{FF2B5EF4-FFF2-40B4-BE49-F238E27FC236}">
                <a16:creationId xmlns:a16="http://schemas.microsoft.com/office/drawing/2014/main" id="{3FEA1834-EF3B-4C2D-8C36-0AB89973D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1" y="29622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93" name="Text Box 9">
            <a:extLst>
              <a:ext uri="{FF2B5EF4-FFF2-40B4-BE49-F238E27FC236}">
                <a16:creationId xmlns:a16="http://schemas.microsoft.com/office/drawing/2014/main" id="{0B147116-25A2-49B8-8F37-4E55106EC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2822576"/>
            <a:ext cx="2266950" cy="7794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Witch Hunt</a:t>
            </a:r>
          </a:p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Early Bureaucracy</a:t>
            </a:r>
          </a:p>
        </p:txBody>
      </p:sp>
      <p:sp>
        <p:nvSpPr>
          <p:cNvPr id="553994" name="Text Box 10">
            <a:extLst>
              <a:ext uri="{FF2B5EF4-FFF2-40B4-BE49-F238E27FC236}">
                <a16:creationId xmlns:a16="http://schemas.microsoft.com/office/drawing/2014/main" id="{9891F23F-50BA-49B8-A709-80375BE87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8" y="3352800"/>
            <a:ext cx="5160962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Emphasis on </a:t>
            </a:r>
            <a:r>
              <a:rPr lang="en-US" altLang="en-US" sz="1800" u="sng">
                <a:latin typeface="Tahoma" panose="020B0604030504040204" pitchFamily="34" charset="0"/>
              </a:rPr>
              <a:t>Who</a:t>
            </a:r>
            <a:r>
              <a:rPr lang="en-US" altLang="en-US" sz="1800">
                <a:latin typeface="Tahoma" panose="020B0604030504040204" pitchFamily="34" charset="0"/>
              </a:rPr>
              <a:t> caused the problem rather than on solving the problem - as if solving the “</a:t>
            </a:r>
            <a:r>
              <a:rPr lang="en-US" altLang="en-US" sz="1800" u="sng">
                <a:latin typeface="Tahoma" panose="020B0604030504040204" pitchFamily="34" charset="0"/>
              </a:rPr>
              <a:t>who</a:t>
            </a:r>
            <a:r>
              <a:rPr lang="en-US" altLang="en-US" sz="1800">
                <a:latin typeface="Tahoma" panose="020B0604030504040204" pitchFamily="34" charset="0"/>
              </a:rPr>
              <a:t>” solves the “</a:t>
            </a:r>
            <a:r>
              <a:rPr lang="en-US" altLang="en-US" sz="1800" u="sng">
                <a:latin typeface="Tahoma" panose="020B0604030504040204" pitchFamily="34" charset="0"/>
              </a:rPr>
              <a:t>what</a:t>
            </a:r>
            <a:r>
              <a:rPr lang="en-US" altLang="en-US" sz="1800">
                <a:latin typeface="Tahoma" panose="020B0604030504040204" pitchFamily="34" charset="0"/>
              </a:rPr>
              <a:t>”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Conflict &amp; paranoia (backstabbing and infighting)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Focus on internal turf wars, where the external customer becomes a nuisance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Internal conflicts hampers alignment to markets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5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5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8" grpId="0" animBg="1"/>
      <p:bldP spid="553989" grpId="0"/>
      <p:bldP spid="553990" grpId="0"/>
      <p:bldP spid="553991" grpId="0" animBg="1"/>
      <p:bldP spid="553992" grpId="0" animBg="1"/>
      <p:bldP spid="5539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D787E75-7E40-4283-8AFC-CCFE19A36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416ACB6-6F7F-4F3D-A22C-292BA0BAF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2" name="Freeform 4">
            <a:extLst>
              <a:ext uri="{FF2B5EF4-FFF2-40B4-BE49-F238E27FC236}">
                <a16:creationId xmlns:a16="http://schemas.microsoft.com/office/drawing/2014/main" id="{483F2C75-EAF3-4FFB-ABEC-FB725A429F39}"/>
              </a:ext>
            </a:extLst>
          </p:cNvPr>
          <p:cNvSpPr>
            <a:spLocks/>
          </p:cNvSpPr>
          <p:nvPr/>
        </p:nvSpPr>
        <p:spPr bwMode="auto">
          <a:xfrm>
            <a:off x="5591175" y="1843088"/>
            <a:ext cx="3036888" cy="3028950"/>
          </a:xfrm>
          <a:custGeom>
            <a:avLst/>
            <a:gdLst>
              <a:gd name="T0" fmla="*/ 0 w 1913"/>
              <a:gd name="T1" fmla="*/ 2147483646 h 1908"/>
              <a:gd name="T2" fmla="*/ 2147483646 w 1913"/>
              <a:gd name="T3" fmla="*/ 2147483646 h 1908"/>
              <a:gd name="T4" fmla="*/ 2147483646 w 1913"/>
              <a:gd name="T5" fmla="*/ 2147483646 h 1908"/>
              <a:gd name="T6" fmla="*/ 2147483646 w 1913"/>
              <a:gd name="T7" fmla="*/ 2147483646 h 1908"/>
              <a:gd name="T8" fmla="*/ 2147483646 w 1913"/>
              <a:gd name="T9" fmla="*/ 2147483646 h 1908"/>
              <a:gd name="T10" fmla="*/ 2147483646 w 1913"/>
              <a:gd name="T11" fmla="*/ 2147483646 h 1908"/>
              <a:gd name="T12" fmla="*/ 2147483646 w 1913"/>
              <a:gd name="T13" fmla="*/ 2147483646 h 1908"/>
              <a:gd name="T14" fmla="*/ 2147483646 w 1913"/>
              <a:gd name="T15" fmla="*/ 2147483646 h 1908"/>
              <a:gd name="T16" fmla="*/ 2147483646 w 1913"/>
              <a:gd name="T17" fmla="*/ 2147483646 h 1908"/>
              <a:gd name="T18" fmla="*/ 2147483646 w 1913"/>
              <a:gd name="T19" fmla="*/ 2147483646 h 1908"/>
              <a:gd name="T20" fmla="*/ 2147483646 w 1913"/>
              <a:gd name="T21" fmla="*/ 2147483646 h 1908"/>
              <a:gd name="T22" fmla="*/ 2147483646 w 1913"/>
              <a:gd name="T23" fmla="*/ 2147483646 h 190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913"/>
              <a:gd name="T37" fmla="*/ 0 h 1908"/>
              <a:gd name="T38" fmla="*/ 1913 w 1913"/>
              <a:gd name="T39" fmla="*/ 1908 h 190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913" h="1908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35" y="507"/>
                  <a:pt x="1023" y="626"/>
                </a:cubicBezTo>
                <a:cubicBezTo>
                  <a:pt x="1111" y="745"/>
                  <a:pt x="1226" y="936"/>
                  <a:pt x="1291" y="1000"/>
                </a:cubicBezTo>
                <a:cubicBezTo>
                  <a:pt x="1356" y="1064"/>
                  <a:pt x="1407" y="993"/>
                  <a:pt x="1411" y="1012"/>
                </a:cubicBezTo>
                <a:cubicBezTo>
                  <a:pt x="1415" y="1031"/>
                  <a:pt x="1308" y="1105"/>
                  <a:pt x="1315" y="1116"/>
                </a:cubicBezTo>
                <a:cubicBezTo>
                  <a:pt x="1322" y="1127"/>
                  <a:pt x="1437" y="1067"/>
                  <a:pt x="1455" y="1080"/>
                </a:cubicBezTo>
                <a:cubicBezTo>
                  <a:pt x="1473" y="1093"/>
                  <a:pt x="1382" y="1105"/>
                  <a:pt x="1423" y="1196"/>
                </a:cubicBezTo>
                <a:cubicBezTo>
                  <a:pt x="1464" y="1287"/>
                  <a:pt x="1621" y="1505"/>
                  <a:pt x="1703" y="1624"/>
                </a:cubicBezTo>
                <a:cubicBezTo>
                  <a:pt x="1785" y="1743"/>
                  <a:pt x="1878" y="1861"/>
                  <a:pt x="1913" y="1908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5013" name="AutoShape 5">
            <a:extLst>
              <a:ext uri="{FF2B5EF4-FFF2-40B4-BE49-F238E27FC236}">
                <a16:creationId xmlns:a16="http://schemas.microsoft.com/office/drawing/2014/main" id="{555551A0-697A-45D5-9C0E-909C64627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4" name="Text Box 6">
            <a:extLst>
              <a:ext uri="{FF2B5EF4-FFF2-40B4-BE49-F238E27FC236}">
                <a16:creationId xmlns:a16="http://schemas.microsoft.com/office/drawing/2014/main" id="{EA281E23-FFE4-4CEE-A974-433A91FDC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555015" name="Text Box 7">
            <a:extLst>
              <a:ext uri="{FF2B5EF4-FFF2-40B4-BE49-F238E27FC236}">
                <a16:creationId xmlns:a16="http://schemas.microsoft.com/office/drawing/2014/main" id="{3ED5F298-5C0C-428B-B4F8-75991A31A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555016" name="AutoShape 8">
            <a:extLst>
              <a:ext uri="{FF2B5EF4-FFF2-40B4-BE49-F238E27FC236}">
                <a16:creationId xmlns:a16="http://schemas.microsoft.com/office/drawing/2014/main" id="{BB8FE1A3-3D07-4B55-B644-ECDDE73C5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6" y="23669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7" name="Text Box 9">
            <a:extLst>
              <a:ext uri="{FF2B5EF4-FFF2-40B4-BE49-F238E27FC236}">
                <a16:creationId xmlns:a16="http://schemas.microsoft.com/office/drawing/2014/main" id="{A5C62717-EFB6-435F-B878-09EBC8AD1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2822576"/>
            <a:ext cx="25336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Early Bureaucracy</a:t>
            </a:r>
          </a:p>
        </p:txBody>
      </p:sp>
      <p:sp>
        <p:nvSpPr>
          <p:cNvPr id="555018" name="AutoShape 10">
            <a:extLst>
              <a:ext uri="{FF2B5EF4-FFF2-40B4-BE49-F238E27FC236}">
                <a16:creationId xmlns:a16="http://schemas.microsoft.com/office/drawing/2014/main" id="{581A70CC-41F6-4F59-9E73-7E735F042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297338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9" name="AutoShape 11">
            <a:extLst>
              <a:ext uri="{FF2B5EF4-FFF2-40B4-BE49-F238E27FC236}">
                <a16:creationId xmlns:a16="http://schemas.microsoft.com/office/drawing/2014/main" id="{9C4B3F51-0317-4818-BF9F-971B3B20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463" y="425132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20" name="Text Box 12">
            <a:extLst>
              <a:ext uri="{FF2B5EF4-FFF2-40B4-BE49-F238E27FC236}">
                <a16:creationId xmlns:a16="http://schemas.microsoft.com/office/drawing/2014/main" id="{EEF3CEC9-0922-4D3C-A618-B3ADCBDE0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675" y="4111626"/>
            <a:ext cx="1670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Bureaucracy</a:t>
            </a:r>
          </a:p>
        </p:txBody>
      </p:sp>
      <p:sp>
        <p:nvSpPr>
          <p:cNvPr id="555021" name="Text Box 13">
            <a:extLst>
              <a:ext uri="{FF2B5EF4-FFF2-40B4-BE49-F238E27FC236}">
                <a16:creationId xmlns:a16="http://schemas.microsoft.com/office/drawing/2014/main" id="{E06583C2-DFA6-408A-B165-17AEA2C9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6" y="3702051"/>
            <a:ext cx="56927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Many systems but little functional orientation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Internal Focus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“It’s the policy”... without having a functional explanation for it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Lots of policies, but no “real” control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Customers have difficulty being heard or served and need bypass systems to deal with the Bureaucracy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5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5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3" grpId="0" animBg="1"/>
      <p:bldP spid="555014" grpId="0"/>
      <p:bldP spid="555015" grpId="0"/>
      <p:bldP spid="555016" grpId="0" animBg="1"/>
      <p:bldP spid="555017" grpId="0"/>
      <p:bldP spid="555018" grpId="0" animBg="1"/>
      <p:bldP spid="555019" grpId="0" animBg="1"/>
      <p:bldP spid="5550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0E104CC-2AAA-4A89-BE7E-3853FD3A7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D27BA8C-30BF-4783-92A0-45D55E9BA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36" name="Freeform 4">
            <a:extLst>
              <a:ext uri="{FF2B5EF4-FFF2-40B4-BE49-F238E27FC236}">
                <a16:creationId xmlns:a16="http://schemas.microsoft.com/office/drawing/2014/main" id="{A2586990-FE6E-4C5A-A739-7E9CBE9545ED}"/>
              </a:ext>
            </a:extLst>
          </p:cNvPr>
          <p:cNvSpPr>
            <a:spLocks/>
          </p:cNvSpPr>
          <p:nvPr/>
        </p:nvSpPr>
        <p:spPr bwMode="auto">
          <a:xfrm>
            <a:off x="5591176" y="1843088"/>
            <a:ext cx="4175125" cy="3943350"/>
          </a:xfrm>
          <a:custGeom>
            <a:avLst/>
            <a:gdLst>
              <a:gd name="T0" fmla="*/ 0 w 2630"/>
              <a:gd name="T1" fmla="*/ 2147483646 h 2484"/>
              <a:gd name="T2" fmla="*/ 2147483646 w 2630"/>
              <a:gd name="T3" fmla="*/ 2147483646 h 2484"/>
              <a:gd name="T4" fmla="*/ 2147483646 w 2630"/>
              <a:gd name="T5" fmla="*/ 2147483646 h 2484"/>
              <a:gd name="T6" fmla="*/ 2147483646 w 2630"/>
              <a:gd name="T7" fmla="*/ 2147483646 h 2484"/>
              <a:gd name="T8" fmla="*/ 2147483646 w 2630"/>
              <a:gd name="T9" fmla="*/ 2147483646 h 2484"/>
              <a:gd name="T10" fmla="*/ 2147483646 w 2630"/>
              <a:gd name="T11" fmla="*/ 2147483646 h 2484"/>
              <a:gd name="T12" fmla="*/ 2147483646 w 2630"/>
              <a:gd name="T13" fmla="*/ 2147483646 h 2484"/>
              <a:gd name="T14" fmla="*/ 2147483646 w 2630"/>
              <a:gd name="T15" fmla="*/ 2147483646 h 2484"/>
              <a:gd name="T16" fmla="*/ 2147483646 w 2630"/>
              <a:gd name="T17" fmla="*/ 2147483646 h 2484"/>
              <a:gd name="T18" fmla="*/ 2147483646 w 2630"/>
              <a:gd name="T19" fmla="*/ 2147483646 h 2484"/>
              <a:gd name="T20" fmla="*/ 2147483646 w 2630"/>
              <a:gd name="T21" fmla="*/ 2147483646 h 2484"/>
              <a:gd name="T22" fmla="*/ 2147483646 w 2630"/>
              <a:gd name="T23" fmla="*/ 2147483646 h 2484"/>
              <a:gd name="T24" fmla="*/ 2147483646 w 2630"/>
              <a:gd name="T25" fmla="*/ 2147483646 h 2484"/>
              <a:gd name="T26" fmla="*/ 2147483646 w 2630"/>
              <a:gd name="T27" fmla="*/ 2147483646 h 2484"/>
              <a:gd name="T28" fmla="*/ 2147483646 w 2630"/>
              <a:gd name="T29" fmla="*/ 2147483646 h 248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630"/>
              <a:gd name="T46" fmla="*/ 0 h 2484"/>
              <a:gd name="T47" fmla="*/ 2630 w 2630"/>
              <a:gd name="T48" fmla="*/ 2484 h 248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630" h="2484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35" y="507"/>
                  <a:pt x="1023" y="626"/>
                </a:cubicBezTo>
                <a:cubicBezTo>
                  <a:pt x="1111" y="745"/>
                  <a:pt x="1226" y="936"/>
                  <a:pt x="1291" y="1000"/>
                </a:cubicBezTo>
                <a:cubicBezTo>
                  <a:pt x="1356" y="1064"/>
                  <a:pt x="1407" y="993"/>
                  <a:pt x="1411" y="1012"/>
                </a:cubicBezTo>
                <a:cubicBezTo>
                  <a:pt x="1415" y="1031"/>
                  <a:pt x="1308" y="1105"/>
                  <a:pt x="1315" y="1116"/>
                </a:cubicBezTo>
                <a:cubicBezTo>
                  <a:pt x="1322" y="1127"/>
                  <a:pt x="1437" y="1067"/>
                  <a:pt x="1455" y="1080"/>
                </a:cubicBezTo>
                <a:cubicBezTo>
                  <a:pt x="1473" y="1093"/>
                  <a:pt x="1382" y="1105"/>
                  <a:pt x="1423" y="1196"/>
                </a:cubicBezTo>
                <a:cubicBezTo>
                  <a:pt x="1464" y="1287"/>
                  <a:pt x="1621" y="1505"/>
                  <a:pt x="1703" y="1624"/>
                </a:cubicBezTo>
                <a:cubicBezTo>
                  <a:pt x="1785" y="1743"/>
                  <a:pt x="1822" y="1797"/>
                  <a:pt x="1913" y="1908"/>
                </a:cubicBezTo>
                <a:cubicBezTo>
                  <a:pt x="2004" y="2019"/>
                  <a:pt x="2153" y="2200"/>
                  <a:pt x="2247" y="2291"/>
                </a:cubicBezTo>
                <a:cubicBezTo>
                  <a:pt x="2341" y="2382"/>
                  <a:pt x="2415" y="2420"/>
                  <a:pt x="2479" y="2452"/>
                </a:cubicBezTo>
                <a:cubicBezTo>
                  <a:pt x="2543" y="2484"/>
                  <a:pt x="2599" y="2476"/>
                  <a:pt x="2630" y="2482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6037" name="AutoShape 5">
            <a:extLst>
              <a:ext uri="{FF2B5EF4-FFF2-40B4-BE49-F238E27FC236}">
                <a16:creationId xmlns:a16="http://schemas.microsoft.com/office/drawing/2014/main" id="{DBF2942D-7221-4E10-80BF-AE4336185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38" name="Text Box 6">
            <a:extLst>
              <a:ext uri="{FF2B5EF4-FFF2-40B4-BE49-F238E27FC236}">
                <a16:creationId xmlns:a16="http://schemas.microsoft.com/office/drawing/2014/main" id="{A8428744-E360-49ED-917E-221FAF20D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556039" name="Text Box 7">
            <a:extLst>
              <a:ext uri="{FF2B5EF4-FFF2-40B4-BE49-F238E27FC236}">
                <a16:creationId xmlns:a16="http://schemas.microsoft.com/office/drawing/2014/main" id="{4ACDF771-7BAA-4679-A93D-7058A8352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556040" name="AutoShape 8">
            <a:extLst>
              <a:ext uri="{FF2B5EF4-FFF2-40B4-BE49-F238E27FC236}">
                <a16:creationId xmlns:a16="http://schemas.microsoft.com/office/drawing/2014/main" id="{2A2DE826-B7AE-42AD-949C-228C89C66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6" y="23669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1" name="Text Box 9">
            <a:extLst>
              <a:ext uri="{FF2B5EF4-FFF2-40B4-BE49-F238E27FC236}">
                <a16:creationId xmlns:a16="http://schemas.microsoft.com/office/drawing/2014/main" id="{90712264-8613-422A-9933-EE9C20783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2822576"/>
            <a:ext cx="26225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Early Bureaucracy</a:t>
            </a:r>
          </a:p>
        </p:txBody>
      </p:sp>
      <p:sp>
        <p:nvSpPr>
          <p:cNvPr id="556042" name="AutoShape 10">
            <a:extLst>
              <a:ext uri="{FF2B5EF4-FFF2-40B4-BE49-F238E27FC236}">
                <a16:creationId xmlns:a16="http://schemas.microsoft.com/office/drawing/2014/main" id="{54FFDF0B-6674-4ABE-8871-7D5608D3B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297338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3" name="Text Box 11">
            <a:extLst>
              <a:ext uri="{FF2B5EF4-FFF2-40B4-BE49-F238E27FC236}">
                <a16:creationId xmlns:a16="http://schemas.microsoft.com/office/drawing/2014/main" id="{94BD00B8-F181-4C42-9448-3D62B0F46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675" y="4111626"/>
            <a:ext cx="1670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Bureaucracy</a:t>
            </a:r>
          </a:p>
        </p:txBody>
      </p:sp>
      <p:sp>
        <p:nvSpPr>
          <p:cNvPr id="556044" name="AutoShape 12">
            <a:extLst>
              <a:ext uri="{FF2B5EF4-FFF2-40B4-BE49-F238E27FC236}">
                <a16:creationId xmlns:a16="http://schemas.microsoft.com/office/drawing/2014/main" id="{BA9E8A1B-CA39-4F45-82FE-F34E495F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463" y="426402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5" name="AutoShape 13">
            <a:extLst>
              <a:ext uri="{FF2B5EF4-FFF2-40B4-BE49-F238E27FC236}">
                <a16:creationId xmlns:a16="http://schemas.microsoft.com/office/drawing/2014/main" id="{1EBC9947-4D4D-474B-A9B6-0A49F91B2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113" y="570547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6" name="Text Box 14">
            <a:extLst>
              <a:ext uri="{FF2B5EF4-FFF2-40B4-BE49-F238E27FC236}">
                <a16:creationId xmlns:a16="http://schemas.microsoft.com/office/drawing/2014/main" id="{D6739F5E-CA1D-4DA3-AEFE-B0ACEAB94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3700" y="5262563"/>
            <a:ext cx="1138238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Death</a:t>
            </a:r>
          </a:p>
        </p:txBody>
      </p:sp>
      <p:sp>
        <p:nvSpPr>
          <p:cNvPr id="556047" name="Text Box 15">
            <a:extLst>
              <a:ext uri="{FF2B5EF4-FFF2-40B4-BE49-F238E27FC236}">
                <a16:creationId xmlns:a16="http://schemas.microsoft.com/office/drawing/2014/main" id="{0E604160-A6F3-4E06-8DC7-AD24B8199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088" y="4052888"/>
            <a:ext cx="5237162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No one committed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Death may take years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Unwilling to eliminate jobs </a:t>
            </a:r>
            <a:br>
              <a:rPr lang="en-US" altLang="en-US" sz="1800">
                <a:latin typeface="Tahoma" panose="020B0604030504040204" pitchFamily="34" charset="0"/>
              </a:rPr>
            </a:br>
            <a:r>
              <a:rPr lang="en-US" altLang="en-US" sz="1800">
                <a:latin typeface="Tahoma" panose="020B0604030504040204" pitchFamily="34" charset="0"/>
              </a:rPr>
              <a:t>(government agencies, union pressures)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Very expensive artificial prolonging of life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“If - only” mentality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5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5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7" grpId="0" animBg="1"/>
      <p:bldP spid="556038" grpId="0"/>
      <p:bldP spid="556039" grpId="0"/>
      <p:bldP spid="556040" grpId="0" animBg="1"/>
      <p:bldP spid="556041" grpId="0"/>
      <p:bldP spid="556042" grpId="0" animBg="1"/>
      <p:bldP spid="556043" grpId="0"/>
      <p:bldP spid="556044" grpId="0" animBg="1"/>
      <p:bldP spid="556045" grpId="0" animBg="1"/>
      <p:bldP spid="5560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6" name="Text Box 2">
            <a:extLst>
              <a:ext uri="{FF2B5EF4-FFF2-40B4-BE49-F238E27FC236}">
                <a16:creationId xmlns:a16="http://schemas.microsoft.com/office/drawing/2014/main" id="{B5AECD96-B169-41B5-8F78-8D329F55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1598"/>
            <a:ext cx="9144000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Lifecycle of an Organization</a:t>
            </a:r>
            <a:r>
              <a:rPr lang="lv-LV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– How does</a:t>
            </a:r>
          </a:p>
          <a:p>
            <a:pPr algn="ctr">
              <a:spcBef>
                <a:spcPct val="50000"/>
              </a:spcBef>
              <a:defRPr/>
            </a:pPr>
            <a:r>
              <a:rPr lang="lv-LV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Product Lifecycle Mirror this</a:t>
            </a:r>
            <a:endParaRPr 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</p:txBody>
      </p:sp>
      <p:pic>
        <p:nvPicPr>
          <p:cNvPr id="52227" name="Picture 3" descr="LifeCycles_Contemporary">
            <a:extLst>
              <a:ext uri="{FF2B5EF4-FFF2-40B4-BE49-F238E27FC236}">
                <a16:creationId xmlns:a16="http://schemas.microsoft.com/office/drawing/2014/main" id="{10911BEF-EA71-4C53-9223-3AAE3BCB9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44012"/>
            <a:ext cx="6083300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58B1912F-9097-4645-BB17-DA1C9AF0E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073" y="3758364"/>
            <a:ext cx="1593150" cy="3794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+mj-lt"/>
                <a:ea typeface="ＭＳ Ｐゴシック" pitchFamily="-32" charset="-128"/>
                <a:cs typeface="ＭＳ Ｐゴシック" pitchFamily="-32" charset="-128"/>
              </a:defRPr>
            </a:lvl1pPr>
            <a:lvl2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2pPr>
            <a:lvl3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3pPr>
            <a:lvl4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4pPr>
            <a:lvl5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5pPr>
            <a:lvl6pPr marL="25146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6pPr>
            <a:lvl7pPr marL="29718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7pPr>
            <a:lvl8pPr marL="3429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8pPr>
            <a:lvl9pPr marL="3886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9pPr>
          </a:lstStyle>
          <a:p>
            <a:pPr>
              <a:defRPr/>
            </a:pPr>
            <a:r>
              <a:rPr lang="en-US" b="1" ker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</a:rPr>
              <a:t>SUCCESS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18E7C7-CA8E-4DF2-AED0-633B26D16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076" y="2451567"/>
            <a:ext cx="2199924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Opportunities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D9063FF-CD17-40B8-8A86-D165BE832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626" y="3382128"/>
            <a:ext cx="3414939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External Integration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D5C9F2E-A535-410B-B334-8981C18AF9A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338264" y="3952039"/>
            <a:ext cx="3036804" cy="36512"/>
          </a:xfrm>
          <a:prstGeom prst="rect">
            <a:avLst/>
          </a:prstGeom>
          <a:solidFill>
            <a:srgbClr val="FF00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lt-LT" altLang="lv-LV"/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B34DFDE3-2D19-4B6E-99DE-FE429D384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437" y="3940926"/>
            <a:ext cx="1494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26F1F67E-4599-4501-82F4-A3FD48038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437" y="4013951"/>
            <a:ext cx="1494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64D2FAF1-DCF0-42A8-A134-8B7ED8D21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839" y="3912353"/>
            <a:ext cx="3189231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Internal Disintegration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A12F29E9-3EC3-4E22-9F2B-C9E536D5F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9358" y="3609139"/>
            <a:ext cx="532027" cy="609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3400" i="1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38B2FBED-332D-4B63-A9DD-1436A663B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811" y="4899778"/>
            <a:ext cx="1442189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Mutual Trust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10458094-6F0C-4234-B9BC-AEA0A8334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3969" y="4899778"/>
            <a:ext cx="1972750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Mutual Respect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5494A5BD-0A22-456A-9ADB-C602E7355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628" y="2451567"/>
            <a:ext cx="2199925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Capabilities</a:t>
            </a:r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0D2F1467-173A-4C3B-82B1-E73A0604B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225" y="3077328"/>
            <a:ext cx="455814" cy="379413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E52B9B9A-3FD8-45EB-B7AC-5C80E28A8DA8}"/>
              </a:ext>
            </a:extLst>
          </p:cNvPr>
          <p:cNvSpPr>
            <a:spLocks noChangeShapeType="1"/>
          </p:cNvSpPr>
          <p:nvPr/>
        </p:nvSpPr>
        <p:spPr bwMode="auto">
          <a:xfrm rot="5856031">
            <a:off x="7196795" y="3040720"/>
            <a:ext cx="455612" cy="379600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7" name="Line 22">
            <a:extLst>
              <a:ext uri="{FF2B5EF4-FFF2-40B4-BE49-F238E27FC236}">
                <a16:creationId xmlns:a16="http://schemas.microsoft.com/office/drawing/2014/main" id="{52FA5B6C-C3F6-405C-A2D4-8ED098F40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016" y="4465772"/>
            <a:ext cx="455813" cy="379412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8D991DAA-7646-4816-A466-D509F8015838}"/>
              </a:ext>
            </a:extLst>
          </p:cNvPr>
          <p:cNvSpPr>
            <a:spLocks noChangeShapeType="1"/>
          </p:cNvSpPr>
          <p:nvPr/>
        </p:nvSpPr>
        <p:spPr bwMode="auto">
          <a:xfrm rot="5856031">
            <a:off x="5451220" y="4405971"/>
            <a:ext cx="455612" cy="379601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9" name="AutoShape 25">
            <a:extLst>
              <a:ext uri="{FF2B5EF4-FFF2-40B4-BE49-F238E27FC236}">
                <a16:creationId xmlns:a16="http://schemas.microsoft.com/office/drawing/2014/main" id="{83BFEC3B-88CF-48DE-B8FD-19BF41CA624E}"/>
              </a:ext>
            </a:extLst>
          </p:cNvPr>
          <p:cNvSpPr>
            <a:spLocks/>
          </p:cNvSpPr>
          <p:nvPr/>
        </p:nvSpPr>
        <p:spPr bwMode="auto">
          <a:xfrm>
            <a:off x="4730025" y="3494841"/>
            <a:ext cx="608241" cy="985837"/>
          </a:xfrm>
          <a:prstGeom prst="leftBrace">
            <a:avLst>
              <a:gd name="adj1" fmla="val 1350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lt-LT" altLang="lv-LV"/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1E1D7791-95F6-47C6-B590-31E73ABCAAC7}"/>
              </a:ext>
            </a:extLst>
          </p:cNvPr>
          <p:cNvSpPr>
            <a:spLocks/>
          </p:cNvSpPr>
          <p:nvPr/>
        </p:nvSpPr>
        <p:spPr bwMode="auto">
          <a:xfrm>
            <a:off x="8373603" y="3456741"/>
            <a:ext cx="454348" cy="1063625"/>
          </a:xfrm>
          <a:prstGeom prst="rightBrace">
            <a:avLst>
              <a:gd name="adj1" fmla="val 1951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lt-LT" altLang="lv-LV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5CBE3-B79D-4414-82F6-A18D4C2BB13F}"/>
              </a:ext>
            </a:extLst>
          </p:cNvPr>
          <p:cNvSpPr txBox="1"/>
          <p:nvPr/>
        </p:nvSpPr>
        <p:spPr>
          <a:xfrm>
            <a:off x="3581405" y="626190"/>
            <a:ext cx="63980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Successful management is needed</a:t>
            </a:r>
          </a:p>
          <a:p>
            <a:pPr algn="ctr"/>
            <a:r>
              <a:rPr lang="en-US" sz="3200" dirty="0"/>
              <a:t>For every business model</a:t>
            </a:r>
          </a:p>
        </p:txBody>
      </p:sp>
    </p:spTree>
    <p:extLst>
      <p:ext uri="{BB962C8B-B14F-4D97-AF65-F5344CB8AC3E}">
        <p14:creationId xmlns:p14="http://schemas.microsoft.com/office/powerpoint/2010/main" val="109955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Line 1"/>
          <p:cNvSpPr>
            <a:spLocks noChangeShapeType="1"/>
          </p:cNvSpPr>
          <p:nvPr/>
        </p:nvSpPr>
        <p:spPr bwMode="auto">
          <a:xfrm>
            <a:off x="3136900" y="2822575"/>
            <a:ext cx="6223000" cy="15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0" name="Line 2"/>
          <p:cNvSpPr>
            <a:spLocks noChangeShapeType="1"/>
          </p:cNvSpPr>
          <p:nvPr/>
        </p:nvSpPr>
        <p:spPr bwMode="auto">
          <a:xfrm>
            <a:off x="3136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5110164" y="2822576"/>
            <a:ext cx="1587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9359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7159625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8450263" y="3429000"/>
            <a:ext cx="1744662" cy="4572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b="1" dirty="0">
                <a:solidFill>
                  <a:srgbClr val="FF0000"/>
                </a:solidFill>
                <a:latin typeface="Tahoma" pitchFamily="-32" charset="0"/>
              </a:rPr>
              <a:t>People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V="1">
            <a:off x="6096000" y="2365375"/>
            <a:ext cx="1588" cy="4587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2320226" y="1785937"/>
            <a:ext cx="7554725" cy="5794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sz="3200" b="1" dirty="0">
                <a:solidFill>
                  <a:srgbClr val="000000"/>
                </a:solidFill>
                <a:latin typeface="Tahoma" pitchFamily="-32" charset="0"/>
              </a:rPr>
              <a:t>Mutual Trust and Respect</a:t>
            </a:r>
          </a:p>
        </p:txBody>
      </p:sp>
    </p:spTree>
    <p:extLst>
      <p:ext uri="{BB962C8B-B14F-4D97-AF65-F5344CB8AC3E}">
        <p14:creationId xmlns:p14="http://schemas.microsoft.com/office/powerpoint/2010/main" val="522321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" grpId="0" animBg="1"/>
      <p:bldP spid="32770" grpId="0" animBg="1"/>
      <p:bldP spid="32771" grpId="0" animBg="1"/>
      <p:bldP spid="32772" grpId="0" animBg="1"/>
      <p:bldP spid="32773" grpId="0" animBg="1"/>
      <p:bldP spid="3277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Characteristics of a good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71977" y="1249206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Myriad Pro"/>
              </a:rPr>
              <a:t> </a:t>
            </a:r>
            <a:r>
              <a:rPr lang="en-US" dirty="0">
                <a:solidFill>
                  <a:srgbClr val="000000"/>
                </a:solidFill>
                <a:latin typeface="Myriad Pro"/>
              </a:rPr>
              <a:t>Is Well Rounded (Flexible in Style)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Knows Himself / Herself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Has Balanced View of Self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Accepts Self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Is Aware of Effect on Others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Can Identify Excellence in Others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Respects the Strengths of Others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Can Harness Conflict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Creates a Learning Environment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=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Mature, Well-Balanced Individual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Line 1"/>
          <p:cNvSpPr>
            <a:spLocks noChangeShapeType="1"/>
          </p:cNvSpPr>
          <p:nvPr/>
        </p:nvSpPr>
        <p:spPr bwMode="auto">
          <a:xfrm>
            <a:off x="3136900" y="2822575"/>
            <a:ext cx="6223000" cy="15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0" name="Line 2"/>
          <p:cNvSpPr>
            <a:spLocks noChangeShapeType="1"/>
          </p:cNvSpPr>
          <p:nvPr/>
        </p:nvSpPr>
        <p:spPr bwMode="auto">
          <a:xfrm>
            <a:off x="3136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5110164" y="2822576"/>
            <a:ext cx="1587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9359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7159625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6096001" y="3429000"/>
            <a:ext cx="2049463" cy="4572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b="1" dirty="0">
                <a:solidFill>
                  <a:srgbClr val="FF0000"/>
                </a:solidFill>
                <a:latin typeface="Tahoma" pitchFamily="-32" charset="0"/>
              </a:rPr>
              <a:t>Process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8450263" y="3429000"/>
            <a:ext cx="1744662" cy="4572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b="1" dirty="0">
                <a:solidFill>
                  <a:srgbClr val="000000"/>
                </a:solidFill>
                <a:latin typeface="Tahoma" pitchFamily="-32" charset="0"/>
              </a:rPr>
              <a:t>People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V="1">
            <a:off x="6096000" y="2365375"/>
            <a:ext cx="1588" cy="4587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2320226" y="1785937"/>
            <a:ext cx="7554725" cy="5794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sz="3200" b="1" dirty="0">
                <a:solidFill>
                  <a:srgbClr val="000000"/>
                </a:solidFill>
                <a:latin typeface="Tahoma" pitchFamily="-32" charset="0"/>
              </a:rPr>
              <a:t>Mutual Trust and Respect</a:t>
            </a:r>
          </a:p>
        </p:txBody>
      </p:sp>
    </p:spTree>
    <p:extLst>
      <p:ext uri="{BB962C8B-B14F-4D97-AF65-F5344CB8AC3E}">
        <p14:creationId xmlns:p14="http://schemas.microsoft.com/office/powerpoint/2010/main" val="17233523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/>
          <p:nvPr/>
        </p:nvSpPr>
        <p:spPr>
          <a:xfrm>
            <a:off x="3281083" y="2142932"/>
            <a:ext cx="208877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Defreeze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umul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Deliberate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Incubate</a:t>
            </a:r>
            <a:endParaRPr lang="en-US" sz="2400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Illuminate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ommod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Finalize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infor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4" name="object 3"/>
          <p:cNvSpPr/>
          <p:nvPr/>
        </p:nvSpPr>
        <p:spPr>
          <a:xfrm>
            <a:off x="2514600" y="2057400"/>
            <a:ext cx="990600" cy="3276600"/>
          </a:xfrm>
          <a:custGeom>
            <a:avLst/>
            <a:gdLst/>
            <a:ahLst/>
            <a:cxnLst/>
            <a:rect l="l" t="t" r="r" b="b"/>
            <a:pathLst>
              <a:path w="990600" h="3276600">
                <a:moveTo>
                  <a:pt x="0" y="0"/>
                </a:moveTo>
                <a:lnTo>
                  <a:pt x="990599" y="327659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5105400" y="2133600"/>
            <a:ext cx="1066800" cy="3200400"/>
          </a:xfrm>
          <a:custGeom>
            <a:avLst/>
            <a:gdLst/>
            <a:ahLst/>
            <a:cxnLst/>
            <a:rect l="l" t="t" r="r" b="b"/>
            <a:pathLst>
              <a:path w="1066800" h="3200400">
                <a:moveTo>
                  <a:pt x="1066799" y="0"/>
                </a:moveTo>
                <a:lnTo>
                  <a:pt x="0" y="320039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1992502" y="139233"/>
            <a:ext cx="8675499" cy="1278554"/>
          </a:xfrm>
          <a:prstGeom prst="rect">
            <a:avLst/>
          </a:prstGeom>
        </p:spPr>
        <p:txBody>
          <a:bodyPr vert="horz" wrap="square" lIns="0" tIns="717549" rIns="0" bIns="0" rtlCol="0" anchor="ctr">
            <a:spAutoFit/>
          </a:bodyPr>
          <a:lstStyle/>
          <a:p>
            <a:pPr marL="1534795">
              <a:lnSpc>
                <a:spcPct val="100000"/>
              </a:lnSpc>
            </a:pPr>
            <a:r>
              <a:rPr sz="3600" dirty="0">
                <a:latin typeface="Tahoma"/>
                <a:cs typeface="Tahoma"/>
              </a:rPr>
              <a:t>8 </a:t>
            </a:r>
            <a:r>
              <a:rPr sz="3600" spc="-5" dirty="0">
                <a:latin typeface="Tahoma"/>
                <a:cs typeface="Tahoma"/>
              </a:rPr>
              <a:t>Steps </a:t>
            </a:r>
            <a:r>
              <a:rPr sz="3600" dirty="0">
                <a:latin typeface="Tahoma"/>
                <a:cs typeface="Tahoma"/>
              </a:rPr>
              <a:t>in </a:t>
            </a:r>
            <a:r>
              <a:rPr sz="3600" spc="-5" dirty="0">
                <a:latin typeface="Tahoma"/>
                <a:cs typeface="Tahoma"/>
              </a:rPr>
              <a:t>Decision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Making</a:t>
            </a:r>
          </a:p>
        </p:txBody>
      </p:sp>
      <p:sp>
        <p:nvSpPr>
          <p:cNvPr id="11" name="object 10"/>
          <p:cNvSpPr/>
          <p:nvPr/>
        </p:nvSpPr>
        <p:spPr>
          <a:xfrm>
            <a:off x="6133388" y="2057400"/>
            <a:ext cx="228600" cy="1981200"/>
          </a:xfrm>
          <a:custGeom>
            <a:avLst/>
            <a:gdLst/>
            <a:ahLst/>
            <a:cxnLst/>
            <a:rect l="l" t="t" r="r" b="b"/>
            <a:pathLst>
              <a:path w="228600" h="1981200">
                <a:moveTo>
                  <a:pt x="0" y="0"/>
                </a:moveTo>
                <a:lnTo>
                  <a:pt x="44490" y="1499"/>
                </a:lnTo>
                <a:lnTo>
                  <a:pt x="80822" y="5588"/>
                </a:lnTo>
                <a:lnTo>
                  <a:pt x="105317" y="11652"/>
                </a:lnTo>
                <a:lnTo>
                  <a:pt x="114300" y="19079"/>
                </a:lnTo>
                <a:lnTo>
                  <a:pt x="114300" y="971520"/>
                </a:lnTo>
                <a:lnTo>
                  <a:pt x="123282" y="978946"/>
                </a:lnTo>
                <a:lnTo>
                  <a:pt x="147777" y="985011"/>
                </a:lnTo>
                <a:lnTo>
                  <a:pt x="184109" y="989099"/>
                </a:lnTo>
                <a:lnTo>
                  <a:pt x="228600" y="990599"/>
                </a:lnTo>
                <a:lnTo>
                  <a:pt x="184109" y="992098"/>
                </a:lnTo>
                <a:lnTo>
                  <a:pt x="147777" y="996187"/>
                </a:lnTo>
                <a:lnTo>
                  <a:pt x="123282" y="1002252"/>
                </a:lnTo>
                <a:lnTo>
                  <a:pt x="114300" y="1009679"/>
                </a:lnTo>
                <a:lnTo>
                  <a:pt x="114300" y="1962118"/>
                </a:lnTo>
                <a:lnTo>
                  <a:pt x="105317" y="1969546"/>
                </a:lnTo>
                <a:lnTo>
                  <a:pt x="80822" y="1975611"/>
                </a:lnTo>
                <a:lnTo>
                  <a:pt x="44490" y="1979699"/>
                </a:lnTo>
                <a:lnTo>
                  <a:pt x="0" y="1981198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 txBox="1"/>
          <p:nvPr/>
        </p:nvSpPr>
        <p:spPr>
          <a:xfrm>
            <a:off x="6466129" y="2411578"/>
            <a:ext cx="1109345" cy="111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2400" dirty="0">
                <a:latin typeface="Times New Roman"/>
                <a:cs typeface="Times New Roman"/>
              </a:rPr>
              <a:t>Short  D</a:t>
            </a:r>
            <a:r>
              <a:rPr sz="2400" spc="-5" dirty="0">
                <a:latin typeface="Times New Roman"/>
                <a:cs typeface="Times New Roman"/>
              </a:rPr>
              <a:t>ec</a:t>
            </a:r>
            <a:r>
              <a:rPr sz="2400" dirty="0">
                <a:latin typeface="Times New Roman"/>
                <a:cs typeface="Times New Roman"/>
              </a:rPr>
              <a:t>ision 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6133388" y="4114800"/>
            <a:ext cx="228600" cy="2743200"/>
          </a:xfrm>
          <a:custGeom>
            <a:avLst/>
            <a:gdLst/>
            <a:ahLst/>
            <a:cxnLst/>
            <a:rect l="l" t="t" r="r" b="b"/>
            <a:pathLst>
              <a:path w="228600" h="2743200">
                <a:moveTo>
                  <a:pt x="0" y="0"/>
                </a:moveTo>
                <a:lnTo>
                  <a:pt x="44490" y="1496"/>
                </a:lnTo>
                <a:lnTo>
                  <a:pt x="80822" y="5579"/>
                </a:lnTo>
                <a:lnTo>
                  <a:pt x="105317" y="11634"/>
                </a:lnTo>
                <a:lnTo>
                  <a:pt x="114300" y="19048"/>
                </a:lnTo>
                <a:lnTo>
                  <a:pt x="114300" y="1352548"/>
                </a:lnTo>
                <a:lnTo>
                  <a:pt x="123282" y="1359963"/>
                </a:lnTo>
                <a:lnTo>
                  <a:pt x="147777" y="1366018"/>
                </a:lnTo>
                <a:lnTo>
                  <a:pt x="184109" y="1370101"/>
                </a:lnTo>
                <a:lnTo>
                  <a:pt x="228600" y="1371598"/>
                </a:lnTo>
                <a:lnTo>
                  <a:pt x="184109" y="1373096"/>
                </a:lnTo>
                <a:lnTo>
                  <a:pt x="147777" y="1377178"/>
                </a:lnTo>
                <a:lnTo>
                  <a:pt x="123282" y="1383234"/>
                </a:lnTo>
                <a:lnTo>
                  <a:pt x="114300" y="1390648"/>
                </a:lnTo>
                <a:lnTo>
                  <a:pt x="114300" y="2724147"/>
                </a:lnTo>
                <a:lnTo>
                  <a:pt x="105317" y="2731562"/>
                </a:lnTo>
                <a:lnTo>
                  <a:pt x="80822" y="2737617"/>
                </a:lnTo>
                <a:lnTo>
                  <a:pt x="44490" y="2741700"/>
                </a:lnTo>
                <a:lnTo>
                  <a:pt x="0" y="2743197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 txBox="1"/>
          <p:nvPr/>
        </p:nvSpPr>
        <p:spPr>
          <a:xfrm>
            <a:off x="6593129" y="5303520"/>
            <a:ext cx="131254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dirty="0">
                <a:latin typeface="Times New Roman"/>
                <a:cs typeface="Times New Roman"/>
              </a:rPr>
              <a:t>Long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Imp.</a:t>
            </a:r>
          </a:p>
        </p:txBody>
      </p:sp>
      <p:sp>
        <p:nvSpPr>
          <p:cNvPr id="16" name="object 6"/>
          <p:cNvSpPr/>
          <p:nvPr/>
        </p:nvSpPr>
        <p:spPr>
          <a:xfrm>
            <a:off x="8520018" y="2057400"/>
            <a:ext cx="228600" cy="3124200"/>
          </a:xfrm>
          <a:custGeom>
            <a:avLst/>
            <a:gdLst/>
            <a:ahLst/>
            <a:cxnLst/>
            <a:rect l="l" t="t" r="r" b="b"/>
            <a:pathLst>
              <a:path w="228600" h="3124200">
                <a:moveTo>
                  <a:pt x="0" y="0"/>
                </a:moveTo>
                <a:lnTo>
                  <a:pt x="44490" y="1500"/>
                </a:lnTo>
                <a:lnTo>
                  <a:pt x="80822" y="5592"/>
                </a:lnTo>
                <a:lnTo>
                  <a:pt x="105317" y="11661"/>
                </a:lnTo>
                <a:lnTo>
                  <a:pt x="114299" y="19092"/>
                </a:lnTo>
                <a:lnTo>
                  <a:pt x="114299" y="1543008"/>
                </a:lnTo>
                <a:lnTo>
                  <a:pt x="123282" y="1550438"/>
                </a:lnTo>
                <a:lnTo>
                  <a:pt x="147777" y="1556506"/>
                </a:lnTo>
                <a:lnTo>
                  <a:pt x="184109" y="1560598"/>
                </a:lnTo>
                <a:lnTo>
                  <a:pt x="228599" y="1562098"/>
                </a:lnTo>
                <a:lnTo>
                  <a:pt x="184109" y="1563599"/>
                </a:lnTo>
                <a:lnTo>
                  <a:pt x="147777" y="1567691"/>
                </a:lnTo>
                <a:lnTo>
                  <a:pt x="123282" y="1573759"/>
                </a:lnTo>
                <a:lnTo>
                  <a:pt x="114299" y="1581188"/>
                </a:lnTo>
                <a:lnTo>
                  <a:pt x="114299" y="3105107"/>
                </a:lnTo>
                <a:lnTo>
                  <a:pt x="105317" y="3112537"/>
                </a:lnTo>
                <a:lnTo>
                  <a:pt x="80822" y="3118605"/>
                </a:lnTo>
                <a:lnTo>
                  <a:pt x="44490" y="3122697"/>
                </a:lnTo>
                <a:lnTo>
                  <a:pt x="0" y="3124197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/>
          <p:cNvSpPr/>
          <p:nvPr/>
        </p:nvSpPr>
        <p:spPr>
          <a:xfrm>
            <a:off x="8520018" y="5257800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0" y="0"/>
                </a:moveTo>
                <a:lnTo>
                  <a:pt x="29660" y="997"/>
                </a:lnTo>
                <a:lnTo>
                  <a:pt x="53881" y="3719"/>
                </a:lnTo>
                <a:lnTo>
                  <a:pt x="70211" y="7755"/>
                </a:lnTo>
                <a:lnTo>
                  <a:pt x="76199" y="12699"/>
                </a:lnTo>
                <a:lnTo>
                  <a:pt x="76199" y="215900"/>
                </a:lnTo>
                <a:lnTo>
                  <a:pt x="82188" y="220844"/>
                </a:lnTo>
                <a:lnTo>
                  <a:pt x="98518" y="224880"/>
                </a:lnTo>
                <a:lnTo>
                  <a:pt x="122739" y="227601"/>
                </a:lnTo>
                <a:lnTo>
                  <a:pt x="152399" y="228599"/>
                </a:lnTo>
                <a:lnTo>
                  <a:pt x="122739" y="229597"/>
                </a:lnTo>
                <a:lnTo>
                  <a:pt x="98518" y="232319"/>
                </a:lnTo>
                <a:lnTo>
                  <a:pt x="82188" y="236355"/>
                </a:lnTo>
                <a:lnTo>
                  <a:pt x="76199" y="241298"/>
                </a:lnTo>
                <a:lnTo>
                  <a:pt x="76199" y="444500"/>
                </a:lnTo>
                <a:lnTo>
                  <a:pt x="70211" y="449443"/>
                </a:lnTo>
                <a:lnTo>
                  <a:pt x="53881" y="453479"/>
                </a:lnTo>
                <a:lnTo>
                  <a:pt x="29660" y="456201"/>
                </a:lnTo>
                <a:lnTo>
                  <a:pt x="0" y="457199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8"/>
          <p:cNvSpPr txBox="1"/>
          <p:nvPr/>
        </p:nvSpPr>
        <p:spPr>
          <a:xfrm>
            <a:off x="9005159" y="3325978"/>
            <a:ext cx="1109345" cy="111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2400" dirty="0">
                <a:latin typeface="Times New Roman"/>
                <a:cs typeface="Times New Roman"/>
              </a:rPr>
              <a:t>Long  D</a:t>
            </a:r>
            <a:r>
              <a:rPr sz="2400" spc="-5" dirty="0">
                <a:latin typeface="Times New Roman"/>
                <a:cs typeface="Times New Roman"/>
              </a:rPr>
              <a:t>ec</a:t>
            </a:r>
            <a:r>
              <a:rPr sz="2400" dirty="0">
                <a:latin typeface="Times New Roman"/>
                <a:cs typeface="Times New Roman"/>
              </a:rPr>
              <a:t>ision 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9"/>
          <p:cNvSpPr txBox="1"/>
          <p:nvPr/>
        </p:nvSpPr>
        <p:spPr>
          <a:xfrm>
            <a:off x="8827358" y="5379720"/>
            <a:ext cx="132969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dirty="0">
                <a:latin typeface="Times New Roman"/>
                <a:cs typeface="Times New Roman"/>
              </a:rPr>
              <a:t>Short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Imp.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728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/>
      <p:bldP spid="13" grpId="0" animBg="1"/>
      <p:bldP spid="14" grpId="0"/>
      <p:bldP spid="16" grpId="0" animBg="1"/>
      <p:bldP spid="17" grpId="0" animBg="1"/>
      <p:bldP spid="18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/>
          <p:nvPr/>
        </p:nvSpPr>
        <p:spPr>
          <a:xfrm>
            <a:off x="72064" y="2125679"/>
            <a:ext cx="208877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Defreeze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umul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Deliberate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Incubate</a:t>
            </a:r>
            <a:endParaRPr lang="en-US" sz="2400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Illuminate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ommod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Finalize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infor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1992502" y="-412855"/>
            <a:ext cx="8675499" cy="1278554"/>
          </a:xfrm>
          <a:prstGeom prst="rect">
            <a:avLst/>
          </a:prstGeom>
        </p:spPr>
        <p:txBody>
          <a:bodyPr vert="horz" wrap="square" lIns="0" tIns="717549" rIns="0" bIns="0" rtlCol="0" anchor="ctr">
            <a:spAutoFit/>
          </a:bodyPr>
          <a:lstStyle/>
          <a:p>
            <a:pPr marL="1534795">
              <a:lnSpc>
                <a:spcPct val="100000"/>
              </a:lnSpc>
            </a:pPr>
            <a:r>
              <a:rPr lang="en-US" sz="3600" dirty="0">
                <a:latin typeface="Tahoma"/>
                <a:cs typeface="Tahoma"/>
              </a:rPr>
              <a:t>Types of </a:t>
            </a:r>
            <a:r>
              <a:rPr sz="3600" spc="-5" dirty="0">
                <a:latin typeface="Tahoma"/>
                <a:cs typeface="Tahoma"/>
              </a:rPr>
              <a:t>Decision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Making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86386" y="1271135"/>
            <a:ext cx="1838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Problem 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7246" y="1271135"/>
            <a:ext cx="1838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Task 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Identification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06" y="1271135"/>
            <a:ext cx="13276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Criteria 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7609" y="1271135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Solution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6122" y="1271135"/>
            <a:ext cx="21291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Implementation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7127" y="1271135"/>
            <a:ext cx="1874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latin typeface="Times New Roman"/>
                <a:cs typeface="Times New Roman"/>
              </a:rPr>
              <a:t>Reinforcment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404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20" grpId="0"/>
      <p:bldP spid="21" grpId="0"/>
      <p:bldP spid="22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7E38E-DDCB-407B-92EC-B18CF1BCF0DC}"/>
              </a:ext>
            </a:extLst>
          </p:cNvPr>
          <p:cNvSpPr txBox="1"/>
          <p:nvPr/>
        </p:nvSpPr>
        <p:spPr>
          <a:xfrm>
            <a:off x="1274729" y="1349188"/>
            <a:ext cx="9626161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Thank You!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Next week </a:t>
            </a:r>
            <a:r>
              <a:rPr lang="lv-LV" sz="3200" dirty="0"/>
              <a:t>article</a:t>
            </a:r>
          </a:p>
          <a:p>
            <a:pPr algn="ctr"/>
            <a:endParaRPr lang="en-US" sz="3200" dirty="0"/>
          </a:p>
          <a:p>
            <a:pPr algn="ctr"/>
            <a:r>
              <a:rPr lang="lv-LV" sz="2400" u="sng" dirty="0">
                <a:hlinkClick r:id="rId2"/>
              </a:rPr>
              <a:t>http://www.fastcompany.com/41088/i-can-only-compete-through-my-crew</a:t>
            </a:r>
            <a:endParaRPr lang="en-US" sz="2400" dirty="0"/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7482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1809</Words>
  <Application>Microsoft Office PowerPoint</Application>
  <PresentationFormat>Widescreen</PresentationFormat>
  <Paragraphs>484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Arial Narrow</vt:lpstr>
      <vt:lpstr>Calibri</vt:lpstr>
      <vt:lpstr>Calibri Light</vt:lpstr>
      <vt:lpstr>inherit</vt:lpstr>
      <vt:lpstr>Myriad Pro</vt:lpstr>
      <vt:lpstr>Tahoma</vt:lpstr>
      <vt:lpstr>Times New Roman</vt:lpstr>
      <vt:lpstr>Wingdings</vt:lpstr>
      <vt:lpstr>Office Theme</vt:lpstr>
      <vt:lpstr>Growing Incredible Managers:   </vt:lpstr>
      <vt:lpstr>Appex Case Discussion</vt:lpstr>
      <vt:lpstr>PowerPoint Presentation</vt:lpstr>
      <vt:lpstr>PowerPoint Presentation</vt:lpstr>
      <vt:lpstr>PowerPoint Presentation</vt:lpstr>
      <vt:lpstr>Source of corporate success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Characteristics of a good manager</vt:lpstr>
      <vt:lpstr>PowerPoint Presentation</vt:lpstr>
      <vt:lpstr>8 Steps in Decision Making</vt:lpstr>
      <vt:lpstr>Types of Decision Making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Growing Incredible Managers:</dc:title>
  <dc:creator>Greg Mathers</dc:creator>
  <cp:lastModifiedBy>Greg Mathers</cp:lastModifiedBy>
  <cp:revision>56</cp:revision>
  <cp:lastPrinted>2019-06-27T09:23:07Z</cp:lastPrinted>
  <dcterms:created xsi:type="dcterms:W3CDTF">2019-05-30T13:31:17Z</dcterms:created>
  <dcterms:modified xsi:type="dcterms:W3CDTF">2019-07-08T13:05:44Z</dcterms:modified>
</cp:coreProperties>
</file>