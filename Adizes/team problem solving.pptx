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1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59110-9B50-4BB9-B3D4-20045802A5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CCA0D6-F923-41EF-93B9-EA4BA57CF2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625FC-E151-4D35-A036-253AE9370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AA228-39C4-4603-B7AE-D63898B26E4E}" type="datetimeFigureOut">
              <a:rPr lang="en-US" smtClean="0"/>
              <a:t>6/18/2019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181B1-C586-4502-B9AC-2B3B24392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A2F42-B496-4E55-B188-9E8EBE2E9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B4EF-88AE-4598-BBF1-94D58AC40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0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409F5-92B7-42F7-9C72-4D12F1D2C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3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1FB0F-267F-4D2E-B7CD-9C01FBB59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AECC7-4698-45E2-AAC7-68B3AA138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AA228-39C4-4603-B7AE-D63898B26E4E}" type="datetimeFigureOut">
              <a:rPr lang="en-US" smtClean="0"/>
              <a:t>6/18/2019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349C0-A4E4-4B4E-A31E-7B3428BFB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AF172-8CC1-4001-895A-8DC8A9E27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B4EF-88AE-4598-BBF1-94D58AC40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43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DDC8C-FB9B-421A-86BF-3CAB2EE50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85EBB7-31C1-413A-A920-F65F7FF30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2A643-9386-4B64-BB6F-E8CF22017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AA228-39C4-4603-B7AE-D63898B26E4E}" type="datetimeFigureOut">
              <a:rPr lang="en-US" smtClean="0"/>
              <a:t>6/18/2019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A959A-56EB-498B-86A9-FE6FFD286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AC106-C901-4548-9D47-0BA27F552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B4EF-88AE-4598-BBF1-94D58AC40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447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1706A-6E9A-4D15-8438-3731AE684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4690C-DFB0-43FE-AA4C-27ECB6AD14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2A4624-95EC-4369-ADC2-38F5E8C5D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17BF29-27E5-472E-A801-9B72E9AAB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AA228-39C4-4603-B7AE-D63898B26E4E}" type="datetimeFigureOut">
              <a:rPr lang="en-US" smtClean="0"/>
              <a:t>6/18/2019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7E0E38-1045-4EEA-A8F1-E59B1FAF2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3F60B6-DF89-4571-9972-91168090A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B4EF-88AE-4598-BBF1-94D58AC40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EC36A-3269-4C0D-B015-6C3108A76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010C3-A4C8-4532-B445-BC5FCF5F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DF8DEF-64B2-46AE-98A9-27A46422A9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8A20AE-951B-4ADB-91C4-E4E4D94D5A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2F7E91-910A-4B37-8876-0D04C72695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0EA182-2537-4A8F-AE31-C7AB29DC6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AA228-39C4-4603-B7AE-D63898B26E4E}" type="datetimeFigureOut">
              <a:rPr lang="en-US" smtClean="0"/>
              <a:t>6/18/2019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3DE70C-B90C-4938-BD97-E6A06DD1A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E045F1-D14E-4CBA-A9E9-9CE54059D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B4EF-88AE-4598-BBF1-94D58AC40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100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F7D9E-93A5-484A-890B-073371FC2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5CC44C-CEA5-41D8-9163-482249D6C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AA228-39C4-4603-B7AE-D63898B26E4E}" type="datetimeFigureOut">
              <a:rPr lang="en-US" smtClean="0"/>
              <a:t>6/18/2019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91E44A-D100-4B10-B182-098D596BB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16955F-F11F-4349-A152-972C7ACA8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B4EF-88AE-4598-BBF1-94D58AC40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73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47067B-2D0A-4CF2-9360-3BF29BFED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AA228-39C4-4603-B7AE-D63898B26E4E}" type="datetimeFigureOut">
              <a:rPr lang="en-US" smtClean="0"/>
              <a:t>6/18/2019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1C781B-95AB-4087-9426-F46B1CE8C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EC933-C79C-4F83-B0B5-03C423722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B4EF-88AE-4598-BBF1-94D58AC40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456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1C0D4-8ACD-4663-BE41-821DC2675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60C21-8230-4352-A039-2356ACDB1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5D8D49-588D-4191-A31F-1E34ECEBFA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645D44-0224-43E6-967B-F04040EAA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AA228-39C4-4603-B7AE-D63898B26E4E}" type="datetimeFigureOut">
              <a:rPr lang="en-US" smtClean="0"/>
              <a:t>6/18/2019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594381-AED9-48AC-91B8-2DD2C4CC3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EB55A5-C4C2-4AE4-8F0A-680DCDF45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B4EF-88AE-4598-BBF1-94D58AC40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338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865DF-4B21-4135-BE3F-B0B458C93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AC90D3-5DCA-4092-9B89-CBB0C76FFF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41C3F8-BE01-4740-B4F8-C47E54DD1C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8E0A7E-8923-4FDF-9B09-E946C8146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AA228-39C4-4603-B7AE-D63898B26E4E}" type="datetimeFigureOut">
              <a:rPr lang="en-US" smtClean="0"/>
              <a:t>6/18/2019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9A1ED2-1530-470B-BBEF-518560ED3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76F35-18BD-4B9C-AEE0-8497AC1D3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B4EF-88AE-4598-BBF1-94D58AC40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40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513C7-DBF2-4AD7-BBC9-73E14DCDA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D61124-BC4C-4CE8-9B53-7BDAE5E03D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1319D-FA25-43D1-A668-81E1B7BF5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AA228-39C4-4603-B7AE-D63898B26E4E}" type="datetimeFigureOut">
              <a:rPr lang="en-US" smtClean="0"/>
              <a:t>6/18/2019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FD226-AEE0-4EA7-B583-C2A511A60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35C3C-A246-4EAE-9E49-C181F98E6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B4EF-88AE-4598-BBF1-94D58AC40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540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9E1F46-5F95-4B66-ABDD-FCDC065A29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5E5775-228A-49B5-BDED-EAACA32BEB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B1542-0217-42C6-90F7-5C68F8F56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AA228-39C4-4603-B7AE-D63898B26E4E}" type="datetimeFigureOut">
              <a:rPr lang="en-US" smtClean="0"/>
              <a:t>6/18/2019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3468C-3116-44F5-B73D-F7B0AD32F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7FB5-3D62-47F2-8A6C-985327BC6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B4EF-88AE-4598-BBF1-94D58AC40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71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7007999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9AA79E-02AE-44B1-9FCF-4D63CB062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8025D-73E8-47C0-96E9-40F9DCF51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11FC0-47B6-4FCD-9358-513278D3E4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3AA228-39C4-4603-B7AE-D63898B26E4E}" type="datetimeFigureOut">
              <a:rPr lang="en-US" smtClean="0"/>
              <a:t>6/18/2019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AEEE1-8294-4E10-86A9-011B5C7DF7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A420D-7426-42C4-B023-C708A93DE6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CB4EF-88AE-4598-BBF1-94D58AC4025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 descr="Image result for mailigen logo">
            <a:extLst>
              <a:ext uri="{FF2B5EF4-FFF2-40B4-BE49-F238E27FC236}">
                <a16:creationId xmlns:a16="http://schemas.microsoft.com/office/drawing/2014/main" id="{98957279-AF11-4406-8466-C3DC5CC7D6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765" y="-57439"/>
            <a:ext cx="1580648" cy="1185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813AF0AB-29A0-49E4-B6A6-0CD94BF3908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072467" y="6569075"/>
            <a:ext cx="4064000" cy="274638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  <a:effectLst/>
        </p:spPr>
        <p:txBody>
          <a:bodyPr lIns="90000" tIns="55584" rIns="90000" bIns="45000">
            <a:prstTxWarp prst="textNoShape">
              <a:avLst/>
            </a:prstTxWarp>
          </a:bodyPr>
          <a:lstStyle/>
          <a:p>
            <a:pPr algn="ctr" hangingPunct="0">
              <a:lnSpc>
                <a:spcPct val="93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pitchFamily="84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US" sz="1200" dirty="0">
                <a:solidFill>
                  <a:srgbClr val="000000"/>
                </a:solidFill>
              </a:rPr>
              <a:t>©Adizes Institute 2019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974BD5-2C8A-4265-B4D5-C9367498EF6E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694173" y="6176857"/>
            <a:ext cx="1598652" cy="5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768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3"/>
          <p:cNvSpPr>
            <a:spLocks noChangeArrowheads="1"/>
          </p:cNvSpPr>
          <p:nvPr/>
        </p:nvSpPr>
        <p:spPr bwMode="auto">
          <a:xfrm>
            <a:off x="3261455" y="919807"/>
            <a:ext cx="598420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endParaRPr lang="en-US" altLang="lv-LV"/>
          </a:p>
          <a:p>
            <a:endParaRPr lang="en-US" altLang="lv-LV"/>
          </a:p>
          <a:p>
            <a:endParaRPr lang="en-US" altLang="lv-LV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454051" y="1821507"/>
            <a:ext cx="132202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lv-LV" sz="2400"/>
              <a:t>Defreeze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5269380" y="2345382"/>
            <a:ext cx="17572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lv-LV" sz="2400"/>
              <a:t>Accumulate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5370510" y="2869257"/>
            <a:ext cx="15504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lv-LV" sz="2400"/>
              <a:t>Deliberate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5480432" y="3393132"/>
            <a:ext cx="13484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lv-LV" sz="2400"/>
              <a:t>Incubate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5377837" y="3918594"/>
            <a:ext cx="15520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lv-LV" sz="2400"/>
              <a:t>Illuminate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5116954" y="4442469"/>
            <a:ext cx="20649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lv-LV" sz="2400"/>
              <a:t>Accommodate</a:t>
            </a: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5512677" y="4966344"/>
            <a:ext cx="12250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lv-LV" sz="2400"/>
              <a:t>Finalize</a:t>
            </a: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5404219" y="5491807"/>
            <a:ext cx="14598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lv-LV" sz="2400"/>
              <a:t>Reinforce</a:t>
            </a:r>
          </a:p>
        </p:txBody>
      </p:sp>
      <p:sp>
        <p:nvSpPr>
          <p:cNvPr id="174092" name="Line 11"/>
          <p:cNvSpPr>
            <a:spLocks noChangeShapeType="1"/>
          </p:cNvSpPr>
          <p:nvPr/>
        </p:nvSpPr>
        <p:spPr bwMode="auto">
          <a:xfrm>
            <a:off x="3720200" y="1780230"/>
            <a:ext cx="1651775" cy="4330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lv-LV"/>
          </a:p>
        </p:txBody>
      </p:sp>
      <p:sp>
        <p:nvSpPr>
          <p:cNvPr id="174093" name="Line 12"/>
          <p:cNvSpPr>
            <a:spLocks noChangeShapeType="1"/>
          </p:cNvSpPr>
          <p:nvPr/>
        </p:nvSpPr>
        <p:spPr bwMode="auto">
          <a:xfrm flipH="1">
            <a:off x="6795111" y="1780230"/>
            <a:ext cx="1650310" cy="4330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lv-LV"/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1943846" y="1224605"/>
            <a:ext cx="35468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lv-LV" sz="2400">
                <a:solidFill>
                  <a:srgbClr val="FF0066"/>
                </a:solidFill>
              </a:rPr>
              <a:t>P</a:t>
            </a:r>
          </a:p>
        </p:txBody>
      </p:sp>
      <p:cxnSp>
        <p:nvCxnSpPr>
          <p:cNvPr id="16" name="AutoShape 14"/>
          <p:cNvCxnSpPr>
            <a:cxnSpLocks noChangeShapeType="1"/>
            <a:stCxn id="15" idx="2"/>
            <a:endCxn id="11" idx="1"/>
          </p:cNvCxnSpPr>
          <p:nvPr/>
        </p:nvCxnSpPr>
        <p:spPr bwMode="auto">
          <a:xfrm rot="16200000" flipH="1">
            <a:off x="2059248" y="1743746"/>
            <a:ext cx="3515371" cy="3391488"/>
          </a:xfrm>
          <a:prstGeom prst="bentConnector2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1943846" y="1224605"/>
            <a:ext cx="35468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lv-LV" sz="2400">
                <a:solidFill>
                  <a:srgbClr val="FF0066"/>
                </a:solidFill>
              </a:rPr>
              <a:t>A</a:t>
            </a:r>
          </a:p>
        </p:txBody>
      </p:sp>
      <p:cxnSp>
        <p:nvCxnSpPr>
          <p:cNvPr id="18" name="AutoShape 16"/>
          <p:cNvCxnSpPr>
            <a:cxnSpLocks noChangeShapeType="1"/>
            <a:stCxn id="17" idx="2"/>
            <a:endCxn id="6" idx="0"/>
          </p:cNvCxnSpPr>
          <p:nvPr/>
        </p:nvCxnSpPr>
        <p:spPr bwMode="auto">
          <a:xfrm rot="16200000" flipH="1">
            <a:off x="3802799" y="194"/>
            <a:ext cx="663576" cy="4026798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AutoShape 17"/>
          <p:cNvCxnSpPr>
            <a:cxnSpLocks noChangeShapeType="1"/>
            <a:stCxn id="6" idx="3"/>
            <a:endCxn id="7" idx="3"/>
          </p:cNvCxnSpPr>
          <p:nvPr/>
        </p:nvCxnSpPr>
        <p:spPr bwMode="auto">
          <a:xfrm flipH="1">
            <a:off x="6920934" y="2576215"/>
            <a:ext cx="105658" cy="523875"/>
          </a:xfrm>
          <a:prstGeom prst="bentConnector3">
            <a:avLst>
              <a:gd name="adj1" fmla="val -216358"/>
            </a:avLst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AutoShape 18"/>
          <p:cNvCxnSpPr>
            <a:cxnSpLocks noChangeShapeType="1"/>
            <a:stCxn id="7" idx="1"/>
            <a:endCxn id="6" idx="1"/>
          </p:cNvCxnSpPr>
          <p:nvPr/>
        </p:nvCxnSpPr>
        <p:spPr bwMode="auto">
          <a:xfrm rot="10800000">
            <a:off x="5269380" y="2576216"/>
            <a:ext cx="101130" cy="523875"/>
          </a:xfrm>
          <a:prstGeom prst="bentConnector3">
            <a:avLst>
              <a:gd name="adj1" fmla="val 326046"/>
            </a:avLst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1943846" y="1224605"/>
            <a:ext cx="35468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lv-LV" sz="2400">
                <a:solidFill>
                  <a:srgbClr val="FF0066"/>
                </a:solidFill>
              </a:rPr>
              <a:t>E</a:t>
            </a:r>
          </a:p>
        </p:txBody>
      </p:sp>
      <p:cxnSp>
        <p:nvCxnSpPr>
          <p:cNvPr id="22" name="AutoShape 20"/>
          <p:cNvCxnSpPr>
            <a:cxnSpLocks noChangeShapeType="1"/>
            <a:stCxn id="21" idx="2"/>
            <a:endCxn id="9" idx="1"/>
          </p:cNvCxnSpPr>
          <p:nvPr/>
        </p:nvCxnSpPr>
        <p:spPr bwMode="auto">
          <a:xfrm rot="16200000" flipH="1">
            <a:off x="2515703" y="1287291"/>
            <a:ext cx="2467621" cy="3256649"/>
          </a:xfrm>
          <a:prstGeom prst="bentConnector2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1943846" y="1224605"/>
            <a:ext cx="35468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lv-LV" sz="2400">
                <a:solidFill>
                  <a:srgbClr val="FF0066"/>
                </a:solidFill>
              </a:rPr>
              <a:t>I</a:t>
            </a:r>
          </a:p>
        </p:txBody>
      </p:sp>
      <p:cxnSp>
        <p:nvCxnSpPr>
          <p:cNvPr id="24" name="AutoShape 22"/>
          <p:cNvCxnSpPr>
            <a:cxnSpLocks noChangeShapeType="1"/>
            <a:stCxn id="23" idx="2"/>
            <a:endCxn id="10" idx="0"/>
          </p:cNvCxnSpPr>
          <p:nvPr/>
        </p:nvCxnSpPr>
        <p:spPr bwMode="auto">
          <a:xfrm rot="16200000" flipH="1">
            <a:off x="2754988" y="1048006"/>
            <a:ext cx="2760663" cy="4028260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3"/>
          <p:cNvCxnSpPr>
            <a:cxnSpLocks noChangeShapeType="1"/>
            <a:stCxn id="10" idx="3"/>
            <a:endCxn id="10" idx="1"/>
          </p:cNvCxnSpPr>
          <p:nvPr/>
        </p:nvCxnSpPr>
        <p:spPr bwMode="auto">
          <a:xfrm flipH="1">
            <a:off x="5116954" y="4673301"/>
            <a:ext cx="2064989" cy="12700"/>
          </a:xfrm>
          <a:prstGeom prst="bentConnector5">
            <a:avLst>
              <a:gd name="adj1" fmla="val -11070"/>
              <a:gd name="adj2" fmla="val 3617583"/>
              <a:gd name="adj3" fmla="val 111070"/>
            </a:avLst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Box 24"/>
          <p:cNvSpPr txBox="1">
            <a:spLocks noChangeArrowheads="1"/>
          </p:cNvSpPr>
          <p:nvPr/>
        </p:nvSpPr>
        <p:spPr bwMode="auto">
          <a:xfrm>
            <a:off x="8027714" y="4442468"/>
            <a:ext cx="35468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lv-LV" sz="2400">
                <a:solidFill>
                  <a:srgbClr val="FF0066"/>
                </a:solidFill>
              </a:rPr>
              <a:t>I</a:t>
            </a:r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8015988" y="3918593"/>
            <a:ext cx="353219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lv-LV" sz="2400">
                <a:solidFill>
                  <a:srgbClr val="FF0066"/>
                </a:solidFill>
              </a:rPr>
              <a:t>E</a:t>
            </a:r>
          </a:p>
        </p:txBody>
      </p:sp>
      <p:sp>
        <p:nvSpPr>
          <p:cNvPr id="28" name="Text Box 26"/>
          <p:cNvSpPr txBox="1">
            <a:spLocks noChangeArrowheads="1"/>
          </p:cNvSpPr>
          <p:nvPr/>
        </p:nvSpPr>
        <p:spPr bwMode="auto">
          <a:xfrm>
            <a:off x="8040905" y="4966343"/>
            <a:ext cx="35468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lv-LV" sz="2400">
                <a:solidFill>
                  <a:srgbClr val="FF0066"/>
                </a:solidFill>
              </a:rPr>
              <a:t>P</a:t>
            </a:r>
          </a:p>
        </p:txBody>
      </p:sp>
      <p:sp>
        <p:nvSpPr>
          <p:cNvPr id="29" name="Text Box 27"/>
          <p:cNvSpPr txBox="1">
            <a:spLocks noChangeArrowheads="1"/>
          </p:cNvSpPr>
          <p:nvPr/>
        </p:nvSpPr>
        <p:spPr bwMode="auto">
          <a:xfrm>
            <a:off x="7989607" y="2558105"/>
            <a:ext cx="35468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lv-LV" sz="2400">
                <a:solidFill>
                  <a:srgbClr val="FF0066"/>
                </a:solidFill>
              </a:rPr>
              <a:t>A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AE905356-F56F-44A6-82F7-D358AFC8500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Making Better Decisions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4519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5" grpId="0"/>
      <p:bldP spid="17" grpId="0"/>
      <p:bldP spid="21" grpId="0"/>
      <p:bldP spid="23" grpId="0"/>
      <p:bldP spid="26" grpId="0"/>
      <p:bldP spid="27" grpId="0"/>
      <p:bldP spid="28" grpId="0"/>
      <p:bldP spid="2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179E8-366A-4882-8C84-CAFF2C3B4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/>
              <a:t>Team Problem-Solving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9855CD-3F3C-475A-9CB4-5A0892EA8AA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lv-LV" dirty="0"/>
              <a:t>Problem Identification</a:t>
            </a:r>
          </a:p>
          <a:p>
            <a:pPr lvl="1"/>
            <a:r>
              <a:rPr lang="lv-LV" dirty="0"/>
              <a:t>Start with this when you don’t have a specific operational problem</a:t>
            </a:r>
          </a:p>
          <a:p>
            <a:pPr lvl="1"/>
            <a:endParaRPr lang="lv-LV" dirty="0"/>
          </a:p>
          <a:p>
            <a:pPr lvl="1"/>
            <a:endParaRPr lang="lv-LV" dirty="0"/>
          </a:p>
          <a:p>
            <a:pPr marL="514350" indent="-514350">
              <a:buFont typeface="+mj-lt"/>
              <a:buAutoNum type="arabicPeriod"/>
            </a:pPr>
            <a:r>
              <a:rPr lang="lv-LV" dirty="0"/>
              <a:t>Task Identification</a:t>
            </a:r>
          </a:p>
          <a:p>
            <a:pPr lvl="1"/>
            <a:r>
              <a:rPr lang="lv-LV" dirty="0"/>
              <a:t>Move to here with each PIP you identify in problem identification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DECBFB-03F3-415F-A3B0-63212F67454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lv-LV" dirty="0"/>
              <a:t>What PIPs if we address will relieve the bigger Pattern?</a:t>
            </a:r>
          </a:p>
          <a:p>
            <a:pPr lvl="1"/>
            <a:r>
              <a:rPr lang="lv-LV" dirty="0"/>
              <a:t>Create list of PIPs</a:t>
            </a:r>
          </a:p>
          <a:p>
            <a:endParaRPr lang="lv-LV" dirty="0"/>
          </a:p>
          <a:p>
            <a:endParaRPr lang="lv-LV" dirty="0"/>
          </a:p>
          <a:p>
            <a:r>
              <a:rPr lang="lv-LV" dirty="0"/>
              <a:t>What can be done to PIP?</a:t>
            </a:r>
          </a:p>
          <a:p>
            <a:pPr lvl="1"/>
            <a:r>
              <a:rPr lang="lv-LV" dirty="0"/>
              <a:t>Create list of tasks for each PIP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46A0163-9BCC-4A4B-AB98-60F3BFE67BB4}"/>
              </a:ext>
            </a:extLst>
          </p:cNvPr>
          <p:cNvCxnSpPr/>
          <p:nvPr/>
        </p:nvCxnSpPr>
        <p:spPr>
          <a:xfrm>
            <a:off x="883405" y="3673098"/>
            <a:ext cx="101048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8272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179E8-366A-4882-8C84-CAFF2C3B4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/>
              <a:t>Team Problem-Solving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9855CD-3F3C-475A-9CB4-5A0892EA8AA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lv-LV" dirty="0"/>
              <a:t>Criteria selection</a:t>
            </a:r>
          </a:p>
          <a:p>
            <a:pPr lvl="1"/>
            <a:r>
              <a:rPr lang="lv-LV" dirty="0"/>
              <a:t>Move to here to develop criteria for a solution to each PIP</a:t>
            </a:r>
          </a:p>
          <a:p>
            <a:pPr lvl="1"/>
            <a:endParaRPr lang="lv-LV" dirty="0"/>
          </a:p>
          <a:p>
            <a:pPr lvl="1"/>
            <a:endParaRPr lang="lv-LV" dirty="0"/>
          </a:p>
          <a:p>
            <a:pPr marL="514350" indent="-514350">
              <a:buFont typeface="+mj-lt"/>
              <a:buAutoNum type="arabicPeriod" startAt="3"/>
            </a:pPr>
            <a:r>
              <a:rPr lang="lv-LV" dirty="0"/>
              <a:t>Solution Identification</a:t>
            </a:r>
          </a:p>
          <a:p>
            <a:pPr lvl="1"/>
            <a:r>
              <a:rPr lang="lv-LV" dirty="0"/>
              <a:t>Move here to create a solution for each task.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DECBFB-03F3-415F-A3B0-63212F67454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lv-LV" dirty="0"/>
              <a:t>A good task will include . . .</a:t>
            </a:r>
          </a:p>
          <a:p>
            <a:pPr lvl="1"/>
            <a:r>
              <a:rPr lang="lv-LV" dirty="0"/>
              <a:t>Create a list of need to criteria</a:t>
            </a:r>
          </a:p>
          <a:p>
            <a:endParaRPr lang="lv-LV" dirty="0"/>
          </a:p>
          <a:p>
            <a:endParaRPr lang="lv-LV" dirty="0"/>
          </a:p>
          <a:p>
            <a:r>
              <a:rPr lang="lv-LV" dirty="0"/>
              <a:t>A good solution to the task that meets our need to criteria is . . .</a:t>
            </a:r>
          </a:p>
          <a:p>
            <a:pPr lvl="1"/>
            <a:r>
              <a:rPr lang="lv-LV" dirty="0"/>
              <a:t>You will have multiple solutions if you have multiple tasks to solve a problem</a:t>
            </a:r>
            <a:endParaRPr lang="en-US" dirty="0"/>
          </a:p>
          <a:p>
            <a:pPr lvl="1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46A0163-9BCC-4A4B-AB98-60F3BFE67BB4}"/>
              </a:ext>
            </a:extLst>
          </p:cNvPr>
          <p:cNvCxnSpPr/>
          <p:nvPr/>
        </p:nvCxnSpPr>
        <p:spPr>
          <a:xfrm>
            <a:off x="883405" y="3456123"/>
            <a:ext cx="101048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0925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179E8-366A-4882-8C84-CAFF2C3B4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/>
              <a:t>Team Problem-Solving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9855CD-3F3C-475A-9CB4-5A0892EA8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5"/>
            </a:pPr>
            <a:r>
              <a:rPr lang="lv-LV" dirty="0"/>
              <a:t>Implementation Planning</a:t>
            </a:r>
          </a:p>
          <a:p>
            <a:pPr lvl="1"/>
            <a:r>
              <a:rPr lang="lv-LV" dirty="0"/>
              <a:t>Create PAEI plans for each solutions</a:t>
            </a:r>
          </a:p>
          <a:p>
            <a:pPr lvl="1"/>
            <a:endParaRPr lang="lv-LV" dirty="0"/>
          </a:p>
          <a:p>
            <a:pPr lvl="1"/>
            <a:endParaRPr lang="lv-LV" dirty="0"/>
          </a:p>
          <a:p>
            <a:pPr lvl="1"/>
            <a:endParaRPr lang="lv-LV" dirty="0"/>
          </a:p>
          <a:p>
            <a:pPr marL="514350" indent="-514350">
              <a:buFont typeface="+mj-lt"/>
              <a:buAutoNum type="arabicPeriod" startAt="6"/>
            </a:pPr>
            <a:r>
              <a:rPr lang="lv-LV" dirty="0"/>
              <a:t>Contingency planning</a:t>
            </a:r>
          </a:p>
          <a:p>
            <a:pPr lvl="1"/>
            <a:r>
              <a:rPr lang="lv-LV" dirty="0"/>
              <a:t>What could possibly go wrong and what to do about it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46A0163-9BCC-4A4B-AB98-60F3BFE67BB4}"/>
              </a:ext>
            </a:extLst>
          </p:cNvPr>
          <p:cNvCxnSpPr/>
          <p:nvPr/>
        </p:nvCxnSpPr>
        <p:spPr>
          <a:xfrm>
            <a:off x="883405" y="3502619"/>
            <a:ext cx="101048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273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172</Words>
  <Application>Microsoft Office PowerPoint</Application>
  <PresentationFormat>Widescreen</PresentationFormat>
  <Paragraphs>52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MS PGothic</vt:lpstr>
      <vt:lpstr>Arial</vt:lpstr>
      <vt:lpstr>Calibri</vt:lpstr>
      <vt:lpstr>Calibri Light</vt:lpstr>
      <vt:lpstr>Tahoma</vt:lpstr>
      <vt:lpstr>Times New Roman</vt:lpstr>
      <vt:lpstr>Office Theme</vt:lpstr>
      <vt:lpstr>PowerPoint Presentation</vt:lpstr>
      <vt:lpstr>Team Problem-Solving</vt:lpstr>
      <vt:lpstr>Team Problem-Solving</vt:lpstr>
      <vt:lpstr>Team Problem-Solving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Problem-Solving</dc:title>
  <dc:creator>Greg Mathers</dc:creator>
  <cp:lastModifiedBy>Gregory Scott Mathers</cp:lastModifiedBy>
  <cp:revision>6</cp:revision>
  <dcterms:created xsi:type="dcterms:W3CDTF">2019-06-16T17:37:09Z</dcterms:created>
  <dcterms:modified xsi:type="dcterms:W3CDTF">2019-06-18T09:44:57Z</dcterms:modified>
</cp:coreProperties>
</file>