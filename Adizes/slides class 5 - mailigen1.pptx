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57" r:id="rId3"/>
    <p:sldId id="258" r:id="rId4"/>
    <p:sldId id="354" r:id="rId5"/>
    <p:sldId id="332" r:id="rId6"/>
    <p:sldId id="347" r:id="rId7"/>
    <p:sldId id="349" r:id="rId8"/>
    <p:sldId id="348" r:id="rId9"/>
    <p:sldId id="356" r:id="rId10"/>
    <p:sldId id="350" r:id="rId11"/>
    <p:sldId id="333" r:id="rId12"/>
    <p:sldId id="334" r:id="rId13"/>
    <p:sldId id="353" r:id="rId14"/>
    <p:sldId id="319" r:id="rId15"/>
    <p:sldId id="343" r:id="rId16"/>
    <p:sldId id="355" r:id="rId17"/>
    <p:sldId id="335" r:id="rId18"/>
    <p:sldId id="336" r:id="rId19"/>
    <p:sldId id="340" r:id="rId20"/>
    <p:sldId id="341" r:id="rId21"/>
    <p:sldId id="342" r:id="rId22"/>
    <p:sldId id="337" r:id="rId23"/>
    <p:sldId id="338" r:id="rId24"/>
    <p:sldId id="339" r:id="rId25"/>
    <p:sldId id="266" r:id="rId26"/>
    <p:sldId id="267" r:id="rId27"/>
    <p:sldId id="352" r:id="rId28"/>
    <p:sldId id="384" r:id="rId29"/>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307763CF-8EEC-4E9E-804A-A3E4A8A7D11F}" type="datetimeFigureOut">
              <a:rPr lang="en-US" smtClean="0"/>
              <a:t>27-Jun-19</a:t>
            </a:fld>
            <a:endParaRPr 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7DB05D69-EBDC-4833-908C-FF30DEADB2A1}" type="slidenum">
              <a:rPr lang="en-US" smtClean="0"/>
              <a:t>‹#›</a:t>
            </a:fld>
            <a:endParaRPr lang="en-US"/>
          </a:p>
        </p:txBody>
      </p:sp>
    </p:spTree>
    <p:extLst>
      <p:ext uri="{BB962C8B-B14F-4D97-AF65-F5344CB8AC3E}">
        <p14:creationId xmlns:p14="http://schemas.microsoft.com/office/powerpoint/2010/main" val="29496454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CF9AE1E3-CE9F-46DC-B08F-FC1766280897}" type="datetimeFigureOut">
              <a:rPr lang="en-US" smtClean="0"/>
              <a:t>27-Jun-19</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5ED7879B-59DB-4E3A-9432-66587A0E08EF}" type="slidenum">
              <a:rPr lang="en-US" smtClean="0"/>
              <a:t>‹#›</a:t>
            </a:fld>
            <a:endParaRPr lang="en-US"/>
          </a:p>
        </p:txBody>
      </p:sp>
    </p:spTree>
    <p:extLst>
      <p:ext uri="{BB962C8B-B14F-4D97-AF65-F5344CB8AC3E}">
        <p14:creationId xmlns:p14="http://schemas.microsoft.com/office/powerpoint/2010/main" val="24469857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5906" name="Rectangle 6"/>
          <p:cNvSpPr>
            <a:spLocks noGrp="1" noChangeArrowheads="1"/>
          </p:cNvSpPr>
          <p:nvPr>
            <p:ph type="sldNum" sz="quarter"/>
          </p:nvPr>
        </p:nvSpPr>
        <p:spPr>
          <a:noFill/>
        </p:spPr>
        <p:txBody>
          <a:bodyPr/>
          <a:lstStyle/>
          <a:p>
            <a:pPr>
              <a:buFont typeface="Times New Roman" pitchFamily="-32" charset="0"/>
              <a:buNone/>
            </a:pPr>
            <a:fld id="{0D1A05C4-4B23-4E67-AC37-BE4D26D7177B}" type="slidenum">
              <a:rPr lang="en-US">
                <a:latin typeface="Times New Roman" pitchFamily="-32" charset="0"/>
                <a:ea typeface="Arial Unicode MS" pitchFamily="-32" charset="0"/>
                <a:cs typeface="Arial Unicode MS" pitchFamily="-32" charset="0"/>
              </a:rPr>
              <a:pPr>
                <a:buFont typeface="Times New Roman" pitchFamily="-32" charset="0"/>
                <a:buNone/>
              </a:pPr>
              <a:t>5</a:t>
            </a:fld>
            <a:endParaRPr lang="en-US">
              <a:latin typeface="Times New Roman" pitchFamily="-32" charset="0"/>
              <a:ea typeface="Arial Unicode MS" pitchFamily="-32" charset="0"/>
              <a:cs typeface="Arial Unicode MS" pitchFamily="-32" charset="0"/>
            </a:endParaRPr>
          </a:p>
        </p:txBody>
      </p:sp>
      <p:sp>
        <p:nvSpPr>
          <p:cNvPr id="635907" name="Placeholder 1"/>
          <p:cNvSpPr txBox="1">
            <a:spLocks noGrp="1" noRot="1" noChangeAspect="1" noChangeArrowheads="1"/>
          </p:cNvSpPr>
          <p:nvPr>
            <p:ph type="sldImg"/>
          </p:nvPr>
        </p:nvSpPr>
        <p:spPr>
          <a:xfrm>
            <a:off x="0" y="0"/>
            <a:ext cx="1588" cy="1588"/>
          </a:xfrm>
          <a:solidFill>
            <a:srgbClr val="FFFFFF"/>
          </a:solidFill>
          <a:ln>
            <a:solidFill>
              <a:srgbClr val="000000"/>
            </a:solidFill>
            <a:miter lim="800000"/>
          </a:ln>
        </p:spPr>
      </p:sp>
      <p:sp>
        <p:nvSpPr>
          <p:cNvPr id="635908" name="Placeholder 2"/>
          <p:cNvSpPr txBox="1">
            <a:spLocks noGrp="1" noChangeArrowheads="1"/>
          </p:cNvSpPr>
          <p:nvPr>
            <p:ph type="body" idx="1"/>
          </p:nvPr>
        </p:nvSpPr>
        <p:spPr>
          <a:xfrm>
            <a:off x="0" y="0"/>
            <a:ext cx="1588" cy="1588"/>
          </a:xfrm>
          <a:noFill/>
          <a:ln>
            <a:solidFill>
              <a:srgbClr val="000000"/>
            </a:solidFill>
          </a:ln>
        </p:spPr>
        <p:txBody>
          <a:bodyPr wrap="none" anchor="ctr"/>
          <a:lstStyle/>
          <a:p>
            <a:endParaRPr lang="en-US">
              <a:latin typeface="Times New Roman" pitchFamily="-32" charset="0"/>
            </a:endParaRPr>
          </a:p>
        </p:txBody>
      </p:sp>
      <p:sp>
        <p:nvSpPr>
          <p:cNvPr id="635909" name="Text Box 3"/>
          <p:cNvSpPr txBox="1">
            <a:spLocks noChangeArrowheads="1"/>
          </p:cNvSpPr>
          <p:nvPr/>
        </p:nvSpPr>
        <p:spPr bwMode="auto">
          <a:xfrm>
            <a:off x="0" y="0"/>
            <a:ext cx="1588" cy="1588"/>
          </a:xfrm>
          <a:prstGeom prst="rect">
            <a:avLst/>
          </a:prstGeom>
          <a:noFill/>
          <a:ln w="9525">
            <a:solidFill>
              <a:srgbClr val="000000"/>
            </a:solidFill>
            <a:miter lim="800000"/>
            <a:headEnd/>
            <a:tailEnd/>
          </a:ln>
        </p:spPr>
        <p:txBody>
          <a:bodyPr lIns="90000" tIns="66168" rIns="90000" bIns="45000" anchor="b">
            <a:prstTxWarp prst="textNoShape">
              <a:avLst/>
            </a:prstTxWarp>
          </a:bodyPr>
          <a:lstStyle/>
          <a:p>
            <a:pPr hangingPunct="0">
              <a:lnSpc>
                <a:spcPct val="93000"/>
              </a:lnSpc>
              <a:buClr>
                <a:srgbClr val="000000"/>
              </a:buClr>
              <a:buSzPct val="100000"/>
              <a:buFont typeface="Times New Roman" pitchFamily="-32" charset="0"/>
              <a:buNone/>
            </a:pPr>
            <a:fld id="{831DFAD3-B836-44B1-9543-8F405A1D5D38}" type="slidenum">
              <a:rPr lang="en-US">
                <a:solidFill>
                  <a:srgbClr val="000000"/>
                </a:solidFill>
              </a:rPr>
              <a:pPr hangingPunct="0">
                <a:lnSpc>
                  <a:spcPct val="93000"/>
                </a:lnSpc>
                <a:buClr>
                  <a:srgbClr val="000000"/>
                </a:buClr>
                <a:buSzPct val="100000"/>
                <a:buFont typeface="Times New Roman" pitchFamily="-32" charset="0"/>
                <a:buNone/>
              </a:pPr>
              <a:t>5</a:t>
            </a:fld>
            <a:fld id="{9E8C416F-9D47-4D04-AD3B-C224ED15532B}" type="slidenum">
              <a:rPr lang="en-US">
                <a:solidFill>
                  <a:srgbClr val="000000"/>
                </a:solidFill>
              </a:rPr>
              <a:pPr hangingPunct="0">
                <a:lnSpc>
                  <a:spcPct val="93000"/>
                </a:lnSpc>
                <a:buClr>
                  <a:srgbClr val="000000"/>
                </a:buClr>
                <a:buSzPct val="100000"/>
                <a:buFont typeface="Times New Roman" pitchFamily="-32" charset="0"/>
                <a:buNone/>
              </a:pPr>
              <a:t>5</a:t>
            </a:fld>
            <a:endParaRPr lang="en-US">
              <a:solidFill>
                <a:srgbClr val="000000"/>
              </a:solidFill>
            </a:endParaRPr>
          </a:p>
        </p:txBody>
      </p:sp>
    </p:spTree>
    <p:extLst>
      <p:ext uri="{BB962C8B-B14F-4D97-AF65-F5344CB8AC3E}">
        <p14:creationId xmlns:p14="http://schemas.microsoft.com/office/powerpoint/2010/main" val="3307711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5906" name="Rectangle 6"/>
          <p:cNvSpPr>
            <a:spLocks noGrp="1" noChangeArrowheads="1"/>
          </p:cNvSpPr>
          <p:nvPr>
            <p:ph type="sldNum" sz="quarter"/>
          </p:nvPr>
        </p:nvSpPr>
        <p:spPr>
          <a:noFill/>
        </p:spPr>
        <p:txBody>
          <a:bodyPr/>
          <a:lstStyle/>
          <a:p>
            <a:pPr>
              <a:buFont typeface="Times New Roman" pitchFamily="-32" charset="0"/>
              <a:buNone/>
            </a:pPr>
            <a:fld id="{0D1A05C4-4B23-4E67-AC37-BE4D26D7177B}" type="slidenum">
              <a:rPr lang="en-US">
                <a:latin typeface="Times New Roman" pitchFamily="-32" charset="0"/>
                <a:ea typeface="Arial Unicode MS" pitchFamily="-32" charset="0"/>
                <a:cs typeface="Arial Unicode MS" pitchFamily="-32" charset="0"/>
              </a:rPr>
              <a:pPr>
                <a:buFont typeface="Times New Roman" pitchFamily="-32" charset="0"/>
                <a:buNone/>
              </a:pPr>
              <a:t>7</a:t>
            </a:fld>
            <a:endParaRPr lang="en-US">
              <a:latin typeface="Times New Roman" pitchFamily="-32" charset="0"/>
              <a:ea typeface="Arial Unicode MS" pitchFamily="-32" charset="0"/>
              <a:cs typeface="Arial Unicode MS" pitchFamily="-32" charset="0"/>
            </a:endParaRPr>
          </a:p>
        </p:txBody>
      </p:sp>
      <p:sp>
        <p:nvSpPr>
          <p:cNvPr id="635907" name="Placeholder 1"/>
          <p:cNvSpPr txBox="1">
            <a:spLocks noGrp="1" noRot="1" noChangeAspect="1" noChangeArrowheads="1"/>
          </p:cNvSpPr>
          <p:nvPr>
            <p:ph type="sldImg"/>
          </p:nvPr>
        </p:nvSpPr>
        <p:spPr>
          <a:xfrm>
            <a:off x="0" y="0"/>
            <a:ext cx="1588" cy="1588"/>
          </a:xfrm>
          <a:solidFill>
            <a:srgbClr val="FFFFFF"/>
          </a:solidFill>
          <a:ln>
            <a:solidFill>
              <a:srgbClr val="000000"/>
            </a:solidFill>
            <a:miter lim="800000"/>
          </a:ln>
        </p:spPr>
      </p:sp>
      <p:sp>
        <p:nvSpPr>
          <p:cNvPr id="635908" name="Placeholder 2"/>
          <p:cNvSpPr txBox="1">
            <a:spLocks noGrp="1" noChangeArrowheads="1"/>
          </p:cNvSpPr>
          <p:nvPr>
            <p:ph type="body" idx="1"/>
          </p:nvPr>
        </p:nvSpPr>
        <p:spPr>
          <a:xfrm>
            <a:off x="0" y="0"/>
            <a:ext cx="1588" cy="1588"/>
          </a:xfrm>
          <a:noFill/>
          <a:ln>
            <a:solidFill>
              <a:srgbClr val="000000"/>
            </a:solidFill>
          </a:ln>
        </p:spPr>
        <p:txBody>
          <a:bodyPr wrap="none" anchor="ctr"/>
          <a:lstStyle/>
          <a:p>
            <a:endParaRPr lang="en-US">
              <a:latin typeface="Times New Roman" pitchFamily="-32" charset="0"/>
            </a:endParaRPr>
          </a:p>
        </p:txBody>
      </p:sp>
      <p:sp>
        <p:nvSpPr>
          <p:cNvPr id="635909" name="Text Box 3"/>
          <p:cNvSpPr txBox="1">
            <a:spLocks noChangeArrowheads="1"/>
          </p:cNvSpPr>
          <p:nvPr/>
        </p:nvSpPr>
        <p:spPr bwMode="auto">
          <a:xfrm>
            <a:off x="0" y="0"/>
            <a:ext cx="1588" cy="1588"/>
          </a:xfrm>
          <a:prstGeom prst="rect">
            <a:avLst/>
          </a:prstGeom>
          <a:noFill/>
          <a:ln w="9525">
            <a:solidFill>
              <a:srgbClr val="000000"/>
            </a:solidFill>
            <a:miter lim="800000"/>
            <a:headEnd/>
            <a:tailEnd/>
          </a:ln>
        </p:spPr>
        <p:txBody>
          <a:bodyPr lIns="90000" tIns="66168" rIns="90000" bIns="45000" anchor="b">
            <a:prstTxWarp prst="textNoShape">
              <a:avLst/>
            </a:prstTxWarp>
          </a:bodyPr>
          <a:lstStyle/>
          <a:p>
            <a:pPr hangingPunct="0">
              <a:lnSpc>
                <a:spcPct val="93000"/>
              </a:lnSpc>
              <a:buClr>
                <a:srgbClr val="000000"/>
              </a:buClr>
              <a:buSzPct val="100000"/>
              <a:buFont typeface="Times New Roman" pitchFamily="-32" charset="0"/>
              <a:buNone/>
            </a:pPr>
            <a:fld id="{831DFAD3-B836-44B1-9543-8F405A1D5D38}" type="slidenum">
              <a:rPr lang="en-US">
                <a:solidFill>
                  <a:srgbClr val="000000"/>
                </a:solidFill>
              </a:rPr>
              <a:pPr hangingPunct="0">
                <a:lnSpc>
                  <a:spcPct val="93000"/>
                </a:lnSpc>
                <a:buClr>
                  <a:srgbClr val="000000"/>
                </a:buClr>
                <a:buSzPct val="100000"/>
                <a:buFont typeface="Times New Roman" pitchFamily="-32" charset="0"/>
                <a:buNone/>
              </a:pPr>
              <a:t>7</a:t>
            </a:fld>
            <a:fld id="{9E8C416F-9D47-4D04-AD3B-C224ED15532B}" type="slidenum">
              <a:rPr lang="en-US">
                <a:solidFill>
                  <a:srgbClr val="000000"/>
                </a:solidFill>
              </a:rPr>
              <a:pPr hangingPunct="0">
                <a:lnSpc>
                  <a:spcPct val="93000"/>
                </a:lnSpc>
                <a:buClr>
                  <a:srgbClr val="000000"/>
                </a:buClr>
                <a:buSzPct val="100000"/>
                <a:buFont typeface="Times New Roman" pitchFamily="-32" charset="0"/>
                <a:buNone/>
              </a:pPr>
              <a:t>7</a:t>
            </a:fld>
            <a:endParaRPr lang="en-US">
              <a:solidFill>
                <a:srgbClr val="000000"/>
              </a:solidFill>
            </a:endParaRPr>
          </a:p>
        </p:txBody>
      </p:sp>
    </p:spTree>
    <p:extLst>
      <p:ext uri="{BB962C8B-B14F-4D97-AF65-F5344CB8AC3E}">
        <p14:creationId xmlns:p14="http://schemas.microsoft.com/office/powerpoint/2010/main" val="2138489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5906" name="Rectangle 6"/>
          <p:cNvSpPr>
            <a:spLocks noGrp="1" noChangeArrowheads="1"/>
          </p:cNvSpPr>
          <p:nvPr>
            <p:ph type="sldNum" sz="quarter"/>
          </p:nvPr>
        </p:nvSpPr>
        <p:spPr>
          <a:noFill/>
        </p:spPr>
        <p:txBody>
          <a:bodyPr/>
          <a:lstStyle/>
          <a:p>
            <a:pPr>
              <a:buFont typeface="Times New Roman" pitchFamily="-32" charset="0"/>
              <a:buNone/>
            </a:pPr>
            <a:fld id="{0D1A05C4-4B23-4E67-AC37-BE4D26D7177B}" type="slidenum">
              <a:rPr lang="en-US">
                <a:latin typeface="Times New Roman" pitchFamily="-32" charset="0"/>
                <a:ea typeface="Arial Unicode MS" pitchFamily="-32" charset="0"/>
                <a:cs typeface="Arial Unicode MS" pitchFamily="-32" charset="0"/>
              </a:rPr>
              <a:pPr>
                <a:buFont typeface="Times New Roman" pitchFamily="-32" charset="0"/>
                <a:buNone/>
              </a:pPr>
              <a:t>10</a:t>
            </a:fld>
            <a:endParaRPr lang="en-US">
              <a:latin typeface="Times New Roman" pitchFamily="-32" charset="0"/>
              <a:ea typeface="Arial Unicode MS" pitchFamily="-32" charset="0"/>
              <a:cs typeface="Arial Unicode MS" pitchFamily="-32" charset="0"/>
            </a:endParaRPr>
          </a:p>
        </p:txBody>
      </p:sp>
      <p:sp>
        <p:nvSpPr>
          <p:cNvPr id="635907" name="Placeholder 1"/>
          <p:cNvSpPr txBox="1">
            <a:spLocks noGrp="1" noRot="1" noChangeAspect="1" noChangeArrowheads="1"/>
          </p:cNvSpPr>
          <p:nvPr>
            <p:ph type="sldImg"/>
          </p:nvPr>
        </p:nvSpPr>
        <p:spPr>
          <a:xfrm>
            <a:off x="0" y="0"/>
            <a:ext cx="1588" cy="1588"/>
          </a:xfrm>
          <a:solidFill>
            <a:srgbClr val="FFFFFF"/>
          </a:solidFill>
          <a:ln>
            <a:solidFill>
              <a:srgbClr val="000000"/>
            </a:solidFill>
            <a:miter lim="800000"/>
          </a:ln>
        </p:spPr>
      </p:sp>
      <p:sp>
        <p:nvSpPr>
          <p:cNvPr id="635908" name="Placeholder 2"/>
          <p:cNvSpPr txBox="1">
            <a:spLocks noGrp="1" noChangeArrowheads="1"/>
          </p:cNvSpPr>
          <p:nvPr>
            <p:ph type="body" idx="1"/>
          </p:nvPr>
        </p:nvSpPr>
        <p:spPr>
          <a:xfrm>
            <a:off x="0" y="0"/>
            <a:ext cx="1588" cy="1588"/>
          </a:xfrm>
          <a:noFill/>
          <a:ln>
            <a:solidFill>
              <a:srgbClr val="000000"/>
            </a:solidFill>
          </a:ln>
        </p:spPr>
        <p:txBody>
          <a:bodyPr wrap="none" anchor="ctr"/>
          <a:lstStyle/>
          <a:p>
            <a:endParaRPr lang="en-US">
              <a:latin typeface="Times New Roman" pitchFamily="-32" charset="0"/>
            </a:endParaRPr>
          </a:p>
        </p:txBody>
      </p:sp>
      <p:sp>
        <p:nvSpPr>
          <p:cNvPr id="635909" name="Text Box 3"/>
          <p:cNvSpPr txBox="1">
            <a:spLocks noChangeArrowheads="1"/>
          </p:cNvSpPr>
          <p:nvPr/>
        </p:nvSpPr>
        <p:spPr bwMode="auto">
          <a:xfrm>
            <a:off x="0" y="0"/>
            <a:ext cx="1588" cy="1588"/>
          </a:xfrm>
          <a:prstGeom prst="rect">
            <a:avLst/>
          </a:prstGeom>
          <a:noFill/>
          <a:ln w="9525">
            <a:solidFill>
              <a:srgbClr val="000000"/>
            </a:solidFill>
            <a:miter lim="800000"/>
            <a:headEnd/>
            <a:tailEnd/>
          </a:ln>
        </p:spPr>
        <p:txBody>
          <a:bodyPr lIns="90000" tIns="66168" rIns="90000" bIns="45000" anchor="b">
            <a:prstTxWarp prst="textNoShape">
              <a:avLst/>
            </a:prstTxWarp>
          </a:bodyPr>
          <a:lstStyle/>
          <a:p>
            <a:pPr hangingPunct="0">
              <a:lnSpc>
                <a:spcPct val="93000"/>
              </a:lnSpc>
              <a:buClr>
                <a:srgbClr val="000000"/>
              </a:buClr>
              <a:buSzPct val="100000"/>
              <a:buFont typeface="Times New Roman" pitchFamily="-32" charset="0"/>
              <a:buNone/>
            </a:pPr>
            <a:fld id="{831DFAD3-B836-44B1-9543-8F405A1D5D38}" type="slidenum">
              <a:rPr lang="en-US">
                <a:solidFill>
                  <a:srgbClr val="000000"/>
                </a:solidFill>
              </a:rPr>
              <a:pPr hangingPunct="0">
                <a:lnSpc>
                  <a:spcPct val="93000"/>
                </a:lnSpc>
                <a:buClr>
                  <a:srgbClr val="000000"/>
                </a:buClr>
                <a:buSzPct val="100000"/>
                <a:buFont typeface="Times New Roman" pitchFamily="-32" charset="0"/>
                <a:buNone/>
              </a:pPr>
              <a:t>10</a:t>
            </a:fld>
            <a:fld id="{9E8C416F-9D47-4D04-AD3B-C224ED15532B}" type="slidenum">
              <a:rPr lang="en-US">
                <a:solidFill>
                  <a:srgbClr val="000000"/>
                </a:solidFill>
              </a:rPr>
              <a:pPr hangingPunct="0">
                <a:lnSpc>
                  <a:spcPct val="93000"/>
                </a:lnSpc>
                <a:buClr>
                  <a:srgbClr val="000000"/>
                </a:buClr>
                <a:buSzPct val="100000"/>
                <a:buFont typeface="Times New Roman" pitchFamily="-32" charset="0"/>
                <a:buNone/>
              </a:pPr>
              <a:t>10</a:t>
            </a:fld>
            <a:endParaRPr lang="en-US">
              <a:solidFill>
                <a:srgbClr val="000000"/>
              </a:solidFill>
            </a:endParaRPr>
          </a:p>
        </p:txBody>
      </p:sp>
    </p:spTree>
    <p:extLst>
      <p:ext uri="{BB962C8B-B14F-4D97-AF65-F5344CB8AC3E}">
        <p14:creationId xmlns:p14="http://schemas.microsoft.com/office/powerpoint/2010/main" val="2409876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5906" name="Rectangle 6"/>
          <p:cNvSpPr>
            <a:spLocks noGrp="1" noChangeArrowheads="1"/>
          </p:cNvSpPr>
          <p:nvPr>
            <p:ph type="sldNum" sz="quarter"/>
          </p:nvPr>
        </p:nvSpPr>
        <p:spPr>
          <a:noFill/>
        </p:spPr>
        <p:txBody>
          <a:bodyPr/>
          <a:lstStyle/>
          <a:p>
            <a:pPr>
              <a:buFont typeface="Times New Roman" pitchFamily="-32" charset="0"/>
              <a:buNone/>
            </a:pPr>
            <a:fld id="{0D1A05C4-4B23-4E67-AC37-BE4D26D7177B}" type="slidenum">
              <a:rPr lang="en-US">
                <a:latin typeface="Times New Roman" pitchFamily="-32" charset="0"/>
                <a:ea typeface="Arial Unicode MS" pitchFamily="-32" charset="0"/>
                <a:cs typeface="Arial Unicode MS" pitchFamily="-32" charset="0"/>
              </a:rPr>
              <a:pPr>
                <a:buFont typeface="Times New Roman" pitchFamily="-32" charset="0"/>
                <a:buNone/>
              </a:pPr>
              <a:t>27</a:t>
            </a:fld>
            <a:endParaRPr lang="en-US">
              <a:latin typeface="Times New Roman" pitchFamily="-32" charset="0"/>
              <a:ea typeface="Arial Unicode MS" pitchFamily="-32" charset="0"/>
              <a:cs typeface="Arial Unicode MS" pitchFamily="-32" charset="0"/>
            </a:endParaRPr>
          </a:p>
        </p:txBody>
      </p:sp>
      <p:sp>
        <p:nvSpPr>
          <p:cNvPr id="635907" name="Placeholder 1"/>
          <p:cNvSpPr txBox="1">
            <a:spLocks noGrp="1" noRot="1" noChangeAspect="1" noChangeArrowheads="1"/>
          </p:cNvSpPr>
          <p:nvPr>
            <p:ph type="sldImg"/>
          </p:nvPr>
        </p:nvSpPr>
        <p:spPr>
          <a:xfrm>
            <a:off x="0" y="0"/>
            <a:ext cx="1588" cy="1588"/>
          </a:xfrm>
          <a:solidFill>
            <a:srgbClr val="FFFFFF"/>
          </a:solidFill>
          <a:ln>
            <a:solidFill>
              <a:srgbClr val="000000"/>
            </a:solidFill>
            <a:miter lim="800000"/>
          </a:ln>
        </p:spPr>
      </p:sp>
      <p:sp>
        <p:nvSpPr>
          <p:cNvPr id="635908" name="Placeholder 2"/>
          <p:cNvSpPr txBox="1">
            <a:spLocks noGrp="1" noChangeArrowheads="1"/>
          </p:cNvSpPr>
          <p:nvPr>
            <p:ph type="body" idx="1"/>
          </p:nvPr>
        </p:nvSpPr>
        <p:spPr>
          <a:xfrm>
            <a:off x="0" y="0"/>
            <a:ext cx="1588" cy="1588"/>
          </a:xfrm>
          <a:noFill/>
          <a:ln>
            <a:solidFill>
              <a:srgbClr val="000000"/>
            </a:solidFill>
          </a:ln>
        </p:spPr>
        <p:txBody>
          <a:bodyPr wrap="none" anchor="ctr"/>
          <a:lstStyle/>
          <a:p>
            <a:endParaRPr lang="en-US">
              <a:latin typeface="Times New Roman" pitchFamily="-32" charset="0"/>
            </a:endParaRPr>
          </a:p>
        </p:txBody>
      </p:sp>
      <p:sp>
        <p:nvSpPr>
          <p:cNvPr id="635909" name="Text Box 3"/>
          <p:cNvSpPr txBox="1">
            <a:spLocks noChangeArrowheads="1"/>
          </p:cNvSpPr>
          <p:nvPr/>
        </p:nvSpPr>
        <p:spPr bwMode="auto">
          <a:xfrm>
            <a:off x="0" y="0"/>
            <a:ext cx="1588" cy="1588"/>
          </a:xfrm>
          <a:prstGeom prst="rect">
            <a:avLst/>
          </a:prstGeom>
          <a:noFill/>
          <a:ln w="9525">
            <a:solidFill>
              <a:srgbClr val="000000"/>
            </a:solidFill>
            <a:miter lim="800000"/>
            <a:headEnd/>
            <a:tailEnd/>
          </a:ln>
        </p:spPr>
        <p:txBody>
          <a:bodyPr lIns="90000" tIns="66168" rIns="90000" bIns="45000" anchor="b">
            <a:prstTxWarp prst="textNoShape">
              <a:avLst/>
            </a:prstTxWarp>
          </a:bodyPr>
          <a:lstStyle/>
          <a:p>
            <a:pPr hangingPunct="0">
              <a:lnSpc>
                <a:spcPct val="93000"/>
              </a:lnSpc>
              <a:buClr>
                <a:srgbClr val="000000"/>
              </a:buClr>
              <a:buSzPct val="100000"/>
              <a:buFont typeface="Times New Roman" pitchFamily="-32" charset="0"/>
              <a:buNone/>
            </a:pPr>
            <a:fld id="{831DFAD3-B836-44B1-9543-8F405A1D5D38}" type="slidenum">
              <a:rPr lang="en-US">
                <a:solidFill>
                  <a:srgbClr val="000000"/>
                </a:solidFill>
              </a:rPr>
              <a:pPr hangingPunct="0">
                <a:lnSpc>
                  <a:spcPct val="93000"/>
                </a:lnSpc>
                <a:buClr>
                  <a:srgbClr val="000000"/>
                </a:buClr>
                <a:buSzPct val="100000"/>
                <a:buFont typeface="Times New Roman" pitchFamily="-32" charset="0"/>
                <a:buNone/>
              </a:pPr>
              <a:t>27</a:t>
            </a:fld>
            <a:fld id="{9E8C416F-9D47-4D04-AD3B-C224ED15532B}" type="slidenum">
              <a:rPr lang="en-US">
                <a:solidFill>
                  <a:srgbClr val="000000"/>
                </a:solidFill>
              </a:rPr>
              <a:pPr hangingPunct="0">
                <a:lnSpc>
                  <a:spcPct val="93000"/>
                </a:lnSpc>
                <a:buClr>
                  <a:srgbClr val="000000"/>
                </a:buClr>
                <a:buSzPct val="100000"/>
                <a:buFont typeface="Times New Roman" pitchFamily="-32" charset="0"/>
                <a:buNone/>
              </a:pPr>
              <a:t>27</a:t>
            </a:fld>
            <a:endParaRPr lang="en-US">
              <a:solidFill>
                <a:srgbClr val="000000"/>
              </a:solidFill>
            </a:endParaRPr>
          </a:p>
        </p:txBody>
      </p:sp>
    </p:spTree>
    <p:extLst>
      <p:ext uri="{BB962C8B-B14F-4D97-AF65-F5344CB8AC3E}">
        <p14:creationId xmlns:p14="http://schemas.microsoft.com/office/powerpoint/2010/main" val="4171187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77F5-4244-4F7A-BBE8-97878006CB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905871-FB3E-481F-A31B-C91AE9123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9028EE-7E1D-403E-B22D-EE8AB47649E8}"/>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5" name="Footer Placeholder 4">
            <a:extLst>
              <a:ext uri="{FF2B5EF4-FFF2-40B4-BE49-F238E27FC236}">
                <a16:creationId xmlns:a16="http://schemas.microsoft.com/office/drawing/2014/main" id="{0739A6B1-30C0-41BF-AA03-441FCAF281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B83D0-617E-44AA-9E7B-56679ADAC604}"/>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22371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AA3A-102D-44F8-860E-06D6CF00D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0C2CA5-FB60-428F-AEF5-D1311D6A8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154EC1-56C6-41AB-B1D6-2D73B6308788}"/>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5" name="Footer Placeholder 4">
            <a:extLst>
              <a:ext uri="{FF2B5EF4-FFF2-40B4-BE49-F238E27FC236}">
                <a16:creationId xmlns:a16="http://schemas.microsoft.com/office/drawing/2014/main" id="{4A29BBE2-B067-4FE2-8804-4FE1172635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13B6C-D790-4675-9EDE-43CAB69F9C6E}"/>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166714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76E4-1EB5-4480-996E-E6806433A1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3F6CEA-03D9-458A-942C-889F7D4E20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B19384-A8C6-4523-ABED-3FCD7FE18E1A}"/>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5" name="Footer Placeholder 4">
            <a:extLst>
              <a:ext uri="{FF2B5EF4-FFF2-40B4-BE49-F238E27FC236}">
                <a16:creationId xmlns:a16="http://schemas.microsoft.com/office/drawing/2014/main" id="{162853B3-6034-4156-B209-9E70AEBCF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4945-AAE7-4CE6-99C5-024024423B31}"/>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360229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CF750-2072-4E6D-B31A-3A82ED34C3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E44B60-B835-485D-9BA0-63197D9692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E99CCD-0D13-4CE6-B555-32018F273A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931E1-ED62-4002-83C2-B0FB5DCAD666}"/>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6" name="Footer Placeholder 5">
            <a:extLst>
              <a:ext uri="{FF2B5EF4-FFF2-40B4-BE49-F238E27FC236}">
                <a16:creationId xmlns:a16="http://schemas.microsoft.com/office/drawing/2014/main" id="{1798F1C6-D4D7-414F-BE43-B2AA0E5583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ECCB8-A5B6-4233-B3E7-0CCC27D90109}"/>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0836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E35F-EAA2-4B26-8799-171BE4C758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2A14C3-A582-4EEF-953A-393CDD806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45CAC9-070F-4241-AD2F-B6193CE055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3074F1-5694-4C84-88D8-6F8D1D544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503C2-5AA8-400B-A83D-1BAC022B3D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40B6EF-0686-4D08-8C7B-9F2407E9A131}"/>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8" name="Footer Placeholder 7">
            <a:extLst>
              <a:ext uri="{FF2B5EF4-FFF2-40B4-BE49-F238E27FC236}">
                <a16:creationId xmlns:a16="http://schemas.microsoft.com/office/drawing/2014/main" id="{4D0E99E9-F48C-44F9-9947-1BEE6D79B6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C246FE-327E-484B-BBE6-398463CEC9B3}"/>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09922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3152-77EE-4010-BB91-ED2D06690A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C39C7D-3B70-4C51-89D9-4E7198ECAC22}"/>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4" name="Footer Placeholder 3">
            <a:extLst>
              <a:ext uri="{FF2B5EF4-FFF2-40B4-BE49-F238E27FC236}">
                <a16:creationId xmlns:a16="http://schemas.microsoft.com/office/drawing/2014/main" id="{4CF9857D-FFAE-4CCC-88AF-8272DF9AE2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019231-646E-49E6-A541-601AF920E0B6}"/>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85037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A65375-F8E6-41D1-BF8A-C3A153E82263}"/>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3" name="Footer Placeholder 2">
            <a:extLst>
              <a:ext uri="{FF2B5EF4-FFF2-40B4-BE49-F238E27FC236}">
                <a16:creationId xmlns:a16="http://schemas.microsoft.com/office/drawing/2014/main" id="{978B92A6-90CC-4224-A639-E0C41B8982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1650A-EA59-4A11-AFE0-70529B7664B2}"/>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604612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A7FBD-E610-4C33-8F0D-D9B22E622F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5F0BDE-DD2C-428C-9E15-09E056C0FE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715841-DB8B-4EAB-9435-82567B628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BDCA8-098C-402C-966F-F4774FCBD203}"/>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6" name="Footer Placeholder 5">
            <a:extLst>
              <a:ext uri="{FF2B5EF4-FFF2-40B4-BE49-F238E27FC236}">
                <a16:creationId xmlns:a16="http://schemas.microsoft.com/office/drawing/2014/main" id="{2BABFFBC-AF8F-44EA-80F6-0F25A63072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EFAF33-D4A3-46E4-A1D2-DD2930CD906D}"/>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4241145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1C1D-9801-4329-AB9C-4A6C9BC4C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E36158-4071-4452-B232-FB682379D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98FA33-2B5D-4F83-844D-C87741F62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861B6-B57E-48FF-8110-8E0A32E7995E}"/>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6" name="Footer Placeholder 5">
            <a:extLst>
              <a:ext uri="{FF2B5EF4-FFF2-40B4-BE49-F238E27FC236}">
                <a16:creationId xmlns:a16="http://schemas.microsoft.com/office/drawing/2014/main" id="{D11D3E17-44D7-4982-A79D-D7B1852E5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6F2079-68FC-42BF-8BB2-C2A32D36D3A8}"/>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969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15FB-02F2-49D2-85B7-0A5261915A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1FC434-6A2F-44CD-9F04-AB0D246C8F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FA849-2DD5-42EB-A2A6-41A2F8DB4674}"/>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5" name="Footer Placeholder 4">
            <a:extLst>
              <a:ext uri="{FF2B5EF4-FFF2-40B4-BE49-F238E27FC236}">
                <a16:creationId xmlns:a16="http://schemas.microsoft.com/office/drawing/2014/main" id="{3E9D5F79-978D-4944-A40E-7402FBFF0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27133-1FF0-4AC4-B645-A783C0AC9E4E}"/>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2729052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F560FB-2EE9-44DC-9CA3-6AF21A9E5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4E2C0B-E8FF-4835-96EC-5909A33415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29D359-93D5-4182-928B-F0CAB5BF261C}"/>
              </a:ext>
            </a:extLst>
          </p:cNvPr>
          <p:cNvSpPr>
            <a:spLocks noGrp="1"/>
          </p:cNvSpPr>
          <p:nvPr>
            <p:ph type="dt" sz="half" idx="10"/>
          </p:nvPr>
        </p:nvSpPr>
        <p:spPr/>
        <p:txBody>
          <a:bodyPr/>
          <a:lstStyle/>
          <a:p>
            <a:fld id="{05F2EE67-6EB2-4BBF-AE84-CE583B8012D9}" type="datetimeFigureOut">
              <a:rPr lang="en-US" smtClean="0"/>
              <a:t>27-Jun-19</a:t>
            </a:fld>
            <a:endParaRPr lang="en-US"/>
          </a:p>
        </p:txBody>
      </p:sp>
      <p:sp>
        <p:nvSpPr>
          <p:cNvPr id="5" name="Footer Placeholder 4">
            <a:extLst>
              <a:ext uri="{FF2B5EF4-FFF2-40B4-BE49-F238E27FC236}">
                <a16:creationId xmlns:a16="http://schemas.microsoft.com/office/drawing/2014/main" id="{370B88A0-34F8-4819-9FC2-EE72B060D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F9692-67A8-46BA-912F-CC7C0CCA500F}"/>
              </a:ext>
            </a:extLst>
          </p:cNvPr>
          <p:cNvSpPr>
            <a:spLocks noGrp="1"/>
          </p:cNvSpPr>
          <p:nvPr>
            <p:ph type="sldNum" sz="quarter" idx="12"/>
          </p:nvPr>
        </p:nvSpPr>
        <p:spPr/>
        <p:txBody>
          <a:bodyPr/>
          <a:lstStyle/>
          <a:p>
            <a:fld id="{E9329930-2C29-434E-8A15-9CA932454897}" type="slidenum">
              <a:rPr lang="en-US" smtClean="0"/>
              <a:t>‹#›</a:t>
            </a:fld>
            <a:endParaRPr lang="en-US"/>
          </a:p>
        </p:txBody>
      </p:sp>
    </p:spTree>
    <p:extLst>
      <p:ext uri="{BB962C8B-B14F-4D97-AF65-F5344CB8AC3E}">
        <p14:creationId xmlns:p14="http://schemas.microsoft.com/office/powerpoint/2010/main" val="1998030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10970684" cy="1143000"/>
          </a:xfrm>
        </p:spPr>
        <p:txBody>
          <a:bodyPr/>
          <a:lstStyle/>
          <a:p>
            <a:r>
              <a:rPr lang="en-US"/>
              <a:t>Click to edit Master title style</a:t>
            </a:r>
          </a:p>
        </p:txBody>
      </p:sp>
    </p:spTree>
    <p:extLst>
      <p:ext uri="{BB962C8B-B14F-4D97-AF65-F5344CB8AC3E}">
        <p14:creationId xmlns:p14="http://schemas.microsoft.com/office/powerpoint/2010/main" val="2311354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1" y="273050"/>
            <a:ext cx="10970684" cy="585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8093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Image result for mailigen logo">
            <a:extLst>
              <a:ext uri="{FF2B5EF4-FFF2-40B4-BE49-F238E27FC236}">
                <a16:creationId xmlns:a16="http://schemas.microsoft.com/office/drawing/2014/main" id="{D044AA18-D3D9-4B93-81FB-E781C3CACF22}"/>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5C929B1F-63A4-4F2A-8273-50779B7974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ED2D1C-798B-4E91-A1EF-8C0218387B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9893C-F97A-4BCF-A2AC-CAF7D0A534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2EE67-6EB2-4BBF-AE84-CE583B8012D9}" type="datetimeFigureOut">
              <a:rPr lang="en-US" smtClean="0"/>
              <a:t>27-Jun-19</a:t>
            </a:fld>
            <a:endParaRPr lang="en-US"/>
          </a:p>
        </p:txBody>
      </p:sp>
      <p:sp>
        <p:nvSpPr>
          <p:cNvPr id="5" name="Footer Placeholder 4">
            <a:extLst>
              <a:ext uri="{FF2B5EF4-FFF2-40B4-BE49-F238E27FC236}">
                <a16:creationId xmlns:a16="http://schemas.microsoft.com/office/drawing/2014/main" id="{124B0965-CD1A-490D-A218-2A8EBE129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54A4AA-F367-4C1E-BC29-49DDE5772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329930-2C29-434E-8A15-9CA932454897}" type="slidenum">
              <a:rPr lang="en-US" smtClean="0"/>
              <a:t>‹#›</a:t>
            </a:fld>
            <a:endParaRPr lang="en-US"/>
          </a:p>
        </p:txBody>
      </p:sp>
      <p:sp>
        <p:nvSpPr>
          <p:cNvPr id="8" name="Rectangle 2">
            <a:extLst>
              <a:ext uri="{FF2B5EF4-FFF2-40B4-BE49-F238E27FC236}">
                <a16:creationId xmlns:a16="http://schemas.microsoft.com/office/drawing/2014/main" id="{47237D94-E1B3-4F22-8324-EDF544826B9C}"/>
              </a:ext>
            </a:extLst>
          </p:cNvPr>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9" name="Picture 8">
            <a:extLst>
              <a:ext uri="{FF2B5EF4-FFF2-40B4-BE49-F238E27FC236}">
                <a16:creationId xmlns:a16="http://schemas.microsoft.com/office/drawing/2014/main" id="{48C9DF46-6828-4623-A6A9-DF9C6B296FC3}"/>
              </a:ext>
            </a:extLst>
          </p:cNvPr>
          <p:cNvPicPr>
            <a:picLocks noChangeAspect="1"/>
          </p:cNvPicPr>
          <p:nvPr userDrawn="1"/>
        </p:nvPicPr>
        <p:blipFill>
          <a:blip r:embed="rId16"/>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772595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hyperlink" Target="https://www.salon.com/2019/06/21/communing-with-the-dead-i-followed-the-grateful-dead-to-escape-and-ended-up-finding-home/"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1A2E2C-0B30-4D77-8D1A-3E72BAAFEC01}"/>
              </a:ext>
            </a:extLst>
          </p:cNvPr>
          <p:cNvSpPr>
            <a:spLocks noGrp="1"/>
          </p:cNvSpPr>
          <p:nvPr>
            <p:ph type="ctrTitle"/>
          </p:nvPr>
        </p:nvSpPr>
        <p:spPr>
          <a:xfrm>
            <a:off x="2229465" y="1849009"/>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br>
              <a:rPr lang="en-US" sz="2400" i="1" dirty="0">
                <a:solidFill>
                  <a:srgbClr val="FF0000"/>
                </a:solidFill>
              </a:rPr>
            </a:br>
            <a:endParaRPr lang="en-US" dirty="0">
              <a:solidFill>
                <a:srgbClr val="FF0000"/>
              </a:solidFill>
            </a:endParaRPr>
          </a:p>
        </p:txBody>
      </p:sp>
      <p:sp>
        <p:nvSpPr>
          <p:cNvPr id="5" name="Subtitle 2">
            <a:extLst>
              <a:ext uri="{FF2B5EF4-FFF2-40B4-BE49-F238E27FC236}">
                <a16:creationId xmlns:a16="http://schemas.microsoft.com/office/drawing/2014/main" id="{8C0F7E41-707C-45B5-A1A2-27BDDBA265C7}"/>
              </a:ext>
            </a:extLst>
          </p:cNvPr>
          <p:cNvSpPr>
            <a:spLocks noGrp="1"/>
          </p:cNvSpPr>
          <p:nvPr>
            <p:ph type="subTitle" idx="1"/>
          </p:nvPr>
        </p:nvSpPr>
        <p:spPr>
          <a:xfrm>
            <a:off x="2025349" y="2862009"/>
            <a:ext cx="8360564" cy="3511075"/>
          </a:xfrm>
        </p:spPr>
        <p:txBody>
          <a:bodyPr/>
          <a:lstStyle/>
          <a:p>
            <a:r>
              <a:rPr lang="en-US" i="1" dirty="0"/>
              <a:t>Managing your team</a:t>
            </a:r>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en-US" sz="2000" dirty="0"/>
              <a:t>May-July 2019</a:t>
            </a:r>
          </a:p>
          <a:p>
            <a:endParaRPr lang="en-US" sz="2000" dirty="0"/>
          </a:p>
          <a:p>
            <a:endParaRPr lang="en-US" i="1" dirty="0"/>
          </a:p>
        </p:txBody>
      </p:sp>
      <p:pic>
        <p:nvPicPr>
          <p:cNvPr id="6" name="Picture 22">
            <a:extLst>
              <a:ext uri="{FF2B5EF4-FFF2-40B4-BE49-F238E27FC236}">
                <a16:creationId xmlns:a16="http://schemas.microsoft.com/office/drawing/2014/main" id="{D1102B30-1D50-46BD-9A21-D90E3A0A6C5E}"/>
              </a:ext>
            </a:extLst>
          </p:cNvPr>
          <p:cNvPicPr>
            <a:picLocks noChangeAspect="1" noChangeArrowheads="1"/>
          </p:cNvPicPr>
          <p:nvPr/>
        </p:nvPicPr>
        <p:blipFill>
          <a:blip r:embed="rId2" cstate="print"/>
          <a:srcRect/>
          <a:stretch>
            <a:fillRect/>
          </a:stretch>
        </p:blipFill>
        <p:spPr bwMode="auto">
          <a:xfrm>
            <a:off x="6656749" y="323560"/>
            <a:ext cx="3472492" cy="1801269"/>
          </a:xfrm>
          <a:prstGeom prst="rect">
            <a:avLst/>
          </a:prstGeom>
          <a:noFill/>
          <a:ln w="12700">
            <a:noFill/>
            <a:miter lim="800000"/>
            <a:headEnd/>
            <a:tailEnd/>
          </a:ln>
        </p:spPr>
      </p:pic>
    </p:spTree>
    <p:extLst>
      <p:ext uri="{BB962C8B-B14F-4D97-AF65-F5344CB8AC3E}">
        <p14:creationId xmlns:p14="http://schemas.microsoft.com/office/powerpoint/2010/main" val="303218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mailigen logo">
            <a:extLst>
              <a:ext uri="{FF2B5EF4-FFF2-40B4-BE49-F238E27FC236}">
                <a16:creationId xmlns:a16="http://schemas.microsoft.com/office/drawing/2014/main" id="{33817BED-D52E-45D6-A1EE-1DA455A88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792E657F-EDF1-49C3-B45A-43285F38DFF0}"/>
              </a:ext>
            </a:extLst>
          </p:cNvPr>
          <p:cNvSpPr>
            <a:spLocks noChangeArrowheads="1"/>
          </p:cNvSpPr>
          <p:nvPr/>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6" name="Picture 5">
            <a:extLst>
              <a:ext uri="{FF2B5EF4-FFF2-40B4-BE49-F238E27FC236}">
                <a16:creationId xmlns:a16="http://schemas.microsoft.com/office/drawing/2014/main" id="{9F929D44-E79A-4CF1-9159-C6008C420403}"/>
              </a:ext>
            </a:extLst>
          </p:cNvPr>
          <p:cNvPicPr>
            <a:picLocks noChangeAspect="1"/>
          </p:cNvPicPr>
          <p:nvPr/>
        </p:nvPicPr>
        <p:blipFill>
          <a:blip r:embed="rId3"/>
          <a:stretch>
            <a:fillRect/>
          </a:stretch>
        </p:blipFill>
        <p:spPr>
          <a:xfrm>
            <a:off x="694173" y="6176857"/>
            <a:ext cx="1598652" cy="540576"/>
          </a:xfrm>
          <a:prstGeom prst="rect">
            <a:avLst/>
          </a:prstGeom>
        </p:spPr>
      </p:pic>
      <p:sp>
        <p:nvSpPr>
          <p:cNvPr id="2" name="Title 1"/>
          <p:cNvSpPr>
            <a:spLocks noGrp="1"/>
          </p:cNvSpPr>
          <p:nvPr>
            <p:ph type="title"/>
          </p:nvPr>
        </p:nvSpPr>
        <p:spPr/>
        <p:txBody>
          <a:bodyPr>
            <a:normAutofit/>
          </a:bodyPr>
          <a:lstStyle/>
          <a:p>
            <a:pPr algn="ctr"/>
            <a:r>
              <a:rPr lang="en-US" sz="3200" dirty="0" err="1"/>
              <a:t>Appex</a:t>
            </a:r>
            <a:endParaRPr lang="en-US" sz="3200" dirty="0"/>
          </a:p>
        </p:txBody>
      </p:sp>
      <p:sp>
        <p:nvSpPr>
          <p:cNvPr id="3" name="Content Placeholder 2">
            <a:extLst>
              <a:ext uri="{FF2B5EF4-FFF2-40B4-BE49-F238E27FC236}">
                <a16:creationId xmlns:a16="http://schemas.microsoft.com/office/drawing/2014/main" id="{57B3A5BB-9075-4E0D-9BF0-9DD4013597DE}"/>
              </a:ext>
            </a:extLst>
          </p:cNvPr>
          <p:cNvSpPr>
            <a:spLocks noGrp="1"/>
          </p:cNvSpPr>
          <p:nvPr>
            <p:ph idx="1"/>
          </p:nvPr>
        </p:nvSpPr>
        <p:spPr>
          <a:xfrm>
            <a:off x="838200" y="1825625"/>
            <a:ext cx="10515600" cy="2274888"/>
          </a:xfrm>
        </p:spPr>
        <p:txBody>
          <a:bodyPr/>
          <a:lstStyle/>
          <a:p>
            <a:r>
              <a:rPr lang="en-US" dirty="0"/>
              <a:t>What are the PIPs facing Ghosh when takes over?</a:t>
            </a:r>
          </a:p>
          <a:p>
            <a:r>
              <a:rPr lang="en-US" dirty="0"/>
              <a:t>Agree on and be ready to discuss 3 key lessons from the case with </a:t>
            </a:r>
            <a:r>
              <a:rPr lang="en-US" dirty="0" err="1"/>
              <a:t>Appex</a:t>
            </a:r>
            <a:r>
              <a:rPr lang="en-US" dirty="0"/>
              <a:t> Corp.</a:t>
            </a:r>
          </a:p>
          <a:p>
            <a:r>
              <a:rPr lang="en-US" dirty="0"/>
              <a:t>Is there anything you think Ghosh should have done differently and if so, what is it?</a:t>
            </a:r>
          </a:p>
        </p:txBody>
      </p:sp>
    </p:spTree>
    <p:extLst>
      <p:ext uri="{BB962C8B-B14F-4D97-AF65-F5344CB8AC3E}">
        <p14:creationId xmlns:p14="http://schemas.microsoft.com/office/powerpoint/2010/main" val="3615693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0821" y="2130426"/>
            <a:ext cx="8049828" cy="1470025"/>
          </a:xfrm>
        </p:spPr>
        <p:txBody>
          <a:bodyPr>
            <a:normAutofit fontScale="90000"/>
          </a:bodyPr>
          <a:lstStyle/>
          <a:p>
            <a:pPr algn="ctr"/>
            <a:r>
              <a:rPr lang="en-US" sz="4000" b="1" dirty="0"/>
              <a:t>Source of corporate success</a:t>
            </a:r>
            <a:br>
              <a:rPr lang="en-US" sz="4000" dirty="0"/>
            </a:br>
            <a:br>
              <a:rPr lang="en-US" sz="4000" dirty="0"/>
            </a:br>
            <a:endParaRPr lang="en-US" sz="3200" dirty="0">
              <a:solidFill>
                <a:srgbClr val="0000FF"/>
              </a:solidFill>
            </a:endParaRPr>
          </a:p>
        </p:txBody>
      </p:sp>
    </p:spTree>
    <p:extLst>
      <p:ext uri="{BB962C8B-B14F-4D97-AF65-F5344CB8AC3E}">
        <p14:creationId xmlns:p14="http://schemas.microsoft.com/office/powerpoint/2010/main" val="4239879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58B1912F-9097-4645-BB17-DA1C9AF0EDD4}"/>
              </a:ext>
            </a:extLst>
          </p:cNvPr>
          <p:cNvSpPr txBox="1">
            <a:spLocks noChangeArrowheads="1"/>
          </p:cNvSpPr>
          <p:nvPr/>
        </p:nvSpPr>
        <p:spPr bwMode="auto">
          <a:xfrm>
            <a:off x="1770228" y="2843965"/>
            <a:ext cx="1593150" cy="379412"/>
          </a:xfrm>
          <a:prstGeom prst="rect">
            <a:avLst/>
          </a:prstGeom>
          <a:solidFill>
            <a:srgbClr val="FFFFFF"/>
          </a:solidFill>
          <a:ln w="9525">
            <a:noFill/>
            <a:miter lim="800000"/>
            <a:headEnd/>
            <a:tailEnd/>
          </a:ln>
        </p:spPr>
        <p:txBody>
          <a:bodyPr vert="horz" wrap="square" lIns="0" tIns="0" rIns="0" bIns="0" numCol="1" anchor="ctr" anchorCtr="0" compatLnSpc="1">
            <a:prstTxWarp prst="textNoShape">
              <a:avLst/>
            </a:prstTxWarp>
          </a:bodyPr>
          <a:lstStyle>
            <a:lvl1pPr algn="l" defTabSz="457200" rtl="0" eaLnBrk="0" fontAlgn="base" hangingPunct="0">
              <a:lnSpc>
                <a:spcPct val="93000"/>
              </a:lnSpc>
              <a:spcBef>
                <a:spcPct val="0"/>
              </a:spcBef>
              <a:spcAft>
                <a:spcPct val="0"/>
              </a:spcAft>
              <a:buClr>
                <a:srgbClr val="000000"/>
              </a:buClr>
              <a:buSzPct val="100000"/>
              <a:buFont typeface="Times New Roman" pitchFamily="84" charset="0"/>
              <a:defRPr sz="2400">
                <a:solidFill>
                  <a:srgbClr val="000000"/>
                </a:solidFill>
                <a:latin typeface="+mj-lt"/>
                <a:ea typeface="ＭＳ Ｐゴシック" pitchFamily="-32" charset="-128"/>
                <a:cs typeface="ＭＳ Ｐゴシック" pitchFamily="-32" charset="-128"/>
              </a:defRPr>
            </a:lvl1pPr>
            <a:lvl2pPr algn="l" defTabSz="457200" rtl="0" eaLnBrk="0" fontAlgn="base" hangingPunct="0">
              <a:lnSpc>
                <a:spcPct val="93000"/>
              </a:lnSpc>
              <a:spcBef>
                <a:spcPct val="0"/>
              </a:spcBef>
              <a:spcAft>
                <a:spcPct val="0"/>
              </a:spcAft>
              <a:buClr>
                <a:srgbClr val="000000"/>
              </a:buClr>
              <a:buSzPct val="100000"/>
              <a:buFont typeface="Times New Roman" pitchFamily="84" charset="0"/>
              <a:defRPr sz="2400">
                <a:solidFill>
                  <a:srgbClr val="000000"/>
                </a:solidFill>
                <a:latin typeface="Arial" pitchFamily="-66" charset="0"/>
                <a:ea typeface="ＭＳ Ｐゴシック" pitchFamily="-66" charset="-128"/>
                <a:cs typeface="ＭＳ Ｐゴシック" pitchFamily="-32" charset="-128"/>
              </a:defRPr>
            </a:lvl2pPr>
            <a:lvl3pPr algn="l" defTabSz="457200" rtl="0" eaLnBrk="0" fontAlgn="base" hangingPunct="0">
              <a:lnSpc>
                <a:spcPct val="93000"/>
              </a:lnSpc>
              <a:spcBef>
                <a:spcPct val="0"/>
              </a:spcBef>
              <a:spcAft>
                <a:spcPct val="0"/>
              </a:spcAft>
              <a:buClr>
                <a:srgbClr val="000000"/>
              </a:buClr>
              <a:buSzPct val="100000"/>
              <a:buFont typeface="Times New Roman" pitchFamily="84" charset="0"/>
              <a:defRPr sz="2400">
                <a:solidFill>
                  <a:srgbClr val="000000"/>
                </a:solidFill>
                <a:latin typeface="Arial" pitchFamily="-66" charset="0"/>
                <a:ea typeface="ＭＳ Ｐゴシック" pitchFamily="-66" charset="-128"/>
                <a:cs typeface="ＭＳ Ｐゴシック" pitchFamily="-32" charset="-128"/>
              </a:defRPr>
            </a:lvl3pPr>
            <a:lvl4pPr algn="l" defTabSz="457200" rtl="0" eaLnBrk="0" fontAlgn="base" hangingPunct="0">
              <a:lnSpc>
                <a:spcPct val="93000"/>
              </a:lnSpc>
              <a:spcBef>
                <a:spcPct val="0"/>
              </a:spcBef>
              <a:spcAft>
                <a:spcPct val="0"/>
              </a:spcAft>
              <a:buClr>
                <a:srgbClr val="000000"/>
              </a:buClr>
              <a:buSzPct val="100000"/>
              <a:buFont typeface="Times New Roman" pitchFamily="84" charset="0"/>
              <a:defRPr sz="2400">
                <a:solidFill>
                  <a:srgbClr val="000000"/>
                </a:solidFill>
                <a:latin typeface="Arial" pitchFamily="-66" charset="0"/>
                <a:ea typeface="ＭＳ Ｐゴシック" pitchFamily="-66" charset="-128"/>
                <a:cs typeface="ＭＳ Ｐゴシック" pitchFamily="-32" charset="-128"/>
              </a:defRPr>
            </a:lvl4pPr>
            <a:lvl5pPr algn="l" defTabSz="457200" rtl="0" eaLnBrk="0" fontAlgn="base" hangingPunct="0">
              <a:lnSpc>
                <a:spcPct val="93000"/>
              </a:lnSpc>
              <a:spcBef>
                <a:spcPct val="0"/>
              </a:spcBef>
              <a:spcAft>
                <a:spcPct val="0"/>
              </a:spcAft>
              <a:buClr>
                <a:srgbClr val="000000"/>
              </a:buClr>
              <a:buSzPct val="100000"/>
              <a:buFont typeface="Times New Roman" pitchFamily="84" charset="0"/>
              <a:defRPr sz="2400">
                <a:solidFill>
                  <a:srgbClr val="000000"/>
                </a:solidFill>
                <a:latin typeface="Arial" pitchFamily="-66" charset="0"/>
                <a:ea typeface="ＭＳ Ｐゴシック" pitchFamily="-66" charset="-128"/>
                <a:cs typeface="ＭＳ Ｐゴシック" pitchFamily="-32" charset="-128"/>
              </a:defRPr>
            </a:lvl5pPr>
            <a:lvl6pPr marL="2514600" indent="-228600" algn="l" defTabSz="457200" rtl="0" fontAlgn="base" hangingPunct="0">
              <a:lnSpc>
                <a:spcPct val="93000"/>
              </a:lnSpc>
              <a:spcBef>
                <a:spcPct val="0"/>
              </a:spcBef>
              <a:spcAft>
                <a:spcPct val="0"/>
              </a:spcAft>
              <a:buClr>
                <a:srgbClr val="000000"/>
              </a:buClr>
              <a:buSzPct val="100000"/>
              <a:buFont typeface="Times New Roman" pitchFamily="-66" charset="0"/>
              <a:defRPr sz="2400">
                <a:solidFill>
                  <a:srgbClr val="000000"/>
                </a:solidFill>
                <a:latin typeface="Arial" pitchFamily="-66" charset="0"/>
                <a:ea typeface="ＭＳ Ｐゴシック" pitchFamily="-66" charset="-128"/>
              </a:defRPr>
            </a:lvl6pPr>
            <a:lvl7pPr marL="2971800" indent="-228600" algn="l" defTabSz="457200" rtl="0" fontAlgn="base" hangingPunct="0">
              <a:lnSpc>
                <a:spcPct val="93000"/>
              </a:lnSpc>
              <a:spcBef>
                <a:spcPct val="0"/>
              </a:spcBef>
              <a:spcAft>
                <a:spcPct val="0"/>
              </a:spcAft>
              <a:buClr>
                <a:srgbClr val="000000"/>
              </a:buClr>
              <a:buSzPct val="100000"/>
              <a:buFont typeface="Times New Roman" pitchFamily="-66" charset="0"/>
              <a:defRPr sz="2400">
                <a:solidFill>
                  <a:srgbClr val="000000"/>
                </a:solidFill>
                <a:latin typeface="Arial" pitchFamily="-66" charset="0"/>
                <a:ea typeface="ＭＳ Ｐゴシック" pitchFamily="-66" charset="-128"/>
              </a:defRPr>
            </a:lvl7pPr>
            <a:lvl8pPr marL="3429000" indent="-228600" algn="l" defTabSz="457200" rtl="0" fontAlgn="base" hangingPunct="0">
              <a:lnSpc>
                <a:spcPct val="93000"/>
              </a:lnSpc>
              <a:spcBef>
                <a:spcPct val="0"/>
              </a:spcBef>
              <a:spcAft>
                <a:spcPct val="0"/>
              </a:spcAft>
              <a:buClr>
                <a:srgbClr val="000000"/>
              </a:buClr>
              <a:buSzPct val="100000"/>
              <a:buFont typeface="Times New Roman" pitchFamily="-66" charset="0"/>
              <a:defRPr sz="2400">
                <a:solidFill>
                  <a:srgbClr val="000000"/>
                </a:solidFill>
                <a:latin typeface="Arial" pitchFamily="-66" charset="0"/>
                <a:ea typeface="ＭＳ Ｐゴシック" pitchFamily="-66" charset="-128"/>
              </a:defRPr>
            </a:lvl8pPr>
            <a:lvl9pPr marL="3886200" indent="-228600" algn="l" defTabSz="457200" rtl="0" fontAlgn="base" hangingPunct="0">
              <a:lnSpc>
                <a:spcPct val="93000"/>
              </a:lnSpc>
              <a:spcBef>
                <a:spcPct val="0"/>
              </a:spcBef>
              <a:spcAft>
                <a:spcPct val="0"/>
              </a:spcAft>
              <a:buClr>
                <a:srgbClr val="000000"/>
              </a:buClr>
              <a:buSzPct val="100000"/>
              <a:buFont typeface="Times New Roman" pitchFamily="-66" charset="0"/>
              <a:defRPr sz="2400">
                <a:solidFill>
                  <a:srgbClr val="000000"/>
                </a:solidFill>
                <a:latin typeface="Arial" pitchFamily="-66" charset="0"/>
                <a:ea typeface="ＭＳ Ｐゴシック" pitchFamily="-66" charset="-128"/>
              </a:defRPr>
            </a:lvl9pPr>
          </a:lstStyle>
          <a:p>
            <a:pPr>
              <a:defRPr/>
            </a:pPr>
            <a:r>
              <a:rPr lang="en-US" b="1" kern="0">
                <a:solidFill>
                  <a:schemeClr val="tx1"/>
                </a:solidFill>
                <a:effectLst>
                  <a:outerShdw blurRad="38100" dist="38100" dir="2700000" algn="tl">
                    <a:srgbClr val="C0C0C0"/>
                  </a:outerShdw>
                </a:effectLst>
                <a:latin typeface="Tahoma" pitchFamily="-111" charset="0"/>
              </a:rPr>
              <a:t>SUCCESS</a:t>
            </a:r>
          </a:p>
        </p:txBody>
      </p:sp>
      <p:sp>
        <p:nvSpPr>
          <p:cNvPr id="5" name="Rectangle 6">
            <a:extLst>
              <a:ext uri="{FF2B5EF4-FFF2-40B4-BE49-F238E27FC236}">
                <a16:creationId xmlns:a16="http://schemas.microsoft.com/office/drawing/2014/main" id="{6D18E7C7-CA8E-4DF2-AED0-633B26D16F4E}"/>
              </a:ext>
            </a:extLst>
          </p:cNvPr>
          <p:cNvSpPr>
            <a:spLocks noChangeArrowheads="1"/>
          </p:cNvSpPr>
          <p:nvPr/>
        </p:nvSpPr>
        <p:spPr bwMode="auto">
          <a:xfrm>
            <a:off x="3668231" y="1537168"/>
            <a:ext cx="2199924" cy="606425"/>
          </a:xfrm>
          <a:prstGeom prst="rect">
            <a:avLst/>
          </a:prstGeom>
          <a:noFill/>
          <a:ln w="9525">
            <a:noFill/>
            <a:miter lim="800000"/>
            <a:headEnd/>
            <a:tailEnd/>
          </a:ln>
          <a:effectLst/>
        </p:spPr>
        <p:txBody>
          <a:bodyPr lIns="92075" tIns="46038" rIns="92075" bIns="46038" anchor="ctr"/>
          <a:lstStyle/>
          <a:p>
            <a:pPr eaLnBrk="0" hangingPunct="0">
              <a:defRPr/>
            </a:pPr>
            <a:r>
              <a:rPr lang="en-US" sz="2200">
                <a:solidFill>
                  <a:srgbClr val="009900"/>
                </a:solidFill>
                <a:effectLst>
                  <a:outerShdw blurRad="38100" dist="38100" dir="2700000" algn="tl">
                    <a:srgbClr val="C0C0C0"/>
                  </a:outerShdw>
                </a:effectLst>
                <a:latin typeface="Tahoma" pitchFamily="-111" charset="0"/>
                <a:ea typeface="ＭＳ Ｐゴシック" pitchFamily="-111" charset="-128"/>
              </a:rPr>
              <a:t>Opportunities</a:t>
            </a:r>
          </a:p>
        </p:txBody>
      </p:sp>
      <p:sp>
        <p:nvSpPr>
          <p:cNvPr id="6" name="Rectangle 8">
            <a:extLst>
              <a:ext uri="{FF2B5EF4-FFF2-40B4-BE49-F238E27FC236}">
                <a16:creationId xmlns:a16="http://schemas.microsoft.com/office/drawing/2014/main" id="{CD9063FF-CD17-40B8-8A86-D165BE832547}"/>
              </a:ext>
            </a:extLst>
          </p:cNvPr>
          <p:cNvSpPr>
            <a:spLocks noChangeArrowheads="1"/>
          </p:cNvSpPr>
          <p:nvPr/>
        </p:nvSpPr>
        <p:spPr bwMode="auto">
          <a:xfrm>
            <a:off x="4881781" y="2467729"/>
            <a:ext cx="3414939" cy="606425"/>
          </a:xfrm>
          <a:prstGeom prst="rect">
            <a:avLst/>
          </a:prstGeom>
          <a:noFill/>
          <a:ln w="9525">
            <a:noFill/>
            <a:miter lim="800000"/>
            <a:headEnd/>
            <a:tailEnd/>
          </a:ln>
          <a:effectLst/>
        </p:spPr>
        <p:txBody>
          <a:bodyPr lIns="92075" tIns="46038" rIns="92075" bIns="46038" anchor="ctr"/>
          <a:lstStyle/>
          <a:p>
            <a:pPr algn="ctr" eaLnBrk="0" hangingPunct="0">
              <a:defRPr/>
            </a:pPr>
            <a:r>
              <a:rPr lang="en-US" sz="2400" dirty="0">
                <a:effectLst>
                  <a:outerShdw blurRad="38100" dist="38100" dir="2700000" algn="tl">
                    <a:srgbClr val="C0C0C0"/>
                  </a:outerShdw>
                </a:effectLst>
                <a:latin typeface="Tahoma" pitchFamily="-111" charset="0"/>
                <a:ea typeface="ＭＳ Ｐゴシック" pitchFamily="-111" charset="-128"/>
              </a:rPr>
              <a:t>External Integration</a:t>
            </a:r>
          </a:p>
        </p:txBody>
      </p:sp>
      <p:sp>
        <p:nvSpPr>
          <p:cNvPr id="7" name="Rectangle 11">
            <a:extLst>
              <a:ext uri="{FF2B5EF4-FFF2-40B4-BE49-F238E27FC236}">
                <a16:creationId xmlns:a16="http://schemas.microsoft.com/office/drawing/2014/main" id="{9D5C9F2E-A535-410B-B334-8981C18AF9AC}"/>
              </a:ext>
            </a:extLst>
          </p:cNvPr>
          <p:cNvSpPr>
            <a:spLocks noChangeArrowheads="1"/>
          </p:cNvSpPr>
          <p:nvPr/>
        </p:nvSpPr>
        <p:spPr bwMode="auto">
          <a:xfrm rot="10800000">
            <a:off x="5110419" y="3037640"/>
            <a:ext cx="3036804" cy="36512"/>
          </a:xfrm>
          <a:prstGeom prst="rect">
            <a:avLst/>
          </a:prstGeom>
          <a:solidFill>
            <a:srgbClr val="FF003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endParaRPr lang="lt-LT" altLang="lv-LV"/>
          </a:p>
        </p:txBody>
      </p:sp>
      <p:sp>
        <p:nvSpPr>
          <p:cNvPr id="8" name="Line 12">
            <a:extLst>
              <a:ext uri="{FF2B5EF4-FFF2-40B4-BE49-F238E27FC236}">
                <a16:creationId xmlns:a16="http://schemas.microsoft.com/office/drawing/2014/main" id="{B34DFDE3-2D19-4B6E-99DE-FE429D384D9E}"/>
              </a:ext>
            </a:extLst>
          </p:cNvPr>
          <p:cNvSpPr>
            <a:spLocks noChangeShapeType="1"/>
          </p:cNvSpPr>
          <p:nvPr/>
        </p:nvSpPr>
        <p:spPr bwMode="auto">
          <a:xfrm>
            <a:off x="3439592" y="3026527"/>
            <a:ext cx="14949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lv-LV"/>
          </a:p>
        </p:txBody>
      </p:sp>
      <p:sp>
        <p:nvSpPr>
          <p:cNvPr id="9" name="Line 13">
            <a:extLst>
              <a:ext uri="{FF2B5EF4-FFF2-40B4-BE49-F238E27FC236}">
                <a16:creationId xmlns:a16="http://schemas.microsoft.com/office/drawing/2014/main" id="{26F1F67E-4599-4501-82F4-A3FD480389C9}"/>
              </a:ext>
            </a:extLst>
          </p:cNvPr>
          <p:cNvSpPr>
            <a:spLocks noChangeShapeType="1"/>
          </p:cNvSpPr>
          <p:nvPr/>
        </p:nvSpPr>
        <p:spPr bwMode="auto">
          <a:xfrm>
            <a:off x="3439592" y="3099552"/>
            <a:ext cx="14949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lv-LV"/>
          </a:p>
        </p:txBody>
      </p:sp>
      <p:sp>
        <p:nvSpPr>
          <p:cNvPr id="10" name="Rectangle 15">
            <a:extLst>
              <a:ext uri="{FF2B5EF4-FFF2-40B4-BE49-F238E27FC236}">
                <a16:creationId xmlns:a16="http://schemas.microsoft.com/office/drawing/2014/main" id="{64D2FAF1-DCF0-42A8-A134-8B7ED8D21506}"/>
              </a:ext>
            </a:extLst>
          </p:cNvPr>
          <p:cNvSpPr>
            <a:spLocks noChangeArrowheads="1"/>
          </p:cNvSpPr>
          <p:nvPr/>
        </p:nvSpPr>
        <p:spPr bwMode="auto">
          <a:xfrm>
            <a:off x="4957994" y="2997954"/>
            <a:ext cx="3189231" cy="606425"/>
          </a:xfrm>
          <a:prstGeom prst="rect">
            <a:avLst/>
          </a:prstGeom>
          <a:noFill/>
          <a:ln w="9525">
            <a:noFill/>
            <a:miter lim="800000"/>
            <a:headEnd/>
            <a:tailEnd/>
          </a:ln>
          <a:effectLst/>
        </p:spPr>
        <p:txBody>
          <a:bodyPr lIns="92075" tIns="46038" rIns="92075" bIns="46038" anchor="ctr"/>
          <a:lstStyle/>
          <a:p>
            <a:pPr algn="ctr" eaLnBrk="0" hangingPunct="0">
              <a:defRPr/>
            </a:pPr>
            <a:r>
              <a:rPr lang="en-US" sz="2400" dirty="0">
                <a:effectLst>
                  <a:outerShdw blurRad="38100" dist="38100" dir="2700000" algn="tl">
                    <a:srgbClr val="C0C0C0"/>
                  </a:outerShdw>
                </a:effectLst>
                <a:latin typeface="Tahoma" pitchFamily="-111" charset="0"/>
                <a:ea typeface="ＭＳ Ｐゴシック" pitchFamily="-111" charset="-128"/>
              </a:rPr>
              <a:t>Internal Disintegration</a:t>
            </a:r>
          </a:p>
        </p:txBody>
      </p:sp>
      <p:sp>
        <p:nvSpPr>
          <p:cNvPr id="11" name="Text Box 16">
            <a:extLst>
              <a:ext uri="{FF2B5EF4-FFF2-40B4-BE49-F238E27FC236}">
                <a16:creationId xmlns:a16="http://schemas.microsoft.com/office/drawing/2014/main" id="{A12F29E9-3EC3-4E22-9F2B-C9E536D5F5F8}"/>
              </a:ext>
            </a:extLst>
          </p:cNvPr>
          <p:cNvSpPr txBox="1">
            <a:spLocks noChangeArrowheads="1"/>
          </p:cNvSpPr>
          <p:nvPr/>
        </p:nvSpPr>
        <p:spPr bwMode="auto">
          <a:xfrm>
            <a:off x="3741513" y="2694740"/>
            <a:ext cx="532027" cy="60960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sz="3400" i="1">
                <a:effectLst>
                  <a:outerShdw blurRad="38100" dist="38100" dir="2700000" algn="tl">
                    <a:srgbClr val="C0C0C0"/>
                  </a:outerShdw>
                </a:effectLst>
                <a:latin typeface="Tahoma" pitchFamily="-111" charset="0"/>
                <a:ea typeface="ＭＳ Ｐゴシック" pitchFamily="-111" charset="-128"/>
              </a:rPr>
              <a:t>f</a:t>
            </a:r>
          </a:p>
        </p:txBody>
      </p:sp>
      <p:sp>
        <p:nvSpPr>
          <p:cNvPr id="12" name="Rectangle 17">
            <a:extLst>
              <a:ext uri="{FF2B5EF4-FFF2-40B4-BE49-F238E27FC236}">
                <a16:creationId xmlns:a16="http://schemas.microsoft.com/office/drawing/2014/main" id="{38B2FBED-332D-4B63-A9DD-1436A663B191}"/>
              </a:ext>
            </a:extLst>
          </p:cNvPr>
          <p:cNvSpPr>
            <a:spLocks noChangeArrowheads="1"/>
          </p:cNvSpPr>
          <p:nvPr/>
        </p:nvSpPr>
        <p:spPr bwMode="auto">
          <a:xfrm>
            <a:off x="4425966" y="3985379"/>
            <a:ext cx="1442189" cy="606425"/>
          </a:xfrm>
          <a:prstGeom prst="rect">
            <a:avLst/>
          </a:prstGeom>
          <a:noFill/>
          <a:ln w="9525">
            <a:noFill/>
            <a:miter lim="800000"/>
            <a:headEnd/>
            <a:tailEnd/>
          </a:ln>
          <a:effectLst/>
        </p:spPr>
        <p:txBody>
          <a:bodyPr lIns="92075" tIns="46038" rIns="92075" bIns="46038" anchor="ctr"/>
          <a:lstStyle/>
          <a:p>
            <a:pPr eaLnBrk="0" hangingPunct="0">
              <a:defRPr/>
            </a:pPr>
            <a:r>
              <a:rPr lang="en-US" sz="2200">
                <a:solidFill>
                  <a:srgbClr val="009900"/>
                </a:solidFill>
                <a:effectLst>
                  <a:outerShdw blurRad="38100" dist="38100" dir="2700000" algn="tl">
                    <a:srgbClr val="C0C0C0"/>
                  </a:outerShdw>
                </a:effectLst>
                <a:latin typeface="Tahoma" pitchFamily="-111" charset="0"/>
                <a:ea typeface="ＭＳ Ｐゴシック" pitchFamily="-111" charset="-128"/>
              </a:rPr>
              <a:t>Mutual Trust</a:t>
            </a:r>
          </a:p>
        </p:txBody>
      </p:sp>
      <p:sp>
        <p:nvSpPr>
          <p:cNvPr id="13" name="Rectangle 18">
            <a:extLst>
              <a:ext uri="{FF2B5EF4-FFF2-40B4-BE49-F238E27FC236}">
                <a16:creationId xmlns:a16="http://schemas.microsoft.com/office/drawing/2014/main" id="{10458094-6F0C-4234-B9BC-AEA0A833416F}"/>
              </a:ext>
            </a:extLst>
          </p:cNvPr>
          <p:cNvSpPr>
            <a:spLocks noChangeArrowheads="1"/>
          </p:cNvSpPr>
          <p:nvPr/>
        </p:nvSpPr>
        <p:spPr bwMode="auto">
          <a:xfrm>
            <a:off x="7006124" y="3985379"/>
            <a:ext cx="1972750" cy="606425"/>
          </a:xfrm>
          <a:prstGeom prst="rect">
            <a:avLst/>
          </a:prstGeom>
          <a:noFill/>
          <a:ln w="9525">
            <a:noFill/>
            <a:miter lim="800000"/>
            <a:headEnd/>
            <a:tailEnd/>
          </a:ln>
          <a:effectLst/>
        </p:spPr>
        <p:txBody>
          <a:bodyPr lIns="92075" tIns="46038" rIns="92075" bIns="46038" anchor="ctr"/>
          <a:lstStyle/>
          <a:p>
            <a:pPr eaLnBrk="0" hangingPunct="0">
              <a:defRPr/>
            </a:pPr>
            <a:r>
              <a:rPr lang="en-US" sz="2200" dirty="0">
                <a:solidFill>
                  <a:srgbClr val="009900"/>
                </a:solidFill>
                <a:effectLst>
                  <a:outerShdw blurRad="38100" dist="38100" dir="2700000" algn="tl">
                    <a:srgbClr val="C0C0C0"/>
                  </a:outerShdw>
                </a:effectLst>
                <a:latin typeface="Tahoma" pitchFamily="-111" charset="0"/>
                <a:ea typeface="ＭＳ Ｐゴシック" pitchFamily="-111" charset="-128"/>
              </a:rPr>
              <a:t>Mutual Respect</a:t>
            </a:r>
          </a:p>
        </p:txBody>
      </p:sp>
      <p:sp>
        <p:nvSpPr>
          <p:cNvPr id="14" name="Rectangle 19">
            <a:extLst>
              <a:ext uri="{FF2B5EF4-FFF2-40B4-BE49-F238E27FC236}">
                <a16:creationId xmlns:a16="http://schemas.microsoft.com/office/drawing/2014/main" id="{5494A5BD-0A22-456A-9ADB-C602E735524C}"/>
              </a:ext>
            </a:extLst>
          </p:cNvPr>
          <p:cNvSpPr>
            <a:spLocks noChangeArrowheads="1"/>
          </p:cNvSpPr>
          <p:nvPr/>
        </p:nvSpPr>
        <p:spPr bwMode="auto">
          <a:xfrm>
            <a:off x="6779783" y="1537168"/>
            <a:ext cx="2199925" cy="606425"/>
          </a:xfrm>
          <a:prstGeom prst="rect">
            <a:avLst/>
          </a:prstGeom>
          <a:noFill/>
          <a:ln w="9525">
            <a:noFill/>
            <a:miter lim="800000"/>
            <a:headEnd/>
            <a:tailEnd/>
          </a:ln>
          <a:effectLst/>
        </p:spPr>
        <p:txBody>
          <a:bodyPr lIns="92075" tIns="46038" rIns="92075" bIns="46038" anchor="ctr"/>
          <a:lstStyle/>
          <a:p>
            <a:pPr eaLnBrk="0" hangingPunct="0">
              <a:defRPr/>
            </a:pPr>
            <a:r>
              <a:rPr lang="en-US" sz="2200" dirty="0">
                <a:solidFill>
                  <a:srgbClr val="009900"/>
                </a:solidFill>
                <a:effectLst>
                  <a:outerShdw blurRad="38100" dist="38100" dir="2700000" algn="tl">
                    <a:srgbClr val="C0C0C0"/>
                  </a:outerShdw>
                </a:effectLst>
                <a:latin typeface="Tahoma" pitchFamily="-111" charset="0"/>
                <a:ea typeface="ＭＳ Ｐゴシック" pitchFamily="-111" charset="-128"/>
              </a:rPr>
              <a:t>Capabilities</a:t>
            </a:r>
          </a:p>
        </p:txBody>
      </p:sp>
      <p:sp>
        <p:nvSpPr>
          <p:cNvPr id="15" name="Line 20">
            <a:extLst>
              <a:ext uri="{FF2B5EF4-FFF2-40B4-BE49-F238E27FC236}">
                <a16:creationId xmlns:a16="http://schemas.microsoft.com/office/drawing/2014/main" id="{0D2F1467-173A-4C3B-82B1-E73A0604BA68}"/>
              </a:ext>
            </a:extLst>
          </p:cNvPr>
          <p:cNvSpPr>
            <a:spLocks noChangeShapeType="1"/>
          </p:cNvSpPr>
          <p:nvPr/>
        </p:nvSpPr>
        <p:spPr bwMode="auto">
          <a:xfrm>
            <a:off x="5261380" y="2162929"/>
            <a:ext cx="455814" cy="379413"/>
          </a:xfrm>
          <a:prstGeom prst="line">
            <a:avLst/>
          </a:prstGeom>
          <a:noFill/>
          <a:ln w="1905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lv-LV"/>
          </a:p>
        </p:txBody>
      </p:sp>
      <p:sp>
        <p:nvSpPr>
          <p:cNvPr id="16" name="Line 21">
            <a:extLst>
              <a:ext uri="{FF2B5EF4-FFF2-40B4-BE49-F238E27FC236}">
                <a16:creationId xmlns:a16="http://schemas.microsoft.com/office/drawing/2014/main" id="{E52B9B9A-3FD8-45EB-B7AC-5C80E28A8DA8}"/>
              </a:ext>
            </a:extLst>
          </p:cNvPr>
          <p:cNvSpPr>
            <a:spLocks noChangeShapeType="1"/>
          </p:cNvSpPr>
          <p:nvPr/>
        </p:nvSpPr>
        <p:spPr bwMode="auto">
          <a:xfrm rot="5856031">
            <a:off x="6968950" y="2126321"/>
            <a:ext cx="455612" cy="379600"/>
          </a:xfrm>
          <a:prstGeom prst="line">
            <a:avLst/>
          </a:prstGeom>
          <a:noFill/>
          <a:ln w="1905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lv-LV"/>
          </a:p>
        </p:txBody>
      </p:sp>
      <p:sp>
        <p:nvSpPr>
          <p:cNvPr id="17" name="Line 22">
            <a:extLst>
              <a:ext uri="{FF2B5EF4-FFF2-40B4-BE49-F238E27FC236}">
                <a16:creationId xmlns:a16="http://schemas.microsoft.com/office/drawing/2014/main" id="{52FA5B6C-C3F6-405C-A2D4-8ED098F40FDF}"/>
              </a:ext>
            </a:extLst>
          </p:cNvPr>
          <p:cNvSpPr>
            <a:spLocks noChangeShapeType="1"/>
          </p:cNvSpPr>
          <p:nvPr/>
        </p:nvSpPr>
        <p:spPr bwMode="auto">
          <a:xfrm>
            <a:off x="7083171" y="3551373"/>
            <a:ext cx="455813" cy="379412"/>
          </a:xfrm>
          <a:prstGeom prst="line">
            <a:avLst/>
          </a:prstGeom>
          <a:noFill/>
          <a:ln w="1905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lv-LV"/>
          </a:p>
        </p:txBody>
      </p:sp>
      <p:sp>
        <p:nvSpPr>
          <p:cNvPr id="18" name="Line 23">
            <a:extLst>
              <a:ext uri="{FF2B5EF4-FFF2-40B4-BE49-F238E27FC236}">
                <a16:creationId xmlns:a16="http://schemas.microsoft.com/office/drawing/2014/main" id="{8D991DAA-7646-4816-A466-D509F8015838}"/>
              </a:ext>
            </a:extLst>
          </p:cNvPr>
          <p:cNvSpPr>
            <a:spLocks noChangeShapeType="1"/>
          </p:cNvSpPr>
          <p:nvPr/>
        </p:nvSpPr>
        <p:spPr bwMode="auto">
          <a:xfrm rot="5856031">
            <a:off x="5223375" y="3491572"/>
            <a:ext cx="455612" cy="379601"/>
          </a:xfrm>
          <a:prstGeom prst="line">
            <a:avLst/>
          </a:prstGeom>
          <a:noFill/>
          <a:ln w="1905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lv-LV"/>
          </a:p>
        </p:txBody>
      </p:sp>
      <p:sp>
        <p:nvSpPr>
          <p:cNvPr id="19" name="AutoShape 25">
            <a:extLst>
              <a:ext uri="{FF2B5EF4-FFF2-40B4-BE49-F238E27FC236}">
                <a16:creationId xmlns:a16="http://schemas.microsoft.com/office/drawing/2014/main" id="{83BFEC3B-88CF-48DE-B8FD-19BF41CA624E}"/>
              </a:ext>
            </a:extLst>
          </p:cNvPr>
          <p:cNvSpPr>
            <a:spLocks/>
          </p:cNvSpPr>
          <p:nvPr/>
        </p:nvSpPr>
        <p:spPr bwMode="auto">
          <a:xfrm>
            <a:off x="4502180" y="2580442"/>
            <a:ext cx="608241" cy="985837"/>
          </a:xfrm>
          <a:prstGeom prst="leftBrace">
            <a:avLst>
              <a:gd name="adj1" fmla="val 13509"/>
              <a:gd name="adj2" fmla="val 50000"/>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endParaRPr lang="lt-LT" altLang="lv-LV"/>
          </a:p>
        </p:txBody>
      </p:sp>
      <p:sp>
        <p:nvSpPr>
          <p:cNvPr id="20" name="AutoShape 26">
            <a:extLst>
              <a:ext uri="{FF2B5EF4-FFF2-40B4-BE49-F238E27FC236}">
                <a16:creationId xmlns:a16="http://schemas.microsoft.com/office/drawing/2014/main" id="{1E1D7791-95F6-47C6-B590-31E73ABCAAC7}"/>
              </a:ext>
            </a:extLst>
          </p:cNvPr>
          <p:cNvSpPr>
            <a:spLocks/>
          </p:cNvSpPr>
          <p:nvPr/>
        </p:nvSpPr>
        <p:spPr bwMode="auto">
          <a:xfrm>
            <a:off x="8145758" y="2542342"/>
            <a:ext cx="454348" cy="1063625"/>
          </a:xfrm>
          <a:prstGeom prst="rightBrace">
            <a:avLst>
              <a:gd name="adj1" fmla="val 19512"/>
              <a:gd name="adj2" fmla="val 50000"/>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b="1">
                <a:solidFill>
                  <a:schemeClr val="tx1"/>
                </a:solidFill>
                <a:latin typeface="Times New Roman" pitchFamily="18" charset="0"/>
                <a:ea typeface="ＭＳ Ｐゴシック" pitchFamily="34" charset="-128"/>
              </a:defRPr>
            </a:lvl1pPr>
            <a:lvl2pPr marL="742950" indent="-285750" eaLnBrk="0" hangingPunct="0">
              <a:defRPr sz="2000" b="1">
                <a:solidFill>
                  <a:schemeClr val="tx1"/>
                </a:solidFill>
                <a:latin typeface="Times New Roman" pitchFamily="18" charset="0"/>
                <a:ea typeface="ＭＳ Ｐゴシック" pitchFamily="34" charset="-128"/>
              </a:defRPr>
            </a:lvl2pPr>
            <a:lvl3pPr marL="1143000" indent="-228600" eaLnBrk="0" hangingPunct="0">
              <a:defRPr sz="2000" b="1">
                <a:solidFill>
                  <a:schemeClr val="tx1"/>
                </a:solidFill>
                <a:latin typeface="Times New Roman" pitchFamily="18" charset="0"/>
                <a:ea typeface="ＭＳ Ｐゴシック" pitchFamily="34" charset="-128"/>
              </a:defRPr>
            </a:lvl3pPr>
            <a:lvl4pPr marL="1600200" indent="-228600" eaLnBrk="0" hangingPunct="0">
              <a:defRPr sz="2000" b="1">
                <a:solidFill>
                  <a:schemeClr val="tx1"/>
                </a:solidFill>
                <a:latin typeface="Times New Roman" pitchFamily="18" charset="0"/>
                <a:ea typeface="ＭＳ Ｐゴシック" pitchFamily="34" charset="-128"/>
              </a:defRPr>
            </a:lvl4pPr>
            <a:lvl5pPr marL="2057400" indent="-228600" eaLnBrk="0" hangingPunct="0">
              <a:defRPr sz="2000" b="1">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Times New Roman" pitchFamily="18" charset="0"/>
                <a:ea typeface="ＭＳ Ｐゴシック" pitchFamily="34" charset="-128"/>
              </a:defRPr>
            </a:lvl9pPr>
          </a:lstStyle>
          <a:p>
            <a:endParaRPr lang="lt-LT" altLang="lv-LV"/>
          </a:p>
        </p:txBody>
      </p:sp>
    </p:spTree>
    <p:extLst>
      <p:ext uri="{BB962C8B-B14F-4D97-AF65-F5344CB8AC3E}">
        <p14:creationId xmlns:p14="http://schemas.microsoft.com/office/powerpoint/2010/main" val="109955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animBg="1"/>
      <p:bldP spid="9" grpId="0" animBg="1"/>
      <p:bldP spid="10" grpId="0"/>
      <p:bldP spid="11" grpId="0"/>
      <p:bldP spid="12" grpId="0"/>
      <p:bldP spid="13" grpId="0"/>
      <p:bldP spid="14" grpId="0"/>
      <p:bldP spid="15" grpId="0" animBg="1"/>
      <p:bldP spid="16" grpId="0" animBg="1"/>
      <p:bldP spid="17"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3136900" y="2822575"/>
            <a:ext cx="6223000" cy="15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0" name="Line 2"/>
          <p:cNvSpPr>
            <a:spLocks noChangeShapeType="1"/>
          </p:cNvSpPr>
          <p:nvPr/>
        </p:nvSpPr>
        <p:spPr bwMode="auto">
          <a:xfrm>
            <a:off x="3136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1" name="Line 3"/>
          <p:cNvSpPr>
            <a:spLocks noChangeShapeType="1"/>
          </p:cNvSpPr>
          <p:nvPr/>
        </p:nvSpPr>
        <p:spPr bwMode="auto">
          <a:xfrm>
            <a:off x="5110164" y="2822576"/>
            <a:ext cx="1587"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2" name="Line 4"/>
          <p:cNvSpPr>
            <a:spLocks noChangeShapeType="1"/>
          </p:cNvSpPr>
          <p:nvPr/>
        </p:nvSpPr>
        <p:spPr bwMode="auto">
          <a:xfrm>
            <a:off x="9359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3" name="Line 5"/>
          <p:cNvSpPr>
            <a:spLocks noChangeShapeType="1"/>
          </p:cNvSpPr>
          <p:nvPr/>
        </p:nvSpPr>
        <p:spPr bwMode="auto">
          <a:xfrm>
            <a:off x="7159625"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7" name="Rectangle 9"/>
          <p:cNvSpPr>
            <a:spLocks noChangeArrowheads="1"/>
          </p:cNvSpPr>
          <p:nvPr/>
        </p:nvSpPr>
        <p:spPr bwMode="auto">
          <a:xfrm>
            <a:off x="8450263"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FF0000"/>
                </a:solidFill>
                <a:latin typeface="Tahoma" pitchFamily="-32" charset="0"/>
              </a:rPr>
              <a:t>People</a:t>
            </a:r>
          </a:p>
        </p:txBody>
      </p:sp>
      <p:sp>
        <p:nvSpPr>
          <p:cNvPr id="32778" name="Line 10"/>
          <p:cNvSpPr>
            <a:spLocks noChangeShapeType="1"/>
          </p:cNvSpPr>
          <p:nvPr/>
        </p:nvSpPr>
        <p:spPr bwMode="auto">
          <a:xfrm flipV="1">
            <a:off x="6096000" y="2365375"/>
            <a:ext cx="1588" cy="4587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9" name="Rectangle 11"/>
          <p:cNvSpPr>
            <a:spLocks noChangeArrowheads="1"/>
          </p:cNvSpPr>
          <p:nvPr/>
        </p:nvSpPr>
        <p:spPr bwMode="auto">
          <a:xfrm>
            <a:off x="2320226" y="1785937"/>
            <a:ext cx="7554725" cy="579438"/>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sz="3200" b="1" dirty="0">
                <a:solidFill>
                  <a:srgbClr val="000000"/>
                </a:solidFill>
                <a:latin typeface="Tahoma" pitchFamily="-32" charset="0"/>
              </a:rPr>
              <a:t>Mutual Trust and Respect</a:t>
            </a:r>
          </a:p>
        </p:txBody>
      </p:sp>
    </p:spTree>
    <p:extLst>
      <p:ext uri="{BB962C8B-B14F-4D97-AF65-F5344CB8AC3E}">
        <p14:creationId xmlns:p14="http://schemas.microsoft.com/office/powerpoint/2010/main" val="5223212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7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77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7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7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7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9" grpId="0" animBg="1"/>
      <p:bldP spid="32770" grpId="0" animBg="1"/>
      <p:bldP spid="32771" grpId="0" animBg="1"/>
      <p:bldP spid="32772" grpId="0" animBg="1"/>
      <p:bldP spid="32773" grpId="0" animBg="1"/>
      <p:bldP spid="3277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a:t>Characteristics of a good manager</a:t>
            </a:r>
          </a:p>
        </p:txBody>
      </p:sp>
      <p:sp>
        <p:nvSpPr>
          <p:cNvPr id="3" name="Rectangle 2"/>
          <p:cNvSpPr/>
          <p:nvPr/>
        </p:nvSpPr>
        <p:spPr>
          <a:xfrm>
            <a:off x="3671977" y="1249206"/>
            <a:ext cx="4572000" cy="4893647"/>
          </a:xfrm>
          <a:prstGeom prst="rect">
            <a:avLst/>
          </a:prstGeom>
        </p:spPr>
        <p:txBody>
          <a:bodyPr>
            <a:spAutoFit/>
          </a:bodyPr>
          <a:lstStyle/>
          <a:p>
            <a:pPr algn="ctr">
              <a:lnSpc>
                <a:spcPct val="150000"/>
              </a:lnSpc>
            </a:pPr>
            <a:r>
              <a:rPr lang="en-US" sz="2800" dirty="0">
                <a:solidFill>
                  <a:srgbClr val="000000"/>
                </a:solidFill>
                <a:latin typeface="Myriad Pro"/>
              </a:rPr>
              <a:t> </a:t>
            </a:r>
            <a:r>
              <a:rPr lang="en-US" dirty="0">
                <a:solidFill>
                  <a:srgbClr val="000000"/>
                </a:solidFill>
                <a:latin typeface="Myriad Pro"/>
              </a:rPr>
              <a:t>Is Well Rounded (Flexible in Style)</a:t>
            </a:r>
          </a:p>
          <a:p>
            <a:pPr algn="ctr">
              <a:lnSpc>
                <a:spcPct val="150000"/>
              </a:lnSpc>
            </a:pPr>
            <a:r>
              <a:rPr lang="en-US" dirty="0">
                <a:solidFill>
                  <a:srgbClr val="000000"/>
                </a:solidFill>
                <a:latin typeface="Myriad Pro"/>
              </a:rPr>
              <a:t>Knows Himself / Herself</a:t>
            </a:r>
          </a:p>
          <a:p>
            <a:pPr algn="ctr">
              <a:lnSpc>
                <a:spcPct val="150000"/>
              </a:lnSpc>
            </a:pPr>
            <a:r>
              <a:rPr lang="en-US" dirty="0">
                <a:solidFill>
                  <a:srgbClr val="000000"/>
                </a:solidFill>
                <a:latin typeface="Myriad Pro"/>
              </a:rPr>
              <a:t>Has Balanced View of Self</a:t>
            </a:r>
          </a:p>
          <a:p>
            <a:pPr algn="ctr">
              <a:lnSpc>
                <a:spcPct val="150000"/>
              </a:lnSpc>
            </a:pPr>
            <a:r>
              <a:rPr lang="en-US" dirty="0">
                <a:solidFill>
                  <a:srgbClr val="000000"/>
                </a:solidFill>
                <a:latin typeface="Myriad Pro"/>
              </a:rPr>
              <a:t>Accepts Self</a:t>
            </a:r>
          </a:p>
          <a:p>
            <a:pPr algn="ctr">
              <a:lnSpc>
                <a:spcPct val="150000"/>
              </a:lnSpc>
            </a:pPr>
            <a:r>
              <a:rPr lang="en-US" dirty="0">
                <a:solidFill>
                  <a:srgbClr val="000000"/>
                </a:solidFill>
                <a:latin typeface="Myriad Pro"/>
              </a:rPr>
              <a:t>Is Aware of Effect on Others</a:t>
            </a:r>
          </a:p>
          <a:p>
            <a:pPr algn="ctr">
              <a:lnSpc>
                <a:spcPct val="150000"/>
              </a:lnSpc>
            </a:pPr>
            <a:r>
              <a:rPr lang="en-US" dirty="0">
                <a:solidFill>
                  <a:srgbClr val="000000"/>
                </a:solidFill>
                <a:latin typeface="Myriad Pro"/>
              </a:rPr>
              <a:t>Can Identify Excellence in Others</a:t>
            </a:r>
          </a:p>
          <a:p>
            <a:pPr algn="ctr">
              <a:lnSpc>
                <a:spcPct val="150000"/>
              </a:lnSpc>
            </a:pPr>
            <a:r>
              <a:rPr lang="en-US" dirty="0">
                <a:solidFill>
                  <a:srgbClr val="000000"/>
                </a:solidFill>
                <a:latin typeface="Myriad Pro"/>
              </a:rPr>
              <a:t>Respects the Strengths of Others</a:t>
            </a:r>
          </a:p>
          <a:p>
            <a:pPr algn="ctr">
              <a:lnSpc>
                <a:spcPct val="150000"/>
              </a:lnSpc>
            </a:pPr>
            <a:r>
              <a:rPr lang="en-US" dirty="0">
                <a:solidFill>
                  <a:srgbClr val="000000"/>
                </a:solidFill>
                <a:latin typeface="Myriad Pro"/>
              </a:rPr>
              <a:t>Can Harness Conflict</a:t>
            </a:r>
          </a:p>
          <a:p>
            <a:pPr algn="ctr">
              <a:lnSpc>
                <a:spcPct val="150000"/>
              </a:lnSpc>
            </a:pPr>
            <a:r>
              <a:rPr lang="en-US" dirty="0">
                <a:solidFill>
                  <a:srgbClr val="000000"/>
                </a:solidFill>
                <a:latin typeface="Myriad Pro"/>
              </a:rPr>
              <a:t>Creates a Learning Environment</a:t>
            </a:r>
          </a:p>
          <a:p>
            <a:pPr algn="ctr">
              <a:lnSpc>
                <a:spcPct val="150000"/>
              </a:lnSpc>
            </a:pPr>
            <a:r>
              <a:rPr lang="en-US" dirty="0">
                <a:solidFill>
                  <a:srgbClr val="000000"/>
                </a:solidFill>
                <a:latin typeface="Myriad Pro"/>
              </a:rPr>
              <a:t>=</a:t>
            </a:r>
          </a:p>
          <a:p>
            <a:pPr algn="ctr">
              <a:lnSpc>
                <a:spcPct val="150000"/>
              </a:lnSpc>
            </a:pPr>
            <a:r>
              <a:rPr lang="en-US" dirty="0">
                <a:solidFill>
                  <a:srgbClr val="000000"/>
                </a:solidFill>
                <a:latin typeface="Myriad Pro"/>
              </a:rPr>
              <a:t>Mature, Well-Balanced Individual</a:t>
            </a:r>
            <a:endParaRPr lang="en-US" dirty="0"/>
          </a:p>
        </p:txBody>
      </p:sp>
    </p:spTree>
    <p:extLst>
      <p:ext uri="{BB962C8B-B14F-4D97-AF65-F5344CB8AC3E}">
        <p14:creationId xmlns:p14="http://schemas.microsoft.com/office/powerpoint/2010/main" val="334211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3136900" y="2822575"/>
            <a:ext cx="6223000" cy="15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0" name="Line 2"/>
          <p:cNvSpPr>
            <a:spLocks noChangeShapeType="1"/>
          </p:cNvSpPr>
          <p:nvPr/>
        </p:nvSpPr>
        <p:spPr bwMode="auto">
          <a:xfrm>
            <a:off x="3136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1" name="Line 3"/>
          <p:cNvSpPr>
            <a:spLocks noChangeShapeType="1"/>
          </p:cNvSpPr>
          <p:nvPr/>
        </p:nvSpPr>
        <p:spPr bwMode="auto">
          <a:xfrm>
            <a:off x="5110164" y="2822576"/>
            <a:ext cx="1587"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2" name="Line 4"/>
          <p:cNvSpPr>
            <a:spLocks noChangeShapeType="1"/>
          </p:cNvSpPr>
          <p:nvPr/>
        </p:nvSpPr>
        <p:spPr bwMode="auto">
          <a:xfrm>
            <a:off x="9359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3" name="Line 5"/>
          <p:cNvSpPr>
            <a:spLocks noChangeShapeType="1"/>
          </p:cNvSpPr>
          <p:nvPr/>
        </p:nvSpPr>
        <p:spPr bwMode="auto">
          <a:xfrm>
            <a:off x="7159625"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6" name="Rectangle 8"/>
          <p:cNvSpPr>
            <a:spLocks noChangeArrowheads="1"/>
          </p:cNvSpPr>
          <p:nvPr/>
        </p:nvSpPr>
        <p:spPr bwMode="auto">
          <a:xfrm>
            <a:off x="6096001" y="3429000"/>
            <a:ext cx="2049463"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FF0000"/>
                </a:solidFill>
                <a:latin typeface="Tahoma" pitchFamily="-32" charset="0"/>
              </a:rPr>
              <a:t>Process</a:t>
            </a:r>
          </a:p>
        </p:txBody>
      </p:sp>
      <p:sp>
        <p:nvSpPr>
          <p:cNvPr id="32777" name="Rectangle 9"/>
          <p:cNvSpPr>
            <a:spLocks noChangeArrowheads="1"/>
          </p:cNvSpPr>
          <p:nvPr/>
        </p:nvSpPr>
        <p:spPr bwMode="auto">
          <a:xfrm>
            <a:off x="8450263"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000000"/>
                </a:solidFill>
                <a:latin typeface="Tahoma" pitchFamily="-32" charset="0"/>
              </a:rPr>
              <a:t>People</a:t>
            </a:r>
          </a:p>
        </p:txBody>
      </p:sp>
      <p:sp>
        <p:nvSpPr>
          <p:cNvPr id="32778" name="Line 10"/>
          <p:cNvSpPr>
            <a:spLocks noChangeShapeType="1"/>
          </p:cNvSpPr>
          <p:nvPr/>
        </p:nvSpPr>
        <p:spPr bwMode="auto">
          <a:xfrm flipV="1">
            <a:off x="6096000" y="2365375"/>
            <a:ext cx="1588" cy="4587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9" name="Rectangle 11"/>
          <p:cNvSpPr>
            <a:spLocks noChangeArrowheads="1"/>
          </p:cNvSpPr>
          <p:nvPr/>
        </p:nvSpPr>
        <p:spPr bwMode="auto">
          <a:xfrm>
            <a:off x="2320226" y="1785937"/>
            <a:ext cx="7554725" cy="579438"/>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sz="3200" b="1" dirty="0">
                <a:solidFill>
                  <a:srgbClr val="000000"/>
                </a:solidFill>
                <a:latin typeface="Tahoma" pitchFamily="-32" charset="0"/>
              </a:rPr>
              <a:t>Mutual Trust and Respect</a:t>
            </a:r>
          </a:p>
        </p:txBody>
      </p:sp>
    </p:spTree>
    <p:extLst>
      <p:ext uri="{BB962C8B-B14F-4D97-AF65-F5344CB8AC3E}">
        <p14:creationId xmlns:p14="http://schemas.microsoft.com/office/powerpoint/2010/main" val="17233523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3281083" y="2142932"/>
            <a:ext cx="2088776" cy="2954655"/>
          </a:xfrm>
          <a:prstGeom prst="rect">
            <a:avLst/>
          </a:prstGeom>
        </p:spPr>
        <p:txBody>
          <a:bodyPr vert="horz" wrap="square" lIns="0" tIns="0" rIns="0" bIns="0" rtlCol="0">
            <a:spAutoFit/>
          </a:bodyPr>
          <a:lstStyle/>
          <a:p>
            <a:pPr marL="165100" marR="157480" indent="-24130" algn="ctr">
              <a:lnSpc>
                <a:spcPct val="100400"/>
              </a:lnSpc>
            </a:pPr>
            <a:r>
              <a:rPr sz="2400" spc="-5" dirty="0">
                <a:latin typeface="Times New Roman"/>
                <a:cs typeface="Times New Roman"/>
              </a:rPr>
              <a:t>Defreeze</a:t>
            </a:r>
            <a:endParaRPr lang="en-US" sz="2400" spc="-5" dirty="0">
              <a:latin typeface="Times New Roman"/>
              <a:cs typeface="Times New Roman"/>
            </a:endParaRPr>
          </a:p>
          <a:p>
            <a:pPr marL="165100" marR="157480" indent="-24130" algn="ctr">
              <a:lnSpc>
                <a:spcPct val="100400"/>
              </a:lnSpc>
            </a:pPr>
            <a:r>
              <a:rPr sz="2400" dirty="0">
                <a:latin typeface="Times New Roman"/>
                <a:cs typeface="Times New Roman"/>
              </a:rPr>
              <a:t>A</a:t>
            </a:r>
            <a:r>
              <a:rPr sz="2400" spc="-5" dirty="0">
                <a:latin typeface="Times New Roman"/>
                <a:cs typeface="Times New Roman"/>
              </a:rPr>
              <a:t>cc</a:t>
            </a:r>
            <a:r>
              <a:rPr sz="2400" dirty="0">
                <a:latin typeface="Times New Roman"/>
                <a:cs typeface="Times New Roman"/>
              </a:rPr>
              <a:t>umul</a:t>
            </a:r>
            <a:r>
              <a:rPr sz="2400" spc="-5" dirty="0">
                <a:latin typeface="Times New Roman"/>
                <a:cs typeface="Times New Roman"/>
              </a:rPr>
              <a:t>a</a:t>
            </a:r>
            <a:r>
              <a:rPr sz="2400" dirty="0">
                <a:latin typeface="Times New Roman"/>
                <a:cs typeface="Times New Roman"/>
              </a:rPr>
              <a:t>t</a:t>
            </a:r>
            <a:r>
              <a:rPr lang="en-US" sz="2400" dirty="0">
                <a:latin typeface="Times New Roman"/>
                <a:cs typeface="Times New Roman"/>
              </a:rPr>
              <a:t>e</a:t>
            </a:r>
          </a:p>
          <a:p>
            <a:pPr marL="165100" marR="157480" indent="-24130" algn="ctr">
              <a:lnSpc>
                <a:spcPct val="100400"/>
              </a:lnSpc>
            </a:pPr>
            <a:r>
              <a:rPr sz="2400" spc="-5" dirty="0">
                <a:latin typeface="Times New Roman"/>
                <a:cs typeface="Times New Roman"/>
              </a:rPr>
              <a:t>Deliberate</a:t>
            </a:r>
            <a:endParaRPr lang="en-US" sz="2400" spc="-5" dirty="0">
              <a:latin typeface="Times New Roman"/>
              <a:cs typeface="Times New Roman"/>
            </a:endParaRPr>
          </a:p>
          <a:p>
            <a:pPr marL="165100" marR="157480" indent="-24130" algn="ctr">
              <a:lnSpc>
                <a:spcPct val="100400"/>
              </a:lnSpc>
            </a:pPr>
            <a:r>
              <a:rPr sz="2400" spc="-5" dirty="0">
                <a:latin typeface="Times New Roman"/>
                <a:cs typeface="Times New Roman"/>
              </a:rPr>
              <a:t>Incubate</a:t>
            </a:r>
            <a:endParaRPr lang="en-US" sz="2400" dirty="0">
              <a:latin typeface="Times New Roman"/>
              <a:cs typeface="Times New Roman"/>
            </a:endParaRPr>
          </a:p>
          <a:p>
            <a:pPr marL="165100" marR="157480" indent="-24130" algn="ctr">
              <a:lnSpc>
                <a:spcPct val="100400"/>
              </a:lnSpc>
            </a:pPr>
            <a:r>
              <a:rPr sz="2400" spc="-5" dirty="0">
                <a:latin typeface="Times New Roman"/>
                <a:cs typeface="Times New Roman"/>
              </a:rPr>
              <a:t>Illuminate</a:t>
            </a:r>
            <a:endParaRPr lang="en-US" sz="2400" spc="-5" dirty="0">
              <a:latin typeface="Times New Roman"/>
              <a:cs typeface="Times New Roman"/>
            </a:endParaRPr>
          </a:p>
          <a:p>
            <a:pPr marL="165100" marR="157480" indent="-24130" algn="ctr">
              <a:lnSpc>
                <a:spcPct val="100400"/>
              </a:lnSpc>
            </a:pPr>
            <a:r>
              <a:rPr sz="2400" dirty="0">
                <a:latin typeface="Times New Roman"/>
                <a:cs typeface="Times New Roman"/>
              </a:rPr>
              <a:t>A</a:t>
            </a:r>
            <a:r>
              <a:rPr sz="2400" spc="-5" dirty="0">
                <a:latin typeface="Times New Roman"/>
                <a:cs typeface="Times New Roman"/>
              </a:rPr>
              <a:t>cc</a:t>
            </a:r>
            <a:r>
              <a:rPr sz="2400" dirty="0">
                <a:latin typeface="Times New Roman"/>
                <a:cs typeface="Times New Roman"/>
              </a:rPr>
              <a:t>ommod</a:t>
            </a:r>
            <a:r>
              <a:rPr sz="2400" spc="-5" dirty="0">
                <a:latin typeface="Times New Roman"/>
                <a:cs typeface="Times New Roman"/>
              </a:rPr>
              <a:t>a</a:t>
            </a:r>
            <a:r>
              <a:rPr sz="2400" dirty="0">
                <a:latin typeface="Times New Roman"/>
                <a:cs typeface="Times New Roman"/>
              </a:rPr>
              <a:t>t</a:t>
            </a:r>
            <a:r>
              <a:rPr lang="en-US" sz="2400" dirty="0">
                <a:latin typeface="Times New Roman"/>
                <a:cs typeface="Times New Roman"/>
              </a:rPr>
              <a:t>e</a:t>
            </a:r>
          </a:p>
          <a:p>
            <a:pPr marL="165100" marR="157480" indent="-24130" algn="ctr">
              <a:lnSpc>
                <a:spcPct val="100400"/>
              </a:lnSpc>
            </a:pPr>
            <a:r>
              <a:rPr sz="2400" spc="-5" dirty="0">
                <a:latin typeface="Times New Roman"/>
                <a:cs typeface="Times New Roman"/>
              </a:rPr>
              <a:t>Finalize</a:t>
            </a:r>
            <a:endParaRPr lang="en-US" sz="2400" spc="-5" dirty="0">
              <a:latin typeface="Times New Roman"/>
              <a:cs typeface="Times New Roman"/>
            </a:endParaRPr>
          </a:p>
          <a:p>
            <a:pPr marL="165100" marR="157480" indent="-24130" algn="ctr">
              <a:lnSpc>
                <a:spcPct val="100400"/>
              </a:lnSpc>
            </a:pPr>
            <a:r>
              <a:rPr sz="2400" dirty="0">
                <a:latin typeface="Times New Roman"/>
                <a:cs typeface="Times New Roman"/>
              </a:rPr>
              <a:t>R</a:t>
            </a:r>
            <a:r>
              <a:rPr sz="2400" spc="-5" dirty="0">
                <a:latin typeface="Times New Roman"/>
                <a:cs typeface="Times New Roman"/>
              </a:rPr>
              <a:t>e</a:t>
            </a:r>
            <a:r>
              <a:rPr sz="2400" dirty="0">
                <a:latin typeface="Times New Roman"/>
                <a:cs typeface="Times New Roman"/>
              </a:rPr>
              <a:t>infor</a:t>
            </a:r>
            <a:r>
              <a:rPr sz="2400" spc="-5" dirty="0">
                <a:latin typeface="Times New Roman"/>
                <a:cs typeface="Times New Roman"/>
              </a:rPr>
              <a:t>c</a:t>
            </a:r>
            <a:r>
              <a:rPr sz="2400" dirty="0">
                <a:latin typeface="Times New Roman"/>
                <a:cs typeface="Times New Roman"/>
              </a:rPr>
              <a:t>e</a:t>
            </a:r>
          </a:p>
        </p:txBody>
      </p:sp>
      <p:sp>
        <p:nvSpPr>
          <p:cNvPr id="4" name="object 3"/>
          <p:cNvSpPr/>
          <p:nvPr/>
        </p:nvSpPr>
        <p:spPr>
          <a:xfrm>
            <a:off x="2514600" y="2057400"/>
            <a:ext cx="990600" cy="3276600"/>
          </a:xfrm>
          <a:custGeom>
            <a:avLst/>
            <a:gdLst/>
            <a:ahLst/>
            <a:cxnLst/>
            <a:rect l="l" t="t" r="r" b="b"/>
            <a:pathLst>
              <a:path w="990600" h="3276600">
                <a:moveTo>
                  <a:pt x="0" y="0"/>
                </a:moveTo>
                <a:lnTo>
                  <a:pt x="990599" y="3276597"/>
                </a:lnTo>
              </a:path>
            </a:pathLst>
          </a:custGeom>
          <a:ln w="9524">
            <a:solidFill>
              <a:srgbClr val="000000"/>
            </a:solidFill>
          </a:ln>
        </p:spPr>
        <p:txBody>
          <a:bodyPr wrap="square" lIns="0" tIns="0" rIns="0" bIns="0" rtlCol="0"/>
          <a:lstStyle/>
          <a:p>
            <a:endParaRPr/>
          </a:p>
        </p:txBody>
      </p:sp>
      <p:sp>
        <p:nvSpPr>
          <p:cNvPr id="5" name="object 4"/>
          <p:cNvSpPr/>
          <p:nvPr/>
        </p:nvSpPr>
        <p:spPr>
          <a:xfrm>
            <a:off x="5105400" y="2133600"/>
            <a:ext cx="1066800" cy="3200400"/>
          </a:xfrm>
          <a:custGeom>
            <a:avLst/>
            <a:gdLst/>
            <a:ahLst/>
            <a:cxnLst/>
            <a:rect l="l" t="t" r="r" b="b"/>
            <a:pathLst>
              <a:path w="1066800" h="3200400">
                <a:moveTo>
                  <a:pt x="1066799" y="0"/>
                </a:moveTo>
                <a:lnTo>
                  <a:pt x="0" y="3200397"/>
                </a:lnTo>
              </a:path>
            </a:pathLst>
          </a:custGeom>
          <a:ln w="9524">
            <a:solidFill>
              <a:srgbClr val="000000"/>
            </a:solidFill>
          </a:ln>
        </p:spPr>
        <p:txBody>
          <a:bodyPr wrap="square" lIns="0" tIns="0" rIns="0" bIns="0" rtlCol="0"/>
          <a:lstStyle/>
          <a:p>
            <a:endParaRPr/>
          </a:p>
        </p:txBody>
      </p:sp>
      <p:sp>
        <p:nvSpPr>
          <p:cNvPr id="6" name="object 5"/>
          <p:cNvSpPr txBox="1">
            <a:spLocks noGrp="1"/>
          </p:cNvSpPr>
          <p:nvPr>
            <p:ph type="title"/>
          </p:nvPr>
        </p:nvSpPr>
        <p:spPr>
          <a:xfrm>
            <a:off x="1992502" y="139233"/>
            <a:ext cx="8675499" cy="1278554"/>
          </a:xfrm>
          <a:prstGeom prst="rect">
            <a:avLst/>
          </a:prstGeom>
        </p:spPr>
        <p:txBody>
          <a:bodyPr vert="horz" wrap="square" lIns="0" tIns="717549" rIns="0" bIns="0" rtlCol="0" anchor="ctr">
            <a:spAutoFit/>
          </a:bodyPr>
          <a:lstStyle/>
          <a:p>
            <a:pPr marL="1534795">
              <a:lnSpc>
                <a:spcPct val="100000"/>
              </a:lnSpc>
            </a:pPr>
            <a:r>
              <a:rPr sz="3600" dirty="0">
                <a:latin typeface="Tahoma"/>
                <a:cs typeface="Tahoma"/>
              </a:rPr>
              <a:t>8 </a:t>
            </a:r>
            <a:r>
              <a:rPr sz="3600" spc="-5" dirty="0">
                <a:latin typeface="Tahoma"/>
                <a:cs typeface="Tahoma"/>
              </a:rPr>
              <a:t>Steps </a:t>
            </a:r>
            <a:r>
              <a:rPr sz="3600" dirty="0">
                <a:latin typeface="Tahoma"/>
                <a:cs typeface="Tahoma"/>
              </a:rPr>
              <a:t>in </a:t>
            </a:r>
            <a:r>
              <a:rPr sz="3600" spc="-5" dirty="0">
                <a:latin typeface="Tahoma"/>
                <a:cs typeface="Tahoma"/>
              </a:rPr>
              <a:t>Decision</a:t>
            </a:r>
            <a:r>
              <a:rPr sz="3600" spc="-35" dirty="0">
                <a:latin typeface="Tahoma"/>
                <a:cs typeface="Tahoma"/>
              </a:rPr>
              <a:t> </a:t>
            </a:r>
            <a:r>
              <a:rPr sz="3600" spc="-5" dirty="0">
                <a:latin typeface="Tahoma"/>
                <a:cs typeface="Tahoma"/>
              </a:rPr>
              <a:t>Making</a:t>
            </a:r>
          </a:p>
        </p:txBody>
      </p:sp>
      <p:sp>
        <p:nvSpPr>
          <p:cNvPr id="11" name="object 10"/>
          <p:cNvSpPr/>
          <p:nvPr/>
        </p:nvSpPr>
        <p:spPr>
          <a:xfrm>
            <a:off x="6133388" y="2057400"/>
            <a:ext cx="228600" cy="1981200"/>
          </a:xfrm>
          <a:custGeom>
            <a:avLst/>
            <a:gdLst/>
            <a:ahLst/>
            <a:cxnLst/>
            <a:rect l="l" t="t" r="r" b="b"/>
            <a:pathLst>
              <a:path w="228600" h="1981200">
                <a:moveTo>
                  <a:pt x="0" y="0"/>
                </a:moveTo>
                <a:lnTo>
                  <a:pt x="44490" y="1499"/>
                </a:lnTo>
                <a:lnTo>
                  <a:pt x="80822" y="5588"/>
                </a:lnTo>
                <a:lnTo>
                  <a:pt x="105317" y="11652"/>
                </a:lnTo>
                <a:lnTo>
                  <a:pt x="114300" y="19079"/>
                </a:lnTo>
                <a:lnTo>
                  <a:pt x="114300" y="971520"/>
                </a:lnTo>
                <a:lnTo>
                  <a:pt x="123282" y="978946"/>
                </a:lnTo>
                <a:lnTo>
                  <a:pt x="147777" y="985011"/>
                </a:lnTo>
                <a:lnTo>
                  <a:pt x="184109" y="989099"/>
                </a:lnTo>
                <a:lnTo>
                  <a:pt x="228600" y="990599"/>
                </a:lnTo>
                <a:lnTo>
                  <a:pt x="184109" y="992098"/>
                </a:lnTo>
                <a:lnTo>
                  <a:pt x="147777" y="996187"/>
                </a:lnTo>
                <a:lnTo>
                  <a:pt x="123282" y="1002252"/>
                </a:lnTo>
                <a:lnTo>
                  <a:pt x="114300" y="1009679"/>
                </a:lnTo>
                <a:lnTo>
                  <a:pt x="114300" y="1962118"/>
                </a:lnTo>
                <a:lnTo>
                  <a:pt x="105317" y="1969546"/>
                </a:lnTo>
                <a:lnTo>
                  <a:pt x="80822" y="1975611"/>
                </a:lnTo>
                <a:lnTo>
                  <a:pt x="44490" y="1979699"/>
                </a:lnTo>
                <a:lnTo>
                  <a:pt x="0" y="1981198"/>
                </a:lnTo>
              </a:path>
            </a:pathLst>
          </a:custGeom>
          <a:ln w="15874">
            <a:solidFill>
              <a:srgbClr val="000000"/>
            </a:solidFill>
          </a:ln>
        </p:spPr>
        <p:txBody>
          <a:bodyPr wrap="square" lIns="0" tIns="0" rIns="0" bIns="0" rtlCol="0"/>
          <a:lstStyle/>
          <a:p>
            <a:endParaRPr/>
          </a:p>
        </p:txBody>
      </p:sp>
      <p:sp>
        <p:nvSpPr>
          <p:cNvPr id="12" name="object 11"/>
          <p:cNvSpPr txBox="1"/>
          <p:nvPr/>
        </p:nvSpPr>
        <p:spPr>
          <a:xfrm>
            <a:off x="6466129" y="2411578"/>
            <a:ext cx="1109345" cy="1114425"/>
          </a:xfrm>
          <a:prstGeom prst="rect">
            <a:avLst/>
          </a:prstGeom>
        </p:spPr>
        <p:txBody>
          <a:bodyPr vert="horz" wrap="square" lIns="0" tIns="0" rIns="0" bIns="0" rtlCol="0">
            <a:spAutoFit/>
          </a:bodyPr>
          <a:lstStyle/>
          <a:p>
            <a:pPr marL="12700" marR="5080">
              <a:lnSpc>
                <a:spcPct val="99000"/>
              </a:lnSpc>
            </a:pPr>
            <a:r>
              <a:rPr sz="2400" dirty="0">
                <a:latin typeface="Times New Roman"/>
                <a:cs typeface="Times New Roman"/>
              </a:rPr>
              <a:t>Short  D</a:t>
            </a:r>
            <a:r>
              <a:rPr sz="2400" spc="-5" dirty="0">
                <a:latin typeface="Times New Roman"/>
                <a:cs typeface="Times New Roman"/>
              </a:rPr>
              <a:t>ec</a:t>
            </a:r>
            <a:r>
              <a:rPr sz="2400" dirty="0">
                <a:latin typeface="Times New Roman"/>
                <a:cs typeface="Times New Roman"/>
              </a:rPr>
              <a:t>ision  </a:t>
            </a:r>
            <a:r>
              <a:rPr sz="2400" spc="-5" dirty="0">
                <a:latin typeface="Times New Roman"/>
                <a:cs typeface="Times New Roman"/>
              </a:rPr>
              <a:t>Making</a:t>
            </a:r>
            <a:endParaRPr sz="2400" dirty="0">
              <a:latin typeface="Times New Roman"/>
              <a:cs typeface="Times New Roman"/>
            </a:endParaRPr>
          </a:p>
        </p:txBody>
      </p:sp>
      <p:sp>
        <p:nvSpPr>
          <p:cNvPr id="13" name="object 12"/>
          <p:cNvSpPr/>
          <p:nvPr/>
        </p:nvSpPr>
        <p:spPr>
          <a:xfrm>
            <a:off x="6133388" y="4114800"/>
            <a:ext cx="228600" cy="2743200"/>
          </a:xfrm>
          <a:custGeom>
            <a:avLst/>
            <a:gdLst/>
            <a:ahLst/>
            <a:cxnLst/>
            <a:rect l="l" t="t" r="r" b="b"/>
            <a:pathLst>
              <a:path w="228600" h="2743200">
                <a:moveTo>
                  <a:pt x="0" y="0"/>
                </a:moveTo>
                <a:lnTo>
                  <a:pt x="44490" y="1496"/>
                </a:lnTo>
                <a:lnTo>
                  <a:pt x="80822" y="5579"/>
                </a:lnTo>
                <a:lnTo>
                  <a:pt x="105317" y="11634"/>
                </a:lnTo>
                <a:lnTo>
                  <a:pt x="114300" y="19048"/>
                </a:lnTo>
                <a:lnTo>
                  <a:pt x="114300" y="1352548"/>
                </a:lnTo>
                <a:lnTo>
                  <a:pt x="123282" y="1359963"/>
                </a:lnTo>
                <a:lnTo>
                  <a:pt x="147777" y="1366018"/>
                </a:lnTo>
                <a:lnTo>
                  <a:pt x="184109" y="1370101"/>
                </a:lnTo>
                <a:lnTo>
                  <a:pt x="228600" y="1371598"/>
                </a:lnTo>
                <a:lnTo>
                  <a:pt x="184109" y="1373096"/>
                </a:lnTo>
                <a:lnTo>
                  <a:pt x="147777" y="1377178"/>
                </a:lnTo>
                <a:lnTo>
                  <a:pt x="123282" y="1383234"/>
                </a:lnTo>
                <a:lnTo>
                  <a:pt x="114300" y="1390648"/>
                </a:lnTo>
                <a:lnTo>
                  <a:pt x="114300" y="2724147"/>
                </a:lnTo>
                <a:lnTo>
                  <a:pt x="105317" y="2731562"/>
                </a:lnTo>
                <a:lnTo>
                  <a:pt x="80822" y="2737617"/>
                </a:lnTo>
                <a:lnTo>
                  <a:pt x="44490" y="2741700"/>
                </a:lnTo>
                <a:lnTo>
                  <a:pt x="0" y="2743197"/>
                </a:lnTo>
              </a:path>
            </a:pathLst>
          </a:custGeom>
          <a:ln w="15874">
            <a:solidFill>
              <a:srgbClr val="000000"/>
            </a:solidFill>
          </a:ln>
        </p:spPr>
        <p:txBody>
          <a:bodyPr wrap="square" lIns="0" tIns="0" rIns="0" bIns="0" rtlCol="0"/>
          <a:lstStyle/>
          <a:p>
            <a:endParaRPr/>
          </a:p>
        </p:txBody>
      </p:sp>
      <p:sp>
        <p:nvSpPr>
          <p:cNvPr id="14" name="object 13"/>
          <p:cNvSpPr txBox="1"/>
          <p:nvPr/>
        </p:nvSpPr>
        <p:spPr>
          <a:xfrm>
            <a:off x="6593129" y="5303520"/>
            <a:ext cx="1312545" cy="369332"/>
          </a:xfrm>
          <a:prstGeom prst="rect">
            <a:avLst/>
          </a:prstGeom>
        </p:spPr>
        <p:txBody>
          <a:bodyPr vert="horz" wrap="square" lIns="0" tIns="0" rIns="0" bIns="0" rtlCol="0">
            <a:spAutoFit/>
          </a:bodyPr>
          <a:lstStyle/>
          <a:p>
            <a:pPr marL="12700"/>
            <a:r>
              <a:rPr sz="2400" dirty="0">
                <a:latin typeface="Times New Roman"/>
                <a:cs typeface="Times New Roman"/>
              </a:rPr>
              <a:t>Long</a:t>
            </a:r>
            <a:r>
              <a:rPr sz="2400" spc="-100" dirty="0">
                <a:latin typeface="Times New Roman"/>
                <a:cs typeface="Times New Roman"/>
              </a:rPr>
              <a:t> </a:t>
            </a:r>
            <a:r>
              <a:rPr sz="2400" dirty="0">
                <a:latin typeface="Times New Roman"/>
                <a:cs typeface="Times New Roman"/>
              </a:rPr>
              <a:t>Imp.</a:t>
            </a:r>
          </a:p>
        </p:txBody>
      </p:sp>
      <p:sp>
        <p:nvSpPr>
          <p:cNvPr id="16" name="object 6"/>
          <p:cNvSpPr/>
          <p:nvPr/>
        </p:nvSpPr>
        <p:spPr>
          <a:xfrm>
            <a:off x="8520018" y="2057400"/>
            <a:ext cx="228600" cy="3124200"/>
          </a:xfrm>
          <a:custGeom>
            <a:avLst/>
            <a:gdLst/>
            <a:ahLst/>
            <a:cxnLst/>
            <a:rect l="l" t="t" r="r" b="b"/>
            <a:pathLst>
              <a:path w="228600" h="3124200">
                <a:moveTo>
                  <a:pt x="0" y="0"/>
                </a:moveTo>
                <a:lnTo>
                  <a:pt x="44490" y="1500"/>
                </a:lnTo>
                <a:lnTo>
                  <a:pt x="80822" y="5592"/>
                </a:lnTo>
                <a:lnTo>
                  <a:pt x="105317" y="11661"/>
                </a:lnTo>
                <a:lnTo>
                  <a:pt x="114299" y="19092"/>
                </a:lnTo>
                <a:lnTo>
                  <a:pt x="114299" y="1543008"/>
                </a:lnTo>
                <a:lnTo>
                  <a:pt x="123282" y="1550438"/>
                </a:lnTo>
                <a:lnTo>
                  <a:pt x="147777" y="1556506"/>
                </a:lnTo>
                <a:lnTo>
                  <a:pt x="184109" y="1560598"/>
                </a:lnTo>
                <a:lnTo>
                  <a:pt x="228599" y="1562098"/>
                </a:lnTo>
                <a:lnTo>
                  <a:pt x="184109" y="1563599"/>
                </a:lnTo>
                <a:lnTo>
                  <a:pt x="147777" y="1567691"/>
                </a:lnTo>
                <a:lnTo>
                  <a:pt x="123282" y="1573759"/>
                </a:lnTo>
                <a:lnTo>
                  <a:pt x="114299" y="1581188"/>
                </a:lnTo>
                <a:lnTo>
                  <a:pt x="114299" y="3105107"/>
                </a:lnTo>
                <a:lnTo>
                  <a:pt x="105317" y="3112537"/>
                </a:lnTo>
                <a:lnTo>
                  <a:pt x="80822" y="3118605"/>
                </a:lnTo>
                <a:lnTo>
                  <a:pt x="44490" y="3122697"/>
                </a:lnTo>
                <a:lnTo>
                  <a:pt x="0" y="3124197"/>
                </a:lnTo>
              </a:path>
            </a:pathLst>
          </a:custGeom>
          <a:ln w="15874">
            <a:solidFill>
              <a:srgbClr val="000000"/>
            </a:solidFill>
          </a:ln>
        </p:spPr>
        <p:txBody>
          <a:bodyPr wrap="square" lIns="0" tIns="0" rIns="0" bIns="0" rtlCol="0"/>
          <a:lstStyle/>
          <a:p>
            <a:endParaRPr/>
          </a:p>
        </p:txBody>
      </p:sp>
      <p:sp>
        <p:nvSpPr>
          <p:cNvPr id="17" name="object 7"/>
          <p:cNvSpPr/>
          <p:nvPr/>
        </p:nvSpPr>
        <p:spPr>
          <a:xfrm>
            <a:off x="8520018" y="5257800"/>
            <a:ext cx="152400" cy="457200"/>
          </a:xfrm>
          <a:custGeom>
            <a:avLst/>
            <a:gdLst/>
            <a:ahLst/>
            <a:cxnLst/>
            <a:rect l="l" t="t" r="r" b="b"/>
            <a:pathLst>
              <a:path w="152400" h="457200">
                <a:moveTo>
                  <a:pt x="0" y="0"/>
                </a:moveTo>
                <a:lnTo>
                  <a:pt x="29660" y="997"/>
                </a:lnTo>
                <a:lnTo>
                  <a:pt x="53881" y="3719"/>
                </a:lnTo>
                <a:lnTo>
                  <a:pt x="70211" y="7755"/>
                </a:lnTo>
                <a:lnTo>
                  <a:pt x="76199" y="12699"/>
                </a:lnTo>
                <a:lnTo>
                  <a:pt x="76199" y="215900"/>
                </a:lnTo>
                <a:lnTo>
                  <a:pt x="82188" y="220844"/>
                </a:lnTo>
                <a:lnTo>
                  <a:pt x="98518" y="224880"/>
                </a:lnTo>
                <a:lnTo>
                  <a:pt x="122739" y="227601"/>
                </a:lnTo>
                <a:lnTo>
                  <a:pt x="152399" y="228599"/>
                </a:lnTo>
                <a:lnTo>
                  <a:pt x="122739" y="229597"/>
                </a:lnTo>
                <a:lnTo>
                  <a:pt x="98518" y="232319"/>
                </a:lnTo>
                <a:lnTo>
                  <a:pt x="82188" y="236355"/>
                </a:lnTo>
                <a:lnTo>
                  <a:pt x="76199" y="241298"/>
                </a:lnTo>
                <a:lnTo>
                  <a:pt x="76199" y="444500"/>
                </a:lnTo>
                <a:lnTo>
                  <a:pt x="70211" y="449443"/>
                </a:lnTo>
                <a:lnTo>
                  <a:pt x="53881" y="453479"/>
                </a:lnTo>
                <a:lnTo>
                  <a:pt x="29660" y="456201"/>
                </a:lnTo>
                <a:lnTo>
                  <a:pt x="0" y="457199"/>
                </a:lnTo>
              </a:path>
            </a:pathLst>
          </a:custGeom>
          <a:ln w="15874">
            <a:solidFill>
              <a:srgbClr val="000000"/>
            </a:solidFill>
          </a:ln>
        </p:spPr>
        <p:txBody>
          <a:bodyPr wrap="square" lIns="0" tIns="0" rIns="0" bIns="0" rtlCol="0"/>
          <a:lstStyle/>
          <a:p>
            <a:endParaRPr/>
          </a:p>
        </p:txBody>
      </p:sp>
      <p:sp>
        <p:nvSpPr>
          <p:cNvPr id="18" name="object 8"/>
          <p:cNvSpPr txBox="1"/>
          <p:nvPr/>
        </p:nvSpPr>
        <p:spPr>
          <a:xfrm>
            <a:off x="9005159" y="3325978"/>
            <a:ext cx="1109345" cy="1114425"/>
          </a:xfrm>
          <a:prstGeom prst="rect">
            <a:avLst/>
          </a:prstGeom>
        </p:spPr>
        <p:txBody>
          <a:bodyPr vert="horz" wrap="square" lIns="0" tIns="0" rIns="0" bIns="0" rtlCol="0">
            <a:spAutoFit/>
          </a:bodyPr>
          <a:lstStyle/>
          <a:p>
            <a:pPr marL="12700" marR="5080">
              <a:lnSpc>
                <a:spcPct val="99000"/>
              </a:lnSpc>
            </a:pPr>
            <a:r>
              <a:rPr sz="2400" dirty="0">
                <a:latin typeface="Times New Roman"/>
                <a:cs typeface="Times New Roman"/>
              </a:rPr>
              <a:t>Long  D</a:t>
            </a:r>
            <a:r>
              <a:rPr sz="2400" spc="-5" dirty="0">
                <a:latin typeface="Times New Roman"/>
                <a:cs typeface="Times New Roman"/>
              </a:rPr>
              <a:t>ec</a:t>
            </a:r>
            <a:r>
              <a:rPr sz="2400" dirty="0">
                <a:latin typeface="Times New Roman"/>
                <a:cs typeface="Times New Roman"/>
              </a:rPr>
              <a:t>ision  </a:t>
            </a:r>
            <a:r>
              <a:rPr sz="2400" spc="-5" dirty="0">
                <a:latin typeface="Times New Roman"/>
                <a:cs typeface="Times New Roman"/>
              </a:rPr>
              <a:t>Making</a:t>
            </a:r>
            <a:endParaRPr sz="2400">
              <a:latin typeface="Times New Roman"/>
              <a:cs typeface="Times New Roman"/>
            </a:endParaRPr>
          </a:p>
        </p:txBody>
      </p:sp>
      <p:sp>
        <p:nvSpPr>
          <p:cNvPr id="19" name="object 9"/>
          <p:cNvSpPr txBox="1"/>
          <p:nvPr/>
        </p:nvSpPr>
        <p:spPr>
          <a:xfrm>
            <a:off x="8827358" y="5379720"/>
            <a:ext cx="1329690" cy="369332"/>
          </a:xfrm>
          <a:prstGeom prst="rect">
            <a:avLst/>
          </a:prstGeom>
        </p:spPr>
        <p:txBody>
          <a:bodyPr vert="horz" wrap="square" lIns="0" tIns="0" rIns="0" bIns="0" rtlCol="0">
            <a:spAutoFit/>
          </a:bodyPr>
          <a:lstStyle/>
          <a:p>
            <a:pPr marL="12700"/>
            <a:r>
              <a:rPr sz="2400" dirty="0">
                <a:latin typeface="Times New Roman"/>
                <a:cs typeface="Times New Roman"/>
              </a:rPr>
              <a:t>Short</a:t>
            </a:r>
            <a:r>
              <a:rPr sz="2400" spc="-100" dirty="0">
                <a:latin typeface="Times New Roman"/>
                <a:cs typeface="Times New Roman"/>
              </a:rPr>
              <a:t> </a:t>
            </a:r>
            <a:r>
              <a:rPr sz="2400" dirty="0">
                <a:latin typeface="Times New Roman"/>
                <a:cs typeface="Times New Roman"/>
              </a:rPr>
              <a:t>Imp.</a:t>
            </a:r>
            <a:endParaRPr sz="2400">
              <a:latin typeface="Times New Roman"/>
              <a:cs typeface="Times New Roman"/>
            </a:endParaRPr>
          </a:p>
        </p:txBody>
      </p:sp>
    </p:spTree>
    <p:extLst>
      <p:ext uri="{BB962C8B-B14F-4D97-AF65-F5344CB8AC3E}">
        <p14:creationId xmlns:p14="http://schemas.microsoft.com/office/powerpoint/2010/main" val="296728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12" grpId="0"/>
      <p:bldP spid="13" grpId="0" animBg="1"/>
      <p:bldP spid="14" grpId="0"/>
      <p:bldP spid="16" grpId="0" animBg="1"/>
      <p:bldP spid="17" grpId="0" animBg="1"/>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72064" y="2125679"/>
            <a:ext cx="2088776" cy="2954655"/>
          </a:xfrm>
          <a:prstGeom prst="rect">
            <a:avLst/>
          </a:prstGeom>
        </p:spPr>
        <p:txBody>
          <a:bodyPr vert="horz" wrap="square" lIns="0" tIns="0" rIns="0" bIns="0" rtlCol="0">
            <a:spAutoFit/>
          </a:bodyPr>
          <a:lstStyle/>
          <a:p>
            <a:pPr marL="165100" marR="157480" indent="-24130" algn="ctr">
              <a:lnSpc>
                <a:spcPct val="100400"/>
              </a:lnSpc>
            </a:pPr>
            <a:r>
              <a:rPr sz="2400" spc="-5" dirty="0">
                <a:latin typeface="Times New Roman"/>
                <a:cs typeface="Times New Roman"/>
              </a:rPr>
              <a:t>Defreeze</a:t>
            </a:r>
            <a:endParaRPr lang="en-US" sz="2400" spc="-5" dirty="0">
              <a:latin typeface="Times New Roman"/>
              <a:cs typeface="Times New Roman"/>
            </a:endParaRPr>
          </a:p>
          <a:p>
            <a:pPr marL="165100" marR="157480" indent="-24130" algn="ctr">
              <a:lnSpc>
                <a:spcPct val="100400"/>
              </a:lnSpc>
            </a:pPr>
            <a:r>
              <a:rPr sz="2400" dirty="0">
                <a:latin typeface="Times New Roman"/>
                <a:cs typeface="Times New Roman"/>
              </a:rPr>
              <a:t>A</a:t>
            </a:r>
            <a:r>
              <a:rPr sz="2400" spc="-5" dirty="0">
                <a:latin typeface="Times New Roman"/>
                <a:cs typeface="Times New Roman"/>
              </a:rPr>
              <a:t>cc</a:t>
            </a:r>
            <a:r>
              <a:rPr sz="2400" dirty="0">
                <a:latin typeface="Times New Roman"/>
                <a:cs typeface="Times New Roman"/>
              </a:rPr>
              <a:t>umul</a:t>
            </a:r>
            <a:r>
              <a:rPr sz="2400" spc="-5" dirty="0">
                <a:latin typeface="Times New Roman"/>
                <a:cs typeface="Times New Roman"/>
              </a:rPr>
              <a:t>a</a:t>
            </a:r>
            <a:r>
              <a:rPr sz="2400" dirty="0">
                <a:latin typeface="Times New Roman"/>
                <a:cs typeface="Times New Roman"/>
              </a:rPr>
              <a:t>t</a:t>
            </a:r>
            <a:r>
              <a:rPr lang="en-US" sz="2400" dirty="0">
                <a:latin typeface="Times New Roman"/>
                <a:cs typeface="Times New Roman"/>
              </a:rPr>
              <a:t>e</a:t>
            </a:r>
          </a:p>
          <a:p>
            <a:pPr marL="165100" marR="157480" indent="-24130" algn="ctr">
              <a:lnSpc>
                <a:spcPct val="100400"/>
              </a:lnSpc>
            </a:pPr>
            <a:r>
              <a:rPr sz="2400" spc="-5" dirty="0">
                <a:latin typeface="Times New Roman"/>
                <a:cs typeface="Times New Roman"/>
              </a:rPr>
              <a:t>Deliberate</a:t>
            </a:r>
            <a:endParaRPr lang="en-US" sz="2400" spc="-5" dirty="0">
              <a:latin typeface="Times New Roman"/>
              <a:cs typeface="Times New Roman"/>
            </a:endParaRPr>
          </a:p>
          <a:p>
            <a:pPr marL="165100" marR="157480" indent="-24130" algn="ctr">
              <a:lnSpc>
                <a:spcPct val="100400"/>
              </a:lnSpc>
            </a:pPr>
            <a:r>
              <a:rPr sz="2400" spc="-5" dirty="0">
                <a:latin typeface="Times New Roman"/>
                <a:cs typeface="Times New Roman"/>
              </a:rPr>
              <a:t>Incubate</a:t>
            </a:r>
            <a:endParaRPr lang="en-US" sz="2400" dirty="0">
              <a:latin typeface="Times New Roman"/>
              <a:cs typeface="Times New Roman"/>
            </a:endParaRPr>
          </a:p>
          <a:p>
            <a:pPr marL="165100" marR="157480" indent="-24130" algn="ctr">
              <a:lnSpc>
                <a:spcPct val="100400"/>
              </a:lnSpc>
            </a:pPr>
            <a:r>
              <a:rPr sz="2400" spc="-5" dirty="0">
                <a:latin typeface="Times New Roman"/>
                <a:cs typeface="Times New Roman"/>
              </a:rPr>
              <a:t>Illuminate</a:t>
            </a:r>
            <a:endParaRPr lang="en-US" sz="2400" spc="-5" dirty="0">
              <a:latin typeface="Times New Roman"/>
              <a:cs typeface="Times New Roman"/>
            </a:endParaRPr>
          </a:p>
          <a:p>
            <a:pPr marL="165100" marR="157480" indent="-24130" algn="ctr">
              <a:lnSpc>
                <a:spcPct val="100400"/>
              </a:lnSpc>
            </a:pPr>
            <a:r>
              <a:rPr sz="2400" dirty="0">
                <a:latin typeface="Times New Roman"/>
                <a:cs typeface="Times New Roman"/>
              </a:rPr>
              <a:t>A</a:t>
            </a:r>
            <a:r>
              <a:rPr sz="2400" spc="-5" dirty="0">
                <a:latin typeface="Times New Roman"/>
                <a:cs typeface="Times New Roman"/>
              </a:rPr>
              <a:t>cc</a:t>
            </a:r>
            <a:r>
              <a:rPr sz="2400" dirty="0">
                <a:latin typeface="Times New Roman"/>
                <a:cs typeface="Times New Roman"/>
              </a:rPr>
              <a:t>ommod</a:t>
            </a:r>
            <a:r>
              <a:rPr sz="2400" spc="-5" dirty="0">
                <a:latin typeface="Times New Roman"/>
                <a:cs typeface="Times New Roman"/>
              </a:rPr>
              <a:t>a</a:t>
            </a:r>
            <a:r>
              <a:rPr sz="2400" dirty="0">
                <a:latin typeface="Times New Roman"/>
                <a:cs typeface="Times New Roman"/>
              </a:rPr>
              <a:t>t</a:t>
            </a:r>
            <a:r>
              <a:rPr lang="en-US" sz="2400" dirty="0">
                <a:latin typeface="Times New Roman"/>
                <a:cs typeface="Times New Roman"/>
              </a:rPr>
              <a:t>e</a:t>
            </a:r>
          </a:p>
          <a:p>
            <a:pPr marL="165100" marR="157480" indent="-24130" algn="ctr">
              <a:lnSpc>
                <a:spcPct val="100400"/>
              </a:lnSpc>
            </a:pPr>
            <a:r>
              <a:rPr sz="2400" spc="-5" dirty="0">
                <a:latin typeface="Times New Roman"/>
                <a:cs typeface="Times New Roman"/>
              </a:rPr>
              <a:t>Finalize</a:t>
            </a:r>
            <a:endParaRPr lang="en-US" sz="2400" spc="-5" dirty="0">
              <a:latin typeface="Times New Roman"/>
              <a:cs typeface="Times New Roman"/>
            </a:endParaRPr>
          </a:p>
          <a:p>
            <a:pPr marL="165100" marR="157480" indent="-24130" algn="ctr">
              <a:lnSpc>
                <a:spcPct val="100400"/>
              </a:lnSpc>
            </a:pPr>
            <a:r>
              <a:rPr sz="2400" dirty="0">
                <a:latin typeface="Times New Roman"/>
                <a:cs typeface="Times New Roman"/>
              </a:rPr>
              <a:t>R</a:t>
            </a:r>
            <a:r>
              <a:rPr sz="2400" spc="-5" dirty="0">
                <a:latin typeface="Times New Roman"/>
                <a:cs typeface="Times New Roman"/>
              </a:rPr>
              <a:t>e</a:t>
            </a:r>
            <a:r>
              <a:rPr sz="2400" dirty="0">
                <a:latin typeface="Times New Roman"/>
                <a:cs typeface="Times New Roman"/>
              </a:rPr>
              <a:t>infor</a:t>
            </a:r>
            <a:r>
              <a:rPr sz="2400" spc="-5" dirty="0">
                <a:latin typeface="Times New Roman"/>
                <a:cs typeface="Times New Roman"/>
              </a:rPr>
              <a:t>c</a:t>
            </a:r>
            <a:r>
              <a:rPr sz="2400" dirty="0">
                <a:latin typeface="Times New Roman"/>
                <a:cs typeface="Times New Roman"/>
              </a:rPr>
              <a:t>e</a:t>
            </a:r>
          </a:p>
        </p:txBody>
      </p:sp>
      <p:sp>
        <p:nvSpPr>
          <p:cNvPr id="6" name="object 5"/>
          <p:cNvSpPr txBox="1">
            <a:spLocks noGrp="1"/>
          </p:cNvSpPr>
          <p:nvPr>
            <p:ph type="title"/>
          </p:nvPr>
        </p:nvSpPr>
        <p:spPr>
          <a:xfrm>
            <a:off x="1992502" y="-412855"/>
            <a:ext cx="8675499" cy="1278554"/>
          </a:xfrm>
          <a:prstGeom prst="rect">
            <a:avLst/>
          </a:prstGeom>
        </p:spPr>
        <p:txBody>
          <a:bodyPr vert="horz" wrap="square" lIns="0" tIns="717549" rIns="0" bIns="0" rtlCol="0" anchor="ctr">
            <a:spAutoFit/>
          </a:bodyPr>
          <a:lstStyle/>
          <a:p>
            <a:pPr marL="1534795">
              <a:lnSpc>
                <a:spcPct val="100000"/>
              </a:lnSpc>
            </a:pPr>
            <a:r>
              <a:rPr lang="en-US" sz="3600" dirty="0">
                <a:latin typeface="Tahoma"/>
                <a:cs typeface="Tahoma"/>
              </a:rPr>
              <a:t>Types of </a:t>
            </a:r>
            <a:r>
              <a:rPr sz="3600" spc="-5" dirty="0">
                <a:latin typeface="Tahoma"/>
                <a:cs typeface="Tahoma"/>
              </a:rPr>
              <a:t>Decision</a:t>
            </a:r>
            <a:r>
              <a:rPr sz="3600" spc="-35" dirty="0">
                <a:latin typeface="Tahoma"/>
                <a:cs typeface="Tahoma"/>
              </a:rPr>
              <a:t> </a:t>
            </a:r>
            <a:r>
              <a:rPr sz="3600" spc="-5" dirty="0">
                <a:latin typeface="Tahoma"/>
                <a:cs typeface="Tahoma"/>
              </a:rPr>
              <a:t>Making</a:t>
            </a:r>
          </a:p>
        </p:txBody>
      </p:sp>
      <p:sp>
        <p:nvSpPr>
          <p:cNvPr id="2" name="TextBox 1"/>
          <p:cNvSpPr txBox="1"/>
          <p:nvPr/>
        </p:nvSpPr>
        <p:spPr>
          <a:xfrm>
            <a:off x="1686386" y="1271135"/>
            <a:ext cx="1838965" cy="830997"/>
          </a:xfrm>
          <a:prstGeom prst="rect">
            <a:avLst/>
          </a:prstGeom>
          <a:noFill/>
        </p:spPr>
        <p:txBody>
          <a:bodyPr wrap="none" rtlCol="0">
            <a:spAutoFit/>
          </a:bodyPr>
          <a:lstStyle/>
          <a:p>
            <a:pPr algn="ctr"/>
            <a:r>
              <a:rPr lang="en-US" sz="2400" dirty="0">
                <a:latin typeface="Times New Roman"/>
                <a:cs typeface="Times New Roman"/>
              </a:rPr>
              <a:t>Problem </a:t>
            </a:r>
          </a:p>
          <a:p>
            <a:pPr algn="ctr"/>
            <a:r>
              <a:rPr lang="en-US" sz="2400" dirty="0">
                <a:latin typeface="Times New Roman"/>
                <a:cs typeface="Times New Roman"/>
              </a:rPr>
              <a:t>Identification</a:t>
            </a:r>
          </a:p>
        </p:txBody>
      </p:sp>
      <p:sp>
        <p:nvSpPr>
          <p:cNvPr id="15" name="TextBox 14"/>
          <p:cNvSpPr txBox="1"/>
          <p:nvPr/>
        </p:nvSpPr>
        <p:spPr>
          <a:xfrm>
            <a:off x="3577246" y="1271135"/>
            <a:ext cx="1838965" cy="830997"/>
          </a:xfrm>
          <a:prstGeom prst="rect">
            <a:avLst/>
          </a:prstGeom>
          <a:noFill/>
        </p:spPr>
        <p:txBody>
          <a:bodyPr wrap="none" rtlCol="0">
            <a:spAutoFit/>
          </a:bodyPr>
          <a:lstStyle/>
          <a:p>
            <a:pPr algn="ctr"/>
            <a:r>
              <a:rPr lang="en-US" sz="2400" dirty="0">
                <a:latin typeface="Times New Roman"/>
                <a:cs typeface="Times New Roman"/>
              </a:rPr>
              <a:t>Task </a:t>
            </a:r>
          </a:p>
          <a:p>
            <a:pPr algn="ctr"/>
            <a:r>
              <a:rPr lang="en-US" sz="2400" dirty="0">
                <a:latin typeface="Times New Roman"/>
                <a:cs typeface="Times New Roman"/>
              </a:rPr>
              <a:t>Identification</a:t>
            </a:r>
          </a:p>
        </p:txBody>
      </p:sp>
      <p:sp>
        <p:nvSpPr>
          <p:cNvPr id="20" name="TextBox 19"/>
          <p:cNvSpPr txBox="1"/>
          <p:nvPr/>
        </p:nvSpPr>
        <p:spPr>
          <a:xfrm>
            <a:off x="5468106" y="1271135"/>
            <a:ext cx="1327608" cy="830997"/>
          </a:xfrm>
          <a:prstGeom prst="rect">
            <a:avLst/>
          </a:prstGeom>
          <a:noFill/>
        </p:spPr>
        <p:txBody>
          <a:bodyPr wrap="none" rtlCol="0">
            <a:spAutoFit/>
          </a:bodyPr>
          <a:lstStyle/>
          <a:p>
            <a:pPr algn="ctr"/>
            <a:r>
              <a:rPr lang="en-US" sz="2400" dirty="0">
                <a:latin typeface="Times New Roman"/>
                <a:cs typeface="Times New Roman"/>
              </a:rPr>
              <a:t>Criteria </a:t>
            </a:r>
          </a:p>
          <a:p>
            <a:pPr algn="ctr"/>
            <a:r>
              <a:rPr lang="en-US" sz="2400" dirty="0">
                <a:latin typeface="Times New Roman"/>
                <a:cs typeface="Times New Roman"/>
              </a:rPr>
              <a:t>Selection</a:t>
            </a:r>
          </a:p>
        </p:txBody>
      </p:sp>
      <p:sp>
        <p:nvSpPr>
          <p:cNvPr id="21" name="TextBox 20"/>
          <p:cNvSpPr txBox="1"/>
          <p:nvPr/>
        </p:nvSpPr>
        <p:spPr>
          <a:xfrm>
            <a:off x="6847609" y="1271135"/>
            <a:ext cx="1226618" cy="830997"/>
          </a:xfrm>
          <a:prstGeom prst="rect">
            <a:avLst/>
          </a:prstGeom>
          <a:noFill/>
        </p:spPr>
        <p:txBody>
          <a:bodyPr wrap="none" rtlCol="0">
            <a:spAutoFit/>
          </a:bodyPr>
          <a:lstStyle/>
          <a:p>
            <a:pPr algn="ctr"/>
            <a:r>
              <a:rPr lang="en-US" sz="2400" dirty="0">
                <a:latin typeface="Times New Roman"/>
                <a:cs typeface="Times New Roman"/>
              </a:rPr>
              <a:t>Solution</a:t>
            </a:r>
          </a:p>
          <a:p>
            <a:pPr algn="ctr"/>
            <a:r>
              <a:rPr lang="en-US" sz="2400" dirty="0">
                <a:latin typeface="Times New Roman"/>
                <a:cs typeface="Times New Roman"/>
              </a:rPr>
              <a:t>Finding</a:t>
            </a:r>
          </a:p>
        </p:txBody>
      </p:sp>
      <p:sp>
        <p:nvSpPr>
          <p:cNvPr id="22" name="TextBox 21"/>
          <p:cNvSpPr txBox="1"/>
          <p:nvPr/>
        </p:nvSpPr>
        <p:spPr>
          <a:xfrm>
            <a:off x="8126122" y="1271135"/>
            <a:ext cx="2129109" cy="830997"/>
          </a:xfrm>
          <a:prstGeom prst="rect">
            <a:avLst/>
          </a:prstGeom>
          <a:noFill/>
        </p:spPr>
        <p:txBody>
          <a:bodyPr wrap="none" rtlCol="0">
            <a:spAutoFit/>
          </a:bodyPr>
          <a:lstStyle/>
          <a:p>
            <a:pPr algn="ctr"/>
            <a:r>
              <a:rPr lang="en-US" sz="2400" dirty="0">
                <a:latin typeface="Times New Roman"/>
                <a:cs typeface="Times New Roman"/>
              </a:rPr>
              <a:t>Implementation</a:t>
            </a:r>
          </a:p>
          <a:p>
            <a:pPr algn="ctr"/>
            <a:r>
              <a:rPr lang="en-US" sz="2400" dirty="0">
                <a:latin typeface="Times New Roman"/>
                <a:cs typeface="Times New Roman"/>
              </a:rPr>
              <a:t>Planning</a:t>
            </a:r>
          </a:p>
        </p:txBody>
      </p:sp>
      <p:sp>
        <p:nvSpPr>
          <p:cNvPr id="23" name="TextBox 22"/>
          <p:cNvSpPr txBox="1"/>
          <p:nvPr/>
        </p:nvSpPr>
        <p:spPr>
          <a:xfrm>
            <a:off x="10307127" y="1271135"/>
            <a:ext cx="1874232" cy="461665"/>
          </a:xfrm>
          <a:prstGeom prst="rect">
            <a:avLst/>
          </a:prstGeom>
          <a:noFill/>
        </p:spPr>
        <p:txBody>
          <a:bodyPr wrap="none" rtlCol="0">
            <a:spAutoFit/>
          </a:bodyPr>
          <a:lstStyle/>
          <a:p>
            <a:pPr algn="ctr"/>
            <a:r>
              <a:rPr lang="en-US" sz="2400" dirty="0" err="1">
                <a:latin typeface="Times New Roman"/>
                <a:cs typeface="Times New Roman"/>
              </a:rPr>
              <a:t>Reinforcment</a:t>
            </a:r>
            <a:endParaRPr lang="en-US" sz="2400" dirty="0">
              <a:latin typeface="Times New Roman"/>
              <a:cs typeface="Times New Roman"/>
            </a:endParaRPr>
          </a:p>
        </p:txBody>
      </p:sp>
    </p:spTree>
    <p:extLst>
      <p:ext uri="{BB962C8B-B14F-4D97-AF65-F5344CB8AC3E}">
        <p14:creationId xmlns:p14="http://schemas.microsoft.com/office/powerpoint/2010/main" val="77404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20" grpId="0"/>
      <p:bldP spid="21" grpId="0"/>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3136900" y="2822575"/>
            <a:ext cx="6223000" cy="15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0" name="Line 2"/>
          <p:cNvSpPr>
            <a:spLocks noChangeShapeType="1"/>
          </p:cNvSpPr>
          <p:nvPr/>
        </p:nvSpPr>
        <p:spPr bwMode="auto">
          <a:xfrm>
            <a:off x="3136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1" name="Line 3"/>
          <p:cNvSpPr>
            <a:spLocks noChangeShapeType="1"/>
          </p:cNvSpPr>
          <p:nvPr/>
        </p:nvSpPr>
        <p:spPr bwMode="auto">
          <a:xfrm>
            <a:off x="5110164" y="2822576"/>
            <a:ext cx="1587"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2" name="Line 4"/>
          <p:cNvSpPr>
            <a:spLocks noChangeShapeType="1"/>
          </p:cNvSpPr>
          <p:nvPr/>
        </p:nvSpPr>
        <p:spPr bwMode="auto">
          <a:xfrm>
            <a:off x="9359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3" name="Line 5"/>
          <p:cNvSpPr>
            <a:spLocks noChangeShapeType="1"/>
          </p:cNvSpPr>
          <p:nvPr/>
        </p:nvSpPr>
        <p:spPr bwMode="auto">
          <a:xfrm>
            <a:off x="7159625"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4" name="Rectangle 6"/>
          <p:cNvSpPr>
            <a:spLocks noChangeArrowheads="1"/>
          </p:cNvSpPr>
          <p:nvPr/>
        </p:nvSpPr>
        <p:spPr bwMode="auto">
          <a:xfrm>
            <a:off x="2455863" y="3429001"/>
            <a:ext cx="1365250" cy="1552575"/>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Mission,</a:t>
            </a:r>
          </a:p>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Vision</a:t>
            </a:r>
          </a:p>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&amp;</a:t>
            </a:r>
          </a:p>
          <a:p>
            <a:pPr algn="ctr" hangingPunct="0">
              <a:lnSpc>
                <a:spcPct val="101000"/>
              </a:lnSpc>
              <a:spcBef>
                <a:spcPts val="900"/>
              </a:spcBef>
              <a:buClr>
                <a:srgbClr val="000000"/>
              </a:buClr>
              <a:buSzPct val="100000"/>
              <a:tabLst>
                <a:tab pos="723900" algn="l"/>
              </a:tabLst>
            </a:pPr>
            <a:r>
              <a:rPr lang="en-US" b="1" dirty="0">
                <a:solidFill>
                  <a:srgbClr val="FF0000"/>
                </a:solidFill>
                <a:latin typeface="Tahoma" pitchFamily="-32" charset="0"/>
              </a:rPr>
              <a:t>Values</a:t>
            </a:r>
          </a:p>
        </p:txBody>
      </p:sp>
      <p:sp>
        <p:nvSpPr>
          <p:cNvPr id="32776" name="Rectangle 8"/>
          <p:cNvSpPr>
            <a:spLocks noChangeArrowheads="1"/>
          </p:cNvSpPr>
          <p:nvPr/>
        </p:nvSpPr>
        <p:spPr bwMode="auto">
          <a:xfrm>
            <a:off x="6096001" y="3429000"/>
            <a:ext cx="2049463"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latin typeface="Tahoma" pitchFamily="-32" charset="0"/>
              </a:rPr>
              <a:t>Process</a:t>
            </a:r>
          </a:p>
        </p:txBody>
      </p:sp>
      <p:sp>
        <p:nvSpPr>
          <p:cNvPr id="32777" name="Rectangle 9"/>
          <p:cNvSpPr>
            <a:spLocks noChangeArrowheads="1"/>
          </p:cNvSpPr>
          <p:nvPr/>
        </p:nvSpPr>
        <p:spPr bwMode="auto">
          <a:xfrm>
            <a:off x="8450263"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000000"/>
                </a:solidFill>
                <a:latin typeface="Tahoma" pitchFamily="-32" charset="0"/>
              </a:rPr>
              <a:t>People</a:t>
            </a:r>
          </a:p>
        </p:txBody>
      </p:sp>
      <p:sp>
        <p:nvSpPr>
          <p:cNvPr id="32778" name="Line 10"/>
          <p:cNvSpPr>
            <a:spLocks noChangeShapeType="1"/>
          </p:cNvSpPr>
          <p:nvPr/>
        </p:nvSpPr>
        <p:spPr bwMode="auto">
          <a:xfrm flipV="1">
            <a:off x="6096000" y="2365375"/>
            <a:ext cx="1588" cy="4587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9" name="Rectangle 11"/>
          <p:cNvSpPr>
            <a:spLocks noChangeArrowheads="1"/>
          </p:cNvSpPr>
          <p:nvPr/>
        </p:nvSpPr>
        <p:spPr bwMode="auto">
          <a:xfrm>
            <a:off x="2320226" y="1785937"/>
            <a:ext cx="7554725" cy="579438"/>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sz="3200" b="1" dirty="0">
                <a:solidFill>
                  <a:srgbClr val="000000"/>
                </a:solidFill>
                <a:latin typeface="Tahoma" pitchFamily="-32" charset="0"/>
              </a:rPr>
              <a:t>Mutual Trust and Respect</a:t>
            </a:r>
          </a:p>
        </p:txBody>
      </p:sp>
    </p:spTree>
    <p:extLst>
      <p:ext uri="{BB962C8B-B14F-4D97-AF65-F5344CB8AC3E}">
        <p14:creationId xmlns:p14="http://schemas.microsoft.com/office/powerpoint/2010/main" val="25482178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736226"/>
            <a:ext cx="8228013" cy="1143000"/>
          </a:xfrm>
        </p:spPr>
        <p:txBody>
          <a:bodyPr>
            <a:normAutofit fontScale="90000"/>
          </a:bodyPr>
          <a:lstStyle/>
          <a:p>
            <a:r>
              <a:rPr lang="en-US" dirty="0"/>
              <a:t>Typical mistakes when making a Mission Statement:</a:t>
            </a:r>
            <a:br>
              <a:rPr lang="en-US" dirty="0"/>
            </a:br>
            <a:endParaRPr lang="en-US" dirty="0"/>
          </a:p>
        </p:txBody>
      </p:sp>
      <p:sp>
        <p:nvSpPr>
          <p:cNvPr id="3" name="TextBox 2"/>
          <p:cNvSpPr txBox="1"/>
          <p:nvPr/>
        </p:nvSpPr>
        <p:spPr>
          <a:xfrm>
            <a:off x="2495177" y="1763061"/>
            <a:ext cx="7714037" cy="3172407"/>
          </a:xfrm>
          <a:prstGeom prst="rect">
            <a:avLst/>
          </a:prstGeom>
          <a:noFill/>
        </p:spPr>
        <p:txBody>
          <a:bodyPr wrap="square" rtlCol="0">
            <a:spAutoFit/>
          </a:bodyPr>
          <a:lstStyle/>
          <a:p>
            <a:pPr marL="342900" indent="-342900">
              <a:lnSpc>
                <a:spcPct val="140000"/>
              </a:lnSpc>
              <a:buAutoNum type="arabicPeriod"/>
            </a:pPr>
            <a:r>
              <a:rPr lang="en-US" sz="2400" dirty="0"/>
              <a:t>Generic – can apply to any organization</a:t>
            </a:r>
          </a:p>
          <a:p>
            <a:pPr marL="342900" indent="-342900">
              <a:lnSpc>
                <a:spcPct val="140000"/>
              </a:lnSpc>
              <a:buAutoNum type="arabicPeriod"/>
            </a:pPr>
            <a:r>
              <a:rPr lang="en-US" sz="2400" dirty="0"/>
              <a:t>Created for PR purposes</a:t>
            </a:r>
          </a:p>
          <a:p>
            <a:pPr marL="342900" indent="-342900">
              <a:lnSpc>
                <a:spcPct val="140000"/>
              </a:lnSpc>
              <a:buAutoNum type="arabicPeriod"/>
            </a:pPr>
            <a:r>
              <a:rPr lang="en-US" sz="2400" dirty="0"/>
              <a:t>Not time bound/stagnant</a:t>
            </a:r>
          </a:p>
          <a:p>
            <a:pPr marL="342900" indent="-342900">
              <a:lnSpc>
                <a:spcPct val="150000"/>
              </a:lnSpc>
              <a:buAutoNum type="arabicPeriod"/>
            </a:pPr>
            <a:r>
              <a:rPr lang="en-US" sz="2400" dirty="0"/>
              <a:t>Does not provide focus and thus energy</a:t>
            </a:r>
          </a:p>
          <a:p>
            <a:pPr marL="342900" indent="-342900">
              <a:lnSpc>
                <a:spcPct val="140000"/>
              </a:lnSpc>
              <a:buAutoNum type="arabicPeriod"/>
            </a:pPr>
            <a:r>
              <a:rPr lang="en-US" sz="2400" dirty="0"/>
              <a:t>Creating the Mission without proper context</a:t>
            </a:r>
          </a:p>
          <a:p>
            <a:pPr marL="342900" indent="-342900">
              <a:lnSpc>
                <a:spcPct val="140000"/>
              </a:lnSpc>
              <a:buAutoNum type="arabicPeriod"/>
            </a:pPr>
            <a:r>
              <a:rPr lang="en-US" sz="2400" dirty="0"/>
              <a:t>Not getting the buy in of the management team</a:t>
            </a:r>
          </a:p>
        </p:txBody>
      </p:sp>
    </p:spTree>
    <p:extLst>
      <p:ext uri="{BB962C8B-B14F-4D97-AF65-F5344CB8AC3E}">
        <p14:creationId xmlns:p14="http://schemas.microsoft.com/office/powerpoint/2010/main" val="74298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844550"/>
            <a:ext cx="8228013" cy="1143000"/>
          </a:xfrm>
        </p:spPr>
        <p:txBody>
          <a:bodyPr/>
          <a:lstStyle/>
          <a:p>
            <a:r>
              <a:rPr lang="en-US" dirty="0"/>
              <a:t>Purpose of Mission Statement:</a:t>
            </a:r>
          </a:p>
        </p:txBody>
      </p:sp>
      <p:sp>
        <p:nvSpPr>
          <p:cNvPr id="3" name="TextBox 2"/>
          <p:cNvSpPr txBox="1"/>
          <p:nvPr/>
        </p:nvSpPr>
        <p:spPr>
          <a:xfrm>
            <a:off x="2420472" y="2017432"/>
            <a:ext cx="7366001" cy="4512004"/>
          </a:xfrm>
          <a:prstGeom prst="rect">
            <a:avLst/>
          </a:prstGeom>
          <a:noFill/>
        </p:spPr>
        <p:txBody>
          <a:bodyPr wrap="square" rtlCol="0">
            <a:spAutoFit/>
          </a:bodyPr>
          <a:lstStyle/>
          <a:p>
            <a:pPr marL="342900" indent="-342900">
              <a:lnSpc>
                <a:spcPct val="120000"/>
              </a:lnSpc>
              <a:buAutoNum type="arabicPeriod"/>
            </a:pPr>
            <a:r>
              <a:rPr lang="en-US" sz="2400" dirty="0"/>
              <a:t>Align the management team around a common long term interest (increasing trust)</a:t>
            </a:r>
          </a:p>
          <a:p>
            <a:pPr marL="342900" indent="-342900">
              <a:lnSpc>
                <a:spcPct val="120000"/>
              </a:lnSpc>
              <a:buAutoNum type="arabicPeriod"/>
            </a:pPr>
            <a:r>
              <a:rPr lang="en-US" sz="2400" dirty="0"/>
              <a:t>Provide managers a chance to sit in the seat of others, look at the situation from the CEO perspective (increasing respect)</a:t>
            </a:r>
          </a:p>
          <a:p>
            <a:pPr marL="342900" indent="-342900">
              <a:lnSpc>
                <a:spcPct val="120000"/>
              </a:lnSpc>
              <a:buAutoNum type="arabicPeriod"/>
            </a:pPr>
            <a:r>
              <a:rPr lang="en-US" sz="2400" dirty="0"/>
              <a:t>Energize and focus the management team</a:t>
            </a:r>
          </a:p>
          <a:p>
            <a:pPr marL="342900" indent="-342900">
              <a:lnSpc>
                <a:spcPct val="120000"/>
              </a:lnSpc>
              <a:buAutoNum type="arabicPeriod"/>
            </a:pPr>
            <a:r>
              <a:rPr lang="en-US" sz="2400" dirty="0"/>
              <a:t>Provide an opportunity to reevaluate the business model</a:t>
            </a:r>
          </a:p>
          <a:p>
            <a:pPr marL="342900" indent="-342900">
              <a:lnSpc>
                <a:spcPct val="120000"/>
              </a:lnSpc>
              <a:buAutoNum type="arabicPeriod"/>
            </a:pPr>
            <a:r>
              <a:rPr lang="en-US" sz="2400" dirty="0"/>
              <a:t>Define what needs to be CHANGED</a:t>
            </a:r>
          </a:p>
          <a:p>
            <a:pPr marL="342900" indent="-342900">
              <a:lnSpc>
                <a:spcPct val="120000"/>
              </a:lnSpc>
              <a:buAutoNum type="arabicPeriod"/>
            </a:pPr>
            <a:endParaRPr lang="en-US" sz="2400" dirty="0"/>
          </a:p>
        </p:txBody>
      </p:sp>
    </p:spTree>
    <p:extLst>
      <p:ext uri="{BB962C8B-B14F-4D97-AF65-F5344CB8AC3E}">
        <p14:creationId xmlns:p14="http://schemas.microsoft.com/office/powerpoint/2010/main" val="113271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CB97480-3813-4F72-87D9-C4CC6AB0B2B7}"/>
              </a:ext>
            </a:extLst>
          </p:cNvPr>
          <p:cNvPicPr>
            <a:picLocks noChangeAspect="1"/>
          </p:cNvPicPr>
          <p:nvPr/>
        </p:nvPicPr>
        <p:blipFill>
          <a:blip r:embed="rId2"/>
          <a:stretch>
            <a:fillRect/>
          </a:stretch>
        </p:blipFill>
        <p:spPr>
          <a:xfrm>
            <a:off x="5357710" y="3190173"/>
            <a:ext cx="1476581" cy="1924319"/>
          </a:xfrm>
          <a:prstGeom prst="rect">
            <a:avLst/>
          </a:prstGeom>
        </p:spPr>
      </p:pic>
      <p:pic>
        <p:nvPicPr>
          <p:cNvPr id="15" name="Picture 14">
            <a:extLst>
              <a:ext uri="{FF2B5EF4-FFF2-40B4-BE49-F238E27FC236}">
                <a16:creationId xmlns:a16="http://schemas.microsoft.com/office/drawing/2014/main" id="{E2BE50B8-710A-4607-9522-CED9C47DAFBA}"/>
              </a:ext>
            </a:extLst>
          </p:cNvPr>
          <p:cNvPicPr>
            <a:picLocks noChangeAspect="1"/>
          </p:cNvPicPr>
          <p:nvPr/>
        </p:nvPicPr>
        <p:blipFill>
          <a:blip r:embed="rId3"/>
          <a:stretch>
            <a:fillRect/>
          </a:stretch>
        </p:blipFill>
        <p:spPr>
          <a:xfrm>
            <a:off x="2861719" y="3199700"/>
            <a:ext cx="1609950" cy="1905266"/>
          </a:xfrm>
          <a:prstGeom prst="rect">
            <a:avLst/>
          </a:prstGeom>
        </p:spPr>
      </p:pic>
      <p:pic>
        <p:nvPicPr>
          <p:cNvPr id="3" name="Picture 2">
            <a:extLst>
              <a:ext uri="{FF2B5EF4-FFF2-40B4-BE49-F238E27FC236}">
                <a16:creationId xmlns:a16="http://schemas.microsoft.com/office/drawing/2014/main" id="{0C0A7A96-DB9C-4483-A11E-53499FB4EC52}"/>
              </a:ext>
            </a:extLst>
          </p:cNvPr>
          <p:cNvPicPr>
            <a:picLocks noChangeAspect="1"/>
          </p:cNvPicPr>
          <p:nvPr/>
        </p:nvPicPr>
        <p:blipFill>
          <a:blip r:embed="rId4"/>
          <a:stretch>
            <a:fillRect/>
          </a:stretch>
        </p:blipFill>
        <p:spPr>
          <a:xfrm>
            <a:off x="3309353" y="1634845"/>
            <a:ext cx="3724795" cy="390580"/>
          </a:xfrm>
          <a:prstGeom prst="rect">
            <a:avLst/>
          </a:prstGeom>
        </p:spPr>
      </p:pic>
      <p:pic>
        <p:nvPicPr>
          <p:cNvPr id="4" name="Picture 3">
            <a:extLst>
              <a:ext uri="{FF2B5EF4-FFF2-40B4-BE49-F238E27FC236}">
                <a16:creationId xmlns:a16="http://schemas.microsoft.com/office/drawing/2014/main" id="{D3F56862-3449-4B5D-B1C5-6A7BA9A286B1}"/>
              </a:ext>
            </a:extLst>
          </p:cNvPr>
          <p:cNvPicPr>
            <a:picLocks noChangeAspect="1"/>
          </p:cNvPicPr>
          <p:nvPr/>
        </p:nvPicPr>
        <p:blipFill>
          <a:blip r:embed="rId5"/>
          <a:stretch>
            <a:fillRect/>
          </a:stretch>
        </p:blipFill>
        <p:spPr>
          <a:xfrm>
            <a:off x="5109222" y="3208569"/>
            <a:ext cx="3724795" cy="390580"/>
          </a:xfrm>
          <a:prstGeom prst="rect">
            <a:avLst/>
          </a:prstGeom>
        </p:spPr>
      </p:pic>
      <p:pic>
        <p:nvPicPr>
          <p:cNvPr id="5" name="Picture 4">
            <a:extLst>
              <a:ext uri="{FF2B5EF4-FFF2-40B4-BE49-F238E27FC236}">
                <a16:creationId xmlns:a16="http://schemas.microsoft.com/office/drawing/2014/main" id="{13A24343-4D01-4E79-BA1F-CF83710C5969}"/>
              </a:ext>
            </a:extLst>
          </p:cNvPr>
          <p:cNvPicPr>
            <a:picLocks noChangeAspect="1"/>
          </p:cNvPicPr>
          <p:nvPr/>
        </p:nvPicPr>
        <p:blipFill>
          <a:blip r:embed="rId6"/>
          <a:stretch>
            <a:fillRect/>
          </a:stretch>
        </p:blipFill>
        <p:spPr>
          <a:xfrm>
            <a:off x="5067030" y="2029287"/>
            <a:ext cx="1952898" cy="1162212"/>
          </a:xfrm>
          <a:prstGeom prst="rect">
            <a:avLst/>
          </a:prstGeom>
        </p:spPr>
      </p:pic>
      <p:pic>
        <p:nvPicPr>
          <p:cNvPr id="6" name="Picture 5">
            <a:extLst>
              <a:ext uri="{FF2B5EF4-FFF2-40B4-BE49-F238E27FC236}">
                <a16:creationId xmlns:a16="http://schemas.microsoft.com/office/drawing/2014/main" id="{95E884F8-6E2D-4998-9C9A-C363C7894F55}"/>
              </a:ext>
            </a:extLst>
          </p:cNvPr>
          <p:cNvPicPr>
            <a:picLocks noChangeAspect="1"/>
          </p:cNvPicPr>
          <p:nvPr/>
        </p:nvPicPr>
        <p:blipFill>
          <a:blip r:embed="rId7"/>
          <a:stretch>
            <a:fillRect/>
          </a:stretch>
        </p:blipFill>
        <p:spPr>
          <a:xfrm>
            <a:off x="3335655" y="2028122"/>
            <a:ext cx="1867161" cy="1171739"/>
          </a:xfrm>
          <a:prstGeom prst="rect">
            <a:avLst/>
          </a:prstGeom>
        </p:spPr>
      </p:pic>
      <p:pic>
        <p:nvPicPr>
          <p:cNvPr id="7" name="Picture 6">
            <a:extLst>
              <a:ext uri="{FF2B5EF4-FFF2-40B4-BE49-F238E27FC236}">
                <a16:creationId xmlns:a16="http://schemas.microsoft.com/office/drawing/2014/main" id="{1CE5E1AD-AC15-4160-AF9E-A1E9EEBE231E}"/>
              </a:ext>
            </a:extLst>
          </p:cNvPr>
          <p:cNvPicPr>
            <a:picLocks noChangeAspect="1"/>
          </p:cNvPicPr>
          <p:nvPr/>
        </p:nvPicPr>
        <p:blipFill>
          <a:blip r:embed="rId8"/>
          <a:stretch>
            <a:fillRect/>
          </a:stretch>
        </p:blipFill>
        <p:spPr>
          <a:xfrm>
            <a:off x="6907808" y="2000709"/>
            <a:ext cx="1895740" cy="1190791"/>
          </a:xfrm>
          <a:prstGeom prst="rect">
            <a:avLst/>
          </a:prstGeom>
        </p:spPr>
      </p:pic>
      <p:cxnSp>
        <p:nvCxnSpPr>
          <p:cNvPr id="9" name="Straight Connector 8">
            <a:extLst>
              <a:ext uri="{FF2B5EF4-FFF2-40B4-BE49-F238E27FC236}">
                <a16:creationId xmlns:a16="http://schemas.microsoft.com/office/drawing/2014/main" id="{9B34874B-A87B-43C1-ACC5-C95BDBEEB35E}"/>
              </a:ext>
            </a:extLst>
          </p:cNvPr>
          <p:cNvCxnSpPr/>
          <p:nvPr/>
        </p:nvCxnSpPr>
        <p:spPr bwMode="auto">
          <a:xfrm>
            <a:off x="3335654"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661D9AE0-84E8-466F-9474-196C2C96E640}"/>
              </a:ext>
            </a:extLst>
          </p:cNvPr>
          <p:cNvCxnSpPr/>
          <p:nvPr/>
        </p:nvCxnSpPr>
        <p:spPr bwMode="auto">
          <a:xfrm>
            <a:off x="5184503"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ACAEBBEC-50E6-4DA8-8A32-3D366FF97669}"/>
              </a:ext>
            </a:extLst>
          </p:cNvPr>
          <p:cNvCxnSpPr/>
          <p:nvPr/>
        </p:nvCxnSpPr>
        <p:spPr bwMode="auto">
          <a:xfrm>
            <a:off x="6921832"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CB862824-B89A-4FF5-8B5C-820D23AE3CC3}"/>
              </a:ext>
            </a:extLst>
          </p:cNvPr>
          <p:cNvCxnSpPr/>
          <p:nvPr/>
        </p:nvCxnSpPr>
        <p:spPr bwMode="auto">
          <a:xfrm>
            <a:off x="8773913" y="1191123"/>
            <a:ext cx="0" cy="2887579"/>
          </a:xfrm>
          <a:prstGeom prst="line">
            <a:avLst/>
          </a:prstGeom>
          <a:ln w="254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Picture 12">
            <a:extLst>
              <a:ext uri="{FF2B5EF4-FFF2-40B4-BE49-F238E27FC236}">
                <a16:creationId xmlns:a16="http://schemas.microsoft.com/office/drawing/2014/main" id="{33922581-8CF0-460E-B63E-A030F239DB14}"/>
              </a:ext>
            </a:extLst>
          </p:cNvPr>
          <p:cNvPicPr>
            <a:picLocks noChangeAspect="1"/>
          </p:cNvPicPr>
          <p:nvPr/>
        </p:nvPicPr>
        <p:blipFill>
          <a:blip r:embed="rId9"/>
          <a:stretch>
            <a:fillRect/>
          </a:stretch>
        </p:blipFill>
        <p:spPr>
          <a:xfrm>
            <a:off x="2209527" y="2195998"/>
            <a:ext cx="847843" cy="828791"/>
          </a:xfrm>
          <a:prstGeom prst="rect">
            <a:avLst/>
          </a:prstGeom>
        </p:spPr>
      </p:pic>
      <p:pic>
        <p:nvPicPr>
          <p:cNvPr id="14" name="Picture 13">
            <a:extLst>
              <a:ext uri="{FF2B5EF4-FFF2-40B4-BE49-F238E27FC236}">
                <a16:creationId xmlns:a16="http://schemas.microsoft.com/office/drawing/2014/main" id="{233A48E9-0A57-4FB7-8AF5-B9AF79BB9852}"/>
              </a:ext>
            </a:extLst>
          </p:cNvPr>
          <p:cNvPicPr>
            <a:picLocks noChangeAspect="1"/>
          </p:cNvPicPr>
          <p:nvPr/>
        </p:nvPicPr>
        <p:blipFill>
          <a:blip r:embed="rId9"/>
          <a:stretch>
            <a:fillRect/>
          </a:stretch>
        </p:blipFill>
        <p:spPr>
          <a:xfrm>
            <a:off x="9099937" y="2181708"/>
            <a:ext cx="847843" cy="828791"/>
          </a:xfrm>
          <a:prstGeom prst="rect">
            <a:avLst/>
          </a:prstGeom>
        </p:spPr>
      </p:pic>
      <p:pic>
        <p:nvPicPr>
          <p:cNvPr id="18" name="Picture 17">
            <a:extLst>
              <a:ext uri="{FF2B5EF4-FFF2-40B4-BE49-F238E27FC236}">
                <a16:creationId xmlns:a16="http://schemas.microsoft.com/office/drawing/2014/main" id="{B0915EF5-0998-4BFB-A8A3-E08177F4F656}"/>
              </a:ext>
            </a:extLst>
          </p:cNvPr>
          <p:cNvPicPr>
            <a:picLocks noChangeAspect="1"/>
          </p:cNvPicPr>
          <p:nvPr/>
        </p:nvPicPr>
        <p:blipFill>
          <a:blip r:embed="rId10"/>
          <a:stretch>
            <a:fillRect/>
          </a:stretch>
        </p:blipFill>
        <p:spPr>
          <a:xfrm>
            <a:off x="6022356" y="3103180"/>
            <a:ext cx="45719" cy="880098"/>
          </a:xfrm>
          <a:prstGeom prst="rect">
            <a:avLst/>
          </a:prstGeom>
        </p:spPr>
      </p:pic>
      <p:sp>
        <p:nvSpPr>
          <p:cNvPr id="2" name="TextBox 1">
            <a:extLst>
              <a:ext uri="{FF2B5EF4-FFF2-40B4-BE49-F238E27FC236}">
                <a16:creationId xmlns:a16="http://schemas.microsoft.com/office/drawing/2014/main" id="{51CFD80B-7740-4B2C-B9AD-43B466AE796F}"/>
              </a:ext>
            </a:extLst>
          </p:cNvPr>
          <p:cNvSpPr txBox="1"/>
          <p:nvPr/>
        </p:nvSpPr>
        <p:spPr>
          <a:xfrm>
            <a:off x="7975340" y="4343401"/>
            <a:ext cx="1628972" cy="1015663"/>
          </a:xfrm>
          <a:prstGeom prst="rect">
            <a:avLst/>
          </a:prstGeom>
          <a:noFill/>
        </p:spPr>
        <p:txBody>
          <a:bodyPr wrap="none" rtlCol="0">
            <a:spAutoFit/>
          </a:bodyPr>
          <a:lstStyle/>
          <a:p>
            <a:pPr algn="ctr"/>
            <a:r>
              <a:rPr lang="en-US" sz="2000" dirty="0">
                <a:latin typeface="Times New Roman" panose="02020603050405020304" pitchFamily="18" charset="0"/>
                <a:ea typeface="Tahoma" panose="020B0604030504040204" pitchFamily="34" charset="0"/>
                <a:cs typeface="Times New Roman" panose="02020603050405020304" pitchFamily="18" charset="0"/>
              </a:rPr>
              <a:t>Market </a:t>
            </a:r>
          </a:p>
          <a:p>
            <a:pPr algn="ctr"/>
            <a:r>
              <a:rPr lang="en-US" sz="2000" dirty="0">
                <a:latin typeface="Times New Roman" panose="02020603050405020304" pitchFamily="18" charset="0"/>
                <a:ea typeface="Tahoma" panose="020B0604030504040204" pitchFamily="34" charset="0"/>
                <a:cs typeface="Times New Roman" panose="02020603050405020304" pitchFamily="18" charset="0"/>
              </a:rPr>
              <a:t>Development </a:t>
            </a:r>
          </a:p>
          <a:p>
            <a:pPr algn="ctr"/>
            <a:r>
              <a:rPr lang="en-US" sz="2000" dirty="0">
                <a:latin typeface="Times New Roman" panose="02020603050405020304" pitchFamily="18" charset="0"/>
                <a:ea typeface="Tahoma" panose="020B0604030504040204" pitchFamily="34" charset="0"/>
                <a:cs typeface="Times New Roman" panose="02020603050405020304" pitchFamily="18" charset="0"/>
              </a:rPr>
              <a:t>opportunity</a:t>
            </a:r>
          </a:p>
        </p:txBody>
      </p:sp>
      <p:cxnSp>
        <p:nvCxnSpPr>
          <p:cNvPr id="22" name="Straight Connector 21">
            <a:extLst>
              <a:ext uri="{FF2B5EF4-FFF2-40B4-BE49-F238E27FC236}">
                <a16:creationId xmlns:a16="http://schemas.microsoft.com/office/drawing/2014/main" id="{37DCE597-AB1C-4FB2-8D04-6C217A2A3F8A}"/>
              </a:ext>
            </a:extLst>
          </p:cNvPr>
          <p:cNvCxnSpPr/>
          <p:nvPr/>
        </p:nvCxnSpPr>
        <p:spPr bwMode="auto">
          <a:xfrm>
            <a:off x="7990580" y="3190172"/>
            <a:ext cx="482860" cy="1153228"/>
          </a:xfrm>
          <a:prstGeom prst="line">
            <a:avLst/>
          </a:prstGeom>
          <a:solidFill>
            <a:srgbClr val="00B8FF"/>
          </a:solidFill>
          <a:ln w="28575" cap="flat" cmpd="sng" algn="ctr">
            <a:solidFill>
              <a:schemeClr val="bg2">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393550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5553" y="751587"/>
            <a:ext cx="8228013" cy="1143000"/>
          </a:xfrm>
        </p:spPr>
        <p:txBody>
          <a:bodyPr/>
          <a:lstStyle/>
          <a:p>
            <a:pPr algn="ctr"/>
            <a:r>
              <a:rPr lang="en-US" sz="3200" dirty="0"/>
              <a:t>Who Should help you create your Mission Statement?</a:t>
            </a:r>
          </a:p>
        </p:txBody>
      </p:sp>
      <p:sp>
        <p:nvSpPr>
          <p:cNvPr id="3" name="Content Placeholder 2"/>
          <p:cNvSpPr>
            <a:spLocks noGrp="1"/>
          </p:cNvSpPr>
          <p:nvPr>
            <p:ph idx="1"/>
          </p:nvPr>
        </p:nvSpPr>
        <p:spPr>
          <a:xfrm>
            <a:off x="1981201" y="2551842"/>
            <a:ext cx="8228013" cy="2976394"/>
          </a:xfrm>
        </p:spPr>
        <p:txBody>
          <a:bodyPr>
            <a:normAutofit lnSpcReduction="10000"/>
          </a:bodyPr>
          <a:lstStyle/>
          <a:p>
            <a:pPr marL="342900" lvl="5" indent="-342900" eaLnBrk="0">
              <a:spcAft>
                <a:spcPts val="1425"/>
              </a:spcAft>
            </a:pPr>
            <a:r>
              <a:rPr lang="en-US" sz="2800" dirty="0"/>
              <a:t>Direct reports + additional people from:</a:t>
            </a:r>
          </a:p>
          <a:p>
            <a:pPr marL="1257300" lvl="7" indent="-342900" eaLnBrk="0">
              <a:spcAft>
                <a:spcPts val="1425"/>
              </a:spcAft>
            </a:pPr>
            <a:r>
              <a:rPr lang="en-US" sz="2800" dirty="0"/>
              <a:t>-Finance</a:t>
            </a:r>
          </a:p>
          <a:p>
            <a:pPr marL="1257300" lvl="7" indent="-342900" eaLnBrk="0">
              <a:spcAft>
                <a:spcPts val="1425"/>
              </a:spcAft>
            </a:pPr>
            <a:r>
              <a:rPr lang="en-US" sz="2800" dirty="0"/>
              <a:t>-R+D</a:t>
            </a:r>
          </a:p>
          <a:p>
            <a:pPr marL="1257300" lvl="7" indent="-342900" eaLnBrk="0">
              <a:spcAft>
                <a:spcPts val="1425"/>
              </a:spcAft>
            </a:pPr>
            <a:r>
              <a:rPr lang="en-US" sz="2800" dirty="0"/>
              <a:t>-Marketing</a:t>
            </a:r>
          </a:p>
          <a:p>
            <a:pPr marL="1257300" lvl="7" indent="-342900" eaLnBrk="0">
              <a:spcAft>
                <a:spcPts val="1425"/>
              </a:spcAft>
            </a:pPr>
            <a:r>
              <a:rPr lang="en-US" sz="2800" dirty="0"/>
              <a:t>-H.R. Development</a:t>
            </a:r>
          </a:p>
          <a:p>
            <a:pPr marL="342900" lvl="5" indent="-342900" eaLnBrk="0">
              <a:spcAft>
                <a:spcPts val="1425"/>
              </a:spcAft>
            </a:pPr>
            <a:endParaRPr lang="en-US" sz="2800" dirty="0"/>
          </a:p>
          <a:p>
            <a:endParaRPr lang="en-US" dirty="0"/>
          </a:p>
        </p:txBody>
      </p:sp>
      <p:sp>
        <p:nvSpPr>
          <p:cNvPr id="4" name="TextBox 3"/>
          <p:cNvSpPr txBox="1"/>
          <p:nvPr/>
        </p:nvSpPr>
        <p:spPr>
          <a:xfrm>
            <a:off x="2035552" y="1323088"/>
            <a:ext cx="184666" cy="646331"/>
          </a:xfrm>
          <a:prstGeom prst="rect">
            <a:avLst/>
          </a:prstGeom>
          <a:noFill/>
        </p:spPr>
        <p:txBody>
          <a:bodyPr wrap="none" rtlCol="0">
            <a:spAutoFit/>
          </a:bodyPr>
          <a:lstStyle/>
          <a:p>
            <a:endParaRPr lang="en-US" dirty="0"/>
          </a:p>
          <a:p>
            <a:endParaRPr lang="en-US" dirty="0"/>
          </a:p>
        </p:txBody>
      </p:sp>
    </p:spTree>
    <p:extLst>
      <p:ext uri="{BB962C8B-B14F-4D97-AF65-F5344CB8AC3E}">
        <p14:creationId xmlns:p14="http://schemas.microsoft.com/office/powerpoint/2010/main" val="4222171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4848" y="481013"/>
            <a:ext cx="8228013" cy="1143000"/>
          </a:xfrm>
        </p:spPr>
        <p:txBody>
          <a:bodyPr>
            <a:normAutofit fontScale="90000"/>
          </a:bodyPr>
          <a:lstStyle/>
          <a:p>
            <a:r>
              <a:rPr lang="en-US" dirty="0"/>
              <a:t>How to communicate the Mission to the rest of the org.?</a:t>
            </a:r>
          </a:p>
        </p:txBody>
      </p:sp>
      <p:sp>
        <p:nvSpPr>
          <p:cNvPr id="3" name="Content Placeholder 2"/>
          <p:cNvSpPr>
            <a:spLocks noGrp="1"/>
          </p:cNvSpPr>
          <p:nvPr>
            <p:ph idx="1"/>
          </p:nvPr>
        </p:nvSpPr>
        <p:spPr/>
        <p:txBody>
          <a:bodyPr/>
          <a:lstStyle/>
          <a:p>
            <a:pPr marL="457200" indent="-457200">
              <a:buFontTx/>
              <a:buChar char="-"/>
            </a:pPr>
            <a:r>
              <a:rPr lang="en-US" dirty="0"/>
              <a:t>If you involve your management team their participation will guarantee their awareness of the Mission.  </a:t>
            </a:r>
          </a:p>
          <a:p>
            <a:pPr marL="457200" indent="-457200">
              <a:buFontTx/>
              <a:buChar char="-"/>
            </a:pPr>
            <a:r>
              <a:rPr lang="en-US" dirty="0"/>
              <a:t>If they are able to contribute to the discussion in an open environment, (without </a:t>
            </a:r>
            <a:r>
              <a:rPr lang="en-US" dirty="0" err="1"/>
              <a:t>compromsing</a:t>
            </a:r>
            <a:r>
              <a:rPr lang="en-US" dirty="0"/>
              <a:t> the authority of top management) then they will buy into the Mission.</a:t>
            </a:r>
          </a:p>
          <a:p>
            <a:pPr marL="457200" indent="-457200">
              <a:buFontTx/>
              <a:buChar char="-"/>
            </a:pPr>
            <a:r>
              <a:rPr lang="en-US" dirty="0"/>
              <a:t>But you can’t have the whole organization involved in the meeting, what about them?</a:t>
            </a:r>
          </a:p>
          <a:p>
            <a:pPr marL="0" indent="0"/>
            <a:endParaRPr lang="en-US" dirty="0"/>
          </a:p>
        </p:txBody>
      </p:sp>
    </p:spTree>
    <p:extLst>
      <p:ext uri="{BB962C8B-B14F-4D97-AF65-F5344CB8AC3E}">
        <p14:creationId xmlns:p14="http://schemas.microsoft.com/office/powerpoint/2010/main" val="62840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A5190C2-1C96-467B-A7EE-7A4E4BC4DAB9}"/>
              </a:ext>
            </a:extLst>
          </p:cNvPr>
          <p:cNvSpPr>
            <a:spLocks noGrp="1"/>
          </p:cNvSpPr>
          <p:nvPr>
            <p:ph type="title"/>
          </p:nvPr>
        </p:nvSpPr>
        <p:spPr>
          <a:xfrm>
            <a:off x="2103914" y="273051"/>
            <a:ext cx="8228013" cy="1143000"/>
          </a:xfrm>
        </p:spPr>
        <p:txBody>
          <a:bodyPr/>
          <a:lstStyle/>
          <a:p>
            <a:pPr algn="ctr"/>
            <a:r>
              <a:rPr lang="en-US" dirty="0"/>
              <a:t>Information Gathering Teams</a:t>
            </a:r>
          </a:p>
        </p:txBody>
      </p:sp>
      <p:sp>
        <p:nvSpPr>
          <p:cNvPr id="9" name="Content Placeholder 2">
            <a:extLst>
              <a:ext uri="{FF2B5EF4-FFF2-40B4-BE49-F238E27FC236}">
                <a16:creationId xmlns:a16="http://schemas.microsoft.com/office/drawing/2014/main" id="{DF9DF6BD-CF99-49BF-B7B1-0D9647518A98}"/>
              </a:ext>
            </a:extLst>
          </p:cNvPr>
          <p:cNvSpPr>
            <a:spLocks noGrp="1"/>
          </p:cNvSpPr>
          <p:nvPr>
            <p:ph idx="1"/>
          </p:nvPr>
        </p:nvSpPr>
        <p:spPr>
          <a:xfrm>
            <a:off x="4876801" y="1416051"/>
            <a:ext cx="2682240" cy="4524375"/>
          </a:xfrm>
        </p:spPr>
        <p:txBody>
          <a:bodyPr/>
          <a:lstStyle/>
          <a:p>
            <a:pPr>
              <a:buFont typeface="Arial" panose="020B0604020202020204" pitchFamily="34" charset="0"/>
              <a:buChar char="•"/>
            </a:pPr>
            <a:r>
              <a:rPr lang="en-US" sz="2400" b="1" dirty="0"/>
              <a:t>Client needs</a:t>
            </a:r>
          </a:p>
          <a:p>
            <a:pPr>
              <a:buFont typeface="Arial" panose="020B0604020202020204" pitchFamily="34" charset="0"/>
              <a:buChar char="•"/>
            </a:pPr>
            <a:r>
              <a:rPr lang="en-US" sz="2400" b="1" dirty="0"/>
              <a:t>Competition</a:t>
            </a:r>
          </a:p>
          <a:p>
            <a:pPr>
              <a:buFont typeface="Arial" panose="020B0604020202020204" pitchFamily="34" charset="0"/>
              <a:buChar char="•"/>
            </a:pPr>
            <a:r>
              <a:rPr lang="en-US" sz="2400" b="1" dirty="0"/>
              <a:t>Capabilities</a:t>
            </a:r>
          </a:p>
          <a:p>
            <a:pPr>
              <a:buFont typeface="Arial" panose="020B0604020202020204" pitchFamily="34" charset="0"/>
              <a:buChar char="•"/>
            </a:pPr>
            <a:r>
              <a:rPr lang="en-US" sz="2400" b="1" dirty="0"/>
              <a:t>Environment</a:t>
            </a:r>
          </a:p>
          <a:p>
            <a:pPr>
              <a:buFont typeface="Arial" panose="020B0604020202020204" pitchFamily="34" charset="0"/>
              <a:buChar char="•"/>
            </a:pPr>
            <a:r>
              <a:rPr lang="en-US" sz="2400" b="1" dirty="0"/>
              <a:t>Values</a:t>
            </a:r>
          </a:p>
        </p:txBody>
      </p:sp>
    </p:spTree>
    <p:extLst>
      <p:ext uri="{BB962C8B-B14F-4D97-AF65-F5344CB8AC3E}">
        <p14:creationId xmlns:p14="http://schemas.microsoft.com/office/powerpoint/2010/main" val="207331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510859"/>
            <a:ext cx="8228013" cy="4524375"/>
          </a:xfrm>
        </p:spPr>
        <p:txBody>
          <a:bodyPr>
            <a:normAutofit fontScale="85000" lnSpcReduction="20000"/>
          </a:bodyPr>
          <a:lstStyle/>
          <a:p>
            <a:r>
              <a:rPr lang="en-US" dirty="0"/>
              <a:t>A Mission Statement has the following components:</a:t>
            </a:r>
          </a:p>
          <a:p>
            <a:endParaRPr lang="en-US" sz="1600" dirty="0"/>
          </a:p>
          <a:p>
            <a:pPr marL="514350" indent="-514350">
              <a:spcAft>
                <a:spcPts val="1800"/>
              </a:spcAft>
              <a:buFont typeface="Times New Roman" pitchFamily="84" charset="0"/>
              <a:buAutoNum type="arabicPeriod"/>
            </a:pPr>
            <a:r>
              <a:rPr lang="en-US" sz="2400" b="1" dirty="0"/>
              <a:t>We are in the business of _____________ and our purpose is </a:t>
            </a:r>
            <a:r>
              <a:rPr lang="en-US" sz="2000" b="1" dirty="0"/>
              <a:t>_____________</a:t>
            </a:r>
          </a:p>
          <a:p>
            <a:pPr marL="514350" indent="-514350">
              <a:spcAft>
                <a:spcPts val="1800"/>
              </a:spcAft>
              <a:buFont typeface="Times New Roman" pitchFamily="84" charset="0"/>
              <a:buAutoNum type="arabicPeriod"/>
            </a:pPr>
            <a:r>
              <a:rPr lang="en-US" sz="2400" b="1" dirty="0"/>
              <a:t>We foresee the following changes happening externally and internally:_____________________</a:t>
            </a:r>
          </a:p>
          <a:p>
            <a:pPr marL="514350" indent="-514350">
              <a:spcAft>
                <a:spcPts val="1800"/>
              </a:spcAft>
              <a:buFont typeface="Times New Roman" pitchFamily="84" charset="0"/>
              <a:buAutoNum type="arabicPeriod"/>
            </a:pPr>
            <a:r>
              <a:rPr lang="en-US" sz="2400" b="1" dirty="0"/>
              <a:t>These changes mean _______________ to us</a:t>
            </a:r>
          </a:p>
          <a:p>
            <a:pPr marL="514350" indent="-514350">
              <a:spcAft>
                <a:spcPts val="2400"/>
              </a:spcAft>
              <a:buFont typeface="Times New Roman" pitchFamily="84" charset="0"/>
              <a:buAutoNum type="arabicPeriod"/>
            </a:pPr>
            <a:r>
              <a:rPr lang="en-US" sz="2400" b="1" dirty="0"/>
              <a:t>Based on what is happening and how it will affect us we need to _______________</a:t>
            </a:r>
          </a:p>
          <a:p>
            <a:pPr marL="514350" indent="-514350">
              <a:spcAft>
                <a:spcPts val="1800"/>
              </a:spcAft>
              <a:buFont typeface="Times New Roman" pitchFamily="84" charset="0"/>
              <a:buAutoNum type="arabicPeriod"/>
            </a:pPr>
            <a:r>
              <a:rPr lang="en-US" sz="2400" b="1" dirty="0"/>
              <a:t>We will accomplish these changes while developing the values of ________ dropping the values of _______ and keeping the values of _______</a:t>
            </a:r>
          </a:p>
        </p:txBody>
      </p:sp>
    </p:spTree>
    <p:extLst>
      <p:ext uri="{BB962C8B-B14F-4D97-AF65-F5344CB8AC3E}">
        <p14:creationId xmlns:p14="http://schemas.microsoft.com/office/powerpoint/2010/main" val="252774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WE ARE</a:t>
            </a:r>
            <a:r>
              <a:rPr lang="en-US" sz="2400" dirty="0"/>
              <a:t>– </a:t>
            </a:r>
            <a:r>
              <a:rPr lang="en-US" sz="2000" i="1" dirty="0"/>
              <a:t>“We are in the business of serving (needs) We do this with (capabilities) … and our purpose is…”</a:t>
            </a:r>
          </a:p>
          <a:p>
            <a:pPr marL="914400" lvl="1" indent="-514350">
              <a:buFont typeface="Arial"/>
              <a:buChar char="•"/>
            </a:pPr>
            <a:r>
              <a:rPr lang="en-US" i="1" dirty="0"/>
              <a:t>Who do we serve?  Who are the clients/customers/stakeholders? And what are their needs?  Which needs do we serve?  Which needs do we not serve? (Want/Should)</a:t>
            </a:r>
          </a:p>
        </p:txBody>
      </p:sp>
    </p:spTree>
    <p:extLst>
      <p:ext uri="{BB962C8B-B14F-4D97-AF65-F5344CB8AC3E}">
        <p14:creationId xmlns:p14="http://schemas.microsoft.com/office/powerpoint/2010/main" val="287750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A- For GM, are the dealers the clients or the drivers who buy the cars? Whom do you want to focus on, whose needs do you want to maximize and whose needs do you want to satisfice?</a:t>
            </a:r>
          </a:p>
          <a:p>
            <a:r>
              <a:rPr lang="en-US" dirty="0"/>
              <a:t>Example B- In a research hospital the clients are the doctors doing the research, in a teaching hospital the students are the clients and in a normal hospital the patients are the clients.</a:t>
            </a:r>
          </a:p>
          <a:p>
            <a:endParaRPr lang="en-US" dirty="0"/>
          </a:p>
        </p:txBody>
      </p:sp>
    </p:spTree>
    <p:extLst>
      <p:ext uri="{BB962C8B-B14F-4D97-AF65-F5344CB8AC3E}">
        <p14:creationId xmlns:p14="http://schemas.microsoft.com/office/powerpoint/2010/main" val="152348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 C – Google.  Who are their clients?  The users or the advertisers?</a:t>
            </a:r>
          </a:p>
          <a:p>
            <a:endParaRPr lang="en-US" dirty="0"/>
          </a:p>
          <a:p>
            <a:r>
              <a:rPr lang="en-US" dirty="0"/>
              <a:t>Example D – Car component manufactures. Who are their clients? The people who buy the component (GM, Ford), the dealer, the end purchaser of the car or the car mechanic that will fix the car.</a:t>
            </a:r>
          </a:p>
        </p:txBody>
      </p:sp>
    </p:spTree>
    <p:extLst>
      <p:ext uri="{BB962C8B-B14F-4D97-AF65-F5344CB8AC3E}">
        <p14:creationId xmlns:p14="http://schemas.microsoft.com/office/powerpoint/2010/main" val="29523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WE ARE</a:t>
            </a:r>
            <a:r>
              <a:rPr lang="en-US" sz="2400" dirty="0"/>
              <a:t>– </a:t>
            </a:r>
            <a:r>
              <a:rPr lang="en-US" sz="2000" i="1" dirty="0"/>
              <a:t>“We are in the business of serving (needs) We do this with (capabilities) , and in light of this our value proposition is… and our purpose is…”</a:t>
            </a:r>
          </a:p>
          <a:p>
            <a:pPr marL="914400" lvl="1" indent="-514350">
              <a:buFont typeface="Arial"/>
              <a:buChar char="•"/>
            </a:pPr>
            <a:r>
              <a:rPr lang="en-US" i="1" dirty="0"/>
              <a:t>Who do we serve?  Who are the clients/customers/stakeholders? And what are their needs?  Which needs do we serve?  Which needs do we not serve? (Want/Should)</a:t>
            </a:r>
          </a:p>
          <a:p>
            <a:pPr marL="914400" lvl="1" indent="-514350">
              <a:buFont typeface="Arial"/>
              <a:buChar char="•"/>
            </a:pPr>
            <a:r>
              <a:rPr lang="en-US" i="1" dirty="0"/>
              <a:t>Why are we doing what we are doing?  For what purpose?  How do we want to be remembered?</a:t>
            </a:r>
          </a:p>
          <a:p>
            <a:pPr marL="914400" lvl="1" indent="-514350">
              <a:buFont typeface="Arial"/>
              <a:buChar char="•"/>
            </a:pPr>
            <a:endParaRPr lang="en-US" i="1" dirty="0"/>
          </a:p>
          <a:p>
            <a:pPr marL="914400" lvl="1" indent="-514350">
              <a:buFont typeface="Arial"/>
              <a:buChar char="•"/>
            </a:pPr>
            <a:r>
              <a:rPr lang="en-US" i="1" dirty="0"/>
              <a:t>IDENTIFY ANY </a:t>
            </a:r>
            <a:r>
              <a:rPr lang="en-US" b="1" i="1" dirty="0"/>
              <a:t>THREATS</a:t>
            </a:r>
            <a:r>
              <a:rPr lang="en-US" i="1" dirty="0"/>
              <a:t> OR </a:t>
            </a:r>
            <a:r>
              <a:rPr lang="en-US" b="1" i="1" dirty="0"/>
              <a:t>OPPORTUNITIES</a:t>
            </a:r>
          </a:p>
        </p:txBody>
      </p:sp>
    </p:spTree>
    <p:extLst>
      <p:ext uri="{BB962C8B-B14F-4D97-AF65-F5344CB8AC3E}">
        <p14:creationId xmlns:p14="http://schemas.microsoft.com/office/powerpoint/2010/main" val="359294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WE FORSEE THE FOLLOWING CHANGES HAPPENING EXTERNALLY AND INTERNALLY: - </a:t>
            </a:r>
            <a:r>
              <a:rPr lang="en-US" sz="2000" i="1" dirty="0"/>
              <a:t>“We project that in the future…”</a:t>
            </a:r>
          </a:p>
          <a:p>
            <a:pPr marL="400050" lvl="1" indent="0"/>
            <a:endParaRPr lang="en-US" sz="1200" i="1" dirty="0"/>
          </a:p>
          <a:p>
            <a:pPr lvl="2">
              <a:buFont typeface="Arial"/>
              <a:buChar char="•"/>
            </a:pPr>
            <a:r>
              <a:rPr lang="en-US" dirty="0"/>
              <a:t>Political</a:t>
            </a:r>
          </a:p>
          <a:p>
            <a:pPr lvl="2">
              <a:buFont typeface="Arial"/>
              <a:buChar char="•"/>
            </a:pPr>
            <a:r>
              <a:rPr lang="en-US" dirty="0"/>
              <a:t>Legal </a:t>
            </a:r>
          </a:p>
          <a:p>
            <a:pPr lvl="2">
              <a:buFont typeface="Arial"/>
              <a:buChar char="•"/>
            </a:pPr>
            <a:r>
              <a:rPr lang="en-US" dirty="0"/>
              <a:t>Socio- Cultural</a:t>
            </a:r>
          </a:p>
          <a:p>
            <a:pPr lvl="2">
              <a:buFont typeface="Arial"/>
              <a:buChar char="•"/>
            </a:pPr>
            <a:r>
              <a:rPr lang="en-US" dirty="0"/>
              <a:t>Economic</a:t>
            </a:r>
          </a:p>
          <a:p>
            <a:pPr lvl="2">
              <a:buFont typeface="Arial"/>
              <a:buChar char="•"/>
            </a:pPr>
            <a:r>
              <a:rPr lang="en-US" dirty="0"/>
              <a:t>Physical</a:t>
            </a:r>
          </a:p>
          <a:p>
            <a:pPr lvl="2">
              <a:buFont typeface="Arial"/>
              <a:buChar char="•"/>
            </a:pPr>
            <a:r>
              <a:rPr lang="en-US" dirty="0"/>
              <a:t>Technology</a:t>
            </a:r>
          </a:p>
          <a:p>
            <a:pPr lvl="2">
              <a:buFont typeface="Arial"/>
              <a:buChar char="•"/>
            </a:pPr>
            <a:r>
              <a:rPr lang="en-US" dirty="0"/>
              <a:t>Competition</a:t>
            </a:r>
          </a:p>
          <a:p>
            <a:pPr marL="457200" indent="-457200">
              <a:buFont typeface="Times New Roman" pitchFamily="84" charset="0"/>
              <a:buAutoNum type="arabicPeriod"/>
            </a:pPr>
            <a:endParaRPr lang="en-US" sz="2000" i="1" dirty="0"/>
          </a:p>
        </p:txBody>
      </p:sp>
      <p:sp>
        <p:nvSpPr>
          <p:cNvPr id="4" name="TextBox 3"/>
          <p:cNvSpPr txBox="1"/>
          <p:nvPr/>
        </p:nvSpPr>
        <p:spPr>
          <a:xfrm>
            <a:off x="3857625" y="73710"/>
            <a:ext cx="5744458" cy="646331"/>
          </a:xfrm>
          <a:prstGeom prst="rect">
            <a:avLst/>
          </a:prstGeom>
          <a:noFill/>
        </p:spPr>
        <p:txBody>
          <a:bodyPr wrap="none" rtlCol="0">
            <a:spAutoFit/>
          </a:bodyPr>
          <a:lstStyle/>
          <a:p>
            <a:r>
              <a:rPr lang="en-US" sz="3600" dirty="0"/>
              <a:t>What is a Mission Statement?</a:t>
            </a:r>
          </a:p>
        </p:txBody>
      </p:sp>
      <p:sp>
        <p:nvSpPr>
          <p:cNvPr id="2" name="TextBox 1"/>
          <p:cNvSpPr txBox="1"/>
          <p:nvPr/>
        </p:nvSpPr>
        <p:spPr>
          <a:xfrm>
            <a:off x="6338981" y="3137649"/>
            <a:ext cx="3810001" cy="1200329"/>
          </a:xfrm>
          <a:prstGeom prst="rect">
            <a:avLst/>
          </a:prstGeom>
          <a:noFill/>
        </p:spPr>
        <p:txBody>
          <a:bodyPr wrap="square" rtlCol="0">
            <a:spAutoFit/>
          </a:bodyPr>
          <a:lstStyle/>
          <a:p>
            <a:pPr marL="914400" lvl="1" indent="-514350">
              <a:buFont typeface="Arial"/>
              <a:buChar char="•"/>
            </a:pPr>
            <a:endParaRPr lang="en-US" i="1" dirty="0"/>
          </a:p>
          <a:p>
            <a:pPr marL="914400" lvl="1" indent="-514350">
              <a:buFont typeface="Arial"/>
              <a:buChar char="•"/>
            </a:pPr>
            <a:r>
              <a:rPr lang="en-US" i="1" dirty="0"/>
              <a:t>IDENTIFY ANY </a:t>
            </a:r>
            <a:r>
              <a:rPr lang="en-US" b="1" i="1" dirty="0"/>
              <a:t>THREATS</a:t>
            </a:r>
            <a:r>
              <a:rPr lang="en-US" i="1" dirty="0"/>
              <a:t> OR </a:t>
            </a:r>
            <a:r>
              <a:rPr lang="en-US" b="1" i="1" dirty="0"/>
              <a:t>OPPORTUNITIES</a:t>
            </a:r>
          </a:p>
          <a:p>
            <a:endParaRPr lang="en-US" dirty="0"/>
          </a:p>
        </p:txBody>
      </p:sp>
    </p:spTree>
    <p:extLst>
      <p:ext uri="{BB962C8B-B14F-4D97-AF65-F5344CB8AC3E}">
        <p14:creationId xmlns:p14="http://schemas.microsoft.com/office/powerpoint/2010/main" val="83955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1303339"/>
            <a:ext cx="8228013" cy="4524375"/>
          </a:xfrm>
        </p:spPr>
        <p:txBody>
          <a:bodyPr/>
          <a:lstStyle/>
          <a:p>
            <a:pPr marL="0" indent="0"/>
            <a:r>
              <a:rPr lang="en-US" sz="2400" b="1" dirty="0"/>
              <a:t>THESE CHANGES MEAN _______________ TO US</a:t>
            </a:r>
            <a:r>
              <a:rPr lang="en-US" sz="2400" dirty="0"/>
              <a:t> </a:t>
            </a:r>
            <a:r>
              <a:rPr lang="en-US" sz="2400" i="1" dirty="0"/>
              <a:t>– </a:t>
            </a:r>
            <a:r>
              <a:rPr lang="en-US" sz="2400" dirty="0"/>
              <a:t>These are the possible effects our changing environment will have on us. </a:t>
            </a:r>
            <a:r>
              <a:rPr lang="en-US" sz="2000" i="1" dirty="0"/>
              <a:t>“These environmental changes result in…” </a:t>
            </a:r>
          </a:p>
          <a:p>
            <a:pPr marL="0" indent="0"/>
            <a:endParaRPr lang="en-US" sz="2000" i="1" dirty="0"/>
          </a:p>
        </p:txBody>
      </p:sp>
      <p:sp>
        <p:nvSpPr>
          <p:cNvPr id="2" name="Rectangle 1"/>
          <p:cNvSpPr/>
          <p:nvPr/>
        </p:nvSpPr>
        <p:spPr>
          <a:xfrm>
            <a:off x="3810000" y="2967335"/>
            <a:ext cx="4572000" cy="923330"/>
          </a:xfrm>
          <a:prstGeom prst="rect">
            <a:avLst/>
          </a:prstGeom>
        </p:spPr>
        <p:txBody>
          <a:bodyPr>
            <a:spAutoFit/>
          </a:bodyPr>
          <a:lstStyle/>
          <a:p>
            <a:pPr marL="914400" lvl="1" indent="-514350">
              <a:buFont typeface="Arial"/>
              <a:buChar char="•"/>
            </a:pPr>
            <a:endParaRPr lang="en-US" i="1" dirty="0"/>
          </a:p>
          <a:p>
            <a:pPr marL="914400" lvl="1" indent="-514350">
              <a:buFont typeface="Arial"/>
              <a:buChar char="•"/>
            </a:pPr>
            <a:r>
              <a:rPr lang="en-US" i="1" dirty="0"/>
              <a:t>THESE ARE THE </a:t>
            </a:r>
            <a:r>
              <a:rPr lang="en-US" b="1" i="1" dirty="0"/>
              <a:t>THREATS</a:t>
            </a:r>
            <a:r>
              <a:rPr lang="en-US" i="1" dirty="0"/>
              <a:t> OR </a:t>
            </a:r>
            <a:r>
              <a:rPr lang="en-US" b="1" i="1" dirty="0"/>
              <a:t>OPPORTUNITIES</a:t>
            </a:r>
          </a:p>
        </p:txBody>
      </p:sp>
    </p:spTree>
    <p:extLst>
      <p:ext uri="{BB962C8B-B14F-4D97-AF65-F5344CB8AC3E}">
        <p14:creationId xmlns:p14="http://schemas.microsoft.com/office/powerpoint/2010/main" val="9603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874714"/>
            <a:ext cx="8228013" cy="4524375"/>
          </a:xfrm>
        </p:spPr>
        <p:txBody>
          <a:bodyPr>
            <a:normAutofit lnSpcReduction="10000"/>
          </a:bodyPr>
          <a:lstStyle/>
          <a:p>
            <a:r>
              <a:rPr lang="en-US" sz="2400" b="1" dirty="0"/>
              <a:t>BASED ON WHAT IS HAPPENING AND HOW IT WILL AFFECT US WE NEED TO _______________</a:t>
            </a:r>
          </a:p>
          <a:p>
            <a:r>
              <a:rPr lang="en-US" sz="2400" dirty="0"/>
              <a:t>– These are the actions we feel we will need to take in order to deal with our changing environment. </a:t>
            </a:r>
          </a:p>
          <a:p>
            <a:pPr marL="0" indent="0"/>
            <a:r>
              <a:rPr lang="en-US" sz="2000" dirty="0"/>
              <a:t>“In light of our unique capabilities coupled with the need to address critical internal and environmental factors, over the next “X” years, it is imperative that we….” </a:t>
            </a:r>
          </a:p>
          <a:p>
            <a:endParaRPr lang="en-US" sz="2000" dirty="0"/>
          </a:p>
          <a:p>
            <a:r>
              <a:rPr lang="en-US" sz="2000" b="1" dirty="0">
                <a:solidFill>
                  <a:srgbClr val="FF0000"/>
                </a:solidFill>
              </a:rPr>
              <a:t>-How far forward should the Mission Statement look?  (what is the “X”?)</a:t>
            </a:r>
          </a:p>
          <a:p>
            <a:r>
              <a:rPr lang="en-US" sz="2000" b="1" dirty="0">
                <a:solidFill>
                  <a:srgbClr val="FF0000"/>
                </a:solidFill>
              </a:rPr>
              <a:t>-How often should we revisit the Mission Statement?</a:t>
            </a:r>
          </a:p>
          <a:p>
            <a:br>
              <a:rPr lang="en-US" dirty="0"/>
            </a:br>
            <a:endParaRPr lang="en-US" dirty="0"/>
          </a:p>
        </p:txBody>
      </p:sp>
    </p:spTree>
    <p:extLst>
      <p:ext uri="{BB962C8B-B14F-4D97-AF65-F5344CB8AC3E}">
        <p14:creationId xmlns:p14="http://schemas.microsoft.com/office/powerpoint/2010/main" val="51903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7076" y="874714"/>
            <a:ext cx="8228013" cy="4524375"/>
          </a:xfrm>
        </p:spPr>
        <p:txBody>
          <a:bodyPr/>
          <a:lstStyle/>
          <a:p>
            <a:r>
              <a:rPr lang="en-US" sz="2400" b="1" dirty="0"/>
              <a:t>WE WILL ACOMPLISH THIS WHILE DEVELOPING THE VALUES OF ________ DROPPING THE VALUES OF _______ AND KEEPING THE VALUES OF _______</a:t>
            </a:r>
          </a:p>
          <a:p>
            <a:r>
              <a:rPr lang="en-US" sz="2400" dirty="0"/>
              <a:t> The core beliefs that we do not want to violate when implementing our Call For Action. </a:t>
            </a:r>
          </a:p>
          <a:p>
            <a:endParaRPr lang="en-US" sz="2400" i="1" dirty="0"/>
          </a:p>
          <a:p>
            <a:pPr marL="0" indent="0"/>
            <a:r>
              <a:rPr lang="en-US" sz="2000" i="1" dirty="0"/>
              <a:t>“We will fulfill this mission while developing our … dropping our ... and maintaining our ….”</a:t>
            </a:r>
          </a:p>
          <a:p>
            <a:br>
              <a:rPr lang="en-US" dirty="0"/>
            </a:br>
            <a:endParaRPr lang="en-US" dirty="0"/>
          </a:p>
        </p:txBody>
      </p:sp>
    </p:spTree>
    <p:extLst>
      <p:ext uri="{BB962C8B-B14F-4D97-AF65-F5344CB8AC3E}">
        <p14:creationId xmlns:p14="http://schemas.microsoft.com/office/powerpoint/2010/main" val="3837374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75746" y="41325"/>
            <a:ext cx="5744458" cy="646331"/>
          </a:xfrm>
          <a:prstGeom prst="rect">
            <a:avLst/>
          </a:prstGeom>
          <a:noFill/>
        </p:spPr>
        <p:txBody>
          <a:bodyPr wrap="none" rtlCol="0">
            <a:spAutoFit/>
          </a:bodyPr>
          <a:lstStyle/>
          <a:p>
            <a:r>
              <a:rPr lang="en-US" sz="3600" dirty="0"/>
              <a:t>What is a Mission Statement?</a:t>
            </a:r>
          </a:p>
        </p:txBody>
      </p:sp>
      <p:pic>
        <p:nvPicPr>
          <p:cNvPr id="2" name="Picture 1" descr="Screen Shot 2016-02-11 at 10.18.08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882" y="803386"/>
            <a:ext cx="8426824" cy="5597101"/>
          </a:xfrm>
          <a:prstGeom prst="rect">
            <a:avLst/>
          </a:prstGeom>
        </p:spPr>
      </p:pic>
    </p:spTree>
    <p:extLst>
      <p:ext uri="{BB962C8B-B14F-4D97-AF65-F5344CB8AC3E}">
        <p14:creationId xmlns:p14="http://schemas.microsoft.com/office/powerpoint/2010/main" val="3239961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Line 1"/>
          <p:cNvSpPr>
            <a:spLocks noChangeShapeType="1"/>
          </p:cNvSpPr>
          <p:nvPr/>
        </p:nvSpPr>
        <p:spPr bwMode="auto">
          <a:xfrm>
            <a:off x="3136900" y="2822575"/>
            <a:ext cx="6223000" cy="15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0" name="Line 2"/>
          <p:cNvSpPr>
            <a:spLocks noChangeShapeType="1"/>
          </p:cNvSpPr>
          <p:nvPr/>
        </p:nvSpPr>
        <p:spPr bwMode="auto">
          <a:xfrm>
            <a:off x="3136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1" name="Line 3"/>
          <p:cNvSpPr>
            <a:spLocks noChangeShapeType="1"/>
          </p:cNvSpPr>
          <p:nvPr/>
        </p:nvSpPr>
        <p:spPr bwMode="auto">
          <a:xfrm>
            <a:off x="5110164" y="2822576"/>
            <a:ext cx="1587"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2" name="Line 4"/>
          <p:cNvSpPr>
            <a:spLocks noChangeShapeType="1"/>
          </p:cNvSpPr>
          <p:nvPr/>
        </p:nvSpPr>
        <p:spPr bwMode="auto">
          <a:xfrm>
            <a:off x="9359900"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3" name="Line 5"/>
          <p:cNvSpPr>
            <a:spLocks noChangeShapeType="1"/>
          </p:cNvSpPr>
          <p:nvPr/>
        </p:nvSpPr>
        <p:spPr bwMode="auto">
          <a:xfrm>
            <a:off x="7159625" y="2822576"/>
            <a:ext cx="1588" cy="606425"/>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4" name="Rectangle 6"/>
          <p:cNvSpPr>
            <a:spLocks noChangeArrowheads="1"/>
          </p:cNvSpPr>
          <p:nvPr/>
        </p:nvSpPr>
        <p:spPr bwMode="auto">
          <a:xfrm>
            <a:off x="2455863" y="3429001"/>
            <a:ext cx="1365250" cy="1552575"/>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Lst>
            </a:pPr>
            <a:r>
              <a:rPr lang="en-US" b="1" dirty="0">
                <a:latin typeface="Tahoma" pitchFamily="-32" charset="0"/>
              </a:rPr>
              <a:t>Mission,</a:t>
            </a:r>
          </a:p>
          <a:p>
            <a:pPr algn="ctr" hangingPunct="0">
              <a:lnSpc>
                <a:spcPct val="101000"/>
              </a:lnSpc>
              <a:spcBef>
                <a:spcPts val="900"/>
              </a:spcBef>
              <a:buClr>
                <a:srgbClr val="000000"/>
              </a:buClr>
              <a:buSzPct val="100000"/>
              <a:tabLst>
                <a:tab pos="723900" algn="l"/>
              </a:tabLst>
            </a:pPr>
            <a:r>
              <a:rPr lang="en-US" b="1" dirty="0">
                <a:latin typeface="Tahoma" pitchFamily="-32" charset="0"/>
              </a:rPr>
              <a:t>Vision</a:t>
            </a:r>
          </a:p>
          <a:p>
            <a:pPr algn="ctr" hangingPunct="0">
              <a:lnSpc>
                <a:spcPct val="101000"/>
              </a:lnSpc>
              <a:spcBef>
                <a:spcPts val="900"/>
              </a:spcBef>
              <a:buClr>
                <a:srgbClr val="000000"/>
              </a:buClr>
              <a:buSzPct val="100000"/>
              <a:tabLst>
                <a:tab pos="723900" algn="l"/>
              </a:tabLst>
            </a:pPr>
            <a:r>
              <a:rPr lang="en-US" b="1" dirty="0">
                <a:latin typeface="Tahoma" pitchFamily="-32" charset="0"/>
              </a:rPr>
              <a:t>&amp;</a:t>
            </a:r>
          </a:p>
          <a:p>
            <a:pPr algn="ctr" hangingPunct="0">
              <a:lnSpc>
                <a:spcPct val="101000"/>
              </a:lnSpc>
              <a:spcBef>
                <a:spcPts val="900"/>
              </a:spcBef>
              <a:buClr>
                <a:srgbClr val="000000"/>
              </a:buClr>
              <a:buSzPct val="100000"/>
              <a:tabLst>
                <a:tab pos="723900" algn="l"/>
              </a:tabLst>
            </a:pPr>
            <a:r>
              <a:rPr lang="en-US" b="1" dirty="0">
                <a:latin typeface="Tahoma" pitchFamily="-32" charset="0"/>
              </a:rPr>
              <a:t>Values</a:t>
            </a:r>
          </a:p>
        </p:txBody>
      </p:sp>
      <p:sp>
        <p:nvSpPr>
          <p:cNvPr id="32775" name="Rectangle 7"/>
          <p:cNvSpPr>
            <a:spLocks noChangeArrowheads="1"/>
          </p:cNvSpPr>
          <p:nvPr/>
        </p:nvSpPr>
        <p:spPr bwMode="auto">
          <a:xfrm>
            <a:off x="4198938"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FF0000"/>
                </a:solidFill>
                <a:latin typeface="Tahoma" pitchFamily="-32" charset="0"/>
              </a:rPr>
              <a:t>Structure</a:t>
            </a:r>
          </a:p>
        </p:txBody>
      </p:sp>
      <p:sp>
        <p:nvSpPr>
          <p:cNvPr id="32776" name="Rectangle 8"/>
          <p:cNvSpPr>
            <a:spLocks noChangeArrowheads="1"/>
          </p:cNvSpPr>
          <p:nvPr/>
        </p:nvSpPr>
        <p:spPr bwMode="auto">
          <a:xfrm>
            <a:off x="6096001" y="3429000"/>
            <a:ext cx="2049463"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latin typeface="Tahoma" pitchFamily="-32" charset="0"/>
              </a:rPr>
              <a:t>Process</a:t>
            </a:r>
          </a:p>
        </p:txBody>
      </p:sp>
      <p:sp>
        <p:nvSpPr>
          <p:cNvPr id="32777" name="Rectangle 9"/>
          <p:cNvSpPr>
            <a:spLocks noChangeArrowheads="1"/>
          </p:cNvSpPr>
          <p:nvPr/>
        </p:nvSpPr>
        <p:spPr bwMode="auto">
          <a:xfrm>
            <a:off x="8450263" y="3429000"/>
            <a:ext cx="1744662" cy="457200"/>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b="1" dirty="0">
                <a:solidFill>
                  <a:srgbClr val="000000"/>
                </a:solidFill>
                <a:latin typeface="Tahoma" pitchFamily="-32" charset="0"/>
              </a:rPr>
              <a:t>People</a:t>
            </a:r>
          </a:p>
        </p:txBody>
      </p:sp>
      <p:sp>
        <p:nvSpPr>
          <p:cNvPr id="32778" name="Line 10"/>
          <p:cNvSpPr>
            <a:spLocks noChangeShapeType="1"/>
          </p:cNvSpPr>
          <p:nvPr/>
        </p:nvSpPr>
        <p:spPr bwMode="auto">
          <a:xfrm flipV="1">
            <a:off x="6096000" y="2365375"/>
            <a:ext cx="1588" cy="458788"/>
          </a:xfrm>
          <a:prstGeom prst="line">
            <a:avLst/>
          </a:prstGeom>
          <a:noFill/>
          <a:ln w="38160">
            <a:solidFill>
              <a:srgbClr val="000000"/>
            </a:solidFill>
            <a:round/>
            <a:headEnd/>
            <a:tailEnd/>
          </a:ln>
        </p:spPr>
        <p:txBody>
          <a:bodyPr>
            <a:prstTxWarp prst="textNoShape">
              <a:avLst/>
            </a:prstTxWarp>
          </a:bodyPr>
          <a:lstStyle/>
          <a:p>
            <a:endParaRPr lang="en-US"/>
          </a:p>
        </p:txBody>
      </p:sp>
      <p:sp>
        <p:nvSpPr>
          <p:cNvPr id="32779" name="Rectangle 11"/>
          <p:cNvSpPr>
            <a:spLocks noChangeArrowheads="1"/>
          </p:cNvSpPr>
          <p:nvPr/>
        </p:nvSpPr>
        <p:spPr bwMode="auto">
          <a:xfrm>
            <a:off x="2320226" y="1785937"/>
            <a:ext cx="7554725" cy="579438"/>
          </a:xfrm>
          <a:prstGeom prst="rect">
            <a:avLst/>
          </a:prstGeom>
          <a:noFill/>
          <a:ln w="12600">
            <a:noFill/>
            <a:miter lim="800000"/>
            <a:headEnd/>
            <a:tailEnd/>
          </a:ln>
        </p:spPr>
        <p:txBody>
          <a:bodyPr lIns="90000" tIns="45000" rIns="90000" bIns="45000">
            <a:prstTxWarp prst="textNoShape">
              <a:avLst/>
            </a:prstTxWarp>
          </a:bodyPr>
          <a:lstStyle/>
          <a:p>
            <a:pPr algn="ctr" hangingPunct="0">
              <a:lnSpc>
                <a:spcPct val="101000"/>
              </a:lnSpc>
              <a:spcBef>
                <a:spcPts val="900"/>
              </a:spcBef>
              <a:buClr>
                <a:srgbClr val="000000"/>
              </a:buClr>
              <a:buSzPct val="100000"/>
              <a:tabLst>
                <a:tab pos="723900" algn="l"/>
                <a:tab pos="1447800" algn="l"/>
              </a:tabLst>
            </a:pPr>
            <a:r>
              <a:rPr lang="en-US" sz="3200" b="1" dirty="0">
                <a:solidFill>
                  <a:srgbClr val="000000"/>
                </a:solidFill>
                <a:latin typeface="Tahoma" pitchFamily="-32" charset="0"/>
              </a:rPr>
              <a:t>Mutual Trust and Respect</a:t>
            </a:r>
          </a:p>
        </p:txBody>
      </p:sp>
    </p:spTree>
    <p:extLst>
      <p:ext uri="{BB962C8B-B14F-4D97-AF65-F5344CB8AC3E}">
        <p14:creationId xmlns:p14="http://schemas.microsoft.com/office/powerpoint/2010/main" val="10930219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E38E-DDCB-407B-92EC-B18CF1BCF0DC}"/>
              </a:ext>
            </a:extLst>
          </p:cNvPr>
          <p:cNvSpPr txBox="1"/>
          <p:nvPr/>
        </p:nvSpPr>
        <p:spPr>
          <a:xfrm>
            <a:off x="4549855" y="1349188"/>
            <a:ext cx="3075906" cy="2062103"/>
          </a:xfrm>
          <a:prstGeom prst="rect">
            <a:avLst/>
          </a:prstGeom>
          <a:noFill/>
        </p:spPr>
        <p:txBody>
          <a:bodyPr wrap="none" rtlCol="0">
            <a:spAutoFit/>
          </a:bodyPr>
          <a:lstStyle/>
          <a:p>
            <a:pPr algn="ctr"/>
            <a:r>
              <a:rPr lang="en-US" sz="3200" dirty="0"/>
              <a:t>Thank You!</a:t>
            </a:r>
          </a:p>
          <a:p>
            <a:pPr algn="ctr"/>
            <a:endParaRPr lang="en-US" sz="3200" dirty="0"/>
          </a:p>
          <a:p>
            <a:pPr algn="ctr"/>
            <a:r>
              <a:rPr lang="en-US" sz="3200" dirty="0"/>
              <a:t>Next week article</a:t>
            </a:r>
          </a:p>
          <a:p>
            <a:pPr algn="ctr"/>
            <a:endParaRPr lang="en-US" sz="3200" dirty="0"/>
          </a:p>
        </p:txBody>
      </p:sp>
      <p:sp>
        <p:nvSpPr>
          <p:cNvPr id="4" name="Title 1"/>
          <p:cNvSpPr>
            <a:spLocks noGrp="1"/>
          </p:cNvSpPr>
          <p:nvPr>
            <p:ph type="title"/>
          </p:nvPr>
        </p:nvSpPr>
        <p:spPr>
          <a:xfrm>
            <a:off x="1973801" y="3411291"/>
            <a:ext cx="8228013" cy="1143000"/>
          </a:xfrm>
        </p:spPr>
        <p:txBody>
          <a:bodyPr>
            <a:normAutofit fontScale="90000"/>
          </a:bodyPr>
          <a:lstStyle/>
          <a:p>
            <a:pPr algn="ctr"/>
            <a:r>
              <a:rPr lang="en-US" sz="2800" dirty="0">
                <a:hlinkClick r:id="rId2"/>
              </a:rPr>
              <a:t>https://www.salon.com/2019/06/21/communing-with-the-dead-i-followed-the-grateful-dead-to-escape-and-ended-up-finding-home/</a:t>
            </a:r>
            <a:endParaRPr lang="en-US" sz="2800" dirty="0"/>
          </a:p>
        </p:txBody>
      </p:sp>
    </p:spTree>
    <p:extLst>
      <p:ext uri="{BB962C8B-B14F-4D97-AF65-F5344CB8AC3E}">
        <p14:creationId xmlns:p14="http://schemas.microsoft.com/office/powerpoint/2010/main" val="3313694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2843</TotalTime>
  <Words>1078</Words>
  <Application>Microsoft Office PowerPoint</Application>
  <PresentationFormat>Widescreen</PresentationFormat>
  <Paragraphs>177</Paragraphs>
  <Slides>28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Myriad Pro</vt:lpstr>
      <vt:lpstr>Tahoma</vt:lpstr>
      <vt:lpstr>Times New Roman</vt:lpstr>
      <vt:lpstr>Office Theme</vt:lpstr>
      <vt:lpstr>Growing Incredible Managers:   </vt:lpstr>
      <vt:lpstr>Appex</vt:lpstr>
      <vt:lpstr>Source of corporate success  </vt:lpstr>
      <vt:lpstr>PowerPoint Presentation</vt:lpstr>
      <vt:lpstr>PowerPoint Presentation</vt:lpstr>
      <vt:lpstr>Characteristics of a good manager</vt:lpstr>
      <vt:lpstr>PowerPoint Presentation</vt:lpstr>
      <vt:lpstr>8 Steps in Decision Making</vt:lpstr>
      <vt:lpstr>Types of Decision Making</vt:lpstr>
      <vt:lpstr>PowerPoint Presentation</vt:lpstr>
      <vt:lpstr>Typical mistakes when making a Mission Statement: </vt:lpstr>
      <vt:lpstr>Purpose of Mission Statement:</vt:lpstr>
      <vt:lpstr>PowerPoint Presentation</vt:lpstr>
      <vt:lpstr>Who Should help you create your Mission Statement?</vt:lpstr>
      <vt:lpstr>How to communicate the Mission to the rest of the org.?</vt:lpstr>
      <vt:lpstr>Information Gathering Teams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https://www.salon.com/2019/06/21/communing-with-the-dead-i-followed-the-grateful-dead-to-escape-and-ended-up-finding-home/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Growing Incredible Managers:</dc:title>
  <dc:creator>Greg Mathers</dc:creator>
  <cp:lastModifiedBy>Greg Mathers</cp:lastModifiedBy>
  <cp:revision>51</cp:revision>
  <cp:lastPrinted>2019-06-27T09:23:07Z</cp:lastPrinted>
  <dcterms:created xsi:type="dcterms:W3CDTF">2019-05-30T13:31:17Z</dcterms:created>
  <dcterms:modified xsi:type="dcterms:W3CDTF">2019-06-27T17:51:04Z</dcterms:modified>
</cp:coreProperties>
</file>