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handoutMasterIdLst>
    <p:handoutMasterId r:id="rId63"/>
  </p:handoutMasterIdLst>
  <p:sldIdLst>
    <p:sldId id="447" r:id="rId2"/>
    <p:sldId id="430" r:id="rId3"/>
    <p:sldId id="431" r:id="rId4"/>
    <p:sldId id="432" r:id="rId5"/>
    <p:sldId id="433" r:id="rId6"/>
    <p:sldId id="434" r:id="rId7"/>
    <p:sldId id="435" r:id="rId8"/>
    <p:sldId id="436" r:id="rId9"/>
    <p:sldId id="903" r:id="rId10"/>
    <p:sldId id="905" r:id="rId11"/>
    <p:sldId id="906" r:id="rId12"/>
    <p:sldId id="907" r:id="rId13"/>
    <p:sldId id="908" r:id="rId14"/>
    <p:sldId id="909" r:id="rId15"/>
    <p:sldId id="912" r:id="rId16"/>
    <p:sldId id="913" r:id="rId17"/>
    <p:sldId id="914" r:id="rId18"/>
    <p:sldId id="916" r:id="rId19"/>
    <p:sldId id="917" r:id="rId20"/>
    <p:sldId id="918" r:id="rId21"/>
    <p:sldId id="919" r:id="rId22"/>
    <p:sldId id="921" r:id="rId23"/>
    <p:sldId id="922" r:id="rId24"/>
    <p:sldId id="923" r:id="rId25"/>
    <p:sldId id="924" r:id="rId26"/>
    <p:sldId id="925" r:id="rId27"/>
    <p:sldId id="926" r:id="rId28"/>
    <p:sldId id="927" r:id="rId29"/>
    <p:sldId id="928" r:id="rId30"/>
    <p:sldId id="929" r:id="rId31"/>
    <p:sldId id="930" r:id="rId32"/>
    <p:sldId id="932" r:id="rId33"/>
    <p:sldId id="933" r:id="rId34"/>
    <p:sldId id="934" r:id="rId35"/>
    <p:sldId id="935" r:id="rId36"/>
    <p:sldId id="936" r:id="rId37"/>
    <p:sldId id="937" r:id="rId38"/>
    <p:sldId id="938" r:id="rId39"/>
    <p:sldId id="939" r:id="rId40"/>
    <p:sldId id="940" r:id="rId41"/>
    <p:sldId id="941" r:id="rId42"/>
    <p:sldId id="943" r:id="rId43"/>
    <p:sldId id="946" r:id="rId44"/>
    <p:sldId id="947" r:id="rId45"/>
    <p:sldId id="948" r:id="rId46"/>
    <p:sldId id="949" r:id="rId47"/>
    <p:sldId id="950" r:id="rId48"/>
    <p:sldId id="951" r:id="rId49"/>
    <p:sldId id="952" r:id="rId50"/>
    <p:sldId id="953" r:id="rId51"/>
    <p:sldId id="954" r:id="rId52"/>
    <p:sldId id="955" r:id="rId53"/>
    <p:sldId id="956" r:id="rId54"/>
    <p:sldId id="957" r:id="rId55"/>
    <p:sldId id="958" r:id="rId56"/>
    <p:sldId id="959" r:id="rId57"/>
    <p:sldId id="441" r:id="rId58"/>
    <p:sldId id="442" r:id="rId59"/>
    <p:sldId id="443" r:id="rId60"/>
    <p:sldId id="961" r:id="rId61"/>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80" d="100"/>
          <a:sy n="80" d="100"/>
        </p:scale>
        <p:origin x="3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FF0A4-E0DB-40C3-A204-1D5915B4FAC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24E736E0-D4F5-4B7D-BAB8-2DFA4670CFB3}">
      <dgm:prSet phldrT="[Text]"/>
      <dgm:spPr>
        <a:solidFill>
          <a:srgbClr val="00B050"/>
        </a:solidFill>
      </dgm:spPr>
      <dgm:t>
        <a:bodyPr/>
        <a:lstStyle/>
        <a:p>
          <a:r>
            <a:rPr lang="en-US" dirty="0"/>
            <a:t>Co</a:t>
          </a:r>
        </a:p>
      </dgm:t>
    </dgm:pt>
    <dgm:pt modelId="{27D06EA2-A944-4085-BF2E-9062023D828D}" type="parTrans" cxnId="{5268F2C2-F488-4CEC-8051-5198237AB031}">
      <dgm:prSet/>
      <dgm:spPr/>
      <dgm:t>
        <a:bodyPr/>
        <a:lstStyle/>
        <a:p>
          <a:endParaRPr lang="en-US"/>
        </a:p>
      </dgm:t>
    </dgm:pt>
    <dgm:pt modelId="{BA216D59-2C53-42B9-98FC-D1EBCF95A678}" type="sibTrans" cxnId="{5268F2C2-F488-4CEC-8051-5198237AB031}">
      <dgm:prSet/>
      <dgm:spPr/>
      <dgm:t>
        <a:bodyPr/>
        <a:lstStyle/>
        <a:p>
          <a:endParaRPr lang="en-US"/>
        </a:p>
      </dgm:t>
    </dgm:pt>
    <dgm:pt modelId="{6776AAEC-08F6-439C-82E0-0CE3F2287856}">
      <dgm:prSet/>
      <dgm:spPr>
        <a:solidFill>
          <a:srgbClr val="00B050"/>
        </a:solidFill>
      </dgm:spPr>
      <dgm:t>
        <a:bodyPr/>
        <a:lstStyle/>
        <a:p>
          <a:endParaRPr lang="en-US"/>
        </a:p>
      </dgm:t>
    </dgm:pt>
    <dgm:pt modelId="{43528BAC-B4AC-4E6A-BB2C-A6A10844B26D}" type="parTrans" cxnId="{16C29A3E-1D45-4031-8C21-72B591E6CC83}">
      <dgm:prSet/>
      <dgm:spPr/>
      <dgm:t>
        <a:bodyPr/>
        <a:lstStyle/>
        <a:p>
          <a:endParaRPr lang="en-US"/>
        </a:p>
      </dgm:t>
    </dgm:pt>
    <dgm:pt modelId="{569BE812-8C68-4DB2-A109-685647FE2600}" type="sibTrans" cxnId="{16C29A3E-1D45-4031-8C21-72B591E6CC83}">
      <dgm:prSet/>
      <dgm:spPr/>
      <dgm:t>
        <a:bodyPr/>
        <a:lstStyle/>
        <a:p>
          <a:endParaRPr lang="en-US"/>
        </a:p>
      </dgm:t>
    </dgm:pt>
    <dgm:pt modelId="{DE871408-AA46-4234-9F50-002FCBDC3863}">
      <dgm:prSet/>
      <dgm:spPr>
        <a:solidFill>
          <a:srgbClr val="00B050"/>
        </a:solidFill>
      </dgm:spPr>
      <dgm:t>
        <a:bodyPr/>
        <a:lstStyle/>
        <a:p>
          <a:endParaRPr lang="en-US"/>
        </a:p>
      </dgm:t>
    </dgm:pt>
    <dgm:pt modelId="{238FF9F9-9CFF-477B-8FFC-DD4DCF483136}" type="parTrans" cxnId="{8998B96B-4397-412F-881B-C86FB1E0AE3E}">
      <dgm:prSet/>
      <dgm:spPr/>
      <dgm:t>
        <a:bodyPr/>
        <a:lstStyle/>
        <a:p>
          <a:endParaRPr lang="en-US"/>
        </a:p>
      </dgm:t>
    </dgm:pt>
    <dgm:pt modelId="{A95EE4CB-9369-4E8F-AC38-0558D1901C00}" type="sibTrans" cxnId="{8998B96B-4397-412F-881B-C86FB1E0AE3E}">
      <dgm:prSet/>
      <dgm:spPr/>
      <dgm:t>
        <a:bodyPr/>
        <a:lstStyle/>
        <a:p>
          <a:endParaRPr lang="en-US"/>
        </a:p>
      </dgm:t>
    </dgm:pt>
    <dgm:pt modelId="{BB4F6BBD-C669-4E2C-9012-BB63F32F7295}">
      <dgm:prSet/>
      <dgm:spPr>
        <a:solidFill>
          <a:srgbClr val="FF0000"/>
        </a:solidFill>
      </dgm:spPr>
      <dgm:t>
        <a:bodyPr/>
        <a:lstStyle/>
        <a:p>
          <a:endParaRPr lang="en-US"/>
        </a:p>
      </dgm:t>
    </dgm:pt>
    <dgm:pt modelId="{7E7E3AAA-CA81-4C21-B64C-0C81DEF7A4E8}" type="parTrans" cxnId="{BBB37360-BA80-4EFA-82FA-56C542A025B1}">
      <dgm:prSet/>
      <dgm:spPr/>
      <dgm:t>
        <a:bodyPr/>
        <a:lstStyle/>
        <a:p>
          <a:endParaRPr lang="en-US"/>
        </a:p>
      </dgm:t>
    </dgm:pt>
    <dgm:pt modelId="{31085EE6-A06A-4C18-9887-7A13E2782A83}" type="sibTrans" cxnId="{BBB37360-BA80-4EFA-82FA-56C542A025B1}">
      <dgm:prSet/>
      <dgm:spPr/>
      <dgm:t>
        <a:bodyPr/>
        <a:lstStyle/>
        <a:p>
          <a:endParaRPr lang="en-US"/>
        </a:p>
      </dgm:t>
    </dgm:pt>
    <dgm:pt modelId="{24753E3F-A931-444C-9DFE-7CF8DA31DE19}">
      <dgm:prSet/>
      <dgm:spPr>
        <a:solidFill>
          <a:srgbClr val="FF0000"/>
        </a:solidFill>
      </dgm:spPr>
      <dgm:t>
        <a:bodyPr/>
        <a:lstStyle/>
        <a:p>
          <a:endParaRPr lang="en-US"/>
        </a:p>
      </dgm:t>
    </dgm:pt>
    <dgm:pt modelId="{79BE8175-FF93-4957-B156-6CCB83143DAB}" type="parTrans" cxnId="{BD16442F-BCAC-465C-A936-6D11F038C167}">
      <dgm:prSet/>
      <dgm:spPr/>
      <dgm:t>
        <a:bodyPr/>
        <a:lstStyle/>
        <a:p>
          <a:endParaRPr lang="en-US"/>
        </a:p>
      </dgm:t>
    </dgm:pt>
    <dgm:pt modelId="{D0A79637-6898-415B-BA78-D979652330A2}" type="sibTrans" cxnId="{BD16442F-BCAC-465C-A936-6D11F038C167}">
      <dgm:prSet/>
      <dgm:spPr/>
      <dgm:t>
        <a:bodyPr/>
        <a:lstStyle/>
        <a:p>
          <a:endParaRPr lang="en-US"/>
        </a:p>
      </dgm:t>
    </dgm:pt>
    <dgm:pt modelId="{BC45ED1F-BE83-4ACC-91F9-4D2AC83238D6}" type="pres">
      <dgm:prSet presAssocID="{18EFF0A4-E0DB-40C3-A204-1D5915B4FAC9}" presName="hierChild1" presStyleCnt="0">
        <dgm:presLayoutVars>
          <dgm:orgChart val="1"/>
          <dgm:chPref val="1"/>
          <dgm:dir/>
          <dgm:animOne val="branch"/>
          <dgm:animLvl val="lvl"/>
          <dgm:resizeHandles/>
        </dgm:presLayoutVars>
      </dgm:prSet>
      <dgm:spPr/>
    </dgm:pt>
    <dgm:pt modelId="{5D7B5810-A49C-4913-9404-EAE81A909973}" type="pres">
      <dgm:prSet presAssocID="{24E736E0-D4F5-4B7D-BAB8-2DFA4670CFB3}" presName="hierRoot1" presStyleCnt="0">
        <dgm:presLayoutVars>
          <dgm:hierBranch val="init"/>
        </dgm:presLayoutVars>
      </dgm:prSet>
      <dgm:spPr/>
    </dgm:pt>
    <dgm:pt modelId="{1517FFCD-AB3F-43E5-95FB-891B9E733E45}" type="pres">
      <dgm:prSet presAssocID="{24E736E0-D4F5-4B7D-BAB8-2DFA4670CFB3}" presName="rootComposite1" presStyleCnt="0"/>
      <dgm:spPr/>
    </dgm:pt>
    <dgm:pt modelId="{E886D000-3D95-4B32-A872-3C11F41F080A}" type="pres">
      <dgm:prSet presAssocID="{24E736E0-D4F5-4B7D-BAB8-2DFA4670CFB3}" presName="rootText1" presStyleLbl="node0" presStyleIdx="0" presStyleCnt="1">
        <dgm:presLayoutVars>
          <dgm:chPref val="3"/>
        </dgm:presLayoutVars>
      </dgm:prSet>
      <dgm:spPr/>
    </dgm:pt>
    <dgm:pt modelId="{7DA73A83-206F-4BAC-89C4-C449A82EF291}" type="pres">
      <dgm:prSet presAssocID="{24E736E0-D4F5-4B7D-BAB8-2DFA4670CFB3}" presName="rootConnector1" presStyleLbl="node1" presStyleIdx="0" presStyleCnt="0"/>
      <dgm:spPr/>
    </dgm:pt>
    <dgm:pt modelId="{343489C8-E621-4C9F-91AC-7C394929812C}" type="pres">
      <dgm:prSet presAssocID="{24E736E0-D4F5-4B7D-BAB8-2DFA4670CFB3}" presName="hierChild2" presStyleCnt="0"/>
      <dgm:spPr/>
    </dgm:pt>
    <dgm:pt modelId="{E7EE5030-C94C-42C5-BFC4-3319824D4F51}" type="pres">
      <dgm:prSet presAssocID="{43528BAC-B4AC-4E6A-BB2C-A6A10844B26D}" presName="Name37" presStyleLbl="parChTrans1D2" presStyleIdx="0" presStyleCnt="2"/>
      <dgm:spPr/>
    </dgm:pt>
    <dgm:pt modelId="{0D9E1F65-F6C6-4135-9F4D-D017BF644421}" type="pres">
      <dgm:prSet presAssocID="{6776AAEC-08F6-439C-82E0-0CE3F2287856}" presName="hierRoot2" presStyleCnt="0">
        <dgm:presLayoutVars>
          <dgm:hierBranch val="init"/>
        </dgm:presLayoutVars>
      </dgm:prSet>
      <dgm:spPr/>
    </dgm:pt>
    <dgm:pt modelId="{B95DB848-8AD5-4D4A-B3F9-CFEA908483A3}" type="pres">
      <dgm:prSet presAssocID="{6776AAEC-08F6-439C-82E0-0CE3F2287856}" presName="rootComposite" presStyleCnt="0"/>
      <dgm:spPr/>
    </dgm:pt>
    <dgm:pt modelId="{873CEF06-46D9-4BE2-8FA6-A61E5488BC1A}" type="pres">
      <dgm:prSet presAssocID="{6776AAEC-08F6-439C-82E0-0CE3F2287856}" presName="rootText" presStyleLbl="node2" presStyleIdx="0" presStyleCnt="2">
        <dgm:presLayoutVars>
          <dgm:chPref val="3"/>
        </dgm:presLayoutVars>
      </dgm:prSet>
      <dgm:spPr/>
    </dgm:pt>
    <dgm:pt modelId="{977251D7-1833-4B9F-9183-7E8F77BF02BF}" type="pres">
      <dgm:prSet presAssocID="{6776AAEC-08F6-439C-82E0-0CE3F2287856}" presName="rootConnector" presStyleLbl="node2" presStyleIdx="0" presStyleCnt="2"/>
      <dgm:spPr/>
    </dgm:pt>
    <dgm:pt modelId="{9059A5F4-7740-447D-A08D-EFDE0452E382}" type="pres">
      <dgm:prSet presAssocID="{6776AAEC-08F6-439C-82E0-0CE3F2287856}" presName="hierChild4" presStyleCnt="0"/>
      <dgm:spPr/>
    </dgm:pt>
    <dgm:pt modelId="{D4D5BA8A-3333-41A8-BA59-D36378E2F07B}" type="pres">
      <dgm:prSet presAssocID="{238FF9F9-9CFF-477B-8FFC-DD4DCF483136}" presName="Name37" presStyleLbl="parChTrans1D3" presStyleIdx="0" presStyleCnt="2"/>
      <dgm:spPr/>
    </dgm:pt>
    <dgm:pt modelId="{09CC9053-270B-40E2-9C33-BFCA024207F9}" type="pres">
      <dgm:prSet presAssocID="{DE871408-AA46-4234-9F50-002FCBDC3863}" presName="hierRoot2" presStyleCnt="0">
        <dgm:presLayoutVars>
          <dgm:hierBranch val="init"/>
        </dgm:presLayoutVars>
      </dgm:prSet>
      <dgm:spPr/>
    </dgm:pt>
    <dgm:pt modelId="{30070FEE-3D7C-41DD-86C4-17FA53F87A7C}" type="pres">
      <dgm:prSet presAssocID="{DE871408-AA46-4234-9F50-002FCBDC3863}" presName="rootComposite" presStyleCnt="0"/>
      <dgm:spPr/>
    </dgm:pt>
    <dgm:pt modelId="{DDC358AC-7FDF-459A-AFD7-942D7207522D}" type="pres">
      <dgm:prSet presAssocID="{DE871408-AA46-4234-9F50-002FCBDC3863}" presName="rootText" presStyleLbl="node3" presStyleIdx="0" presStyleCnt="2">
        <dgm:presLayoutVars>
          <dgm:chPref val="3"/>
        </dgm:presLayoutVars>
      </dgm:prSet>
      <dgm:spPr/>
    </dgm:pt>
    <dgm:pt modelId="{A9FB6E69-9D38-41B2-8442-161E46770C9D}" type="pres">
      <dgm:prSet presAssocID="{DE871408-AA46-4234-9F50-002FCBDC3863}" presName="rootConnector" presStyleLbl="node3" presStyleIdx="0" presStyleCnt="2"/>
      <dgm:spPr/>
    </dgm:pt>
    <dgm:pt modelId="{4F93D7CC-5520-4981-8B50-54746A35AB16}" type="pres">
      <dgm:prSet presAssocID="{DE871408-AA46-4234-9F50-002FCBDC3863}" presName="hierChild4" presStyleCnt="0"/>
      <dgm:spPr/>
    </dgm:pt>
    <dgm:pt modelId="{23F2641A-17BF-42B6-8D6E-83F9B4463101}" type="pres">
      <dgm:prSet presAssocID="{DE871408-AA46-4234-9F50-002FCBDC3863}" presName="hierChild5" presStyleCnt="0"/>
      <dgm:spPr/>
    </dgm:pt>
    <dgm:pt modelId="{C84ABE57-15CB-4C8B-943E-9441B516C0B7}" type="pres">
      <dgm:prSet presAssocID="{6776AAEC-08F6-439C-82E0-0CE3F2287856}" presName="hierChild5" presStyleCnt="0"/>
      <dgm:spPr/>
    </dgm:pt>
    <dgm:pt modelId="{D9D13D19-3405-49B5-9814-8D5A9B3D5819}" type="pres">
      <dgm:prSet presAssocID="{7E7E3AAA-CA81-4C21-B64C-0C81DEF7A4E8}" presName="Name37" presStyleLbl="parChTrans1D2" presStyleIdx="1" presStyleCnt="2"/>
      <dgm:spPr/>
    </dgm:pt>
    <dgm:pt modelId="{73ED5444-914D-4649-AF31-24988F842BDB}" type="pres">
      <dgm:prSet presAssocID="{BB4F6BBD-C669-4E2C-9012-BB63F32F7295}" presName="hierRoot2" presStyleCnt="0">
        <dgm:presLayoutVars>
          <dgm:hierBranch val="init"/>
        </dgm:presLayoutVars>
      </dgm:prSet>
      <dgm:spPr/>
    </dgm:pt>
    <dgm:pt modelId="{84C3D27C-6D84-450D-9FA3-57B07235445C}" type="pres">
      <dgm:prSet presAssocID="{BB4F6BBD-C669-4E2C-9012-BB63F32F7295}" presName="rootComposite" presStyleCnt="0"/>
      <dgm:spPr/>
    </dgm:pt>
    <dgm:pt modelId="{5EC7C770-CCC8-4058-BFB1-C4801785099E}" type="pres">
      <dgm:prSet presAssocID="{BB4F6BBD-C669-4E2C-9012-BB63F32F7295}" presName="rootText" presStyleLbl="node2" presStyleIdx="1" presStyleCnt="2">
        <dgm:presLayoutVars>
          <dgm:chPref val="3"/>
        </dgm:presLayoutVars>
      </dgm:prSet>
      <dgm:spPr/>
    </dgm:pt>
    <dgm:pt modelId="{7A18E582-B368-4A63-8736-066AA2C6E6C1}" type="pres">
      <dgm:prSet presAssocID="{BB4F6BBD-C669-4E2C-9012-BB63F32F7295}" presName="rootConnector" presStyleLbl="node2" presStyleIdx="1" presStyleCnt="2"/>
      <dgm:spPr/>
    </dgm:pt>
    <dgm:pt modelId="{06A04B7F-C895-42B9-A374-8159A2BD9D91}" type="pres">
      <dgm:prSet presAssocID="{BB4F6BBD-C669-4E2C-9012-BB63F32F7295}" presName="hierChild4" presStyleCnt="0"/>
      <dgm:spPr/>
    </dgm:pt>
    <dgm:pt modelId="{68E23AB0-2A7A-45C1-8031-CD058829ADEE}" type="pres">
      <dgm:prSet presAssocID="{79BE8175-FF93-4957-B156-6CCB83143DAB}" presName="Name37" presStyleLbl="parChTrans1D3" presStyleIdx="1" presStyleCnt="2"/>
      <dgm:spPr/>
    </dgm:pt>
    <dgm:pt modelId="{3785D9A1-D012-4C70-9E8A-A1037190AC63}" type="pres">
      <dgm:prSet presAssocID="{24753E3F-A931-444C-9DFE-7CF8DA31DE19}" presName="hierRoot2" presStyleCnt="0">
        <dgm:presLayoutVars>
          <dgm:hierBranch val="init"/>
        </dgm:presLayoutVars>
      </dgm:prSet>
      <dgm:spPr/>
    </dgm:pt>
    <dgm:pt modelId="{6B9E2508-2F63-4455-B5A6-BF216405F64C}" type="pres">
      <dgm:prSet presAssocID="{24753E3F-A931-444C-9DFE-7CF8DA31DE19}" presName="rootComposite" presStyleCnt="0"/>
      <dgm:spPr/>
    </dgm:pt>
    <dgm:pt modelId="{3CF1802F-CA3B-4AE1-99AC-A6153ABF477D}" type="pres">
      <dgm:prSet presAssocID="{24753E3F-A931-444C-9DFE-7CF8DA31DE19}" presName="rootText" presStyleLbl="node3" presStyleIdx="1" presStyleCnt="2">
        <dgm:presLayoutVars>
          <dgm:chPref val="3"/>
        </dgm:presLayoutVars>
      </dgm:prSet>
      <dgm:spPr/>
    </dgm:pt>
    <dgm:pt modelId="{8120D69D-184D-4B99-B8D9-A8F34F282FEB}" type="pres">
      <dgm:prSet presAssocID="{24753E3F-A931-444C-9DFE-7CF8DA31DE19}" presName="rootConnector" presStyleLbl="node3" presStyleIdx="1" presStyleCnt="2"/>
      <dgm:spPr/>
    </dgm:pt>
    <dgm:pt modelId="{3D2B07EC-4DB5-471D-A561-F979B8CBB823}" type="pres">
      <dgm:prSet presAssocID="{24753E3F-A931-444C-9DFE-7CF8DA31DE19}" presName="hierChild4" presStyleCnt="0"/>
      <dgm:spPr/>
    </dgm:pt>
    <dgm:pt modelId="{EF3496CC-EB84-4BCC-B99F-ABD03ED05040}" type="pres">
      <dgm:prSet presAssocID="{24753E3F-A931-444C-9DFE-7CF8DA31DE19}" presName="hierChild5" presStyleCnt="0"/>
      <dgm:spPr/>
    </dgm:pt>
    <dgm:pt modelId="{E7A272C7-E756-46E7-AC1E-F13749D3E556}" type="pres">
      <dgm:prSet presAssocID="{BB4F6BBD-C669-4E2C-9012-BB63F32F7295}" presName="hierChild5" presStyleCnt="0"/>
      <dgm:spPr/>
    </dgm:pt>
    <dgm:pt modelId="{D7F90961-0873-4EF8-9516-9CB2D5927BE9}" type="pres">
      <dgm:prSet presAssocID="{24E736E0-D4F5-4B7D-BAB8-2DFA4670CFB3}" presName="hierChild3" presStyleCnt="0"/>
      <dgm:spPr/>
    </dgm:pt>
  </dgm:ptLst>
  <dgm:cxnLst>
    <dgm:cxn modelId="{B3758F07-C1C2-498C-8453-0403C19FDB65}" type="presOf" srcId="{7E7E3AAA-CA81-4C21-B64C-0C81DEF7A4E8}" destId="{D9D13D19-3405-49B5-9814-8D5A9B3D5819}" srcOrd="0" destOrd="0" presId="urn:microsoft.com/office/officeart/2005/8/layout/orgChart1"/>
    <dgm:cxn modelId="{BD16442F-BCAC-465C-A936-6D11F038C167}" srcId="{BB4F6BBD-C669-4E2C-9012-BB63F32F7295}" destId="{24753E3F-A931-444C-9DFE-7CF8DA31DE19}" srcOrd="0" destOrd="0" parTransId="{79BE8175-FF93-4957-B156-6CCB83143DAB}" sibTransId="{D0A79637-6898-415B-BA78-D979652330A2}"/>
    <dgm:cxn modelId="{326AAB32-96BC-4147-A1A0-10F5F1CF5868}" type="presOf" srcId="{238FF9F9-9CFF-477B-8FFC-DD4DCF483136}" destId="{D4D5BA8A-3333-41A8-BA59-D36378E2F07B}" srcOrd="0" destOrd="0" presId="urn:microsoft.com/office/officeart/2005/8/layout/orgChart1"/>
    <dgm:cxn modelId="{CF86CA33-A434-45A5-B007-5B2BC16728B9}" type="presOf" srcId="{24E736E0-D4F5-4B7D-BAB8-2DFA4670CFB3}" destId="{7DA73A83-206F-4BAC-89C4-C449A82EF291}" srcOrd="1" destOrd="0" presId="urn:microsoft.com/office/officeart/2005/8/layout/orgChart1"/>
    <dgm:cxn modelId="{16C29A3E-1D45-4031-8C21-72B591E6CC83}" srcId="{24E736E0-D4F5-4B7D-BAB8-2DFA4670CFB3}" destId="{6776AAEC-08F6-439C-82E0-0CE3F2287856}" srcOrd="0" destOrd="0" parTransId="{43528BAC-B4AC-4E6A-BB2C-A6A10844B26D}" sibTransId="{569BE812-8C68-4DB2-A109-685647FE2600}"/>
    <dgm:cxn modelId="{BBB37360-BA80-4EFA-82FA-56C542A025B1}" srcId="{24E736E0-D4F5-4B7D-BAB8-2DFA4670CFB3}" destId="{BB4F6BBD-C669-4E2C-9012-BB63F32F7295}" srcOrd="1" destOrd="0" parTransId="{7E7E3AAA-CA81-4C21-B64C-0C81DEF7A4E8}" sibTransId="{31085EE6-A06A-4C18-9887-7A13E2782A83}"/>
    <dgm:cxn modelId="{75E09464-9916-446C-8B30-E7F560006538}" type="presOf" srcId="{DE871408-AA46-4234-9F50-002FCBDC3863}" destId="{A9FB6E69-9D38-41B2-8442-161E46770C9D}" srcOrd="1" destOrd="0" presId="urn:microsoft.com/office/officeart/2005/8/layout/orgChart1"/>
    <dgm:cxn modelId="{0983964A-9E9D-4F93-98BB-0C6A4B5DC417}" type="presOf" srcId="{6776AAEC-08F6-439C-82E0-0CE3F2287856}" destId="{873CEF06-46D9-4BE2-8FA6-A61E5488BC1A}" srcOrd="0" destOrd="0" presId="urn:microsoft.com/office/officeart/2005/8/layout/orgChart1"/>
    <dgm:cxn modelId="{8998B96B-4397-412F-881B-C86FB1E0AE3E}" srcId="{6776AAEC-08F6-439C-82E0-0CE3F2287856}" destId="{DE871408-AA46-4234-9F50-002FCBDC3863}" srcOrd="0" destOrd="0" parTransId="{238FF9F9-9CFF-477B-8FFC-DD4DCF483136}" sibTransId="{A95EE4CB-9369-4E8F-AC38-0558D1901C00}"/>
    <dgm:cxn modelId="{63216F57-6E01-4E21-BD2F-1809C94AC171}" type="presOf" srcId="{18EFF0A4-E0DB-40C3-A204-1D5915B4FAC9}" destId="{BC45ED1F-BE83-4ACC-91F9-4D2AC83238D6}" srcOrd="0" destOrd="0" presId="urn:microsoft.com/office/officeart/2005/8/layout/orgChart1"/>
    <dgm:cxn modelId="{21DAB581-8104-4F2F-99EB-ACF542323B98}" type="presOf" srcId="{6776AAEC-08F6-439C-82E0-0CE3F2287856}" destId="{977251D7-1833-4B9F-9183-7E8F77BF02BF}" srcOrd="1" destOrd="0" presId="urn:microsoft.com/office/officeart/2005/8/layout/orgChart1"/>
    <dgm:cxn modelId="{99251B82-2DE0-4FE0-9697-094F8A68A157}" type="presOf" srcId="{BB4F6BBD-C669-4E2C-9012-BB63F32F7295}" destId="{5EC7C770-CCC8-4058-BFB1-C4801785099E}" srcOrd="0" destOrd="0" presId="urn:microsoft.com/office/officeart/2005/8/layout/orgChart1"/>
    <dgm:cxn modelId="{9FB0AF95-68CC-4FAA-A542-9F001CEC49BA}" type="presOf" srcId="{24E736E0-D4F5-4B7D-BAB8-2DFA4670CFB3}" destId="{E886D000-3D95-4B32-A872-3C11F41F080A}" srcOrd="0" destOrd="0" presId="urn:microsoft.com/office/officeart/2005/8/layout/orgChart1"/>
    <dgm:cxn modelId="{6B6C76AE-296C-4841-9646-6BF8C273E842}" type="presOf" srcId="{43528BAC-B4AC-4E6A-BB2C-A6A10844B26D}" destId="{E7EE5030-C94C-42C5-BFC4-3319824D4F51}" srcOrd="0" destOrd="0" presId="urn:microsoft.com/office/officeart/2005/8/layout/orgChart1"/>
    <dgm:cxn modelId="{A929BCB8-BEF2-42F5-A1E1-8D941D560C52}" type="presOf" srcId="{BB4F6BBD-C669-4E2C-9012-BB63F32F7295}" destId="{7A18E582-B368-4A63-8736-066AA2C6E6C1}" srcOrd="1" destOrd="0" presId="urn:microsoft.com/office/officeart/2005/8/layout/orgChart1"/>
    <dgm:cxn modelId="{9CCECFC1-07E4-4C78-8B0B-EC0ACFA4D4EA}" type="presOf" srcId="{DE871408-AA46-4234-9F50-002FCBDC3863}" destId="{DDC358AC-7FDF-459A-AFD7-942D7207522D}" srcOrd="0" destOrd="0" presId="urn:microsoft.com/office/officeart/2005/8/layout/orgChart1"/>
    <dgm:cxn modelId="{5268F2C2-F488-4CEC-8051-5198237AB031}" srcId="{18EFF0A4-E0DB-40C3-A204-1D5915B4FAC9}" destId="{24E736E0-D4F5-4B7D-BAB8-2DFA4670CFB3}" srcOrd="0" destOrd="0" parTransId="{27D06EA2-A944-4085-BF2E-9062023D828D}" sibTransId="{BA216D59-2C53-42B9-98FC-D1EBCF95A678}"/>
    <dgm:cxn modelId="{6723CBCE-E7D0-40ED-BF9B-A2B507E8E69F}" type="presOf" srcId="{79BE8175-FF93-4957-B156-6CCB83143DAB}" destId="{68E23AB0-2A7A-45C1-8031-CD058829ADEE}" srcOrd="0" destOrd="0" presId="urn:microsoft.com/office/officeart/2005/8/layout/orgChart1"/>
    <dgm:cxn modelId="{CCD44ECF-D97F-4A2C-A04C-0C871E3BF050}" type="presOf" srcId="{24753E3F-A931-444C-9DFE-7CF8DA31DE19}" destId="{3CF1802F-CA3B-4AE1-99AC-A6153ABF477D}" srcOrd="0" destOrd="0" presId="urn:microsoft.com/office/officeart/2005/8/layout/orgChart1"/>
    <dgm:cxn modelId="{6CB43DF6-424C-4496-B0CE-4188FE8E555C}" type="presOf" srcId="{24753E3F-A931-444C-9DFE-7CF8DA31DE19}" destId="{8120D69D-184D-4B99-B8D9-A8F34F282FEB}" srcOrd="1" destOrd="0" presId="urn:microsoft.com/office/officeart/2005/8/layout/orgChart1"/>
    <dgm:cxn modelId="{BF8AE395-F363-4456-BE0B-147B269D5944}" type="presParOf" srcId="{BC45ED1F-BE83-4ACC-91F9-4D2AC83238D6}" destId="{5D7B5810-A49C-4913-9404-EAE81A909973}" srcOrd="0" destOrd="0" presId="urn:microsoft.com/office/officeart/2005/8/layout/orgChart1"/>
    <dgm:cxn modelId="{2A59D866-DCA7-4DD7-9CE4-85E8C7B7AAF9}" type="presParOf" srcId="{5D7B5810-A49C-4913-9404-EAE81A909973}" destId="{1517FFCD-AB3F-43E5-95FB-891B9E733E45}" srcOrd="0" destOrd="0" presId="urn:microsoft.com/office/officeart/2005/8/layout/orgChart1"/>
    <dgm:cxn modelId="{081F2150-ABFC-4F40-9850-22FC4CD30E1C}" type="presParOf" srcId="{1517FFCD-AB3F-43E5-95FB-891B9E733E45}" destId="{E886D000-3D95-4B32-A872-3C11F41F080A}" srcOrd="0" destOrd="0" presId="urn:microsoft.com/office/officeart/2005/8/layout/orgChart1"/>
    <dgm:cxn modelId="{2CBE937F-EA0F-497D-9DAF-D146BDA3DA7D}" type="presParOf" srcId="{1517FFCD-AB3F-43E5-95FB-891B9E733E45}" destId="{7DA73A83-206F-4BAC-89C4-C449A82EF291}" srcOrd="1" destOrd="0" presId="urn:microsoft.com/office/officeart/2005/8/layout/orgChart1"/>
    <dgm:cxn modelId="{B351A2B1-5EB9-48B1-96CF-D903E0D30A06}" type="presParOf" srcId="{5D7B5810-A49C-4913-9404-EAE81A909973}" destId="{343489C8-E621-4C9F-91AC-7C394929812C}" srcOrd="1" destOrd="0" presId="urn:microsoft.com/office/officeart/2005/8/layout/orgChart1"/>
    <dgm:cxn modelId="{F99F3CCA-50D3-40A7-AD0D-9F2D7B9AB001}" type="presParOf" srcId="{343489C8-E621-4C9F-91AC-7C394929812C}" destId="{E7EE5030-C94C-42C5-BFC4-3319824D4F51}" srcOrd="0" destOrd="0" presId="urn:microsoft.com/office/officeart/2005/8/layout/orgChart1"/>
    <dgm:cxn modelId="{12317E47-F668-44E5-B458-4480B9462CC2}" type="presParOf" srcId="{343489C8-E621-4C9F-91AC-7C394929812C}" destId="{0D9E1F65-F6C6-4135-9F4D-D017BF644421}" srcOrd="1" destOrd="0" presId="urn:microsoft.com/office/officeart/2005/8/layout/orgChart1"/>
    <dgm:cxn modelId="{47E026A9-5BE7-4DE4-B606-21652EE66178}" type="presParOf" srcId="{0D9E1F65-F6C6-4135-9F4D-D017BF644421}" destId="{B95DB848-8AD5-4D4A-B3F9-CFEA908483A3}" srcOrd="0" destOrd="0" presId="urn:microsoft.com/office/officeart/2005/8/layout/orgChart1"/>
    <dgm:cxn modelId="{7F9CF495-DCEE-4D54-ACD7-1F29350AD11B}" type="presParOf" srcId="{B95DB848-8AD5-4D4A-B3F9-CFEA908483A3}" destId="{873CEF06-46D9-4BE2-8FA6-A61E5488BC1A}" srcOrd="0" destOrd="0" presId="urn:microsoft.com/office/officeart/2005/8/layout/orgChart1"/>
    <dgm:cxn modelId="{76241888-E820-437E-8C44-05F4142E7224}" type="presParOf" srcId="{B95DB848-8AD5-4D4A-B3F9-CFEA908483A3}" destId="{977251D7-1833-4B9F-9183-7E8F77BF02BF}" srcOrd="1" destOrd="0" presId="urn:microsoft.com/office/officeart/2005/8/layout/orgChart1"/>
    <dgm:cxn modelId="{52764EEE-9DE1-499B-BBDF-147E85ABFEF3}" type="presParOf" srcId="{0D9E1F65-F6C6-4135-9F4D-D017BF644421}" destId="{9059A5F4-7740-447D-A08D-EFDE0452E382}" srcOrd="1" destOrd="0" presId="urn:microsoft.com/office/officeart/2005/8/layout/orgChart1"/>
    <dgm:cxn modelId="{70510D7C-1B6F-4E4A-A419-99BACB07B3F1}" type="presParOf" srcId="{9059A5F4-7740-447D-A08D-EFDE0452E382}" destId="{D4D5BA8A-3333-41A8-BA59-D36378E2F07B}" srcOrd="0" destOrd="0" presId="urn:microsoft.com/office/officeart/2005/8/layout/orgChart1"/>
    <dgm:cxn modelId="{7FDFB441-B4A8-4183-9037-353AFC90A64B}" type="presParOf" srcId="{9059A5F4-7740-447D-A08D-EFDE0452E382}" destId="{09CC9053-270B-40E2-9C33-BFCA024207F9}" srcOrd="1" destOrd="0" presId="urn:microsoft.com/office/officeart/2005/8/layout/orgChart1"/>
    <dgm:cxn modelId="{784AD7AF-6C8A-4945-A2E9-B32400E3B5E8}" type="presParOf" srcId="{09CC9053-270B-40E2-9C33-BFCA024207F9}" destId="{30070FEE-3D7C-41DD-86C4-17FA53F87A7C}" srcOrd="0" destOrd="0" presId="urn:microsoft.com/office/officeart/2005/8/layout/orgChart1"/>
    <dgm:cxn modelId="{B7C08359-BFDC-4853-9752-6F692FFE4AA9}" type="presParOf" srcId="{30070FEE-3D7C-41DD-86C4-17FA53F87A7C}" destId="{DDC358AC-7FDF-459A-AFD7-942D7207522D}" srcOrd="0" destOrd="0" presId="urn:microsoft.com/office/officeart/2005/8/layout/orgChart1"/>
    <dgm:cxn modelId="{C7AD4B86-E3DD-4196-94EF-7007A23336B3}" type="presParOf" srcId="{30070FEE-3D7C-41DD-86C4-17FA53F87A7C}" destId="{A9FB6E69-9D38-41B2-8442-161E46770C9D}" srcOrd="1" destOrd="0" presId="urn:microsoft.com/office/officeart/2005/8/layout/orgChart1"/>
    <dgm:cxn modelId="{336D2F91-7AE3-431F-9B97-C6339A788DF0}" type="presParOf" srcId="{09CC9053-270B-40E2-9C33-BFCA024207F9}" destId="{4F93D7CC-5520-4981-8B50-54746A35AB16}" srcOrd="1" destOrd="0" presId="urn:microsoft.com/office/officeart/2005/8/layout/orgChart1"/>
    <dgm:cxn modelId="{55C909FD-41E4-4177-883E-B128E621D9B2}" type="presParOf" srcId="{09CC9053-270B-40E2-9C33-BFCA024207F9}" destId="{23F2641A-17BF-42B6-8D6E-83F9B4463101}" srcOrd="2" destOrd="0" presId="urn:microsoft.com/office/officeart/2005/8/layout/orgChart1"/>
    <dgm:cxn modelId="{C1E20E1B-B5E5-4F5B-8446-9F8684C47480}" type="presParOf" srcId="{0D9E1F65-F6C6-4135-9F4D-D017BF644421}" destId="{C84ABE57-15CB-4C8B-943E-9441B516C0B7}" srcOrd="2" destOrd="0" presId="urn:microsoft.com/office/officeart/2005/8/layout/orgChart1"/>
    <dgm:cxn modelId="{DE662BAB-1345-4B01-A9E9-33035952713F}" type="presParOf" srcId="{343489C8-E621-4C9F-91AC-7C394929812C}" destId="{D9D13D19-3405-49B5-9814-8D5A9B3D5819}" srcOrd="2" destOrd="0" presId="urn:microsoft.com/office/officeart/2005/8/layout/orgChart1"/>
    <dgm:cxn modelId="{A4CE2BD1-8E1A-436D-A7E3-9D3DC72BFA18}" type="presParOf" srcId="{343489C8-E621-4C9F-91AC-7C394929812C}" destId="{73ED5444-914D-4649-AF31-24988F842BDB}" srcOrd="3" destOrd="0" presId="urn:microsoft.com/office/officeart/2005/8/layout/orgChart1"/>
    <dgm:cxn modelId="{095D933D-BE62-47B8-B964-5D9E7E566BDD}" type="presParOf" srcId="{73ED5444-914D-4649-AF31-24988F842BDB}" destId="{84C3D27C-6D84-450D-9FA3-57B07235445C}" srcOrd="0" destOrd="0" presId="urn:microsoft.com/office/officeart/2005/8/layout/orgChart1"/>
    <dgm:cxn modelId="{B9E8F043-54E7-437E-AAA9-3D98EB967F55}" type="presParOf" srcId="{84C3D27C-6D84-450D-9FA3-57B07235445C}" destId="{5EC7C770-CCC8-4058-BFB1-C4801785099E}" srcOrd="0" destOrd="0" presId="urn:microsoft.com/office/officeart/2005/8/layout/orgChart1"/>
    <dgm:cxn modelId="{08238CDA-DAEA-48AE-8C81-F7D2DB74DF93}" type="presParOf" srcId="{84C3D27C-6D84-450D-9FA3-57B07235445C}" destId="{7A18E582-B368-4A63-8736-066AA2C6E6C1}" srcOrd="1" destOrd="0" presId="urn:microsoft.com/office/officeart/2005/8/layout/orgChart1"/>
    <dgm:cxn modelId="{C0BF9E14-EA9D-49A6-87CB-9476257497CA}" type="presParOf" srcId="{73ED5444-914D-4649-AF31-24988F842BDB}" destId="{06A04B7F-C895-42B9-A374-8159A2BD9D91}" srcOrd="1" destOrd="0" presId="urn:microsoft.com/office/officeart/2005/8/layout/orgChart1"/>
    <dgm:cxn modelId="{2000D505-3E71-4C4E-9C6F-8FFA102FDBD6}" type="presParOf" srcId="{06A04B7F-C895-42B9-A374-8159A2BD9D91}" destId="{68E23AB0-2A7A-45C1-8031-CD058829ADEE}" srcOrd="0" destOrd="0" presId="urn:microsoft.com/office/officeart/2005/8/layout/orgChart1"/>
    <dgm:cxn modelId="{BB066A46-78F8-4360-AB13-A214DE242F4E}" type="presParOf" srcId="{06A04B7F-C895-42B9-A374-8159A2BD9D91}" destId="{3785D9A1-D012-4C70-9E8A-A1037190AC63}" srcOrd="1" destOrd="0" presId="urn:microsoft.com/office/officeart/2005/8/layout/orgChart1"/>
    <dgm:cxn modelId="{2E58CE0F-FDA7-405E-B690-4A45045B6ED6}" type="presParOf" srcId="{3785D9A1-D012-4C70-9E8A-A1037190AC63}" destId="{6B9E2508-2F63-4455-B5A6-BF216405F64C}" srcOrd="0" destOrd="0" presId="urn:microsoft.com/office/officeart/2005/8/layout/orgChart1"/>
    <dgm:cxn modelId="{6ADB3B91-7745-4366-ABFF-9E31D73B7277}" type="presParOf" srcId="{6B9E2508-2F63-4455-B5A6-BF216405F64C}" destId="{3CF1802F-CA3B-4AE1-99AC-A6153ABF477D}" srcOrd="0" destOrd="0" presId="urn:microsoft.com/office/officeart/2005/8/layout/orgChart1"/>
    <dgm:cxn modelId="{96BBDE06-1C3E-49A1-860C-B4484737DF5B}" type="presParOf" srcId="{6B9E2508-2F63-4455-B5A6-BF216405F64C}" destId="{8120D69D-184D-4B99-B8D9-A8F34F282FEB}" srcOrd="1" destOrd="0" presId="urn:microsoft.com/office/officeart/2005/8/layout/orgChart1"/>
    <dgm:cxn modelId="{FEF59ABD-3C38-4A62-9184-406A07369020}" type="presParOf" srcId="{3785D9A1-D012-4C70-9E8A-A1037190AC63}" destId="{3D2B07EC-4DB5-471D-A561-F979B8CBB823}" srcOrd="1" destOrd="0" presId="urn:microsoft.com/office/officeart/2005/8/layout/orgChart1"/>
    <dgm:cxn modelId="{2CE65CAB-31DB-4DA1-AEFF-9BDF08B4A793}" type="presParOf" srcId="{3785D9A1-D012-4C70-9E8A-A1037190AC63}" destId="{EF3496CC-EB84-4BCC-B99F-ABD03ED05040}" srcOrd="2" destOrd="0" presId="urn:microsoft.com/office/officeart/2005/8/layout/orgChart1"/>
    <dgm:cxn modelId="{81EED972-0AC1-483F-BDFA-A9C5065581C3}" type="presParOf" srcId="{73ED5444-914D-4649-AF31-24988F842BDB}" destId="{E7A272C7-E756-46E7-AC1E-F13749D3E556}" srcOrd="2" destOrd="0" presId="urn:microsoft.com/office/officeart/2005/8/layout/orgChart1"/>
    <dgm:cxn modelId="{3290D223-79DB-46C9-926A-EB20499F4F4E}" type="presParOf" srcId="{5D7B5810-A49C-4913-9404-EAE81A909973}" destId="{D7F90961-0873-4EF8-9516-9CB2D5927BE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23AB0-2A7A-45C1-8031-CD058829ADEE}">
      <dsp:nvSpPr>
        <dsp:cNvPr id="0" name=""/>
        <dsp:cNvSpPr/>
      </dsp:nvSpPr>
      <dsp:spPr>
        <a:xfrm>
          <a:off x="3217068" y="2560339"/>
          <a:ext cx="317003" cy="972145"/>
        </a:xfrm>
        <a:custGeom>
          <a:avLst/>
          <a:gdLst/>
          <a:ahLst/>
          <a:cxnLst/>
          <a:rect l="0" t="0" r="0" b="0"/>
          <a:pathLst>
            <a:path>
              <a:moveTo>
                <a:pt x="0" y="0"/>
              </a:moveTo>
              <a:lnTo>
                <a:pt x="0" y="972145"/>
              </a:lnTo>
              <a:lnTo>
                <a:pt x="317003" y="9721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D13D19-3405-49B5-9814-8D5A9B3D5819}">
      <dsp:nvSpPr>
        <dsp:cNvPr id="0" name=""/>
        <dsp:cNvSpPr/>
      </dsp:nvSpPr>
      <dsp:spPr>
        <a:xfrm>
          <a:off x="2783830" y="1059854"/>
          <a:ext cx="1278582" cy="443805"/>
        </a:xfrm>
        <a:custGeom>
          <a:avLst/>
          <a:gdLst/>
          <a:ahLst/>
          <a:cxnLst/>
          <a:rect l="0" t="0" r="0" b="0"/>
          <a:pathLst>
            <a:path>
              <a:moveTo>
                <a:pt x="0" y="0"/>
              </a:moveTo>
              <a:lnTo>
                <a:pt x="0" y="221902"/>
              </a:lnTo>
              <a:lnTo>
                <a:pt x="1278582" y="221902"/>
              </a:lnTo>
              <a:lnTo>
                <a:pt x="1278582" y="44380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D5BA8A-3333-41A8-BA59-D36378E2F07B}">
      <dsp:nvSpPr>
        <dsp:cNvPr id="0" name=""/>
        <dsp:cNvSpPr/>
      </dsp:nvSpPr>
      <dsp:spPr>
        <a:xfrm>
          <a:off x="659903" y="2560339"/>
          <a:ext cx="317003" cy="972145"/>
        </a:xfrm>
        <a:custGeom>
          <a:avLst/>
          <a:gdLst/>
          <a:ahLst/>
          <a:cxnLst/>
          <a:rect l="0" t="0" r="0" b="0"/>
          <a:pathLst>
            <a:path>
              <a:moveTo>
                <a:pt x="0" y="0"/>
              </a:moveTo>
              <a:lnTo>
                <a:pt x="0" y="972145"/>
              </a:lnTo>
              <a:lnTo>
                <a:pt x="317003" y="9721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EE5030-C94C-42C5-BFC4-3319824D4F51}">
      <dsp:nvSpPr>
        <dsp:cNvPr id="0" name=""/>
        <dsp:cNvSpPr/>
      </dsp:nvSpPr>
      <dsp:spPr>
        <a:xfrm>
          <a:off x="1505247" y="1059854"/>
          <a:ext cx="1278582" cy="443805"/>
        </a:xfrm>
        <a:custGeom>
          <a:avLst/>
          <a:gdLst/>
          <a:ahLst/>
          <a:cxnLst/>
          <a:rect l="0" t="0" r="0" b="0"/>
          <a:pathLst>
            <a:path>
              <a:moveTo>
                <a:pt x="1278582" y="0"/>
              </a:moveTo>
              <a:lnTo>
                <a:pt x="1278582" y="221902"/>
              </a:lnTo>
              <a:lnTo>
                <a:pt x="0" y="221902"/>
              </a:lnTo>
              <a:lnTo>
                <a:pt x="0" y="44380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86D000-3D95-4B32-A872-3C11F41F080A}">
      <dsp:nvSpPr>
        <dsp:cNvPr id="0" name=""/>
        <dsp:cNvSpPr/>
      </dsp:nvSpPr>
      <dsp:spPr>
        <a:xfrm>
          <a:off x="1727150" y="3175"/>
          <a:ext cx="2113359" cy="1056679"/>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dirty="0"/>
            <a:t>Co</a:t>
          </a:r>
        </a:p>
      </dsp:txBody>
      <dsp:txXfrm>
        <a:off x="1727150" y="3175"/>
        <a:ext cx="2113359" cy="1056679"/>
      </dsp:txXfrm>
    </dsp:sp>
    <dsp:sp modelId="{873CEF06-46D9-4BE2-8FA6-A61E5488BC1A}">
      <dsp:nvSpPr>
        <dsp:cNvPr id="0" name=""/>
        <dsp:cNvSpPr/>
      </dsp:nvSpPr>
      <dsp:spPr>
        <a:xfrm>
          <a:off x="448567" y="1503660"/>
          <a:ext cx="2113359" cy="1056679"/>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448567" y="1503660"/>
        <a:ext cx="2113359" cy="1056679"/>
      </dsp:txXfrm>
    </dsp:sp>
    <dsp:sp modelId="{DDC358AC-7FDF-459A-AFD7-942D7207522D}">
      <dsp:nvSpPr>
        <dsp:cNvPr id="0" name=""/>
        <dsp:cNvSpPr/>
      </dsp:nvSpPr>
      <dsp:spPr>
        <a:xfrm>
          <a:off x="976907" y="3004145"/>
          <a:ext cx="2113359" cy="1056679"/>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976907" y="3004145"/>
        <a:ext cx="2113359" cy="1056679"/>
      </dsp:txXfrm>
    </dsp:sp>
    <dsp:sp modelId="{5EC7C770-CCC8-4058-BFB1-C4801785099E}">
      <dsp:nvSpPr>
        <dsp:cNvPr id="0" name=""/>
        <dsp:cNvSpPr/>
      </dsp:nvSpPr>
      <dsp:spPr>
        <a:xfrm>
          <a:off x="3005732" y="1503660"/>
          <a:ext cx="2113359" cy="1056679"/>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3005732" y="1503660"/>
        <a:ext cx="2113359" cy="1056679"/>
      </dsp:txXfrm>
    </dsp:sp>
    <dsp:sp modelId="{3CF1802F-CA3B-4AE1-99AC-A6153ABF477D}">
      <dsp:nvSpPr>
        <dsp:cNvPr id="0" name=""/>
        <dsp:cNvSpPr/>
      </dsp:nvSpPr>
      <dsp:spPr>
        <a:xfrm>
          <a:off x="3534072" y="3004145"/>
          <a:ext cx="2113359" cy="1056679"/>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3534072" y="3004145"/>
        <a:ext cx="2113359" cy="105667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894D059E-1DE8-4F02-8925-E80A0A69A9D4}" type="datetimeFigureOut">
              <a:rPr lang="en-US" smtClean="0"/>
              <a:t>11-Jul-19</a:t>
            </a:fld>
            <a:endParaRPr 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27311619-B8E4-4472-98FF-DE1384D51121}" type="slidenum">
              <a:rPr lang="en-US" smtClean="0"/>
              <a:t>‹#›</a:t>
            </a:fld>
            <a:endParaRPr lang="en-US"/>
          </a:p>
        </p:txBody>
      </p:sp>
    </p:spTree>
    <p:extLst>
      <p:ext uri="{BB962C8B-B14F-4D97-AF65-F5344CB8AC3E}">
        <p14:creationId xmlns:p14="http://schemas.microsoft.com/office/powerpoint/2010/main" val="41176916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3A448CA2-AD51-40FA-9FF6-F07679F73500}" type="datetimeFigureOut">
              <a:rPr lang="en-US" smtClean="0"/>
              <a:t>11-Jul-19</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93162734-6A0D-4798-A88C-B65C96AF966C}" type="slidenum">
              <a:rPr lang="en-US" smtClean="0"/>
              <a:t>‹#›</a:t>
            </a:fld>
            <a:endParaRPr lang="en-US"/>
          </a:p>
        </p:txBody>
      </p:sp>
    </p:spTree>
    <p:extLst>
      <p:ext uri="{BB962C8B-B14F-4D97-AF65-F5344CB8AC3E}">
        <p14:creationId xmlns:p14="http://schemas.microsoft.com/office/powerpoint/2010/main" val="3358879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5"/>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itchFamily="34" charset="0"/>
              </a:defRPr>
            </a:lvl1pPr>
            <a:lvl2pPr marL="733658" indent="-282176">
              <a:defRPr sz="1000">
                <a:solidFill>
                  <a:schemeClr val="tx1"/>
                </a:solidFill>
                <a:latin typeface="Arial" pitchFamily="34" charset="0"/>
              </a:defRPr>
            </a:lvl2pPr>
            <a:lvl3pPr marL="1128704" indent="-225741">
              <a:defRPr sz="1000">
                <a:solidFill>
                  <a:schemeClr val="tx1"/>
                </a:solidFill>
                <a:latin typeface="Arial" pitchFamily="34" charset="0"/>
              </a:defRPr>
            </a:lvl3pPr>
            <a:lvl4pPr marL="1580186" indent="-225741">
              <a:defRPr sz="1000">
                <a:solidFill>
                  <a:schemeClr val="tx1"/>
                </a:solidFill>
                <a:latin typeface="Arial" pitchFamily="34" charset="0"/>
              </a:defRPr>
            </a:lvl4pPr>
            <a:lvl5pPr marL="2031667" indent="-225741">
              <a:defRPr sz="1000">
                <a:solidFill>
                  <a:schemeClr val="tx1"/>
                </a:solidFill>
                <a:latin typeface="Arial" pitchFamily="34" charset="0"/>
              </a:defRPr>
            </a:lvl5pPr>
            <a:lvl6pPr marL="2483149" indent="-225741" algn="ctr" eaLnBrk="0" fontAlgn="base" hangingPunct="0">
              <a:spcBef>
                <a:spcPct val="0"/>
              </a:spcBef>
              <a:spcAft>
                <a:spcPct val="0"/>
              </a:spcAft>
              <a:defRPr sz="1000">
                <a:solidFill>
                  <a:schemeClr val="tx1"/>
                </a:solidFill>
                <a:latin typeface="Arial" pitchFamily="34" charset="0"/>
              </a:defRPr>
            </a:lvl6pPr>
            <a:lvl7pPr marL="2934631" indent="-225741" algn="ctr" eaLnBrk="0" fontAlgn="base" hangingPunct="0">
              <a:spcBef>
                <a:spcPct val="0"/>
              </a:spcBef>
              <a:spcAft>
                <a:spcPct val="0"/>
              </a:spcAft>
              <a:defRPr sz="1000">
                <a:solidFill>
                  <a:schemeClr val="tx1"/>
                </a:solidFill>
                <a:latin typeface="Arial" pitchFamily="34" charset="0"/>
              </a:defRPr>
            </a:lvl7pPr>
            <a:lvl8pPr marL="3386112" indent="-225741" algn="ctr" eaLnBrk="0" fontAlgn="base" hangingPunct="0">
              <a:spcBef>
                <a:spcPct val="0"/>
              </a:spcBef>
              <a:spcAft>
                <a:spcPct val="0"/>
              </a:spcAft>
              <a:defRPr sz="1000">
                <a:solidFill>
                  <a:schemeClr val="tx1"/>
                </a:solidFill>
                <a:latin typeface="Arial" pitchFamily="34" charset="0"/>
              </a:defRPr>
            </a:lvl8pPr>
            <a:lvl9pPr marL="3837595" indent="-225741" algn="ctr" eaLnBrk="0" fontAlgn="base" hangingPunct="0">
              <a:spcBef>
                <a:spcPct val="0"/>
              </a:spcBef>
              <a:spcAft>
                <a:spcPct val="0"/>
              </a:spcAft>
              <a:defRPr sz="1000">
                <a:solidFill>
                  <a:schemeClr val="tx1"/>
                </a:solidFill>
                <a:latin typeface="Arial" pitchFamily="34" charset="0"/>
              </a:defRPr>
            </a:lvl9pPr>
          </a:lstStyle>
          <a:p>
            <a:pPr>
              <a:defRPr/>
            </a:pPr>
            <a:fld id="{89D2DC76-6C3E-4363-BC24-7EFE011B28F3}" type="slidenum">
              <a:rPr lang="en-US" smtClean="0">
                <a:latin typeface="Times New Roman" pitchFamily="18" charset="0"/>
              </a:rPr>
              <a:pPr>
                <a:defRPr/>
              </a:pPr>
              <a:t>3</a:t>
            </a:fld>
            <a:endParaRPr lang="en-US" dirty="0">
              <a:latin typeface="Times New Roman"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r-Latn-CS" altLang="en-US" dirty="0">
              <a:latin typeface="Arial" pitchFamily="34" charset="0"/>
            </a:endParaRPr>
          </a:p>
        </p:txBody>
      </p:sp>
    </p:spTree>
    <p:extLst>
      <p:ext uri="{BB962C8B-B14F-4D97-AF65-F5344CB8AC3E}">
        <p14:creationId xmlns:p14="http://schemas.microsoft.com/office/powerpoint/2010/main" val="1811081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CE330D5-3F26-4453-9684-9536E926781D}" type="slidenum">
              <a:rPr lang="en-US" smtClean="0"/>
              <a:pPr fontAlgn="base">
                <a:spcBef>
                  <a:spcPct val="0"/>
                </a:spcBef>
                <a:spcAft>
                  <a:spcPct val="0"/>
                </a:spcAft>
                <a:defRPr/>
              </a:pPr>
              <a:t>10</a:t>
            </a:fld>
            <a:endParaRPr lang="en-US" dirty="0"/>
          </a:p>
        </p:txBody>
      </p:sp>
      <p:sp>
        <p:nvSpPr>
          <p:cNvPr id="2867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867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sr-Latn-CS" dirty="0"/>
          </a:p>
        </p:txBody>
      </p:sp>
    </p:spTree>
    <p:extLst>
      <p:ext uri="{BB962C8B-B14F-4D97-AF65-F5344CB8AC3E}">
        <p14:creationId xmlns:p14="http://schemas.microsoft.com/office/powerpoint/2010/main" val="4011777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D4C8464D-55F7-4D4C-B763-CF343B772950}" type="slidenum">
              <a:rPr lang="en-US" sz="1000" b="0">
                <a:solidFill>
                  <a:schemeClr val="accent1"/>
                </a:solidFill>
              </a:rPr>
              <a:pPr/>
              <a:t>16</a:t>
            </a:fld>
            <a:endParaRPr lang="en-US" sz="1000" b="0" dirty="0">
              <a:solidFill>
                <a:schemeClr val="accent1"/>
              </a:solidFill>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3053829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64B72BC9-A0D0-4544-80D5-11A9E0A14B26}" type="slidenum">
              <a:rPr lang="en-US" sz="1000" b="0">
                <a:solidFill>
                  <a:schemeClr val="accent1"/>
                </a:solidFill>
              </a:rPr>
              <a:pPr/>
              <a:t>17</a:t>
            </a:fld>
            <a:endParaRPr lang="en-US" sz="1000" b="0" dirty="0">
              <a:solidFill>
                <a:schemeClr val="accent1"/>
              </a:solidFill>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3336283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9170F68-5CAE-4F81-B06B-1DEB3B9C85B3}" type="slidenum">
              <a:rPr lang="en-US" smtClean="0"/>
              <a:pPr fontAlgn="base">
                <a:spcBef>
                  <a:spcPct val="0"/>
                </a:spcBef>
                <a:spcAft>
                  <a:spcPct val="0"/>
                </a:spcAft>
                <a:defRPr/>
              </a:pPr>
              <a:t>19</a:t>
            </a:fld>
            <a:endParaRPr lang="en-US" dirty="0"/>
          </a:p>
        </p:txBody>
      </p:sp>
      <p:sp>
        <p:nvSpPr>
          <p:cNvPr id="266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66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sr-Latn-CS" dirty="0"/>
          </a:p>
        </p:txBody>
      </p:sp>
    </p:spTree>
    <p:extLst>
      <p:ext uri="{BB962C8B-B14F-4D97-AF65-F5344CB8AC3E}">
        <p14:creationId xmlns:p14="http://schemas.microsoft.com/office/powerpoint/2010/main" val="2031233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64B72BC9-A0D0-4544-80D5-11A9E0A14B26}" type="slidenum">
              <a:rPr lang="en-US" sz="1000" b="0">
                <a:solidFill>
                  <a:schemeClr val="accent1"/>
                </a:solidFill>
              </a:rPr>
              <a:pPr/>
              <a:t>21</a:t>
            </a:fld>
            <a:endParaRPr lang="en-US" sz="1000" b="0" dirty="0">
              <a:solidFill>
                <a:schemeClr val="accent1"/>
              </a:solidFill>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930220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B7D6E739-1630-4F75-A375-2CD6E461F690}" type="slidenum">
              <a:rPr lang="en-US" sz="1000" b="0">
                <a:solidFill>
                  <a:schemeClr val="accent1"/>
                </a:solidFill>
              </a:rPr>
              <a:pPr/>
              <a:t>22</a:t>
            </a:fld>
            <a:endParaRPr lang="en-US" sz="1000" b="0" dirty="0">
              <a:solidFill>
                <a:schemeClr val="accent1"/>
              </a:solidFill>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1645576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7BD6182D-1489-404D-8157-C4546275A1A6}" type="slidenum">
              <a:rPr lang="en-US" sz="1000" b="0">
                <a:solidFill>
                  <a:schemeClr val="accent1"/>
                </a:solidFill>
              </a:rPr>
              <a:pPr/>
              <a:t>23</a:t>
            </a:fld>
            <a:endParaRPr lang="en-US" sz="1000" b="0" dirty="0">
              <a:solidFill>
                <a:schemeClr val="accent1"/>
              </a:solidFill>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2807716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Образ слайда 1"/>
          <p:cNvSpPr>
            <a:spLocks noGrp="1" noRot="1" noChangeAspect="1" noTextEdit="1"/>
          </p:cNvSpPr>
          <p:nvPr>
            <p:ph type="sldImg"/>
          </p:nvPr>
        </p:nvSpPr>
        <p:spPr>
          <a:ln/>
        </p:spPr>
      </p:sp>
      <p:sp>
        <p:nvSpPr>
          <p:cNvPr id="251907"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cs typeface="Arial" pitchFamily="34" charset="0"/>
              </a:rPr>
              <a:t>D </a:t>
            </a:r>
            <a:r>
              <a:rPr lang="ru-RU" altLang="en-US">
                <a:cs typeface="Arial" pitchFamily="34" charset="0"/>
              </a:rPr>
              <a:t>–</a:t>
            </a:r>
            <a:r>
              <a:rPr lang="en-US" altLang="en-US">
                <a:cs typeface="Arial" pitchFamily="34" charset="0"/>
              </a:rPr>
              <a:t> Development, M </a:t>
            </a:r>
            <a:r>
              <a:rPr lang="ru-RU" altLang="en-US">
                <a:cs typeface="Arial" pitchFamily="34" charset="0"/>
              </a:rPr>
              <a:t>–</a:t>
            </a:r>
            <a:r>
              <a:rPr lang="en-US" altLang="en-US">
                <a:cs typeface="Arial" pitchFamily="34" charset="0"/>
              </a:rPr>
              <a:t> maintenance (</a:t>
            </a:r>
            <a:r>
              <a:rPr lang="ru-RU" altLang="en-US">
                <a:cs typeface="Arial" pitchFamily="34" charset="0"/>
              </a:rPr>
              <a:t>Цель – из Миссии, Подцели – это цели подразделений)</a:t>
            </a:r>
          </a:p>
        </p:txBody>
      </p:sp>
      <p:sp>
        <p:nvSpPr>
          <p:cNvPr id="251908"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fld id="{A53C3F51-5F32-41FE-96CB-F49B49331980}" type="slidenum">
              <a:rPr lang="en-US" altLang="en-US" sz="1200"/>
              <a:pPr eaLnBrk="1" hangingPunct="1"/>
              <a:t>24</a:t>
            </a:fld>
            <a:endParaRPr lang="en-US" altLang="en-US" sz="1200"/>
          </a:p>
        </p:txBody>
      </p:sp>
    </p:spTree>
    <p:extLst>
      <p:ext uri="{BB962C8B-B14F-4D97-AF65-F5344CB8AC3E}">
        <p14:creationId xmlns:p14="http://schemas.microsoft.com/office/powerpoint/2010/main" val="1675099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4853A1CF-FA89-40B8-B5D3-E384EB9F5478}" type="slidenum">
              <a:rPr lang="en-US" sz="1000" b="0">
                <a:solidFill>
                  <a:schemeClr val="accent1"/>
                </a:solidFill>
              </a:rPr>
              <a:pPr/>
              <a:t>26</a:t>
            </a:fld>
            <a:endParaRPr lang="en-US" sz="1000" b="0" dirty="0">
              <a:solidFill>
                <a:schemeClr val="accent1"/>
              </a:solidFill>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4057426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B4AAD8DF-7ED6-4FD0-BA25-80D4D0AB3C9E}" type="slidenum">
              <a:rPr lang="en-US" sz="1000" b="0">
                <a:solidFill>
                  <a:schemeClr val="accent1"/>
                </a:solidFill>
              </a:rPr>
              <a:pPr/>
              <a:t>27</a:t>
            </a:fld>
            <a:endParaRPr lang="en-US" sz="1000" b="0" dirty="0">
              <a:solidFill>
                <a:schemeClr val="accent1"/>
              </a:solidFill>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miter lim="800000"/>
            <a:headEnd/>
            <a:tailEnd/>
          </a:ln>
        </p:spPr>
        <p:txBody>
          <a:bodyPr/>
          <a:lstStyle/>
          <a:p>
            <a:r>
              <a:rPr lang="en-US" dirty="0"/>
              <a:t>Changed - 6/25/01</a:t>
            </a:r>
          </a:p>
          <a:p>
            <a:endParaRPr lang="en-US" dirty="0"/>
          </a:p>
        </p:txBody>
      </p:sp>
    </p:spTree>
    <p:extLst>
      <p:ext uri="{BB962C8B-B14F-4D97-AF65-F5344CB8AC3E}">
        <p14:creationId xmlns:p14="http://schemas.microsoft.com/office/powerpoint/2010/main" val="3428453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DAF5D326-0AE7-4822-98EF-B4C9227FA6F3}" type="slidenum">
              <a:rPr lang="en-US" sz="1000" b="0">
                <a:solidFill>
                  <a:schemeClr val="accent1"/>
                </a:solidFill>
              </a:rPr>
              <a:pPr/>
              <a:t>28</a:t>
            </a:fld>
            <a:endParaRPr lang="en-US" sz="1000" b="0" dirty="0">
              <a:solidFill>
                <a:schemeClr val="accent1"/>
              </a:solidFill>
            </a:endParaRPr>
          </a:p>
        </p:txBody>
      </p:sp>
      <p:sp>
        <p:nvSpPr>
          <p:cNvPr id="77827" name="Rectangle 2"/>
          <p:cNvSpPr>
            <a:spLocks noGrp="1" noRot="1" noChangeAspect="1" noChangeArrowheads="1" noTextEdit="1"/>
          </p:cNvSpPr>
          <p:nvPr>
            <p:ph type="sldImg"/>
          </p:nvPr>
        </p:nvSpPr>
        <p:spPr>
          <a:solidFill>
            <a:srgbClr val="FFFFFF"/>
          </a:solidFill>
          <a:ln/>
        </p:spPr>
      </p:sp>
      <p:sp>
        <p:nvSpPr>
          <p:cNvPr id="77828" name="Rectangle 3"/>
          <p:cNvSpPr>
            <a:spLocks noGrp="1" noChangeArrowheads="1"/>
          </p:cNvSpPr>
          <p:nvPr>
            <p:ph type="body" idx="1"/>
          </p:nvPr>
        </p:nvSpPr>
        <p:spPr>
          <a:solidFill>
            <a:srgbClr val="FFFFFF"/>
          </a:solidFill>
          <a:ln>
            <a:solidFill>
              <a:srgbClr val="000000"/>
            </a:solidFill>
            <a:miter lim="800000"/>
            <a:headEnd/>
            <a:tailEnd/>
          </a:ln>
        </p:spPr>
        <p:txBody>
          <a:bodyPr/>
          <a:lstStyle/>
          <a:p>
            <a:r>
              <a:rPr lang="en-US" dirty="0"/>
              <a:t>Changed - 6/25/01</a:t>
            </a:r>
          </a:p>
          <a:p>
            <a:endParaRPr lang="en-US" dirty="0"/>
          </a:p>
        </p:txBody>
      </p:sp>
    </p:spTree>
    <p:extLst>
      <p:ext uri="{BB962C8B-B14F-4D97-AF65-F5344CB8AC3E}">
        <p14:creationId xmlns:p14="http://schemas.microsoft.com/office/powerpoint/2010/main" val="3806869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C28C5754-40E9-4349-9F30-2ECD4A616820}" type="slidenum">
              <a:rPr lang="en-US" sz="1000" b="0">
                <a:solidFill>
                  <a:schemeClr val="accent1"/>
                </a:solidFill>
              </a:rPr>
              <a:pPr/>
              <a:t>29</a:t>
            </a:fld>
            <a:endParaRPr lang="en-US" sz="1000" b="0" dirty="0">
              <a:solidFill>
                <a:schemeClr val="accent1"/>
              </a:solidFill>
            </a:endParaRPr>
          </a:p>
        </p:txBody>
      </p:sp>
      <p:sp>
        <p:nvSpPr>
          <p:cNvPr id="78851" name="Rectangle 2"/>
          <p:cNvSpPr>
            <a:spLocks noGrp="1" noRot="1" noChangeAspect="1" noChangeArrowheads="1" noTextEdit="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miter lim="800000"/>
            <a:headEnd/>
            <a:tailEnd/>
          </a:ln>
        </p:spPr>
        <p:txBody>
          <a:bodyPr/>
          <a:lstStyle/>
          <a:p>
            <a:r>
              <a:rPr lang="en-US" dirty="0"/>
              <a:t>Changed - 6/25/01</a:t>
            </a:r>
          </a:p>
          <a:p>
            <a:endParaRPr lang="en-US" dirty="0"/>
          </a:p>
        </p:txBody>
      </p:sp>
    </p:spTree>
    <p:extLst>
      <p:ext uri="{BB962C8B-B14F-4D97-AF65-F5344CB8AC3E}">
        <p14:creationId xmlns:p14="http://schemas.microsoft.com/office/powerpoint/2010/main" val="2608727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8D0FD699-A887-4240-9988-A3C830FE0AF0}" type="slidenum">
              <a:rPr lang="en-US" sz="1000" b="0">
                <a:solidFill>
                  <a:schemeClr val="accent1"/>
                </a:solidFill>
              </a:rPr>
              <a:pPr/>
              <a:t>30</a:t>
            </a:fld>
            <a:endParaRPr lang="en-US" sz="1000" b="0" dirty="0">
              <a:solidFill>
                <a:schemeClr val="accent1"/>
              </a:solidFill>
            </a:endParaRPr>
          </a:p>
        </p:txBody>
      </p:sp>
      <p:sp>
        <p:nvSpPr>
          <p:cNvPr id="79875" name="Rectangle 2"/>
          <p:cNvSpPr>
            <a:spLocks noGrp="1" noRot="1" noChangeAspect="1" noChangeArrowheads="1" noTextEdit="1"/>
          </p:cNvSpPr>
          <p:nvPr>
            <p:ph type="sldImg"/>
          </p:nvPr>
        </p:nvSpPr>
        <p:spPr>
          <a:solidFill>
            <a:srgbClr val="FFFFFF"/>
          </a:solidFill>
          <a:ln/>
        </p:spPr>
      </p:sp>
      <p:sp>
        <p:nvSpPr>
          <p:cNvPr id="79876" name="Rectangle 3"/>
          <p:cNvSpPr>
            <a:spLocks noGrp="1" noChangeArrowheads="1"/>
          </p:cNvSpPr>
          <p:nvPr>
            <p:ph type="body" idx="1"/>
          </p:nvPr>
        </p:nvSpPr>
        <p:spPr>
          <a:solidFill>
            <a:srgbClr val="FFFFFF"/>
          </a:solidFill>
          <a:ln>
            <a:solidFill>
              <a:srgbClr val="000000"/>
            </a:solidFill>
            <a:miter lim="800000"/>
            <a:headEnd/>
            <a:tailEnd/>
          </a:ln>
        </p:spPr>
        <p:txBody>
          <a:bodyPr/>
          <a:lstStyle/>
          <a:p>
            <a:r>
              <a:rPr lang="en-US" dirty="0"/>
              <a:t>Changed - 6/25/01</a:t>
            </a:r>
          </a:p>
          <a:p>
            <a:endParaRPr lang="en-US" dirty="0"/>
          </a:p>
        </p:txBody>
      </p:sp>
    </p:spTree>
    <p:extLst>
      <p:ext uri="{BB962C8B-B14F-4D97-AF65-F5344CB8AC3E}">
        <p14:creationId xmlns:p14="http://schemas.microsoft.com/office/powerpoint/2010/main" val="24168838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Образ слайда 1"/>
          <p:cNvSpPr>
            <a:spLocks noGrp="1" noRot="1" noChangeAspect="1" noTextEdit="1"/>
          </p:cNvSpPr>
          <p:nvPr>
            <p:ph type="sldImg"/>
          </p:nvPr>
        </p:nvSpPr>
        <p:spPr>
          <a:ln/>
        </p:spPr>
      </p:sp>
      <p:sp>
        <p:nvSpPr>
          <p:cNvPr id="258051"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08050"/>
            <a:r>
              <a:rPr lang="ru-RU" altLang="en-US" dirty="0">
                <a:cs typeface="Arial" pitchFamily="34" charset="0"/>
              </a:rPr>
              <a:t>ОГРАНИЧЕНИЯ накладываются, чтобы достижение одной цели не было в ущерб другой</a:t>
            </a:r>
          </a:p>
          <a:p>
            <a:pPr defTabSz="908050"/>
            <a:r>
              <a:rPr lang="ru-RU" altLang="en-US" dirty="0">
                <a:cs typeface="Arial" pitchFamily="34" charset="0"/>
              </a:rPr>
              <a:t>Цели (организации), Подцели (Подразделений)</a:t>
            </a:r>
          </a:p>
          <a:p>
            <a:pPr defTabSz="908050"/>
            <a:endParaRPr lang="ru-RU" altLang="en-US" dirty="0">
              <a:cs typeface="Arial" pitchFamily="34" charset="0"/>
            </a:endParaRPr>
          </a:p>
        </p:txBody>
      </p:sp>
      <p:sp>
        <p:nvSpPr>
          <p:cNvPr id="258052"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fld id="{9F4D53D4-1D91-4D62-851B-21C19420EFE9}" type="slidenum">
              <a:rPr lang="en-US" altLang="en-US" sz="1200"/>
              <a:pPr eaLnBrk="1" hangingPunct="1"/>
              <a:t>31</a:t>
            </a:fld>
            <a:endParaRPr lang="en-US" altLang="en-US" sz="1200"/>
          </a:p>
        </p:txBody>
      </p:sp>
    </p:spTree>
    <p:extLst>
      <p:ext uri="{BB962C8B-B14F-4D97-AF65-F5344CB8AC3E}">
        <p14:creationId xmlns:p14="http://schemas.microsoft.com/office/powerpoint/2010/main" val="15769033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845745CE-3C88-432B-9D48-48C4BD750FA7}" type="slidenum">
              <a:rPr lang="en-US" sz="1000" b="0">
                <a:solidFill>
                  <a:schemeClr val="accent1"/>
                </a:solidFill>
              </a:rPr>
              <a:pPr/>
              <a:t>32</a:t>
            </a:fld>
            <a:endParaRPr lang="en-US" sz="1000" b="0" dirty="0">
              <a:solidFill>
                <a:schemeClr val="accent1"/>
              </a:solidFill>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2926727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B19DDD94-349B-43DC-B3FF-36F6413C0707}" type="slidenum">
              <a:rPr lang="en-US" sz="1000" b="0">
                <a:solidFill>
                  <a:schemeClr val="accent1"/>
                </a:solidFill>
              </a:rPr>
              <a:pPr/>
              <a:t>33</a:t>
            </a:fld>
            <a:endParaRPr lang="en-US" sz="1000" b="0" dirty="0">
              <a:solidFill>
                <a:schemeClr val="accent1"/>
              </a:solidFill>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39012546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7ED53E3F-2F8E-4C1C-A423-460E62A6BAB2}" type="slidenum">
              <a:rPr lang="en-US" sz="1000" b="0">
                <a:solidFill>
                  <a:schemeClr val="accent1"/>
                </a:solidFill>
              </a:rPr>
              <a:pPr/>
              <a:t>34</a:t>
            </a:fld>
            <a:endParaRPr lang="en-US" sz="1000" b="0" dirty="0">
              <a:solidFill>
                <a:schemeClr val="accent1"/>
              </a:solidFill>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291473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3322AF77-27CE-44D6-A7BC-1C3746F49029}" type="slidenum">
              <a:rPr lang="en-US" sz="1000" b="0">
                <a:solidFill>
                  <a:schemeClr val="accent1"/>
                </a:solidFill>
              </a:rPr>
              <a:pPr/>
              <a:t>35</a:t>
            </a:fld>
            <a:endParaRPr lang="en-US" sz="1000" b="0" dirty="0">
              <a:solidFill>
                <a:schemeClr val="accent1"/>
              </a:solidFill>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8565132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Образ слайда 1"/>
          <p:cNvSpPr>
            <a:spLocks noGrp="1" noRot="1" noChangeAspect="1" noTextEdit="1"/>
          </p:cNvSpPr>
          <p:nvPr>
            <p:ph type="sldImg"/>
          </p:nvPr>
        </p:nvSpPr>
        <p:spPr>
          <a:ln/>
        </p:spPr>
      </p:sp>
      <p:sp>
        <p:nvSpPr>
          <p:cNvPr id="262147"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08050"/>
            <a:r>
              <a:rPr lang="ru-RU" altLang="en-US">
                <a:cs typeface="Arial" pitchFamily="34" charset="0"/>
              </a:rPr>
              <a:t>Должно быть «измеримое» понимание у руководителя, как он поймет, что цель достигнута</a:t>
            </a:r>
          </a:p>
          <a:p>
            <a:pPr defTabSz="908050"/>
            <a:endParaRPr lang="ru-RU" altLang="en-US">
              <a:cs typeface="Arial" pitchFamily="34" charset="0"/>
            </a:endParaRPr>
          </a:p>
        </p:txBody>
      </p:sp>
      <p:sp>
        <p:nvSpPr>
          <p:cNvPr id="262148"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fld id="{501CD19B-F3B8-46E4-B329-355E381722FA}" type="slidenum">
              <a:rPr lang="en-US" altLang="en-US" sz="1200"/>
              <a:pPr eaLnBrk="1" hangingPunct="1"/>
              <a:t>36</a:t>
            </a:fld>
            <a:endParaRPr lang="en-US" altLang="en-US" sz="1200"/>
          </a:p>
        </p:txBody>
      </p:sp>
    </p:spTree>
    <p:extLst>
      <p:ext uri="{BB962C8B-B14F-4D97-AF65-F5344CB8AC3E}">
        <p14:creationId xmlns:p14="http://schemas.microsoft.com/office/powerpoint/2010/main" val="1481341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5842F10F-E490-4155-AAE4-AAC9386E49A6}" type="slidenum">
              <a:rPr lang="en-US" sz="1000" b="0">
                <a:solidFill>
                  <a:schemeClr val="accent1"/>
                </a:solidFill>
              </a:rPr>
              <a:pPr/>
              <a:t>37</a:t>
            </a:fld>
            <a:endParaRPr lang="en-US" sz="1000" b="0" dirty="0">
              <a:solidFill>
                <a:schemeClr val="accent1"/>
              </a:solidFill>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27587445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75973DC2-D861-4681-94EB-D12DC607885E}" type="slidenum">
              <a:rPr lang="en-US" sz="1000" b="0">
                <a:solidFill>
                  <a:schemeClr val="accent1"/>
                </a:solidFill>
              </a:rPr>
              <a:pPr/>
              <a:t>38</a:t>
            </a:fld>
            <a:endParaRPr lang="en-US" sz="1000" b="0" dirty="0">
              <a:solidFill>
                <a:schemeClr val="accent1"/>
              </a:solidFill>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667491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7497EF21-E453-47E8-85DB-A61421C2F920}" type="slidenum">
              <a:rPr lang="en-US" sz="1000" b="0">
                <a:solidFill>
                  <a:schemeClr val="accent1"/>
                </a:solidFill>
              </a:rPr>
              <a:pPr/>
              <a:t>39</a:t>
            </a:fld>
            <a:endParaRPr lang="en-US" sz="1000" b="0" dirty="0">
              <a:solidFill>
                <a:schemeClr val="accent1"/>
              </a:solidFill>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490778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35281">
              <a:defRPr sz="14900" b="1" i="1">
                <a:solidFill>
                  <a:schemeClr val="tx1"/>
                </a:solidFill>
                <a:latin typeface="Times New Roman" pitchFamily="18" charset="0"/>
              </a:defRPr>
            </a:lvl1pPr>
            <a:lvl2pPr marL="762564" indent="-293294" defTabSz="935281">
              <a:defRPr sz="14900" b="1" i="1">
                <a:solidFill>
                  <a:schemeClr val="tx1"/>
                </a:solidFill>
                <a:latin typeface="Times New Roman" pitchFamily="18" charset="0"/>
              </a:defRPr>
            </a:lvl2pPr>
            <a:lvl3pPr marL="1173175" indent="-234635" defTabSz="935281">
              <a:defRPr sz="14900" b="1" i="1">
                <a:solidFill>
                  <a:schemeClr val="tx1"/>
                </a:solidFill>
                <a:latin typeface="Times New Roman" pitchFamily="18" charset="0"/>
              </a:defRPr>
            </a:lvl3pPr>
            <a:lvl4pPr marL="1642445" indent="-234635" defTabSz="935281">
              <a:defRPr sz="14900" b="1" i="1">
                <a:solidFill>
                  <a:schemeClr val="tx1"/>
                </a:solidFill>
                <a:latin typeface="Times New Roman" pitchFamily="18" charset="0"/>
              </a:defRPr>
            </a:lvl4pPr>
            <a:lvl5pPr marL="2111715" indent="-234635" defTabSz="935281">
              <a:defRPr sz="14900" b="1" i="1">
                <a:solidFill>
                  <a:schemeClr val="tx1"/>
                </a:solidFill>
                <a:latin typeface="Times New Roman" pitchFamily="18" charset="0"/>
              </a:defRPr>
            </a:lvl5pPr>
            <a:lvl6pPr marL="2580985" indent="-234635" defTabSz="935281" eaLnBrk="0" fontAlgn="base" hangingPunct="0">
              <a:spcBef>
                <a:spcPct val="0"/>
              </a:spcBef>
              <a:spcAft>
                <a:spcPct val="0"/>
              </a:spcAft>
              <a:defRPr sz="14900" b="1" i="1">
                <a:solidFill>
                  <a:schemeClr val="tx1"/>
                </a:solidFill>
                <a:latin typeface="Times New Roman" pitchFamily="18" charset="0"/>
              </a:defRPr>
            </a:lvl6pPr>
            <a:lvl7pPr marL="3050256" indent="-234635" defTabSz="935281" eaLnBrk="0" fontAlgn="base" hangingPunct="0">
              <a:spcBef>
                <a:spcPct val="0"/>
              </a:spcBef>
              <a:spcAft>
                <a:spcPct val="0"/>
              </a:spcAft>
              <a:defRPr sz="14900" b="1" i="1">
                <a:solidFill>
                  <a:schemeClr val="tx1"/>
                </a:solidFill>
                <a:latin typeface="Times New Roman" pitchFamily="18" charset="0"/>
              </a:defRPr>
            </a:lvl7pPr>
            <a:lvl8pPr marL="3519526" indent="-234635" defTabSz="935281" eaLnBrk="0" fontAlgn="base" hangingPunct="0">
              <a:spcBef>
                <a:spcPct val="0"/>
              </a:spcBef>
              <a:spcAft>
                <a:spcPct val="0"/>
              </a:spcAft>
              <a:defRPr sz="14900" b="1" i="1">
                <a:solidFill>
                  <a:schemeClr val="tx1"/>
                </a:solidFill>
                <a:latin typeface="Times New Roman" pitchFamily="18" charset="0"/>
              </a:defRPr>
            </a:lvl8pPr>
            <a:lvl9pPr marL="3988796" indent="-234635" defTabSz="935281" eaLnBrk="0" fontAlgn="base" hangingPunct="0">
              <a:spcBef>
                <a:spcPct val="0"/>
              </a:spcBef>
              <a:spcAft>
                <a:spcPct val="0"/>
              </a:spcAft>
              <a:defRPr sz="14900" b="1" i="1">
                <a:solidFill>
                  <a:schemeClr val="tx1"/>
                </a:solidFill>
                <a:latin typeface="Times New Roman" pitchFamily="18" charset="0"/>
              </a:defRPr>
            </a:lvl9pPr>
          </a:lstStyle>
          <a:p>
            <a:fld id="{D61846B8-3AFC-467B-8D1F-2065D7A13D8B}" type="slidenum">
              <a:rPr lang="en-US" sz="1000" b="0">
                <a:solidFill>
                  <a:schemeClr val="accent1"/>
                </a:solidFill>
              </a:rPr>
              <a:pPr/>
              <a:t>40</a:t>
            </a:fld>
            <a:endParaRPr lang="en-US" sz="1000" b="0" dirty="0">
              <a:solidFill>
                <a:schemeClr val="accent1"/>
              </a:solidFill>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endParaRPr lang="sr-Latn-RS" dirty="0"/>
          </a:p>
        </p:txBody>
      </p:sp>
    </p:spTree>
    <p:extLst>
      <p:ext uri="{BB962C8B-B14F-4D97-AF65-F5344CB8AC3E}">
        <p14:creationId xmlns:p14="http://schemas.microsoft.com/office/powerpoint/2010/main" val="1726674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211C5-DC69-4922-BE93-DDD2CB4193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5719D0-E12A-48AC-B917-F7321FAD3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5AD5A7-FC61-4671-875C-C1A30A051B0A}"/>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5" name="Footer Placeholder 4">
            <a:extLst>
              <a:ext uri="{FF2B5EF4-FFF2-40B4-BE49-F238E27FC236}">
                <a16:creationId xmlns:a16="http://schemas.microsoft.com/office/drawing/2014/main" id="{CB98D2F2-540C-4EEE-ABBF-883B643451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7A9B31-4CF7-4AF2-AD55-0C134F306845}"/>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405471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31D1D-C37E-42FB-B55D-13F61B3E07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774339-216D-4D25-A010-7577DB258F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9151F-F2D0-4057-8D56-A96577DFA7BA}"/>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5" name="Footer Placeholder 4">
            <a:extLst>
              <a:ext uri="{FF2B5EF4-FFF2-40B4-BE49-F238E27FC236}">
                <a16:creationId xmlns:a16="http://schemas.microsoft.com/office/drawing/2014/main" id="{8E561962-B317-417E-B828-235B51B16A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8B5E4-8343-4DE4-9C85-545898045316}"/>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3403779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FA818-A9EC-49B8-AA2A-59329BD033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8AC8B2-9A94-466E-97A5-7799FA151B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3CA4EE-C993-47A2-967D-DBF39837F795}"/>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5" name="Footer Placeholder 4">
            <a:extLst>
              <a:ext uri="{FF2B5EF4-FFF2-40B4-BE49-F238E27FC236}">
                <a16:creationId xmlns:a16="http://schemas.microsoft.com/office/drawing/2014/main" id="{6E88C0D1-9D08-45DD-8E25-2427E6139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DE8B41-B05B-4C5B-A1D9-9ED41A494659}"/>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1577485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35DD1-D493-4412-ACB0-5BC278040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04B290-7812-4F62-8062-08D5DE1E08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7EF9B5-C156-4893-A55B-4219FD8B91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A8B1D4-8141-4179-AE7E-3A6AF60D55E0}"/>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6" name="Footer Placeholder 5">
            <a:extLst>
              <a:ext uri="{FF2B5EF4-FFF2-40B4-BE49-F238E27FC236}">
                <a16:creationId xmlns:a16="http://schemas.microsoft.com/office/drawing/2014/main" id="{135FC13D-D966-4E8B-8A9B-A7662396F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D839DB-4070-4248-8A34-D495F1A72C7D}"/>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4099632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FEB3A-C359-4CD1-BCFC-A951050449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9B1CD3-2498-4DE0-B7D0-BCAE718BA5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3DCB75-0421-45C7-81E2-AC513126F9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6BD741-8147-46C3-9D2D-7F760EBC3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702049-591E-405D-A3C3-0CAAAB368D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377750-9763-4C4D-80A2-5B788F6D1022}"/>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8" name="Footer Placeholder 7">
            <a:extLst>
              <a:ext uri="{FF2B5EF4-FFF2-40B4-BE49-F238E27FC236}">
                <a16:creationId xmlns:a16="http://schemas.microsoft.com/office/drawing/2014/main" id="{429CD221-32F3-4CCC-B45C-8564CA98A4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7561A7-D6C8-4AA2-908D-17B915132DC0}"/>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42143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4182-6C21-49C0-9A49-EB87E06E43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AD5DF0-4D3C-4FB1-9FAF-51D15DE40EF8}"/>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4" name="Footer Placeholder 3">
            <a:extLst>
              <a:ext uri="{FF2B5EF4-FFF2-40B4-BE49-F238E27FC236}">
                <a16:creationId xmlns:a16="http://schemas.microsoft.com/office/drawing/2014/main" id="{C6984023-D032-417C-AFF8-8E7EB16747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1B006A-B8E9-4D80-98F6-F500DD07B1E1}"/>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634438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67D38B-9E78-4BC1-9CCD-5D54E8C5CC2A}"/>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3" name="Footer Placeholder 2">
            <a:extLst>
              <a:ext uri="{FF2B5EF4-FFF2-40B4-BE49-F238E27FC236}">
                <a16:creationId xmlns:a16="http://schemas.microsoft.com/office/drawing/2014/main" id="{BA57E5ED-C0E1-4796-99F0-F92CB0E81B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B35856-FB45-4B03-B8AB-8A027546C20E}"/>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097741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847F-CF97-4181-8E40-2690761AE9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B504D2-E9B3-4AA1-BF8E-D4E245586C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4C460F-05B2-41C7-A5DF-8BDA359E53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55194-A8BD-4120-A997-4F5182C10CA4}"/>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6" name="Footer Placeholder 5">
            <a:extLst>
              <a:ext uri="{FF2B5EF4-FFF2-40B4-BE49-F238E27FC236}">
                <a16:creationId xmlns:a16="http://schemas.microsoft.com/office/drawing/2014/main" id="{6D8C8702-224D-4D9C-9234-B4EDD6DC2B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63E2D5-347C-4C5B-BC9D-21A1C549113B}"/>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543323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C8C7-3156-4690-B54D-C6648A1F7C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60F6B9-E867-4B4D-B9E2-0FFFC17573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DB0421-4447-40ED-8F81-6F7C27823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2C5311-C542-4644-9C41-6EADE1495F9F}"/>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6" name="Footer Placeholder 5">
            <a:extLst>
              <a:ext uri="{FF2B5EF4-FFF2-40B4-BE49-F238E27FC236}">
                <a16:creationId xmlns:a16="http://schemas.microsoft.com/office/drawing/2014/main" id="{E20C6234-9E71-46C9-ABAC-847DD3D1F9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9AD305-46B3-4FAA-9D73-26FCAA32E570}"/>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104361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7363-C7C8-4364-B2B5-6B19A3070F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431052-CCDD-409A-B670-E24AFFC540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3AA8A3-50F1-4EDD-953C-401FFFFE8614}"/>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5" name="Footer Placeholder 4">
            <a:extLst>
              <a:ext uri="{FF2B5EF4-FFF2-40B4-BE49-F238E27FC236}">
                <a16:creationId xmlns:a16="http://schemas.microsoft.com/office/drawing/2014/main" id="{25247357-E19A-4E82-A71B-999D34E1E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ED6DD4-9D15-41D9-996F-D84419DB337F}"/>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303516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E521A-8750-42F4-B3C5-20FBDFBF8F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A58408-6C0B-4928-AC02-7844BCD936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16104C-B1DC-49DD-9528-469293AE4DB3}"/>
              </a:ext>
            </a:extLst>
          </p:cNvPr>
          <p:cNvSpPr>
            <a:spLocks noGrp="1"/>
          </p:cNvSpPr>
          <p:nvPr>
            <p:ph type="dt" sz="half" idx="10"/>
          </p:nvPr>
        </p:nvSpPr>
        <p:spPr/>
        <p:txBody>
          <a:bodyPr/>
          <a:lstStyle/>
          <a:p>
            <a:fld id="{68C57C4F-E62A-4872-A87F-ACC1AA77C82E}" type="datetimeFigureOut">
              <a:rPr lang="en-US" smtClean="0"/>
              <a:t>11-Jul-19</a:t>
            </a:fld>
            <a:endParaRPr lang="en-US"/>
          </a:p>
        </p:txBody>
      </p:sp>
      <p:sp>
        <p:nvSpPr>
          <p:cNvPr id="5" name="Footer Placeholder 4">
            <a:extLst>
              <a:ext uri="{FF2B5EF4-FFF2-40B4-BE49-F238E27FC236}">
                <a16:creationId xmlns:a16="http://schemas.microsoft.com/office/drawing/2014/main" id="{8DCB2E83-44AC-4BA3-A706-41AAD5975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144F2-33BC-422C-B4B3-7D18E1B1C6EE}"/>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320297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0E0AFF-2677-4851-82DF-8E5155C39C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117D37-541F-4333-9AF5-B2E8FC4A68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092D81-2F04-4B23-B281-3C54CF5AED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57C4F-E62A-4872-A87F-ACC1AA77C82E}" type="datetimeFigureOut">
              <a:rPr lang="en-US" smtClean="0"/>
              <a:t>11-Jul-19</a:t>
            </a:fld>
            <a:endParaRPr lang="en-US"/>
          </a:p>
        </p:txBody>
      </p:sp>
      <p:sp>
        <p:nvSpPr>
          <p:cNvPr id="5" name="Footer Placeholder 4">
            <a:extLst>
              <a:ext uri="{FF2B5EF4-FFF2-40B4-BE49-F238E27FC236}">
                <a16:creationId xmlns:a16="http://schemas.microsoft.com/office/drawing/2014/main" id="{E2210BA0-B430-41F8-9315-7A96037113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681FB9-E433-4A42-9C6C-D58914D3C8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76D239-41D1-4B6C-AB5D-F27F47CBD7E2}" type="slidenum">
              <a:rPr lang="en-US" smtClean="0"/>
              <a:t>‹#›</a:t>
            </a:fld>
            <a:endParaRPr lang="en-US"/>
          </a:p>
        </p:txBody>
      </p:sp>
      <p:pic>
        <p:nvPicPr>
          <p:cNvPr id="7" name="Picture 2" descr="Image result for mailigen logo">
            <a:extLst>
              <a:ext uri="{FF2B5EF4-FFF2-40B4-BE49-F238E27FC236}">
                <a16:creationId xmlns:a16="http://schemas.microsoft.com/office/drawing/2014/main" id="{8FAA0086-1ABF-41E9-8D1B-0D6E2521F0A8}"/>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50DFE73D-6CF8-459B-8AFA-A00F67638A56}"/>
              </a:ext>
            </a:extLst>
          </p:cNvPr>
          <p:cNvSpPr>
            <a:spLocks noChangeArrowheads="1"/>
          </p:cNvSpPr>
          <p:nvPr userDrawn="1"/>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9" name="Picture 8">
            <a:extLst>
              <a:ext uri="{FF2B5EF4-FFF2-40B4-BE49-F238E27FC236}">
                <a16:creationId xmlns:a16="http://schemas.microsoft.com/office/drawing/2014/main" id="{90864D19-769E-4E59-8CEF-B826BF4754E4}"/>
              </a:ext>
            </a:extLst>
          </p:cNvPr>
          <p:cNvPicPr>
            <a:picLocks noChangeAspect="1"/>
          </p:cNvPicPr>
          <p:nvPr userDrawn="1"/>
        </p:nvPicPr>
        <p:blipFill>
          <a:blip r:embed="rId14"/>
          <a:stretch>
            <a:fillRect/>
          </a:stretch>
        </p:blipFill>
        <p:spPr>
          <a:xfrm>
            <a:off x="694173" y="6176857"/>
            <a:ext cx="1598652" cy="540576"/>
          </a:xfrm>
          <a:prstGeom prst="rect">
            <a:avLst/>
          </a:prstGeom>
        </p:spPr>
      </p:pic>
    </p:spTree>
    <p:extLst>
      <p:ext uri="{BB962C8B-B14F-4D97-AF65-F5344CB8AC3E}">
        <p14:creationId xmlns:p14="http://schemas.microsoft.com/office/powerpoint/2010/main" val="4022709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1A2E2C-0B30-4D77-8D1A-3E72BAAFEC01}"/>
              </a:ext>
            </a:extLst>
          </p:cNvPr>
          <p:cNvSpPr>
            <a:spLocks noGrp="1"/>
          </p:cNvSpPr>
          <p:nvPr>
            <p:ph type="ctrTitle"/>
          </p:nvPr>
        </p:nvSpPr>
        <p:spPr>
          <a:xfrm>
            <a:off x="2229465" y="1849009"/>
            <a:ext cx="7772400" cy="2033829"/>
          </a:xfrm>
        </p:spPr>
        <p:txBody>
          <a:bodyPr/>
          <a:lstStyle/>
          <a:p>
            <a:pPr algn="ctr"/>
            <a:r>
              <a:rPr lang="lv-LV" sz="3600" i="1" dirty="0">
                <a:solidFill>
                  <a:srgbClr val="FF0000"/>
                </a:solidFill>
              </a:rPr>
              <a:t>Growing Incredible </a:t>
            </a:r>
            <a:r>
              <a:rPr lang="en-US" sz="3600" i="1" dirty="0">
                <a:solidFill>
                  <a:srgbClr val="FF0000"/>
                </a:solidFill>
              </a:rPr>
              <a:t>Managers: </a:t>
            </a:r>
            <a:br>
              <a:rPr lang="en-US" sz="3600" i="1" dirty="0">
                <a:solidFill>
                  <a:srgbClr val="FF0000"/>
                </a:solidFill>
              </a:rPr>
            </a:br>
            <a:br>
              <a:rPr lang="en-US" sz="2400" i="1" dirty="0">
                <a:solidFill>
                  <a:srgbClr val="FF0000"/>
                </a:solidFill>
              </a:rPr>
            </a:br>
            <a:endParaRPr lang="en-US" dirty="0">
              <a:solidFill>
                <a:srgbClr val="FF0000"/>
              </a:solidFill>
            </a:endParaRPr>
          </a:p>
        </p:txBody>
      </p:sp>
      <p:sp>
        <p:nvSpPr>
          <p:cNvPr id="5" name="Subtitle 2">
            <a:extLst>
              <a:ext uri="{FF2B5EF4-FFF2-40B4-BE49-F238E27FC236}">
                <a16:creationId xmlns:a16="http://schemas.microsoft.com/office/drawing/2014/main" id="{8C0F7E41-707C-45B5-A1A2-27BDDBA265C7}"/>
              </a:ext>
            </a:extLst>
          </p:cNvPr>
          <p:cNvSpPr>
            <a:spLocks noGrp="1"/>
          </p:cNvSpPr>
          <p:nvPr>
            <p:ph type="subTitle" idx="1"/>
          </p:nvPr>
        </p:nvSpPr>
        <p:spPr>
          <a:xfrm>
            <a:off x="2025349" y="2862009"/>
            <a:ext cx="8360564" cy="3511075"/>
          </a:xfrm>
        </p:spPr>
        <p:txBody>
          <a:bodyPr>
            <a:normAutofit lnSpcReduction="10000"/>
          </a:bodyPr>
          <a:lstStyle/>
          <a:p>
            <a:r>
              <a:rPr lang="lv-LV" i="1" dirty="0"/>
              <a:t>Business Models for Innovation and building accountability</a:t>
            </a:r>
            <a:endParaRPr lang="en-US" i="1" dirty="0"/>
          </a:p>
          <a:p>
            <a:endParaRPr lang="lv-LV" sz="1800" i="1" dirty="0"/>
          </a:p>
          <a:p>
            <a:endParaRPr lang="lv-LV" sz="1800" i="1" dirty="0"/>
          </a:p>
          <a:p>
            <a:r>
              <a:rPr lang="en-US" sz="1800" dirty="0"/>
              <a:t>Prepared by </a:t>
            </a:r>
          </a:p>
          <a:p>
            <a:r>
              <a:rPr lang="lv-LV" sz="2000" dirty="0" err="1"/>
              <a:t>Greg</a:t>
            </a:r>
            <a:r>
              <a:rPr lang="lv-LV" sz="2000" dirty="0"/>
              <a:t> Mathers</a:t>
            </a:r>
            <a:r>
              <a:rPr lang="en-US" sz="2000" dirty="0"/>
              <a:t>, Certified Adizes Senior Associate</a:t>
            </a:r>
          </a:p>
          <a:p>
            <a:r>
              <a:rPr lang="lv-LV" sz="2000" dirty="0"/>
              <a:t>June</a:t>
            </a:r>
            <a:r>
              <a:rPr lang="en-US" sz="2000" dirty="0"/>
              <a:t>-July 2019</a:t>
            </a:r>
          </a:p>
          <a:p>
            <a:endParaRPr lang="lv-LV" sz="2000" dirty="0"/>
          </a:p>
          <a:p>
            <a:endParaRPr lang="en-US" sz="2000" dirty="0"/>
          </a:p>
          <a:p>
            <a:r>
              <a:rPr lang="en-US" sz="2000" dirty="0"/>
              <a:t>Projekts Nr./ CFLA l</a:t>
            </a:r>
            <a:r>
              <a:rPr lang="lv-LV" sz="2000" dirty="0"/>
              <a:t>ī</a:t>
            </a:r>
            <a:r>
              <a:rPr lang="en-US" sz="2000" dirty="0"/>
              <a:t>gums Nr.</a:t>
            </a:r>
            <a:r>
              <a:rPr lang="lv-LV" sz="2000" dirty="0"/>
              <a:t> 1.2.2.3/16/i/001</a:t>
            </a:r>
            <a:endParaRPr lang="en-US" i="1" dirty="0"/>
          </a:p>
        </p:txBody>
      </p:sp>
      <p:pic>
        <p:nvPicPr>
          <p:cNvPr id="6" name="Picture 22">
            <a:extLst>
              <a:ext uri="{FF2B5EF4-FFF2-40B4-BE49-F238E27FC236}">
                <a16:creationId xmlns:a16="http://schemas.microsoft.com/office/drawing/2014/main" id="{D1102B30-1D50-46BD-9A21-D90E3A0A6C5E}"/>
              </a:ext>
            </a:extLst>
          </p:cNvPr>
          <p:cNvPicPr>
            <a:picLocks noChangeAspect="1" noChangeArrowheads="1"/>
          </p:cNvPicPr>
          <p:nvPr/>
        </p:nvPicPr>
        <p:blipFill>
          <a:blip r:embed="rId2" cstate="print"/>
          <a:srcRect/>
          <a:stretch>
            <a:fillRect/>
          </a:stretch>
        </p:blipFill>
        <p:spPr bwMode="auto">
          <a:xfrm>
            <a:off x="6656749" y="323560"/>
            <a:ext cx="3472492" cy="1801269"/>
          </a:xfrm>
          <a:prstGeom prst="rect">
            <a:avLst/>
          </a:prstGeom>
          <a:noFill/>
          <a:ln w="12700">
            <a:noFill/>
            <a:miter lim="800000"/>
            <a:headEnd/>
            <a:tailEnd/>
          </a:ln>
        </p:spPr>
      </p:pic>
    </p:spTree>
    <p:extLst>
      <p:ext uri="{BB962C8B-B14F-4D97-AF65-F5344CB8AC3E}">
        <p14:creationId xmlns:p14="http://schemas.microsoft.com/office/powerpoint/2010/main" val="303218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64200" y="1166842"/>
            <a:ext cx="9017532" cy="3416320"/>
          </a:xfrm>
          <a:prstGeom prst="rect">
            <a:avLst/>
          </a:prstGeom>
          <a:noFill/>
        </p:spPr>
        <p:txBody>
          <a:bodyPr wrap="none" rtlCol="0">
            <a:spAutoFit/>
          </a:bodyPr>
          <a:lstStyle/>
          <a:p>
            <a:pPr algn="ctr"/>
            <a:r>
              <a:rPr lang="en-US" sz="7200" b="1" dirty="0">
                <a:solidFill>
                  <a:srgbClr val="7474F2"/>
                </a:solidFill>
                <a:effectLst>
                  <a:outerShdw blurRad="38100" dist="38100" dir="2700000" algn="tl">
                    <a:srgbClr val="000000">
                      <a:alpha val="43137"/>
                    </a:srgbClr>
                  </a:outerShdw>
                </a:effectLst>
              </a:rPr>
              <a:t>Building</a:t>
            </a:r>
            <a:r>
              <a:rPr lang="lv-LV" sz="7200" b="1" dirty="0">
                <a:solidFill>
                  <a:srgbClr val="7474F2"/>
                </a:solidFill>
                <a:effectLst>
                  <a:outerShdw blurRad="38100" dist="38100" dir="2700000" algn="tl">
                    <a:srgbClr val="000000">
                      <a:alpha val="43137"/>
                    </a:srgbClr>
                  </a:outerShdw>
                </a:effectLst>
              </a:rPr>
              <a:t> </a:t>
            </a:r>
            <a:r>
              <a:rPr lang="en-US" sz="7200" b="1" dirty="0">
                <a:solidFill>
                  <a:srgbClr val="7474F2"/>
                </a:solidFill>
                <a:effectLst>
                  <a:outerShdw blurRad="38100" dist="38100" dir="2700000" algn="tl">
                    <a:srgbClr val="000000">
                      <a:alpha val="43137"/>
                    </a:srgbClr>
                  </a:outerShdw>
                </a:effectLst>
              </a:rPr>
              <a:t>Accountability</a:t>
            </a:r>
            <a:endParaRPr lang="lv-LV" sz="7200" b="1" dirty="0">
              <a:solidFill>
                <a:srgbClr val="7474F2"/>
              </a:solidFill>
              <a:effectLst>
                <a:outerShdw blurRad="38100" dist="38100" dir="2700000" algn="tl">
                  <a:srgbClr val="000000">
                    <a:alpha val="43137"/>
                  </a:srgbClr>
                </a:outerShdw>
              </a:effectLst>
            </a:endParaRPr>
          </a:p>
          <a:p>
            <a:pPr algn="ctr"/>
            <a:r>
              <a:rPr lang="lv-LV" sz="7200" b="1" dirty="0">
                <a:solidFill>
                  <a:srgbClr val="7474F2"/>
                </a:solidFill>
                <a:effectLst>
                  <a:outerShdw blurRad="38100" dist="38100" dir="2700000" algn="tl">
                    <a:srgbClr val="000000">
                      <a:alpha val="43137"/>
                    </a:srgbClr>
                  </a:outerShdw>
                </a:effectLst>
              </a:rPr>
              <a:t>To Bring Your Business</a:t>
            </a:r>
          </a:p>
          <a:p>
            <a:pPr algn="ctr"/>
            <a:r>
              <a:rPr lang="lv-LV" sz="7200" b="1" dirty="0">
                <a:solidFill>
                  <a:srgbClr val="7474F2"/>
                </a:solidFill>
                <a:effectLst>
                  <a:outerShdw blurRad="38100" dist="38100" dir="2700000" algn="tl">
                    <a:srgbClr val="000000">
                      <a:alpha val="43137"/>
                    </a:srgbClr>
                  </a:outerShdw>
                </a:effectLst>
              </a:rPr>
              <a:t>Model To Life</a:t>
            </a:r>
            <a:endParaRPr lang="en-US" sz="7200" b="1" dirty="0">
              <a:solidFill>
                <a:srgbClr val="7474F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95698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18" descr="C:\Users\Zeki\Documents\ASEE Phases\f0\Djokovic&amp;Zimonji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8359" y="360363"/>
            <a:ext cx="5284788"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a:spLocks noChangeArrowheads="1"/>
          </p:cNvSpPr>
          <p:nvPr/>
        </p:nvSpPr>
        <p:spPr bwMode="auto">
          <a:xfrm>
            <a:off x="6616885" y="3657600"/>
            <a:ext cx="2981325"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dirty="0">
                <a:latin typeface="Comic Sans MS" pitchFamily="66" charset="0"/>
              </a:rPr>
              <a:t>Responsibility</a:t>
            </a:r>
          </a:p>
          <a:p>
            <a:pPr eaLnBrk="1" hangingPunct="1">
              <a:spcBef>
                <a:spcPct val="0"/>
              </a:spcBef>
              <a:buFontTx/>
              <a:buNone/>
            </a:pPr>
            <a:r>
              <a:rPr lang="en-US" altLang="en-US" dirty="0">
                <a:latin typeface="Comic Sans MS" pitchFamily="66" charset="0"/>
              </a:rPr>
              <a:t>Accountability</a:t>
            </a:r>
          </a:p>
          <a:p>
            <a:pPr eaLnBrk="1" hangingPunct="1">
              <a:spcBef>
                <a:spcPct val="0"/>
              </a:spcBef>
              <a:buFontTx/>
              <a:buNone/>
            </a:pPr>
            <a:r>
              <a:rPr lang="en-US" altLang="en-US" dirty="0">
                <a:latin typeface="Comic Sans MS" pitchFamily="66" charset="0"/>
              </a:rPr>
              <a:t>Commitment</a:t>
            </a:r>
          </a:p>
          <a:p>
            <a:pPr eaLnBrk="1" hangingPunct="1">
              <a:spcBef>
                <a:spcPct val="0"/>
              </a:spcBef>
              <a:buFontTx/>
              <a:buNone/>
            </a:pPr>
            <a:r>
              <a:rPr lang="en-US" altLang="en-US" dirty="0">
                <a:latin typeface="Comic Sans MS" pitchFamily="66" charset="0"/>
              </a:rPr>
              <a:t>Engagement</a:t>
            </a:r>
          </a:p>
          <a:p>
            <a:pPr eaLnBrk="1" hangingPunct="1">
              <a:spcBef>
                <a:spcPct val="0"/>
              </a:spcBef>
              <a:buFontTx/>
              <a:buNone/>
            </a:pPr>
            <a:r>
              <a:rPr lang="en-US" altLang="en-US" dirty="0">
                <a:latin typeface="Comic Sans MS" pitchFamily="66" charset="0"/>
              </a:rPr>
              <a:t>…</a:t>
            </a:r>
          </a:p>
        </p:txBody>
      </p:sp>
      <p:pic>
        <p:nvPicPr>
          <p:cNvPr id="3078" name="Picture 10" descr="http://www3.pictures.zimbio.com/gi/Anastasia+Vasina+Olympics+Day+5+Beach+Volleyball+zlaYyBQqg2q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4298" y="3375025"/>
            <a:ext cx="5114925" cy="327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98057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Oval 25"/>
          <p:cNvSpPr>
            <a:spLocks noChangeArrowheads="1"/>
          </p:cNvSpPr>
          <p:nvPr/>
        </p:nvSpPr>
        <p:spPr bwMode="auto">
          <a:xfrm>
            <a:off x="3113088" y="3400425"/>
            <a:ext cx="544512" cy="649288"/>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4099" name="Text Box 29"/>
          <p:cNvSpPr txBox="1">
            <a:spLocks noChangeArrowheads="1"/>
          </p:cNvSpPr>
          <p:nvPr/>
        </p:nvSpPr>
        <p:spPr bwMode="auto">
          <a:xfrm>
            <a:off x="2344738" y="1273175"/>
            <a:ext cx="20748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know what to do</a:t>
            </a:r>
          </a:p>
        </p:txBody>
      </p:sp>
      <p:sp>
        <p:nvSpPr>
          <p:cNvPr id="4100" name="Text Box 29"/>
          <p:cNvSpPr txBox="1">
            <a:spLocks noChangeArrowheads="1"/>
          </p:cNvSpPr>
          <p:nvPr/>
        </p:nvSpPr>
        <p:spPr bwMode="auto">
          <a:xfrm>
            <a:off x="4600576" y="1306514"/>
            <a:ext cx="207486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can do it</a:t>
            </a:r>
          </a:p>
        </p:txBody>
      </p:sp>
      <p:sp>
        <p:nvSpPr>
          <p:cNvPr id="4101" name="Text Box 29"/>
          <p:cNvSpPr txBox="1">
            <a:spLocks noChangeArrowheads="1"/>
          </p:cNvSpPr>
          <p:nvPr/>
        </p:nvSpPr>
        <p:spPr bwMode="auto">
          <a:xfrm>
            <a:off x="7069138" y="1306514"/>
            <a:ext cx="2532062"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will be rewarded</a:t>
            </a:r>
          </a:p>
        </p:txBody>
      </p:sp>
      <p:grpSp>
        <p:nvGrpSpPr>
          <p:cNvPr id="7" name="Group 6"/>
          <p:cNvGrpSpPr>
            <a:grpSpLocks/>
          </p:cNvGrpSpPr>
          <p:nvPr/>
        </p:nvGrpSpPr>
        <p:grpSpPr bwMode="auto">
          <a:xfrm>
            <a:off x="3810001" y="3400425"/>
            <a:ext cx="2263775" cy="649288"/>
            <a:chOff x="2286001" y="3400096"/>
            <a:chExt cx="2264370" cy="650221"/>
          </a:xfrm>
        </p:grpSpPr>
        <p:sp>
          <p:nvSpPr>
            <p:cNvPr id="4108" name="Oval 25"/>
            <p:cNvSpPr>
              <a:spLocks noChangeArrowheads="1"/>
            </p:cNvSpPr>
            <p:nvPr/>
          </p:nvSpPr>
          <p:spPr bwMode="auto">
            <a:xfrm>
              <a:off x="4006083" y="3400096"/>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6" name="Striped Right Arrow 5"/>
            <p:cNvSpPr/>
            <p:nvPr/>
          </p:nvSpPr>
          <p:spPr bwMode="auto">
            <a:xfrm>
              <a:off x="2286001" y="3420764"/>
              <a:ext cx="1600621" cy="553244"/>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grpSp>
        <p:nvGrpSpPr>
          <p:cNvPr id="8" name="Group 7"/>
          <p:cNvGrpSpPr>
            <a:grpSpLocks/>
          </p:cNvGrpSpPr>
          <p:nvPr/>
        </p:nvGrpSpPr>
        <p:grpSpPr bwMode="auto">
          <a:xfrm>
            <a:off x="6075363" y="4202114"/>
            <a:ext cx="2532062" cy="1284287"/>
            <a:chOff x="4550655" y="4201903"/>
            <a:chExt cx="2532942" cy="1284497"/>
          </a:xfrm>
        </p:grpSpPr>
        <p:sp>
          <p:nvSpPr>
            <p:cNvPr id="4106" name="Oval 25"/>
            <p:cNvSpPr>
              <a:spLocks noChangeArrowheads="1"/>
            </p:cNvSpPr>
            <p:nvPr/>
          </p:nvSpPr>
          <p:spPr bwMode="auto">
            <a:xfrm>
              <a:off x="6539309" y="4836179"/>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32" name="Striped Right Arrow 31"/>
            <p:cNvSpPr/>
            <p:nvPr/>
          </p:nvSpPr>
          <p:spPr bwMode="auto">
            <a:xfrm rot="1822006">
              <a:off x="4550655" y="4201903"/>
              <a:ext cx="2035882" cy="554128"/>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spTree>
    <p:extLst>
      <p:ext uri="{BB962C8B-B14F-4D97-AF65-F5344CB8AC3E}">
        <p14:creationId xmlns:p14="http://schemas.microsoft.com/office/powerpoint/2010/main" val="2749868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9"/>
                                        </p:tgtEl>
                                        <p:attrNameLst>
                                          <p:attrName>style.visibility</p:attrName>
                                        </p:attrNameLst>
                                      </p:cBhvr>
                                      <p:to>
                                        <p:strVal val="visible"/>
                                      </p:to>
                                    </p:set>
                                    <p:anim calcmode="lin" valueType="num">
                                      <p:cBhvr additive="base">
                                        <p:cTn id="7" dur="500" fill="hold"/>
                                        <p:tgtEl>
                                          <p:spTgt spid="19469"/>
                                        </p:tgtEl>
                                        <p:attrNameLst>
                                          <p:attrName>ppt_x</p:attrName>
                                        </p:attrNameLst>
                                      </p:cBhvr>
                                      <p:tavLst>
                                        <p:tav tm="0">
                                          <p:val>
                                            <p:strVal val="0-#ppt_w/2"/>
                                          </p:val>
                                        </p:tav>
                                        <p:tav tm="100000">
                                          <p:val>
                                            <p:strVal val="#ppt_x"/>
                                          </p:val>
                                        </p:tav>
                                      </p:tavLst>
                                    </p:anim>
                                    <p:anim calcmode="lin" valueType="num">
                                      <p:cBhvr additive="base">
                                        <p:cTn id="8" dur="500" fill="hold"/>
                                        <p:tgtEl>
                                          <p:spTgt spid="19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Oval 25"/>
          <p:cNvSpPr>
            <a:spLocks noChangeArrowheads="1"/>
          </p:cNvSpPr>
          <p:nvPr/>
        </p:nvSpPr>
        <p:spPr bwMode="auto">
          <a:xfrm>
            <a:off x="3113088" y="3400425"/>
            <a:ext cx="544512" cy="649288"/>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5123" name="Text Box 29"/>
          <p:cNvSpPr txBox="1">
            <a:spLocks noChangeArrowheads="1"/>
          </p:cNvSpPr>
          <p:nvPr/>
        </p:nvSpPr>
        <p:spPr bwMode="auto">
          <a:xfrm>
            <a:off x="2344738" y="1273175"/>
            <a:ext cx="20748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know what to do</a:t>
            </a:r>
          </a:p>
        </p:txBody>
      </p:sp>
      <p:sp>
        <p:nvSpPr>
          <p:cNvPr id="5124" name="Text Box 29"/>
          <p:cNvSpPr txBox="1">
            <a:spLocks noChangeArrowheads="1"/>
          </p:cNvSpPr>
          <p:nvPr/>
        </p:nvSpPr>
        <p:spPr bwMode="auto">
          <a:xfrm>
            <a:off x="4600576" y="1306514"/>
            <a:ext cx="207486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can do it</a:t>
            </a:r>
          </a:p>
        </p:txBody>
      </p:sp>
      <p:sp>
        <p:nvSpPr>
          <p:cNvPr id="5125" name="Text Box 29"/>
          <p:cNvSpPr txBox="1">
            <a:spLocks noChangeArrowheads="1"/>
          </p:cNvSpPr>
          <p:nvPr/>
        </p:nvSpPr>
        <p:spPr bwMode="auto">
          <a:xfrm>
            <a:off x="7069138" y="1306514"/>
            <a:ext cx="2532062"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will be rewarded</a:t>
            </a:r>
          </a:p>
        </p:txBody>
      </p:sp>
      <p:grpSp>
        <p:nvGrpSpPr>
          <p:cNvPr id="2" name="Group 1"/>
          <p:cNvGrpSpPr>
            <a:grpSpLocks/>
          </p:cNvGrpSpPr>
          <p:nvPr/>
        </p:nvGrpSpPr>
        <p:grpSpPr bwMode="auto">
          <a:xfrm>
            <a:off x="3581401" y="4202114"/>
            <a:ext cx="2492375" cy="1284287"/>
            <a:chOff x="2057685" y="4201903"/>
            <a:chExt cx="2492686" cy="1284497"/>
          </a:xfrm>
        </p:grpSpPr>
        <p:sp>
          <p:nvSpPr>
            <p:cNvPr id="5132" name="Oval 25"/>
            <p:cNvSpPr>
              <a:spLocks noChangeArrowheads="1"/>
            </p:cNvSpPr>
            <p:nvPr/>
          </p:nvSpPr>
          <p:spPr bwMode="auto">
            <a:xfrm>
              <a:off x="4006083" y="4836179"/>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32" name="Striped Right Arrow 31"/>
            <p:cNvSpPr/>
            <p:nvPr/>
          </p:nvSpPr>
          <p:spPr bwMode="auto">
            <a:xfrm rot="1822006">
              <a:off x="2057685" y="4201903"/>
              <a:ext cx="2035429" cy="554128"/>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grpSp>
        <p:nvGrpSpPr>
          <p:cNvPr id="3" name="Group 2"/>
          <p:cNvGrpSpPr>
            <a:grpSpLocks/>
          </p:cNvGrpSpPr>
          <p:nvPr/>
        </p:nvGrpSpPr>
        <p:grpSpPr bwMode="auto">
          <a:xfrm>
            <a:off x="6116639" y="3400426"/>
            <a:ext cx="2490787" cy="1363663"/>
            <a:chOff x="4592928" y="3400097"/>
            <a:chExt cx="2490669" cy="1364113"/>
          </a:xfrm>
        </p:grpSpPr>
        <p:sp>
          <p:nvSpPr>
            <p:cNvPr id="5130" name="Oval 25"/>
            <p:cNvSpPr>
              <a:spLocks noChangeArrowheads="1"/>
            </p:cNvSpPr>
            <p:nvPr/>
          </p:nvSpPr>
          <p:spPr bwMode="auto">
            <a:xfrm>
              <a:off x="6539309" y="3400097"/>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12" name="Striped Right Arrow 11"/>
            <p:cNvSpPr/>
            <p:nvPr/>
          </p:nvSpPr>
          <p:spPr bwMode="auto">
            <a:xfrm rot="19777994" flipV="1">
              <a:off x="4592928" y="4209989"/>
              <a:ext cx="2036666" cy="554221"/>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spTree>
    <p:extLst>
      <p:ext uri="{BB962C8B-B14F-4D97-AF65-F5344CB8AC3E}">
        <p14:creationId xmlns:p14="http://schemas.microsoft.com/office/powerpoint/2010/main" val="1809331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9"/>
                                        </p:tgtEl>
                                        <p:attrNameLst>
                                          <p:attrName>style.visibility</p:attrName>
                                        </p:attrNameLst>
                                      </p:cBhvr>
                                      <p:to>
                                        <p:strVal val="visible"/>
                                      </p:to>
                                    </p:set>
                                    <p:anim calcmode="lin" valueType="num">
                                      <p:cBhvr additive="base">
                                        <p:cTn id="7" dur="500" fill="hold"/>
                                        <p:tgtEl>
                                          <p:spTgt spid="19469"/>
                                        </p:tgtEl>
                                        <p:attrNameLst>
                                          <p:attrName>ppt_x</p:attrName>
                                        </p:attrNameLst>
                                      </p:cBhvr>
                                      <p:tavLst>
                                        <p:tav tm="0">
                                          <p:val>
                                            <p:strVal val="0-#ppt_w/2"/>
                                          </p:val>
                                        </p:tav>
                                        <p:tav tm="100000">
                                          <p:val>
                                            <p:strVal val="#ppt_x"/>
                                          </p:val>
                                        </p:tav>
                                      </p:tavLst>
                                    </p:anim>
                                    <p:anim calcmode="lin" valueType="num">
                                      <p:cBhvr additive="base">
                                        <p:cTn id="8" dur="500" fill="hold"/>
                                        <p:tgtEl>
                                          <p:spTgt spid="19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9"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Oval 25"/>
          <p:cNvSpPr>
            <a:spLocks noChangeArrowheads="1"/>
          </p:cNvSpPr>
          <p:nvPr/>
        </p:nvSpPr>
        <p:spPr bwMode="auto">
          <a:xfrm>
            <a:off x="3113088" y="4835526"/>
            <a:ext cx="544512" cy="650875"/>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6147" name="Text Box 29"/>
          <p:cNvSpPr txBox="1">
            <a:spLocks noChangeArrowheads="1"/>
          </p:cNvSpPr>
          <p:nvPr/>
        </p:nvSpPr>
        <p:spPr bwMode="auto">
          <a:xfrm>
            <a:off x="2344738" y="1273175"/>
            <a:ext cx="20748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know what to do</a:t>
            </a:r>
          </a:p>
        </p:txBody>
      </p:sp>
      <p:sp>
        <p:nvSpPr>
          <p:cNvPr id="6148" name="Text Box 29"/>
          <p:cNvSpPr txBox="1">
            <a:spLocks noChangeArrowheads="1"/>
          </p:cNvSpPr>
          <p:nvPr/>
        </p:nvSpPr>
        <p:spPr bwMode="auto">
          <a:xfrm>
            <a:off x="4600576" y="1306514"/>
            <a:ext cx="207486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can do it</a:t>
            </a:r>
          </a:p>
        </p:txBody>
      </p:sp>
      <p:sp>
        <p:nvSpPr>
          <p:cNvPr id="6149" name="Text Box 29"/>
          <p:cNvSpPr txBox="1">
            <a:spLocks noChangeArrowheads="1"/>
          </p:cNvSpPr>
          <p:nvPr/>
        </p:nvSpPr>
        <p:spPr bwMode="auto">
          <a:xfrm>
            <a:off x="7069138" y="1306514"/>
            <a:ext cx="2532062"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will be rewarded</a:t>
            </a:r>
          </a:p>
        </p:txBody>
      </p:sp>
      <p:grpSp>
        <p:nvGrpSpPr>
          <p:cNvPr id="3" name="Group 2"/>
          <p:cNvGrpSpPr>
            <a:grpSpLocks/>
          </p:cNvGrpSpPr>
          <p:nvPr/>
        </p:nvGrpSpPr>
        <p:grpSpPr bwMode="auto">
          <a:xfrm>
            <a:off x="6116639" y="3400426"/>
            <a:ext cx="2490787" cy="1363663"/>
            <a:chOff x="4592928" y="3400097"/>
            <a:chExt cx="2490669" cy="1364113"/>
          </a:xfrm>
        </p:grpSpPr>
        <p:sp>
          <p:nvSpPr>
            <p:cNvPr id="6156" name="Oval 25"/>
            <p:cNvSpPr>
              <a:spLocks noChangeArrowheads="1"/>
            </p:cNvSpPr>
            <p:nvPr/>
          </p:nvSpPr>
          <p:spPr bwMode="auto">
            <a:xfrm>
              <a:off x="6539309" y="3400097"/>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12" name="Striped Right Arrow 11"/>
            <p:cNvSpPr/>
            <p:nvPr/>
          </p:nvSpPr>
          <p:spPr bwMode="auto">
            <a:xfrm rot="19777994" flipV="1">
              <a:off x="4592928" y="4209989"/>
              <a:ext cx="2036666" cy="554221"/>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grpSp>
        <p:nvGrpSpPr>
          <p:cNvPr id="4" name="Group 3"/>
          <p:cNvGrpSpPr>
            <a:grpSpLocks/>
          </p:cNvGrpSpPr>
          <p:nvPr/>
        </p:nvGrpSpPr>
        <p:grpSpPr bwMode="auto">
          <a:xfrm>
            <a:off x="3810001" y="4835526"/>
            <a:ext cx="2263775" cy="650875"/>
            <a:chOff x="2286001" y="4836179"/>
            <a:chExt cx="2264370" cy="650221"/>
          </a:xfrm>
        </p:grpSpPr>
        <p:sp>
          <p:nvSpPr>
            <p:cNvPr id="6154" name="Oval 25"/>
            <p:cNvSpPr>
              <a:spLocks noChangeArrowheads="1"/>
            </p:cNvSpPr>
            <p:nvPr/>
          </p:nvSpPr>
          <p:spPr bwMode="auto">
            <a:xfrm>
              <a:off x="4006083" y="4836179"/>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15" name="Striped Right Arrow 14"/>
            <p:cNvSpPr/>
            <p:nvPr/>
          </p:nvSpPr>
          <p:spPr bwMode="auto">
            <a:xfrm>
              <a:off x="2286001" y="4877413"/>
              <a:ext cx="1600621" cy="553481"/>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spTree>
    <p:extLst>
      <p:ext uri="{BB962C8B-B14F-4D97-AF65-F5344CB8AC3E}">
        <p14:creationId xmlns:p14="http://schemas.microsoft.com/office/powerpoint/2010/main" val="1506727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9"/>
                                        </p:tgtEl>
                                        <p:attrNameLst>
                                          <p:attrName>style.visibility</p:attrName>
                                        </p:attrNameLst>
                                      </p:cBhvr>
                                      <p:to>
                                        <p:strVal val="visible"/>
                                      </p:to>
                                    </p:set>
                                    <p:anim calcmode="lin" valueType="num">
                                      <p:cBhvr additive="base">
                                        <p:cTn id="7" dur="500" fill="hold"/>
                                        <p:tgtEl>
                                          <p:spTgt spid="19469"/>
                                        </p:tgtEl>
                                        <p:attrNameLst>
                                          <p:attrName>ppt_x</p:attrName>
                                        </p:attrNameLst>
                                      </p:cBhvr>
                                      <p:tavLst>
                                        <p:tav tm="0">
                                          <p:val>
                                            <p:strVal val="0-#ppt_w/2"/>
                                          </p:val>
                                        </p:tav>
                                        <p:tav tm="100000">
                                          <p:val>
                                            <p:strVal val="#ppt_x"/>
                                          </p:val>
                                        </p:tav>
                                      </p:tavLst>
                                    </p:anim>
                                    <p:anim calcmode="lin" valueType="num">
                                      <p:cBhvr additive="base">
                                        <p:cTn id="8" dur="500" fill="hold"/>
                                        <p:tgtEl>
                                          <p:spTgt spid="19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p:cNvSpPr>
          <p:nvPr/>
        </p:nvSpPr>
        <p:spPr bwMode="auto">
          <a:xfrm rot="-5426697">
            <a:off x="5391944" y="-199231"/>
            <a:ext cx="1547812" cy="8839200"/>
          </a:xfrm>
          <a:prstGeom prst="leftBrace">
            <a:avLst>
              <a:gd name="adj1" fmla="val 39182"/>
              <a:gd name="adj2" fmla="val 50000"/>
            </a:avLst>
          </a:prstGeom>
          <a:gradFill rotWithShape="0">
            <a:gsLst>
              <a:gs pos="0">
                <a:schemeClr val="bg1"/>
              </a:gs>
              <a:gs pos="100000">
                <a:srgbClr val="969696"/>
              </a:gs>
            </a:gsLst>
            <a:lin ang="5400000" scaled="1"/>
          </a:gradFill>
          <a:ln w="28575">
            <a:solidFill>
              <a:schemeClr val="tx1"/>
            </a:solidFill>
            <a:round/>
            <a:headEnd/>
            <a:tailEnd/>
          </a:ln>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RS" altLang="en-US" sz="12000" dirty="0"/>
          </a:p>
        </p:txBody>
      </p:sp>
      <p:sp>
        <p:nvSpPr>
          <p:cNvPr id="209933" name="Oval 13"/>
          <p:cNvSpPr>
            <a:spLocks noChangeArrowheads="1"/>
          </p:cNvSpPr>
          <p:nvPr/>
        </p:nvSpPr>
        <p:spPr bwMode="auto">
          <a:xfrm>
            <a:off x="7924800" y="1346200"/>
            <a:ext cx="2590800" cy="2514600"/>
          </a:xfrm>
          <a:prstGeom prst="ellipse">
            <a:avLst/>
          </a:prstGeom>
          <a:gradFill rotWithShape="0">
            <a:gsLst>
              <a:gs pos="0">
                <a:srgbClr val="47005E"/>
              </a:gs>
              <a:gs pos="100000">
                <a:srgbClr val="9900CC"/>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endParaRPr lang="pt-BR" altLang="en-US" sz="2400">
              <a:solidFill>
                <a:srgbClr val="9900CC"/>
              </a:solidFill>
            </a:endParaRPr>
          </a:p>
        </p:txBody>
      </p:sp>
      <p:sp>
        <p:nvSpPr>
          <p:cNvPr id="209934" name="Oval 14"/>
          <p:cNvSpPr>
            <a:spLocks noChangeArrowheads="1"/>
          </p:cNvSpPr>
          <p:nvPr/>
        </p:nvSpPr>
        <p:spPr bwMode="auto">
          <a:xfrm>
            <a:off x="5791200" y="1346200"/>
            <a:ext cx="3125788" cy="2514600"/>
          </a:xfrm>
          <a:prstGeom prst="ellipse">
            <a:avLst/>
          </a:prstGeom>
          <a:gradFill rotWithShape="0">
            <a:gsLst>
              <a:gs pos="0">
                <a:schemeClr val="accent1">
                  <a:gamma/>
                  <a:shade val="46275"/>
                  <a:invGamma/>
                </a:schemeClr>
              </a:gs>
              <a:gs pos="100000">
                <a:schemeClr val="accent1"/>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209935" name="Oval 15"/>
          <p:cNvSpPr>
            <a:spLocks noChangeArrowheads="1"/>
          </p:cNvSpPr>
          <p:nvPr/>
        </p:nvSpPr>
        <p:spPr bwMode="auto">
          <a:xfrm>
            <a:off x="3810000" y="1346200"/>
            <a:ext cx="2667000" cy="2514600"/>
          </a:xfrm>
          <a:prstGeom prst="ellipse">
            <a:avLst/>
          </a:prstGeom>
          <a:gradFill rotWithShape="0">
            <a:gsLst>
              <a:gs pos="0">
                <a:srgbClr val="760018"/>
              </a:gs>
              <a:gs pos="100000">
                <a:srgbClr val="FF0033"/>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12000" dirty="0"/>
          </a:p>
        </p:txBody>
      </p:sp>
      <p:sp>
        <p:nvSpPr>
          <p:cNvPr id="209936" name="Oval 16"/>
          <p:cNvSpPr>
            <a:spLocks noChangeArrowheads="1"/>
          </p:cNvSpPr>
          <p:nvPr/>
        </p:nvSpPr>
        <p:spPr bwMode="auto">
          <a:xfrm>
            <a:off x="1676400" y="1422400"/>
            <a:ext cx="2667000" cy="2514600"/>
          </a:xfrm>
          <a:prstGeom prst="ellipse">
            <a:avLst/>
          </a:prstGeom>
          <a:gradFill rotWithShape="0">
            <a:gsLst>
              <a:gs pos="0">
                <a:schemeClr val="accent2">
                  <a:gamma/>
                  <a:shade val="33333"/>
                  <a:invGamma/>
                </a:schemeClr>
              </a:gs>
              <a:gs pos="100000">
                <a:schemeClr val="accent2"/>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209937" name="Text Box 17"/>
          <p:cNvSpPr txBox="1">
            <a:spLocks noChangeArrowheads="1"/>
          </p:cNvSpPr>
          <p:nvPr/>
        </p:nvSpPr>
        <p:spPr bwMode="auto">
          <a:xfrm>
            <a:off x="2208214" y="2413001"/>
            <a:ext cx="17494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MISSION</a:t>
            </a:r>
          </a:p>
        </p:txBody>
      </p:sp>
      <p:sp>
        <p:nvSpPr>
          <p:cNvPr id="209938" name="Text Box 18"/>
          <p:cNvSpPr txBox="1">
            <a:spLocks noChangeArrowheads="1"/>
          </p:cNvSpPr>
          <p:nvPr/>
        </p:nvSpPr>
        <p:spPr bwMode="auto">
          <a:xfrm>
            <a:off x="4343400" y="2413001"/>
            <a:ext cx="228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STRUCTURE</a:t>
            </a:r>
          </a:p>
        </p:txBody>
      </p:sp>
      <p:sp>
        <p:nvSpPr>
          <p:cNvPr id="209939" name="Text Box 19"/>
          <p:cNvSpPr txBox="1">
            <a:spLocks noChangeArrowheads="1"/>
          </p:cNvSpPr>
          <p:nvPr/>
        </p:nvSpPr>
        <p:spPr bwMode="auto">
          <a:xfrm>
            <a:off x="6400800" y="2108200"/>
            <a:ext cx="251618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PERFORMANCE TRACKING SYSTEM</a:t>
            </a:r>
          </a:p>
        </p:txBody>
      </p:sp>
      <p:sp>
        <p:nvSpPr>
          <p:cNvPr id="209940" name="Text Box 20"/>
          <p:cNvSpPr txBox="1">
            <a:spLocks noChangeArrowheads="1"/>
          </p:cNvSpPr>
          <p:nvPr/>
        </p:nvSpPr>
        <p:spPr bwMode="auto">
          <a:xfrm>
            <a:off x="8866188" y="2413001"/>
            <a:ext cx="18018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REWARDS</a:t>
            </a:r>
          </a:p>
        </p:txBody>
      </p:sp>
      <p:sp>
        <p:nvSpPr>
          <p:cNvPr id="209944" name="Text Box 24"/>
          <p:cNvSpPr txBox="1">
            <a:spLocks noChangeArrowheads="1"/>
          </p:cNvSpPr>
          <p:nvPr/>
        </p:nvSpPr>
        <p:spPr bwMode="auto">
          <a:xfrm>
            <a:off x="3957638" y="5105401"/>
            <a:ext cx="4500562"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3600" dirty="0">
                <a:latin typeface="Comic Sans MS" pitchFamily="66" charset="0"/>
              </a:rPr>
              <a:t>ACCOUNTABILITY</a:t>
            </a:r>
          </a:p>
        </p:txBody>
      </p:sp>
    </p:spTree>
    <p:extLst>
      <p:ext uri="{BB962C8B-B14F-4D97-AF65-F5344CB8AC3E}">
        <p14:creationId xmlns:p14="http://schemas.microsoft.com/office/powerpoint/2010/main" val="4242015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36"/>
                                        </p:tgtEl>
                                        <p:attrNameLst>
                                          <p:attrName>style.visibility</p:attrName>
                                        </p:attrNameLst>
                                      </p:cBhvr>
                                      <p:to>
                                        <p:strVal val="visible"/>
                                      </p:to>
                                    </p:set>
                                    <p:anim calcmode="lin" valueType="num">
                                      <p:cBhvr additive="base">
                                        <p:cTn id="7" dur="500" fill="hold"/>
                                        <p:tgtEl>
                                          <p:spTgt spid="209936"/>
                                        </p:tgtEl>
                                        <p:attrNameLst>
                                          <p:attrName>ppt_x</p:attrName>
                                        </p:attrNameLst>
                                      </p:cBhvr>
                                      <p:tavLst>
                                        <p:tav tm="0">
                                          <p:val>
                                            <p:strVal val="0-#ppt_w/2"/>
                                          </p:val>
                                        </p:tav>
                                        <p:tav tm="100000">
                                          <p:val>
                                            <p:strVal val="#ppt_x"/>
                                          </p:val>
                                        </p:tav>
                                      </p:tavLst>
                                    </p:anim>
                                    <p:anim calcmode="lin" valueType="num">
                                      <p:cBhvr additive="base">
                                        <p:cTn id="8" dur="500" fill="hold"/>
                                        <p:tgtEl>
                                          <p:spTgt spid="20993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09937"/>
                                        </p:tgtEl>
                                        <p:attrNameLst>
                                          <p:attrName>style.visibility</p:attrName>
                                        </p:attrNameLst>
                                      </p:cBhvr>
                                      <p:to>
                                        <p:strVal val="visible"/>
                                      </p:to>
                                    </p:set>
                                    <p:anim calcmode="lin" valueType="num">
                                      <p:cBhvr additive="base">
                                        <p:cTn id="12" dur="500" fill="hold"/>
                                        <p:tgtEl>
                                          <p:spTgt spid="209937"/>
                                        </p:tgtEl>
                                        <p:attrNameLst>
                                          <p:attrName>ppt_x</p:attrName>
                                        </p:attrNameLst>
                                      </p:cBhvr>
                                      <p:tavLst>
                                        <p:tav tm="0">
                                          <p:val>
                                            <p:strVal val="0-#ppt_w/2"/>
                                          </p:val>
                                        </p:tav>
                                        <p:tav tm="100000">
                                          <p:val>
                                            <p:strVal val="#ppt_x"/>
                                          </p:val>
                                        </p:tav>
                                      </p:tavLst>
                                    </p:anim>
                                    <p:anim calcmode="lin" valueType="num">
                                      <p:cBhvr additive="base">
                                        <p:cTn id="13" dur="500" fill="hold"/>
                                        <p:tgtEl>
                                          <p:spTgt spid="20993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09935"/>
                                        </p:tgtEl>
                                        <p:attrNameLst>
                                          <p:attrName>style.visibility</p:attrName>
                                        </p:attrNameLst>
                                      </p:cBhvr>
                                      <p:to>
                                        <p:strVal val="visible"/>
                                      </p:to>
                                    </p:set>
                                    <p:anim calcmode="lin" valueType="num">
                                      <p:cBhvr additive="base">
                                        <p:cTn id="18" dur="500" fill="hold"/>
                                        <p:tgtEl>
                                          <p:spTgt spid="209935"/>
                                        </p:tgtEl>
                                        <p:attrNameLst>
                                          <p:attrName>ppt_x</p:attrName>
                                        </p:attrNameLst>
                                      </p:cBhvr>
                                      <p:tavLst>
                                        <p:tav tm="0">
                                          <p:val>
                                            <p:strVal val="0-#ppt_w/2"/>
                                          </p:val>
                                        </p:tav>
                                        <p:tav tm="100000">
                                          <p:val>
                                            <p:strVal val="#ppt_x"/>
                                          </p:val>
                                        </p:tav>
                                      </p:tavLst>
                                    </p:anim>
                                    <p:anim calcmode="lin" valueType="num">
                                      <p:cBhvr additive="base">
                                        <p:cTn id="19" dur="500" fill="hold"/>
                                        <p:tgtEl>
                                          <p:spTgt spid="209935"/>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209938"/>
                                        </p:tgtEl>
                                        <p:attrNameLst>
                                          <p:attrName>style.visibility</p:attrName>
                                        </p:attrNameLst>
                                      </p:cBhvr>
                                      <p:to>
                                        <p:strVal val="visible"/>
                                      </p:to>
                                    </p:set>
                                    <p:anim calcmode="lin" valueType="num">
                                      <p:cBhvr additive="base">
                                        <p:cTn id="23" dur="500" fill="hold"/>
                                        <p:tgtEl>
                                          <p:spTgt spid="209938"/>
                                        </p:tgtEl>
                                        <p:attrNameLst>
                                          <p:attrName>ppt_x</p:attrName>
                                        </p:attrNameLst>
                                      </p:cBhvr>
                                      <p:tavLst>
                                        <p:tav tm="0">
                                          <p:val>
                                            <p:strVal val="0-#ppt_w/2"/>
                                          </p:val>
                                        </p:tav>
                                        <p:tav tm="100000">
                                          <p:val>
                                            <p:strVal val="#ppt_x"/>
                                          </p:val>
                                        </p:tav>
                                      </p:tavLst>
                                    </p:anim>
                                    <p:anim calcmode="lin" valueType="num">
                                      <p:cBhvr additive="base">
                                        <p:cTn id="24" dur="500" fill="hold"/>
                                        <p:tgtEl>
                                          <p:spTgt spid="209938"/>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09934"/>
                                        </p:tgtEl>
                                        <p:attrNameLst>
                                          <p:attrName>style.visibility</p:attrName>
                                        </p:attrNameLst>
                                      </p:cBhvr>
                                      <p:to>
                                        <p:strVal val="visible"/>
                                      </p:to>
                                    </p:set>
                                    <p:anim calcmode="lin" valueType="num">
                                      <p:cBhvr additive="base">
                                        <p:cTn id="29" dur="500" fill="hold"/>
                                        <p:tgtEl>
                                          <p:spTgt spid="209934"/>
                                        </p:tgtEl>
                                        <p:attrNameLst>
                                          <p:attrName>ppt_x</p:attrName>
                                        </p:attrNameLst>
                                      </p:cBhvr>
                                      <p:tavLst>
                                        <p:tav tm="0">
                                          <p:val>
                                            <p:strVal val="0-#ppt_w/2"/>
                                          </p:val>
                                        </p:tav>
                                        <p:tav tm="100000">
                                          <p:val>
                                            <p:strVal val="#ppt_x"/>
                                          </p:val>
                                        </p:tav>
                                      </p:tavLst>
                                    </p:anim>
                                    <p:anim calcmode="lin" valueType="num">
                                      <p:cBhvr additive="base">
                                        <p:cTn id="30" dur="500" fill="hold"/>
                                        <p:tgtEl>
                                          <p:spTgt spid="209934"/>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500"/>
                            </p:stCondLst>
                            <p:childTnLst>
                              <p:par>
                                <p:cTn id="32" presetID="2" presetClass="entr" presetSubtype="8" fill="hold" grpId="0" nodeType="afterEffect">
                                  <p:stCondLst>
                                    <p:cond delay="0"/>
                                  </p:stCondLst>
                                  <p:childTnLst>
                                    <p:set>
                                      <p:cBhvr>
                                        <p:cTn id="33" dur="1" fill="hold">
                                          <p:stCondLst>
                                            <p:cond delay="0"/>
                                          </p:stCondLst>
                                        </p:cTn>
                                        <p:tgtEl>
                                          <p:spTgt spid="209939"/>
                                        </p:tgtEl>
                                        <p:attrNameLst>
                                          <p:attrName>style.visibility</p:attrName>
                                        </p:attrNameLst>
                                      </p:cBhvr>
                                      <p:to>
                                        <p:strVal val="visible"/>
                                      </p:to>
                                    </p:set>
                                    <p:anim calcmode="lin" valueType="num">
                                      <p:cBhvr additive="base">
                                        <p:cTn id="34" dur="500" fill="hold"/>
                                        <p:tgtEl>
                                          <p:spTgt spid="209939"/>
                                        </p:tgtEl>
                                        <p:attrNameLst>
                                          <p:attrName>ppt_x</p:attrName>
                                        </p:attrNameLst>
                                      </p:cBhvr>
                                      <p:tavLst>
                                        <p:tav tm="0">
                                          <p:val>
                                            <p:strVal val="0-#ppt_w/2"/>
                                          </p:val>
                                        </p:tav>
                                        <p:tav tm="100000">
                                          <p:val>
                                            <p:strVal val="#ppt_x"/>
                                          </p:val>
                                        </p:tav>
                                      </p:tavLst>
                                    </p:anim>
                                    <p:anim calcmode="lin" valueType="num">
                                      <p:cBhvr additive="base">
                                        <p:cTn id="35" dur="500" fill="hold"/>
                                        <p:tgtEl>
                                          <p:spTgt spid="209939"/>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209933"/>
                                        </p:tgtEl>
                                        <p:attrNameLst>
                                          <p:attrName>style.visibility</p:attrName>
                                        </p:attrNameLst>
                                      </p:cBhvr>
                                      <p:to>
                                        <p:strVal val="visible"/>
                                      </p:to>
                                    </p:set>
                                    <p:anim calcmode="lin" valueType="num">
                                      <p:cBhvr additive="base">
                                        <p:cTn id="40" dur="500" fill="hold"/>
                                        <p:tgtEl>
                                          <p:spTgt spid="209933"/>
                                        </p:tgtEl>
                                        <p:attrNameLst>
                                          <p:attrName>ppt_x</p:attrName>
                                        </p:attrNameLst>
                                      </p:cBhvr>
                                      <p:tavLst>
                                        <p:tav tm="0">
                                          <p:val>
                                            <p:strVal val="0-#ppt_w/2"/>
                                          </p:val>
                                        </p:tav>
                                        <p:tav tm="100000">
                                          <p:val>
                                            <p:strVal val="#ppt_x"/>
                                          </p:val>
                                        </p:tav>
                                      </p:tavLst>
                                    </p:anim>
                                    <p:anim calcmode="lin" valueType="num">
                                      <p:cBhvr additive="base">
                                        <p:cTn id="41" dur="500" fill="hold"/>
                                        <p:tgtEl>
                                          <p:spTgt spid="209933"/>
                                        </p:tgtEl>
                                        <p:attrNameLst>
                                          <p:attrName>ppt_y</p:attrName>
                                        </p:attrNameLst>
                                      </p:cBhvr>
                                      <p:tavLst>
                                        <p:tav tm="0">
                                          <p:val>
                                            <p:strVal val="#ppt_y"/>
                                          </p:val>
                                        </p:tav>
                                        <p:tav tm="100000">
                                          <p:val>
                                            <p:strVal val="#ppt_y"/>
                                          </p:val>
                                        </p:tav>
                                      </p:tavLst>
                                    </p:anim>
                                  </p:childTnLst>
                                </p:cTn>
                              </p:par>
                            </p:childTnLst>
                          </p:cTn>
                        </p:par>
                        <p:par>
                          <p:cTn id="42" fill="hold" nodeType="afterGroup">
                            <p:stCondLst>
                              <p:cond delay="500"/>
                            </p:stCondLst>
                            <p:childTnLst>
                              <p:par>
                                <p:cTn id="43" presetID="2" presetClass="entr" presetSubtype="8" fill="hold" grpId="0" nodeType="afterEffect">
                                  <p:stCondLst>
                                    <p:cond delay="0"/>
                                  </p:stCondLst>
                                  <p:childTnLst>
                                    <p:set>
                                      <p:cBhvr>
                                        <p:cTn id="44" dur="1" fill="hold">
                                          <p:stCondLst>
                                            <p:cond delay="0"/>
                                          </p:stCondLst>
                                        </p:cTn>
                                        <p:tgtEl>
                                          <p:spTgt spid="209940"/>
                                        </p:tgtEl>
                                        <p:attrNameLst>
                                          <p:attrName>style.visibility</p:attrName>
                                        </p:attrNameLst>
                                      </p:cBhvr>
                                      <p:to>
                                        <p:strVal val="visible"/>
                                      </p:to>
                                    </p:set>
                                    <p:anim calcmode="lin" valueType="num">
                                      <p:cBhvr additive="base">
                                        <p:cTn id="45" dur="500" fill="hold"/>
                                        <p:tgtEl>
                                          <p:spTgt spid="209940"/>
                                        </p:tgtEl>
                                        <p:attrNameLst>
                                          <p:attrName>ppt_x</p:attrName>
                                        </p:attrNameLst>
                                      </p:cBhvr>
                                      <p:tavLst>
                                        <p:tav tm="0">
                                          <p:val>
                                            <p:strVal val="0-#ppt_w/2"/>
                                          </p:val>
                                        </p:tav>
                                        <p:tav tm="100000">
                                          <p:val>
                                            <p:strVal val="#ppt_x"/>
                                          </p:val>
                                        </p:tav>
                                      </p:tavLst>
                                    </p:anim>
                                    <p:anim calcmode="lin" valueType="num">
                                      <p:cBhvr additive="base">
                                        <p:cTn id="46" dur="500" fill="hold"/>
                                        <p:tgtEl>
                                          <p:spTgt spid="209940"/>
                                        </p:tgtEl>
                                        <p:attrNameLst>
                                          <p:attrName>ppt_y</p:attrName>
                                        </p:attrNameLst>
                                      </p:cBhvr>
                                      <p:tavLst>
                                        <p:tav tm="0">
                                          <p:val>
                                            <p:strVal val="#ppt_y"/>
                                          </p:val>
                                        </p:tav>
                                        <p:tav tm="100000">
                                          <p:val>
                                            <p:strVal val="#ppt_y"/>
                                          </p:val>
                                        </p:tav>
                                      </p:tavLst>
                                    </p:anim>
                                  </p:childTnLst>
                                </p:cTn>
                              </p:par>
                            </p:childTnLst>
                          </p:cTn>
                        </p:par>
                        <p:par>
                          <p:cTn id="47" fill="hold" nodeType="afterGroup">
                            <p:stCondLst>
                              <p:cond delay="1000"/>
                            </p:stCondLst>
                            <p:childTnLst>
                              <p:par>
                                <p:cTn id="48" presetID="4" presetClass="entr" presetSubtype="32" fill="hold" grpId="0" nodeType="afterEffect">
                                  <p:stCondLst>
                                    <p:cond delay="0"/>
                                  </p:stCondLst>
                                  <p:childTnLst>
                                    <p:set>
                                      <p:cBhvr>
                                        <p:cTn id="49" dur="1" fill="hold">
                                          <p:stCondLst>
                                            <p:cond delay="0"/>
                                          </p:stCondLst>
                                        </p:cTn>
                                        <p:tgtEl>
                                          <p:spTgt spid="209944"/>
                                        </p:tgtEl>
                                        <p:attrNameLst>
                                          <p:attrName>style.visibility</p:attrName>
                                        </p:attrNameLst>
                                      </p:cBhvr>
                                      <p:to>
                                        <p:strVal val="visible"/>
                                      </p:to>
                                    </p:set>
                                    <p:animEffect transition="in" filter="box(out)">
                                      <p:cBhvr>
                                        <p:cTn id="50" dur="500"/>
                                        <p:tgtEl>
                                          <p:spTgt spid="209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33" grpId="0" animBg="1" autoUpdateAnimBg="0"/>
      <p:bldP spid="209934" grpId="0" animBg="1"/>
      <p:bldP spid="209935" grpId="0" animBg="1"/>
      <p:bldP spid="209936" grpId="0" animBg="1"/>
      <p:bldP spid="209937" grpId="0" autoUpdateAnimBg="0"/>
      <p:bldP spid="209938" grpId="0" autoUpdateAnimBg="0"/>
      <p:bldP spid="209939" grpId="0" autoUpdateAnimBg="0"/>
      <p:bldP spid="209940" grpId="0" autoUpdateAnimBg="0"/>
      <p:bldP spid="20994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val 13"/>
          <p:cNvSpPr>
            <a:spLocks noChangeArrowheads="1"/>
          </p:cNvSpPr>
          <p:nvPr/>
        </p:nvSpPr>
        <p:spPr bwMode="auto">
          <a:xfrm>
            <a:off x="7924800" y="1346200"/>
            <a:ext cx="2590800" cy="2514600"/>
          </a:xfrm>
          <a:prstGeom prst="ellipse">
            <a:avLst/>
          </a:prstGeom>
          <a:gradFill rotWithShape="0">
            <a:gsLst>
              <a:gs pos="0">
                <a:srgbClr val="47005E"/>
              </a:gs>
              <a:gs pos="100000">
                <a:srgbClr val="9900CC"/>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endParaRPr lang="pt-BR" altLang="en-US" sz="2400">
              <a:solidFill>
                <a:srgbClr val="9900CC"/>
              </a:solidFill>
            </a:endParaRPr>
          </a:p>
        </p:txBody>
      </p:sp>
      <p:sp>
        <p:nvSpPr>
          <p:cNvPr id="209934" name="Oval 14"/>
          <p:cNvSpPr>
            <a:spLocks noChangeArrowheads="1"/>
          </p:cNvSpPr>
          <p:nvPr/>
        </p:nvSpPr>
        <p:spPr bwMode="auto">
          <a:xfrm>
            <a:off x="5791200" y="1346200"/>
            <a:ext cx="3125788" cy="2514600"/>
          </a:xfrm>
          <a:prstGeom prst="ellipse">
            <a:avLst/>
          </a:prstGeom>
          <a:gradFill rotWithShape="0">
            <a:gsLst>
              <a:gs pos="0">
                <a:schemeClr val="accent1">
                  <a:gamma/>
                  <a:shade val="46275"/>
                  <a:invGamma/>
                </a:schemeClr>
              </a:gs>
              <a:gs pos="100000">
                <a:schemeClr val="accent1"/>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8196" name="Oval 15"/>
          <p:cNvSpPr>
            <a:spLocks noChangeArrowheads="1"/>
          </p:cNvSpPr>
          <p:nvPr/>
        </p:nvSpPr>
        <p:spPr bwMode="auto">
          <a:xfrm>
            <a:off x="3810000" y="1346200"/>
            <a:ext cx="2667000" cy="2514600"/>
          </a:xfrm>
          <a:prstGeom prst="ellipse">
            <a:avLst/>
          </a:prstGeom>
          <a:gradFill rotWithShape="0">
            <a:gsLst>
              <a:gs pos="0">
                <a:srgbClr val="760018"/>
              </a:gs>
              <a:gs pos="100000">
                <a:srgbClr val="FF0033"/>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12000" dirty="0"/>
          </a:p>
        </p:txBody>
      </p:sp>
      <p:sp>
        <p:nvSpPr>
          <p:cNvPr id="209936" name="Oval 16"/>
          <p:cNvSpPr>
            <a:spLocks noChangeArrowheads="1"/>
          </p:cNvSpPr>
          <p:nvPr/>
        </p:nvSpPr>
        <p:spPr bwMode="auto">
          <a:xfrm>
            <a:off x="1676400" y="1422400"/>
            <a:ext cx="2667000" cy="2514600"/>
          </a:xfrm>
          <a:prstGeom prst="ellipse">
            <a:avLst/>
          </a:prstGeom>
          <a:gradFill rotWithShape="0">
            <a:gsLst>
              <a:gs pos="0">
                <a:schemeClr val="accent2">
                  <a:gamma/>
                  <a:shade val="33333"/>
                  <a:invGamma/>
                </a:schemeClr>
              </a:gs>
              <a:gs pos="100000">
                <a:schemeClr val="accent2"/>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8198" name="Text Box 17"/>
          <p:cNvSpPr txBox="1">
            <a:spLocks noChangeArrowheads="1"/>
          </p:cNvSpPr>
          <p:nvPr/>
        </p:nvSpPr>
        <p:spPr bwMode="auto">
          <a:xfrm>
            <a:off x="2208214" y="2413001"/>
            <a:ext cx="17494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MISSION</a:t>
            </a:r>
          </a:p>
        </p:txBody>
      </p:sp>
      <p:sp>
        <p:nvSpPr>
          <p:cNvPr id="8199" name="Text Box 18"/>
          <p:cNvSpPr txBox="1">
            <a:spLocks noChangeArrowheads="1"/>
          </p:cNvSpPr>
          <p:nvPr/>
        </p:nvSpPr>
        <p:spPr bwMode="auto">
          <a:xfrm>
            <a:off x="4343400" y="2413001"/>
            <a:ext cx="228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STRUCTURE</a:t>
            </a:r>
          </a:p>
        </p:txBody>
      </p:sp>
      <p:sp>
        <p:nvSpPr>
          <p:cNvPr id="8200" name="Text Box 19"/>
          <p:cNvSpPr txBox="1">
            <a:spLocks noChangeArrowheads="1"/>
          </p:cNvSpPr>
          <p:nvPr/>
        </p:nvSpPr>
        <p:spPr bwMode="auto">
          <a:xfrm>
            <a:off x="6400800" y="2108200"/>
            <a:ext cx="251618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PERFORMANCE TRACKING SYSTEM</a:t>
            </a:r>
          </a:p>
        </p:txBody>
      </p:sp>
      <p:sp>
        <p:nvSpPr>
          <p:cNvPr id="8201" name="Text Box 20"/>
          <p:cNvSpPr txBox="1">
            <a:spLocks noChangeArrowheads="1"/>
          </p:cNvSpPr>
          <p:nvPr/>
        </p:nvSpPr>
        <p:spPr bwMode="auto">
          <a:xfrm>
            <a:off x="8866188" y="2413001"/>
            <a:ext cx="18018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REWARDS</a:t>
            </a:r>
          </a:p>
        </p:txBody>
      </p:sp>
      <p:grpSp>
        <p:nvGrpSpPr>
          <p:cNvPr id="6" name="Group 5"/>
          <p:cNvGrpSpPr>
            <a:grpSpLocks/>
          </p:cNvGrpSpPr>
          <p:nvPr/>
        </p:nvGrpSpPr>
        <p:grpSpPr bwMode="auto">
          <a:xfrm>
            <a:off x="1676401" y="914401"/>
            <a:ext cx="2443163" cy="5688013"/>
            <a:chOff x="152400" y="914400"/>
            <a:chExt cx="2443671" cy="5688105"/>
          </a:xfrm>
        </p:grpSpPr>
        <p:sp>
          <p:nvSpPr>
            <p:cNvPr id="8212" name="Oval 1"/>
            <p:cNvSpPr>
              <a:spLocks noChangeArrowheads="1"/>
            </p:cNvSpPr>
            <p:nvPr/>
          </p:nvSpPr>
          <p:spPr bwMode="auto">
            <a:xfrm>
              <a:off x="152400" y="914400"/>
              <a:ext cx="2443671"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13" name="Text Box 29"/>
            <p:cNvSpPr txBox="1">
              <a:spLocks noChangeArrowheads="1"/>
            </p:cNvSpPr>
            <p:nvPr/>
          </p:nvSpPr>
          <p:spPr bwMode="auto">
            <a:xfrm>
              <a:off x="521778" y="4847536"/>
              <a:ext cx="2074293" cy="17549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know what to do</a:t>
              </a:r>
            </a:p>
          </p:txBody>
        </p:sp>
      </p:grpSp>
      <p:grpSp>
        <p:nvGrpSpPr>
          <p:cNvPr id="5" name="Group 4"/>
          <p:cNvGrpSpPr>
            <a:grpSpLocks/>
          </p:cNvGrpSpPr>
          <p:nvPr/>
        </p:nvGrpSpPr>
        <p:grpSpPr bwMode="auto">
          <a:xfrm>
            <a:off x="3962400" y="914400"/>
            <a:ext cx="4954588" cy="5087938"/>
            <a:chOff x="2438399" y="914400"/>
            <a:chExt cx="4954587" cy="5087171"/>
          </a:xfrm>
        </p:grpSpPr>
        <p:sp>
          <p:nvSpPr>
            <p:cNvPr id="8210" name="Oval 17"/>
            <p:cNvSpPr>
              <a:spLocks noChangeArrowheads="1"/>
            </p:cNvSpPr>
            <p:nvPr/>
          </p:nvSpPr>
          <p:spPr bwMode="auto">
            <a:xfrm>
              <a:off x="2438399" y="914400"/>
              <a:ext cx="4954587"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11" name="Text Box 29"/>
            <p:cNvSpPr txBox="1">
              <a:spLocks noChangeArrowheads="1"/>
            </p:cNvSpPr>
            <p:nvPr/>
          </p:nvSpPr>
          <p:spPr bwMode="auto">
            <a:xfrm>
              <a:off x="3945507" y="4800600"/>
              <a:ext cx="2074293" cy="12009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can do it</a:t>
              </a:r>
            </a:p>
          </p:txBody>
        </p:sp>
      </p:grpSp>
      <p:grpSp>
        <p:nvGrpSpPr>
          <p:cNvPr id="4" name="Group 3"/>
          <p:cNvGrpSpPr>
            <a:grpSpLocks/>
          </p:cNvGrpSpPr>
          <p:nvPr/>
        </p:nvGrpSpPr>
        <p:grpSpPr bwMode="auto">
          <a:xfrm>
            <a:off x="8288338" y="914400"/>
            <a:ext cx="2532062" cy="5087938"/>
            <a:chOff x="6764907" y="914400"/>
            <a:chExt cx="2531493" cy="5087171"/>
          </a:xfrm>
        </p:grpSpPr>
        <p:sp>
          <p:nvSpPr>
            <p:cNvPr id="8208" name="Oval 18"/>
            <p:cNvSpPr>
              <a:spLocks noChangeArrowheads="1"/>
            </p:cNvSpPr>
            <p:nvPr/>
          </p:nvSpPr>
          <p:spPr bwMode="auto">
            <a:xfrm>
              <a:off x="7162800" y="914400"/>
              <a:ext cx="1981200"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09" name="Text Box 29"/>
            <p:cNvSpPr txBox="1">
              <a:spLocks noChangeArrowheads="1"/>
            </p:cNvSpPr>
            <p:nvPr/>
          </p:nvSpPr>
          <p:spPr bwMode="auto">
            <a:xfrm>
              <a:off x="6764907" y="4800600"/>
              <a:ext cx="2531493" cy="12009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will be rewarded</a:t>
              </a:r>
            </a:p>
          </p:txBody>
        </p:sp>
      </p:grpSp>
    </p:spTree>
    <p:extLst>
      <p:ext uri="{BB962C8B-B14F-4D97-AF65-F5344CB8AC3E}">
        <p14:creationId xmlns:p14="http://schemas.microsoft.com/office/powerpoint/2010/main" val="1509091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bwMode="auto">
          <a:xfrm>
            <a:off x="5600139" y="2736291"/>
            <a:ext cx="2052238" cy="861211"/>
          </a:xfrm>
          <a:prstGeom prst="ellipse">
            <a:avLst/>
          </a:prstGeom>
          <a:no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rgbClr val="FF0000"/>
                </a:solidFill>
                <a:latin typeface="Arial" charset="0"/>
              </a:rPr>
              <a:t>Organizational </a:t>
            </a:r>
          </a:p>
          <a:p>
            <a:pPr algn="ctr" fontAlgn="base">
              <a:spcBef>
                <a:spcPct val="0"/>
              </a:spcBef>
              <a:spcAft>
                <a:spcPct val="0"/>
              </a:spcAft>
            </a:pPr>
            <a:r>
              <a:rPr lang="en-US" sz="2000" b="1" dirty="0">
                <a:solidFill>
                  <a:srgbClr val="FF0000"/>
                </a:solidFill>
                <a:latin typeface="Arial" charset="0"/>
              </a:rPr>
              <a:t>Structure</a:t>
            </a:r>
          </a:p>
        </p:txBody>
      </p:sp>
      <p:pic>
        <p:nvPicPr>
          <p:cNvPr id="14" name="Picture 7" descr="C:\Users\Zvezdan\Documents\Adizes Phases\Phase 6\Pictures\downloa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942" y="3026007"/>
            <a:ext cx="1195898" cy="168311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Users\Zvezdan\Documents\Adizes Phases\Phase 6\Pictures\watermarked_thumbnail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83322" y="4709123"/>
            <a:ext cx="1411950" cy="174746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Zvezdan\Documents\Adizes Phases\Phase 6\Pictures\watermarked_thumbnail.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31727" y="4707273"/>
            <a:ext cx="1481669" cy="1749313"/>
          </a:xfrm>
          <a:prstGeom prst="rect">
            <a:avLst/>
          </a:prstGeom>
          <a:noFill/>
          <a:extLst>
            <a:ext uri="{909E8E84-426E-40DD-AFC4-6F175D3DCCD1}">
              <a14:hiddenFill xmlns:a14="http://schemas.microsoft.com/office/drawing/2010/main">
                <a:solidFill>
                  <a:srgbClr val="FFFFFF"/>
                </a:solidFill>
              </a14:hiddenFill>
            </a:ext>
          </a:extLst>
        </p:spPr>
      </p:pic>
      <p:pic>
        <p:nvPicPr>
          <p:cNvPr id="441346" name="Picture 2" descr="C:\Users\Zvezdan\Desktop\team-diagnosis32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91534" y="946592"/>
            <a:ext cx="2148924" cy="1432616"/>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p:cNvSpPr/>
          <p:nvPr/>
        </p:nvSpPr>
        <p:spPr bwMode="auto">
          <a:xfrm>
            <a:off x="3135858" y="463709"/>
            <a:ext cx="2363189" cy="724395"/>
          </a:xfrm>
          <a:prstGeom prst="ellipse">
            <a:avLst/>
          </a:prstGeom>
          <a:no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rgbClr val="FF0000"/>
                </a:solidFill>
                <a:latin typeface="Arial" charset="0"/>
              </a:rPr>
              <a:t>Syndag</a:t>
            </a:r>
          </a:p>
        </p:txBody>
      </p:sp>
      <p:pic>
        <p:nvPicPr>
          <p:cNvPr id="441347" name="Picture 3" descr="C:\Users\Zvezdan\Desktop\mission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82650" y="834893"/>
            <a:ext cx="1959421" cy="1456503"/>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bwMode="auto">
          <a:xfrm>
            <a:off x="7625629" y="463709"/>
            <a:ext cx="2363189" cy="724395"/>
          </a:xfrm>
          <a:prstGeom prst="ellipse">
            <a:avLst/>
          </a:prstGeom>
          <a:no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rgbClr val="FF0000"/>
                </a:solidFill>
                <a:latin typeface="Arial" charset="0"/>
              </a:rPr>
              <a:t>Mission</a:t>
            </a:r>
          </a:p>
        </p:txBody>
      </p:sp>
      <p:cxnSp>
        <p:nvCxnSpPr>
          <p:cNvPr id="18" name="Straight Arrow Connector 17"/>
          <p:cNvCxnSpPr/>
          <p:nvPr/>
        </p:nvCxnSpPr>
        <p:spPr bwMode="auto">
          <a:xfrm>
            <a:off x="5786168" y="834892"/>
            <a:ext cx="1609104" cy="0"/>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41348" name="Picture 4" descr="C:\Users\Zvezdan\Desktop\download.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26371" y="2362470"/>
            <a:ext cx="1873769" cy="998028"/>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p:cNvCxnSpPr/>
          <p:nvPr/>
        </p:nvCxnSpPr>
        <p:spPr bwMode="auto">
          <a:xfrm flipH="1">
            <a:off x="7395272" y="1360410"/>
            <a:ext cx="1112852" cy="1375881"/>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Arrow Connector 22"/>
          <p:cNvCxnSpPr/>
          <p:nvPr/>
        </p:nvCxnSpPr>
        <p:spPr bwMode="auto">
          <a:xfrm>
            <a:off x="4481865" y="1360410"/>
            <a:ext cx="1300785" cy="1375881"/>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Arrow Connector 26"/>
          <p:cNvCxnSpPr/>
          <p:nvPr/>
        </p:nvCxnSpPr>
        <p:spPr bwMode="auto">
          <a:xfrm flipH="1">
            <a:off x="8239294" y="1360410"/>
            <a:ext cx="615628" cy="2738625"/>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p:cNvCxnSpPr/>
          <p:nvPr/>
        </p:nvCxnSpPr>
        <p:spPr bwMode="auto">
          <a:xfrm>
            <a:off x="7001984" y="3710048"/>
            <a:ext cx="623644" cy="546348"/>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Oval 7"/>
          <p:cNvSpPr/>
          <p:nvPr/>
        </p:nvSpPr>
        <p:spPr bwMode="auto">
          <a:xfrm>
            <a:off x="7395272" y="4256397"/>
            <a:ext cx="1688044" cy="724395"/>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chemeClr val="bg1"/>
                </a:solidFill>
                <a:latin typeface="Arial" charset="0"/>
              </a:rPr>
              <a:t>Objectives</a:t>
            </a:r>
          </a:p>
        </p:txBody>
      </p:sp>
      <p:sp>
        <p:nvSpPr>
          <p:cNvPr id="11" name="Oval 10"/>
          <p:cNvSpPr/>
          <p:nvPr/>
        </p:nvSpPr>
        <p:spPr bwMode="auto">
          <a:xfrm>
            <a:off x="4481864" y="4203628"/>
            <a:ext cx="1688044" cy="724395"/>
          </a:xfrm>
          <a:prstGeom prst="ellipse">
            <a:avLst/>
          </a:prstGeom>
          <a:solidFill>
            <a:srgbClr val="4B55B5"/>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chemeClr val="bg1"/>
                </a:solidFill>
                <a:latin typeface="Arial" charset="0"/>
              </a:rPr>
              <a:t>Plan</a:t>
            </a:r>
          </a:p>
        </p:txBody>
      </p:sp>
      <p:cxnSp>
        <p:nvCxnSpPr>
          <p:cNvPr id="31" name="Straight Arrow Connector 30"/>
          <p:cNvCxnSpPr/>
          <p:nvPr/>
        </p:nvCxnSpPr>
        <p:spPr bwMode="auto">
          <a:xfrm flipH="1">
            <a:off x="6296010" y="4487330"/>
            <a:ext cx="1017797" cy="0"/>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Oval 33"/>
          <p:cNvSpPr/>
          <p:nvPr/>
        </p:nvSpPr>
        <p:spPr bwMode="auto">
          <a:xfrm>
            <a:off x="1611610" y="4000200"/>
            <a:ext cx="1688044" cy="724395"/>
          </a:xfrm>
          <a:prstGeom prst="ellipse">
            <a:avLst/>
          </a:prstGeom>
          <a:solidFill>
            <a:srgbClr val="FF0000"/>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chemeClr val="bg1"/>
                </a:solidFill>
                <a:latin typeface="Arial" charset="0"/>
              </a:rPr>
              <a:t>Actual</a:t>
            </a:r>
          </a:p>
        </p:txBody>
      </p:sp>
      <p:cxnSp>
        <p:nvCxnSpPr>
          <p:cNvPr id="35" name="Straight Arrow Connector 34"/>
          <p:cNvCxnSpPr/>
          <p:nvPr/>
        </p:nvCxnSpPr>
        <p:spPr bwMode="auto">
          <a:xfrm flipH="1">
            <a:off x="5600140" y="3657298"/>
            <a:ext cx="366937" cy="441736"/>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Arrow Connector 36"/>
          <p:cNvCxnSpPr/>
          <p:nvPr/>
        </p:nvCxnSpPr>
        <p:spPr bwMode="auto">
          <a:xfrm flipH="1" flipV="1">
            <a:off x="3463160" y="4487331"/>
            <a:ext cx="854293" cy="51631"/>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3823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9"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fill="hold"/>
                                        <p:tgtEl>
                                          <p:spTgt spid="23"/>
                                        </p:tgtEl>
                                        <p:attrNameLst>
                                          <p:attrName>ppt_x</p:attrName>
                                        </p:attrNameLst>
                                      </p:cBhvr>
                                      <p:tavLst>
                                        <p:tav tm="0">
                                          <p:val>
                                            <p:strVal val="0-#ppt_w/2"/>
                                          </p:val>
                                        </p:tav>
                                        <p:tav tm="100000">
                                          <p:val>
                                            <p:strVal val="#ppt_x"/>
                                          </p:val>
                                        </p:tav>
                                      </p:tavLst>
                                    </p:anim>
                                    <p:anim calcmode="lin" valueType="num">
                                      <p:cBhvr additive="base">
                                        <p:cTn id="19"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fill="hold"/>
                                        <p:tgtEl>
                                          <p:spTgt spid="22"/>
                                        </p:tgtEl>
                                        <p:attrNameLst>
                                          <p:attrName>ppt_x</p:attrName>
                                        </p:attrNameLst>
                                      </p:cBhvr>
                                      <p:tavLst>
                                        <p:tav tm="0">
                                          <p:val>
                                            <p:strVal val="1+#ppt_w/2"/>
                                          </p:val>
                                        </p:tav>
                                        <p:tav tm="100000">
                                          <p:val>
                                            <p:strVal val="#ppt_x"/>
                                          </p:val>
                                        </p:tav>
                                      </p:tavLst>
                                    </p:anim>
                                    <p:anim calcmode="lin" valueType="num">
                                      <p:cBhvr additive="base">
                                        <p:cTn id="25"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1+#ppt_w/2"/>
                                          </p:val>
                                        </p:tav>
                                        <p:tav tm="100000">
                                          <p:val>
                                            <p:strVal val="#ppt_x"/>
                                          </p:val>
                                        </p:tav>
                                      </p:tavLst>
                                    </p:anim>
                                    <p:anim calcmode="lin" valueType="num">
                                      <p:cBhvr additive="base">
                                        <p:cTn id="36"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9"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0-#ppt_w/2"/>
                                          </p:val>
                                        </p:tav>
                                        <p:tav tm="100000">
                                          <p:val>
                                            <p:strVal val="#ppt_x"/>
                                          </p:val>
                                        </p:tav>
                                      </p:tavLst>
                                    </p:anim>
                                    <p:anim calcmode="lin" valueType="num">
                                      <p:cBhvr additive="base">
                                        <p:cTn id="42"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 calcmode="lin" valueType="num">
                                      <p:cBhvr additive="base">
                                        <p:cTn id="52" dur="500" fill="hold"/>
                                        <p:tgtEl>
                                          <p:spTgt spid="31"/>
                                        </p:tgtEl>
                                        <p:attrNameLst>
                                          <p:attrName>ppt_x</p:attrName>
                                        </p:attrNameLst>
                                      </p:cBhvr>
                                      <p:tavLst>
                                        <p:tav tm="0">
                                          <p:val>
                                            <p:strVal val="1+#ppt_w/2"/>
                                          </p:val>
                                        </p:tav>
                                        <p:tav tm="100000">
                                          <p:val>
                                            <p:strVal val="#ppt_x"/>
                                          </p:val>
                                        </p:tav>
                                      </p:tavLst>
                                    </p:anim>
                                    <p:anim calcmode="lin" valueType="num">
                                      <p:cBhvr additive="base">
                                        <p:cTn id="53"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3" fill="hold" nodeType="click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additive="base">
                                        <p:cTn id="58" dur="500" fill="hold"/>
                                        <p:tgtEl>
                                          <p:spTgt spid="35"/>
                                        </p:tgtEl>
                                        <p:attrNameLst>
                                          <p:attrName>ppt_x</p:attrName>
                                        </p:attrNameLst>
                                      </p:cBhvr>
                                      <p:tavLst>
                                        <p:tav tm="0">
                                          <p:val>
                                            <p:strVal val="1+#ppt_w/2"/>
                                          </p:val>
                                        </p:tav>
                                        <p:tav tm="100000">
                                          <p:val>
                                            <p:strVal val="#ppt_x"/>
                                          </p:val>
                                        </p:tav>
                                      </p:tavLst>
                                    </p:anim>
                                    <p:anim calcmode="lin" valueType="num">
                                      <p:cBhvr additive="base">
                                        <p:cTn id="59" dur="500" fill="hold"/>
                                        <p:tgtEl>
                                          <p:spTgt spid="35"/>
                                        </p:tgtEl>
                                        <p:attrNameLst>
                                          <p:attrName>ppt_y</p:attrName>
                                        </p:attrNameLst>
                                      </p:cBhvr>
                                      <p:tavLst>
                                        <p:tav tm="0">
                                          <p:val>
                                            <p:strVal val="0-#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down)">
                                      <p:cBhvr>
                                        <p:cTn id="64" dur="5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2" fill="hold" nodeType="clickEffect">
                                  <p:stCondLst>
                                    <p:cond delay="0"/>
                                  </p:stCondLst>
                                  <p:childTnLst>
                                    <p:set>
                                      <p:cBhvr>
                                        <p:cTn id="68" dur="1" fill="hold">
                                          <p:stCondLst>
                                            <p:cond delay="0"/>
                                          </p:stCondLst>
                                        </p:cTn>
                                        <p:tgtEl>
                                          <p:spTgt spid="37"/>
                                        </p:tgtEl>
                                        <p:attrNameLst>
                                          <p:attrName>style.visibility</p:attrName>
                                        </p:attrNameLst>
                                      </p:cBhvr>
                                      <p:to>
                                        <p:strVal val="visible"/>
                                      </p:to>
                                    </p:set>
                                    <p:anim calcmode="lin" valueType="num">
                                      <p:cBhvr additive="base">
                                        <p:cTn id="69" dur="500" fill="hold"/>
                                        <p:tgtEl>
                                          <p:spTgt spid="37"/>
                                        </p:tgtEl>
                                        <p:attrNameLst>
                                          <p:attrName>ppt_x</p:attrName>
                                        </p:attrNameLst>
                                      </p:cBhvr>
                                      <p:tavLst>
                                        <p:tav tm="0">
                                          <p:val>
                                            <p:strVal val="1+#ppt_w/2"/>
                                          </p:val>
                                        </p:tav>
                                        <p:tav tm="100000">
                                          <p:val>
                                            <p:strVal val="#ppt_x"/>
                                          </p:val>
                                        </p:tav>
                                      </p:tavLst>
                                    </p:anim>
                                    <p:anim calcmode="lin" valueType="num">
                                      <p:cBhvr additive="base">
                                        <p:cTn id="70"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wipe(down)">
                                      <p:cBhvr>
                                        <p:cTn id="7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8" grpId="0" animBg="1"/>
      <p:bldP spid="11"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2284617" y="1460961"/>
            <a:ext cx="7643812" cy="3785652"/>
          </a:xfrm>
          <a:prstGeom prst="rect">
            <a:avLst/>
          </a:prstGeom>
          <a:noFill/>
        </p:spPr>
        <p:txBody>
          <a:bodyPr>
            <a:spAutoFit/>
          </a:bodyPr>
          <a:lstStyle/>
          <a:p>
            <a:pPr>
              <a:defRPr/>
            </a:pPr>
            <a:r>
              <a:rPr lang="en-US" sz="4000" b="1" dirty="0">
                <a:latin typeface="Comic Sans MS" pitchFamily="66" charset="0"/>
              </a:rPr>
              <a:t>Our tools to measure</a:t>
            </a:r>
            <a:r>
              <a:rPr lang="sr-Latn-CS" sz="4000" b="1" dirty="0">
                <a:latin typeface="Comic Sans MS" pitchFamily="66" charset="0"/>
              </a:rPr>
              <a:t>:</a:t>
            </a:r>
            <a:endParaRPr lang="en-US" sz="4000" b="1" dirty="0">
              <a:latin typeface="Comic Sans MS" pitchFamily="66" charset="0"/>
            </a:endParaRPr>
          </a:p>
          <a:p>
            <a:pPr>
              <a:defRPr/>
            </a:pPr>
            <a:endParaRPr lang="sr-Latn-CS" sz="4000" b="1" dirty="0">
              <a:solidFill>
                <a:srgbClr val="C00000"/>
              </a:solidFill>
              <a:latin typeface="Comic Sans MS" pitchFamily="66" charset="0"/>
            </a:endParaRPr>
          </a:p>
          <a:p>
            <a:pPr marL="342900" indent="-342900">
              <a:buFont typeface="+mj-lt"/>
              <a:buAutoNum type="arabicPeriod"/>
              <a:defRPr/>
            </a:pPr>
            <a:r>
              <a:rPr lang="en-US" sz="4000" b="1" dirty="0">
                <a:solidFill>
                  <a:srgbClr val="C00000"/>
                </a:solidFill>
                <a:latin typeface="Comic Sans MS" pitchFamily="66" charset="0"/>
              </a:rPr>
              <a:t>Blue book – planning</a:t>
            </a:r>
          </a:p>
          <a:p>
            <a:pPr marL="342900" indent="-342900">
              <a:buFont typeface="+mj-lt"/>
              <a:buAutoNum type="arabicPeriod"/>
              <a:defRPr/>
            </a:pPr>
            <a:r>
              <a:rPr lang="en-US" sz="4000" b="1" dirty="0">
                <a:solidFill>
                  <a:srgbClr val="C00000"/>
                </a:solidFill>
                <a:latin typeface="Comic Sans MS" pitchFamily="66" charset="0"/>
              </a:rPr>
              <a:t>Red book - actual</a:t>
            </a:r>
            <a:endParaRPr lang="sr-Latn-CS" sz="4000" b="1" dirty="0">
              <a:solidFill>
                <a:srgbClr val="C00000"/>
              </a:solidFill>
              <a:latin typeface="Comic Sans MS" pitchFamily="66" charset="0"/>
            </a:endParaRPr>
          </a:p>
          <a:p>
            <a:pPr marL="342900" indent="-342900">
              <a:buFont typeface="+mj-lt"/>
              <a:buAutoNum type="arabicPeriod"/>
              <a:defRPr/>
            </a:pPr>
            <a:r>
              <a:rPr lang="en-US" sz="4000" b="1" dirty="0">
                <a:solidFill>
                  <a:srgbClr val="C00000"/>
                </a:solidFill>
                <a:latin typeface="Comic Sans MS" pitchFamily="66" charset="0"/>
              </a:rPr>
              <a:t>Black book - objectives</a:t>
            </a:r>
            <a:endParaRPr lang="sr-Latn-CS" sz="4000" b="1" dirty="0">
              <a:solidFill>
                <a:srgbClr val="C00000"/>
              </a:solidFill>
              <a:latin typeface="Comic Sans MS" pitchFamily="66" charset="0"/>
            </a:endParaRPr>
          </a:p>
          <a:p>
            <a:pPr marL="342900" indent="-342900">
              <a:buFont typeface="+mj-lt"/>
              <a:buAutoNum type="arabicPeriod"/>
              <a:defRPr/>
            </a:pPr>
            <a:r>
              <a:rPr lang="en-US" sz="4000" b="1" dirty="0">
                <a:solidFill>
                  <a:srgbClr val="C00000"/>
                </a:solidFill>
                <a:latin typeface="Comic Sans MS" pitchFamily="66" charset="0"/>
              </a:rPr>
              <a:t>KPIs +</a:t>
            </a:r>
            <a:endParaRPr lang="sr-Latn-CS" sz="4000" b="1" dirty="0">
              <a:solidFill>
                <a:srgbClr val="C00000"/>
              </a:solidFill>
              <a:latin typeface="Comic Sans MS" pitchFamily="66" charset="0"/>
            </a:endParaRPr>
          </a:p>
        </p:txBody>
      </p:sp>
    </p:spTree>
    <p:extLst>
      <p:ext uri="{BB962C8B-B14F-4D97-AF65-F5344CB8AC3E}">
        <p14:creationId xmlns:p14="http://schemas.microsoft.com/office/powerpoint/2010/main" val="2057096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97286" y="2395285"/>
            <a:ext cx="4560864" cy="1200329"/>
          </a:xfrm>
          <a:prstGeom prst="rect">
            <a:avLst/>
          </a:prstGeom>
          <a:noFill/>
        </p:spPr>
        <p:txBody>
          <a:bodyPr wrap="none" rtlCol="0">
            <a:spAutoFit/>
          </a:bodyPr>
          <a:lstStyle/>
          <a:p>
            <a:pPr algn="ctr"/>
            <a:r>
              <a:rPr lang="en-US" sz="7200" b="1" dirty="0">
                <a:effectLst>
                  <a:outerShdw blurRad="38100" dist="38100" dir="2700000" algn="tl">
                    <a:srgbClr val="000000">
                      <a:alpha val="43137"/>
                    </a:srgbClr>
                  </a:outerShdw>
                </a:effectLst>
              </a:rPr>
              <a:t>Black book </a:t>
            </a:r>
          </a:p>
        </p:txBody>
      </p:sp>
      <p:sp>
        <p:nvSpPr>
          <p:cNvPr id="3" name="Rectangle 2"/>
          <p:cNvSpPr/>
          <p:nvPr/>
        </p:nvSpPr>
        <p:spPr>
          <a:xfrm>
            <a:off x="2728759" y="4617470"/>
            <a:ext cx="6733896" cy="1323439"/>
          </a:xfrm>
          <a:prstGeom prst="rect">
            <a:avLst/>
          </a:prstGeom>
        </p:spPr>
        <p:txBody>
          <a:bodyPr wrap="square">
            <a:spAutoFit/>
          </a:bodyPr>
          <a:lstStyle/>
          <a:p>
            <a:pPr algn="ctr"/>
            <a:r>
              <a:rPr lang="en-US" sz="4000" dirty="0"/>
              <a:t>"We are hitting the target but missing the point". </a:t>
            </a:r>
          </a:p>
        </p:txBody>
      </p:sp>
    </p:spTree>
    <p:extLst>
      <p:ext uri="{BB962C8B-B14F-4D97-AF65-F5344CB8AC3E}">
        <p14:creationId xmlns:p14="http://schemas.microsoft.com/office/powerpoint/2010/main" val="1956580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54601" y="1397001"/>
            <a:ext cx="1710725" cy="461665"/>
          </a:xfrm>
          <a:prstGeom prst="rect">
            <a:avLst/>
          </a:prstGeom>
          <a:noFill/>
        </p:spPr>
        <p:txBody>
          <a:bodyPr wrap="none" rtlCol="0">
            <a:spAutoFit/>
          </a:bodyPr>
          <a:lstStyle/>
          <a:p>
            <a:r>
              <a:rPr lang="en-US" sz="2400" b="1" dirty="0">
                <a:solidFill>
                  <a:srgbClr val="0070C0"/>
                </a:solidFill>
                <a:latin typeface="Comic Sans MS" pitchFamily="66" charset="0"/>
                <a:cs typeface="Arial" pitchFamily="34" charset="0"/>
              </a:rPr>
              <a:t>MISSION</a:t>
            </a:r>
          </a:p>
        </p:txBody>
      </p:sp>
      <p:sp>
        <p:nvSpPr>
          <p:cNvPr id="4" name="TextBox 3"/>
          <p:cNvSpPr txBox="1"/>
          <p:nvPr/>
        </p:nvSpPr>
        <p:spPr>
          <a:xfrm>
            <a:off x="1703828" y="3470197"/>
            <a:ext cx="1972015" cy="1323439"/>
          </a:xfrm>
          <a:prstGeom prst="rect">
            <a:avLst/>
          </a:prstGeom>
          <a:noFill/>
        </p:spPr>
        <p:txBody>
          <a:bodyPr wrap="none" rtlCol="0">
            <a:spAutoFit/>
          </a:bodyPr>
          <a:lstStyle/>
          <a:p>
            <a:pPr algn="ctr"/>
            <a:r>
              <a:rPr lang="en-US" sz="2000" dirty="0">
                <a:latin typeface="Comic Sans MS" pitchFamily="66" charset="0"/>
                <a:cs typeface="Arial" pitchFamily="34" charset="0"/>
              </a:rPr>
              <a:t>CLIENT </a:t>
            </a:r>
          </a:p>
          <a:p>
            <a:pPr algn="ctr"/>
            <a:r>
              <a:rPr lang="en-US" sz="2000" dirty="0">
                <a:latin typeface="Comic Sans MS" pitchFamily="66" charset="0"/>
                <a:cs typeface="Arial" pitchFamily="34" charset="0"/>
              </a:rPr>
              <a:t>INTERFACE</a:t>
            </a:r>
          </a:p>
          <a:p>
            <a:pPr algn="ctr"/>
            <a:endParaRPr lang="en-US" sz="2000" dirty="0">
              <a:latin typeface="Comic Sans MS" pitchFamily="66" charset="0"/>
              <a:cs typeface="Arial" pitchFamily="34" charset="0"/>
            </a:endParaRPr>
          </a:p>
          <a:p>
            <a:pPr algn="ctr"/>
            <a:r>
              <a:rPr lang="en-US" sz="2000" dirty="0">
                <a:latin typeface="Comic Sans MS" pitchFamily="66" charset="0"/>
                <a:cs typeface="Arial" pitchFamily="34" charset="0"/>
              </a:rPr>
              <a:t>Who needs us?</a:t>
            </a:r>
          </a:p>
        </p:txBody>
      </p:sp>
      <p:sp>
        <p:nvSpPr>
          <p:cNvPr id="5" name="TextBox 4"/>
          <p:cNvSpPr txBox="1"/>
          <p:nvPr/>
        </p:nvSpPr>
        <p:spPr>
          <a:xfrm>
            <a:off x="3485071" y="3470197"/>
            <a:ext cx="2752677" cy="1323439"/>
          </a:xfrm>
          <a:prstGeom prst="rect">
            <a:avLst/>
          </a:prstGeom>
          <a:noFill/>
        </p:spPr>
        <p:txBody>
          <a:bodyPr wrap="none" rtlCol="0">
            <a:spAutoFit/>
          </a:bodyPr>
          <a:lstStyle/>
          <a:p>
            <a:pPr algn="ctr"/>
            <a:r>
              <a:rPr lang="en-US" sz="2000" dirty="0">
                <a:latin typeface="Comic Sans MS" pitchFamily="66" charset="0"/>
                <a:cs typeface="Arial" pitchFamily="34" charset="0"/>
              </a:rPr>
              <a:t>TRANSFORMATION</a:t>
            </a:r>
          </a:p>
          <a:p>
            <a:pPr algn="ctr"/>
            <a:endParaRPr lang="en-US" sz="2000" dirty="0">
              <a:latin typeface="Comic Sans MS" pitchFamily="66" charset="0"/>
              <a:cs typeface="Arial" pitchFamily="34" charset="0"/>
            </a:endParaRPr>
          </a:p>
          <a:p>
            <a:pPr algn="ctr"/>
            <a:r>
              <a:rPr lang="en-US" sz="2000" dirty="0">
                <a:latin typeface="Comic Sans MS" pitchFamily="66" charset="0"/>
                <a:cs typeface="Arial" pitchFamily="34" charset="0"/>
              </a:rPr>
              <a:t>How do we </a:t>
            </a:r>
          </a:p>
          <a:p>
            <a:pPr algn="ctr"/>
            <a:r>
              <a:rPr lang="en-US" sz="2000" dirty="0">
                <a:latin typeface="Comic Sans MS" pitchFamily="66" charset="0"/>
                <a:cs typeface="Arial" pitchFamily="34" charset="0"/>
              </a:rPr>
              <a:t>provide it?</a:t>
            </a:r>
          </a:p>
        </p:txBody>
      </p:sp>
      <p:sp>
        <p:nvSpPr>
          <p:cNvPr id="6" name="TextBox 5"/>
          <p:cNvSpPr txBox="1"/>
          <p:nvPr/>
        </p:nvSpPr>
        <p:spPr>
          <a:xfrm>
            <a:off x="6171209" y="3470197"/>
            <a:ext cx="2146742" cy="1323439"/>
          </a:xfrm>
          <a:prstGeom prst="rect">
            <a:avLst/>
          </a:prstGeom>
          <a:noFill/>
        </p:spPr>
        <p:txBody>
          <a:bodyPr wrap="none" rtlCol="0">
            <a:spAutoFit/>
          </a:bodyPr>
          <a:lstStyle/>
          <a:p>
            <a:pPr algn="ctr"/>
            <a:r>
              <a:rPr lang="en-US" sz="2000" dirty="0">
                <a:latin typeface="Comic Sans MS" pitchFamily="66" charset="0"/>
                <a:cs typeface="Arial" pitchFamily="34" charset="0"/>
              </a:rPr>
              <a:t>HUMAN </a:t>
            </a:r>
          </a:p>
          <a:p>
            <a:pPr algn="ctr"/>
            <a:r>
              <a:rPr lang="en-US" sz="2000" dirty="0">
                <a:latin typeface="Comic Sans MS" pitchFamily="66" charset="0"/>
                <a:cs typeface="Arial" pitchFamily="34" charset="0"/>
              </a:rPr>
              <a:t>RESOURCES</a:t>
            </a:r>
            <a:endParaRPr lang="sr-Latn-CS" sz="2000" dirty="0">
              <a:latin typeface="Comic Sans MS" pitchFamily="66" charset="0"/>
              <a:cs typeface="Arial" pitchFamily="34" charset="0"/>
            </a:endParaRPr>
          </a:p>
          <a:p>
            <a:pPr algn="ctr"/>
            <a:endParaRPr lang="en-US" sz="2000" dirty="0">
              <a:latin typeface="Comic Sans MS" pitchFamily="66" charset="0"/>
              <a:cs typeface="Arial" pitchFamily="34" charset="0"/>
            </a:endParaRPr>
          </a:p>
          <a:p>
            <a:pPr algn="ctr"/>
            <a:r>
              <a:rPr lang="en-US" sz="2000" dirty="0">
                <a:latin typeface="Comic Sans MS" pitchFamily="66" charset="0"/>
                <a:cs typeface="Arial" pitchFamily="34" charset="0"/>
              </a:rPr>
              <a:t>Who does what</a:t>
            </a:r>
            <a:r>
              <a:rPr lang="sr-Latn-CS" sz="2000" dirty="0">
                <a:latin typeface="Comic Sans MS" pitchFamily="66" charset="0"/>
                <a:cs typeface="Arial" pitchFamily="34" charset="0"/>
              </a:rPr>
              <a:t>?</a:t>
            </a:r>
            <a:endParaRPr lang="en-US" sz="2000" dirty="0">
              <a:latin typeface="Comic Sans MS" pitchFamily="66" charset="0"/>
              <a:cs typeface="Arial" pitchFamily="34" charset="0"/>
            </a:endParaRPr>
          </a:p>
        </p:txBody>
      </p:sp>
      <p:sp>
        <p:nvSpPr>
          <p:cNvPr id="7" name="TextBox 6"/>
          <p:cNvSpPr txBox="1"/>
          <p:nvPr/>
        </p:nvSpPr>
        <p:spPr>
          <a:xfrm>
            <a:off x="8031007" y="3470196"/>
            <a:ext cx="2475357" cy="1631216"/>
          </a:xfrm>
          <a:prstGeom prst="rect">
            <a:avLst/>
          </a:prstGeom>
          <a:noFill/>
        </p:spPr>
        <p:txBody>
          <a:bodyPr wrap="none" rtlCol="0">
            <a:spAutoFit/>
          </a:bodyPr>
          <a:lstStyle/>
          <a:p>
            <a:pPr algn="ctr"/>
            <a:r>
              <a:rPr lang="en-US" sz="2000" dirty="0">
                <a:latin typeface="Comic Sans MS" pitchFamily="66" charset="0"/>
                <a:cs typeface="Arial" pitchFamily="34" charset="0"/>
              </a:rPr>
              <a:t>FINANCIAL</a:t>
            </a:r>
          </a:p>
          <a:p>
            <a:pPr algn="ctr"/>
            <a:r>
              <a:rPr lang="en-US" sz="2000" dirty="0">
                <a:latin typeface="Comic Sans MS" pitchFamily="66" charset="0"/>
                <a:cs typeface="Arial" pitchFamily="34" charset="0"/>
              </a:rPr>
              <a:t>RESOURCES</a:t>
            </a:r>
            <a:endParaRPr lang="sr-Latn-CS" sz="2000" dirty="0">
              <a:latin typeface="Comic Sans MS" pitchFamily="66" charset="0"/>
              <a:cs typeface="Arial" pitchFamily="34" charset="0"/>
            </a:endParaRPr>
          </a:p>
          <a:p>
            <a:pPr algn="ctr"/>
            <a:endParaRPr lang="en-US" sz="2000" dirty="0">
              <a:latin typeface="Comic Sans MS" pitchFamily="66" charset="0"/>
              <a:cs typeface="Arial" pitchFamily="34" charset="0"/>
            </a:endParaRPr>
          </a:p>
          <a:p>
            <a:pPr algn="ctr"/>
            <a:r>
              <a:rPr lang="en-US" sz="2000" dirty="0">
                <a:latin typeface="Comic Sans MS" pitchFamily="66" charset="0"/>
                <a:cs typeface="Arial" pitchFamily="34" charset="0"/>
              </a:rPr>
              <a:t>With which </a:t>
            </a:r>
          </a:p>
          <a:p>
            <a:pPr algn="ctr"/>
            <a:r>
              <a:rPr lang="en-US" sz="2000" dirty="0">
                <a:latin typeface="Comic Sans MS" pitchFamily="66" charset="0"/>
                <a:cs typeface="Arial" pitchFamily="34" charset="0"/>
              </a:rPr>
              <a:t>planned resources</a:t>
            </a:r>
            <a:r>
              <a:rPr lang="sr-Latn-CS" sz="2000" dirty="0">
                <a:latin typeface="Comic Sans MS" pitchFamily="66" charset="0"/>
                <a:cs typeface="Arial" pitchFamily="34" charset="0"/>
              </a:rPr>
              <a:t>?</a:t>
            </a:r>
            <a:endParaRPr lang="en-US" sz="2000" dirty="0">
              <a:latin typeface="Comic Sans MS" pitchFamily="66" charset="0"/>
              <a:cs typeface="Arial" pitchFamily="34" charset="0"/>
            </a:endParaRPr>
          </a:p>
        </p:txBody>
      </p:sp>
      <p:cxnSp>
        <p:nvCxnSpPr>
          <p:cNvPr id="9" name="Straight Arrow Connector 8"/>
          <p:cNvCxnSpPr>
            <a:endCxn id="7" idx="0"/>
          </p:cNvCxnSpPr>
          <p:nvPr/>
        </p:nvCxnSpPr>
        <p:spPr bwMode="auto">
          <a:xfrm>
            <a:off x="5943601" y="1946196"/>
            <a:ext cx="3325085" cy="1524000"/>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10" name="Straight Arrow Connector 9"/>
          <p:cNvCxnSpPr>
            <a:endCxn id="6" idx="0"/>
          </p:cNvCxnSpPr>
          <p:nvPr/>
        </p:nvCxnSpPr>
        <p:spPr bwMode="auto">
          <a:xfrm>
            <a:off x="5943598" y="1946196"/>
            <a:ext cx="1300982" cy="1524000"/>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12" name="Straight Arrow Connector 11"/>
          <p:cNvCxnSpPr>
            <a:endCxn id="5" idx="0"/>
          </p:cNvCxnSpPr>
          <p:nvPr/>
        </p:nvCxnSpPr>
        <p:spPr bwMode="auto">
          <a:xfrm flipH="1">
            <a:off x="4861409" y="1946196"/>
            <a:ext cx="1082194" cy="1524000"/>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14" name="Straight Arrow Connector 13"/>
          <p:cNvCxnSpPr>
            <a:endCxn id="4" idx="0"/>
          </p:cNvCxnSpPr>
          <p:nvPr/>
        </p:nvCxnSpPr>
        <p:spPr bwMode="auto">
          <a:xfrm flipH="1">
            <a:off x="2689835" y="1946196"/>
            <a:ext cx="3253770" cy="1524000"/>
          </a:xfrm>
          <a:prstGeom prst="straightConnector1">
            <a:avLst/>
          </a:prstGeom>
          <a:solidFill>
            <a:schemeClr val="accent1"/>
          </a:solidFill>
          <a:ln w="57150" cap="flat" cmpd="sng" algn="ctr">
            <a:solidFill>
              <a:schemeClr val="tx1"/>
            </a:solidFill>
            <a:prstDash val="solid"/>
            <a:round/>
            <a:headEnd type="none" w="sm" len="sm"/>
            <a:tailEnd type="arrow"/>
          </a:ln>
          <a:effectLst/>
        </p:spPr>
      </p:cxnSp>
      <p:sp>
        <p:nvSpPr>
          <p:cNvPr id="13" name="TextBox 12"/>
          <p:cNvSpPr txBox="1"/>
          <p:nvPr/>
        </p:nvSpPr>
        <p:spPr>
          <a:xfrm>
            <a:off x="1950613" y="620068"/>
            <a:ext cx="7991290" cy="461665"/>
          </a:xfrm>
          <a:prstGeom prst="rect">
            <a:avLst/>
          </a:prstGeom>
          <a:noFill/>
        </p:spPr>
        <p:txBody>
          <a:bodyPr wrap="none" rtlCol="0">
            <a:spAutoFit/>
          </a:bodyPr>
          <a:lstStyle/>
          <a:p>
            <a:r>
              <a:rPr lang="en-US" sz="2400" b="1" dirty="0">
                <a:solidFill>
                  <a:srgbClr val="C00000"/>
                </a:solidFill>
                <a:latin typeface="Comic Sans MS" pitchFamily="66" charset="0"/>
                <a:cs typeface="Arial" pitchFamily="34" charset="0"/>
              </a:rPr>
              <a:t>EVERY ORGANIZATION HAS FOUR SUBSYSTEMS</a:t>
            </a:r>
          </a:p>
        </p:txBody>
      </p:sp>
    </p:spTree>
    <p:extLst>
      <p:ext uri="{BB962C8B-B14F-4D97-AF65-F5344CB8AC3E}">
        <p14:creationId xmlns:p14="http://schemas.microsoft.com/office/powerpoint/2010/main" val="2854912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105401" y="1854201"/>
            <a:ext cx="1710725" cy="461665"/>
          </a:xfrm>
          <a:prstGeom prst="rect">
            <a:avLst/>
          </a:prstGeom>
          <a:noFill/>
        </p:spPr>
        <p:txBody>
          <a:bodyPr wrap="none" rtlCol="0">
            <a:spAutoFit/>
          </a:bodyPr>
          <a:lstStyle/>
          <a:p>
            <a:r>
              <a:rPr lang="en-US" sz="2400" b="1" dirty="0">
                <a:solidFill>
                  <a:srgbClr val="0070C0"/>
                </a:solidFill>
                <a:latin typeface="Comic Sans MS" pitchFamily="66" charset="0"/>
                <a:cs typeface="Arial" pitchFamily="34" charset="0"/>
              </a:rPr>
              <a:t>MISSION</a:t>
            </a:r>
          </a:p>
        </p:txBody>
      </p:sp>
      <p:sp>
        <p:nvSpPr>
          <p:cNvPr id="4" name="TextBox 3"/>
          <p:cNvSpPr txBox="1"/>
          <p:nvPr/>
        </p:nvSpPr>
        <p:spPr>
          <a:xfrm>
            <a:off x="1841684" y="3912344"/>
            <a:ext cx="1696298" cy="707886"/>
          </a:xfrm>
          <a:prstGeom prst="rect">
            <a:avLst/>
          </a:prstGeom>
          <a:noFill/>
        </p:spPr>
        <p:txBody>
          <a:bodyPr wrap="none" rtlCol="0">
            <a:spAutoFit/>
          </a:bodyPr>
          <a:lstStyle/>
          <a:p>
            <a:pPr algn="ctr"/>
            <a:r>
              <a:rPr lang="en-US" sz="2000" b="1" dirty="0">
                <a:solidFill>
                  <a:srgbClr val="C00000"/>
                </a:solidFill>
                <a:latin typeface="Comic Sans MS" pitchFamily="66" charset="0"/>
                <a:cs typeface="Arial" pitchFamily="34" charset="0"/>
              </a:rPr>
              <a:t>CLIENT</a:t>
            </a:r>
          </a:p>
          <a:p>
            <a:pPr algn="ctr"/>
            <a:r>
              <a:rPr lang="en-US" sz="2000" b="1" dirty="0">
                <a:solidFill>
                  <a:srgbClr val="C00000"/>
                </a:solidFill>
                <a:latin typeface="Comic Sans MS" pitchFamily="66" charset="0"/>
                <a:cs typeface="Arial" pitchFamily="34" charset="0"/>
              </a:rPr>
              <a:t>INTERFACE</a:t>
            </a:r>
          </a:p>
        </p:txBody>
      </p:sp>
      <p:sp>
        <p:nvSpPr>
          <p:cNvPr id="5" name="TextBox 4"/>
          <p:cNvSpPr txBox="1"/>
          <p:nvPr/>
        </p:nvSpPr>
        <p:spPr>
          <a:xfrm>
            <a:off x="3485069" y="4066232"/>
            <a:ext cx="2752677" cy="400110"/>
          </a:xfrm>
          <a:prstGeom prst="rect">
            <a:avLst/>
          </a:prstGeom>
          <a:noFill/>
        </p:spPr>
        <p:txBody>
          <a:bodyPr wrap="none" rtlCol="0">
            <a:spAutoFit/>
          </a:bodyPr>
          <a:lstStyle/>
          <a:p>
            <a:pPr algn="ctr"/>
            <a:r>
              <a:rPr lang="en-US" sz="2000" b="1" dirty="0">
                <a:solidFill>
                  <a:srgbClr val="C00000"/>
                </a:solidFill>
                <a:latin typeface="Comic Sans MS" pitchFamily="66" charset="0"/>
                <a:cs typeface="Arial" pitchFamily="34" charset="0"/>
              </a:rPr>
              <a:t>TRANSFORMATION</a:t>
            </a:r>
          </a:p>
        </p:txBody>
      </p:sp>
      <p:sp>
        <p:nvSpPr>
          <p:cNvPr id="6" name="TextBox 5"/>
          <p:cNvSpPr txBox="1"/>
          <p:nvPr/>
        </p:nvSpPr>
        <p:spPr>
          <a:xfrm>
            <a:off x="6377999" y="3912344"/>
            <a:ext cx="1733167" cy="707886"/>
          </a:xfrm>
          <a:prstGeom prst="rect">
            <a:avLst/>
          </a:prstGeom>
          <a:noFill/>
        </p:spPr>
        <p:txBody>
          <a:bodyPr wrap="none" rtlCol="0">
            <a:spAutoFit/>
          </a:bodyPr>
          <a:lstStyle/>
          <a:p>
            <a:pPr algn="ctr"/>
            <a:r>
              <a:rPr lang="en-US" sz="2000" b="1" dirty="0">
                <a:solidFill>
                  <a:srgbClr val="C00000"/>
                </a:solidFill>
                <a:latin typeface="Comic Sans MS" pitchFamily="66" charset="0"/>
                <a:cs typeface="Arial" pitchFamily="34" charset="0"/>
              </a:rPr>
              <a:t>HUMAN </a:t>
            </a:r>
          </a:p>
          <a:p>
            <a:pPr algn="ctr"/>
            <a:r>
              <a:rPr lang="en-US" sz="2000" b="1" dirty="0">
                <a:solidFill>
                  <a:srgbClr val="C00000"/>
                </a:solidFill>
                <a:latin typeface="Comic Sans MS" pitchFamily="66" charset="0"/>
                <a:cs typeface="Arial" pitchFamily="34" charset="0"/>
              </a:rPr>
              <a:t>RESOURCES</a:t>
            </a:r>
            <a:endParaRPr lang="sr-Latn-CS" sz="2000" b="1" dirty="0">
              <a:solidFill>
                <a:srgbClr val="C00000"/>
              </a:solidFill>
              <a:latin typeface="Comic Sans MS" pitchFamily="66" charset="0"/>
              <a:cs typeface="Arial" pitchFamily="34" charset="0"/>
            </a:endParaRPr>
          </a:p>
        </p:txBody>
      </p:sp>
      <p:sp>
        <p:nvSpPr>
          <p:cNvPr id="7" name="TextBox 6"/>
          <p:cNvSpPr txBox="1"/>
          <p:nvPr/>
        </p:nvSpPr>
        <p:spPr>
          <a:xfrm>
            <a:off x="8398092" y="3912344"/>
            <a:ext cx="1741181" cy="707886"/>
          </a:xfrm>
          <a:prstGeom prst="rect">
            <a:avLst/>
          </a:prstGeom>
          <a:noFill/>
        </p:spPr>
        <p:txBody>
          <a:bodyPr wrap="none" rtlCol="0">
            <a:spAutoFit/>
          </a:bodyPr>
          <a:lstStyle/>
          <a:p>
            <a:pPr algn="ctr"/>
            <a:r>
              <a:rPr lang="en-US" sz="2000" b="1" dirty="0">
                <a:solidFill>
                  <a:srgbClr val="C00000"/>
                </a:solidFill>
                <a:latin typeface="Comic Sans MS" pitchFamily="66" charset="0"/>
                <a:cs typeface="Arial" pitchFamily="34" charset="0"/>
              </a:rPr>
              <a:t>FINANCIAL</a:t>
            </a:r>
          </a:p>
          <a:p>
            <a:pPr algn="ctr"/>
            <a:r>
              <a:rPr lang="en-US" sz="2000" b="1" dirty="0">
                <a:solidFill>
                  <a:srgbClr val="C00000"/>
                </a:solidFill>
                <a:latin typeface="Comic Sans MS" pitchFamily="66" charset="0"/>
                <a:cs typeface="Arial" pitchFamily="34" charset="0"/>
              </a:rPr>
              <a:t>RESOURCES</a:t>
            </a:r>
            <a:endParaRPr lang="sr-Latn-CS" sz="2000" b="1" dirty="0">
              <a:solidFill>
                <a:srgbClr val="C00000"/>
              </a:solidFill>
              <a:latin typeface="Comic Sans MS" pitchFamily="66" charset="0"/>
              <a:cs typeface="Arial" pitchFamily="34" charset="0"/>
            </a:endParaRPr>
          </a:p>
        </p:txBody>
      </p:sp>
      <p:cxnSp>
        <p:nvCxnSpPr>
          <p:cNvPr id="9" name="Straight Arrow Connector 8"/>
          <p:cNvCxnSpPr>
            <a:endCxn id="7" idx="0"/>
          </p:cNvCxnSpPr>
          <p:nvPr/>
        </p:nvCxnSpPr>
        <p:spPr bwMode="auto">
          <a:xfrm>
            <a:off x="5943600" y="2311400"/>
            <a:ext cx="3325082" cy="1600944"/>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10" name="Straight Arrow Connector 9"/>
          <p:cNvCxnSpPr>
            <a:endCxn id="6" idx="0"/>
          </p:cNvCxnSpPr>
          <p:nvPr/>
        </p:nvCxnSpPr>
        <p:spPr bwMode="auto">
          <a:xfrm>
            <a:off x="5943598" y="2311400"/>
            <a:ext cx="1300984" cy="1600944"/>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12" name="Straight Arrow Connector 11"/>
          <p:cNvCxnSpPr>
            <a:endCxn id="5" idx="0"/>
          </p:cNvCxnSpPr>
          <p:nvPr/>
        </p:nvCxnSpPr>
        <p:spPr bwMode="auto">
          <a:xfrm flipH="1">
            <a:off x="4861407" y="2311400"/>
            <a:ext cx="1082194" cy="1754832"/>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14" name="Straight Arrow Connector 13"/>
          <p:cNvCxnSpPr>
            <a:endCxn id="4" idx="0"/>
          </p:cNvCxnSpPr>
          <p:nvPr/>
        </p:nvCxnSpPr>
        <p:spPr bwMode="auto">
          <a:xfrm flipH="1">
            <a:off x="2689833" y="2311400"/>
            <a:ext cx="3253772" cy="1600944"/>
          </a:xfrm>
          <a:prstGeom prst="straightConnector1">
            <a:avLst/>
          </a:prstGeom>
          <a:solidFill>
            <a:schemeClr val="accent1"/>
          </a:solidFill>
          <a:ln w="57150" cap="flat" cmpd="sng" algn="ctr">
            <a:solidFill>
              <a:schemeClr val="tx1"/>
            </a:solidFill>
            <a:prstDash val="solid"/>
            <a:round/>
            <a:headEnd type="none" w="sm" len="sm"/>
            <a:tailEnd type="arrow"/>
          </a:ln>
          <a:effectLst/>
        </p:spPr>
      </p:cxnSp>
      <p:sp>
        <p:nvSpPr>
          <p:cNvPr id="13" name="TextBox 12"/>
          <p:cNvSpPr txBox="1"/>
          <p:nvPr/>
        </p:nvSpPr>
        <p:spPr>
          <a:xfrm>
            <a:off x="1913850" y="5168900"/>
            <a:ext cx="481222" cy="584775"/>
          </a:xfrm>
          <a:prstGeom prst="rect">
            <a:avLst/>
          </a:prstGeom>
          <a:noFill/>
        </p:spPr>
        <p:txBody>
          <a:bodyPr wrap="none" rtlCol="0">
            <a:spAutoFit/>
          </a:bodyPr>
          <a:lstStyle/>
          <a:p>
            <a:pPr algn="ctr"/>
            <a:r>
              <a:rPr lang="en-US" sz="3200" b="1" dirty="0">
                <a:latin typeface="Comic Sans MS" pitchFamily="66" charset="0"/>
                <a:cs typeface="Arial" pitchFamily="34" charset="0"/>
              </a:rPr>
              <a:t>D</a:t>
            </a:r>
          </a:p>
        </p:txBody>
      </p:sp>
      <p:sp>
        <p:nvSpPr>
          <p:cNvPr id="15" name="TextBox 14"/>
          <p:cNvSpPr txBox="1"/>
          <p:nvPr/>
        </p:nvSpPr>
        <p:spPr>
          <a:xfrm>
            <a:off x="2960730" y="5168900"/>
            <a:ext cx="546945" cy="584775"/>
          </a:xfrm>
          <a:prstGeom prst="rect">
            <a:avLst/>
          </a:prstGeom>
          <a:noFill/>
        </p:spPr>
        <p:txBody>
          <a:bodyPr wrap="none" rtlCol="0">
            <a:spAutoFit/>
          </a:bodyPr>
          <a:lstStyle/>
          <a:p>
            <a:pPr algn="ctr"/>
            <a:r>
              <a:rPr lang="en-US" sz="3200" b="1" dirty="0">
                <a:latin typeface="Comic Sans MS" pitchFamily="66" charset="0"/>
                <a:cs typeface="Arial" pitchFamily="34" charset="0"/>
              </a:rPr>
              <a:t>M</a:t>
            </a:r>
          </a:p>
        </p:txBody>
      </p:sp>
      <p:cxnSp>
        <p:nvCxnSpPr>
          <p:cNvPr id="16" name="Straight Arrow Connector 15"/>
          <p:cNvCxnSpPr>
            <a:endCxn id="13" idx="0"/>
          </p:cNvCxnSpPr>
          <p:nvPr/>
        </p:nvCxnSpPr>
        <p:spPr bwMode="auto">
          <a:xfrm flipH="1">
            <a:off x="2154461" y="4635501"/>
            <a:ext cx="511556" cy="533399"/>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18" name="Straight Arrow Connector 17"/>
          <p:cNvCxnSpPr>
            <a:endCxn id="15" idx="0"/>
          </p:cNvCxnSpPr>
          <p:nvPr/>
        </p:nvCxnSpPr>
        <p:spPr bwMode="auto">
          <a:xfrm>
            <a:off x="2667000" y="4635501"/>
            <a:ext cx="567202" cy="533399"/>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22" name="Straight Arrow Connector 21"/>
          <p:cNvCxnSpPr/>
          <p:nvPr/>
        </p:nvCxnSpPr>
        <p:spPr bwMode="auto">
          <a:xfrm rot="5400000">
            <a:off x="4353338" y="4646423"/>
            <a:ext cx="533400" cy="511555"/>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23" name="Straight Arrow Connector 22"/>
          <p:cNvCxnSpPr/>
          <p:nvPr/>
        </p:nvCxnSpPr>
        <p:spPr bwMode="auto">
          <a:xfrm>
            <a:off x="4876800" y="4635501"/>
            <a:ext cx="567200" cy="533399"/>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26" name="Straight Arrow Connector 25"/>
          <p:cNvCxnSpPr/>
          <p:nvPr/>
        </p:nvCxnSpPr>
        <p:spPr bwMode="auto">
          <a:xfrm rot="5400000">
            <a:off x="6617493" y="4646423"/>
            <a:ext cx="533400" cy="511555"/>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27" name="Straight Arrow Connector 26"/>
          <p:cNvCxnSpPr/>
          <p:nvPr/>
        </p:nvCxnSpPr>
        <p:spPr bwMode="auto">
          <a:xfrm>
            <a:off x="7140955" y="4635501"/>
            <a:ext cx="567200" cy="533399"/>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30" name="Straight Arrow Connector 29"/>
          <p:cNvCxnSpPr/>
          <p:nvPr/>
        </p:nvCxnSpPr>
        <p:spPr bwMode="auto">
          <a:xfrm rot="5400000">
            <a:off x="8803383" y="4646423"/>
            <a:ext cx="533400" cy="511555"/>
          </a:xfrm>
          <a:prstGeom prst="straightConnector1">
            <a:avLst/>
          </a:prstGeom>
          <a:solidFill>
            <a:schemeClr val="accent1"/>
          </a:solidFill>
          <a:ln w="57150" cap="flat" cmpd="sng" algn="ctr">
            <a:solidFill>
              <a:schemeClr val="tx1"/>
            </a:solidFill>
            <a:prstDash val="solid"/>
            <a:round/>
            <a:headEnd type="none" w="sm" len="sm"/>
            <a:tailEnd type="arrow"/>
          </a:ln>
          <a:effectLst/>
        </p:spPr>
      </p:cxnSp>
      <p:cxnSp>
        <p:nvCxnSpPr>
          <p:cNvPr id="31" name="Straight Arrow Connector 30"/>
          <p:cNvCxnSpPr/>
          <p:nvPr/>
        </p:nvCxnSpPr>
        <p:spPr bwMode="auto">
          <a:xfrm>
            <a:off x="9326845" y="4635501"/>
            <a:ext cx="567200" cy="533399"/>
          </a:xfrm>
          <a:prstGeom prst="straightConnector1">
            <a:avLst/>
          </a:prstGeom>
          <a:solidFill>
            <a:schemeClr val="accent1"/>
          </a:solidFill>
          <a:ln w="57150" cap="flat" cmpd="sng" algn="ctr">
            <a:solidFill>
              <a:schemeClr val="tx1"/>
            </a:solidFill>
            <a:prstDash val="solid"/>
            <a:round/>
            <a:headEnd type="none" w="sm" len="sm"/>
            <a:tailEnd type="arrow"/>
          </a:ln>
          <a:effectLst/>
        </p:spPr>
      </p:cxnSp>
      <p:sp>
        <p:nvSpPr>
          <p:cNvPr id="32" name="TextBox 31"/>
          <p:cNvSpPr txBox="1"/>
          <p:nvPr/>
        </p:nvSpPr>
        <p:spPr>
          <a:xfrm>
            <a:off x="2531641" y="520701"/>
            <a:ext cx="6933078" cy="1200329"/>
          </a:xfrm>
          <a:prstGeom prst="rect">
            <a:avLst/>
          </a:prstGeom>
          <a:noFill/>
        </p:spPr>
        <p:txBody>
          <a:bodyPr wrap="square" rtlCol="0">
            <a:spAutoFit/>
          </a:bodyPr>
          <a:lstStyle/>
          <a:p>
            <a:pPr algn="ctr"/>
            <a:r>
              <a:rPr lang="en-US" sz="2400" b="1" dirty="0">
                <a:solidFill>
                  <a:srgbClr val="C00000"/>
                </a:solidFill>
                <a:latin typeface="Comic Sans MS" pitchFamily="66" charset="0"/>
                <a:cs typeface="Arial" pitchFamily="34" charset="0"/>
              </a:rPr>
              <a:t>EACH FUNCTIONAL SUBSYSTEM HAS DEVELOPMENTAL AND MAITENANCE COMPONENT</a:t>
            </a:r>
          </a:p>
        </p:txBody>
      </p:sp>
      <p:sp>
        <p:nvSpPr>
          <p:cNvPr id="33" name="TextBox 32"/>
          <p:cNvSpPr txBox="1"/>
          <p:nvPr/>
        </p:nvSpPr>
        <p:spPr>
          <a:xfrm>
            <a:off x="4161750" y="5156200"/>
            <a:ext cx="481222" cy="584775"/>
          </a:xfrm>
          <a:prstGeom prst="rect">
            <a:avLst/>
          </a:prstGeom>
          <a:noFill/>
        </p:spPr>
        <p:txBody>
          <a:bodyPr wrap="none" rtlCol="0">
            <a:spAutoFit/>
          </a:bodyPr>
          <a:lstStyle/>
          <a:p>
            <a:pPr algn="ctr"/>
            <a:r>
              <a:rPr lang="en-US" sz="3200" b="1" dirty="0">
                <a:latin typeface="Comic Sans MS" pitchFamily="66" charset="0"/>
                <a:cs typeface="Arial" pitchFamily="34" charset="0"/>
              </a:rPr>
              <a:t>D</a:t>
            </a:r>
          </a:p>
        </p:txBody>
      </p:sp>
      <p:sp>
        <p:nvSpPr>
          <p:cNvPr id="34" name="TextBox 33"/>
          <p:cNvSpPr txBox="1"/>
          <p:nvPr/>
        </p:nvSpPr>
        <p:spPr>
          <a:xfrm>
            <a:off x="5208630" y="5156200"/>
            <a:ext cx="546945" cy="584775"/>
          </a:xfrm>
          <a:prstGeom prst="rect">
            <a:avLst/>
          </a:prstGeom>
          <a:noFill/>
        </p:spPr>
        <p:txBody>
          <a:bodyPr wrap="none" rtlCol="0">
            <a:spAutoFit/>
          </a:bodyPr>
          <a:lstStyle/>
          <a:p>
            <a:pPr algn="ctr"/>
            <a:r>
              <a:rPr lang="en-US" sz="3200" b="1" dirty="0">
                <a:latin typeface="Comic Sans MS" pitchFamily="66" charset="0"/>
                <a:cs typeface="Arial" pitchFamily="34" charset="0"/>
              </a:rPr>
              <a:t>M</a:t>
            </a:r>
          </a:p>
        </p:txBody>
      </p:sp>
      <p:sp>
        <p:nvSpPr>
          <p:cNvPr id="35" name="TextBox 34"/>
          <p:cNvSpPr txBox="1"/>
          <p:nvPr/>
        </p:nvSpPr>
        <p:spPr>
          <a:xfrm>
            <a:off x="6404580" y="5168901"/>
            <a:ext cx="481222" cy="584775"/>
          </a:xfrm>
          <a:prstGeom prst="rect">
            <a:avLst/>
          </a:prstGeom>
          <a:noFill/>
        </p:spPr>
        <p:txBody>
          <a:bodyPr wrap="none" rtlCol="0">
            <a:spAutoFit/>
          </a:bodyPr>
          <a:lstStyle/>
          <a:p>
            <a:pPr algn="ctr"/>
            <a:r>
              <a:rPr lang="en-US" sz="3200" b="1" dirty="0">
                <a:latin typeface="Comic Sans MS" pitchFamily="66" charset="0"/>
                <a:cs typeface="Arial" pitchFamily="34" charset="0"/>
              </a:rPr>
              <a:t>D</a:t>
            </a:r>
          </a:p>
        </p:txBody>
      </p:sp>
      <p:sp>
        <p:nvSpPr>
          <p:cNvPr id="36" name="TextBox 35"/>
          <p:cNvSpPr txBox="1"/>
          <p:nvPr/>
        </p:nvSpPr>
        <p:spPr>
          <a:xfrm>
            <a:off x="7451460" y="5168901"/>
            <a:ext cx="546945" cy="584775"/>
          </a:xfrm>
          <a:prstGeom prst="rect">
            <a:avLst/>
          </a:prstGeom>
          <a:noFill/>
        </p:spPr>
        <p:txBody>
          <a:bodyPr wrap="none" rtlCol="0">
            <a:spAutoFit/>
          </a:bodyPr>
          <a:lstStyle/>
          <a:p>
            <a:pPr algn="ctr"/>
            <a:r>
              <a:rPr lang="en-US" sz="3200" b="1" dirty="0">
                <a:latin typeface="Comic Sans MS" pitchFamily="66" charset="0"/>
                <a:cs typeface="Arial" pitchFamily="34" charset="0"/>
              </a:rPr>
              <a:t>M</a:t>
            </a:r>
          </a:p>
        </p:txBody>
      </p:sp>
      <p:sp>
        <p:nvSpPr>
          <p:cNvPr id="37" name="TextBox 36"/>
          <p:cNvSpPr txBox="1"/>
          <p:nvPr/>
        </p:nvSpPr>
        <p:spPr>
          <a:xfrm>
            <a:off x="8588861" y="5168900"/>
            <a:ext cx="481222" cy="584775"/>
          </a:xfrm>
          <a:prstGeom prst="rect">
            <a:avLst/>
          </a:prstGeom>
          <a:noFill/>
        </p:spPr>
        <p:txBody>
          <a:bodyPr wrap="none" rtlCol="0">
            <a:spAutoFit/>
          </a:bodyPr>
          <a:lstStyle/>
          <a:p>
            <a:pPr algn="ctr"/>
            <a:r>
              <a:rPr lang="en-US" sz="3200" b="1" dirty="0">
                <a:latin typeface="Comic Sans MS" pitchFamily="66" charset="0"/>
                <a:cs typeface="Arial" pitchFamily="34" charset="0"/>
              </a:rPr>
              <a:t>D</a:t>
            </a:r>
          </a:p>
        </p:txBody>
      </p:sp>
      <p:sp>
        <p:nvSpPr>
          <p:cNvPr id="38" name="TextBox 37"/>
          <p:cNvSpPr txBox="1"/>
          <p:nvPr/>
        </p:nvSpPr>
        <p:spPr>
          <a:xfrm>
            <a:off x="9635741" y="5168900"/>
            <a:ext cx="546945" cy="584775"/>
          </a:xfrm>
          <a:prstGeom prst="rect">
            <a:avLst/>
          </a:prstGeom>
          <a:noFill/>
        </p:spPr>
        <p:txBody>
          <a:bodyPr wrap="none" rtlCol="0">
            <a:spAutoFit/>
          </a:bodyPr>
          <a:lstStyle/>
          <a:p>
            <a:pPr algn="ctr"/>
            <a:r>
              <a:rPr lang="en-US" sz="3200" b="1" dirty="0">
                <a:latin typeface="Comic Sans MS" pitchFamily="66" charset="0"/>
                <a:cs typeface="Arial" pitchFamily="34" charset="0"/>
              </a:rPr>
              <a:t>M</a:t>
            </a:r>
          </a:p>
        </p:txBody>
      </p:sp>
    </p:spTree>
    <p:extLst>
      <p:ext uri="{BB962C8B-B14F-4D97-AF65-F5344CB8AC3E}">
        <p14:creationId xmlns:p14="http://schemas.microsoft.com/office/powerpoint/2010/main" val="2947270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2895600" y="1447800"/>
            <a:ext cx="57150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0" name="Rectangle 9"/>
          <p:cNvSpPr/>
          <p:nvPr/>
        </p:nvSpPr>
        <p:spPr bwMode="auto">
          <a:xfrm rot="5400000">
            <a:off x="2095500" y="22479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1" name="Rectangle 10"/>
          <p:cNvSpPr/>
          <p:nvPr/>
        </p:nvSpPr>
        <p:spPr bwMode="auto">
          <a:xfrm rot="5400000">
            <a:off x="3924300" y="22479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2" name="Rectangle 11"/>
          <p:cNvSpPr/>
          <p:nvPr/>
        </p:nvSpPr>
        <p:spPr bwMode="auto">
          <a:xfrm rot="5400000">
            <a:off x="7581900" y="22479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3" name="Rectangle 12"/>
          <p:cNvSpPr/>
          <p:nvPr/>
        </p:nvSpPr>
        <p:spPr bwMode="auto">
          <a:xfrm rot="5400000">
            <a:off x="5753100" y="22479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4" name="Rectangle 13"/>
          <p:cNvSpPr/>
          <p:nvPr/>
        </p:nvSpPr>
        <p:spPr bwMode="auto">
          <a:xfrm rot="5400000">
            <a:off x="5257800" y="1066800"/>
            <a:ext cx="9906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5" name="Rectangle 14"/>
          <p:cNvSpPr/>
          <p:nvPr/>
        </p:nvSpPr>
        <p:spPr bwMode="auto">
          <a:xfrm>
            <a:off x="2362200" y="4038600"/>
            <a:ext cx="12954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6" name="Rectangle 15"/>
          <p:cNvSpPr/>
          <p:nvPr/>
        </p:nvSpPr>
        <p:spPr bwMode="auto">
          <a:xfrm rot="5400000">
            <a:off x="1562100" y="48387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7" name="Rectangle 16"/>
          <p:cNvSpPr/>
          <p:nvPr/>
        </p:nvSpPr>
        <p:spPr bwMode="auto">
          <a:xfrm rot="5400000">
            <a:off x="2628900" y="48387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8" name="Rectangle 17"/>
          <p:cNvSpPr/>
          <p:nvPr/>
        </p:nvSpPr>
        <p:spPr bwMode="auto">
          <a:xfrm>
            <a:off x="4191000" y="4038600"/>
            <a:ext cx="12954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19" name="Rectangle 18"/>
          <p:cNvSpPr/>
          <p:nvPr/>
        </p:nvSpPr>
        <p:spPr bwMode="auto">
          <a:xfrm rot="5400000">
            <a:off x="3543300" y="4686300"/>
            <a:ext cx="15240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20" name="Rectangle 19"/>
          <p:cNvSpPr/>
          <p:nvPr/>
        </p:nvSpPr>
        <p:spPr bwMode="auto">
          <a:xfrm rot="5400000">
            <a:off x="4610100" y="4686300"/>
            <a:ext cx="15240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27" name="TextBox 26"/>
          <p:cNvSpPr txBox="1"/>
          <p:nvPr/>
        </p:nvSpPr>
        <p:spPr>
          <a:xfrm>
            <a:off x="2260318" y="3377626"/>
            <a:ext cx="1532792" cy="615553"/>
          </a:xfrm>
          <a:prstGeom prst="rect">
            <a:avLst/>
          </a:prstGeom>
          <a:noFill/>
        </p:spPr>
        <p:txBody>
          <a:bodyPr wrap="none" rtlCol="0">
            <a:spAutoFit/>
          </a:bodyPr>
          <a:lstStyle/>
          <a:p>
            <a:pPr algn="ctr"/>
            <a:r>
              <a:rPr lang="en-US" sz="1600" dirty="0">
                <a:latin typeface="Comic Sans MS" pitchFamily="66" charset="0"/>
                <a:cs typeface="Arial" pitchFamily="34" charset="0"/>
              </a:rPr>
              <a:t>CLIENT</a:t>
            </a:r>
          </a:p>
          <a:p>
            <a:pPr algn="ctr"/>
            <a:r>
              <a:rPr lang="en-US" dirty="0">
                <a:latin typeface="Comic Sans MS" pitchFamily="66" charset="0"/>
                <a:cs typeface="Arial" pitchFamily="34" charset="0"/>
              </a:rPr>
              <a:t>INTERFACE</a:t>
            </a:r>
            <a:endParaRPr lang="en-US" sz="1600" dirty="0">
              <a:latin typeface="Comic Sans MS" pitchFamily="66" charset="0"/>
              <a:cs typeface="Arial" pitchFamily="34" charset="0"/>
            </a:endParaRPr>
          </a:p>
        </p:txBody>
      </p:sp>
      <p:sp>
        <p:nvSpPr>
          <p:cNvPr id="28" name="TextBox 27"/>
          <p:cNvSpPr txBox="1"/>
          <p:nvPr/>
        </p:nvSpPr>
        <p:spPr>
          <a:xfrm>
            <a:off x="3739467" y="3377625"/>
            <a:ext cx="2236510" cy="338554"/>
          </a:xfrm>
          <a:prstGeom prst="rect">
            <a:avLst/>
          </a:prstGeom>
          <a:noFill/>
        </p:spPr>
        <p:txBody>
          <a:bodyPr wrap="none" rtlCol="0">
            <a:spAutoFit/>
          </a:bodyPr>
          <a:lstStyle/>
          <a:p>
            <a:pPr algn="ctr"/>
            <a:r>
              <a:rPr lang="en-US" sz="1600" dirty="0">
                <a:latin typeface="Comic Sans MS" pitchFamily="66" charset="0"/>
                <a:cs typeface="Arial" pitchFamily="34" charset="0"/>
              </a:rPr>
              <a:t>TRANSFORMATION</a:t>
            </a:r>
          </a:p>
        </p:txBody>
      </p:sp>
      <p:sp>
        <p:nvSpPr>
          <p:cNvPr id="29" name="TextBox 28"/>
          <p:cNvSpPr txBox="1"/>
          <p:nvPr/>
        </p:nvSpPr>
        <p:spPr>
          <a:xfrm>
            <a:off x="5926683" y="3377626"/>
            <a:ext cx="1420581" cy="584775"/>
          </a:xfrm>
          <a:prstGeom prst="rect">
            <a:avLst/>
          </a:prstGeom>
          <a:noFill/>
        </p:spPr>
        <p:txBody>
          <a:bodyPr wrap="none" rtlCol="0">
            <a:spAutoFit/>
          </a:bodyPr>
          <a:lstStyle/>
          <a:p>
            <a:pPr algn="ctr"/>
            <a:r>
              <a:rPr lang="en-US" sz="1600" dirty="0">
                <a:latin typeface="Comic Sans MS" pitchFamily="66" charset="0"/>
                <a:cs typeface="Arial" pitchFamily="34" charset="0"/>
              </a:rPr>
              <a:t>HUMAN </a:t>
            </a:r>
          </a:p>
          <a:p>
            <a:pPr algn="ctr"/>
            <a:r>
              <a:rPr lang="en-US" sz="1600" dirty="0">
                <a:latin typeface="Comic Sans MS" pitchFamily="66" charset="0"/>
                <a:cs typeface="Arial" pitchFamily="34" charset="0"/>
              </a:rPr>
              <a:t>RESOURCES</a:t>
            </a:r>
            <a:endParaRPr lang="sr-Latn-CS" sz="1600" dirty="0">
              <a:latin typeface="Comic Sans MS" pitchFamily="66" charset="0"/>
              <a:cs typeface="Arial" pitchFamily="34" charset="0"/>
            </a:endParaRPr>
          </a:p>
        </p:txBody>
      </p:sp>
      <p:sp>
        <p:nvSpPr>
          <p:cNvPr id="30" name="TextBox 29"/>
          <p:cNvSpPr txBox="1"/>
          <p:nvPr/>
        </p:nvSpPr>
        <p:spPr>
          <a:xfrm>
            <a:off x="7713891" y="3377626"/>
            <a:ext cx="1576072" cy="615553"/>
          </a:xfrm>
          <a:prstGeom prst="rect">
            <a:avLst/>
          </a:prstGeom>
          <a:noFill/>
        </p:spPr>
        <p:txBody>
          <a:bodyPr wrap="none" rtlCol="0">
            <a:spAutoFit/>
          </a:bodyPr>
          <a:lstStyle/>
          <a:p>
            <a:pPr algn="ctr"/>
            <a:r>
              <a:rPr lang="en-US" sz="1600" dirty="0">
                <a:latin typeface="Comic Sans MS" pitchFamily="66" charset="0"/>
                <a:cs typeface="Arial" pitchFamily="34" charset="0"/>
              </a:rPr>
              <a:t>FINANCIAL</a:t>
            </a:r>
          </a:p>
          <a:p>
            <a:pPr algn="ctr"/>
            <a:r>
              <a:rPr lang="en-US" dirty="0">
                <a:latin typeface="Comic Sans MS" pitchFamily="66" charset="0"/>
                <a:cs typeface="Arial" pitchFamily="34" charset="0"/>
              </a:rPr>
              <a:t>RESOURCES</a:t>
            </a:r>
            <a:endParaRPr lang="sr-Latn-CS" sz="1600" dirty="0">
              <a:latin typeface="Comic Sans MS" pitchFamily="66" charset="0"/>
              <a:cs typeface="Arial" pitchFamily="34" charset="0"/>
            </a:endParaRPr>
          </a:p>
        </p:txBody>
      </p:sp>
      <p:sp>
        <p:nvSpPr>
          <p:cNvPr id="31" name="TextBox 30"/>
          <p:cNvSpPr txBox="1"/>
          <p:nvPr/>
        </p:nvSpPr>
        <p:spPr>
          <a:xfrm>
            <a:off x="2233674" y="5943601"/>
            <a:ext cx="407484" cy="461665"/>
          </a:xfrm>
          <a:prstGeom prst="rect">
            <a:avLst/>
          </a:prstGeom>
          <a:noFill/>
        </p:spPr>
        <p:txBody>
          <a:bodyPr wrap="none" rtlCol="0">
            <a:spAutoFit/>
          </a:bodyPr>
          <a:lstStyle/>
          <a:p>
            <a:pPr algn="ctr"/>
            <a:r>
              <a:rPr lang="en-US" sz="2400" b="1" dirty="0">
                <a:latin typeface="Comic Sans MS" pitchFamily="66" charset="0"/>
                <a:cs typeface="Arial" pitchFamily="34" charset="0"/>
              </a:rPr>
              <a:t>D</a:t>
            </a:r>
          </a:p>
        </p:txBody>
      </p:sp>
      <p:sp>
        <p:nvSpPr>
          <p:cNvPr id="32" name="TextBox 31"/>
          <p:cNvSpPr txBox="1"/>
          <p:nvPr/>
        </p:nvSpPr>
        <p:spPr>
          <a:xfrm>
            <a:off x="3288568" y="5943601"/>
            <a:ext cx="457176" cy="461665"/>
          </a:xfrm>
          <a:prstGeom prst="rect">
            <a:avLst/>
          </a:prstGeom>
          <a:noFill/>
        </p:spPr>
        <p:txBody>
          <a:bodyPr wrap="none" rtlCol="0">
            <a:spAutoFit/>
          </a:bodyPr>
          <a:lstStyle/>
          <a:p>
            <a:pPr algn="ctr"/>
            <a:r>
              <a:rPr lang="en-US" sz="2400" b="1" dirty="0">
                <a:latin typeface="Comic Sans MS" pitchFamily="66" charset="0"/>
                <a:cs typeface="Arial" pitchFamily="34" charset="0"/>
              </a:rPr>
              <a:t>M</a:t>
            </a:r>
          </a:p>
        </p:txBody>
      </p:sp>
      <p:sp>
        <p:nvSpPr>
          <p:cNvPr id="33" name="TextBox 32"/>
          <p:cNvSpPr txBox="1"/>
          <p:nvPr/>
        </p:nvSpPr>
        <p:spPr>
          <a:xfrm>
            <a:off x="4062473" y="5635824"/>
            <a:ext cx="407484" cy="461665"/>
          </a:xfrm>
          <a:prstGeom prst="rect">
            <a:avLst/>
          </a:prstGeom>
          <a:noFill/>
        </p:spPr>
        <p:txBody>
          <a:bodyPr wrap="none" rtlCol="0">
            <a:spAutoFit/>
          </a:bodyPr>
          <a:lstStyle/>
          <a:p>
            <a:pPr algn="ctr"/>
            <a:r>
              <a:rPr lang="en-US" sz="2400" b="1" dirty="0">
                <a:latin typeface="Comic Sans MS" pitchFamily="66" charset="0"/>
                <a:cs typeface="Arial" pitchFamily="34" charset="0"/>
              </a:rPr>
              <a:t>D</a:t>
            </a:r>
          </a:p>
        </p:txBody>
      </p:sp>
      <p:sp>
        <p:nvSpPr>
          <p:cNvPr id="34" name="TextBox 33"/>
          <p:cNvSpPr txBox="1"/>
          <p:nvPr/>
        </p:nvSpPr>
        <p:spPr>
          <a:xfrm>
            <a:off x="5117368" y="5635824"/>
            <a:ext cx="457176" cy="461665"/>
          </a:xfrm>
          <a:prstGeom prst="rect">
            <a:avLst/>
          </a:prstGeom>
          <a:noFill/>
        </p:spPr>
        <p:txBody>
          <a:bodyPr wrap="none" rtlCol="0">
            <a:spAutoFit/>
          </a:bodyPr>
          <a:lstStyle/>
          <a:p>
            <a:pPr algn="ctr"/>
            <a:r>
              <a:rPr lang="en-US" sz="2400" b="1" dirty="0">
                <a:latin typeface="Comic Sans MS" pitchFamily="66" charset="0"/>
                <a:cs typeface="Arial" pitchFamily="34" charset="0"/>
              </a:rPr>
              <a:t>M</a:t>
            </a:r>
          </a:p>
        </p:txBody>
      </p:sp>
      <p:sp>
        <p:nvSpPr>
          <p:cNvPr id="35" name="Rectangle 34"/>
          <p:cNvSpPr/>
          <p:nvPr/>
        </p:nvSpPr>
        <p:spPr bwMode="auto">
          <a:xfrm>
            <a:off x="6019800" y="4038600"/>
            <a:ext cx="12954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36" name="Rectangle 35"/>
          <p:cNvSpPr/>
          <p:nvPr/>
        </p:nvSpPr>
        <p:spPr bwMode="auto">
          <a:xfrm rot="5400000">
            <a:off x="5219700" y="48387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37" name="Rectangle 36"/>
          <p:cNvSpPr/>
          <p:nvPr/>
        </p:nvSpPr>
        <p:spPr bwMode="auto">
          <a:xfrm rot="5400000">
            <a:off x="6286500" y="4838700"/>
            <a:ext cx="18288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38" name="Rectangle 37"/>
          <p:cNvSpPr/>
          <p:nvPr/>
        </p:nvSpPr>
        <p:spPr bwMode="auto">
          <a:xfrm>
            <a:off x="7848600" y="4038600"/>
            <a:ext cx="12954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39" name="Rectangle 38"/>
          <p:cNvSpPr/>
          <p:nvPr/>
        </p:nvSpPr>
        <p:spPr bwMode="auto">
          <a:xfrm rot="5400000">
            <a:off x="7200900" y="4686300"/>
            <a:ext cx="15240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40" name="Rectangle 39"/>
          <p:cNvSpPr/>
          <p:nvPr/>
        </p:nvSpPr>
        <p:spPr bwMode="auto">
          <a:xfrm rot="5400000">
            <a:off x="8267700" y="4686300"/>
            <a:ext cx="1524000" cy="2286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500" b="1" i="1" dirty="0">
              <a:latin typeface="Comic Sans MS" pitchFamily="66" charset="0"/>
            </a:endParaRPr>
          </a:p>
        </p:txBody>
      </p:sp>
      <p:sp>
        <p:nvSpPr>
          <p:cNvPr id="41" name="TextBox 40"/>
          <p:cNvSpPr txBox="1"/>
          <p:nvPr/>
        </p:nvSpPr>
        <p:spPr>
          <a:xfrm>
            <a:off x="5891273" y="5943601"/>
            <a:ext cx="407484" cy="461665"/>
          </a:xfrm>
          <a:prstGeom prst="rect">
            <a:avLst/>
          </a:prstGeom>
          <a:noFill/>
        </p:spPr>
        <p:txBody>
          <a:bodyPr wrap="none" rtlCol="0">
            <a:spAutoFit/>
          </a:bodyPr>
          <a:lstStyle/>
          <a:p>
            <a:pPr algn="ctr"/>
            <a:r>
              <a:rPr lang="en-US" sz="2400" b="1" dirty="0">
                <a:latin typeface="Comic Sans MS" pitchFamily="66" charset="0"/>
                <a:cs typeface="Arial" pitchFamily="34" charset="0"/>
              </a:rPr>
              <a:t>D</a:t>
            </a:r>
          </a:p>
        </p:txBody>
      </p:sp>
      <p:sp>
        <p:nvSpPr>
          <p:cNvPr id="42" name="TextBox 41"/>
          <p:cNvSpPr txBox="1"/>
          <p:nvPr/>
        </p:nvSpPr>
        <p:spPr>
          <a:xfrm>
            <a:off x="6946168" y="5943601"/>
            <a:ext cx="457176" cy="461665"/>
          </a:xfrm>
          <a:prstGeom prst="rect">
            <a:avLst/>
          </a:prstGeom>
          <a:noFill/>
        </p:spPr>
        <p:txBody>
          <a:bodyPr wrap="none" rtlCol="0">
            <a:spAutoFit/>
          </a:bodyPr>
          <a:lstStyle/>
          <a:p>
            <a:pPr algn="ctr"/>
            <a:r>
              <a:rPr lang="en-US" sz="2400" b="1" dirty="0">
                <a:latin typeface="Comic Sans MS" pitchFamily="66" charset="0"/>
                <a:cs typeface="Arial" pitchFamily="34" charset="0"/>
              </a:rPr>
              <a:t>M</a:t>
            </a:r>
          </a:p>
        </p:txBody>
      </p:sp>
      <p:sp>
        <p:nvSpPr>
          <p:cNvPr id="43" name="TextBox 42"/>
          <p:cNvSpPr txBox="1"/>
          <p:nvPr/>
        </p:nvSpPr>
        <p:spPr>
          <a:xfrm>
            <a:off x="7720073" y="5635824"/>
            <a:ext cx="407484" cy="461665"/>
          </a:xfrm>
          <a:prstGeom prst="rect">
            <a:avLst/>
          </a:prstGeom>
          <a:noFill/>
        </p:spPr>
        <p:txBody>
          <a:bodyPr wrap="none" rtlCol="0">
            <a:spAutoFit/>
          </a:bodyPr>
          <a:lstStyle/>
          <a:p>
            <a:pPr algn="ctr"/>
            <a:r>
              <a:rPr lang="en-US" sz="2400" b="1" dirty="0">
                <a:latin typeface="Comic Sans MS" pitchFamily="66" charset="0"/>
                <a:cs typeface="Arial" pitchFamily="34" charset="0"/>
              </a:rPr>
              <a:t>D</a:t>
            </a:r>
          </a:p>
        </p:txBody>
      </p:sp>
      <p:sp>
        <p:nvSpPr>
          <p:cNvPr id="44" name="TextBox 43"/>
          <p:cNvSpPr txBox="1"/>
          <p:nvPr/>
        </p:nvSpPr>
        <p:spPr>
          <a:xfrm>
            <a:off x="8774968" y="5635824"/>
            <a:ext cx="457176" cy="461665"/>
          </a:xfrm>
          <a:prstGeom prst="rect">
            <a:avLst/>
          </a:prstGeom>
          <a:noFill/>
        </p:spPr>
        <p:txBody>
          <a:bodyPr wrap="none" rtlCol="0">
            <a:spAutoFit/>
          </a:bodyPr>
          <a:lstStyle/>
          <a:p>
            <a:pPr algn="ctr"/>
            <a:r>
              <a:rPr lang="en-US" sz="2400" b="1" dirty="0">
                <a:latin typeface="Comic Sans MS" pitchFamily="66" charset="0"/>
                <a:cs typeface="Arial" pitchFamily="34" charset="0"/>
              </a:rPr>
              <a:t>M</a:t>
            </a:r>
          </a:p>
        </p:txBody>
      </p:sp>
      <p:sp>
        <p:nvSpPr>
          <p:cNvPr id="46" name="TextBox 45"/>
          <p:cNvSpPr txBox="1"/>
          <p:nvPr/>
        </p:nvSpPr>
        <p:spPr>
          <a:xfrm>
            <a:off x="2756483" y="2133601"/>
            <a:ext cx="473206" cy="646331"/>
          </a:xfrm>
          <a:prstGeom prst="rect">
            <a:avLst/>
          </a:prstGeom>
          <a:solidFill>
            <a:schemeClr val="bg1"/>
          </a:solidFill>
        </p:spPr>
        <p:txBody>
          <a:bodyPr wrap="none" rtlCol="0">
            <a:spAutoFit/>
          </a:bodyPr>
          <a:lstStyle/>
          <a:p>
            <a:pPr algn="ctr"/>
            <a:r>
              <a:rPr lang="sr-Latn-CS" sz="3600" dirty="0">
                <a:latin typeface="Comic Sans MS" pitchFamily="66" charset="0"/>
                <a:cs typeface="Arial" pitchFamily="34" charset="0"/>
              </a:rPr>
              <a:t>E</a:t>
            </a:r>
            <a:endParaRPr lang="en-US" sz="3600" dirty="0">
              <a:latin typeface="Comic Sans MS" pitchFamily="66" charset="0"/>
              <a:cs typeface="Arial" pitchFamily="34" charset="0"/>
            </a:endParaRPr>
          </a:p>
        </p:txBody>
      </p:sp>
      <p:sp>
        <p:nvSpPr>
          <p:cNvPr id="47" name="TextBox 46"/>
          <p:cNvSpPr txBox="1"/>
          <p:nvPr/>
        </p:nvSpPr>
        <p:spPr>
          <a:xfrm>
            <a:off x="4681864" y="2133601"/>
            <a:ext cx="425116" cy="646331"/>
          </a:xfrm>
          <a:prstGeom prst="rect">
            <a:avLst/>
          </a:prstGeom>
          <a:solidFill>
            <a:schemeClr val="bg1"/>
          </a:solidFill>
        </p:spPr>
        <p:txBody>
          <a:bodyPr wrap="none" rtlCol="0">
            <a:spAutoFit/>
          </a:bodyPr>
          <a:lstStyle/>
          <a:p>
            <a:pPr algn="ctr"/>
            <a:r>
              <a:rPr lang="sr-Latn-CS" sz="3600" dirty="0">
                <a:latin typeface="Comic Sans MS" pitchFamily="66" charset="0"/>
                <a:cs typeface="Arial" pitchFamily="34" charset="0"/>
              </a:rPr>
              <a:t>P</a:t>
            </a:r>
            <a:endParaRPr lang="en-US" sz="3600" dirty="0">
              <a:latin typeface="Comic Sans MS" pitchFamily="66" charset="0"/>
              <a:cs typeface="Arial" pitchFamily="34" charset="0"/>
            </a:endParaRPr>
          </a:p>
        </p:txBody>
      </p:sp>
      <p:sp>
        <p:nvSpPr>
          <p:cNvPr id="48" name="TextBox 47"/>
          <p:cNvSpPr txBox="1"/>
          <p:nvPr/>
        </p:nvSpPr>
        <p:spPr>
          <a:xfrm>
            <a:off x="6428853" y="2133601"/>
            <a:ext cx="436338" cy="646331"/>
          </a:xfrm>
          <a:prstGeom prst="rect">
            <a:avLst/>
          </a:prstGeom>
          <a:solidFill>
            <a:schemeClr val="bg1"/>
          </a:solidFill>
        </p:spPr>
        <p:txBody>
          <a:bodyPr wrap="none" rtlCol="0">
            <a:spAutoFit/>
          </a:bodyPr>
          <a:lstStyle/>
          <a:p>
            <a:pPr algn="ctr"/>
            <a:r>
              <a:rPr lang="sr-Latn-CS" sz="3600" dirty="0">
                <a:latin typeface="Comic Sans MS" pitchFamily="66" charset="0"/>
                <a:cs typeface="Arial" pitchFamily="34" charset="0"/>
              </a:rPr>
              <a:t>I</a:t>
            </a:r>
            <a:endParaRPr lang="en-US" sz="3600" dirty="0">
              <a:latin typeface="Comic Sans MS" pitchFamily="66" charset="0"/>
              <a:cs typeface="Arial" pitchFamily="34" charset="0"/>
            </a:endParaRPr>
          </a:p>
        </p:txBody>
      </p:sp>
      <p:sp>
        <p:nvSpPr>
          <p:cNvPr id="49" name="TextBox 48"/>
          <p:cNvSpPr txBox="1"/>
          <p:nvPr/>
        </p:nvSpPr>
        <p:spPr>
          <a:xfrm>
            <a:off x="8292978" y="2133601"/>
            <a:ext cx="518091" cy="646331"/>
          </a:xfrm>
          <a:prstGeom prst="rect">
            <a:avLst/>
          </a:prstGeom>
          <a:solidFill>
            <a:schemeClr val="bg1"/>
          </a:solidFill>
        </p:spPr>
        <p:txBody>
          <a:bodyPr wrap="none" rtlCol="0">
            <a:spAutoFit/>
          </a:bodyPr>
          <a:lstStyle/>
          <a:p>
            <a:pPr algn="ctr"/>
            <a:r>
              <a:rPr lang="sr-Latn-CS" sz="3600" dirty="0">
                <a:latin typeface="Comic Sans MS" pitchFamily="66" charset="0"/>
                <a:cs typeface="Arial" pitchFamily="34" charset="0"/>
              </a:rPr>
              <a:t>A</a:t>
            </a:r>
            <a:endParaRPr lang="en-US" sz="3600" dirty="0">
              <a:latin typeface="Comic Sans MS" pitchFamily="66" charset="0"/>
              <a:cs typeface="Arial" pitchFamily="34" charset="0"/>
            </a:endParaRPr>
          </a:p>
        </p:txBody>
      </p:sp>
      <p:sp>
        <p:nvSpPr>
          <p:cNvPr id="50" name="TextBox 49"/>
          <p:cNvSpPr txBox="1"/>
          <p:nvPr/>
        </p:nvSpPr>
        <p:spPr>
          <a:xfrm>
            <a:off x="2111674" y="4495801"/>
            <a:ext cx="696023" cy="615553"/>
          </a:xfrm>
          <a:prstGeom prst="rect">
            <a:avLst/>
          </a:prstGeom>
          <a:solidFill>
            <a:schemeClr val="bg1"/>
          </a:solidFill>
        </p:spPr>
        <p:txBody>
          <a:bodyPr wrap="none" rtlCol="0">
            <a:spAutoFit/>
          </a:bodyPr>
          <a:lstStyle/>
          <a:p>
            <a:pPr algn="ctr"/>
            <a:r>
              <a:rPr lang="sr-Latn-CS" sz="3400" dirty="0">
                <a:latin typeface="Comic Sans MS" pitchFamily="66" charset="0"/>
                <a:cs typeface="Arial" pitchFamily="34" charset="0"/>
              </a:rPr>
              <a:t>E</a:t>
            </a:r>
            <a:r>
              <a:rPr lang="en-US" sz="3400" dirty="0">
                <a:latin typeface="Comic Sans MS" pitchFamily="66" charset="0"/>
                <a:cs typeface="Arial" pitchFamily="34" charset="0"/>
              </a:rPr>
              <a:t>I</a:t>
            </a:r>
          </a:p>
        </p:txBody>
      </p:sp>
      <p:sp>
        <p:nvSpPr>
          <p:cNvPr id="51" name="TextBox 50"/>
          <p:cNvSpPr txBox="1"/>
          <p:nvPr/>
        </p:nvSpPr>
        <p:spPr>
          <a:xfrm>
            <a:off x="3157176" y="4495801"/>
            <a:ext cx="731290" cy="615553"/>
          </a:xfrm>
          <a:prstGeom prst="rect">
            <a:avLst/>
          </a:prstGeom>
          <a:solidFill>
            <a:schemeClr val="bg1"/>
          </a:solidFill>
        </p:spPr>
        <p:txBody>
          <a:bodyPr wrap="none" rtlCol="0">
            <a:spAutoFit/>
          </a:bodyPr>
          <a:lstStyle/>
          <a:p>
            <a:pPr algn="ctr"/>
            <a:r>
              <a:rPr lang="sr-Latn-CS" sz="3400" dirty="0">
                <a:latin typeface="Comic Sans MS" pitchFamily="66" charset="0"/>
                <a:cs typeface="Arial" pitchFamily="34" charset="0"/>
              </a:rPr>
              <a:t>P</a:t>
            </a:r>
            <a:r>
              <a:rPr lang="en-US" sz="3400" dirty="0">
                <a:latin typeface="Comic Sans MS" pitchFamily="66" charset="0"/>
                <a:cs typeface="Arial" pitchFamily="34" charset="0"/>
              </a:rPr>
              <a:t>A</a:t>
            </a:r>
          </a:p>
        </p:txBody>
      </p:sp>
      <p:sp>
        <p:nvSpPr>
          <p:cNvPr id="52" name="TextBox 51"/>
          <p:cNvSpPr txBox="1"/>
          <p:nvPr/>
        </p:nvSpPr>
        <p:spPr>
          <a:xfrm>
            <a:off x="3981431" y="4495801"/>
            <a:ext cx="696023" cy="615553"/>
          </a:xfrm>
          <a:prstGeom prst="rect">
            <a:avLst/>
          </a:prstGeom>
          <a:solidFill>
            <a:schemeClr val="bg1"/>
          </a:solidFill>
        </p:spPr>
        <p:txBody>
          <a:bodyPr wrap="none" rtlCol="0">
            <a:spAutoFit/>
          </a:bodyPr>
          <a:lstStyle/>
          <a:p>
            <a:pPr algn="ctr"/>
            <a:r>
              <a:rPr lang="sr-Latn-CS" sz="3400" dirty="0">
                <a:latin typeface="Comic Sans MS" pitchFamily="66" charset="0"/>
                <a:cs typeface="Arial" pitchFamily="34" charset="0"/>
              </a:rPr>
              <a:t>E</a:t>
            </a:r>
            <a:r>
              <a:rPr lang="en-US" sz="3400" dirty="0">
                <a:latin typeface="Comic Sans MS" pitchFamily="66" charset="0"/>
                <a:cs typeface="Arial" pitchFamily="34" charset="0"/>
              </a:rPr>
              <a:t>I</a:t>
            </a:r>
          </a:p>
        </p:txBody>
      </p:sp>
      <p:sp>
        <p:nvSpPr>
          <p:cNvPr id="53" name="TextBox 52"/>
          <p:cNvSpPr txBox="1"/>
          <p:nvPr/>
        </p:nvSpPr>
        <p:spPr>
          <a:xfrm>
            <a:off x="5026933" y="4495801"/>
            <a:ext cx="731290" cy="615553"/>
          </a:xfrm>
          <a:prstGeom prst="rect">
            <a:avLst/>
          </a:prstGeom>
          <a:solidFill>
            <a:schemeClr val="bg1"/>
          </a:solidFill>
        </p:spPr>
        <p:txBody>
          <a:bodyPr wrap="none" rtlCol="0">
            <a:spAutoFit/>
          </a:bodyPr>
          <a:lstStyle/>
          <a:p>
            <a:pPr algn="ctr"/>
            <a:r>
              <a:rPr lang="sr-Latn-CS" sz="3400" dirty="0">
                <a:latin typeface="Comic Sans MS" pitchFamily="66" charset="0"/>
                <a:cs typeface="Arial" pitchFamily="34" charset="0"/>
              </a:rPr>
              <a:t>P</a:t>
            </a:r>
            <a:r>
              <a:rPr lang="en-US" sz="3400" dirty="0">
                <a:latin typeface="Comic Sans MS" pitchFamily="66" charset="0"/>
                <a:cs typeface="Arial" pitchFamily="34" charset="0"/>
              </a:rPr>
              <a:t>A</a:t>
            </a:r>
          </a:p>
        </p:txBody>
      </p:sp>
      <p:sp>
        <p:nvSpPr>
          <p:cNvPr id="54" name="TextBox 53"/>
          <p:cNvSpPr txBox="1"/>
          <p:nvPr/>
        </p:nvSpPr>
        <p:spPr>
          <a:xfrm>
            <a:off x="5795803" y="4495801"/>
            <a:ext cx="724878" cy="646331"/>
          </a:xfrm>
          <a:prstGeom prst="rect">
            <a:avLst/>
          </a:prstGeom>
          <a:solidFill>
            <a:schemeClr val="bg1"/>
          </a:solidFill>
        </p:spPr>
        <p:txBody>
          <a:bodyPr wrap="none" rtlCol="0">
            <a:spAutoFit/>
          </a:bodyPr>
          <a:lstStyle/>
          <a:p>
            <a:pPr algn="ctr"/>
            <a:r>
              <a:rPr lang="sr-Latn-CS" sz="3600" dirty="0">
                <a:latin typeface="Comic Sans MS" pitchFamily="66" charset="0"/>
                <a:cs typeface="Arial" pitchFamily="34" charset="0"/>
              </a:rPr>
              <a:t>E</a:t>
            </a:r>
            <a:r>
              <a:rPr lang="en-US" sz="3600" dirty="0">
                <a:latin typeface="Comic Sans MS" pitchFamily="66" charset="0"/>
                <a:cs typeface="Arial" pitchFamily="34" charset="0"/>
              </a:rPr>
              <a:t>I</a:t>
            </a:r>
          </a:p>
        </p:txBody>
      </p:sp>
      <p:sp>
        <p:nvSpPr>
          <p:cNvPr id="55" name="TextBox 54"/>
          <p:cNvSpPr txBox="1"/>
          <p:nvPr/>
        </p:nvSpPr>
        <p:spPr>
          <a:xfrm>
            <a:off x="6855733" y="4495801"/>
            <a:ext cx="731290" cy="615553"/>
          </a:xfrm>
          <a:prstGeom prst="rect">
            <a:avLst/>
          </a:prstGeom>
          <a:solidFill>
            <a:schemeClr val="bg1"/>
          </a:solidFill>
        </p:spPr>
        <p:txBody>
          <a:bodyPr wrap="none" rtlCol="0">
            <a:spAutoFit/>
          </a:bodyPr>
          <a:lstStyle/>
          <a:p>
            <a:pPr algn="ctr"/>
            <a:r>
              <a:rPr lang="sr-Latn-CS" sz="3400" dirty="0">
                <a:latin typeface="Comic Sans MS" pitchFamily="66" charset="0"/>
                <a:cs typeface="Arial" pitchFamily="34" charset="0"/>
              </a:rPr>
              <a:t>P</a:t>
            </a:r>
            <a:r>
              <a:rPr lang="en-US" sz="3400" dirty="0">
                <a:latin typeface="Comic Sans MS" pitchFamily="66" charset="0"/>
                <a:cs typeface="Arial" pitchFamily="34" charset="0"/>
              </a:rPr>
              <a:t>A</a:t>
            </a:r>
          </a:p>
        </p:txBody>
      </p:sp>
      <p:sp>
        <p:nvSpPr>
          <p:cNvPr id="56" name="TextBox 55"/>
          <p:cNvSpPr txBox="1"/>
          <p:nvPr/>
        </p:nvSpPr>
        <p:spPr>
          <a:xfrm>
            <a:off x="7639031" y="4495801"/>
            <a:ext cx="696023" cy="615553"/>
          </a:xfrm>
          <a:prstGeom prst="rect">
            <a:avLst/>
          </a:prstGeom>
          <a:solidFill>
            <a:schemeClr val="bg1"/>
          </a:solidFill>
        </p:spPr>
        <p:txBody>
          <a:bodyPr wrap="none" rtlCol="0">
            <a:spAutoFit/>
          </a:bodyPr>
          <a:lstStyle/>
          <a:p>
            <a:pPr algn="ctr"/>
            <a:r>
              <a:rPr lang="sr-Latn-CS" sz="3400" dirty="0">
                <a:latin typeface="Comic Sans MS" pitchFamily="66" charset="0"/>
                <a:cs typeface="Arial" pitchFamily="34" charset="0"/>
              </a:rPr>
              <a:t>E</a:t>
            </a:r>
            <a:r>
              <a:rPr lang="en-US" sz="3400" dirty="0">
                <a:latin typeface="Comic Sans MS" pitchFamily="66" charset="0"/>
                <a:cs typeface="Arial" pitchFamily="34" charset="0"/>
              </a:rPr>
              <a:t>I</a:t>
            </a:r>
          </a:p>
        </p:txBody>
      </p:sp>
      <p:sp>
        <p:nvSpPr>
          <p:cNvPr id="57" name="TextBox 56"/>
          <p:cNvSpPr txBox="1"/>
          <p:nvPr/>
        </p:nvSpPr>
        <p:spPr>
          <a:xfrm>
            <a:off x="8684533" y="4495801"/>
            <a:ext cx="731290" cy="615553"/>
          </a:xfrm>
          <a:prstGeom prst="rect">
            <a:avLst/>
          </a:prstGeom>
          <a:solidFill>
            <a:schemeClr val="bg1"/>
          </a:solidFill>
        </p:spPr>
        <p:txBody>
          <a:bodyPr wrap="none" rtlCol="0">
            <a:spAutoFit/>
          </a:bodyPr>
          <a:lstStyle/>
          <a:p>
            <a:pPr algn="ctr"/>
            <a:r>
              <a:rPr lang="sr-Latn-CS" sz="3400" dirty="0">
                <a:latin typeface="Comic Sans MS" pitchFamily="66" charset="0"/>
                <a:cs typeface="Arial" pitchFamily="34" charset="0"/>
              </a:rPr>
              <a:t>P</a:t>
            </a:r>
            <a:r>
              <a:rPr lang="en-US" sz="3400" dirty="0">
                <a:latin typeface="Comic Sans MS" pitchFamily="66" charset="0"/>
                <a:cs typeface="Arial" pitchFamily="34" charset="0"/>
              </a:rPr>
              <a:t>A</a:t>
            </a:r>
          </a:p>
        </p:txBody>
      </p:sp>
    </p:spTree>
    <p:extLst>
      <p:ext uri="{BB962C8B-B14F-4D97-AF65-F5344CB8AC3E}">
        <p14:creationId xmlns:p14="http://schemas.microsoft.com/office/powerpoint/2010/main" val="2430776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bwMode="auto">
          <a:xfrm>
            <a:off x="2133600" y="533400"/>
            <a:ext cx="3276600" cy="3276600"/>
          </a:xfrm>
          <a:prstGeom prst="ellips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i="1" dirty="0">
                <a:latin typeface="Comic Sans MS" pitchFamily="66" charset="0"/>
              </a:rPr>
              <a:t>TASKS</a:t>
            </a:r>
          </a:p>
        </p:txBody>
      </p:sp>
      <p:sp>
        <p:nvSpPr>
          <p:cNvPr id="6" name="Oval 5"/>
          <p:cNvSpPr/>
          <p:nvPr/>
        </p:nvSpPr>
        <p:spPr bwMode="auto">
          <a:xfrm>
            <a:off x="5105400" y="2286000"/>
            <a:ext cx="2438400" cy="2438400"/>
          </a:xfrm>
          <a:prstGeom prst="ellips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i="1" dirty="0">
                <a:latin typeface="Comic Sans MS" pitchFamily="66" charset="0"/>
              </a:rPr>
              <a:t>OBJECTIVES</a:t>
            </a:r>
          </a:p>
        </p:txBody>
      </p:sp>
      <p:sp>
        <p:nvSpPr>
          <p:cNvPr id="7" name="Oval 6"/>
          <p:cNvSpPr/>
          <p:nvPr/>
        </p:nvSpPr>
        <p:spPr bwMode="auto">
          <a:xfrm>
            <a:off x="7239000" y="3733800"/>
            <a:ext cx="1600200" cy="1600200"/>
          </a:xfrm>
          <a:prstGeom prst="ellips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i="1" dirty="0">
                <a:latin typeface="Comic Sans MS" pitchFamily="66" charset="0"/>
              </a:rPr>
              <a:t>GOALS</a:t>
            </a:r>
          </a:p>
        </p:txBody>
      </p:sp>
      <p:sp>
        <p:nvSpPr>
          <p:cNvPr id="9" name="Oval 8"/>
          <p:cNvSpPr/>
          <p:nvPr/>
        </p:nvSpPr>
        <p:spPr bwMode="auto">
          <a:xfrm>
            <a:off x="8610600" y="4648200"/>
            <a:ext cx="1295400" cy="1295400"/>
          </a:xfrm>
          <a:prstGeom prst="ellips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i="1" dirty="0">
                <a:latin typeface="Comic Sans MS" pitchFamily="66" charset="0"/>
              </a:rPr>
              <a:t>MISSION</a:t>
            </a:r>
          </a:p>
        </p:txBody>
      </p:sp>
      <p:sp>
        <p:nvSpPr>
          <p:cNvPr id="10" name="TextBox 9"/>
          <p:cNvSpPr txBox="1"/>
          <p:nvPr/>
        </p:nvSpPr>
        <p:spPr>
          <a:xfrm>
            <a:off x="1767318" y="5270501"/>
            <a:ext cx="5759910" cy="1015663"/>
          </a:xfrm>
          <a:prstGeom prst="rect">
            <a:avLst/>
          </a:prstGeom>
          <a:noFill/>
        </p:spPr>
        <p:txBody>
          <a:bodyPr wrap="none" rtlCol="0">
            <a:spAutoFit/>
          </a:bodyPr>
          <a:lstStyle/>
          <a:p>
            <a:r>
              <a:rPr lang="en-US" sz="2000" b="1" dirty="0">
                <a:latin typeface="Comic Sans MS" pitchFamily="66" charset="0"/>
                <a:cs typeface="Arial" pitchFamily="34" charset="0"/>
              </a:rPr>
              <a:t>EVERY MISSION HAS AT LEAST 4 GOALS</a:t>
            </a:r>
          </a:p>
          <a:p>
            <a:r>
              <a:rPr lang="en-US" sz="2000" b="1" dirty="0">
                <a:latin typeface="Comic Sans MS" pitchFamily="66" charset="0"/>
                <a:cs typeface="Arial" pitchFamily="34" charset="0"/>
              </a:rPr>
              <a:t>EVERY GOALS HAS MORE OBJECTIVES</a:t>
            </a:r>
          </a:p>
          <a:p>
            <a:r>
              <a:rPr lang="en-US" sz="2000" b="1" dirty="0">
                <a:latin typeface="Comic Sans MS" pitchFamily="66" charset="0"/>
                <a:cs typeface="Arial" pitchFamily="34" charset="0"/>
              </a:rPr>
              <a:t>EVERY OBJECTIVE HAS MORE TASKS</a:t>
            </a:r>
            <a:endParaRPr lang="sr-Latn-CS" sz="2000" b="1" dirty="0">
              <a:latin typeface="Comic Sans MS" pitchFamily="66" charset="0"/>
              <a:cs typeface="Arial" pitchFamily="34" charset="0"/>
            </a:endParaRPr>
          </a:p>
        </p:txBody>
      </p:sp>
    </p:spTree>
    <p:extLst>
      <p:ext uri="{BB962C8B-B14F-4D97-AF65-F5344CB8AC3E}">
        <p14:creationId xmlns:p14="http://schemas.microsoft.com/office/powerpoint/2010/main" val="1537114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930400" y="609600"/>
            <a:ext cx="8458200" cy="5562600"/>
          </a:xfrm>
        </p:spPr>
        <p:txBody>
          <a:bodyPr/>
          <a:lstStyle/>
          <a:p>
            <a:pPr algn="l"/>
            <a:r>
              <a:rPr lang="en-US" dirty="0">
                <a:solidFill>
                  <a:srgbClr val="3333FF"/>
                </a:solidFill>
                <a:latin typeface="Comic Sans MS" pitchFamily="66" charset="0"/>
              </a:rPr>
              <a:t>Mission Priority Setting</a:t>
            </a:r>
            <a:br>
              <a:rPr lang="en-US" dirty="0">
                <a:solidFill>
                  <a:srgbClr val="3333FF"/>
                </a:solidFill>
                <a:latin typeface="Comic Sans MS" pitchFamily="66" charset="0"/>
              </a:rPr>
            </a:br>
            <a:br>
              <a:rPr lang="en-US" dirty="0">
                <a:solidFill>
                  <a:srgbClr val="3333FF"/>
                </a:solidFill>
                <a:latin typeface="Comic Sans MS" pitchFamily="66" charset="0"/>
              </a:rPr>
            </a:br>
            <a:r>
              <a:rPr lang="en-US" sz="2400" dirty="0">
                <a:latin typeface="Comic Sans MS" pitchFamily="66" charset="0"/>
              </a:rPr>
              <a:t>First identify </a:t>
            </a:r>
            <a:r>
              <a:rPr lang="en-US" sz="2400" b="1" dirty="0">
                <a:solidFill>
                  <a:srgbClr val="00B050"/>
                </a:solidFill>
                <a:latin typeface="Comic Sans MS" pitchFamily="66" charset="0"/>
              </a:rPr>
              <a:t>WHAT </a:t>
            </a:r>
            <a:r>
              <a:rPr lang="en-US" sz="2400" dirty="0">
                <a:latin typeface="Comic Sans MS" pitchFamily="66" charset="0"/>
              </a:rPr>
              <a:t>can be done in </a:t>
            </a:r>
            <a:r>
              <a:rPr lang="en-US" sz="2400" b="1" dirty="0">
                <a:solidFill>
                  <a:srgbClr val="00B050"/>
                </a:solidFill>
                <a:latin typeface="Comic Sans MS" pitchFamily="66" charset="0"/>
              </a:rPr>
              <a:t>CUSTOMER INTERFACE</a:t>
            </a:r>
            <a:r>
              <a:rPr lang="en-US" sz="2400" dirty="0">
                <a:latin typeface="Comic Sans MS" pitchFamily="66" charset="0"/>
              </a:rPr>
              <a:t>: </a:t>
            </a:r>
            <a:r>
              <a:rPr lang="en-US" sz="2400" b="1" dirty="0">
                <a:solidFill>
                  <a:srgbClr val="00B050"/>
                </a:solidFill>
                <a:latin typeface="Comic Sans MS" pitchFamily="66" charset="0"/>
              </a:rPr>
              <a:t>WHAT</a:t>
            </a:r>
            <a:r>
              <a:rPr lang="en-US" sz="2400" dirty="0">
                <a:latin typeface="Comic Sans MS" pitchFamily="66" charset="0"/>
              </a:rPr>
              <a:t> are the </a:t>
            </a:r>
            <a:r>
              <a:rPr lang="en-US" sz="2400" b="1" dirty="0">
                <a:latin typeface="Comic Sans MS" pitchFamily="66" charset="0"/>
              </a:rPr>
              <a:t>OPPORTHREATS</a:t>
            </a:r>
            <a:r>
              <a:rPr lang="en-US" sz="2400" dirty="0">
                <a:latin typeface="Comic Sans MS" pitchFamily="66" charset="0"/>
              </a:rPr>
              <a:t>?</a:t>
            </a:r>
            <a:br>
              <a:rPr lang="en-US" sz="2400" dirty="0">
                <a:latin typeface="Comic Sans MS" pitchFamily="66" charset="0"/>
              </a:rPr>
            </a:br>
            <a:br>
              <a:rPr lang="en-US" sz="2400" dirty="0">
                <a:latin typeface="Comic Sans MS" pitchFamily="66" charset="0"/>
              </a:rPr>
            </a:br>
            <a:r>
              <a:rPr lang="en-US" sz="2400" dirty="0">
                <a:latin typeface="Comic Sans MS" pitchFamily="66" charset="0"/>
              </a:rPr>
              <a:t>Then analyze </a:t>
            </a:r>
            <a:r>
              <a:rPr lang="en-US" sz="2400" b="1" dirty="0">
                <a:solidFill>
                  <a:schemeClr val="accent2"/>
                </a:solidFill>
                <a:latin typeface="Comic Sans MS" pitchFamily="66" charset="0"/>
              </a:rPr>
              <a:t>HOW</a:t>
            </a:r>
            <a:r>
              <a:rPr lang="en-US" sz="2400" b="1" dirty="0">
                <a:latin typeface="Comic Sans MS" pitchFamily="66" charset="0"/>
              </a:rPr>
              <a:t> </a:t>
            </a:r>
            <a:r>
              <a:rPr lang="en-US" sz="2400" dirty="0">
                <a:latin typeface="Comic Sans MS" pitchFamily="66" charset="0"/>
              </a:rPr>
              <a:t>it could be done – Do we have the knowledge and capability? </a:t>
            </a:r>
            <a:r>
              <a:rPr lang="en-US" sz="2400" b="1" dirty="0">
                <a:solidFill>
                  <a:schemeClr val="accent2"/>
                </a:solidFill>
                <a:latin typeface="Comic Sans MS" pitchFamily="66" charset="0"/>
              </a:rPr>
              <a:t>TRANSFORMATION</a:t>
            </a:r>
            <a:br>
              <a:rPr lang="en-US" sz="2400" dirty="0">
                <a:latin typeface="Comic Sans MS" pitchFamily="66" charset="0"/>
              </a:rPr>
            </a:br>
            <a:br>
              <a:rPr lang="en-US" sz="2400" dirty="0">
                <a:latin typeface="Comic Sans MS" pitchFamily="66" charset="0"/>
              </a:rPr>
            </a:br>
            <a:r>
              <a:rPr lang="en-US" sz="2400" dirty="0">
                <a:latin typeface="Comic Sans MS" pitchFamily="66" charset="0"/>
              </a:rPr>
              <a:t>Then analyze </a:t>
            </a:r>
            <a:r>
              <a:rPr lang="en-US" sz="2400" b="1" dirty="0">
                <a:solidFill>
                  <a:srgbClr val="FF0000"/>
                </a:solidFill>
                <a:latin typeface="Comic Sans MS" pitchFamily="66" charset="0"/>
              </a:rPr>
              <a:t>WHO</a:t>
            </a:r>
            <a:r>
              <a:rPr lang="en-US" sz="2400" b="1" dirty="0">
                <a:latin typeface="Comic Sans MS" pitchFamily="66" charset="0"/>
              </a:rPr>
              <a:t> </a:t>
            </a:r>
            <a:r>
              <a:rPr lang="en-US" sz="2400" dirty="0">
                <a:latin typeface="Comic Sans MS" pitchFamily="66" charset="0"/>
              </a:rPr>
              <a:t>could do it- are the </a:t>
            </a:r>
            <a:r>
              <a:rPr lang="en-US" sz="2400" b="1" dirty="0">
                <a:solidFill>
                  <a:srgbClr val="FF0000"/>
                </a:solidFill>
                <a:latin typeface="Comic Sans MS" pitchFamily="66" charset="0"/>
              </a:rPr>
              <a:t>HUMAN RESOURCES</a:t>
            </a:r>
            <a:r>
              <a:rPr lang="en-US" sz="2400" b="1" dirty="0">
                <a:latin typeface="Comic Sans MS" pitchFamily="66" charset="0"/>
              </a:rPr>
              <a:t> </a:t>
            </a:r>
            <a:r>
              <a:rPr lang="en-US" sz="2400" dirty="0">
                <a:latin typeface="Comic Sans MS" pitchFamily="66" charset="0"/>
              </a:rPr>
              <a:t>available?</a:t>
            </a:r>
            <a:br>
              <a:rPr lang="en-US" sz="2400" dirty="0">
                <a:latin typeface="Comic Sans MS" pitchFamily="66" charset="0"/>
              </a:rPr>
            </a:br>
            <a:br>
              <a:rPr lang="en-US" sz="2400" dirty="0">
                <a:latin typeface="Comic Sans MS" pitchFamily="66" charset="0"/>
              </a:rPr>
            </a:br>
            <a:r>
              <a:rPr lang="en-US" sz="2400" dirty="0">
                <a:latin typeface="Comic Sans MS" pitchFamily="66" charset="0"/>
              </a:rPr>
              <a:t>Next, identify </a:t>
            </a:r>
            <a:r>
              <a:rPr lang="en-US" sz="2400" b="1" dirty="0">
                <a:solidFill>
                  <a:srgbClr val="FF00FF"/>
                </a:solidFill>
                <a:latin typeface="Comic Sans MS" pitchFamily="66" charset="0"/>
              </a:rPr>
              <a:t>WHEN</a:t>
            </a:r>
            <a:r>
              <a:rPr lang="en-US" sz="2400" b="1" dirty="0">
                <a:latin typeface="Comic Sans MS" pitchFamily="66" charset="0"/>
              </a:rPr>
              <a:t> </a:t>
            </a:r>
            <a:r>
              <a:rPr lang="en-US" sz="2400" dirty="0">
                <a:latin typeface="Comic Sans MS" pitchFamily="66" charset="0"/>
              </a:rPr>
              <a:t>it could be done and whether the </a:t>
            </a:r>
            <a:r>
              <a:rPr lang="en-US" sz="2400" b="1" dirty="0">
                <a:solidFill>
                  <a:srgbClr val="FF00FF"/>
                </a:solidFill>
                <a:latin typeface="Comic Sans MS" pitchFamily="66" charset="0"/>
              </a:rPr>
              <a:t>FINANCIAL RESOURCES</a:t>
            </a:r>
            <a:r>
              <a:rPr lang="en-US" sz="2400" b="1" dirty="0">
                <a:latin typeface="Comic Sans MS" pitchFamily="66" charset="0"/>
              </a:rPr>
              <a:t> </a:t>
            </a:r>
            <a:r>
              <a:rPr lang="en-US" sz="2400" dirty="0">
                <a:latin typeface="Comic Sans MS" pitchFamily="66" charset="0"/>
              </a:rPr>
              <a:t>are available.</a:t>
            </a:r>
            <a:endParaRPr lang="en-US" sz="2400" dirty="0">
              <a:solidFill>
                <a:srgbClr val="3333FF"/>
              </a:solidFill>
              <a:latin typeface="Comic Sans MS" pitchFamily="66" charset="0"/>
            </a:endParaRPr>
          </a:p>
        </p:txBody>
      </p:sp>
    </p:spTree>
    <p:extLst>
      <p:ext uri="{BB962C8B-B14F-4D97-AF65-F5344CB8AC3E}">
        <p14:creationId xmlns:p14="http://schemas.microsoft.com/office/powerpoint/2010/main" val="1550031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dirty="0">
                <a:latin typeface="Comic Sans MS" pitchFamily="66" charset="0"/>
              </a:rPr>
              <a:t>The Black Book</a:t>
            </a:r>
          </a:p>
        </p:txBody>
      </p:sp>
      <p:sp>
        <p:nvSpPr>
          <p:cNvPr id="26628" name="Rectangle 3"/>
          <p:cNvSpPr>
            <a:spLocks noGrp="1" noChangeArrowheads="1"/>
          </p:cNvSpPr>
          <p:nvPr>
            <p:ph type="body" idx="1"/>
          </p:nvPr>
        </p:nvSpPr>
        <p:spPr/>
        <p:txBody>
          <a:bodyPr/>
          <a:lstStyle/>
          <a:p>
            <a:r>
              <a:rPr lang="en-US" dirty="0">
                <a:latin typeface="Comic Sans MS" pitchFamily="66" charset="0"/>
              </a:rPr>
              <a:t>Inspect Vs. Expect</a:t>
            </a:r>
          </a:p>
          <a:p>
            <a:r>
              <a:rPr lang="en-US" dirty="0">
                <a:latin typeface="Comic Sans MS" pitchFamily="66" charset="0"/>
              </a:rPr>
              <a:t>Management Control Vs. Ambiguity</a:t>
            </a:r>
          </a:p>
          <a:p>
            <a:r>
              <a:rPr lang="en-US" dirty="0">
                <a:latin typeface="Comic Sans MS" pitchFamily="66" charset="0"/>
              </a:rPr>
              <a:t>The Tools</a:t>
            </a:r>
          </a:p>
          <a:p>
            <a:pPr lvl="1"/>
            <a:r>
              <a:rPr lang="en-US" dirty="0">
                <a:latin typeface="Comic Sans MS" pitchFamily="66" charset="0"/>
              </a:rPr>
              <a:t>Job Description</a:t>
            </a:r>
          </a:p>
          <a:p>
            <a:pPr lvl="1"/>
            <a:r>
              <a:rPr lang="en-US" dirty="0">
                <a:latin typeface="Comic Sans MS" pitchFamily="66" charset="0"/>
              </a:rPr>
              <a:t>Performance Objectives</a:t>
            </a:r>
          </a:p>
          <a:p>
            <a:pPr lvl="1"/>
            <a:r>
              <a:rPr lang="en-US" sz="4400" b="1" dirty="0">
                <a:solidFill>
                  <a:srgbClr val="FF0000"/>
                </a:solidFill>
                <a:latin typeface="Comic Sans MS" pitchFamily="66" charset="0"/>
              </a:rPr>
              <a:t>Key Performance Indicators</a:t>
            </a:r>
          </a:p>
        </p:txBody>
      </p:sp>
    </p:spTree>
    <p:extLst>
      <p:ext uri="{BB962C8B-B14F-4D97-AF65-F5344CB8AC3E}">
        <p14:creationId xmlns:p14="http://schemas.microsoft.com/office/powerpoint/2010/main" val="252173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de-DE" dirty="0">
                <a:solidFill>
                  <a:srgbClr val="FF0000"/>
                </a:solidFill>
                <a:latin typeface="Comic Sans MS" pitchFamily="66" charset="0"/>
              </a:rPr>
              <a:t>Select significant KPIs</a:t>
            </a:r>
          </a:p>
        </p:txBody>
      </p:sp>
      <p:grpSp>
        <p:nvGrpSpPr>
          <p:cNvPr id="8195" name="Group 5"/>
          <p:cNvGrpSpPr>
            <a:grpSpLocks/>
          </p:cNvGrpSpPr>
          <p:nvPr/>
        </p:nvGrpSpPr>
        <p:grpSpPr bwMode="auto">
          <a:xfrm>
            <a:off x="2734268" y="1392072"/>
            <a:ext cx="6713824" cy="5084928"/>
            <a:chOff x="1056" y="1344"/>
            <a:chExt cx="3600" cy="2563"/>
          </a:xfrm>
        </p:grpSpPr>
        <p:pic>
          <p:nvPicPr>
            <p:cNvPr id="8196" name="Picture 3" descr="Baby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1344"/>
              <a:ext cx="3600" cy="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Oval 4"/>
            <p:cNvSpPr>
              <a:spLocks noChangeArrowheads="1"/>
            </p:cNvSpPr>
            <p:nvPr/>
          </p:nvSpPr>
          <p:spPr bwMode="auto">
            <a:xfrm>
              <a:off x="2496" y="1536"/>
              <a:ext cx="1056" cy="62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sz="2000" b="1" dirty="0">
                  <a:latin typeface="Arial" charset="0"/>
                </a:rPr>
                <a:t>Which</a:t>
              </a:r>
              <a:r>
                <a:rPr lang="de-DE" sz="2000" b="1" dirty="0">
                  <a:latin typeface="Arial" charset="0"/>
                </a:rPr>
                <a:t> </a:t>
              </a:r>
              <a:r>
                <a:rPr lang="en-US" sz="2000" b="1" dirty="0">
                  <a:latin typeface="Arial" charset="0"/>
                </a:rPr>
                <a:t>one</a:t>
              </a:r>
            </a:p>
            <a:p>
              <a:pPr algn="ctr"/>
              <a:r>
                <a:rPr lang="en-US" sz="2000" b="1" dirty="0">
                  <a:latin typeface="Arial" charset="0"/>
                </a:rPr>
                <a:t>Is mine?</a:t>
              </a:r>
            </a:p>
          </p:txBody>
        </p:sp>
      </p:grpSp>
    </p:spTree>
    <p:extLst>
      <p:ext uri="{BB962C8B-B14F-4D97-AF65-F5344CB8AC3E}">
        <p14:creationId xmlns:p14="http://schemas.microsoft.com/office/powerpoint/2010/main" val="151528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a:off x="2120669" y="572626"/>
            <a:ext cx="7924800" cy="4355038"/>
          </a:xfrm>
          <a:prstGeom prst="rect">
            <a:avLst/>
          </a:prstGeom>
          <a:noFill/>
          <a:ln w="9525">
            <a:noFill/>
            <a:miter lim="800000"/>
            <a:headEnd/>
            <a:tailEnd/>
          </a:ln>
        </p:spPr>
        <p:txBody>
          <a:bodyPr wrap="square" bIns="0">
            <a:spAutoFit/>
          </a:bodyPr>
          <a:lstStyle/>
          <a:p>
            <a:pPr lvl="0" hangingPunct="0"/>
            <a:r>
              <a:rPr lang="en-US" sz="4000" dirty="0">
                <a:solidFill>
                  <a:srgbClr val="0000FF"/>
                </a:solidFill>
                <a:effectLst>
                  <a:outerShdw blurRad="38100" dist="38100" dir="2700000" algn="tl">
                    <a:srgbClr val="000000">
                      <a:alpha val="43137"/>
                    </a:srgbClr>
                  </a:outerShdw>
                </a:effectLst>
                <a:latin typeface="Comic Sans MS" pitchFamily="66" charset="0"/>
              </a:rPr>
              <a:t>Number of students</a:t>
            </a:r>
            <a:endParaRPr lang="sr-Latn-CS" sz="4000" dirty="0">
              <a:solidFill>
                <a:srgbClr val="0000FF"/>
              </a:solidFill>
              <a:effectLst>
                <a:outerShdw blurRad="38100" dist="38100" dir="2700000" algn="tl">
                  <a:srgbClr val="000000">
                    <a:alpha val="43137"/>
                  </a:srgbClr>
                </a:outerShdw>
              </a:effectLst>
              <a:latin typeface="Comic Sans MS" pitchFamily="66" charset="0"/>
            </a:endParaRPr>
          </a:p>
          <a:p>
            <a:pPr lvl="0" hangingPunct="0"/>
            <a:r>
              <a:rPr lang="en-US" sz="4000" dirty="0">
                <a:solidFill>
                  <a:srgbClr val="0000FF"/>
                </a:solidFill>
                <a:effectLst>
                  <a:outerShdw blurRad="38100" dist="38100" dir="2700000" algn="tl">
                    <a:srgbClr val="000000">
                      <a:alpha val="43137"/>
                    </a:srgbClr>
                  </a:outerShdw>
                </a:effectLst>
                <a:latin typeface="Comic Sans MS" pitchFamily="66" charset="0"/>
              </a:rPr>
              <a:t>Revenue per student</a:t>
            </a:r>
            <a:endParaRPr lang="sr-Latn-CS" sz="4000" dirty="0">
              <a:solidFill>
                <a:srgbClr val="0000FF"/>
              </a:solidFill>
              <a:effectLst>
                <a:outerShdw blurRad="38100" dist="38100" dir="2700000" algn="tl">
                  <a:srgbClr val="000000">
                    <a:alpha val="43137"/>
                  </a:srgbClr>
                </a:outerShdw>
              </a:effectLst>
              <a:latin typeface="Comic Sans MS" pitchFamily="66" charset="0"/>
            </a:endParaRPr>
          </a:p>
          <a:p>
            <a:pPr lvl="0" hangingPunct="0"/>
            <a:r>
              <a:rPr lang="en-US" sz="4000" dirty="0">
                <a:solidFill>
                  <a:srgbClr val="0000FF"/>
                </a:solidFill>
                <a:effectLst>
                  <a:outerShdw blurRad="38100" dist="38100" dir="2700000" algn="tl">
                    <a:srgbClr val="000000">
                      <a:alpha val="43137"/>
                    </a:srgbClr>
                  </a:outerShdw>
                </a:effectLst>
                <a:latin typeface="Comic Sans MS" pitchFamily="66" charset="0"/>
              </a:rPr>
              <a:t>Revenue per program</a:t>
            </a:r>
            <a:endParaRPr lang="sr-Latn-CS" sz="4000" dirty="0">
              <a:solidFill>
                <a:srgbClr val="0000FF"/>
              </a:solidFill>
              <a:effectLst>
                <a:outerShdw blurRad="38100" dist="38100" dir="2700000" algn="tl">
                  <a:srgbClr val="000000">
                    <a:alpha val="43137"/>
                  </a:srgbClr>
                </a:outerShdw>
              </a:effectLst>
              <a:latin typeface="Comic Sans MS" pitchFamily="66" charset="0"/>
            </a:endParaRPr>
          </a:p>
          <a:p>
            <a:pPr lvl="0" hangingPunct="0"/>
            <a:r>
              <a:rPr lang="en-US" sz="4000" dirty="0">
                <a:solidFill>
                  <a:srgbClr val="0000FF"/>
                </a:solidFill>
                <a:effectLst>
                  <a:outerShdw blurRad="38100" dist="38100" dir="2700000" algn="tl">
                    <a:srgbClr val="000000">
                      <a:alpha val="43137"/>
                    </a:srgbClr>
                  </a:outerShdw>
                </a:effectLst>
                <a:latin typeface="Comic Sans MS" pitchFamily="66" charset="0"/>
              </a:rPr>
              <a:t>Students per program</a:t>
            </a:r>
            <a:endParaRPr lang="sr-Latn-CS" sz="4000" dirty="0">
              <a:solidFill>
                <a:srgbClr val="0000FF"/>
              </a:solidFill>
              <a:effectLst>
                <a:outerShdw blurRad="38100" dist="38100" dir="2700000" algn="tl">
                  <a:srgbClr val="000000">
                    <a:alpha val="43137"/>
                  </a:srgbClr>
                </a:outerShdw>
              </a:effectLst>
              <a:latin typeface="Comic Sans MS" pitchFamily="66" charset="0"/>
            </a:endParaRPr>
          </a:p>
          <a:p>
            <a:pPr lvl="0" hangingPunct="0"/>
            <a:r>
              <a:rPr lang="en-US" sz="4000" dirty="0">
                <a:solidFill>
                  <a:srgbClr val="0000FF"/>
                </a:solidFill>
                <a:effectLst>
                  <a:outerShdw blurRad="38100" dist="38100" dir="2700000" algn="tl">
                    <a:srgbClr val="000000">
                      <a:alpha val="43137"/>
                    </a:srgbClr>
                  </a:outerShdw>
                </a:effectLst>
                <a:latin typeface="Comic Sans MS" pitchFamily="66" charset="0"/>
              </a:rPr>
              <a:t>Faculty with PhDs</a:t>
            </a:r>
            <a:endParaRPr lang="sr-Latn-CS" sz="4000" dirty="0">
              <a:solidFill>
                <a:srgbClr val="0000FF"/>
              </a:solidFill>
              <a:effectLst>
                <a:outerShdw blurRad="38100" dist="38100" dir="2700000" algn="tl">
                  <a:srgbClr val="000000">
                    <a:alpha val="43137"/>
                  </a:srgbClr>
                </a:outerShdw>
              </a:effectLst>
              <a:latin typeface="Comic Sans MS" pitchFamily="66" charset="0"/>
            </a:endParaRPr>
          </a:p>
          <a:p>
            <a:pPr lvl="0" hangingPunct="0"/>
            <a:r>
              <a:rPr lang="en-US" sz="4000" dirty="0">
                <a:solidFill>
                  <a:srgbClr val="0000FF"/>
                </a:solidFill>
                <a:effectLst>
                  <a:outerShdw blurRad="38100" dist="38100" dir="2700000" algn="tl">
                    <a:srgbClr val="000000">
                      <a:alpha val="43137"/>
                    </a:srgbClr>
                  </a:outerShdw>
                </a:effectLst>
                <a:latin typeface="Comic Sans MS" pitchFamily="66" charset="0"/>
              </a:rPr>
              <a:t>Number of ‘A’ level publications</a:t>
            </a:r>
          </a:p>
          <a:p>
            <a:pPr lvl="0" hangingPunct="0"/>
            <a:r>
              <a:rPr lang="en-US" sz="4000" dirty="0">
                <a:solidFill>
                  <a:srgbClr val="0000FF"/>
                </a:solidFill>
                <a:effectLst>
                  <a:outerShdw blurRad="38100" dist="38100" dir="2700000" algn="tl">
                    <a:srgbClr val="000000">
                      <a:alpha val="43137"/>
                    </a:srgbClr>
                  </a:outerShdw>
                </a:effectLst>
                <a:latin typeface="Comic Sans MS" pitchFamily="66" charset="0"/>
              </a:rPr>
              <a:t>Matriculation rate</a:t>
            </a:r>
            <a:endParaRPr lang="sr-Latn-CS" sz="4000" dirty="0">
              <a:solidFill>
                <a:srgbClr val="0000FF"/>
              </a:solidFill>
              <a:effectLst>
                <a:outerShdw blurRad="38100" dist="38100" dir="2700000" algn="tl">
                  <a:srgbClr val="000000">
                    <a:alpha val="43137"/>
                  </a:srgbClr>
                </a:outerShdw>
              </a:effectLst>
              <a:latin typeface="Comic Sans MS" pitchFamily="66" charset="0"/>
            </a:endParaRPr>
          </a:p>
        </p:txBody>
      </p:sp>
    </p:spTree>
    <p:extLst>
      <p:ext uri="{BB962C8B-B14F-4D97-AF65-F5344CB8AC3E}">
        <p14:creationId xmlns:p14="http://schemas.microsoft.com/office/powerpoint/2010/main" val="2652350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dirty="0">
                <a:latin typeface="Comic Sans MS" pitchFamily="66" charset="0"/>
              </a:rPr>
              <a:t>KPIs are a must</a:t>
            </a:r>
            <a:endParaRPr lang="de-DE" dirty="0">
              <a:latin typeface="Comic Sans MS" pitchFamily="66" charset="0"/>
            </a:endParaRPr>
          </a:p>
        </p:txBody>
      </p:sp>
      <p:pic>
        <p:nvPicPr>
          <p:cNvPr id="14339" name="Picture 4" descr="auto2o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447803"/>
            <a:ext cx="60960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078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dirty="0">
                <a:latin typeface="Comic Sans MS" pitchFamily="66" charset="0"/>
              </a:rPr>
              <a:t>The Black Book</a:t>
            </a:r>
          </a:p>
        </p:txBody>
      </p:sp>
      <p:sp>
        <p:nvSpPr>
          <p:cNvPr id="26628" name="Rectangle 3"/>
          <p:cNvSpPr>
            <a:spLocks noGrp="1" noChangeArrowheads="1"/>
          </p:cNvSpPr>
          <p:nvPr>
            <p:ph type="body" idx="1"/>
          </p:nvPr>
        </p:nvSpPr>
        <p:spPr/>
        <p:txBody>
          <a:bodyPr/>
          <a:lstStyle/>
          <a:p>
            <a:r>
              <a:rPr lang="en-US" dirty="0">
                <a:latin typeface="Comic Sans MS" pitchFamily="66" charset="0"/>
              </a:rPr>
              <a:t>Inspect Vs. Expect</a:t>
            </a:r>
          </a:p>
          <a:p>
            <a:r>
              <a:rPr lang="en-US" dirty="0">
                <a:latin typeface="Comic Sans MS" pitchFamily="66" charset="0"/>
              </a:rPr>
              <a:t>Management Control Vs. Ambiguity</a:t>
            </a:r>
          </a:p>
          <a:p>
            <a:r>
              <a:rPr lang="en-US" dirty="0">
                <a:latin typeface="Comic Sans MS" pitchFamily="66" charset="0"/>
              </a:rPr>
              <a:t>The Tools</a:t>
            </a:r>
          </a:p>
          <a:p>
            <a:pPr lvl="1"/>
            <a:r>
              <a:rPr lang="en-US" dirty="0">
                <a:latin typeface="Comic Sans MS" pitchFamily="66" charset="0"/>
              </a:rPr>
              <a:t>Job Description</a:t>
            </a:r>
          </a:p>
          <a:p>
            <a:pPr lvl="1"/>
            <a:r>
              <a:rPr lang="en-US" sz="4400" b="1" dirty="0">
                <a:solidFill>
                  <a:srgbClr val="FF0000"/>
                </a:solidFill>
                <a:latin typeface="Comic Sans MS" pitchFamily="66" charset="0"/>
              </a:rPr>
              <a:t>Performance Objectives</a:t>
            </a:r>
          </a:p>
          <a:p>
            <a:pPr lvl="1"/>
            <a:r>
              <a:rPr lang="en-US" dirty="0">
                <a:latin typeface="Comic Sans MS" pitchFamily="66" charset="0"/>
              </a:rPr>
              <a:t>Key Performance Indicators</a:t>
            </a:r>
          </a:p>
        </p:txBody>
      </p:sp>
    </p:spTree>
    <p:extLst>
      <p:ext uri="{BB962C8B-B14F-4D97-AF65-F5344CB8AC3E}">
        <p14:creationId xmlns:p14="http://schemas.microsoft.com/office/powerpoint/2010/main" val="848590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1841500" y="584200"/>
            <a:ext cx="8534400" cy="1143000"/>
          </a:xfrm>
        </p:spPr>
        <p:txBody>
          <a:bodyPr/>
          <a:lstStyle/>
          <a:p>
            <a:r>
              <a:rPr lang="en-US" sz="6000" dirty="0">
                <a:solidFill>
                  <a:srgbClr val="0070C0"/>
                </a:solidFill>
                <a:latin typeface="Comic Sans MS" pitchFamily="66" charset="0"/>
              </a:rPr>
              <a:t>The four Imperatives</a:t>
            </a:r>
          </a:p>
        </p:txBody>
      </p:sp>
      <p:sp>
        <p:nvSpPr>
          <p:cNvPr id="27652" name="Rectangle 3"/>
          <p:cNvSpPr>
            <a:spLocks noGrp="1" noChangeArrowheads="1"/>
          </p:cNvSpPr>
          <p:nvPr>
            <p:ph type="body" idx="1"/>
          </p:nvPr>
        </p:nvSpPr>
        <p:spPr>
          <a:xfrm>
            <a:off x="2209800" y="2311400"/>
            <a:ext cx="7772400" cy="4114800"/>
          </a:xfrm>
        </p:spPr>
        <p:txBody>
          <a:bodyPr/>
          <a:lstStyle/>
          <a:p>
            <a:pPr lvl="1"/>
            <a:r>
              <a:rPr lang="en-US" sz="5400" dirty="0">
                <a:latin typeface="Comic Sans MS" pitchFamily="66" charset="0"/>
              </a:rPr>
              <a:t>What (and Why)</a:t>
            </a:r>
          </a:p>
          <a:p>
            <a:pPr lvl="1"/>
            <a:r>
              <a:rPr lang="en-US" sz="5400" dirty="0">
                <a:latin typeface="Comic Sans MS" pitchFamily="66" charset="0"/>
              </a:rPr>
              <a:t>How</a:t>
            </a:r>
          </a:p>
          <a:p>
            <a:pPr lvl="1"/>
            <a:r>
              <a:rPr lang="en-US" sz="5400" dirty="0">
                <a:latin typeface="Comic Sans MS" pitchFamily="66" charset="0"/>
              </a:rPr>
              <a:t>When </a:t>
            </a:r>
          </a:p>
          <a:p>
            <a:pPr lvl="1"/>
            <a:r>
              <a:rPr lang="en-US" sz="5400" dirty="0">
                <a:latin typeface="Comic Sans MS" pitchFamily="66" charset="0"/>
              </a:rPr>
              <a:t>Who</a:t>
            </a:r>
          </a:p>
          <a:p>
            <a:pPr lvl="1">
              <a:buFontTx/>
              <a:buNone/>
            </a:pPr>
            <a:endParaRPr lang="en-US" dirty="0">
              <a:latin typeface="Comic Sans MS" pitchFamily="66" charset="0"/>
            </a:endParaRPr>
          </a:p>
        </p:txBody>
      </p:sp>
    </p:spTree>
    <p:extLst>
      <p:ext uri="{BB962C8B-B14F-4D97-AF65-F5344CB8AC3E}">
        <p14:creationId xmlns:p14="http://schemas.microsoft.com/office/powerpoint/2010/main" val="2041898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ctrTitle"/>
          </p:nvPr>
        </p:nvSpPr>
        <p:spPr>
          <a:xfrm>
            <a:off x="2209800" y="2286000"/>
            <a:ext cx="7772400" cy="1143000"/>
          </a:xfrm>
        </p:spPr>
        <p:txBody>
          <a:bodyPr>
            <a:normAutofit fontScale="90000"/>
          </a:bodyPr>
          <a:lstStyle/>
          <a:p>
            <a:r>
              <a:rPr lang="en-US" sz="7200" dirty="0">
                <a:latin typeface="Comic Sans MS" pitchFamily="66" charset="0"/>
              </a:rPr>
              <a:t>The </a:t>
            </a:r>
            <a:r>
              <a:rPr lang="en-US" sz="7200" dirty="0">
                <a:solidFill>
                  <a:srgbClr val="00B050"/>
                </a:solidFill>
                <a:latin typeface="Comic Sans MS" pitchFamily="66" charset="0"/>
              </a:rPr>
              <a:t>WHAT</a:t>
            </a:r>
            <a:r>
              <a:rPr lang="en-US" sz="7200" dirty="0">
                <a:solidFill>
                  <a:srgbClr val="66FF33"/>
                </a:solidFill>
                <a:latin typeface="Comic Sans MS" pitchFamily="66" charset="0"/>
              </a:rPr>
              <a:t> </a:t>
            </a:r>
            <a:r>
              <a:rPr lang="en-US" sz="7200" dirty="0">
                <a:latin typeface="Comic Sans MS" pitchFamily="66" charset="0"/>
              </a:rPr>
              <a:t>and</a:t>
            </a:r>
            <a:r>
              <a:rPr lang="en-US" sz="7200" dirty="0">
                <a:solidFill>
                  <a:srgbClr val="66FF33"/>
                </a:solidFill>
                <a:latin typeface="Comic Sans MS" pitchFamily="66" charset="0"/>
              </a:rPr>
              <a:t> </a:t>
            </a:r>
            <a:r>
              <a:rPr lang="en-US" sz="7200" dirty="0">
                <a:solidFill>
                  <a:srgbClr val="00B050"/>
                </a:solidFill>
                <a:latin typeface="Comic Sans MS" pitchFamily="66" charset="0"/>
              </a:rPr>
              <a:t>Why</a:t>
            </a:r>
          </a:p>
        </p:txBody>
      </p:sp>
    </p:spTree>
    <p:extLst>
      <p:ext uri="{BB962C8B-B14F-4D97-AF65-F5344CB8AC3E}">
        <p14:creationId xmlns:p14="http://schemas.microsoft.com/office/powerpoint/2010/main" val="4254228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ChangeArrowheads="1"/>
          </p:cNvSpPr>
          <p:nvPr>
            <p:ph type="ctrTitle"/>
          </p:nvPr>
        </p:nvSpPr>
        <p:spPr>
          <a:xfrm>
            <a:off x="1981200" y="609600"/>
            <a:ext cx="8465127" cy="5638800"/>
          </a:xfrm>
        </p:spPr>
        <p:txBody>
          <a:bodyPr/>
          <a:lstStyle/>
          <a:p>
            <a:r>
              <a:rPr lang="en-US" altLang="en-US" sz="7200" dirty="0">
                <a:solidFill>
                  <a:srgbClr val="33CC33"/>
                </a:solidFill>
                <a:latin typeface="Comic Sans MS" pitchFamily="66" charset="0"/>
                <a:cs typeface="Arial" pitchFamily="34" charset="0"/>
              </a:rPr>
              <a:t>For what purpose</a:t>
            </a:r>
            <a:br>
              <a:rPr lang="en-US" altLang="en-US" sz="7200" dirty="0">
                <a:latin typeface="Comic Sans MS" pitchFamily="66" charset="0"/>
                <a:cs typeface="Arial" pitchFamily="34" charset="0"/>
              </a:rPr>
            </a:br>
            <a:br>
              <a:rPr lang="en-US" altLang="en-US" sz="3600" dirty="0">
                <a:latin typeface="Comic Sans MS" pitchFamily="66" charset="0"/>
                <a:cs typeface="Arial" pitchFamily="34" charset="0"/>
              </a:rPr>
            </a:br>
            <a:r>
              <a:rPr lang="en-US" altLang="en-US" sz="2800" dirty="0">
                <a:latin typeface="Comic Sans MS" pitchFamily="66" charset="0"/>
                <a:cs typeface="Arial" pitchFamily="34" charset="0"/>
              </a:rPr>
              <a:t>Explain why you decided to put yourself a objective / sub-objective. What reason? Usually we can refer to the corporate GOALS. </a:t>
            </a:r>
            <a:br>
              <a:rPr lang="en-US" altLang="en-US" sz="2800" dirty="0">
                <a:latin typeface="Comic Sans MS" pitchFamily="66" charset="0"/>
                <a:cs typeface="Arial" pitchFamily="34" charset="0"/>
              </a:rPr>
            </a:br>
            <a:r>
              <a:rPr lang="en-US" altLang="en-US" sz="2800" b="1" dirty="0">
                <a:solidFill>
                  <a:srgbClr val="C00000"/>
                </a:solidFill>
                <a:latin typeface="Comic Sans MS" pitchFamily="66" charset="0"/>
                <a:cs typeface="Arial" pitchFamily="34" charset="0"/>
              </a:rPr>
              <a:t>CI</a:t>
            </a:r>
            <a:r>
              <a:rPr lang="en-US" altLang="en-US" sz="2800" dirty="0">
                <a:latin typeface="Comic Sans MS" pitchFamily="66" charset="0"/>
                <a:cs typeface="Arial" pitchFamily="34" charset="0"/>
              </a:rPr>
              <a:t> - Relationship with the Customer? </a:t>
            </a:r>
            <a:br>
              <a:rPr lang="en-US" altLang="en-US" sz="2800" dirty="0">
                <a:latin typeface="Comic Sans MS" pitchFamily="66" charset="0"/>
                <a:cs typeface="Arial" pitchFamily="34" charset="0"/>
              </a:rPr>
            </a:br>
            <a:r>
              <a:rPr lang="en-US" altLang="en-US" sz="2800" b="1" dirty="0">
                <a:solidFill>
                  <a:srgbClr val="C00000"/>
                </a:solidFill>
                <a:latin typeface="Comic Sans MS" pitchFamily="66" charset="0"/>
                <a:cs typeface="Arial" pitchFamily="34" charset="0"/>
              </a:rPr>
              <a:t>T</a:t>
            </a:r>
            <a:r>
              <a:rPr lang="en-US" altLang="en-US" sz="2800" dirty="0">
                <a:latin typeface="Comic Sans MS" pitchFamily="66" charset="0"/>
                <a:cs typeface="Arial" pitchFamily="34" charset="0"/>
              </a:rPr>
              <a:t> - for Transformation? </a:t>
            </a:r>
            <a:br>
              <a:rPr lang="en-US" altLang="en-US" sz="2800" dirty="0">
                <a:latin typeface="Comic Sans MS" pitchFamily="66" charset="0"/>
                <a:cs typeface="Arial" pitchFamily="34" charset="0"/>
              </a:rPr>
            </a:br>
            <a:r>
              <a:rPr lang="en-US" altLang="en-US" sz="2800" b="1" dirty="0">
                <a:solidFill>
                  <a:srgbClr val="C00000"/>
                </a:solidFill>
                <a:latin typeface="Comic Sans MS" pitchFamily="66" charset="0"/>
                <a:cs typeface="Arial" pitchFamily="34" charset="0"/>
              </a:rPr>
              <a:t>HF</a:t>
            </a:r>
            <a:r>
              <a:rPr lang="en-US" altLang="en-US" sz="2800" dirty="0">
                <a:latin typeface="Comic Sans MS" pitchFamily="66" charset="0"/>
                <a:cs typeface="Arial" pitchFamily="34" charset="0"/>
              </a:rPr>
              <a:t> - for the Human Factor? </a:t>
            </a:r>
            <a:br>
              <a:rPr lang="en-US" altLang="en-US" sz="2800" dirty="0">
                <a:latin typeface="Comic Sans MS" pitchFamily="66" charset="0"/>
                <a:cs typeface="Arial" pitchFamily="34" charset="0"/>
              </a:rPr>
            </a:br>
            <a:r>
              <a:rPr lang="en-US" altLang="en-US" sz="2800" b="1" dirty="0">
                <a:solidFill>
                  <a:srgbClr val="C00000"/>
                </a:solidFill>
                <a:latin typeface="Comic Sans MS" pitchFamily="66" charset="0"/>
                <a:cs typeface="Arial" pitchFamily="34" charset="0"/>
              </a:rPr>
              <a:t>FF</a:t>
            </a:r>
            <a:r>
              <a:rPr lang="en-US" altLang="en-US" sz="2800" dirty="0">
                <a:latin typeface="Comic Sans MS" pitchFamily="66" charset="0"/>
                <a:cs typeface="Arial" pitchFamily="34" charset="0"/>
              </a:rPr>
              <a:t> - for the Financial Factors? </a:t>
            </a:r>
            <a:br>
              <a:rPr lang="en-US" altLang="en-US" sz="2800" dirty="0">
                <a:latin typeface="Comic Sans MS" pitchFamily="66" charset="0"/>
                <a:cs typeface="Arial" pitchFamily="34" charset="0"/>
              </a:rPr>
            </a:br>
            <a:r>
              <a:rPr lang="en-US" altLang="en-US" sz="2800" b="1" dirty="0">
                <a:solidFill>
                  <a:srgbClr val="C00000"/>
                </a:solidFill>
                <a:latin typeface="Comic Sans MS" pitchFamily="66" charset="0"/>
                <a:cs typeface="Arial" pitchFamily="34" charset="0"/>
              </a:rPr>
              <a:t>D</a:t>
            </a:r>
            <a:r>
              <a:rPr lang="en-US" altLang="en-US" sz="2800" dirty="0">
                <a:latin typeface="Comic Sans MS" pitchFamily="66" charset="0"/>
                <a:cs typeface="Arial" pitchFamily="34" charset="0"/>
              </a:rPr>
              <a:t> - for Development and </a:t>
            </a:r>
            <a:r>
              <a:rPr lang="en-US" altLang="en-US" sz="2800" b="1" dirty="0">
                <a:solidFill>
                  <a:srgbClr val="C00000"/>
                </a:solidFill>
                <a:latin typeface="Comic Sans MS" pitchFamily="66" charset="0"/>
                <a:cs typeface="Arial" pitchFamily="34" charset="0"/>
              </a:rPr>
              <a:t>M</a:t>
            </a:r>
            <a:r>
              <a:rPr lang="en-US" altLang="en-US" sz="2800" dirty="0">
                <a:latin typeface="Comic Sans MS" pitchFamily="66" charset="0"/>
                <a:cs typeface="Arial" pitchFamily="34" charset="0"/>
              </a:rPr>
              <a:t> - for Maintenance</a:t>
            </a:r>
            <a:endParaRPr lang="en-US" altLang="en-US" sz="2800" dirty="0">
              <a:solidFill>
                <a:srgbClr val="66FF33"/>
              </a:solidFill>
              <a:latin typeface="Comic Sans MS" pitchFamily="66" charset="0"/>
              <a:cs typeface="Arial" pitchFamily="34" charset="0"/>
            </a:endParaRPr>
          </a:p>
        </p:txBody>
      </p:sp>
    </p:spTree>
    <p:extLst>
      <p:ext uri="{BB962C8B-B14F-4D97-AF65-F5344CB8AC3E}">
        <p14:creationId xmlns:p14="http://schemas.microsoft.com/office/powerpoint/2010/main" val="49904425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p:cNvSpPr>
            <a:spLocks noGrp="1" noChangeArrowheads="1"/>
          </p:cNvSpPr>
          <p:nvPr>
            <p:ph type="ctrTitle"/>
          </p:nvPr>
        </p:nvSpPr>
        <p:spPr>
          <a:xfrm>
            <a:off x="2176732" y="879894"/>
            <a:ext cx="7772400" cy="3889075"/>
          </a:xfrm>
        </p:spPr>
        <p:txBody>
          <a:bodyPr/>
          <a:lstStyle/>
          <a:p>
            <a:pPr algn="l"/>
            <a:r>
              <a:rPr lang="en-US" altLang="en-US" sz="3200" b="1" dirty="0">
                <a:solidFill>
                  <a:srgbClr val="FF0000"/>
                </a:solidFill>
                <a:latin typeface="Comic Sans MS" pitchFamily="66" charset="0"/>
                <a:cs typeface="Arial" pitchFamily="34" charset="0"/>
              </a:rPr>
              <a:t>USE ACTIVE </a:t>
            </a:r>
            <a:r>
              <a:rPr lang="en-US" altLang="en-US" sz="3200" b="1" dirty="0">
                <a:latin typeface="Comic Sans MS" pitchFamily="66" charset="0"/>
                <a:cs typeface="Arial" pitchFamily="34" charset="0"/>
              </a:rPr>
              <a:t>verbs to determine </a:t>
            </a:r>
            <a:r>
              <a:rPr lang="en-US" altLang="en-US" sz="3200" b="1" dirty="0">
                <a:solidFill>
                  <a:srgbClr val="FF0000"/>
                </a:solidFill>
                <a:latin typeface="Comic Sans MS" pitchFamily="66" charset="0"/>
                <a:cs typeface="Arial" pitchFamily="34" charset="0"/>
              </a:rPr>
              <a:t>WHAT </a:t>
            </a:r>
            <a:r>
              <a:rPr lang="en-US" altLang="en-US" sz="3200" b="1" dirty="0">
                <a:latin typeface="Comic Sans MS" pitchFamily="66" charset="0"/>
                <a:cs typeface="Arial" pitchFamily="34" charset="0"/>
              </a:rPr>
              <a:t>you want to do: Increase, Decrease, Improve, Create, Develop, Explore, etc. </a:t>
            </a:r>
            <a:br>
              <a:rPr lang="en-US" altLang="en-US" sz="3200" b="1" dirty="0">
                <a:solidFill>
                  <a:srgbClr val="FF0000"/>
                </a:solidFill>
                <a:latin typeface="Comic Sans MS" pitchFamily="66" charset="0"/>
                <a:cs typeface="Arial" pitchFamily="34" charset="0"/>
              </a:rPr>
            </a:br>
            <a:endParaRPr lang="en-US" altLang="en-US" sz="3200" b="1" dirty="0">
              <a:latin typeface="Comic Sans MS" pitchFamily="66" charset="0"/>
              <a:cs typeface="Arial" pitchFamily="34" charset="0"/>
            </a:endParaRPr>
          </a:p>
        </p:txBody>
      </p:sp>
    </p:spTree>
    <p:extLst>
      <p:ext uri="{BB962C8B-B14F-4D97-AF65-F5344CB8AC3E}">
        <p14:creationId xmlns:p14="http://schemas.microsoft.com/office/powerpoint/2010/main" val="184740781"/>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en-US" b="1" dirty="0">
                <a:solidFill>
                  <a:srgbClr val="FF0000"/>
                </a:solidFill>
                <a:latin typeface="Comic Sans MS" pitchFamily="66" charset="0"/>
              </a:rPr>
              <a:t>SMARTS</a:t>
            </a:r>
          </a:p>
        </p:txBody>
      </p:sp>
      <p:sp>
        <p:nvSpPr>
          <p:cNvPr id="29700" name="Rectangle 3"/>
          <p:cNvSpPr>
            <a:spLocks noGrp="1" noChangeArrowheads="1"/>
          </p:cNvSpPr>
          <p:nvPr>
            <p:ph type="body" idx="1"/>
          </p:nvPr>
        </p:nvSpPr>
        <p:spPr/>
        <p:txBody>
          <a:bodyPr/>
          <a:lstStyle/>
          <a:p>
            <a:r>
              <a:rPr lang="en-US" dirty="0">
                <a:solidFill>
                  <a:srgbClr val="FF0000"/>
                </a:solidFill>
                <a:effectLst>
                  <a:outerShdw blurRad="38100" dist="38100" dir="2700000" algn="tl">
                    <a:srgbClr val="000000">
                      <a:alpha val="43137"/>
                    </a:srgbClr>
                  </a:outerShdw>
                </a:effectLst>
                <a:latin typeface="Comic Sans MS" pitchFamily="66" charset="0"/>
              </a:rPr>
              <a:t>S </a:t>
            </a:r>
            <a:r>
              <a:rPr lang="en-US" dirty="0">
                <a:effectLst>
                  <a:outerShdw blurRad="38100" dist="38100" dir="2700000" algn="tl">
                    <a:srgbClr val="000000">
                      <a:alpha val="43137"/>
                    </a:srgbClr>
                  </a:outerShdw>
                </a:effectLst>
                <a:latin typeface="Comic Sans MS" pitchFamily="66" charset="0"/>
              </a:rPr>
              <a:t>- Specific</a:t>
            </a:r>
          </a:p>
          <a:p>
            <a:r>
              <a:rPr lang="en-US" dirty="0">
                <a:solidFill>
                  <a:srgbClr val="FF0000"/>
                </a:solidFill>
                <a:effectLst>
                  <a:outerShdw blurRad="38100" dist="38100" dir="2700000" algn="tl">
                    <a:srgbClr val="000000">
                      <a:alpha val="43137"/>
                    </a:srgbClr>
                  </a:outerShdw>
                </a:effectLst>
                <a:latin typeface="Comic Sans MS" pitchFamily="66" charset="0"/>
              </a:rPr>
              <a:t>M</a:t>
            </a:r>
            <a:r>
              <a:rPr lang="en-US" dirty="0">
                <a:effectLst>
                  <a:outerShdw blurRad="38100" dist="38100" dir="2700000" algn="tl">
                    <a:srgbClr val="000000">
                      <a:alpha val="43137"/>
                    </a:srgbClr>
                  </a:outerShdw>
                </a:effectLst>
                <a:latin typeface="Comic Sans MS" pitchFamily="66" charset="0"/>
              </a:rPr>
              <a:t> – Measurable</a:t>
            </a:r>
          </a:p>
          <a:p>
            <a:r>
              <a:rPr lang="en-US" dirty="0">
                <a:solidFill>
                  <a:srgbClr val="FF0000"/>
                </a:solidFill>
                <a:effectLst>
                  <a:outerShdw blurRad="38100" dist="38100" dir="2700000" algn="tl">
                    <a:srgbClr val="000000">
                      <a:alpha val="43137"/>
                    </a:srgbClr>
                  </a:outerShdw>
                </a:effectLst>
                <a:latin typeface="Comic Sans MS" pitchFamily="66" charset="0"/>
              </a:rPr>
              <a:t>A</a:t>
            </a:r>
            <a:r>
              <a:rPr lang="en-US" dirty="0">
                <a:effectLst>
                  <a:outerShdw blurRad="38100" dist="38100" dir="2700000" algn="tl">
                    <a:srgbClr val="000000">
                      <a:alpha val="43137"/>
                    </a:srgbClr>
                  </a:outerShdw>
                </a:effectLst>
                <a:latin typeface="Comic Sans MS" pitchFamily="66" charset="0"/>
              </a:rPr>
              <a:t> – Achievable</a:t>
            </a:r>
          </a:p>
          <a:p>
            <a:r>
              <a:rPr lang="en-US" dirty="0">
                <a:solidFill>
                  <a:srgbClr val="FF0000"/>
                </a:solidFill>
                <a:effectLst>
                  <a:outerShdw blurRad="38100" dist="38100" dir="2700000" algn="tl">
                    <a:srgbClr val="000000">
                      <a:alpha val="43137"/>
                    </a:srgbClr>
                  </a:outerShdw>
                </a:effectLst>
                <a:latin typeface="Comic Sans MS" pitchFamily="66" charset="0"/>
              </a:rPr>
              <a:t>R</a:t>
            </a:r>
            <a:r>
              <a:rPr lang="en-US" dirty="0">
                <a:effectLst>
                  <a:outerShdw blurRad="38100" dist="38100" dir="2700000" algn="tl">
                    <a:srgbClr val="000000">
                      <a:alpha val="43137"/>
                    </a:srgbClr>
                  </a:outerShdw>
                </a:effectLst>
                <a:latin typeface="Comic Sans MS" pitchFamily="66" charset="0"/>
              </a:rPr>
              <a:t> – Realistic</a:t>
            </a:r>
          </a:p>
          <a:p>
            <a:r>
              <a:rPr lang="en-US" dirty="0">
                <a:solidFill>
                  <a:srgbClr val="FF0000"/>
                </a:solidFill>
                <a:effectLst>
                  <a:outerShdw blurRad="38100" dist="38100" dir="2700000" algn="tl">
                    <a:srgbClr val="000000">
                      <a:alpha val="43137"/>
                    </a:srgbClr>
                  </a:outerShdw>
                </a:effectLst>
                <a:latin typeface="Comic Sans MS" pitchFamily="66" charset="0"/>
              </a:rPr>
              <a:t>T</a:t>
            </a:r>
            <a:r>
              <a:rPr lang="en-US" dirty="0">
                <a:effectLst>
                  <a:outerShdw blurRad="38100" dist="38100" dir="2700000" algn="tl">
                    <a:srgbClr val="000000">
                      <a:alpha val="43137"/>
                    </a:srgbClr>
                  </a:outerShdw>
                </a:effectLst>
                <a:latin typeface="Comic Sans MS" pitchFamily="66" charset="0"/>
              </a:rPr>
              <a:t> – Time Bound</a:t>
            </a:r>
          </a:p>
          <a:p>
            <a:r>
              <a:rPr lang="en-US" dirty="0">
                <a:solidFill>
                  <a:srgbClr val="FF0000"/>
                </a:solidFill>
                <a:effectLst>
                  <a:outerShdw blurRad="38100" dist="38100" dir="2700000" algn="tl">
                    <a:srgbClr val="000000">
                      <a:alpha val="43137"/>
                    </a:srgbClr>
                  </a:outerShdw>
                </a:effectLst>
                <a:latin typeface="Comic Sans MS" pitchFamily="66" charset="0"/>
              </a:rPr>
              <a:t>S</a:t>
            </a:r>
            <a:r>
              <a:rPr lang="en-US" dirty="0">
                <a:effectLst>
                  <a:outerShdw blurRad="38100" dist="38100" dir="2700000" algn="tl">
                    <a:srgbClr val="000000">
                      <a:alpha val="43137"/>
                    </a:srgbClr>
                  </a:outerShdw>
                </a:effectLst>
                <a:latin typeface="Comic Sans MS" pitchFamily="66" charset="0"/>
              </a:rPr>
              <a:t> - Stretched</a:t>
            </a:r>
          </a:p>
        </p:txBody>
      </p:sp>
      <p:pic>
        <p:nvPicPr>
          <p:cNvPr id="4" name="Picture 10" descr="C:\Users\Zvezdan Horvat\Desktop\image0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4412" y="1049338"/>
            <a:ext cx="8523177" cy="4170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52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04482" name="Picture 2" descr="C:\Users\Zvezdan Horvat\Documents\ASEE Seminars\Finansije za nefinansijere\Slike\images (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4356100"/>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30723" name="Rectangle 2"/>
          <p:cNvSpPr>
            <a:spLocks noGrp="1" noChangeArrowheads="1"/>
          </p:cNvSpPr>
          <p:nvPr>
            <p:ph type="title"/>
          </p:nvPr>
        </p:nvSpPr>
        <p:spPr>
          <a:xfrm>
            <a:off x="1879600" y="990600"/>
            <a:ext cx="8458200" cy="762000"/>
          </a:xfrm>
        </p:spPr>
        <p:txBody>
          <a:bodyPr>
            <a:normAutofit fontScale="90000"/>
          </a:bodyPr>
          <a:lstStyle/>
          <a:p>
            <a:r>
              <a:rPr lang="en-US" sz="3200" dirty="0">
                <a:solidFill>
                  <a:srgbClr val="FF0000"/>
                </a:solidFill>
                <a:latin typeface="Comic Sans MS" pitchFamily="66" charset="0"/>
              </a:rPr>
              <a:t>CATEGORIZING Objectives USING PAEI</a:t>
            </a:r>
            <a:br>
              <a:rPr lang="en-US" sz="3200" dirty="0">
                <a:latin typeface="Comic Sans MS" pitchFamily="66" charset="0"/>
              </a:rPr>
            </a:br>
            <a:endParaRPr lang="en-US" sz="3200" dirty="0">
              <a:latin typeface="Comic Sans MS" pitchFamily="66" charset="0"/>
            </a:endParaRPr>
          </a:p>
        </p:txBody>
      </p:sp>
      <p:sp>
        <p:nvSpPr>
          <p:cNvPr id="1620995" name="Rectangle 3"/>
          <p:cNvSpPr>
            <a:spLocks noGrp="1" noChangeArrowheads="1"/>
          </p:cNvSpPr>
          <p:nvPr>
            <p:ph type="body" idx="1"/>
          </p:nvPr>
        </p:nvSpPr>
        <p:spPr>
          <a:xfrm>
            <a:off x="2209800" y="1524000"/>
            <a:ext cx="7772400" cy="4114800"/>
          </a:xfrm>
        </p:spPr>
        <p:txBody>
          <a:bodyPr/>
          <a:lstStyle/>
          <a:p>
            <a:r>
              <a:rPr lang="en-US" b="1" i="1" dirty="0">
                <a:solidFill>
                  <a:schemeClr val="accent2"/>
                </a:solidFill>
                <a:latin typeface="Comic Sans MS" pitchFamily="66" charset="0"/>
              </a:rPr>
              <a:t>“P” OBJECTIVE</a:t>
            </a:r>
            <a:r>
              <a:rPr lang="en-US" sz="3600" dirty="0">
                <a:latin typeface="Comic Sans MS" pitchFamily="66" charset="0"/>
              </a:rPr>
              <a:t> - </a:t>
            </a:r>
            <a:r>
              <a:rPr lang="en-US" dirty="0">
                <a:latin typeface="Comic Sans MS" pitchFamily="66" charset="0"/>
              </a:rPr>
              <a:t>activities aimed at </a:t>
            </a:r>
            <a:r>
              <a:rPr lang="en-US" b="1" i="1" dirty="0">
                <a:solidFill>
                  <a:schemeClr val="accent2"/>
                </a:solidFill>
                <a:latin typeface="Comic Sans MS" pitchFamily="66" charset="0"/>
              </a:rPr>
              <a:t>fulfilling the purpose for which the unit or organization exists </a:t>
            </a:r>
            <a:r>
              <a:rPr lang="en-US" dirty="0">
                <a:latin typeface="Comic Sans MS" pitchFamily="66" charset="0"/>
              </a:rPr>
              <a:t>- i.e. The provision of the product, service or function. A </a:t>
            </a:r>
            <a:r>
              <a:rPr lang="en-US" sz="4000" b="1" dirty="0">
                <a:solidFill>
                  <a:srgbClr val="FF00FF"/>
                </a:solidFill>
                <a:latin typeface="Comic Sans MS" pitchFamily="66" charset="0"/>
              </a:rPr>
              <a:t>Functional</a:t>
            </a:r>
            <a:r>
              <a:rPr lang="en-US" b="1" dirty="0">
                <a:latin typeface="Comic Sans MS" pitchFamily="66" charset="0"/>
              </a:rPr>
              <a:t> </a:t>
            </a:r>
            <a:r>
              <a:rPr lang="en-US" dirty="0">
                <a:latin typeface="Comic Sans MS" pitchFamily="66" charset="0"/>
              </a:rPr>
              <a:t>objective, bringing </a:t>
            </a:r>
            <a:r>
              <a:rPr lang="en-US" sz="4000" b="1" dirty="0">
                <a:solidFill>
                  <a:srgbClr val="FF0000"/>
                </a:solidFill>
                <a:latin typeface="Comic Sans MS" pitchFamily="66" charset="0"/>
              </a:rPr>
              <a:t>Short Term</a:t>
            </a:r>
            <a:r>
              <a:rPr lang="en-US" sz="4000" b="1" dirty="0">
                <a:latin typeface="Comic Sans MS" pitchFamily="66" charset="0"/>
              </a:rPr>
              <a:t> </a:t>
            </a:r>
            <a:r>
              <a:rPr lang="en-US" sz="4000" b="1" dirty="0">
                <a:solidFill>
                  <a:srgbClr val="00B050"/>
                </a:solidFill>
                <a:latin typeface="Comic Sans MS" pitchFamily="66" charset="0"/>
              </a:rPr>
              <a:t>Effectiveness</a:t>
            </a:r>
            <a:r>
              <a:rPr lang="en-US" b="1" dirty="0">
                <a:latin typeface="Comic Sans MS" pitchFamily="66" charset="0"/>
              </a:rPr>
              <a:t> </a:t>
            </a:r>
            <a:r>
              <a:rPr lang="en-US" dirty="0">
                <a:latin typeface="Comic Sans MS" pitchFamily="66" charset="0"/>
              </a:rPr>
              <a:t>to the organization.</a:t>
            </a:r>
            <a:endParaRPr lang="en-US" sz="3600" dirty="0">
              <a:latin typeface="Comic Sans MS" pitchFamily="66" charset="0"/>
            </a:endParaRPr>
          </a:p>
        </p:txBody>
      </p:sp>
    </p:spTree>
    <p:extLst>
      <p:ext uri="{BB962C8B-B14F-4D97-AF65-F5344CB8AC3E}">
        <p14:creationId xmlns:p14="http://schemas.microsoft.com/office/powerpoint/2010/main" val="2106925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0995">
                                            <p:txEl>
                                              <p:pRg st="0" end="0"/>
                                            </p:txEl>
                                          </p:spTgt>
                                        </p:tgtEl>
                                        <p:attrNameLst>
                                          <p:attrName>style.visibility</p:attrName>
                                        </p:attrNameLst>
                                      </p:cBhvr>
                                      <p:to>
                                        <p:strVal val="visible"/>
                                      </p:to>
                                    </p:set>
                                    <p:anim calcmode="lin" valueType="num">
                                      <p:cBhvr additive="base">
                                        <p:cTn id="7" dur="500" fill="hold"/>
                                        <p:tgtEl>
                                          <p:spTgt spid="16209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099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0995" grpId="0" build="p" bldLvl="3"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1841500" y="990600"/>
            <a:ext cx="8509000" cy="762000"/>
          </a:xfrm>
        </p:spPr>
        <p:txBody>
          <a:bodyPr>
            <a:normAutofit fontScale="90000"/>
          </a:bodyPr>
          <a:lstStyle/>
          <a:p>
            <a:r>
              <a:rPr lang="en-US" sz="3200" dirty="0">
                <a:solidFill>
                  <a:srgbClr val="FF0000"/>
                </a:solidFill>
                <a:latin typeface="Comic Sans MS" pitchFamily="66" charset="0"/>
              </a:rPr>
              <a:t>CATEGORIZING Objectives USING PAEI</a:t>
            </a:r>
            <a:br>
              <a:rPr lang="en-US" sz="3200" dirty="0">
                <a:latin typeface="Comic Sans MS" pitchFamily="66" charset="0"/>
              </a:rPr>
            </a:br>
            <a:endParaRPr lang="en-US" sz="3200" dirty="0">
              <a:latin typeface="Comic Sans MS" pitchFamily="66" charset="0"/>
            </a:endParaRPr>
          </a:p>
        </p:txBody>
      </p:sp>
      <p:sp>
        <p:nvSpPr>
          <p:cNvPr id="1631235" name="Rectangle 3"/>
          <p:cNvSpPr>
            <a:spLocks noGrp="1" noChangeArrowheads="1"/>
          </p:cNvSpPr>
          <p:nvPr>
            <p:ph type="body" idx="1"/>
          </p:nvPr>
        </p:nvSpPr>
        <p:spPr>
          <a:xfrm>
            <a:off x="2209800" y="1524000"/>
            <a:ext cx="7772400" cy="4114800"/>
          </a:xfrm>
        </p:spPr>
        <p:txBody>
          <a:bodyPr/>
          <a:lstStyle/>
          <a:p>
            <a:r>
              <a:rPr lang="en-US" b="1" i="1" dirty="0">
                <a:solidFill>
                  <a:schemeClr val="accent2"/>
                </a:solidFill>
                <a:latin typeface="Comic Sans MS" pitchFamily="66" charset="0"/>
              </a:rPr>
              <a:t>“A” OBJECTIVE</a:t>
            </a:r>
            <a:r>
              <a:rPr lang="en-US" sz="3600" dirty="0">
                <a:latin typeface="Comic Sans MS" pitchFamily="66" charset="0"/>
              </a:rPr>
              <a:t> - </a:t>
            </a:r>
            <a:r>
              <a:rPr lang="en-US" dirty="0">
                <a:latin typeface="Comic Sans MS" pitchFamily="66" charset="0"/>
              </a:rPr>
              <a:t>administrative activities for </a:t>
            </a:r>
            <a:r>
              <a:rPr lang="en-US" b="1" i="1" dirty="0">
                <a:solidFill>
                  <a:schemeClr val="accent2"/>
                </a:solidFill>
                <a:latin typeface="Comic Sans MS" pitchFamily="66" charset="0"/>
              </a:rPr>
              <a:t>organizing, controlling and monitoring</a:t>
            </a:r>
            <a:r>
              <a:rPr lang="en-US" b="1" dirty="0">
                <a:latin typeface="Comic Sans MS" pitchFamily="66" charset="0"/>
              </a:rPr>
              <a:t> </a:t>
            </a:r>
            <a:r>
              <a:rPr lang="en-US" dirty="0">
                <a:latin typeface="Comic Sans MS" pitchFamily="66" charset="0"/>
              </a:rPr>
              <a:t>activities.</a:t>
            </a:r>
            <a:r>
              <a:rPr lang="en-US" sz="3600" dirty="0">
                <a:latin typeface="Comic Sans MS" pitchFamily="66" charset="0"/>
              </a:rPr>
              <a:t> </a:t>
            </a:r>
            <a:r>
              <a:rPr lang="en-US" dirty="0">
                <a:latin typeface="Comic Sans MS" pitchFamily="66" charset="0"/>
              </a:rPr>
              <a:t>An </a:t>
            </a:r>
            <a:r>
              <a:rPr lang="en-US" sz="4000" b="1" dirty="0">
                <a:solidFill>
                  <a:srgbClr val="FF00FF"/>
                </a:solidFill>
                <a:latin typeface="Comic Sans MS" pitchFamily="66" charset="0"/>
              </a:rPr>
              <a:t>Administrative</a:t>
            </a:r>
            <a:r>
              <a:rPr lang="en-US" b="1" dirty="0">
                <a:latin typeface="Comic Sans MS" pitchFamily="66" charset="0"/>
              </a:rPr>
              <a:t> </a:t>
            </a:r>
            <a:r>
              <a:rPr lang="en-US" dirty="0">
                <a:latin typeface="Comic Sans MS" pitchFamily="66" charset="0"/>
              </a:rPr>
              <a:t>objective, bringing </a:t>
            </a:r>
            <a:r>
              <a:rPr lang="en-US" sz="4000" b="1" dirty="0">
                <a:solidFill>
                  <a:srgbClr val="FF0000"/>
                </a:solidFill>
                <a:latin typeface="Comic Sans MS" pitchFamily="66" charset="0"/>
              </a:rPr>
              <a:t>Short Term</a:t>
            </a:r>
            <a:r>
              <a:rPr lang="en-US" sz="4000" b="1" dirty="0">
                <a:latin typeface="Comic Sans MS" pitchFamily="66" charset="0"/>
              </a:rPr>
              <a:t> </a:t>
            </a:r>
            <a:r>
              <a:rPr lang="en-US" sz="4000" b="1" dirty="0">
                <a:solidFill>
                  <a:srgbClr val="00B050"/>
                </a:solidFill>
                <a:latin typeface="Comic Sans MS" pitchFamily="66" charset="0"/>
              </a:rPr>
              <a:t>Efficiency</a:t>
            </a:r>
            <a:r>
              <a:rPr lang="en-US" b="1" dirty="0">
                <a:solidFill>
                  <a:srgbClr val="33CC33"/>
                </a:solidFill>
                <a:latin typeface="Comic Sans MS" pitchFamily="66" charset="0"/>
              </a:rPr>
              <a:t> </a:t>
            </a:r>
            <a:r>
              <a:rPr lang="en-US" dirty="0">
                <a:latin typeface="Comic Sans MS" pitchFamily="66" charset="0"/>
              </a:rPr>
              <a:t>to the organization.</a:t>
            </a:r>
            <a:r>
              <a:rPr lang="en-US" dirty="0">
                <a:solidFill>
                  <a:srgbClr val="33CC33"/>
                </a:solidFill>
                <a:latin typeface="Comic Sans MS" pitchFamily="66" charset="0"/>
              </a:rPr>
              <a:t> </a:t>
            </a:r>
          </a:p>
        </p:txBody>
      </p:sp>
      <p:pic>
        <p:nvPicPr>
          <p:cNvPr id="5" name="Picture 2" descr="C:\Users\Zvezdan Horvat\Documents\ASEE Seminars\Finansije za nefinansijere\Slike\images (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4356100"/>
            <a:ext cx="21336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628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1235">
                                            <p:txEl>
                                              <p:pRg st="0" end="0"/>
                                            </p:txEl>
                                          </p:spTgt>
                                        </p:tgtEl>
                                        <p:attrNameLst>
                                          <p:attrName>style.visibility</p:attrName>
                                        </p:attrNameLst>
                                      </p:cBhvr>
                                      <p:to>
                                        <p:strVal val="visible"/>
                                      </p:to>
                                    </p:set>
                                    <p:anim calcmode="lin" valueType="num">
                                      <p:cBhvr additive="base">
                                        <p:cTn id="7" dur="500" fill="hold"/>
                                        <p:tgtEl>
                                          <p:spTgt spid="1631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123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1235" grpId="0" build="p" bldLvl="3"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Picture 2" descr="C:\Users\Zvezdan Horvat\Documents\ASEE Seminars\Finansije za nefinansijere\Slike\images (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4356100"/>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32771" name="Rectangle 2"/>
          <p:cNvSpPr>
            <a:spLocks noGrp="1" noChangeArrowheads="1"/>
          </p:cNvSpPr>
          <p:nvPr>
            <p:ph type="title"/>
          </p:nvPr>
        </p:nvSpPr>
        <p:spPr>
          <a:xfrm>
            <a:off x="1879600" y="990600"/>
            <a:ext cx="8470900" cy="762000"/>
          </a:xfrm>
        </p:spPr>
        <p:txBody>
          <a:bodyPr>
            <a:normAutofit fontScale="90000"/>
          </a:bodyPr>
          <a:lstStyle/>
          <a:p>
            <a:r>
              <a:rPr lang="en-US" sz="3200" dirty="0">
                <a:solidFill>
                  <a:srgbClr val="FF0000"/>
                </a:solidFill>
                <a:latin typeface="Comic Sans MS" pitchFamily="66" charset="0"/>
              </a:rPr>
              <a:t>CATEGORIZING Objectives USING PAEI</a:t>
            </a:r>
            <a:br>
              <a:rPr lang="en-US" sz="3200" dirty="0">
                <a:latin typeface="Comic Sans MS" pitchFamily="66" charset="0"/>
              </a:rPr>
            </a:br>
            <a:endParaRPr lang="en-US" sz="3200" dirty="0">
              <a:latin typeface="Comic Sans MS" pitchFamily="66" charset="0"/>
            </a:endParaRPr>
          </a:p>
        </p:txBody>
      </p:sp>
      <p:sp>
        <p:nvSpPr>
          <p:cNvPr id="1633283" name="Rectangle 3"/>
          <p:cNvSpPr>
            <a:spLocks noGrp="1" noChangeArrowheads="1"/>
          </p:cNvSpPr>
          <p:nvPr>
            <p:ph type="body" idx="1"/>
          </p:nvPr>
        </p:nvSpPr>
        <p:spPr>
          <a:xfrm>
            <a:off x="2209800" y="1524000"/>
            <a:ext cx="7772400" cy="4114800"/>
          </a:xfrm>
        </p:spPr>
        <p:txBody>
          <a:bodyPr/>
          <a:lstStyle/>
          <a:p>
            <a:r>
              <a:rPr lang="en-US" b="1" i="1" dirty="0">
                <a:solidFill>
                  <a:schemeClr val="accent2"/>
                </a:solidFill>
                <a:latin typeface="Comic Sans MS" pitchFamily="66" charset="0"/>
              </a:rPr>
              <a:t>“E” OBJECTIVE</a:t>
            </a:r>
            <a:r>
              <a:rPr lang="en-US" sz="3600" dirty="0">
                <a:latin typeface="Comic Sans MS" pitchFamily="66" charset="0"/>
              </a:rPr>
              <a:t> - </a:t>
            </a:r>
            <a:r>
              <a:rPr lang="en-US" dirty="0">
                <a:latin typeface="Comic Sans MS" pitchFamily="66" charset="0"/>
              </a:rPr>
              <a:t>activities undertaken now for the unit or organization to </a:t>
            </a:r>
            <a:r>
              <a:rPr lang="en-US" b="1" i="1" dirty="0">
                <a:solidFill>
                  <a:schemeClr val="accent2"/>
                </a:solidFill>
                <a:latin typeface="Comic Sans MS" pitchFamily="66" charset="0"/>
              </a:rPr>
              <a:t>be different in the future</a:t>
            </a:r>
            <a:r>
              <a:rPr lang="en-US" b="1" dirty="0">
                <a:latin typeface="Comic Sans MS" pitchFamily="66" charset="0"/>
              </a:rPr>
              <a:t> </a:t>
            </a:r>
            <a:r>
              <a:rPr lang="en-US" dirty="0">
                <a:latin typeface="Comic Sans MS" pitchFamily="66" charset="0"/>
              </a:rPr>
              <a:t>- i.e. Marketing, research, field trials, HRD, Financial Planning. A </a:t>
            </a:r>
            <a:r>
              <a:rPr lang="en-US" sz="4000" b="1" dirty="0">
                <a:solidFill>
                  <a:srgbClr val="FF00FF"/>
                </a:solidFill>
                <a:latin typeface="Comic Sans MS" pitchFamily="66" charset="0"/>
              </a:rPr>
              <a:t>Developmental</a:t>
            </a:r>
            <a:r>
              <a:rPr lang="en-US" b="1" dirty="0">
                <a:latin typeface="Comic Sans MS" pitchFamily="66" charset="0"/>
              </a:rPr>
              <a:t> </a:t>
            </a:r>
            <a:r>
              <a:rPr lang="en-US" dirty="0">
                <a:latin typeface="Comic Sans MS" pitchFamily="66" charset="0"/>
              </a:rPr>
              <a:t>objective, bringing </a:t>
            </a:r>
            <a:r>
              <a:rPr lang="en-US" sz="4000" b="1" dirty="0">
                <a:solidFill>
                  <a:srgbClr val="FF0000"/>
                </a:solidFill>
                <a:latin typeface="Comic Sans MS" pitchFamily="66" charset="0"/>
              </a:rPr>
              <a:t>Long Term</a:t>
            </a:r>
            <a:r>
              <a:rPr lang="en-US" sz="4000" b="1" dirty="0">
                <a:latin typeface="Comic Sans MS" pitchFamily="66" charset="0"/>
              </a:rPr>
              <a:t> </a:t>
            </a:r>
            <a:r>
              <a:rPr lang="en-US" sz="4000" b="1" dirty="0">
                <a:solidFill>
                  <a:srgbClr val="00B050"/>
                </a:solidFill>
                <a:latin typeface="Comic Sans MS" pitchFamily="66" charset="0"/>
              </a:rPr>
              <a:t>Effectiveness</a:t>
            </a:r>
            <a:r>
              <a:rPr lang="en-US" b="1" dirty="0">
                <a:latin typeface="Comic Sans MS" pitchFamily="66" charset="0"/>
              </a:rPr>
              <a:t> </a:t>
            </a:r>
            <a:r>
              <a:rPr lang="en-US" dirty="0">
                <a:latin typeface="Comic Sans MS" pitchFamily="66" charset="0"/>
              </a:rPr>
              <a:t>to the organization.</a:t>
            </a:r>
            <a:endParaRPr lang="en-US" sz="3600" dirty="0">
              <a:latin typeface="Comic Sans MS" pitchFamily="66" charset="0"/>
            </a:endParaRPr>
          </a:p>
        </p:txBody>
      </p:sp>
    </p:spTree>
    <p:extLst>
      <p:ext uri="{BB962C8B-B14F-4D97-AF65-F5344CB8AC3E}">
        <p14:creationId xmlns:p14="http://schemas.microsoft.com/office/powerpoint/2010/main" val="3451114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3283">
                                            <p:txEl>
                                              <p:pRg st="0" end="0"/>
                                            </p:txEl>
                                          </p:spTgt>
                                        </p:tgtEl>
                                        <p:attrNameLst>
                                          <p:attrName>style.visibility</p:attrName>
                                        </p:attrNameLst>
                                      </p:cBhvr>
                                      <p:to>
                                        <p:strVal val="visible"/>
                                      </p:to>
                                    </p:set>
                                    <p:anim calcmode="lin" valueType="num">
                                      <p:cBhvr additive="base">
                                        <p:cTn id="7" dur="500" fill="hold"/>
                                        <p:tgtEl>
                                          <p:spTgt spid="16332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32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3283" grpId="0" build="p" bldLvl="3"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Picture 2" descr="C:\Users\Zvezdan Horvat\Documents\ASEE Seminars\Finansije za nefinansijere\Slike\images (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4356100"/>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33795" name="Rectangle 2"/>
          <p:cNvSpPr>
            <a:spLocks noGrp="1" noChangeArrowheads="1"/>
          </p:cNvSpPr>
          <p:nvPr>
            <p:ph type="title"/>
          </p:nvPr>
        </p:nvSpPr>
        <p:spPr>
          <a:xfrm>
            <a:off x="1790700" y="990600"/>
            <a:ext cx="8597900" cy="762000"/>
          </a:xfrm>
        </p:spPr>
        <p:txBody>
          <a:bodyPr>
            <a:normAutofit fontScale="90000"/>
          </a:bodyPr>
          <a:lstStyle/>
          <a:p>
            <a:r>
              <a:rPr lang="en-US" sz="3200" dirty="0">
                <a:solidFill>
                  <a:srgbClr val="FF0000"/>
                </a:solidFill>
                <a:latin typeface="Comic Sans MS" pitchFamily="66" charset="0"/>
              </a:rPr>
              <a:t>CATEGORIZING Objectives USING PAEI</a:t>
            </a:r>
            <a:br>
              <a:rPr lang="en-US" sz="3200" dirty="0">
                <a:latin typeface="Comic Sans MS" pitchFamily="66" charset="0"/>
              </a:rPr>
            </a:br>
            <a:endParaRPr lang="en-US" sz="3200" dirty="0">
              <a:latin typeface="Comic Sans MS" pitchFamily="66" charset="0"/>
            </a:endParaRPr>
          </a:p>
        </p:txBody>
      </p:sp>
      <p:sp>
        <p:nvSpPr>
          <p:cNvPr id="1635331" name="Rectangle 3"/>
          <p:cNvSpPr>
            <a:spLocks noGrp="1" noChangeArrowheads="1"/>
          </p:cNvSpPr>
          <p:nvPr>
            <p:ph type="body" idx="1"/>
          </p:nvPr>
        </p:nvSpPr>
        <p:spPr>
          <a:xfrm>
            <a:off x="2209800" y="1524000"/>
            <a:ext cx="7772400" cy="4114800"/>
          </a:xfrm>
        </p:spPr>
        <p:txBody>
          <a:bodyPr/>
          <a:lstStyle/>
          <a:p>
            <a:r>
              <a:rPr lang="en-US" b="1" i="1" dirty="0">
                <a:solidFill>
                  <a:schemeClr val="accent2"/>
                </a:solidFill>
                <a:latin typeface="Comic Sans MS" pitchFamily="66" charset="0"/>
              </a:rPr>
              <a:t>“I” OBJECTIVE</a:t>
            </a:r>
            <a:r>
              <a:rPr lang="en-US" sz="3600" dirty="0">
                <a:latin typeface="Comic Sans MS" pitchFamily="66" charset="0"/>
              </a:rPr>
              <a:t> - </a:t>
            </a:r>
            <a:r>
              <a:rPr lang="en-US" dirty="0">
                <a:latin typeface="Comic Sans MS" pitchFamily="66" charset="0"/>
              </a:rPr>
              <a:t>activities aimed at the </a:t>
            </a:r>
            <a:r>
              <a:rPr lang="en-US" b="1" i="1" dirty="0">
                <a:solidFill>
                  <a:schemeClr val="accent2"/>
                </a:solidFill>
                <a:latin typeface="Comic Sans MS" pitchFamily="66" charset="0"/>
              </a:rPr>
              <a:t>organic integration</a:t>
            </a:r>
            <a:r>
              <a:rPr lang="en-US" b="1" dirty="0">
                <a:latin typeface="Comic Sans MS" pitchFamily="66" charset="0"/>
              </a:rPr>
              <a:t> </a:t>
            </a:r>
            <a:r>
              <a:rPr lang="en-US" dirty="0">
                <a:latin typeface="Comic Sans MS" pitchFamily="66" charset="0"/>
              </a:rPr>
              <a:t>of the enterprise - i.e. Teambuilding, employee events, employee relations, Adizes or similar programs. An </a:t>
            </a:r>
            <a:r>
              <a:rPr lang="en-US" sz="4000" b="1" dirty="0">
                <a:solidFill>
                  <a:srgbClr val="FF00FF"/>
                </a:solidFill>
                <a:latin typeface="Comic Sans MS" pitchFamily="66" charset="0"/>
              </a:rPr>
              <a:t>Integrative</a:t>
            </a:r>
            <a:r>
              <a:rPr lang="en-US" b="1" dirty="0">
                <a:latin typeface="Comic Sans MS" pitchFamily="66" charset="0"/>
              </a:rPr>
              <a:t> </a:t>
            </a:r>
            <a:r>
              <a:rPr lang="en-US" dirty="0">
                <a:latin typeface="Comic Sans MS" pitchFamily="66" charset="0"/>
              </a:rPr>
              <a:t>objective bring </a:t>
            </a:r>
            <a:r>
              <a:rPr lang="en-US" sz="4000" b="1" dirty="0">
                <a:solidFill>
                  <a:srgbClr val="FF0000"/>
                </a:solidFill>
                <a:latin typeface="Comic Sans MS" pitchFamily="66" charset="0"/>
              </a:rPr>
              <a:t>Long Term</a:t>
            </a:r>
            <a:r>
              <a:rPr lang="en-US" sz="4000" b="1" dirty="0">
                <a:latin typeface="Comic Sans MS" pitchFamily="66" charset="0"/>
              </a:rPr>
              <a:t> </a:t>
            </a:r>
            <a:r>
              <a:rPr lang="en-US" sz="4000" b="1" dirty="0">
                <a:solidFill>
                  <a:srgbClr val="00B050"/>
                </a:solidFill>
                <a:latin typeface="Comic Sans MS" pitchFamily="66" charset="0"/>
              </a:rPr>
              <a:t>Efficiency</a:t>
            </a:r>
            <a:r>
              <a:rPr lang="en-US" b="1" dirty="0">
                <a:latin typeface="Comic Sans MS" pitchFamily="66" charset="0"/>
              </a:rPr>
              <a:t> </a:t>
            </a:r>
            <a:r>
              <a:rPr lang="en-US" dirty="0">
                <a:latin typeface="Comic Sans MS" pitchFamily="66" charset="0"/>
              </a:rPr>
              <a:t>to the organization.</a:t>
            </a:r>
          </a:p>
        </p:txBody>
      </p:sp>
    </p:spTree>
    <p:extLst>
      <p:ext uri="{BB962C8B-B14F-4D97-AF65-F5344CB8AC3E}">
        <p14:creationId xmlns:p14="http://schemas.microsoft.com/office/powerpoint/2010/main" val="1100730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5331">
                                            <p:txEl>
                                              <p:pRg st="0" end="0"/>
                                            </p:txEl>
                                          </p:spTgt>
                                        </p:tgtEl>
                                        <p:attrNameLst>
                                          <p:attrName>style.visibility</p:attrName>
                                        </p:attrNameLst>
                                      </p:cBhvr>
                                      <p:to>
                                        <p:strVal val="visible"/>
                                      </p:to>
                                    </p:set>
                                    <p:anim calcmode="lin" valueType="num">
                                      <p:cBhvr additive="base">
                                        <p:cTn id="7" dur="500" fill="hold"/>
                                        <p:tgtEl>
                                          <p:spTgt spid="1635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533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5331" grpId="0" build="p" bldLvl="3"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xfrm>
            <a:off x="152400" y="64008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Times New Roman" pitchFamily="18" charset="0"/>
                <a:cs typeface="Arial" pitchFamily="34" charset="0"/>
              </a:defRPr>
            </a:lvl1pPr>
            <a:lvl2pPr marL="742950" indent="-285750" eaLnBrk="0" hangingPunct="0">
              <a:spcBef>
                <a:spcPct val="20000"/>
              </a:spcBef>
              <a:buChar char="–"/>
              <a:defRPr kumimoji="1" sz="2800">
                <a:solidFill>
                  <a:schemeClr val="tx1"/>
                </a:solidFill>
                <a:latin typeface="Times New Roman" pitchFamily="18" charset="0"/>
                <a:cs typeface="Arial" pitchFamily="34" charset="0"/>
              </a:defRPr>
            </a:lvl2pPr>
            <a:lvl3pPr marL="1143000" indent="-228600" eaLnBrk="0" hangingPunct="0">
              <a:spcBef>
                <a:spcPct val="20000"/>
              </a:spcBef>
              <a:buChar char="•"/>
              <a:defRPr kumimoji="1" sz="2400">
                <a:solidFill>
                  <a:schemeClr val="tx1"/>
                </a:solidFill>
                <a:latin typeface="Times New Roman" pitchFamily="18" charset="0"/>
                <a:cs typeface="Arial" pitchFamily="34" charset="0"/>
              </a:defRPr>
            </a:lvl3pPr>
            <a:lvl4pPr marL="1600200" indent="-228600" eaLnBrk="0" hangingPunct="0">
              <a:spcBef>
                <a:spcPct val="20000"/>
              </a:spcBef>
              <a:buChar char="–"/>
              <a:defRPr kumimoji="1" sz="2000">
                <a:solidFill>
                  <a:schemeClr val="tx1"/>
                </a:solidFill>
                <a:latin typeface="Times New Roman" pitchFamily="18" charset="0"/>
                <a:cs typeface="Arial" pitchFamily="34" charset="0"/>
              </a:defRPr>
            </a:lvl4pPr>
            <a:lvl5pPr marL="2057400" indent="-228600" eaLnBrk="0" hangingPunct="0">
              <a:spcBef>
                <a:spcPct val="20000"/>
              </a:spcBef>
              <a:buChar char="»"/>
              <a:defRPr kumimoji="1" sz="2000">
                <a:solidFill>
                  <a:schemeClr val="tx1"/>
                </a:solidFill>
                <a:latin typeface="Times New Roman" pitchFamily="18" charset="0"/>
                <a:cs typeface="Arial" pitchFamily="34" charset="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9pPr>
          </a:lstStyle>
          <a:p>
            <a:pPr algn="ctr" eaLnBrk="1" hangingPunct="1">
              <a:spcBef>
                <a:spcPct val="0"/>
              </a:spcBef>
              <a:buFontTx/>
              <a:buNone/>
            </a:pPr>
            <a:fld id="{2F9CC97A-43DC-40E4-91F3-27180A90AD59}" type="slidenum">
              <a:rPr kumimoji="0" lang="en-US" altLang="en-US" sz="1400"/>
              <a:pPr algn="ctr" eaLnBrk="1" hangingPunct="1">
                <a:spcBef>
                  <a:spcPct val="0"/>
                </a:spcBef>
                <a:buFontTx/>
                <a:buNone/>
              </a:pPr>
              <a:t>31</a:t>
            </a:fld>
            <a:endParaRPr kumimoji="0" lang="en-US" altLang="en-US" sz="1400"/>
          </a:p>
        </p:txBody>
      </p:sp>
      <p:sp>
        <p:nvSpPr>
          <p:cNvPr id="44035" name="Rectangle 2"/>
          <p:cNvSpPr>
            <a:spLocks noGrp="1" noChangeArrowheads="1"/>
          </p:cNvSpPr>
          <p:nvPr>
            <p:ph type="title"/>
          </p:nvPr>
        </p:nvSpPr>
        <p:spPr/>
        <p:txBody>
          <a:bodyPr/>
          <a:lstStyle/>
          <a:p>
            <a:r>
              <a:rPr lang="en-US" altLang="en-US" dirty="0">
                <a:latin typeface="Comic Sans MS" pitchFamily="66" charset="0"/>
                <a:cs typeface="Arial" pitchFamily="34" charset="0"/>
              </a:rPr>
              <a:t>Deterministic &amp; Constraint</a:t>
            </a:r>
          </a:p>
        </p:txBody>
      </p:sp>
      <p:sp>
        <p:nvSpPr>
          <p:cNvPr id="44036" name="Rectangle 1"/>
          <p:cNvSpPr>
            <a:spLocks noChangeArrowheads="1"/>
          </p:cNvSpPr>
          <p:nvPr/>
        </p:nvSpPr>
        <p:spPr bwMode="auto">
          <a:xfrm>
            <a:off x="2220478" y="3013076"/>
            <a:ext cx="731837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cs typeface="Arial" pitchFamily="34" charset="0"/>
              </a:defRPr>
            </a:lvl1pPr>
            <a:lvl2pPr marL="742950" indent="-285750" eaLnBrk="0" hangingPunct="0">
              <a:spcBef>
                <a:spcPct val="20000"/>
              </a:spcBef>
              <a:buChar char="–"/>
              <a:defRPr kumimoji="1" sz="2800">
                <a:solidFill>
                  <a:schemeClr val="tx1"/>
                </a:solidFill>
                <a:latin typeface="Times New Roman" pitchFamily="18" charset="0"/>
                <a:cs typeface="Arial" pitchFamily="34" charset="0"/>
              </a:defRPr>
            </a:lvl2pPr>
            <a:lvl3pPr marL="1143000" indent="-228600" eaLnBrk="0" hangingPunct="0">
              <a:spcBef>
                <a:spcPct val="20000"/>
              </a:spcBef>
              <a:buChar char="•"/>
              <a:defRPr kumimoji="1" sz="2400">
                <a:solidFill>
                  <a:schemeClr val="tx1"/>
                </a:solidFill>
                <a:latin typeface="Times New Roman" pitchFamily="18" charset="0"/>
                <a:cs typeface="Arial" pitchFamily="34" charset="0"/>
              </a:defRPr>
            </a:lvl3pPr>
            <a:lvl4pPr marL="1600200" indent="-228600" eaLnBrk="0" hangingPunct="0">
              <a:spcBef>
                <a:spcPct val="20000"/>
              </a:spcBef>
              <a:buChar char="–"/>
              <a:defRPr kumimoji="1" sz="2000">
                <a:solidFill>
                  <a:schemeClr val="tx1"/>
                </a:solidFill>
                <a:latin typeface="Times New Roman" pitchFamily="18" charset="0"/>
                <a:cs typeface="Arial" pitchFamily="34" charset="0"/>
              </a:defRPr>
            </a:lvl4pPr>
            <a:lvl5pPr marL="2057400" indent="-228600" eaLnBrk="0" hangingPunct="0">
              <a:spcBef>
                <a:spcPct val="20000"/>
              </a:spcBef>
              <a:buChar char="»"/>
              <a:defRPr kumimoji="1" sz="2000">
                <a:solidFill>
                  <a:schemeClr val="tx1"/>
                </a:solidFill>
                <a:latin typeface="Times New Roman" pitchFamily="18" charset="0"/>
                <a:cs typeface="Arial" pitchFamily="34" charset="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cs typeface="Arial" pitchFamily="34" charset="0"/>
              </a:defRPr>
            </a:lvl9pPr>
          </a:lstStyle>
          <a:p>
            <a:pPr eaLnBrk="1" hangingPunct="1">
              <a:spcBef>
                <a:spcPct val="0"/>
              </a:spcBef>
              <a:buFontTx/>
              <a:buNone/>
            </a:pPr>
            <a:r>
              <a:rPr kumimoji="0" lang="en-US" altLang="en-US" dirty="0">
                <a:latin typeface="Comic Sans MS" pitchFamily="66" charset="0"/>
              </a:rPr>
              <a:t>There are two types of </a:t>
            </a:r>
            <a:r>
              <a:rPr kumimoji="0" lang="en-US" altLang="en-US" b="1" dirty="0">
                <a:solidFill>
                  <a:srgbClr val="C00000"/>
                </a:solidFill>
                <a:latin typeface="Comic Sans MS" pitchFamily="66" charset="0"/>
              </a:rPr>
              <a:t>WHAT</a:t>
            </a:r>
            <a:r>
              <a:rPr kumimoji="0" lang="en-US" altLang="en-US" dirty="0">
                <a:latin typeface="Comic Sans MS" pitchFamily="66" charset="0"/>
              </a:rPr>
              <a:t> </a:t>
            </a:r>
            <a:r>
              <a:rPr kumimoji="0" lang="ru-RU" altLang="en-US" dirty="0">
                <a:latin typeface="Comic Sans MS" pitchFamily="66" charset="0"/>
              </a:rPr>
              <a:t>	</a:t>
            </a:r>
          </a:p>
          <a:p>
            <a:pPr marL="457200" indent="-457200" eaLnBrk="1" hangingPunct="1">
              <a:spcBef>
                <a:spcPct val="0"/>
              </a:spcBef>
              <a:buClr>
                <a:srgbClr val="C00000"/>
              </a:buClr>
              <a:buFont typeface="Wingdings" panose="05000000000000000000" pitchFamily="2" charset="2"/>
              <a:buChar char="q"/>
            </a:pPr>
            <a:r>
              <a:rPr kumimoji="0" lang="en-US" altLang="en-US" b="1" dirty="0">
                <a:solidFill>
                  <a:srgbClr val="C00000"/>
                </a:solidFill>
                <a:latin typeface="Comic Sans MS" pitchFamily="66" charset="0"/>
              </a:rPr>
              <a:t>Deterministic</a:t>
            </a:r>
            <a:r>
              <a:rPr kumimoji="0" lang="en-US" altLang="en-US" b="1" dirty="0">
                <a:latin typeface="Comic Sans MS" pitchFamily="66" charset="0"/>
              </a:rPr>
              <a:t> </a:t>
            </a:r>
            <a:r>
              <a:rPr kumimoji="0" lang="ru-RU" altLang="en-US" dirty="0">
                <a:latin typeface="Comic Sans MS" pitchFamily="66" charset="0"/>
              </a:rPr>
              <a:t>– </a:t>
            </a:r>
            <a:r>
              <a:rPr kumimoji="0" lang="en-US" altLang="en-US" dirty="0">
                <a:latin typeface="Comic Sans MS" pitchFamily="66" charset="0"/>
              </a:rPr>
              <a:t>What do you want</a:t>
            </a:r>
            <a:endParaRPr kumimoji="0" lang="ru-RU" altLang="en-US" dirty="0">
              <a:latin typeface="Comic Sans MS" pitchFamily="66" charset="0"/>
            </a:endParaRPr>
          </a:p>
          <a:p>
            <a:pPr marL="457200" indent="-457200" eaLnBrk="1" hangingPunct="1">
              <a:spcBef>
                <a:spcPct val="0"/>
              </a:spcBef>
              <a:buClr>
                <a:srgbClr val="C00000"/>
              </a:buClr>
              <a:buFont typeface="Wingdings" panose="05000000000000000000" pitchFamily="2" charset="2"/>
              <a:buChar char="q"/>
            </a:pPr>
            <a:r>
              <a:rPr kumimoji="0" lang="en-US" altLang="en-US" b="1" dirty="0">
                <a:solidFill>
                  <a:srgbClr val="C00000"/>
                </a:solidFill>
                <a:latin typeface="Comic Sans MS" pitchFamily="66" charset="0"/>
              </a:rPr>
              <a:t>Constraint </a:t>
            </a:r>
            <a:r>
              <a:rPr kumimoji="0" lang="en-US" altLang="en-US" dirty="0">
                <a:latin typeface="Comic Sans MS" pitchFamily="66" charset="0"/>
              </a:rPr>
              <a:t>– What do you not want</a:t>
            </a:r>
            <a:r>
              <a:rPr kumimoji="0" lang="ru-RU" altLang="en-US" dirty="0">
                <a:latin typeface="Comic Sans MS" pitchFamily="66" charset="0"/>
              </a:rPr>
              <a:t>	</a:t>
            </a:r>
          </a:p>
        </p:txBody>
      </p:sp>
    </p:spTree>
    <p:extLst>
      <p:ext uri="{BB962C8B-B14F-4D97-AF65-F5344CB8AC3E}">
        <p14:creationId xmlns:p14="http://schemas.microsoft.com/office/powerpoint/2010/main" val="3059213506"/>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ChangeArrowheads="1"/>
          </p:cNvSpPr>
          <p:nvPr/>
        </p:nvSpPr>
        <p:spPr bwMode="auto">
          <a:xfrm>
            <a:off x="5029200" y="3048000"/>
            <a:ext cx="2133600" cy="1752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7200" dirty="0"/>
              <a:t>YOU</a:t>
            </a:r>
          </a:p>
        </p:txBody>
      </p:sp>
      <p:sp>
        <p:nvSpPr>
          <p:cNvPr id="36868" name="Line 4"/>
          <p:cNvSpPr>
            <a:spLocks noChangeShapeType="1"/>
          </p:cNvSpPr>
          <p:nvPr/>
        </p:nvSpPr>
        <p:spPr bwMode="auto">
          <a:xfrm>
            <a:off x="6096000" y="1676400"/>
            <a:ext cx="0" cy="1371600"/>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CS" dirty="0"/>
          </a:p>
        </p:txBody>
      </p:sp>
      <p:sp>
        <p:nvSpPr>
          <p:cNvPr id="36869" name="Line 5"/>
          <p:cNvSpPr>
            <a:spLocks noChangeShapeType="1"/>
          </p:cNvSpPr>
          <p:nvPr/>
        </p:nvSpPr>
        <p:spPr bwMode="auto">
          <a:xfrm>
            <a:off x="3581400" y="3962400"/>
            <a:ext cx="1447800" cy="0"/>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CS" dirty="0"/>
          </a:p>
        </p:txBody>
      </p:sp>
      <p:sp>
        <p:nvSpPr>
          <p:cNvPr id="36870" name="Line 6"/>
          <p:cNvSpPr>
            <a:spLocks noChangeShapeType="1"/>
          </p:cNvSpPr>
          <p:nvPr/>
        </p:nvSpPr>
        <p:spPr bwMode="auto">
          <a:xfrm flipH="1">
            <a:off x="7162800" y="3962400"/>
            <a:ext cx="13716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CS" dirty="0"/>
          </a:p>
        </p:txBody>
      </p:sp>
      <p:sp>
        <p:nvSpPr>
          <p:cNvPr id="36871" name="Line 7"/>
          <p:cNvSpPr>
            <a:spLocks noChangeShapeType="1"/>
          </p:cNvSpPr>
          <p:nvPr/>
        </p:nvSpPr>
        <p:spPr bwMode="auto">
          <a:xfrm flipV="1">
            <a:off x="6019800" y="4800600"/>
            <a:ext cx="0" cy="1219200"/>
          </a:xfrm>
          <a:prstGeom prst="line">
            <a:avLst/>
          </a:prstGeom>
          <a:noFill/>
          <a:ln w="571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CS" dirty="0"/>
          </a:p>
        </p:txBody>
      </p:sp>
      <p:sp>
        <p:nvSpPr>
          <p:cNvPr id="36872" name="Rectangle 8"/>
          <p:cNvSpPr>
            <a:spLocks noChangeArrowheads="1"/>
          </p:cNvSpPr>
          <p:nvPr/>
        </p:nvSpPr>
        <p:spPr bwMode="auto">
          <a:xfrm>
            <a:off x="5105400" y="5257800"/>
            <a:ext cx="1905000" cy="304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Subordinates</a:t>
            </a:r>
          </a:p>
        </p:txBody>
      </p:sp>
      <p:sp>
        <p:nvSpPr>
          <p:cNvPr id="36873" name="Rectangle 10"/>
          <p:cNvSpPr>
            <a:spLocks noChangeArrowheads="1"/>
          </p:cNvSpPr>
          <p:nvPr/>
        </p:nvSpPr>
        <p:spPr bwMode="auto">
          <a:xfrm>
            <a:off x="3886200" y="3200400"/>
            <a:ext cx="304800" cy="1600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2400" dirty="0"/>
              <a:t>Peers</a:t>
            </a:r>
          </a:p>
        </p:txBody>
      </p:sp>
      <p:sp>
        <p:nvSpPr>
          <p:cNvPr id="36874" name="Rectangle 11"/>
          <p:cNvSpPr>
            <a:spLocks noChangeArrowheads="1"/>
          </p:cNvSpPr>
          <p:nvPr/>
        </p:nvSpPr>
        <p:spPr bwMode="auto">
          <a:xfrm>
            <a:off x="7848600" y="3124200"/>
            <a:ext cx="304800" cy="1600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2400" dirty="0"/>
              <a:t>Peers</a:t>
            </a:r>
          </a:p>
        </p:txBody>
      </p:sp>
      <p:sp>
        <p:nvSpPr>
          <p:cNvPr id="36875" name="Rectangle 14"/>
          <p:cNvSpPr>
            <a:spLocks noChangeArrowheads="1"/>
          </p:cNvSpPr>
          <p:nvPr/>
        </p:nvSpPr>
        <p:spPr bwMode="auto">
          <a:xfrm>
            <a:off x="5181600" y="2209800"/>
            <a:ext cx="1905000" cy="304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Superiors</a:t>
            </a:r>
          </a:p>
        </p:txBody>
      </p:sp>
      <p:sp>
        <p:nvSpPr>
          <p:cNvPr id="36876" name="Text Box 15"/>
          <p:cNvSpPr txBox="1">
            <a:spLocks noChangeArrowheads="1"/>
          </p:cNvSpPr>
          <p:nvPr/>
        </p:nvSpPr>
        <p:spPr bwMode="auto">
          <a:xfrm>
            <a:off x="3505200" y="533401"/>
            <a:ext cx="54864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500" b="1" i="1">
                <a:solidFill>
                  <a:schemeClr val="tx1"/>
                </a:solidFill>
                <a:latin typeface="Times New Roman" pitchFamily="18" charset="0"/>
              </a:defRPr>
            </a:lvl1pPr>
            <a:lvl2pPr marL="742950" indent="-285750">
              <a:defRPr sz="14500" b="1" i="1">
                <a:solidFill>
                  <a:schemeClr val="tx1"/>
                </a:solidFill>
                <a:latin typeface="Times New Roman" pitchFamily="18" charset="0"/>
              </a:defRPr>
            </a:lvl2pPr>
            <a:lvl3pPr marL="1143000" indent="-228600">
              <a:defRPr sz="14500" b="1" i="1">
                <a:solidFill>
                  <a:schemeClr val="tx1"/>
                </a:solidFill>
                <a:latin typeface="Times New Roman" pitchFamily="18" charset="0"/>
              </a:defRPr>
            </a:lvl3pPr>
            <a:lvl4pPr marL="1600200" indent="-228600">
              <a:defRPr sz="14500" b="1" i="1">
                <a:solidFill>
                  <a:schemeClr val="tx1"/>
                </a:solidFill>
                <a:latin typeface="Times New Roman" pitchFamily="18" charset="0"/>
              </a:defRPr>
            </a:lvl4pPr>
            <a:lvl5pPr marL="2057400" indent="-228600">
              <a:defRPr sz="14500" b="1" i="1">
                <a:solidFill>
                  <a:schemeClr val="tx1"/>
                </a:solidFill>
                <a:latin typeface="Times New Roman" pitchFamily="18" charset="0"/>
              </a:defRPr>
            </a:lvl5pPr>
            <a:lvl6pPr marL="2514600" indent="-228600" eaLnBrk="0" fontAlgn="base" hangingPunct="0">
              <a:spcBef>
                <a:spcPct val="0"/>
              </a:spcBef>
              <a:spcAft>
                <a:spcPct val="0"/>
              </a:spcAft>
              <a:defRPr sz="14500" b="1" i="1">
                <a:solidFill>
                  <a:schemeClr val="tx1"/>
                </a:solidFill>
                <a:latin typeface="Times New Roman" pitchFamily="18" charset="0"/>
              </a:defRPr>
            </a:lvl6pPr>
            <a:lvl7pPr marL="2971800" indent="-228600" eaLnBrk="0" fontAlgn="base" hangingPunct="0">
              <a:spcBef>
                <a:spcPct val="0"/>
              </a:spcBef>
              <a:spcAft>
                <a:spcPct val="0"/>
              </a:spcAft>
              <a:defRPr sz="14500" b="1" i="1">
                <a:solidFill>
                  <a:schemeClr val="tx1"/>
                </a:solidFill>
                <a:latin typeface="Times New Roman" pitchFamily="18" charset="0"/>
              </a:defRPr>
            </a:lvl7pPr>
            <a:lvl8pPr marL="3429000" indent="-228600" eaLnBrk="0" fontAlgn="base" hangingPunct="0">
              <a:spcBef>
                <a:spcPct val="0"/>
              </a:spcBef>
              <a:spcAft>
                <a:spcPct val="0"/>
              </a:spcAft>
              <a:defRPr sz="14500" b="1" i="1">
                <a:solidFill>
                  <a:schemeClr val="tx1"/>
                </a:solidFill>
                <a:latin typeface="Times New Roman" pitchFamily="18" charset="0"/>
              </a:defRPr>
            </a:lvl8pPr>
            <a:lvl9pPr marL="3886200" indent="-228600" eaLnBrk="0" fontAlgn="base" hangingPunct="0">
              <a:spcBef>
                <a:spcPct val="0"/>
              </a:spcBef>
              <a:spcAft>
                <a:spcPct val="0"/>
              </a:spcAft>
              <a:defRPr sz="14500" b="1" i="1">
                <a:solidFill>
                  <a:schemeClr val="tx1"/>
                </a:solidFill>
                <a:latin typeface="Times New Roman" pitchFamily="18" charset="0"/>
              </a:defRPr>
            </a:lvl9pPr>
          </a:lstStyle>
          <a:p>
            <a:endParaRPr lang="sr-Latn-RS" sz="12000" dirty="0"/>
          </a:p>
        </p:txBody>
      </p:sp>
      <p:sp>
        <p:nvSpPr>
          <p:cNvPr id="36877" name="Text Box 16"/>
          <p:cNvSpPr txBox="1">
            <a:spLocks noChangeArrowheads="1"/>
          </p:cNvSpPr>
          <p:nvPr/>
        </p:nvSpPr>
        <p:spPr bwMode="auto">
          <a:xfrm>
            <a:off x="4114800" y="685800"/>
            <a:ext cx="411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500" b="1" i="1">
                <a:solidFill>
                  <a:schemeClr val="tx1"/>
                </a:solidFill>
                <a:latin typeface="Times New Roman" pitchFamily="18" charset="0"/>
              </a:defRPr>
            </a:lvl1pPr>
            <a:lvl2pPr marL="742950" indent="-285750">
              <a:defRPr sz="14500" b="1" i="1">
                <a:solidFill>
                  <a:schemeClr val="tx1"/>
                </a:solidFill>
                <a:latin typeface="Times New Roman" pitchFamily="18" charset="0"/>
              </a:defRPr>
            </a:lvl2pPr>
            <a:lvl3pPr marL="1143000" indent="-228600">
              <a:defRPr sz="14500" b="1" i="1">
                <a:solidFill>
                  <a:schemeClr val="tx1"/>
                </a:solidFill>
                <a:latin typeface="Times New Roman" pitchFamily="18" charset="0"/>
              </a:defRPr>
            </a:lvl3pPr>
            <a:lvl4pPr marL="1600200" indent="-228600">
              <a:defRPr sz="14500" b="1" i="1">
                <a:solidFill>
                  <a:schemeClr val="tx1"/>
                </a:solidFill>
                <a:latin typeface="Times New Roman" pitchFamily="18" charset="0"/>
              </a:defRPr>
            </a:lvl4pPr>
            <a:lvl5pPr marL="2057400" indent="-228600">
              <a:defRPr sz="14500" b="1" i="1">
                <a:solidFill>
                  <a:schemeClr val="tx1"/>
                </a:solidFill>
                <a:latin typeface="Times New Roman" pitchFamily="18" charset="0"/>
              </a:defRPr>
            </a:lvl5pPr>
            <a:lvl6pPr marL="2514600" indent="-228600" eaLnBrk="0" fontAlgn="base" hangingPunct="0">
              <a:spcBef>
                <a:spcPct val="0"/>
              </a:spcBef>
              <a:spcAft>
                <a:spcPct val="0"/>
              </a:spcAft>
              <a:defRPr sz="14500" b="1" i="1">
                <a:solidFill>
                  <a:schemeClr val="tx1"/>
                </a:solidFill>
                <a:latin typeface="Times New Roman" pitchFamily="18" charset="0"/>
              </a:defRPr>
            </a:lvl6pPr>
            <a:lvl7pPr marL="2971800" indent="-228600" eaLnBrk="0" fontAlgn="base" hangingPunct="0">
              <a:spcBef>
                <a:spcPct val="0"/>
              </a:spcBef>
              <a:spcAft>
                <a:spcPct val="0"/>
              </a:spcAft>
              <a:defRPr sz="14500" b="1" i="1">
                <a:solidFill>
                  <a:schemeClr val="tx1"/>
                </a:solidFill>
                <a:latin typeface="Times New Roman" pitchFamily="18" charset="0"/>
              </a:defRPr>
            </a:lvl7pPr>
            <a:lvl8pPr marL="3429000" indent="-228600" eaLnBrk="0" fontAlgn="base" hangingPunct="0">
              <a:spcBef>
                <a:spcPct val="0"/>
              </a:spcBef>
              <a:spcAft>
                <a:spcPct val="0"/>
              </a:spcAft>
              <a:defRPr sz="14500" b="1" i="1">
                <a:solidFill>
                  <a:schemeClr val="tx1"/>
                </a:solidFill>
                <a:latin typeface="Times New Roman" pitchFamily="18" charset="0"/>
              </a:defRPr>
            </a:lvl8pPr>
            <a:lvl9pPr marL="3886200" indent="-228600" eaLnBrk="0" fontAlgn="base" hangingPunct="0">
              <a:spcBef>
                <a:spcPct val="0"/>
              </a:spcBef>
              <a:spcAft>
                <a:spcPct val="0"/>
              </a:spcAft>
              <a:defRPr sz="14500" b="1" i="1">
                <a:solidFill>
                  <a:schemeClr val="tx1"/>
                </a:solidFill>
                <a:latin typeface="Times New Roman" pitchFamily="18" charset="0"/>
              </a:defRPr>
            </a:lvl9pPr>
          </a:lstStyle>
          <a:p>
            <a:pPr>
              <a:spcBef>
                <a:spcPct val="50000"/>
              </a:spcBef>
            </a:pPr>
            <a:endParaRPr lang="sr-Latn-RS" sz="2400" dirty="0"/>
          </a:p>
        </p:txBody>
      </p:sp>
      <p:sp>
        <p:nvSpPr>
          <p:cNvPr id="36878" name="Text Box 17"/>
          <p:cNvSpPr txBox="1">
            <a:spLocks noChangeArrowheads="1"/>
          </p:cNvSpPr>
          <p:nvPr/>
        </p:nvSpPr>
        <p:spPr bwMode="auto">
          <a:xfrm>
            <a:off x="3289300" y="685801"/>
            <a:ext cx="59817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500" b="1" i="1">
                <a:solidFill>
                  <a:schemeClr val="tx1"/>
                </a:solidFill>
                <a:latin typeface="Times New Roman" pitchFamily="18" charset="0"/>
              </a:defRPr>
            </a:lvl1pPr>
            <a:lvl2pPr marL="742950" indent="-285750">
              <a:defRPr sz="14500" b="1" i="1">
                <a:solidFill>
                  <a:schemeClr val="tx1"/>
                </a:solidFill>
                <a:latin typeface="Times New Roman" pitchFamily="18" charset="0"/>
              </a:defRPr>
            </a:lvl2pPr>
            <a:lvl3pPr marL="1143000" indent="-228600">
              <a:defRPr sz="14500" b="1" i="1">
                <a:solidFill>
                  <a:schemeClr val="tx1"/>
                </a:solidFill>
                <a:latin typeface="Times New Roman" pitchFamily="18" charset="0"/>
              </a:defRPr>
            </a:lvl3pPr>
            <a:lvl4pPr marL="1600200" indent="-228600">
              <a:defRPr sz="14500" b="1" i="1">
                <a:solidFill>
                  <a:schemeClr val="tx1"/>
                </a:solidFill>
                <a:latin typeface="Times New Roman" pitchFamily="18" charset="0"/>
              </a:defRPr>
            </a:lvl4pPr>
            <a:lvl5pPr marL="2057400" indent="-228600">
              <a:defRPr sz="14500" b="1" i="1">
                <a:solidFill>
                  <a:schemeClr val="tx1"/>
                </a:solidFill>
                <a:latin typeface="Times New Roman" pitchFamily="18" charset="0"/>
              </a:defRPr>
            </a:lvl5pPr>
            <a:lvl6pPr marL="2514600" indent="-228600" eaLnBrk="0" fontAlgn="base" hangingPunct="0">
              <a:spcBef>
                <a:spcPct val="0"/>
              </a:spcBef>
              <a:spcAft>
                <a:spcPct val="0"/>
              </a:spcAft>
              <a:defRPr sz="14500" b="1" i="1">
                <a:solidFill>
                  <a:schemeClr val="tx1"/>
                </a:solidFill>
                <a:latin typeface="Times New Roman" pitchFamily="18" charset="0"/>
              </a:defRPr>
            </a:lvl6pPr>
            <a:lvl7pPr marL="2971800" indent="-228600" eaLnBrk="0" fontAlgn="base" hangingPunct="0">
              <a:spcBef>
                <a:spcPct val="0"/>
              </a:spcBef>
              <a:spcAft>
                <a:spcPct val="0"/>
              </a:spcAft>
              <a:defRPr sz="14500" b="1" i="1">
                <a:solidFill>
                  <a:schemeClr val="tx1"/>
                </a:solidFill>
                <a:latin typeface="Times New Roman" pitchFamily="18" charset="0"/>
              </a:defRPr>
            </a:lvl7pPr>
            <a:lvl8pPr marL="3429000" indent="-228600" eaLnBrk="0" fontAlgn="base" hangingPunct="0">
              <a:spcBef>
                <a:spcPct val="0"/>
              </a:spcBef>
              <a:spcAft>
                <a:spcPct val="0"/>
              </a:spcAft>
              <a:defRPr sz="14500" b="1" i="1">
                <a:solidFill>
                  <a:schemeClr val="tx1"/>
                </a:solidFill>
                <a:latin typeface="Times New Roman" pitchFamily="18" charset="0"/>
              </a:defRPr>
            </a:lvl8pPr>
            <a:lvl9pPr marL="3886200" indent="-228600" eaLnBrk="0" fontAlgn="base" hangingPunct="0">
              <a:spcBef>
                <a:spcPct val="0"/>
              </a:spcBef>
              <a:spcAft>
                <a:spcPct val="0"/>
              </a:spcAft>
              <a:defRPr sz="14500" b="1" i="1">
                <a:solidFill>
                  <a:schemeClr val="tx1"/>
                </a:solidFill>
                <a:latin typeface="Times New Roman" pitchFamily="18" charset="0"/>
              </a:defRPr>
            </a:lvl9pPr>
          </a:lstStyle>
          <a:p>
            <a:pPr algn="ctr">
              <a:spcBef>
                <a:spcPct val="50000"/>
              </a:spcBef>
            </a:pPr>
            <a:r>
              <a:rPr lang="en-US" sz="2800" dirty="0">
                <a:solidFill>
                  <a:srgbClr val="FF0000"/>
                </a:solidFill>
                <a:latin typeface="Comic Sans MS" pitchFamily="66" charset="0"/>
              </a:rPr>
              <a:t>The Pressure Cooker of Expectations</a:t>
            </a:r>
          </a:p>
        </p:txBody>
      </p:sp>
    </p:spTree>
    <p:extLst>
      <p:ext uri="{BB962C8B-B14F-4D97-AF65-F5344CB8AC3E}">
        <p14:creationId xmlns:p14="http://schemas.microsoft.com/office/powerpoint/2010/main" val="4169717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ctrTitle"/>
          </p:nvPr>
        </p:nvSpPr>
        <p:spPr>
          <a:xfrm>
            <a:off x="2209800" y="1206500"/>
            <a:ext cx="7772400" cy="1143000"/>
          </a:xfrm>
        </p:spPr>
        <p:txBody>
          <a:bodyPr>
            <a:normAutofit fontScale="90000"/>
          </a:bodyPr>
          <a:lstStyle/>
          <a:p>
            <a:r>
              <a:rPr lang="en-US" sz="7200" b="1" dirty="0">
                <a:solidFill>
                  <a:srgbClr val="00B050"/>
                </a:solidFill>
                <a:latin typeface="Comic Sans MS" pitchFamily="66" charset="0"/>
              </a:rPr>
              <a:t>Style Enrichment</a:t>
            </a:r>
          </a:p>
        </p:txBody>
      </p:sp>
      <p:sp>
        <p:nvSpPr>
          <p:cNvPr id="37892" name="Rectangle 3"/>
          <p:cNvSpPr>
            <a:spLocks noGrp="1" noChangeArrowheads="1"/>
          </p:cNvSpPr>
          <p:nvPr>
            <p:ph type="subTitle" idx="1"/>
          </p:nvPr>
        </p:nvSpPr>
        <p:spPr/>
        <p:txBody>
          <a:bodyPr/>
          <a:lstStyle/>
          <a:p>
            <a:r>
              <a:rPr lang="en-US" sz="3600" dirty="0">
                <a:latin typeface="Comic Sans MS" pitchFamily="66" charset="0"/>
              </a:rPr>
              <a:t>Each employee must have at lease one objective from each of the PAEI.</a:t>
            </a:r>
          </a:p>
        </p:txBody>
      </p:sp>
    </p:spTree>
    <p:extLst>
      <p:ext uri="{BB962C8B-B14F-4D97-AF65-F5344CB8AC3E}">
        <p14:creationId xmlns:p14="http://schemas.microsoft.com/office/powerpoint/2010/main" val="2965605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ctrTitle"/>
          </p:nvPr>
        </p:nvSpPr>
        <p:spPr>
          <a:xfrm>
            <a:off x="2209800" y="2286000"/>
            <a:ext cx="7772400" cy="1143000"/>
          </a:xfrm>
        </p:spPr>
        <p:txBody>
          <a:bodyPr/>
          <a:lstStyle/>
          <a:p>
            <a:r>
              <a:rPr lang="en-US" sz="7200" dirty="0">
                <a:latin typeface="Comic Sans MS" pitchFamily="66" charset="0"/>
              </a:rPr>
              <a:t>The </a:t>
            </a:r>
            <a:r>
              <a:rPr lang="en-US" sz="7200" dirty="0">
                <a:solidFill>
                  <a:srgbClr val="00B050"/>
                </a:solidFill>
                <a:latin typeface="Comic Sans MS" pitchFamily="66" charset="0"/>
              </a:rPr>
              <a:t>HOW</a:t>
            </a:r>
          </a:p>
        </p:txBody>
      </p:sp>
    </p:spTree>
    <p:extLst>
      <p:ext uri="{BB962C8B-B14F-4D97-AF65-F5344CB8AC3E}">
        <p14:creationId xmlns:p14="http://schemas.microsoft.com/office/powerpoint/2010/main" val="577010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ctrTitle"/>
          </p:nvPr>
        </p:nvSpPr>
        <p:spPr>
          <a:xfrm>
            <a:off x="2209800" y="1219200"/>
            <a:ext cx="7772400" cy="1143000"/>
          </a:xfrm>
        </p:spPr>
        <p:txBody>
          <a:bodyPr/>
          <a:lstStyle/>
          <a:p>
            <a:r>
              <a:rPr lang="en-US" sz="7200" b="1" dirty="0">
                <a:solidFill>
                  <a:srgbClr val="FF0000"/>
                </a:solidFill>
                <a:latin typeface="Comic Sans MS" pitchFamily="66" charset="0"/>
              </a:rPr>
              <a:t>MEASURABLE</a:t>
            </a:r>
          </a:p>
        </p:txBody>
      </p:sp>
      <p:sp>
        <p:nvSpPr>
          <p:cNvPr id="39940" name="Rectangle 3"/>
          <p:cNvSpPr>
            <a:spLocks noGrp="1" noChangeArrowheads="1"/>
          </p:cNvSpPr>
          <p:nvPr>
            <p:ph type="subTitle" idx="1"/>
          </p:nvPr>
        </p:nvSpPr>
        <p:spPr>
          <a:xfrm>
            <a:off x="2971800" y="2819400"/>
            <a:ext cx="6400800" cy="2438400"/>
          </a:xfrm>
        </p:spPr>
        <p:txBody>
          <a:bodyPr>
            <a:normAutofit lnSpcReduction="10000"/>
          </a:bodyPr>
          <a:lstStyle/>
          <a:p>
            <a:r>
              <a:rPr lang="en-US" sz="3600" dirty="0">
                <a:latin typeface="Comic Sans MS" pitchFamily="66" charset="0"/>
              </a:rPr>
              <a:t>In order for an objective to be performed it must be </a:t>
            </a:r>
            <a:r>
              <a:rPr lang="en-US" sz="3600" b="1" dirty="0">
                <a:solidFill>
                  <a:srgbClr val="FF0000"/>
                </a:solidFill>
                <a:latin typeface="Comic Sans MS" pitchFamily="66" charset="0"/>
              </a:rPr>
              <a:t>MEASURABLE</a:t>
            </a:r>
            <a:r>
              <a:rPr lang="en-US" sz="3600" dirty="0">
                <a:latin typeface="Comic Sans MS" pitchFamily="66" charset="0"/>
              </a:rPr>
              <a:t>. Thus, reducing ambiguity and insuring clarity.</a:t>
            </a:r>
          </a:p>
        </p:txBody>
      </p:sp>
    </p:spTree>
    <p:extLst>
      <p:ext uri="{BB962C8B-B14F-4D97-AF65-F5344CB8AC3E}">
        <p14:creationId xmlns:p14="http://schemas.microsoft.com/office/powerpoint/2010/main" val="51009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ctrTitle"/>
          </p:nvPr>
        </p:nvSpPr>
        <p:spPr>
          <a:xfrm>
            <a:off x="2209800" y="1219200"/>
            <a:ext cx="7772400" cy="1143000"/>
          </a:xfrm>
        </p:spPr>
        <p:txBody>
          <a:bodyPr/>
          <a:lstStyle/>
          <a:p>
            <a:r>
              <a:rPr lang="en-US" altLang="en-US" sz="7200" b="1" dirty="0">
                <a:solidFill>
                  <a:srgbClr val="FF0000"/>
                </a:solidFill>
                <a:latin typeface="Comic Sans MS" pitchFamily="66" charset="0"/>
                <a:cs typeface="Arial" pitchFamily="34" charset="0"/>
              </a:rPr>
              <a:t>VERIFIABLE</a:t>
            </a:r>
          </a:p>
        </p:txBody>
      </p:sp>
      <p:sp>
        <p:nvSpPr>
          <p:cNvPr id="50179" name="Rectangle 3"/>
          <p:cNvSpPr>
            <a:spLocks noGrp="1" noChangeArrowheads="1"/>
          </p:cNvSpPr>
          <p:nvPr>
            <p:ph type="subTitle" idx="1"/>
          </p:nvPr>
        </p:nvSpPr>
        <p:spPr>
          <a:xfrm>
            <a:off x="2971800" y="2819400"/>
            <a:ext cx="6400800" cy="2438400"/>
          </a:xfrm>
        </p:spPr>
        <p:txBody>
          <a:bodyPr/>
          <a:lstStyle/>
          <a:p>
            <a:r>
              <a:rPr lang="en-US" altLang="en-US" dirty="0">
                <a:latin typeface="Comic Sans MS" pitchFamily="66" charset="0"/>
                <a:cs typeface="Arial" pitchFamily="34" charset="0"/>
              </a:rPr>
              <a:t>If the objective / subobjective is </a:t>
            </a:r>
            <a:r>
              <a:rPr lang="en-US" altLang="en-US" b="1" dirty="0">
                <a:solidFill>
                  <a:srgbClr val="C00000"/>
                </a:solidFill>
                <a:latin typeface="Comic Sans MS" pitchFamily="66" charset="0"/>
                <a:cs typeface="Arial" pitchFamily="34" charset="0"/>
              </a:rPr>
              <a:t>NOT MEASURRABLE</a:t>
            </a:r>
            <a:r>
              <a:rPr lang="en-US" altLang="en-US" dirty="0">
                <a:latin typeface="Comic Sans MS" pitchFamily="66" charset="0"/>
                <a:cs typeface="Arial" pitchFamily="34" charset="0"/>
              </a:rPr>
              <a:t>, please provide criteria that will allow you to </a:t>
            </a:r>
            <a:r>
              <a:rPr lang="en-US" altLang="en-US" b="1" dirty="0">
                <a:solidFill>
                  <a:srgbClr val="C00000"/>
                </a:solidFill>
                <a:latin typeface="Comic Sans MS" pitchFamily="66" charset="0"/>
                <a:cs typeface="Arial" pitchFamily="34" charset="0"/>
              </a:rPr>
              <a:t>VERIFY </a:t>
            </a:r>
            <a:r>
              <a:rPr lang="en-US" altLang="en-US" dirty="0">
                <a:latin typeface="Comic Sans MS" pitchFamily="66" charset="0"/>
                <a:cs typeface="Arial" pitchFamily="34" charset="0"/>
              </a:rPr>
              <a:t>that the objective / subobjective has been achieved.</a:t>
            </a:r>
          </a:p>
        </p:txBody>
      </p:sp>
    </p:spTree>
    <p:extLst>
      <p:ext uri="{BB962C8B-B14F-4D97-AF65-F5344CB8AC3E}">
        <p14:creationId xmlns:p14="http://schemas.microsoft.com/office/powerpoint/2010/main" val="3195540112"/>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ctrTitle"/>
          </p:nvPr>
        </p:nvSpPr>
        <p:spPr>
          <a:xfrm>
            <a:off x="2209800" y="2286000"/>
            <a:ext cx="7772400" cy="1143000"/>
          </a:xfrm>
        </p:spPr>
        <p:txBody>
          <a:bodyPr/>
          <a:lstStyle/>
          <a:p>
            <a:r>
              <a:rPr lang="en-US" sz="7200" dirty="0">
                <a:latin typeface="Comic Sans MS" pitchFamily="66" charset="0"/>
              </a:rPr>
              <a:t>The </a:t>
            </a:r>
            <a:r>
              <a:rPr lang="en-US" sz="7200" dirty="0">
                <a:solidFill>
                  <a:srgbClr val="00B050"/>
                </a:solidFill>
                <a:latin typeface="Comic Sans MS" pitchFamily="66" charset="0"/>
              </a:rPr>
              <a:t>WHEN</a:t>
            </a:r>
          </a:p>
        </p:txBody>
      </p:sp>
    </p:spTree>
    <p:extLst>
      <p:ext uri="{BB962C8B-B14F-4D97-AF65-F5344CB8AC3E}">
        <p14:creationId xmlns:p14="http://schemas.microsoft.com/office/powerpoint/2010/main" val="689056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ctrTitle"/>
          </p:nvPr>
        </p:nvSpPr>
        <p:spPr>
          <a:xfrm>
            <a:off x="2209800" y="1143000"/>
            <a:ext cx="7772400" cy="1143000"/>
          </a:xfrm>
        </p:spPr>
        <p:txBody>
          <a:bodyPr/>
          <a:lstStyle/>
          <a:p>
            <a:r>
              <a:rPr lang="en-US" sz="7200" b="1" dirty="0">
                <a:solidFill>
                  <a:srgbClr val="FF0000"/>
                </a:solidFill>
                <a:latin typeface="Comic Sans MS" pitchFamily="66" charset="0"/>
              </a:rPr>
              <a:t>Time Bound</a:t>
            </a:r>
          </a:p>
        </p:txBody>
      </p:sp>
      <p:sp>
        <p:nvSpPr>
          <p:cNvPr id="41988" name="Rectangle 3"/>
          <p:cNvSpPr>
            <a:spLocks noGrp="1" noChangeArrowheads="1"/>
          </p:cNvSpPr>
          <p:nvPr>
            <p:ph type="subTitle" idx="1"/>
          </p:nvPr>
        </p:nvSpPr>
        <p:spPr>
          <a:xfrm>
            <a:off x="1968500" y="3096489"/>
            <a:ext cx="8293100" cy="1752600"/>
          </a:xfrm>
        </p:spPr>
        <p:txBody>
          <a:bodyPr>
            <a:normAutofit fontScale="92500" lnSpcReduction="10000"/>
          </a:bodyPr>
          <a:lstStyle/>
          <a:p>
            <a:r>
              <a:rPr lang="en-US" sz="4000" dirty="0">
                <a:latin typeface="Comic Sans MS" pitchFamily="66" charset="0"/>
              </a:rPr>
              <a:t>Time should be expressed as a date.</a:t>
            </a:r>
          </a:p>
          <a:p>
            <a:r>
              <a:rPr lang="en-US" sz="4000" dirty="0">
                <a:latin typeface="Comic Sans MS" pitchFamily="66" charset="0"/>
              </a:rPr>
              <a:t>Avoid ASAP.</a:t>
            </a:r>
          </a:p>
          <a:p>
            <a:r>
              <a:rPr lang="en-US" sz="4000" dirty="0">
                <a:latin typeface="Comic Sans MS" pitchFamily="66" charset="0"/>
              </a:rPr>
              <a:t>Tolerable level of frustration.</a:t>
            </a:r>
          </a:p>
        </p:txBody>
      </p:sp>
    </p:spTree>
    <p:extLst>
      <p:ext uri="{BB962C8B-B14F-4D97-AF65-F5344CB8AC3E}">
        <p14:creationId xmlns:p14="http://schemas.microsoft.com/office/powerpoint/2010/main" val="24189976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ctrTitle"/>
          </p:nvPr>
        </p:nvSpPr>
        <p:spPr>
          <a:xfrm>
            <a:off x="2235200" y="2235200"/>
            <a:ext cx="7772400" cy="1143000"/>
          </a:xfrm>
        </p:spPr>
        <p:txBody>
          <a:bodyPr/>
          <a:lstStyle/>
          <a:p>
            <a:r>
              <a:rPr lang="en-US" sz="7200" dirty="0">
                <a:latin typeface="Comic Sans MS" pitchFamily="66" charset="0"/>
              </a:rPr>
              <a:t>The </a:t>
            </a:r>
            <a:r>
              <a:rPr lang="en-US" sz="7200" dirty="0">
                <a:solidFill>
                  <a:srgbClr val="00B050"/>
                </a:solidFill>
                <a:latin typeface="Comic Sans MS" pitchFamily="66" charset="0"/>
              </a:rPr>
              <a:t>WHO</a:t>
            </a:r>
          </a:p>
        </p:txBody>
      </p:sp>
    </p:spTree>
    <p:extLst>
      <p:ext uri="{BB962C8B-B14F-4D97-AF65-F5344CB8AC3E}">
        <p14:creationId xmlns:p14="http://schemas.microsoft.com/office/powerpoint/2010/main" val="25392206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ctrTitle"/>
          </p:nvPr>
        </p:nvSpPr>
        <p:spPr>
          <a:xfrm>
            <a:off x="2209800" y="2794000"/>
            <a:ext cx="7772400" cy="1143000"/>
          </a:xfrm>
        </p:spPr>
        <p:txBody>
          <a:bodyPr>
            <a:normAutofit fontScale="90000"/>
          </a:bodyPr>
          <a:lstStyle/>
          <a:p>
            <a:r>
              <a:rPr lang="en-US" sz="7200" dirty="0">
                <a:solidFill>
                  <a:srgbClr val="3333FF"/>
                </a:solidFill>
                <a:latin typeface="Comic Sans MS" pitchFamily="66" charset="0"/>
              </a:rPr>
              <a:t>The contract between the employee and manager</a:t>
            </a:r>
          </a:p>
        </p:txBody>
      </p:sp>
    </p:spTree>
    <p:extLst>
      <p:ext uri="{BB962C8B-B14F-4D97-AF65-F5344CB8AC3E}">
        <p14:creationId xmlns:p14="http://schemas.microsoft.com/office/powerpoint/2010/main" val="2206986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nvPr>
        </p:nvGraphicFramePr>
        <p:xfrm>
          <a:off x="3048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urved Right Arrow 7"/>
          <p:cNvSpPr/>
          <p:nvPr/>
        </p:nvSpPr>
        <p:spPr bwMode="auto">
          <a:xfrm>
            <a:off x="4261945" y="1941789"/>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9" name="Curved Right Arrow 8"/>
          <p:cNvSpPr/>
          <p:nvPr/>
        </p:nvSpPr>
        <p:spPr bwMode="auto">
          <a:xfrm>
            <a:off x="4261945" y="3589284"/>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0" name="Curved Right Arrow 9"/>
          <p:cNvSpPr/>
          <p:nvPr/>
        </p:nvSpPr>
        <p:spPr bwMode="auto">
          <a:xfrm>
            <a:off x="5943600" y="1941789"/>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1" name="Curved Right Arrow 10"/>
          <p:cNvSpPr/>
          <p:nvPr/>
        </p:nvSpPr>
        <p:spPr bwMode="auto">
          <a:xfrm>
            <a:off x="6894787" y="3589284"/>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2" name="Curved Right Arrow 11"/>
          <p:cNvSpPr/>
          <p:nvPr/>
        </p:nvSpPr>
        <p:spPr bwMode="auto">
          <a:xfrm rot="10800000">
            <a:off x="5050218" y="1941789"/>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3" name="Curved Right Arrow 12"/>
          <p:cNvSpPr/>
          <p:nvPr/>
        </p:nvSpPr>
        <p:spPr bwMode="auto">
          <a:xfrm rot="10800000">
            <a:off x="6758146" y="1826176"/>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4" name="Curved Right Arrow 13"/>
          <p:cNvSpPr/>
          <p:nvPr/>
        </p:nvSpPr>
        <p:spPr bwMode="auto">
          <a:xfrm rot="10800000">
            <a:off x="5039705" y="3589284"/>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5" name="Curved Right Arrow 14"/>
          <p:cNvSpPr/>
          <p:nvPr/>
        </p:nvSpPr>
        <p:spPr bwMode="auto">
          <a:xfrm rot="10800000">
            <a:off x="7693568" y="3573518"/>
            <a:ext cx="725213" cy="1298028"/>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404966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0"/>
                                        <p:tgtEl>
                                          <p:spTgt spid="15"/>
                                        </p:tgtEl>
                                      </p:cBhvr>
                                    </p:animEffect>
                                    <p:anim calcmode="lin" valueType="num">
                                      <p:cBhvr>
                                        <p:cTn id="57" dur="1000" fill="hold"/>
                                        <p:tgtEl>
                                          <p:spTgt spid="15"/>
                                        </p:tgtEl>
                                        <p:attrNameLst>
                                          <p:attrName>ppt_x</p:attrName>
                                        </p:attrNameLst>
                                      </p:cBhvr>
                                      <p:tavLst>
                                        <p:tav tm="0">
                                          <p:val>
                                            <p:strVal val="#ppt_x"/>
                                          </p:val>
                                        </p:tav>
                                        <p:tav tm="100000">
                                          <p:val>
                                            <p:strVal val="#ppt_x"/>
                                          </p:val>
                                        </p:tav>
                                      </p:tavLst>
                                    </p:anim>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26"/>
          <p:cNvSpPr>
            <a:spLocks noGrp="1" noChangeArrowheads="1"/>
          </p:cNvSpPr>
          <p:nvPr>
            <p:ph type="ctrTitle"/>
          </p:nvPr>
        </p:nvSpPr>
        <p:spPr>
          <a:xfrm>
            <a:off x="2209800" y="2827420"/>
            <a:ext cx="7772400" cy="1143000"/>
          </a:xfrm>
        </p:spPr>
        <p:txBody>
          <a:bodyPr>
            <a:normAutofit fontScale="90000"/>
          </a:bodyPr>
          <a:lstStyle/>
          <a:p>
            <a:r>
              <a:rPr lang="en-US" altLang="en-US" sz="5600" dirty="0">
                <a:solidFill>
                  <a:srgbClr val="3333FF"/>
                </a:solidFill>
                <a:latin typeface="Comic Sans MS" pitchFamily="66" charset="0"/>
                <a:cs typeface="Arial" pitchFamily="34" charset="0"/>
              </a:rPr>
              <a:t>Reality Test </a:t>
            </a:r>
            <a:br>
              <a:rPr lang="ru-RU" altLang="en-US" sz="5600" dirty="0">
                <a:solidFill>
                  <a:srgbClr val="3333FF"/>
                </a:solidFill>
                <a:latin typeface="Comic Sans MS" pitchFamily="66" charset="0"/>
                <a:cs typeface="Arial" pitchFamily="34" charset="0"/>
              </a:rPr>
            </a:br>
            <a:br>
              <a:rPr lang="en-US" altLang="en-US" sz="5600" dirty="0">
                <a:solidFill>
                  <a:srgbClr val="3333FF"/>
                </a:solidFill>
                <a:latin typeface="Comic Sans MS" pitchFamily="66" charset="0"/>
                <a:cs typeface="Arial" pitchFamily="34" charset="0"/>
              </a:rPr>
            </a:br>
            <a:r>
              <a:rPr lang="en-US" altLang="en-US" sz="5600" dirty="0">
                <a:latin typeface="Comic Sans MS" pitchFamily="66" charset="0"/>
                <a:cs typeface="Arial" pitchFamily="34" charset="0"/>
              </a:rPr>
              <a:t>COST of achievement of the </a:t>
            </a:r>
            <a:r>
              <a:rPr lang="en-US" altLang="en-US" dirty="0">
                <a:latin typeface="Comic Sans MS" pitchFamily="66" charset="0"/>
                <a:cs typeface="Arial" pitchFamily="34" charset="0"/>
              </a:rPr>
              <a:t>objective / subobjective </a:t>
            </a:r>
            <a:r>
              <a:rPr lang="en-US" altLang="en-US" sz="5600" dirty="0">
                <a:latin typeface="Comic Sans MS" pitchFamily="66" charset="0"/>
                <a:cs typeface="Arial" pitchFamily="34" charset="0"/>
              </a:rPr>
              <a:t>and whether the costs were budgeted</a:t>
            </a:r>
            <a:endParaRPr lang="en-US" altLang="en-US" sz="5600" dirty="0">
              <a:solidFill>
                <a:srgbClr val="3333FF"/>
              </a:solidFill>
              <a:latin typeface="Comic Sans MS" pitchFamily="66" charset="0"/>
              <a:cs typeface="Arial" pitchFamily="34" charset="0"/>
            </a:endParaRPr>
          </a:p>
        </p:txBody>
      </p:sp>
    </p:spTree>
    <p:extLst>
      <p:ext uri="{BB962C8B-B14F-4D97-AF65-F5344CB8AC3E}">
        <p14:creationId xmlns:p14="http://schemas.microsoft.com/office/powerpoint/2010/main" val="3617916428"/>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D870F01-15DA-4416-84C9-6302D5691542}"/>
              </a:ext>
            </a:extLst>
          </p:cNvPr>
          <p:cNvGrpSpPr/>
          <p:nvPr/>
        </p:nvGrpSpPr>
        <p:grpSpPr>
          <a:xfrm>
            <a:off x="1889706" y="921411"/>
            <a:ext cx="8386408" cy="1640724"/>
            <a:chOff x="0" y="3606944"/>
            <a:chExt cx="5546725" cy="866775"/>
          </a:xfrm>
        </p:grpSpPr>
        <p:pic>
          <p:nvPicPr>
            <p:cNvPr id="439298" name="Picture 2">
              <a:extLst>
                <a:ext uri="{FF2B5EF4-FFF2-40B4-BE49-F238E27FC236}">
                  <a16:creationId xmlns:a16="http://schemas.microsoft.com/office/drawing/2014/main" id="{73F0FD14-20A2-4CA3-BD56-7EE3015C3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06944"/>
              <a:ext cx="55467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9299" name="Picture 3">
              <a:extLst>
                <a:ext uri="{FF2B5EF4-FFF2-40B4-BE49-F238E27FC236}">
                  <a16:creationId xmlns:a16="http://schemas.microsoft.com/office/drawing/2014/main" id="{20B0A90F-2A7A-4521-82E2-D4EDE1675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 y="3683937"/>
              <a:ext cx="539115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D1B6F4F7-5876-4582-9C98-2D40B1B9EF30}"/>
              </a:ext>
            </a:extLst>
          </p:cNvPr>
          <p:cNvSpPr/>
          <p:nvPr/>
        </p:nvSpPr>
        <p:spPr>
          <a:xfrm>
            <a:off x="1680410" y="3136966"/>
            <a:ext cx="8503906" cy="2989023"/>
          </a:xfrm>
          <a:prstGeom prst="rect">
            <a:avLst/>
          </a:prstGeom>
        </p:spPr>
        <p:txBody>
          <a:bodyPr wrap="square">
            <a:spAutoFit/>
          </a:bodyPr>
          <a:lstStyle/>
          <a:p>
            <a:pPr marL="589915" marR="53975" indent="-285750" algn="just">
              <a:lnSpc>
                <a:spcPct val="117000"/>
              </a:lnSpc>
              <a:buFont typeface="Wingdings" panose="05000000000000000000" pitchFamily="2" charset="2"/>
              <a:buChar char="q"/>
              <a:tabLst>
                <a:tab pos="520700" algn="l"/>
              </a:tabLst>
            </a:pP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Co</a:t>
            </a:r>
            <a:r>
              <a:rPr lang="en-US" sz="2000" i="1"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m</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pan</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y</a:t>
            </a:r>
            <a:r>
              <a:rPr lang="en-US" sz="2000" i="1" spc="45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Na</a:t>
            </a:r>
            <a:r>
              <a:rPr lang="en-US" sz="2000" i="1"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m</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endParaRPr lang="en-US" sz="2000" spc="80" dirty="0">
              <a:solidFill>
                <a:srgbClr val="000000"/>
              </a:solidFill>
              <a:latin typeface="Comic Sans MS" panose="030F0702030302020204" pitchFamily="66" charset="0"/>
              <a:ea typeface="Times New Roman" panose="02020603050405020304" pitchFamily="18" charset="0"/>
              <a:cs typeface="Calibri" panose="020F0502020204030204" pitchFamily="34" charset="0"/>
            </a:endParaRPr>
          </a:p>
          <a:p>
            <a:pPr marL="589915" marR="53975" indent="-285750" algn="just">
              <a:lnSpc>
                <a:spcPct val="117000"/>
              </a:lnSpc>
              <a:buFont typeface="Wingdings" panose="05000000000000000000" pitchFamily="2" charset="2"/>
              <a:buChar char="q"/>
              <a:tabLst>
                <a:tab pos="520700" algn="l"/>
              </a:tabLst>
            </a:pPr>
            <a:r>
              <a:rPr lang="en-US" sz="2000" i="1"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Spec</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if</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y</a:t>
            </a:r>
            <a:r>
              <a:rPr lang="en-US" sz="2000" spc="2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6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da</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8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f</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w</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spc="19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6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B</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ac</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k</a:t>
            </a:r>
            <a:r>
              <a:rPr lang="en-US" sz="2000" spc="1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Boo</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k</a:t>
            </a:r>
            <a:r>
              <a:rPr lang="en-US" sz="2000" spc="12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2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va</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a:t>
            </a:r>
            <a:r>
              <a:rPr lang="en-US" sz="2000" spc="14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un</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til</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endParaRPr lang="en-US" sz="2000" dirty="0">
              <a:latin typeface="Comic Sans MS" panose="030F0702030302020204" pitchFamily="66" charset="0"/>
              <a:ea typeface="Times New Roman" panose="02020603050405020304" pitchFamily="18" charset="0"/>
              <a:cs typeface="Times New Roman" panose="02020603050405020304" pitchFamily="18" charset="0"/>
            </a:endParaRPr>
          </a:p>
          <a:p>
            <a:pPr marL="589915" marR="55880" indent="-285750" algn="just">
              <a:lnSpc>
                <a:spcPct val="115000"/>
              </a:lnSpc>
              <a:spcBef>
                <a:spcPts val="245"/>
              </a:spcBef>
              <a:buFont typeface="Wingdings" panose="05000000000000000000" pitchFamily="2" charset="2"/>
              <a:buChar char="q"/>
              <a:tabLst>
                <a:tab pos="520700" algn="l"/>
              </a:tabLst>
            </a:pP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Un</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i="1" spc="2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Na</a:t>
            </a:r>
            <a:r>
              <a:rPr lang="en-US" sz="2000" i="1"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m</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i="1" spc="6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&amp;</a:t>
            </a:r>
            <a:r>
              <a:rPr lang="en-US" sz="2000" i="1" spc="-12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spc="2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p>
          <a:p>
            <a:pPr marL="589915" marR="55880" indent="-285750" algn="just">
              <a:lnSpc>
                <a:spcPct val="115000"/>
              </a:lnSpc>
              <a:spcBef>
                <a:spcPts val="245"/>
              </a:spcBef>
              <a:buFont typeface="Wingdings" panose="05000000000000000000" pitchFamily="2" charset="2"/>
              <a:buChar char="q"/>
              <a:tabLst>
                <a:tab pos="520700" algn="l"/>
              </a:tabLst>
            </a:pP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DFS</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and</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16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f</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anc</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i="1" spc="16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F</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m</a:t>
            </a:r>
            <a:r>
              <a:rPr lang="en-US" sz="2000" i="1" spc="7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Sou</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i="1" spc="12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an</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a:t>
            </a:r>
            <a:r>
              <a:rPr lang="en-US" sz="2000" spc="13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den</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tifi</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18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6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nu</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m</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be</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spc="2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f</a:t>
            </a:r>
            <a:r>
              <a:rPr lang="en-US" sz="2000" spc="3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eve</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12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6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ex</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is</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be</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w</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ee</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you</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un</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an</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li</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en</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Th</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on</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y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app</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li</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f</a:t>
            </a:r>
            <a:r>
              <a:rPr lang="en-US" sz="2000" spc="2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you</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un</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22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G</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ee</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spc="2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B</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ue</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he</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w</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18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p</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eas</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13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yp</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1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t>
            </a:r>
          </a:p>
          <a:p>
            <a:pPr marL="589915" marR="55880" indent="-285750" algn="just">
              <a:lnSpc>
                <a:spcPct val="115000"/>
              </a:lnSpc>
              <a:spcBef>
                <a:spcPts val="245"/>
              </a:spcBef>
              <a:buFont typeface="Wingdings" panose="05000000000000000000" pitchFamily="2" charset="2"/>
              <a:buChar char="q"/>
              <a:tabLst>
                <a:tab pos="520700" algn="l"/>
              </a:tabLst>
            </a:pP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Un</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i="1"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i="1" spc="5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Co</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r>
              <a:rPr lang="en-US" sz="2000" i="1"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i="1"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r:</a:t>
            </a:r>
            <a:endParaRPr lang="en-US" sz="2000" dirty="0">
              <a:latin typeface="Comic Sans MS" panose="030F0702030302020204" pitchFamily="66" charset="0"/>
              <a:ea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015D986-9CA2-4B85-837A-C0154CBCE7CD}"/>
              </a:ext>
            </a:extLst>
          </p:cNvPr>
          <p:cNvSpPr/>
          <p:nvPr/>
        </p:nvSpPr>
        <p:spPr>
          <a:xfrm>
            <a:off x="1688167" y="398191"/>
            <a:ext cx="5036956" cy="523220"/>
          </a:xfrm>
          <a:prstGeom prst="rect">
            <a:avLst/>
          </a:prstGeom>
        </p:spPr>
        <p:txBody>
          <a:bodyPr wrap="none">
            <a:spAutoFit/>
          </a:bodyPr>
          <a:lstStyle/>
          <a:p>
            <a:r>
              <a:rPr lang="en-US" sz="2800" b="1" dirty="0">
                <a:solidFill>
                  <a:srgbClr val="C00000"/>
                </a:solidFill>
                <a:latin typeface="Comic Sans MS" panose="030F0702030302020204" pitchFamily="66" charset="0"/>
                <a:cs typeface="Times New Roman" panose="02020603050405020304" pitchFamily="18" charset="0"/>
              </a:rPr>
              <a:t>Company &amp; Unit information</a:t>
            </a:r>
            <a:endParaRPr lang="en-US" sz="2800" b="1" dirty="0">
              <a:solidFill>
                <a:srgbClr val="C00000"/>
              </a:solidFill>
            </a:endParaRPr>
          </a:p>
        </p:txBody>
      </p:sp>
    </p:spTree>
    <p:extLst>
      <p:ext uri="{BB962C8B-B14F-4D97-AF65-F5344CB8AC3E}">
        <p14:creationId xmlns:p14="http://schemas.microsoft.com/office/powerpoint/2010/main" val="3367986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689582"/>
            <a:ext cx="8403771" cy="3528658"/>
          </a:xfrm>
          <a:prstGeom prst="rect">
            <a:avLst/>
          </a:prstGeom>
        </p:spPr>
        <p:txBody>
          <a:bodyPr wrap="square">
            <a:spAutoFit/>
          </a:bodyPr>
          <a:lstStyle/>
          <a:p>
            <a:pPr marL="647065" marR="55245" indent="-342900" algn="just">
              <a:lnSpc>
                <a:spcPct val="117000"/>
              </a:lnSpc>
              <a:buFont typeface="Wingdings" panose="05000000000000000000" pitchFamily="2" charset="2"/>
              <a:buChar char="q"/>
              <a:tabLst>
                <a:tab pos="520700" algn="l"/>
              </a:tabLst>
            </a:pPr>
            <a:r>
              <a:rPr lang="en-US" sz="2000" dirty="0">
                <a:latin typeface="Comic Sans MS" panose="030F0702030302020204" pitchFamily="66" charset="0"/>
                <a:cs typeface="Times New Roman" panose="02020603050405020304" pitchFamily="18" charset="0"/>
              </a:rPr>
              <a:t>This is the objective that you are committing to achieve, it describes the desirable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ou</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co</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me</a:t>
            </a:r>
            <a:endParaRPr lang="en-US" sz="2000" dirty="0">
              <a:latin typeface="Comic Sans MS" panose="030F0702030302020204" pitchFamily="66" charset="0"/>
              <a:ea typeface="Times New Roman" panose="02020603050405020304" pitchFamily="18" charset="0"/>
              <a:cs typeface="Times New Roman" panose="02020603050405020304" pitchFamily="18" charset="0"/>
            </a:endParaRPr>
          </a:p>
          <a:p>
            <a:pPr marL="647065" marR="55245" indent="-342900" algn="just">
              <a:lnSpc>
                <a:spcPct val="117000"/>
              </a:lnSpc>
              <a:buFont typeface="Wingdings" panose="05000000000000000000" pitchFamily="2" charset="2"/>
              <a:buChar char="q"/>
              <a:tabLst>
                <a:tab pos="520700" algn="l"/>
              </a:tabLst>
            </a:pP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B</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3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2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spec</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ifi</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a:t>
            </a:r>
            <a:r>
              <a:rPr lang="en-US" sz="2000" spc="19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a</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s</a:t>
            </a:r>
            <a:r>
              <a:rPr lang="en-US" sz="2000" spc="2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yo</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u</a:t>
            </a:r>
            <a:r>
              <a:rPr lang="en-US" sz="2000" spc="1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ca</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a:t>
            </a:r>
            <a:r>
              <a:rPr lang="en-US" sz="2000" spc="1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w</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it</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spc="10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t</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h</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t>
            </a:r>
            <a:r>
              <a:rPr lang="en-US" sz="2000" spc="6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k</a:t>
            </a:r>
            <a:r>
              <a:rPr lang="en-US" sz="2000" spc="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i</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n</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d</a:t>
            </a:r>
            <a:r>
              <a:rPr lang="en-US" sz="2000" spc="14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o</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f</a:t>
            </a:r>
            <a:r>
              <a:rPr lang="en-US" sz="2000" spc="15"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 </a:t>
            </a:r>
            <a:r>
              <a:rPr lang="en-US" sz="2000" spc="1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goa</a:t>
            </a:r>
            <a:r>
              <a:rPr lang="en-US" sz="2000"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l</a:t>
            </a:r>
            <a:endParaRPr lang="en-US" sz="2000" dirty="0">
              <a:latin typeface="Comic Sans MS" panose="030F0702030302020204" pitchFamily="66" charset="0"/>
              <a:ea typeface="Times New Roman" panose="02020603050405020304" pitchFamily="18" charset="0"/>
              <a:cs typeface="Times New Roman" panose="02020603050405020304" pitchFamily="18" charset="0"/>
            </a:endParaRPr>
          </a:p>
          <a:p>
            <a:pPr marL="1104265" indent="-342900">
              <a:lnSpc>
                <a:spcPct val="107000"/>
              </a:lnSpc>
              <a:spcBef>
                <a:spcPts val="255"/>
              </a:spcBef>
              <a:buFont typeface="Wingdings" panose="05000000000000000000" pitchFamily="2" charset="2"/>
              <a:buChar char="v"/>
            </a:pPr>
            <a:r>
              <a:rPr lang="en-US" sz="2000" dirty="0">
                <a:latin typeface="Comic Sans MS" panose="030F0702030302020204" pitchFamily="66" charset="0"/>
                <a:cs typeface="Times New Roman" panose="02020603050405020304" pitchFamily="18" charset="0"/>
              </a:rPr>
              <a:t>	Increase year sales</a:t>
            </a:r>
          </a:p>
          <a:p>
            <a:pPr marL="1104265" indent="-342900">
              <a:lnSpc>
                <a:spcPct val="107000"/>
              </a:lnSpc>
              <a:spcBef>
                <a:spcPts val="175"/>
              </a:spcBef>
              <a:buFont typeface="Wingdings" panose="05000000000000000000" pitchFamily="2" charset="2"/>
              <a:buChar char="v"/>
            </a:pPr>
            <a:r>
              <a:rPr lang="en-US" sz="2000" dirty="0">
                <a:latin typeface="Comic Sans MS" panose="030F0702030302020204" pitchFamily="66" charset="0"/>
                <a:cs typeface="Times New Roman" panose="02020603050405020304" pitchFamily="18" charset="0"/>
              </a:rPr>
              <a:t>	Decrease “X” indicator to “Y” level by “Z” date</a:t>
            </a:r>
          </a:p>
          <a:p>
            <a:pPr marL="1104265" indent="-342900">
              <a:lnSpc>
                <a:spcPct val="107000"/>
              </a:lnSpc>
              <a:spcBef>
                <a:spcPts val="175"/>
              </a:spcBef>
              <a:buFont typeface="Wingdings" panose="05000000000000000000" pitchFamily="2" charset="2"/>
              <a:buChar char="v"/>
            </a:pPr>
            <a:r>
              <a:rPr lang="en-US" sz="2000" dirty="0">
                <a:latin typeface="Comic Sans MS" panose="030F0702030302020204" pitchFamily="66" charset="0"/>
                <a:cs typeface="Times New Roman" panose="02020603050405020304" pitchFamily="18" charset="0"/>
              </a:rPr>
              <a:t>	Increase year average </a:t>
            </a:r>
            <a:r>
              <a:rPr lang="en-US" sz="2000" dirty="0">
                <a:latin typeface="Comic Sans MS" panose="030F0702030302020204" pitchFamily="66" charset="0"/>
              </a:rPr>
              <a:t>of “X” indicator to “Y” level</a:t>
            </a:r>
          </a:p>
          <a:p>
            <a:pPr marL="1104265" indent="-342900">
              <a:lnSpc>
                <a:spcPct val="107000"/>
              </a:lnSpc>
              <a:spcBef>
                <a:spcPts val="175"/>
              </a:spcBef>
              <a:buFont typeface="Wingdings" panose="05000000000000000000" pitchFamily="2" charset="2"/>
              <a:buChar char="v"/>
            </a:pPr>
            <a:endParaRPr lang="en-US" sz="2000" dirty="0">
              <a:latin typeface="Comic Sans MS" panose="030F0702030302020204" pitchFamily="66" charset="0"/>
              <a:ea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v"/>
            </a:pPr>
            <a:r>
              <a:rPr lang="en-US" sz="2000" dirty="0">
                <a:latin typeface="Comic Sans MS" panose="030F0702030302020204" pitchFamily="66" charset="0"/>
                <a:cs typeface="Times New Roman" panose="02020603050405020304" pitchFamily="18" charset="0"/>
              </a:rPr>
              <a:t>	Increase</a:t>
            </a:r>
            <a:r>
              <a:rPr lang="en-US" sz="2000" dirty="0">
                <a:latin typeface="Comic Sans MS" panose="030F0702030302020204" pitchFamily="66" charset="0"/>
              </a:rPr>
              <a:t> year sales to 15.2 MUSD</a:t>
            </a:r>
          </a:p>
          <a:p>
            <a:pPr marL="800100" lvl="1" indent="-342900">
              <a:buFont typeface="Wingdings" panose="05000000000000000000" pitchFamily="2" charset="2"/>
              <a:buChar char="v"/>
            </a:pPr>
            <a:r>
              <a:rPr lang="en-US" sz="2000" dirty="0">
                <a:latin typeface="Comic Sans MS" panose="030F0702030302020204" pitchFamily="66" charset="0"/>
              </a:rPr>
              <a:t>	Decrease monthly average delivery time to 36 hours by April.</a:t>
            </a:r>
          </a:p>
          <a:p>
            <a:pPr marL="800100" lvl="1" indent="-342900">
              <a:buFont typeface="Wingdings" panose="05000000000000000000" pitchFamily="2" charset="2"/>
              <a:buChar char="v"/>
            </a:pPr>
            <a:r>
              <a:rPr lang="en-US" sz="2000" dirty="0">
                <a:latin typeface="Comic Sans MS" panose="030F0702030302020204" pitchFamily="66" charset="0"/>
              </a:rPr>
              <a:t>	Open a new office in northern region</a:t>
            </a:r>
          </a:p>
        </p:txBody>
      </p:sp>
      <p:sp>
        <p:nvSpPr>
          <p:cNvPr id="4" name="Rectangle 3">
            <a:extLst>
              <a:ext uri="{FF2B5EF4-FFF2-40B4-BE49-F238E27FC236}">
                <a16:creationId xmlns:a16="http://schemas.microsoft.com/office/drawing/2014/main" id="{9217CBF2-C903-4ED5-986A-1F66744537FD}"/>
              </a:ext>
            </a:extLst>
          </p:cNvPr>
          <p:cNvSpPr/>
          <p:nvPr/>
        </p:nvSpPr>
        <p:spPr>
          <a:xfrm>
            <a:off x="1688168" y="398191"/>
            <a:ext cx="4219425" cy="523220"/>
          </a:xfrm>
          <a:prstGeom prst="rect">
            <a:avLst/>
          </a:prstGeom>
        </p:spPr>
        <p:txBody>
          <a:bodyPr wrap="none">
            <a:spAutoFit/>
          </a:bodyPr>
          <a:lstStyle/>
          <a:p>
            <a:r>
              <a:rPr lang="en-US" sz="2800" b="1" dirty="0">
                <a:solidFill>
                  <a:srgbClr val="C00000"/>
                </a:solidFill>
                <a:latin typeface="Comic Sans MS" panose="030F0702030302020204" pitchFamily="66" charset="0"/>
                <a:cs typeface="Times New Roman" panose="02020603050405020304" pitchFamily="18" charset="0"/>
              </a:rPr>
              <a:t>Deterministic objective</a:t>
            </a:r>
            <a:endParaRPr lang="en-US" sz="2800" b="1" dirty="0">
              <a:solidFill>
                <a:srgbClr val="C00000"/>
              </a:solidFill>
            </a:endParaRPr>
          </a:p>
        </p:txBody>
      </p:sp>
      <p:sp>
        <p:nvSpPr>
          <p:cNvPr id="5" name="Rectangle 4">
            <a:extLst>
              <a:ext uri="{FF2B5EF4-FFF2-40B4-BE49-F238E27FC236}">
                <a16:creationId xmlns:a16="http://schemas.microsoft.com/office/drawing/2014/main" id="{882C9385-22EF-4965-8E29-18CCF8AB2F9E}"/>
              </a:ext>
            </a:extLst>
          </p:cNvPr>
          <p:cNvSpPr/>
          <p:nvPr/>
        </p:nvSpPr>
        <p:spPr bwMode="auto">
          <a:xfrm>
            <a:off x="2387075" y="1035939"/>
            <a:ext cx="1048852" cy="654317"/>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2289826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661873"/>
            <a:ext cx="8403771" cy="3693319"/>
          </a:xfrm>
          <a:prstGeom prst="rect">
            <a:avLst/>
          </a:prstGeom>
        </p:spPr>
        <p:txBody>
          <a:bodyPr wrap="square">
            <a:spAutoFit/>
          </a:bodyPr>
          <a:lstStyle/>
          <a:p>
            <a:pPr marL="285750" indent="-285750">
              <a:buFont typeface="Wingdings" panose="05000000000000000000" pitchFamily="2" charset="2"/>
              <a:buChar char="q"/>
            </a:pPr>
            <a:r>
              <a:rPr lang="en-US" dirty="0">
                <a:latin typeface="Comic Sans MS" panose="030F0702030302020204" pitchFamily="66" charset="0"/>
              </a:rPr>
              <a:t>It describes what should not be violated while the deterministic objective gets accomplished.</a:t>
            </a:r>
          </a:p>
          <a:p>
            <a:pPr marL="285750" indent="-285750">
              <a:buFont typeface="Wingdings" panose="05000000000000000000" pitchFamily="2" charset="2"/>
              <a:buChar char="q"/>
            </a:pPr>
            <a:r>
              <a:rPr lang="en-US" dirty="0">
                <a:latin typeface="Comic Sans MS" panose="030F0702030302020204" pitchFamily="66" charset="0"/>
              </a:rPr>
              <a:t>Some times the options might not be obvious but there is always something that can be affected. </a:t>
            </a:r>
          </a:p>
          <a:p>
            <a:pPr marL="285750" indent="-285750">
              <a:buFont typeface="Wingdings" panose="05000000000000000000" pitchFamily="2" charset="2"/>
              <a:buChar char="q"/>
            </a:pPr>
            <a:r>
              <a:rPr lang="en-US" i="1" dirty="0">
                <a:latin typeface="Comic Sans MS" panose="030F0702030302020204" pitchFamily="66" charset="0"/>
              </a:rPr>
              <a:t>“What could get affected as a secondary effect of trying to accomplish this objective?”</a:t>
            </a:r>
          </a:p>
          <a:p>
            <a:r>
              <a:rPr lang="en-US" dirty="0">
                <a:latin typeface="Comic Sans MS" panose="030F0702030302020204" pitchFamily="66" charset="0"/>
              </a:rPr>
              <a:t> </a:t>
            </a:r>
          </a:p>
          <a:p>
            <a:pPr marL="285750" indent="-285750">
              <a:buFont typeface="Wingdings" panose="05000000000000000000" pitchFamily="2" charset="2"/>
              <a:buChar char="v"/>
            </a:pPr>
            <a:r>
              <a:rPr lang="en-US" dirty="0">
                <a:latin typeface="Comic Sans MS" panose="030F0702030302020204" pitchFamily="66" charset="0"/>
              </a:rPr>
              <a:t>Deterministic Objective: Increase sales by 25% (to 6.7 MUSD)</a:t>
            </a:r>
          </a:p>
          <a:p>
            <a:pPr marL="285750" indent="-285750">
              <a:buFont typeface="Wingdings" panose="05000000000000000000" pitchFamily="2" charset="2"/>
              <a:buChar char="v"/>
            </a:pPr>
            <a:r>
              <a:rPr lang="en-US" dirty="0">
                <a:latin typeface="Comic Sans MS" panose="030F0702030302020204" pitchFamily="66" charset="0"/>
              </a:rPr>
              <a:t>Constraint Objective: Without lowering gross margin of 32%</a:t>
            </a:r>
          </a:p>
          <a:p>
            <a:pPr marL="285750" indent="-285750">
              <a:buFont typeface="Wingdings" panose="05000000000000000000" pitchFamily="2" charset="2"/>
              <a:buChar char="v"/>
            </a:pPr>
            <a:endParaRPr lang="en-US" dirty="0">
              <a:latin typeface="Comic Sans MS" panose="030F0702030302020204" pitchFamily="66" charset="0"/>
            </a:endParaRPr>
          </a:p>
          <a:p>
            <a:pPr marL="285750" indent="-285750">
              <a:buFont typeface="Wingdings" panose="05000000000000000000" pitchFamily="2" charset="2"/>
              <a:buChar char="v"/>
            </a:pPr>
            <a:r>
              <a:rPr lang="en-US" dirty="0">
                <a:latin typeface="Comic Sans MS" panose="030F0702030302020204" pitchFamily="66" charset="0"/>
              </a:rPr>
              <a:t>Deterministic Objective: Increase service level year average to 90%</a:t>
            </a:r>
          </a:p>
          <a:p>
            <a:pPr marL="285750" indent="-285750">
              <a:buFont typeface="Wingdings" panose="05000000000000000000" pitchFamily="2" charset="2"/>
              <a:buChar char="v"/>
            </a:pPr>
            <a:r>
              <a:rPr lang="en-US" dirty="0">
                <a:latin typeface="Comic Sans MS" panose="030F0702030302020204" pitchFamily="66" charset="0"/>
              </a:rPr>
              <a:t>Constraint Objective: Without increasing the inventory to more than 1.5 MUSD</a:t>
            </a: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3692036" cy="523220"/>
          </a:xfrm>
          <a:prstGeom prst="rect">
            <a:avLst/>
          </a:prstGeom>
        </p:spPr>
        <p:txBody>
          <a:bodyPr wrap="none">
            <a:spAutoFit/>
          </a:bodyPr>
          <a:lstStyle/>
          <a:p>
            <a:r>
              <a:rPr lang="en-US" sz="2800" b="1" dirty="0">
                <a:solidFill>
                  <a:srgbClr val="C00000"/>
                </a:solidFill>
                <a:latin typeface="Comic Sans MS" panose="030F0702030302020204" pitchFamily="66" charset="0"/>
                <a:cs typeface="Times New Roman" panose="02020603050405020304" pitchFamily="18" charset="0"/>
              </a:rPr>
              <a:t>Constraint objective</a:t>
            </a:r>
            <a:endParaRPr lang="en-US" sz="2800" b="1" dirty="0">
              <a:solidFill>
                <a:srgbClr val="C00000"/>
              </a:solidFill>
            </a:endParaRPr>
          </a:p>
        </p:txBody>
      </p:sp>
      <p:sp>
        <p:nvSpPr>
          <p:cNvPr id="7" name="Rectangle 6">
            <a:extLst>
              <a:ext uri="{FF2B5EF4-FFF2-40B4-BE49-F238E27FC236}">
                <a16:creationId xmlns:a16="http://schemas.microsoft.com/office/drawing/2014/main" id="{E3E71D79-FAA5-46CD-AA07-EAEF18261575}"/>
              </a:ext>
            </a:extLst>
          </p:cNvPr>
          <p:cNvSpPr/>
          <p:nvPr/>
        </p:nvSpPr>
        <p:spPr bwMode="auto">
          <a:xfrm>
            <a:off x="2387075" y="1035938"/>
            <a:ext cx="1048852" cy="1194644"/>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733192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6"/>
            <a:ext cx="8403771" cy="1200329"/>
          </a:xfrm>
          <a:prstGeom prst="rect">
            <a:avLst/>
          </a:prstGeom>
        </p:spPr>
        <p:txBody>
          <a:bodyPr wrap="square">
            <a:spAutoFit/>
          </a:bodyPr>
          <a:lstStyle/>
          <a:p>
            <a:pPr marL="285750" indent="-285750">
              <a:buFont typeface="Wingdings" panose="05000000000000000000" pitchFamily="2" charset="2"/>
              <a:buChar char="q"/>
            </a:pPr>
            <a:r>
              <a:rPr lang="en-US" altLang="en-US"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Each personal objective  should be aligned  to a corporate goal. </a:t>
            </a:r>
          </a:p>
          <a:p>
            <a:pPr marL="285750" indent="-285750">
              <a:buFont typeface="Wingdings" panose="05000000000000000000" pitchFamily="2" charset="2"/>
              <a:buChar char="q"/>
            </a:pPr>
            <a:r>
              <a:rPr lang="en-US" altLang="en-US" dirty="0">
                <a:solidFill>
                  <a:srgbClr val="000000"/>
                </a:solidFill>
                <a:latin typeface="Comic Sans MS" panose="030F0702030302020204" pitchFamily="66" charset="0"/>
                <a:cs typeface="Calibri" panose="020F0502020204030204" pitchFamily="34" charset="0"/>
              </a:rPr>
              <a:t>If you  believe  that an objective  that you  have  is not aligned  to any corporate  goal  please align it to the closest one or please use the cell to describe why do you believe is important.</a:t>
            </a:r>
            <a:endParaRPr lang="en-US"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4758034" cy="523220"/>
          </a:xfrm>
          <a:prstGeom prst="rect">
            <a:avLst/>
          </a:prstGeom>
        </p:spPr>
        <p:txBody>
          <a:bodyPr wrap="none">
            <a:spAutoFit/>
          </a:bodyPr>
          <a:lstStyle/>
          <a:p>
            <a:r>
              <a:rPr lang="en-US" sz="2800" b="1" dirty="0">
                <a:solidFill>
                  <a:srgbClr val="C00000"/>
                </a:solidFill>
                <a:latin typeface="Comic Sans MS" panose="030F0702030302020204" pitchFamily="66" charset="0"/>
                <a:cs typeface="Times New Roman" panose="02020603050405020304" pitchFamily="18" charset="0"/>
              </a:rPr>
              <a:t>Corporate Goal or Purpose</a:t>
            </a:r>
            <a:endParaRPr lang="en-US" sz="2800" b="1" dirty="0">
              <a:solidFill>
                <a:srgbClr val="C00000"/>
              </a:solidFill>
            </a:endParaRP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3426167" y="1035939"/>
            <a:ext cx="704850" cy="1166935"/>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16764774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5"/>
            <a:ext cx="8403771" cy="1754326"/>
          </a:xfrm>
          <a:prstGeom prst="rect">
            <a:avLst/>
          </a:prstGeom>
        </p:spPr>
        <p:txBody>
          <a:bodyPr wrap="square">
            <a:spAutoFit/>
          </a:bodyPr>
          <a:lstStyle/>
          <a:p>
            <a:pPr marL="285750" indent="-285750">
              <a:buFont typeface="Wingdings" panose="05000000000000000000" pitchFamily="2" charset="2"/>
              <a:buChar char="q"/>
            </a:pPr>
            <a:r>
              <a:rPr lang="en-US" dirty="0">
                <a:latin typeface="Comic Sans MS" panose="030F0702030302020204" pitchFamily="66" charset="0"/>
              </a:rPr>
              <a:t>It is very important to define how to make sure that the objective  is accomplished. </a:t>
            </a:r>
          </a:p>
          <a:p>
            <a:pPr marL="742950" lvl="1" indent="-285750">
              <a:buFont typeface="Wingdings" panose="05000000000000000000" pitchFamily="2" charset="2"/>
              <a:buChar char="v"/>
            </a:pPr>
            <a:r>
              <a:rPr lang="en-US" dirty="0">
                <a:latin typeface="Comic Sans MS" panose="030F0702030302020204" pitchFamily="66" charset="0"/>
              </a:rPr>
              <a:t>When the objective  can be measured,  an appropriate  KPI needs to be selected. </a:t>
            </a:r>
          </a:p>
          <a:p>
            <a:pPr marL="742950" lvl="1" indent="-285750">
              <a:buFont typeface="Wingdings" panose="05000000000000000000" pitchFamily="2" charset="2"/>
              <a:buChar char="v"/>
            </a:pPr>
            <a:r>
              <a:rPr lang="en-US" dirty="0">
                <a:latin typeface="Comic Sans MS" panose="030F0702030302020204" pitchFamily="66" charset="0"/>
              </a:rPr>
              <a:t>When the objective  can’t be measured, then it is necessary to express the way it will be verified.</a:t>
            </a:r>
          </a:p>
        </p:txBody>
      </p:sp>
      <p:sp>
        <p:nvSpPr>
          <p:cNvPr id="4" name="Rectangle 3">
            <a:extLst>
              <a:ext uri="{FF2B5EF4-FFF2-40B4-BE49-F238E27FC236}">
                <a16:creationId xmlns:a16="http://schemas.microsoft.com/office/drawing/2014/main" id="{9217CBF2-C903-4ED5-986A-1F66744537FD}"/>
              </a:ext>
            </a:extLst>
          </p:cNvPr>
          <p:cNvSpPr/>
          <p:nvPr/>
        </p:nvSpPr>
        <p:spPr>
          <a:xfrm>
            <a:off x="1688168" y="398191"/>
            <a:ext cx="3494867" cy="523220"/>
          </a:xfrm>
          <a:prstGeom prst="rect">
            <a:avLst/>
          </a:prstGeom>
        </p:spPr>
        <p:txBody>
          <a:bodyPr wrap="none">
            <a:spAutoFit/>
          </a:bodyPr>
          <a:lstStyle/>
          <a:p>
            <a:r>
              <a:rPr lang="en-US" sz="2800" b="1" dirty="0">
                <a:solidFill>
                  <a:srgbClr val="C00000"/>
                </a:solidFill>
                <a:latin typeface="Comic Sans MS" panose="030F0702030302020204" pitchFamily="66" charset="0"/>
                <a:cs typeface="Times New Roman" panose="02020603050405020304" pitchFamily="18" charset="0"/>
              </a:rPr>
              <a:t>KPI or Verification</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4049627" y="1035939"/>
            <a:ext cx="494665" cy="737444"/>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37762682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6"/>
            <a:ext cx="8403771" cy="1200329"/>
          </a:xfrm>
          <a:prstGeom prst="rect">
            <a:avLst/>
          </a:prstGeom>
        </p:spPr>
        <p:txBody>
          <a:bodyPr wrap="square">
            <a:spAutoFit/>
          </a:bodyPr>
          <a:lstStyle/>
          <a:p>
            <a:pPr marL="285750" indent="-285750" eaLnBrk="0" hangingPunct="0">
              <a:buFont typeface="Wingdings" panose="05000000000000000000" pitchFamily="2" charset="2"/>
              <a:buChar char="q"/>
            </a:pPr>
            <a:r>
              <a:rPr lang="en-US" altLang="en-US" dirty="0">
                <a:solidFill>
                  <a:srgbClr val="000000"/>
                </a:solidFill>
                <a:latin typeface="Comic Sans MS" panose="030F0702030302020204" pitchFamily="66" charset="0"/>
                <a:ea typeface="Times New Roman" panose="02020603050405020304" pitchFamily="18" charset="0"/>
                <a:cs typeface="Calibri" panose="020F0502020204030204" pitchFamily="34" charset="0"/>
              </a:rPr>
              <a:t>Every  objective   must  state  the  time  frame  for  its  expected   completion.   It  should  be expressed  as a date (day, month and year).</a:t>
            </a:r>
          </a:p>
          <a:p>
            <a:pPr marL="285750" indent="-285750" eaLnBrk="0" hangingPunct="0">
              <a:buFont typeface="Wingdings" panose="05000000000000000000" pitchFamily="2" charset="2"/>
              <a:buChar char="q"/>
            </a:pPr>
            <a:r>
              <a:rPr lang="en-US" altLang="en-US" dirty="0">
                <a:solidFill>
                  <a:srgbClr val="000000"/>
                </a:solidFill>
                <a:latin typeface="Comic Sans MS" panose="030F0702030302020204" pitchFamily="66" charset="0"/>
                <a:cs typeface="Calibri" panose="020F0502020204030204" pitchFamily="34" charset="0"/>
              </a:rPr>
              <a:t>Please   specify   who   should   be   responsible    of   validating  weather   the   objective   was accomplished or not. </a:t>
            </a:r>
            <a:endParaRPr lang="en-US" altLang="en-US" sz="1100" dirty="0"/>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5554726" cy="523220"/>
          </a:xfrm>
          <a:prstGeom prst="rect">
            <a:avLst/>
          </a:prstGeom>
        </p:spPr>
        <p:txBody>
          <a:bodyPr wrap="none">
            <a:spAutoFit/>
          </a:bodyPr>
          <a:lstStyle/>
          <a:p>
            <a:r>
              <a:rPr lang="en-US" sz="2800" b="1" dirty="0">
                <a:solidFill>
                  <a:srgbClr val="C00000"/>
                </a:solidFill>
                <a:latin typeface="Comic Sans MS" panose="030F0702030302020204" pitchFamily="66" charset="0"/>
              </a:rPr>
              <a:t>By When and Checked by Who</a:t>
            </a:r>
            <a:endParaRPr lang="en-US" sz="2800" b="1" dirty="0">
              <a:solidFill>
                <a:srgbClr val="C00000"/>
              </a:solidFill>
              <a:latin typeface="Comic Sans MS" panose="030F0702030302020204" pitchFamily="66" charset="0"/>
              <a:cs typeface="Times New Roman" panose="02020603050405020304" pitchFamily="18" charset="0"/>
            </a:endParaRP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4049627" y="1035939"/>
            <a:ext cx="494665" cy="1166934"/>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2680580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5"/>
            <a:ext cx="8403771" cy="1754326"/>
          </a:xfrm>
          <a:prstGeom prst="rect">
            <a:avLst/>
          </a:prstGeom>
        </p:spPr>
        <p:txBody>
          <a:bodyPr wrap="square">
            <a:spAutoFit/>
          </a:bodyPr>
          <a:lstStyle/>
          <a:p>
            <a:pPr marL="285750" indent="-285750" eaLnBrk="0" hangingPunct="0">
              <a:buFont typeface="Wingdings" panose="05000000000000000000" pitchFamily="2" charset="2"/>
              <a:buChar char="q"/>
            </a:pPr>
            <a:r>
              <a:rPr lang="en-US" altLang="en-US" dirty="0">
                <a:latin typeface="Comic Sans MS" panose="030F0702030302020204" pitchFamily="66" charset="0"/>
                <a:ea typeface="Times New Roman" panose="02020603050405020304" pitchFamily="18" charset="0"/>
                <a:cs typeface="Calibri" panose="020F0502020204030204" pitchFamily="34" charset="0"/>
              </a:rPr>
              <a:t>The  range  of acceptance is broken into five segments:</a:t>
            </a:r>
            <a:endParaRPr lang="en-US" altLang="en-US" dirty="0">
              <a:latin typeface="Comic Sans MS" panose="030F0702030302020204" pitchFamily="66" charset="0"/>
            </a:endParaRPr>
          </a:p>
          <a:p>
            <a:pPr marL="742950" lvl="1" indent="-285750" eaLnBrk="0" hangingPunct="0">
              <a:buFont typeface="Wingdings" panose="05000000000000000000" pitchFamily="2" charset="2"/>
              <a:buChar char="v"/>
            </a:pPr>
            <a:r>
              <a:rPr lang="en-US" altLang="en-US" dirty="0">
                <a:latin typeface="Comic Sans MS" panose="030F0702030302020204" pitchFamily="66" charset="0"/>
                <a:ea typeface="Times New Roman" panose="02020603050405020304" pitchFamily="18" charset="0"/>
                <a:cs typeface="Calibri" panose="020F0502020204030204" pitchFamily="34" charset="0"/>
              </a:rPr>
              <a:t>O - Overachieve</a:t>
            </a:r>
            <a:endParaRPr lang="en-US" altLang="en-US" dirty="0">
              <a:latin typeface="Comic Sans MS" panose="030F0702030302020204" pitchFamily="66" charset="0"/>
            </a:endParaRPr>
          </a:p>
          <a:p>
            <a:pPr marL="742950" lvl="1" indent="-285750" eaLnBrk="0" hangingPunct="0">
              <a:buFont typeface="Wingdings" panose="05000000000000000000" pitchFamily="2" charset="2"/>
              <a:buChar char="v"/>
            </a:pPr>
            <a:r>
              <a:rPr lang="en-US" altLang="en-US" dirty="0">
                <a:latin typeface="Comic Sans MS" panose="030F0702030302020204" pitchFamily="66" charset="0"/>
                <a:ea typeface="Times New Roman" panose="02020603050405020304" pitchFamily="18" charset="0"/>
                <a:cs typeface="Calibri" panose="020F0502020204030204" pitchFamily="34" charset="0"/>
              </a:rPr>
              <a:t>AE – Above expected</a:t>
            </a:r>
            <a:endParaRPr lang="en-US" altLang="en-US" dirty="0">
              <a:latin typeface="Comic Sans MS" panose="030F0702030302020204" pitchFamily="66" charset="0"/>
            </a:endParaRPr>
          </a:p>
          <a:p>
            <a:pPr marL="742950" lvl="1" indent="-285750" eaLnBrk="0" hangingPunct="0">
              <a:buFont typeface="Wingdings" panose="05000000000000000000" pitchFamily="2" charset="2"/>
              <a:buChar char="v"/>
            </a:pPr>
            <a:r>
              <a:rPr lang="en-US" altLang="en-US" dirty="0">
                <a:latin typeface="Comic Sans MS" panose="030F0702030302020204" pitchFamily="66" charset="0"/>
                <a:ea typeface="Times New Roman" panose="02020603050405020304" pitchFamily="18" charset="0"/>
                <a:cs typeface="Calibri" panose="020F0502020204030204" pitchFamily="34" charset="0"/>
              </a:rPr>
              <a:t>E – Expected</a:t>
            </a:r>
            <a:endParaRPr lang="en-US" altLang="en-US" dirty="0">
              <a:latin typeface="Comic Sans MS" panose="030F0702030302020204" pitchFamily="66" charset="0"/>
            </a:endParaRPr>
          </a:p>
          <a:p>
            <a:pPr marL="742950" lvl="1" indent="-285750" eaLnBrk="0" hangingPunct="0">
              <a:buFont typeface="Wingdings" panose="05000000000000000000" pitchFamily="2" charset="2"/>
              <a:buChar char="v"/>
            </a:pPr>
            <a:r>
              <a:rPr lang="en-US" altLang="en-US" dirty="0">
                <a:latin typeface="Comic Sans MS" panose="030F0702030302020204" pitchFamily="66" charset="0"/>
                <a:ea typeface="Times New Roman" panose="02020603050405020304" pitchFamily="18" charset="0"/>
                <a:cs typeface="Calibri" panose="020F0502020204030204" pitchFamily="34" charset="0"/>
              </a:rPr>
              <a:t>BE – Below expected</a:t>
            </a:r>
            <a:endParaRPr lang="en-US" altLang="en-US" dirty="0">
              <a:latin typeface="Comic Sans MS" panose="030F0702030302020204" pitchFamily="66" charset="0"/>
            </a:endParaRPr>
          </a:p>
          <a:p>
            <a:pPr marL="742950" lvl="1" indent="-285750" eaLnBrk="0" hangingPunct="0">
              <a:buFont typeface="Wingdings" panose="05000000000000000000" pitchFamily="2" charset="2"/>
              <a:buChar char="v"/>
            </a:pPr>
            <a:r>
              <a:rPr lang="en-US" altLang="en-US" dirty="0">
                <a:latin typeface="Comic Sans MS" panose="030F0702030302020204" pitchFamily="66" charset="0"/>
                <a:ea typeface="Times New Roman" panose="02020603050405020304" pitchFamily="18" charset="0"/>
                <a:cs typeface="Calibri" panose="020F0502020204030204" pitchFamily="34" charset="0"/>
              </a:rPr>
              <a:t>D – Deficient</a:t>
            </a:r>
            <a:endParaRPr lang="en-US"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8" y="398191"/>
            <a:ext cx="3830985" cy="523220"/>
          </a:xfrm>
          <a:prstGeom prst="rect">
            <a:avLst/>
          </a:prstGeom>
        </p:spPr>
        <p:txBody>
          <a:bodyPr wrap="none">
            <a:spAutoFit/>
          </a:bodyPr>
          <a:lstStyle/>
          <a:p>
            <a:r>
              <a:rPr lang="en-US" sz="2800" b="1" dirty="0">
                <a:solidFill>
                  <a:srgbClr val="C00000"/>
                </a:solidFill>
                <a:latin typeface="Comic Sans MS" panose="030F0702030302020204" pitchFamily="66" charset="0"/>
              </a:rPr>
              <a:t>Range of Acceptance</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4585855" y="1035939"/>
            <a:ext cx="2161303" cy="1166934"/>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4695722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24F18FF-71BC-4BC5-AB2E-274D1AFB0430}"/>
              </a:ext>
            </a:extLst>
          </p:cNvPr>
          <p:cNvGraphicFramePr>
            <a:graphicFrameLocks noGrp="1"/>
          </p:cNvGraphicFramePr>
          <p:nvPr>
            <p:extLst/>
          </p:nvPr>
        </p:nvGraphicFramePr>
        <p:xfrm>
          <a:off x="2161312" y="1674094"/>
          <a:ext cx="7564581" cy="1651000"/>
        </p:xfrm>
        <a:graphic>
          <a:graphicData uri="http://schemas.openxmlformats.org/drawingml/2006/table">
            <a:tbl>
              <a:tblPr firstRow="1" bandRow="1">
                <a:tableStyleId>{5C22544A-7EE6-4342-B048-85BDC9FD1C3A}</a:tableStyleId>
              </a:tblPr>
              <a:tblGrid>
                <a:gridCol w="2064495">
                  <a:extLst>
                    <a:ext uri="{9D8B030D-6E8A-4147-A177-3AD203B41FA5}">
                      <a16:colId xmlns:a16="http://schemas.microsoft.com/office/drawing/2014/main" val="3351527292"/>
                    </a:ext>
                  </a:extLst>
                </a:gridCol>
                <a:gridCol w="1107049">
                  <a:extLst>
                    <a:ext uri="{9D8B030D-6E8A-4147-A177-3AD203B41FA5}">
                      <a16:colId xmlns:a16="http://schemas.microsoft.com/office/drawing/2014/main" val="377701074"/>
                    </a:ext>
                  </a:extLst>
                </a:gridCol>
                <a:gridCol w="1107048">
                  <a:extLst>
                    <a:ext uri="{9D8B030D-6E8A-4147-A177-3AD203B41FA5}">
                      <a16:colId xmlns:a16="http://schemas.microsoft.com/office/drawing/2014/main" val="3475960139"/>
                    </a:ext>
                  </a:extLst>
                </a:gridCol>
                <a:gridCol w="1089820">
                  <a:extLst>
                    <a:ext uri="{9D8B030D-6E8A-4147-A177-3AD203B41FA5}">
                      <a16:colId xmlns:a16="http://schemas.microsoft.com/office/drawing/2014/main" val="1067066499"/>
                    </a:ext>
                  </a:extLst>
                </a:gridCol>
                <a:gridCol w="1164172">
                  <a:extLst>
                    <a:ext uri="{9D8B030D-6E8A-4147-A177-3AD203B41FA5}">
                      <a16:colId xmlns:a16="http://schemas.microsoft.com/office/drawing/2014/main" val="631269371"/>
                    </a:ext>
                  </a:extLst>
                </a:gridCol>
                <a:gridCol w="1031997">
                  <a:extLst>
                    <a:ext uri="{9D8B030D-6E8A-4147-A177-3AD203B41FA5}">
                      <a16:colId xmlns:a16="http://schemas.microsoft.com/office/drawing/2014/main" val="4231145265"/>
                    </a:ext>
                  </a:extLst>
                </a:gridCol>
              </a:tblGrid>
              <a:tr h="370840">
                <a:tc>
                  <a:txBody>
                    <a:bodyPr/>
                    <a:lstStyle/>
                    <a:p>
                      <a:endParaRPr lang="en-US" dirty="0">
                        <a:solidFill>
                          <a:srgbClr val="C00000"/>
                        </a:solidFill>
                        <a:latin typeface="Comic Sans MS" panose="030F0702030302020204" pitchFamily="66" charset="0"/>
                      </a:endParaRPr>
                    </a:p>
                  </a:txBody>
                  <a:tcPr/>
                </a:tc>
                <a:tc>
                  <a:txBody>
                    <a:bodyPr/>
                    <a:lstStyle/>
                    <a:p>
                      <a:r>
                        <a:rPr lang="en-US" dirty="0">
                          <a:solidFill>
                            <a:srgbClr val="C00000"/>
                          </a:solidFill>
                          <a:latin typeface="Comic Sans MS" panose="030F0702030302020204" pitchFamily="66" charset="0"/>
                        </a:rPr>
                        <a:t>D</a:t>
                      </a:r>
                    </a:p>
                  </a:txBody>
                  <a:tcPr/>
                </a:tc>
                <a:tc>
                  <a:txBody>
                    <a:bodyPr/>
                    <a:lstStyle/>
                    <a:p>
                      <a:r>
                        <a:rPr lang="en-US" dirty="0">
                          <a:solidFill>
                            <a:srgbClr val="C00000"/>
                          </a:solidFill>
                          <a:latin typeface="Comic Sans MS" panose="030F0702030302020204" pitchFamily="66" charset="0"/>
                        </a:rPr>
                        <a:t>BE</a:t>
                      </a:r>
                    </a:p>
                  </a:txBody>
                  <a:tcPr/>
                </a:tc>
                <a:tc>
                  <a:txBody>
                    <a:bodyPr/>
                    <a:lstStyle/>
                    <a:p>
                      <a:r>
                        <a:rPr lang="en-US" dirty="0">
                          <a:solidFill>
                            <a:srgbClr val="C00000"/>
                          </a:solidFill>
                          <a:latin typeface="Comic Sans MS" panose="030F0702030302020204" pitchFamily="66" charset="0"/>
                        </a:rPr>
                        <a:t>E</a:t>
                      </a:r>
                    </a:p>
                  </a:txBody>
                  <a:tcPr/>
                </a:tc>
                <a:tc>
                  <a:txBody>
                    <a:bodyPr/>
                    <a:lstStyle/>
                    <a:p>
                      <a:r>
                        <a:rPr lang="en-US" dirty="0">
                          <a:solidFill>
                            <a:srgbClr val="C00000"/>
                          </a:solidFill>
                          <a:latin typeface="Comic Sans MS" panose="030F0702030302020204" pitchFamily="66" charset="0"/>
                        </a:rPr>
                        <a:t>AE</a:t>
                      </a:r>
                    </a:p>
                  </a:txBody>
                  <a:tcPr/>
                </a:tc>
                <a:tc>
                  <a:txBody>
                    <a:bodyPr/>
                    <a:lstStyle/>
                    <a:p>
                      <a:r>
                        <a:rPr lang="en-US" dirty="0">
                          <a:solidFill>
                            <a:srgbClr val="C00000"/>
                          </a:solidFill>
                          <a:latin typeface="Comic Sans MS" panose="030F0702030302020204" pitchFamily="66" charset="0"/>
                        </a:rPr>
                        <a:t>O</a:t>
                      </a:r>
                    </a:p>
                  </a:txBody>
                  <a:tcPr/>
                </a:tc>
                <a:extLst>
                  <a:ext uri="{0D108BD9-81ED-4DB2-BD59-A6C34878D82A}">
                    <a16:rowId xmlns:a16="http://schemas.microsoft.com/office/drawing/2014/main" val="1237070825"/>
                  </a:ext>
                </a:extLst>
              </a:tr>
              <a:tr h="370840">
                <a:tc>
                  <a:txBody>
                    <a:bodyPr/>
                    <a:lstStyle/>
                    <a:p>
                      <a:r>
                        <a:rPr lang="en-US" dirty="0">
                          <a:solidFill>
                            <a:srgbClr val="C00000"/>
                          </a:solidFill>
                          <a:latin typeface="Comic Sans MS" panose="030F0702030302020204" pitchFamily="66" charset="0"/>
                        </a:rPr>
                        <a:t>Sales of New Product</a:t>
                      </a:r>
                    </a:p>
                  </a:txBody>
                  <a:tcPr/>
                </a:tc>
                <a:tc>
                  <a:txBody>
                    <a:bodyPr/>
                    <a:lstStyle/>
                    <a:p>
                      <a:r>
                        <a:rPr lang="en-US" dirty="0">
                          <a:solidFill>
                            <a:srgbClr val="C00000"/>
                          </a:solidFill>
                          <a:latin typeface="Comic Sans MS" panose="030F0702030302020204" pitchFamily="66" charset="0"/>
                        </a:rPr>
                        <a:t>$60</a:t>
                      </a:r>
                    </a:p>
                  </a:txBody>
                  <a:tcPr/>
                </a:tc>
                <a:tc>
                  <a:txBody>
                    <a:bodyPr/>
                    <a:lstStyle/>
                    <a:p>
                      <a:r>
                        <a:rPr lang="en-US" dirty="0">
                          <a:solidFill>
                            <a:srgbClr val="C00000"/>
                          </a:solidFill>
                          <a:latin typeface="Comic Sans MS" panose="030F0702030302020204" pitchFamily="66" charset="0"/>
                        </a:rPr>
                        <a:t>$80</a:t>
                      </a:r>
                    </a:p>
                  </a:txBody>
                  <a:tcPr/>
                </a:tc>
                <a:tc>
                  <a:txBody>
                    <a:bodyPr/>
                    <a:lstStyle/>
                    <a:p>
                      <a:r>
                        <a:rPr lang="en-US" dirty="0">
                          <a:solidFill>
                            <a:srgbClr val="C00000"/>
                          </a:solidFill>
                          <a:latin typeface="Comic Sans MS" panose="030F0702030302020204" pitchFamily="66" charset="0"/>
                        </a:rPr>
                        <a:t>$100</a:t>
                      </a:r>
                    </a:p>
                  </a:txBody>
                  <a:tcPr/>
                </a:tc>
                <a:tc>
                  <a:txBody>
                    <a:bodyPr/>
                    <a:lstStyle/>
                    <a:p>
                      <a:r>
                        <a:rPr lang="en-US" dirty="0">
                          <a:solidFill>
                            <a:srgbClr val="C00000"/>
                          </a:solidFill>
                          <a:latin typeface="Comic Sans MS" panose="030F0702030302020204" pitchFamily="66" charset="0"/>
                        </a:rPr>
                        <a:t>$120</a:t>
                      </a:r>
                    </a:p>
                  </a:txBody>
                  <a:tcPr/>
                </a:tc>
                <a:tc>
                  <a:txBody>
                    <a:bodyPr/>
                    <a:lstStyle/>
                    <a:p>
                      <a:r>
                        <a:rPr lang="en-US" dirty="0">
                          <a:solidFill>
                            <a:srgbClr val="C00000"/>
                          </a:solidFill>
                          <a:latin typeface="Comic Sans MS" panose="030F0702030302020204" pitchFamily="66" charset="0"/>
                        </a:rPr>
                        <a:t>$140</a:t>
                      </a:r>
                    </a:p>
                  </a:txBody>
                  <a:tcPr/>
                </a:tc>
                <a:extLst>
                  <a:ext uri="{0D108BD9-81ED-4DB2-BD59-A6C34878D82A}">
                    <a16:rowId xmlns:a16="http://schemas.microsoft.com/office/drawing/2014/main" val="2805442821"/>
                  </a:ext>
                </a:extLst>
              </a:tr>
              <a:tr h="370840">
                <a:tc>
                  <a:txBody>
                    <a:bodyPr/>
                    <a:lstStyle/>
                    <a:p>
                      <a:r>
                        <a:rPr lang="en-US" dirty="0">
                          <a:solidFill>
                            <a:srgbClr val="C00000"/>
                          </a:solidFill>
                          <a:latin typeface="Comic Sans MS" panose="030F0702030302020204" pitchFamily="66" charset="0"/>
                        </a:rPr>
                        <a:t>Sales of Mature Product</a:t>
                      </a:r>
                    </a:p>
                  </a:txBody>
                  <a:tcPr/>
                </a:tc>
                <a:tc>
                  <a:txBody>
                    <a:bodyPr/>
                    <a:lstStyle/>
                    <a:p>
                      <a:r>
                        <a:rPr lang="en-US" dirty="0">
                          <a:solidFill>
                            <a:srgbClr val="C00000"/>
                          </a:solidFill>
                          <a:latin typeface="Comic Sans MS" panose="030F0702030302020204" pitchFamily="66" charset="0"/>
                        </a:rPr>
                        <a:t>$95</a:t>
                      </a:r>
                    </a:p>
                  </a:txBody>
                  <a:tcPr/>
                </a:tc>
                <a:tc>
                  <a:txBody>
                    <a:bodyPr/>
                    <a:lstStyle/>
                    <a:p>
                      <a:r>
                        <a:rPr lang="en-US" dirty="0">
                          <a:solidFill>
                            <a:srgbClr val="C00000"/>
                          </a:solidFill>
                          <a:latin typeface="Comic Sans MS" panose="030F0702030302020204" pitchFamily="66" charset="0"/>
                        </a:rPr>
                        <a:t>$98</a:t>
                      </a:r>
                    </a:p>
                  </a:txBody>
                  <a:tcPr/>
                </a:tc>
                <a:tc>
                  <a:txBody>
                    <a:bodyPr/>
                    <a:lstStyle/>
                    <a:p>
                      <a:r>
                        <a:rPr lang="en-US" dirty="0">
                          <a:solidFill>
                            <a:srgbClr val="C00000"/>
                          </a:solidFill>
                          <a:latin typeface="Comic Sans MS" panose="030F0702030302020204" pitchFamily="66" charset="0"/>
                        </a:rPr>
                        <a:t>$100</a:t>
                      </a:r>
                    </a:p>
                  </a:txBody>
                  <a:tcPr/>
                </a:tc>
                <a:tc>
                  <a:txBody>
                    <a:bodyPr/>
                    <a:lstStyle/>
                    <a:p>
                      <a:r>
                        <a:rPr lang="en-US" dirty="0">
                          <a:solidFill>
                            <a:srgbClr val="C00000"/>
                          </a:solidFill>
                          <a:latin typeface="Comic Sans MS" panose="030F0702030302020204" pitchFamily="66" charset="0"/>
                        </a:rPr>
                        <a:t>$103</a:t>
                      </a:r>
                    </a:p>
                  </a:txBody>
                  <a:tcPr/>
                </a:tc>
                <a:tc>
                  <a:txBody>
                    <a:bodyPr/>
                    <a:lstStyle/>
                    <a:p>
                      <a:r>
                        <a:rPr lang="en-US" dirty="0">
                          <a:solidFill>
                            <a:srgbClr val="C00000"/>
                          </a:solidFill>
                          <a:latin typeface="Comic Sans MS" panose="030F0702030302020204" pitchFamily="66" charset="0"/>
                        </a:rPr>
                        <a:t>$106</a:t>
                      </a:r>
                    </a:p>
                  </a:txBody>
                  <a:tcPr/>
                </a:tc>
                <a:extLst>
                  <a:ext uri="{0D108BD9-81ED-4DB2-BD59-A6C34878D82A}">
                    <a16:rowId xmlns:a16="http://schemas.microsoft.com/office/drawing/2014/main" val="1739044732"/>
                  </a:ext>
                </a:extLst>
              </a:tr>
            </a:tbl>
          </a:graphicData>
        </a:graphic>
      </p:graphicFrame>
      <p:graphicFrame>
        <p:nvGraphicFramePr>
          <p:cNvPr id="4" name="Table 3">
            <a:extLst>
              <a:ext uri="{FF2B5EF4-FFF2-40B4-BE49-F238E27FC236}">
                <a16:creationId xmlns:a16="http://schemas.microsoft.com/office/drawing/2014/main" id="{C066289E-187B-4013-91C9-6B99D414AC79}"/>
              </a:ext>
            </a:extLst>
          </p:cNvPr>
          <p:cNvGraphicFramePr>
            <a:graphicFrameLocks noGrp="1"/>
          </p:cNvGraphicFramePr>
          <p:nvPr>
            <p:extLst/>
          </p:nvPr>
        </p:nvGraphicFramePr>
        <p:xfrm>
          <a:off x="1911933" y="3803075"/>
          <a:ext cx="8091054" cy="1010920"/>
        </p:xfrm>
        <a:graphic>
          <a:graphicData uri="http://schemas.openxmlformats.org/drawingml/2006/table">
            <a:tbl>
              <a:tblPr firstRow="1" bandRow="1">
                <a:tableStyleId>{5C22544A-7EE6-4342-B048-85BDC9FD1C3A}</a:tableStyleId>
              </a:tblPr>
              <a:tblGrid>
                <a:gridCol w="1543898">
                  <a:extLst>
                    <a:ext uri="{9D8B030D-6E8A-4147-A177-3AD203B41FA5}">
                      <a16:colId xmlns:a16="http://schemas.microsoft.com/office/drawing/2014/main" val="3351527292"/>
                    </a:ext>
                  </a:extLst>
                </a:gridCol>
                <a:gridCol w="1323993">
                  <a:extLst>
                    <a:ext uri="{9D8B030D-6E8A-4147-A177-3AD203B41FA5}">
                      <a16:colId xmlns:a16="http://schemas.microsoft.com/office/drawing/2014/main" val="377701074"/>
                    </a:ext>
                  </a:extLst>
                </a:gridCol>
                <a:gridCol w="1302327">
                  <a:extLst>
                    <a:ext uri="{9D8B030D-6E8A-4147-A177-3AD203B41FA5}">
                      <a16:colId xmlns:a16="http://schemas.microsoft.com/office/drawing/2014/main" val="3475960139"/>
                    </a:ext>
                  </a:extLst>
                </a:gridCol>
                <a:gridCol w="1260764">
                  <a:extLst>
                    <a:ext uri="{9D8B030D-6E8A-4147-A177-3AD203B41FA5}">
                      <a16:colId xmlns:a16="http://schemas.microsoft.com/office/drawing/2014/main" val="1067066499"/>
                    </a:ext>
                  </a:extLst>
                </a:gridCol>
                <a:gridCol w="1302327">
                  <a:extLst>
                    <a:ext uri="{9D8B030D-6E8A-4147-A177-3AD203B41FA5}">
                      <a16:colId xmlns:a16="http://schemas.microsoft.com/office/drawing/2014/main" val="631269371"/>
                    </a:ext>
                  </a:extLst>
                </a:gridCol>
                <a:gridCol w="1357745">
                  <a:extLst>
                    <a:ext uri="{9D8B030D-6E8A-4147-A177-3AD203B41FA5}">
                      <a16:colId xmlns:a16="http://schemas.microsoft.com/office/drawing/2014/main" val="4231145265"/>
                    </a:ext>
                  </a:extLst>
                </a:gridCol>
              </a:tblGrid>
              <a:tr h="370840">
                <a:tc>
                  <a:txBody>
                    <a:bodyPr/>
                    <a:lstStyle/>
                    <a:p>
                      <a:endParaRPr lang="en-US" dirty="0">
                        <a:solidFill>
                          <a:srgbClr val="C00000"/>
                        </a:solidFill>
                        <a:latin typeface="Comic Sans MS" panose="030F0702030302020204" pitchFamily="66" charset="0"/>
                      </a:endParaRPr>
                    </a:p>
                  </a:txBody>
                  <a:tcPr/>
                </a:tc>
                <a:tc>
                  <a:txBody>
                    <a:bodyPr/>
                    <a:lstStyle/>
                    <a:p>
                      <a:r>
                        <a:rPr lang="en-US" dirty="0">
                          <a:solidFill>
                            <a:srgbClr val="C00000"/>
                          </a:solidFill>
                          <a:latin typeface="Comic Sans MS" panose="030F0702030302020204" pitchFamily="66" charset="0"/>
                        </a:rPr>
                        <a:t>D</a:t>
                      </a:r>
                    </a:p>
                  </a:txBody>
                  <a:tcPr/>
                </a:tc>
                <a:tc>
                  <a:txBody>
                    <a:bodyPr/>
                    <a:lstStyle/>
                    <a:p>
                      <a:r>
                        <a:rPr lang="en-US" dirty="0">
                          <a:solidFill>
                            <a:srgbClr val="C00000"/>
                          </a:solidFill>
                          <a:latin typeface="Comic Sans MS" panose="030F0702030302020204" pitchFamily="66" charset="0"/>
                        </a:rPr>
                        <a:t>BE</a:t>
                      </a:r>
                    </a:p>
                  </a:txBody>
                  <a:tcPr/>
                </a:tc>
                <a:tc>
                  <a:txBody>
                    <a:bodyPr/>
                    <a:lstStyle/>
                    <a:p>
                      <a:r>
                        <a:rPr lang="en-US" dirty="0">
                          <a:solidFill>
                            <a:srgbClr val="C00000"/>
                          </a:solidFill>
                          <a:latin typeface="Comic Sans MS" panose="030F0702030302020204" pitchFamily="66" charset="0"/>
                        </a:rPr>
                        <a:t>E</a:t>
                      </a:r>
                    </a:p>
                  </a:txBody>
                  <a:tcPr/>
                </a:tc>
                <a:tc>
                  <a:txBody>
                    <a:bodyPr/>
                    <a:lstStyle/>
                    <a:p>
                      <a:r>
                        <a:rPr lang="en-US" dirty="0">
                          <a:solidFill>
                            <a:srgbClr val="C00000"/>
                          </a:solidFill>
                          <a:latin typeface="Comic Sans MS" panose="030F0702030302020204" pitchFamily="66" charset="0"/>
                        </a:rPr>
                        <a:t>AE</a:t>
                      </a:r>
                    </a:p>
                  </a:txBody>
                  <a:tcPr/>
                </a:tc>
                <a:tc>
                  <a:txBody>
                    <a:bodyPr/>
                    <a:lstStyle/>
                    <a:p>
                      <a:r>
                        <a:rPr lang="en-US" dirty="0">
                          <a:solidFill>
                            <a:srgbClr val="C00000"/>
                          </a:solidFill>
                          <a:latin typeface="Comic Sans MS" panose="030F0702030302020204" pitchFamily="66" charset="0"/>
                        </a:rPr>
                        <a:t>O</a:t>
                      </a:r>
                    </a:p>
                  </a:txBody>
                  <a:tcPr/>
                </a:tc>
                <a:extLst>
                  <a:ext uri="{0D108BD9-81ED-4DB2-BD59-A6C34878D82A}">
                    <a16:rowId xmlns:a16="http://schemas.microsoft.com/office/drawing/2014/main" val="1237070825"/>
                  </a:ext>
                </a:extLst>
              </a:tr>
              <a:tr h="370840">
                <a:tc>
                  <a:txBody>
                    <a:bodyPr/>
                    <a:lstStyle/>
                    <a:p>
                      <a:r>
                        <a:rPr lang="en-US" dirty="0">
                          <a:solidFill>
                            <a:srgbClr val="C00000"/>
                          </a:solidFill>
                          <a:latin typeface="Comic Sans MS" panose="030F0702030302020204" pitchFamily="66" charset="0"/>
                        </a:rPr>
                        <a:t>Launch New Product</a:t>
                      </a:r>
                    </a:p>
                  </a:txBody>
                  <a:tcPr/>
                </a:tc>
                <a:tc>
                  <a:txBody>
                    <a:bodyPr/>
                    <a:lstStyle/>
                    <a:p>
                      <a:r>
                        <a:rPr lang="en-US" dirty="0">
                          <a:solidFill>
                            <a:srgbClr val="C00000"/>
                          </a:solidFill>
                          <a:latin typeface="Comic Sans MS" panose="030F0702030302020204" pitchFamily="66" charset="0"/>
                        </a:rPr>
                        <a:t>15-Sep-17</a:t>
                      </a:r>
                    </a:p>
                  </a:txBody>
                  <a:tcPr/>
                </a:tc>
                <a:tc>
                  <a:txBody>
                    <a:bodyPr/>
                    <a:lstStyle/>
                    <a:p>
                      <a:r>
                        <a:rPr lang="en-US" dirty="0">
                          <a:solidFill>
                            <a:srgbClr val="C00000"/>
                          </a:solidFill>
                          <a:latin typeface="Comic Sans MS" panose="030F0702030302020204" pitchFamily="66" charset="0"/>
                        </a:rPr>
                        <a:t>10-Aug-17</a:t>
                      </a:r>
                    </a:p>
                  </a:txBody>
                  <a:tcPr/>
                </a:tc>
                <a:tc>
                  <a:txBody>
                    <a:bodyPr/>
                    <a:lstStyle/>
                    <a:p>
                      <a:r>
                        <a:rPr lang="en-US" dirty="0">
                          <a:solidFill>
                            <a:srgbClr val="C00000"/>
                          </a:solidFill>
                          <a:latin typeface="Comic Sans MS" panose="030F0702030302020204" pitchFamily="66" charset="0"/>
                        </a:rPr>
                        <a:t>15-Jul-17</a:t>
                      </a:r>
                    </a:p>
                  </a:txBody>
                  <a:tcPr/>
                </a:tc>
                <a:tc>
                  <a:txBody>
                    <a:bodyPr/>
                    <a:lstStyle/>
                    <a:p>
                      <a:r>
                        <a:rPr lang="en-US" dirty="0">
                          <a:solidFill>
                            <a:srgbClr val="C00000"/>
                          </a:solidFill>
                          <a:latin typeface="Comic Sans MS" panose="030F0702030302020204" pitchFamily="66" charset="0"/>
                        </a:rPr>
                        <a:t>20-Jun-17</a:t>
                      </a:r>
                    </a:p>
                  </a:txBody>
                  <a:tcPr/>
                </a:tc>
                <a:tc>
                  <a:txBody>
                    <a:bodyPr/>
                    <a:lstStyle/>
                    <a:p>
                      <a:r>
                        <a:rPr lang="en-US" dirty="0">
                          <a:solidFill>
                            <a:srgbClr val="C00000"/>
                          </a:solidFill>
                          <a:latin typeface="Comic Sans MS" panose="030F0702030302020204" pitchFamily="66" charset="0"/>
                        </a:rPr>
                        <a:t>10-May-17</a:t>
                      </a:r>
                    </a:p>
                  </a:txBody>
                  <a:tcPr/>
                </a:tc>
                <a:extLst>
                  <a:ext uri="{0D108BD9-81ED-4DB2-BD59-A6C34878D82A}">
                    <a16:rowId xmlns:a16="http://schemas.microsoft.com/office/drawing/2014/main" val="2805442821"/>
                  </a:ext>
                </a:extLst>
              </a:tr>
            </a:tbl>
          </a:graphicData>
        </a:graphic>
      </p:graphicFrame>
    </p:spTree>
    <p:extLst>
      <p:ext uri="{BB962C8B-B14F-4D97-AF65-F5344CB8AC3E}">
        <p14:creationId xmlns:p14="http://schemas.microsoft.com/office/powerpoint/2010/main" val="9355541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0" y="2828835"/>
            <a:ext cx="8822144" cy="2862322"/>
          </a:xfrm>
          <a:prstGeom prst="rect">
            <a:avLst/>
          </a:prstGeom>
        </p:spPr>
        <p:txBody>
          <a:bodyPr wrap="square">
            <a:spAutoFit/>
          </a:bodyPr>
          <a:lstStyle/>
          <a:p>
            <a:pPr marL="285750" indent="-285750" eaLnBrk="0" hangingPunct="0">
              <a:buFont typeface="Wingdings" panose="05000000000000000000" pitchFamily="2" charset="2"/>
              <a:buChar char="q"/>
              <a:tabLst>
                <a:tab pos="520700" algn="l"/>
              </a:tabLst>
            </a:pPr>
            <a:r>
              <a:rPr lang="en-US" altLang="en-US" dirty="0">
                <a:latin typeface="Comic Sans MS" panose="030F0702030302020204" pitchFamily="66" charset="0"/>
                <a:ea typeface="Times New Roman" panose="02020603050405020304" pitchFamily="18" charset="0"/>
                <a:cs typeface="Calibri" panose="020F0502020204030204" pitchFamily="34" charset="0"/>
              </a:rPr>
              <a:t>The Action  Plan  represents  the strategies  that the owner  of the Black  Book  is planning  to implement  in order to make the expected  result happen. </a:t>
            </a:r>
          </a:p>
          <a:p>
            <a:pPr marL="742950" lvl="1" indent="-285750" eaLnBrk="0" hangingPunct="0">
              <a:buFont typeface="Wingdings" panose="05000000000000000000" pitchFamily="2" charset="2"/>
              <a:buChar char="v"/>
              <a:tabLst>
                <a:tab pos="520700" algn="l"/>
              </a:tabLst>
            </a:pPr>
            <a:r>
              <a:rPr lang="en-US" altLang="en-US" i="1" dirty="0">
                <a:latin typeface="Comic Sans MS" panose="030F0702030302020204" pitchFamily="66" charset="0"/>
                <a:ea typeface="Times New Roman" panose="02020603050405020304" pitchFamily="18" charset="0"/>
                <a:cs typeface="Calibri" panose="020F0502020204030204" pitchFamily="34" charset="0"/>
              </a:rPr>
              <a:t>KPI/Verification</a:t>
            </a:r>
            <a:r>
              <a:rPr lang="en-US" altLang="en-US" dirty="0">
                <a:latin typeface="Comic Sans MS" panose="030F0702030302020204" pitchFamily="66" charset="0"/>
                <a:ea typeface="Times New Roman" panose="02020603050405020304" pitchFamily="18" charset="0"/>
                <a:cs typeface="Calibri" panose="020F0502020204030204" pitchFamily="34" charset="0"/>
              </a:rPr>
              <a:t>:  the measurement  or verification  mechanism</a:t>
            </a:r>
            <a:endParaRPr lang="en-US" altLang="en-US" dirty="0">
              <a:latin typeface="Comic Sans MS" panose="030F0702030302020204" pitchFamily="66" charset="0"/>
            </a:endParaRPr>
          </a:p>
          <a:p>
            <a:pPr marL="742950" lvl="1" indent="-285750" eaLnBrk="0" hangingPunct="0">
              <a:buFont typeface="Wingdings" panose="05000000000000000000" pitchFamily="2" charset="2"/>
              <a:buChar char="v"/>
              <a:tabLst>
                <a:tab pos="520700" algn="l"/>
              </a:tabLst>
            </a:pPr>
            <a:r>
              <a:rPr lang="en-US" altLang="en-US" i="1" dirty="0">
                <a:latin typeface="Comic Sans MS" panose="030F0702030302020204" pitchFamily="66" charset="0"/>
                <a:ea typeface="Times New Roman" panose="02020603050405020304" pitchFamily="18" charset="0"/>
                <a:cs typeface="Calibri" panose="020F0502020204030204" pitchFamily="34" charset="0"/>
              </a:rPr>
              <a:t>By When</a:t>
            </a:r>
            <a:r>
              <a:rPr lang="en-US" altLang="en-US" dirty="0">
                <a:latin typeface="Comic Sans MS" panose="030F0702030302020204" pitchFamily="66" charset="0"/>
                <a:ea typeface="Times New Roman" panose="02020603050405020304" pitchFamily="18" charset="0"/>
                <a:cs typeface="Calibri" panose="020F0502020204030204" pitchFamily="34" charset="0"/>
              </a:rPr>
              <a:t>: By when  should  that specific  line be accomplished? </a:t>
            </a:r>
            <a:endParaRPr lang="en-US" altLang="en-US" dirty="0">
              <a:latin typeface="Comic Sans MS" panose="030F0702030302020204" pitchFamily="66" charset="0"/>
            </a:endParaRPr>
          </a:p>
          <a:p>
            <a:pPr marL="742950" lvl="1" indent="-285750" eaLnBrk="0" hangingPunct="0">
              <a:buFont typeface="Wingdings" panose="05000000000000000000" pitchFamily="2" charset="2"/>
              <a:buChar char="v"/>
              <a:tabLst>
                <a:tab pos="520700" algn="l"/>
              </a:tabLst>
            </a:pPr>
            <a:r>
              <a:rPr lang="en-US" altLang="en-US" i="1" dirty="0">
                <a:latin typeface="Comic Sans MS" panose="030F0702030302020204" pitchFamily="66" charset="0"/>
                <a:ea typeface="Times New Roman" panose="02020603050405020304" pitchFamily="18" charset="0"/>
                <a:cs typeface="Calibri" panose="020F0502020204030204" pitchFamily="34" charset="0"/>
              </a:rPr>
              <a:t>Cost</a:t>
            </a:r>
            <a:r>
              <a:rPr lang="en-US" altLang="en-US" dirty="0">
                <a:latin typeface="Comic Sans MS" panose="030F0702030302020204" pitchFamily="66" charset="0"/>
                <a:ea typeface="Times New Roman" panose="02020603050405020304" pitchFamily="18" charset="0"/>
                <a:cs typeface="Calibri" panose="020F0502020204030204" pitchFamily="34" charset="0"/>
              </a:rPr>
              <a:t>: Is there a cost associated  with that line? </a:t>
            </a:r>
          </a:p>
          <a:p>
            <a:pPr marL="742950" lvl="1" indent="-285750" eaLnBrk="0" hangingPunct="0">
              <a:buFont typeface="Wingdings" panose="05000000000000000000" pitchFamily="2" charset="2"/>
              <a:buChar char="v"/>
              <a:tabLst>
                <a:tab pos="520700" algn="l"/>
              </a:tabLst>
            </a:pPr>
            <a:r>
              <a:rPr lang="en-US" altLang="en-US" i="1" dirty="0">
                <a:latin typeface="Comic Sans MS" panose="030F0702030302020204" pitchFamily="66" charset="0"/>
                <a:ea typeface="Times New Roman" panose="02020603050405020304" pitchFamily="18" charset="0"/>
                <a:cs typeface="Calibri" panose="020F0502020204030204" pitchFamily="34" charset="0"/>
              </a:rPr>
              <a:t>Budgeted Yes/No</a:t>
            </a:r>
            <a:r>
              <a:rPr lang="en-US" altLang="en-US" dirty="0">
                <a:latin typeface="Comic Sans MS" panose="030F0702030302020204" pitchFamily="66" charset="0"/>
                <a:ea typeface="Times New Roman" panose="02020603050405020304" pitchFamily="18" charset="0"/>
                <a:cs typeface="Calibri" panose="020F0502020204030204" pitchFamily="34" charset="0"/>
              </a:rPr>
              <a:t>: In the event that there is a cost, please specify if there is already a budget for it or not. </a:t>
            </a:r>
          </a:p>
          <a:p>
            <a:pPr marL="742950" lvl="1" indent="-285750" eaLnBrk="0" hangingPunct="0">
              <a:buFont typeface="Wingdings" panose="05000000000000000000" pitchFamily="2" charset="2"/>
              <a:buChar char="v"/>
              <a:tabLst>
                <a:tab pos="520700" algn="l"/>
              </a:tabLst>
            </a:pPr>
            <a:r>
              <a:rPr lang="en-US" altLang="en-US" i="1" dirty="0">
                <a:latin typeface="Comic Sans MS" panose="030F0702030302020204" pitchFamily="66" charset="0"/>
                <a:cs typeface="Calibri" panose="020F0502020204030204" pitchFamily="34" charset="0"/>
              </a:rPr>
              <a:t>Responsibility</a:t>
            </a:r>
            <a:r>
              <a:rPr lang="en-US" altLang="en-US" dirty="0">
                <a:latin typeface="Comic Sans MS" panose="030F0702030302020204" pitchFamily="66" charset="0"/>
                <a:cs typeface="Calibri" panose="020F0502020204030204" pitchFamily="34" charset="0"/>
              </a:rPr>
              <a:t>:  You  are the main  responsible, nevertheless  please  identify  if you  need  support  from somebody else in order to accomplish your objectives.</a:t>
            </a:r>
            <a:endParaRPr lang="en-US"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2637260" cy="523220"/>
          </a:xfrm>
          <a:prstGeom prst="rect">
            <a:avLst/>
          </a:prstGeom>
        </p:spPr>
        <p:txBody>
          <a:bodyPr wrap="none">
            <a:spAutoFit/>
          </a:bodyPr>
          <a:lstStyle/>
          <a:p>
            <a:r>
              <a:rPr lang="en-US" sz="2800" b="1" dirty="0">
                <a:solidFill>
                  <a:srgbClr val="C00000"/>
                </a:solidFill>
                <a:latin typeface="Comic Sans MS" panose="030F0702030302020204" pitchFamily="66" charset="0"/>
              </a:rPr>
              <a:t>Plan of Action</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6664047" y="1035939"/>
            <a:ext cx="3560599" cy="1166934"/>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7" name="Text Box 1">
            <a:extLst>
              <a:ext uri="{FF2B5EF4-FFF2-40B4-BE49-F238E27FC236}">
                <a16:creationId xmlns:a16="http://schemas.microsoft.com/office/drawing/2014/main" id="{43545EED-9BAD-4C6C-B220-63DDE0F67F2B}"/>
              </a:ext>
            </a:extLst>
          </p:cNvPr>
          <p:cNvSpPr txBox="1">
            <a:spLocks noChangeArrowheads="1"/>
          </p:cNvSpPr>
          <p:nvPr/>
        </p:nvSpPr>
        <p:spPr bwMode="auto">
          <a:xfrm>
            <a:off x="2609850" y="10385425"/>
            <a:ext cx="7048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eaLnBrk="0" fontAlgn="base" hangingPunct="0">
              <a:spcBef>
                <a:spcPct val="0"/>
              </a:spcBef>
              <a:spcAft>
                <a:spcPct val="0"/>
              </a:spcAft>
            </a:pPr>
            <a:r>
              <a:rPr lang="en-US" altLang="en-US" sz="1100">
                <a:latin typeface="Calibri" panose="020F0502020204030204" pitchFamily="34" charset="0"/>
                <a:ea typeface="Times New Roman" panose="02020603050405020304" pitchFamily="18" charset="0"/>
                <a:cs typeface="Calibri" panose="020F0502020204030204" pitchFamily="34" charset="0"/>
              </a:rPr>
              <a:t>Adize</a:t>
            </a:r>
            <a:endParaRPr lang="en-US" altLang="en-US">
              <a:latin typeface="Arial" panose="020B0604020202020204" pitchFamily="34" charset="0"/>
            </a:endParaRPr>
          </a:p>
        </p:txBody>
      </p:sp>
    </p:spTree>
    <p:extLst>
      <p:ext uri="{BB962C8B-B14F-4D97-AF65-F5344CB8AC3E}">
        <p14:creationId xmlns:p14="http://schemas.microsoft.com/office/powerpoint/2010/main" val="29783898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5"/>
            <a:ext cx="8403771" cy="923330"/>
          </a:xfrm>
          <a:prstGeom prst="rect">
            <a:avLst/>
          </a:prstGeom>
        </p:spPr>
        <p:txBody>
          <a:bodyPr wrap="square">
            <a:spAutoFit/>
          </a:bodyPr>
          <a:lstStyle/>
          <a:p>
            <a:pPr marL="285750" indent="-285750" eaLnBrk="0" hangingPunct="0">
              <a:buFont typeface="Wingdings" panose="05000000000000000000" pitchFamily="2" charset="2"/>
              <a:buChar char="q"/>
            </a:pPr>
            <a:r>
              <a:rPr lang="en-US" dirty="0">
                <a:latin typeface="Comic Sans MS" panose="030F0702030302020204" pitchFamily="66" charset="0"/>
              </a:rPr>
              <a:t>Not every objective  has the same importance; </a:t>
            </a:r>
          </a:p>
          <a:p>
            <a:pPr marL="285750" indent="-285750" eaLnBrk="0" hangingPunct="0">
              <a:buFont typeface="Wingdings" panose="05000000000000000000" pitchFamily="2" charset="2"/>
              <a:buChar char="q"/>
            </a:pPr>
            <a:r>
              <a:rPr lang="en-US" dirty="0">
                <a:latin typeface="Comic Sans MS" panose="030F0702030302020204" pitchFamily="66" charset="0"/>
              </a:rPr>
              <a:t>Express  as a percentage the weight that each particular objective has. The sum of all of them should at 100%.</a:t>
            </a:r>
            <a:endParaRPr lang="en-US" altLang="en-US" sz="2000"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1426994" cy="523220"/>
          </a:xfrm>
          <a:prstGeom prst="rect">
            <a:avLst/>
          </a:prstGeom>
        </p:spPr>
        <p:txBody>
          <a:bodyPr wrap="none">
            <a:spAutoFit/>
          </a:bodyPr>
          <a:lstStyle/>
          <a:p>
            <a:r>
              <a:rPr lang="en-US" sz="2800" b="1" dirty="0">
                <a:solidFill>
                  <a:srgbClr val="C00000"/>
                </a:solidFill>
                <a:latin typeface="Comic Sans MS" panose="030F0702030302020204" pitchFamily="66" charset="0"/>
              </a:rPr>
              <a:t>Weight</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10210800" y="1035939"/>
            <a:ext cx="346184" cy="1166934"/>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24573711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5"/>
            <a:ext cx="8403771" cy="2862322"/>
          </a:xfrm>
          <a:prstGeom prst="rect">
            <a:avLst/>
          </a:prstGeom>
        </p:spPr>
        <p:txBody>
          <a:bodyPr wrap="square">
            <a:spAutoFit/>
          </a:bodyPr>
          <a:lstStyle/>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ea typeface="Times New Roman" panose="02020603050405020304" pitchFamily="18" charset="0"/>
                <a:cs typeface="Century Gothic" panose="020B0502020202020204" pitchFamily="34" charset="0"/>
              </a:rPr>
              <a:t>“P” Objectives: </a:t>
            </a:r>
            <a:r>
              <a:rPr lang="en-US" altLang="en-US" dirty="0">
                <a:latin typeface="Comic Sans MS" panose="030F0702030302020204" pitchFamily="66" charset="0"/>
                <a:ea typeface="Times New Roman" panose="02020603050405020304" pitchFamily="18" charset="0"/>
                <a:cs typeface="Calibri" panose="020F0502020204030204" pitchFamily="34" charset="0"/>
              </a:rPr>
              <a:t>Functional objectives  that  </a:t>
            </a:r>
            <a:r>
              <a:rPr lang="en-US" altLang="en-US" b="1" i="1" u="sng" dirty="0">
                <a:latin typeface="Comic Sans MS" panose="030F0702030302020204" pitchFamily="66" charset="0"/>
                <a:ea typeface="Times New Roman" panose="02020603050405020304" pitchFamily="18" charset="0"/>
                <a:cs typeface="Century Gothic" panose="020B0502020202020204" pitchFamily="34" charset="0"/>
              </a:rPr>
              <a:t>produce  results</a:t>
            </a:r>
            <a:r>
              <a:rPr lang="en-US" altLang="en-US"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dirty="0">
                <a:latin typeface="Comic Sans MS" panose="030F0702030302020204" pitchFamily="66" charset="0"/>
                <a:ea typeface="Times New Roman" panose="02020603050405020304" pitchFamily="18" charset="0"/>
                <a:cs typeface="Calibri" panose="020F0502020204030204" pitchFamily="34" charset="0"/>
              </a:rPr>
              <a:t>in the  </a:t>
            </a:r>
            <a:r>
              <a:rPr lang="en-US" altLang="en-US" b="1" i="1" u="sng" dirty="0">
                <a:latin typeface="Comic Sans MS" panose="030F0702030302020204" pitchFamily="66" charset="0"/>
                <a:ea typeface="Times New Roman" panose="02020603050405020304" pitchFamily="18" charset="0"/>
                <a:cs typeface="Century Gothic" panose="020B0502020202020204" pitchFamily="34" charset="0"/>
              </a:rPr>
              <a:t>short term</a:t>
            </a:r>
            <a:r>
              <a:rPr lang="en-US" altLang="en-US" dirty="0">
                <a:latin typeface="Comic Sans MS" panose="030F0702030302020204" pitchFamily="66" charset="0"/>
                <a:ea typeface="Times New Roman" panose="02020603050405020304" pitchFamily="18" charset="0"/>
                <a:cs typeface="Calibri" panose="020F0502020204030204" pitchFamily="34" charset="0"/>
              </a:rPr>
              <a:t>.</a:t>
            </a:r>
            <a:r>
              <a:rPr lang="en-US" altLang="en-US" dirty="0">
                <a:latin typeface="Comic Sans MS" panose="030F0702030302020204" pitchFamily="66" charset="0"/>
              </a:rPr>
              <a:t> </a:t>
            </a:r>
            <a:r>
              <a:rPr lang="en-US" altLang="en-US" dirty="0">
                <a:latin typeface="Comic Sans MS" panose="030F0702030302020204" pitchFamily="66" charset="0"/>
                <a:ea typeface="Times New Roman" panose="02020603050405020304" pitchFamily="18" charset="0"/>
                <a:cs typeface="Calibri" panose="020F0502020204030204" pitchFamily="34" charset="0"/>
              </a:rPr>
              <a:t>Such  objectives  could  be closing  a pending contract,  renewing  a line of credit, surpassing a sales quota, reducing costs, etc.</a:t>
            </a:r>
          </a:p>
          <a:p>
            <a:pPr marL="285750" indent="-285750" eaLnBrk="0" hangingPunct="0">
              <a:buFont typeface="Wingdings" panose="05000000000000000000" pitchFamily="2" charset="2"/>
              <a:buChar char="q"/>
              <a:tabLst>
                <a:tab pos="749300" algn="l"/>
              </a:tabLst>
            </a:pPr>
            <a:endParaRPr lang="en-US" altLang="en-US" dirty="0">
              <a:latin typeface="Comic Sans MS" panose="030F0702030302020204" pitchFamily="66" charset="0"/>
            </a:endParaRPr>
          </a:p>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ea typeface="Times New Roman" panose="02020603050405020304" pitchFamily="18" charset="0"/>
                <a:cs typeface="Century Gothic" panose="020B0502020202020204" pitchFamily="34" charset="0"/>
              </a:rPr>
              <a:t>“A” Objectives: </a:t>
            </a:r>
            <a:r>
              <a:rPr lang="en-US" altLang="en-US" dirty="0">
                <a:latin typeface="Comic Sans MS" panose="030F0702030302020204" pitchFamily="66" charset="0"/>
                <a:ea typeface="Times New Roman" panose="02020603050405020304" pitchFamily="18" charset="0"/>
                <a:cs typeface="Calibri" panose="020F0502020204030204" pitchFamily="34" charset="0"/>
              </a:rPr>
              <a:t>Administrative objectives  that </a:t>
            </a:r>
            <a:r>
              <a:rPr lang="en-US" altLang="en-US"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b="1" i="1" u="sng" dirty="0">
                <a:latin typeface="Comic Sans MS" panose="030F0702030302020204" pitchFamily="66" charset="0"/>
                <a:ea typeface="Times New Roman" panose="02020603050405020304" pitchFamily="18" charset="0"/>
                <a:cs typeface="Century Gothic" panose="020B0502020202020204" pitchFamily="34" charset="0"/>
              </a:rPr>
              <a:t>increase  efficiency</a:t>
            </a:r>
            <a:r>
              <a:rPr lang="en-US" altLang="en-US"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dirty="0">
                <a:latin typeface="Comic Sans MS" panose="030F0702030302020204" pitchFamily="66" charset="0"/>
                <a:ea typeface="Times New Roman" panose="02020603050405020304" pitchFamily="18" charset="0"/>
                <a:cs typeface="Calibri" panose="020F0502020204030204" pitchFamily="34" charset="0"/>
              </a:rPr>
              <a:t>in the </a:t>
            </a:r>
            <a:r>
              <a:rPr lang="en-US" altLang="en-US"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b="1" i="1" u="sng" dirty="0">
                <a:latin typeface="Comic Sans MS" panose="030F0702030302020204" pitchFamily="66" charset="0"/>
                <a:ea typeface="Times New Roman" panose="02020603050405020304" pitchFamily="18" charset="0"/>
                <a:cs typeface="Century Gothic" panose="020B0502020202020204" pitchFamily="34" charset="0"/>
              </a:rPr>
              <a:t>short</a:t>
            </a:r>
            <a:r>
              <a:rPr lang="en-US" altLang="en-US"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b="1" i="1" u="sng" dirty="0">
                <a:latin typeface="Comic Sans MS" panose="030F0702030302020204" pitchFamily="66" charset="0"/>
                <a:ea typeface="Times New Roman" panose="02020603050405020304" pitchFamily="18" charset="0"/>
                <a:cs typeface="Century Gothic" panose="020B0502020202020204" pitchFamily="34" charset="0"/>
              </a:rPr>
              <a:t>term</a:t>
            </a:r>
            <a:r>
              <a:rPr lang="en-US" altLang="en-US" dirty="0">
                <a:latin typeface="Comic Sans MS" panose="030F0702030302020204" pitchFamily="66" charset="0"/>
                <a:ea typeface="Times New Roman" panose="02020603050405020304" pitchFamily="18" charset="0"/>
                <a:cs typeface="Calibri" panose="020F0502020204030204" pitchFamily="34" charset="0"/>
              </a:rPr>
              <a:t>. These  objectives  will  include  introduction of efficiency  measures,  which benefit  from the  implementation of routines,  processes  and systems, such  as a uniform expense  reports, review of financial  data on timely bases, performance evaluation of personnel, etc.</a:t>
            </a:r>
            <a:endParaRPr lang="en-US"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3733714" cy="523220"/>
          </a:xfrm>
          <a:prstGeom prst="rect">
            <a:avLst/>
          </a:prstGeom>
        </p:spPr>
        <p:txBody>
          <a:bodyPr wrap="none">
            <a:spAutoFit/>
          </a:bodyPr>
          <a:lstStyle/>
          <a:p>
            <a:r>
              <a:rPr lang="en-US" sz="2800" b="1" dirty="0">
                <a:solidFill>
                  <a:srgbClr val="C00000"/>
                </a:solidFill>
                <a:latin typeface="Comic Sans MS" panose="030F0702030302020204" pitchFamily="66" charset="0"/>
              </a:rPr>
              <a:t>Types of Objectives</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1671417" y="1413714"/>
            <a:ext cx="704850" cy="1057709"/>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7464051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5"/>
            <a:ext cx="8403771" cy="3416320"/>
          </a:xfrm>
          <a:prstGeom prst="rect">
            <a:avLst/>
          </a:prstGeom>
        </p:spPr>
        <p:txBody>
          <a:bodyPr wrap="square">
            <a:spAutoFit/>
          </a:bodyPr>
          <a:lstStyle/>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ea typeface="Times New Roman" panose="02020603050405020304" pitchFamily="18" charset="0"/>
                <a:cs typeface="Century Gothic" panose="020B0502020202020204" pitchFamily="34" charset="0"/>
              </a:rPr>
              <a:t>“E” Objectives: </a:t>
            </a:r>
            <a:r>
              <a:rPr lang="en-US" altLang="en-US" dirty="0">
                <a:latin typeface="Comic Sans MS" panose="030F0702030302020204" pitchFamily="66" charset="0"/>
                <a:ea typeface="Times New Roman" panose="02020603050405020304" pitchFamily="18" charset="0"/>
                <a:cs typeface="Calibri" panose="020F0502020204030204" pitchFamily="34" charset="0"/>
              </a:rPr>
              <a:t>Developmental objectives  that impact </a:t>
            </a:r>
            <a:r>
              <a:rPr lang="en-US" altLang="en-US"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b="1" i="1" u="sng" dirty="0">
                <a:latin typeface="Comic Sans MS" panose="030F0702030302020204" pitchFamily="66" charset="0"/>
                <a:ea typeface="Times New Roman" panose="02020603050405020304" pitchFamily="18" charset="0"/>
                <a:cs typeface="Century Gothic" panose="020B0502020202020204" pitchFamily="34" charset="0"/>
              </a:rPr>
              <a:t>long term  effectiveness</a:t>
            </a:r>
            <a:r>
              <a:rPr lang="en-US" altLang="en-US"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dirty="0">
                <a:latin typeface="Comic Sans MS" panose="030F0702030302020204" pitchFamily="66" charset="0"/>
                <a:ea typeface="Times New Roman" panose="02020603050405020304" pitchFamily="18" charset="0"/>
                <a:cs typeface="Calibri" panose="020F0502020204030204" pitchFamily="34" charset="0"/>
              </a:rPr>
              <a:t>of the organization. These objectives  will focus on the development or creation of something new, a change.  These  objectives  will draw upon,  or drive  on the creative    nature    of   the    position.    Such    objectives    will    include    product  development, development of new markets, design  of a new system or process, research, etc.</a:t>
            </a:r>
          </a:p>
          <a:p>
            <a:pPr marL="285750" indent="-285750" eaLnBrk="0" hangingPunct="0">
              <a:buFont typeface="Wingdings" panose="05000000000000000000" pitchFamily="2" charset="2"/>
              <a:buChar char="q"/>
              <a:tabLst>
                <a:tab pos="749300" algn="l"/>
              </a:tabLst>
            </a:pPr>
            <a:endParaRPr lang="en-US" altLang="en-US" dirty="0">
              <a:latin typeface="Comic Sans MS" panose="030F0702030302020204" pitchFamily="66" charset="0"/>
              <a:ea typeface="Times New Roman" panose="02020603050405020304" pitchFamily="18" charset="0"/>
              <a:cs typeface="Calibri" panose="020F0502020204030204" pitchFamily="34" charset="0"/>
            </a:endParaRPr>
          </a:p>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cs typeface="Century Gothic" panose="020B0502020202020204" pitchFamily="34" charset="0"/>
              </a:rPr>
              <a:t>“I” Objectives:  </a:t>
            </a:r>
            <a:r>
              <a:rPr lang="en-US" altLang="en-US" dirty="0">
                <a:latin typeface="Comic Sans MS" panose="030F0702030302020204" pitchFamily="66" charset="0"/>
                <a:cs typeface="Calibri" panose="020F0502020204030204" pitchFamily="34" charset="0"/>
              </a:rPr>
              <a:t>Integration   objectives   that  will  promote   team  building  and affinity   within   the   organization  thus   increasing  its   </a:t>
            </a:r>
            <a:r>
              <a:rPr lang="en-US" altLang="en-US" b="1" i="1" u="sng" dirty="0">
                <a:latin typeface="Comic Sans MS" panose="030F0702030302020204" pitchFamily="66" charset="0"/>
                <a:cs typeface="Century Gothic" panose="020B0502020202020204" pitchFamily="34" charset="0"/>
              </a:rPr>
              <a:t>long-term  efficiencies</a:t>
            </a:r>
            <a:r>
              <a:rPr lang="en-US" altLang="en-US" dirty="0">
                <a:latin typeface="Comic Sans MS" panose="030F0702030302020204" pitchFamily="66" charset="0"/>
                <a:cs typeface="Calibri" panose="020F0502020204030204" pitchFamily="34" charset="0"/>
              </a:rPr>
              <a:t>. Objectives  in this category will include personnel development and training, staff outings, internal promotion  of individuals,  etc.</a:t>
            </a:r>
            <a:endParaRPr lang="en-US"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3733714" cy="523220"/>
          </a:xfrm>
          <a:prstGeom prst="rect">
            <a:avLst/>
          </a:prstGeom>
        </p:spPr>
        <p:txBody>
          <a:bodyPr wrap="none">
            <a:spAutoFit/>
          </a:bodyPr>
          <a:lstStyle/>
          <a:p>
            <a:r>
              <a:rPr lang="en-US" sz="2800" b="1" dirty="0">
                <a:solidFill>
                  <a:srgbClr val="C00000"/>
                </a:solidFill>
                <a:latin typeface="Comic Sans MS" panose="030F0702030302020204" pitchFamily="66" charset="0"/>
              </a:rPr>
              <a:t>Types of Objectives</a:t>
            </a:r>
          </a:p>
        </p:txBody>
      </p:sp>
      <p:sp>
        <p:nvSpPr>
          <p:cNvPr id="5" name="Rectangle 2">
            <a:extLst>
              <a:ext uri="{FF2B5EF4-FFF2-40B4-BE49-F238E27FC236}">
                <a16:creationId xmlns:a16="http://schemas.microsoft.com/office/drawing/2014/main" id="{C5A641E8-7007-4036-9F1A-9BAB81B14E95}"/>
              </a:ext>
            </a:extLst>
          </p:cNvPr>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749300" algn="l"/>
              </a:tabLst>
              <a:defRPr>
                <a:solidFill>
                  <a:schemeClr val="tx1"/>
                </a:solidFill>
                <a:latin typeface="Arial" panose="020B0604020202020204" pitchFamily="34" charset="0"/>
              </a:defRPr>
            </a:lvl1pPr>
            <a:lvl2pPr eaLnBrk="0" hangingPunct="0">
              <a:tabLst>
                <a:tab pos="749300" algn="l"/>
              </a:tabLst>
              <a:defRPr>
                <a:solidFill>
                  <a:schemeClr val="tx1"/>
                </a:solidFill>
                <a:latin typeface="Arial" panose="020B0604020202020204" pitchFamily="34" charset="0"/>
              </a:defRPr>
            </a:lvl2pPr>
            <a:lvl3pPr eaLnBrk="0" hangingPunct="0">
              <a:tabLst>
                <a:tab pos="749300" algn="l"/>
              </a:tabLst>
              <a:defRPr>
                <a:solidFill>
                  <a:schemeClr val="tx1"/>
                </a:solidFill>
                <a:latin typeface="Arial" panose="020B0604020202020204" pitchFamily="34" charset="0"/>
              </a:defRPr>
            </a:lvl3pPr>
            <a:lvl4pPr eaLnBrk="0" hangingPunct="0">
              <a:tabLst>
                <a:tab pos="749300" algn="l"/>
              </a:tabLst>
              <a:defRPr>
                <a:solidFill>
                  <a:schemeClr val="tx1"/>
                </a:solidFill>
                <a:latin typeface="Arial" panose="020B0604020202020204" pitchFamily="34" charset="0"/>
              </a:defRPr>
            </a:lvl4pPr>
            <a:lvl5pPr eaLnBrk="0" hangingPunct="0">
              <a:tabLst>
                <a:tab pos="749300" algn="l"/>
              </a:tabLst>
              <a:defRPr>
                <a:solidFill>
                  <a:schemeClr val="tx1"/>
                </a:solidFill>
                <a:latin typeface="Arial" panose="020B0604020202020204" pitchFamily="34" charset="0"/>
              </a:defRPr>
            </a:lvl5pPr>
            <a:lvl6pPr eaLnBrk="0" fontAlgn="base" hangingPunct="0">
              <a:spcBef>
                <a:spcPct val="0"/>
              </a:spcBef>
              <a:spcAft>
                <a:spcPct val="0"/>
              </a:spcAft>
              <a:tabLst>
                <a:tab pos="749300" algn="l"/>
              </a:tabLst>
              <a:defRPr>
                <a:solidFill>
                  <a:schemeClr val="tx1"/>
                </a:solidFill>
                <a:latin typeface="Arial" panose="020B0604020202020204" pitchFamily="34" charset="0"/>
              </a:defRPr>
            </a:lvl6pPr>
            <a:lvl7pPr eaLnBrk="0" fontAlgn="base" hangingPunct="0">
              <a:spcBef>
                <a:spcPct val="0"/>
              </a:spcBef>
              <a:spcAft>
                <a:spcPct val="0"/>
              </a:spcAft>
              <a:tabLst>
                <a:tab pos="749300" algn="l"/>
              </a:tabLst>
              <a:defRPr>
                <a:solidFill>
                  <a:schemeClr val="tx1"/>
                </a:solidFill>
                <a:latin typeface="Arial" panose="020B0604020202020204" pitchFamily="34" charset="0"/>
              </a:defRPr>
            </a:lvl7pPr>
            <a:lvl8pPr eaLnBrk="0" fontAlgn="base" hangingPunct="0">
              <a:spcBef>
                <a:spcPct val="0"/>
              </a:spcBef>
              <a:spcAft>
                <a:spcPct val="0"/>
              </a:spcAft>
              <a:tabLst>
                <a:tab pos="749300" algn="l"/>
              </a:tabLst>
              <a:defRPr>
                <a:solidFill>
                  <a:schemeClr val="tx1"/>
                </a:solidFill>
                <a:latin typeface="Arial" panose="020B0604020202020204" pitchFamily="34" charset="0"/>
              </a:defRPr>
            </a:lvl8pPr>
            <a:lvl9pPr eaLnBrk="0" fontAlgn="base" hangingPunct="0">
              <a:spcBef>
                <a:spcPct val="0"/>
              </a:spcBef>
              <a:spcAft>
                <a:spcPct val="0"/>
              </a:spcAft>
              <a:tabLst>
                <a:tab pos="749300" algn="l"/>
              </a:tabLst>
              <a:defRPr>
                <a:solidFill>
                  <a:schemeClr val="tx1"/>
                </a:solidFill>
                <a:latin typeface="Arial" panose="020B0604020202020204" pitchFamily="34" charset="0"/>
              </a:defRPr>
            </a:lvl9pPr>
          </a:lstStyle>
          <a:p>
            <a:pPr fontAlgn="base">
              <a:spcBef>
                <a:spcPct val="0"/>
              </a:spcBef>
              <a:spcAft>
                <a:spcPct val="0"/>
              </a:spcAft>
            </a:pPr>
            <a:endParaRPr lang="en-US" altLang="en-US" dirty="0"/>
          </a:p>
        </p:txBody>
      </p:sp>
      <p:sp>
        <p:nvSpPr>
          <p:cNvPr id="8" name="Rectangle 3">
            <a:extLst>
              <a:ext uri="{FF2B5EF4-FFF2-40B4-BE49-F238E27FC236}">
                <a16:creationId xmlns:a16="http://schemas.microsoft.com/office/drawing/2014/main" id="{D8E288BE-D52D-4092-92FD-3C8C9D8483E9}"/>
              </a:ext>
            </a:extLst>
          </p:cNvPr>
          <p:cNvSpPr>
            <a:spLocks noChangeArrowheads="1"/>
          </p:cNvSpPr>
          <p:nvPr/>
        </p:nvSpPr>
        <p:spPr bwMode="auto">
          <a:xfrm>
            <a:off x="1524001" y="349478"/>
            <a:ext cx="18473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endParaRPr lang="en-US" altLang="en-US" sz="800" dirty="0">
              <a:cs typeface="Verdana" panose="020B0604030504040204" pitchFamily="34" charset="0"/>
            </a:endParaRPr>
          </a:p>
        </p:txBody>
      </p:sp>
    </p:spTree>
    <p:extLst>
      <p:ext uri="{BB962C8B-B14F-4D97-AF65-F5344CB8AC3E}">
        <p14:creationId xmlns:p14="http://schemas.microsoft.com/office/powerpoint/2010/main" val="36480730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5"/>
            <a:ext cx="8403771" cy="2862322"/>
          </a:xfrm>
          <a:prstGeom prst="rect">
            <a:avLst/>
          </a:prstGeom>
        </p:spPr>
        <p:txBody>
          <a:bodyPr wrap="square">
            <a:spAutoFit/>
          </a:bodyPr>
          <a:lstStyle/>
          <a:p>
            <a:pPr marL="285750" indent="-285750">
              <a:buFont typeface="Wingdings" panose="05000000000000000000" pitchFamily="2" charset="2"/>
              <a:buChar char="q"/>
            </a:pPr>
            <a:r>
              <a:rPr lang="en-US" dirty="0">
                <a:latin typeface="Comic Sans MS" panose="030F0702030302020204" pitchFamily="66" charset="0"/>
              </a:rPr>
              <a:t>Enable  the  proper  tracking  of  the objectives  and to potentially  fine-tune</a:t>
            </a:r>
          </a:p>
          <a:p>
            <a:pPr marL="285750" indent="-285750">
              <a:buFont typeface="Wingdings" panose="05000000000000000000" pitchFamily="2" charset="2"/>
              <a:buChar char="q"/>
            </a:pPr>
            <a:r>
              <a:rPr lang="en-US" dirty="0">
                <a:latin typeface="Comic Sans MS" panose="030F0702030302020204" pitchFamily="66" charset="0"/>
              </a:rPr>
              <a:t>Start by writing  what your Deterministic objective  is and then write on the “Goal” line how you  expect  the  result  or  KPI  to  behave  through   the  year.  </a:t>
            </a:r>
          </a:p>
          <a:p>
            <a:pPr marL="285750" indent="-285750">
              <a:buFont typeface="Wingdings" panose="05000000000000000000" pitchFamily="2" charset="2"/>
              <a:buChar char="q"/>
            </a:pPr>
            <a:r>
              <a:rPr lang="en-US" dirty="0">
                <a:latin typeface="Comic Sans MS" panose="030F0702030302020204" pitchFamily="66" charset="0"/>
              </a:rPr>
              <a:t>If the  objective is  measurable   please  indicate  the expected  result of the KPI for that specific  month. </a:t>
            </a:r>
          </a:p>
          <a:p>
            <a:pPr marL="285750" indent="-285750">
              <a:buFont typeface="Wingdings" panose="05000000000000000000" pitchFamily="2" charset="2"/>
              <a:buChar char="q"/>
            </a:pPr>
            <a:r>
              <a:rPr lang="en-US" dirty="0">
                <a:latin typeface="Comic Sans MS" panose="030F0702030302020204" pitchFamily="66" charset="0"/>
              </a:rPr>
              <a:t>If the  objective is verifiable then place an “X” on the month in which you expect the result to happen.</a:t>
            </a:r>
          </a:p>
          <a:p>
            <a:pPr marL="285750" indent="-285750">
              <a:buFont typeface="Wingdings" panose="05000000000000000000" pitchFamily="2" charset="2"/>
              <a:buChar char="q"/>
            </a:pPr>
            <a:r>
              <a:rPr lang="en-US" dirty="0">
                <a:latin typeface="Comic Sans MS" panose="030F0702030302020204" pitchFamily="66" charset="0"/>
              </a:rPr>
              <a:t>Take into consideration business  cycles  and your action plan. </a:t>
            </a:r>
          </a:p>
        </p:txBody>
      </p:sp>
      <p:sp>
        <p:nvSpPr>
          <p:cNvPr id="4" name="Rectangle 3">
            <a:extLst>
              <a:ext uri="{FF2B5EF4-FFF2-40B4-BE49-F238E27FC236}">
                <a16:creationId xmlns:a16="http://schemas.microsoft.com/office/drawing/2014/main" id="{9217CBF2-C903-4ED5-986A-1F66744537FD}"/>
              </a:ext>
            </a:extLst>
          </p:cNvPr>
          <p:cNvSpPr/>
          <p:nvPr/>
        </p:nvSpPr>
        <p:spPr>
          <a:xfrm>
            <a:off x="1688168" y="398191"/>
            <a:ext cx="5453737" cy="523220"/>
          </a:xfrm>
          <a:prstGeom prst="rect">
            <a:avLst/>
          </a:prstGeom>
        </p:spPr>
        <p:txBody>
          <a:bodyPr wrap="none">
            <a:spAutoFit/>
          </a:bodyPr>
          <a:lstStyle/>
          <a:p>
            <a:r>
              <a:rPr lang="en-US" sz="2800" b="1" dirty="0">
                <a:solidFill>
                  <a:srgbClr val="C00000"/>
                </a:solidFill>
                <a:latin typeface="Comic Sans MS" panose="030F0702030302020204" pitchFamily="66" charset="0"/>
              </a:rPr>
              <a:t>The Monthly Plan / Scorecard</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3214255" y="2165883"/>
            <a:ext cx="7024255" cy="420067"/>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7" name="Text Box 1">
            <a:extLst>
              <a:ext uri="{FF2B5EF4-FFF2-40B4-BE49-F238E27FC236}">
                <a16:creationId xmlns:a16="http://schemas.microsoft.com/office/drawing/2014/main" id="{2F0200BF-29E5-4511-9578-C08B12BE121C}"/>
              </a:ext>
            </a:extLst>
          </p:cNvPr>
          <p:cNvSpPr txBox="1">
            <a:spLocks noChangeArrowheads="1"/>
          </p:cNvSpPr>
          <p:nvPr/>
        </p:nvSpPr>
        <p:spPr bwMode="auto">
          <a:xfrm>
            <a:off x="2609850" y="10385425"/>
            <a:ext cx="7048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eaLnBrk="0" fontAlgn="base" hangingPunct="0">
              <a:spcBef>
                <a:spcPct val="0"/>
              </a:spcBef>
              <a:spcAft>
                <a:spcPct val="0"/>
              </a:spcAft>
            </a:pPr>
            <a:r>
              <a:rPr lang="en-US" altLang="en-US" sz="1100">
                <a:latin typeface="Calibri" panose="020F0502020204030204" pitchFamily="34" charset="0"/>
                <a:ea typeface="Times New Roman" panose="02020603050405020304" pitchFamily="18" charset="0"/>
                <a:cs typeface="Calibri" panose="020F0502020204030204" pitchFamily="34" charset="0"/>
              </a:rPr>
              <a:t>Adize</a:t>
            </a:r>
            <a:endParaRPr lang="en-US" altLang="en-US">
              <a:latin typeface="Arial" panose="020B0604020202020204" pitchFamily="34" charset="0"/>
            </a:endParaRPr>
          </a:p>
        </p:txBody>
      </p:sp>
      <p:sp>
        <p:nvSpPr>
          <p:cNvPr id="9" name="Rectangle 8">
            <a:extLst>
              <a:ext uri="{FF2B5EF4-FFF2-40B4-BE49-F238E27FC236}">
                <a16:creationId xmlns:a16="http://schemas.microsoft.com/office/drawing/2014/main" id="{F512B884-2F39-4429-8177-C6FE9626BEA6}"/>
              </a:ext>
            </a:extLst>
          </p:cNvPr>
          <p:cNvSpPr/>
          <p:nvPr/>
        </p:nvSpPr>
        <p:spPr bwMode="auto">
          <a:xfrm>
            <a:off x="2388198" y="1426558"/>
            <a:ext cx="7024255" cy="739325"/>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744879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Text Box 1">
            <a:extLst>
              <a:ext uri="{FF2B5EF4-FFF2-40B4-BE49-F238E27FC236}">
                <a16:creationId xmlns:a16="http://schemas.microsoft.com/office/drawing/2014/main" id="{2F0200BF-29E5-4511-9578-C08B12BE121C}"/>
              </a:ext>
            </a:extLst>
          </p:cNvPr>
          <p:cNvSpPr txBox="1">
            <a:spLocks noChangeArrowheads="1"/>
          </p:cNvSpPr>
          <p:nvPr/>
        </p:nvSpPr>
        <p:spPr bwMode="auto">
          <a:xfrm>
            <a:off x="2609850" y="10385425"/>
            <a:ext cx="7048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eaLnBrk="0" fontAlgn="base" hangingPunct="0">
              <a:spcBef>
                <a:spcPct val="0"/>
              </a:spcBef>
              <a:spcAft>
                <a:spcPct val="0"/>
              </a:spcAft>
            </a:pPr>
            <a:r>
              <a:rPr lang="en-US" altLang="en-US" sz="1100">
                <a:latin typeface="Calibri" panose="020F0502020204030204" pitchFamily="34" charset="0"/>
                <a:ea typeface="Times New Roman" panose="02020603050405020304" pitchFamily="18" charset="0"/>
                <a:cs typeface="Calibri" panose="020F0502020204030204" pitchFamily="34" charset="0"/>
              </a:rPr>
              <a:t>Adize</a:t>
            </a:r>
            <a:endParaRPr lang="en-US" altLang="en-US">
              <a:latin typeface="Arial" panose="020B0604020202020204" pitchFamily="34" charset="0"/>
            </a:endParaRPr>
          </a:p>
        </p:txBody>
      </p:sp>
      <p:sp>
        <p:nvSpPr>
          <p:cNvPr id="9" name="Rectangle 8">
            <a:extLst>
              <a:ext uri="{FF2B5EF4-FFF2-40B4-BE49-F238E27FC236}">
                <a16:creationId xmlns:a16="http://schemas.microsoft.com/office/drawing/2014/main" id="{F512B884-2F39-4429-8177-C6FE9626BEA6}"/>
              </a:ext>
            </a:extLst>
          </p:cNvPr>
          <p:cNvSpPr/>
          <p:nvPr/>
        </p:nvSpPr>
        <p:spPr bwMode="auto">
          <a:xfrm>
            <a:off x="2388198" y="1426558"/>
            <a:ext cx="2173971" cy="739325"/>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1" name="Rectangle 10">
            <a:extLst>
              <a:ext uri="{FF2B5EF4-FFF2-40B4-BE49-F238E27FC236}">
                <a16:creationId xmlns:a16="http://schemas.microsoft.com/office/drawing/2014/main" id="{1EA5F32D-8846-41AB-80C2-6E0AC7FBED5A}"/>
              </a:ext>
            </a:extLst>
          </p:cNvPr>
          <p:cNvSpPr/>
          <p:nvPr/>
        </p:nvSpPr>
        <p:spPr bwMode="auto">
          <a:xfrm>
            <a:off x="8787582" y="1424101"/>
            <a:ext cx="1737853" cy="739325"/>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12" name="Rectangle 11">
            <a:extLst>
              <a:ext uri="{FF2B5EF4-FFF2-40B4-BE49-F238E27FC236}">
                <a16:creationId xmlns:a16="http://schemas.microsoft.com/office/drawing/2014/main" id="{39F7DDDA-12F7-4186-B178-9DD23C90565D}"/>
              </a:ext>
            </a:extLst>
          </p:cNvPr>
          <p:cNvSpPr/>
          <p:nvPr/>
        </p:nvSpPr>
        <p:spPr>
          <a:xfrm>
            <a:off x="1688167" y="398191"/>
            <a:ext cx="3390672" cy="523220"/>
          </a:xfrm>
          <a:prstGeom prst="rect">
            <a:avLst/>
          </a:prstGeom>
        </p:spPr>
        <p:txBody>
          <a:bodyPr wrap="none">
            <a:spAutoFit/>
          </a:bodyPr>
          <a:lstStyle/>
          <a:p>
            <a:r>
              <a:rPr lang="en-US" sz="2800" b="1" dirty="0">
                <a:solidFill>
                  <a:srgbClr val="C00000"/>
                </a:solidFill>
                <a:latin typeface="Comic Sans MS" panose="030F0702030302020204" pitchFamily="66" charset="0"/>
              </a:rPr>
              <a:t>Need to / Nice to</a:t>
            </a:r>
          </a:p>
        </p:txBody>
      </p:sp>
    </p:spTree>
    <p:extLst>
      <p:ext uri="{BB962C8B-B14F-4D97-AF65-F5344CB8AC3E}">
        <p14:creationId xmlns:p14="http://schemas.microsoft.com/office/powerpoint/2010/main" val="16511152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49198"/>
            <a:ext cx="8403771" cy="3139321"/>
          </a:xfrm>
          <a:prstGeom prst="rect">
            <a:avLst/>
          </a:prstGeom>
        </p:spPr>
        <p:txBody>
          <a:bodyPr wrap="square">
            <a:spAutoFit/>
          </a:bodyPr>
          <a:lstStyle/>
          <a:p>
            <a:pPr marL="285750" indent="-285750" eaLnBrk="0" hangingPunct="0">
              <a:buFont typeface="Wingdings" panose="05000000000000000000" pitchFamily="2" charset="2"/>
              <a:buChar char="q"/>
              <a:tabLst>
                <a:tab pos="749300" algn="l"/>
              </a:tabLst>
            </a:pPr>
            <a:r>
              <a:rPr lang="en-US" altLang="en-US" sz="2200" b="1" dirty="0">
                <a:latin typeface="Comic Sans MS" panose="030F0702030302020204" pitchFamily="66" charset="0"/>
                <a:ea typeface="Times New Roman" panose="02020603050405020304" pitchFamily="18" charset="0"/>
                <a:cs typeface="Calibri" panose="020F0502020204030204" pitchFamily="34" charset="0"/>
              </a:rPr>
              <a:t>Short term effective -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objectives  that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provide value</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a:t>
            </a:r>
            <a:r>
              <a:rPr lang="en-US" altLang="en-US" sz="2200" dirty="0">
                <a:latin typeface="Comic Sans MS" panose="030F0702030302020204" pitchFamily="66" charset="0"/>
              </a:rPr>
              <a:t>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Such  objectives  could  be closing  a pending contract,  renewing  a line of credit, surpassing a sales quota, etc.</a:t>
            </a:r>
          </a:p>
          <a:p>
            <a:pPr marL="285750" indent="-285750" eaLnBrk="0" hangingPunct="0">
              <a:buFont typeface="Wingdings" panose="05000000000000000000" pitchFamily="2" charset="2"/>
              <a:buChar char="q"/>
              <a:tabLst>
                <a:tab pos="749300" algn="l"/>
              </a:tabLst>
            </a:pPr>
            <a:endParaRPr lang="en-US" altLang="en-US" sz="2200" dirty="0">
              <a:latin typeface="Comic Sans MS" panose="030F0702030302020204" pitchFamily="66" charset="0"/>
            </a:endParaRPr>
          </a:p>
          <a:p>
            <a:pPr marL="285750" indent="-285750" eaLnBrk="0" hangingPunct="0">
              <a:buFont typeface="Wingdings" panose="05000000000000000000" pitchFamily="2" charset="2"/>
              <a:buChar char="q"/>
              <a:tabLst>
                <a:tab pos="749300" algn="l"/>
              </a:tabLst>
            </a:pPr>
            <a:r>
              <a:rPr lang="en-US" altLang="en-US" sz="2200" b="1" dirty="0">
                <a:latin typeface="Comic Sans MS" panose="030F0702030302020204" pitchFamily="66" charset="0"/>
                <a:ea typeface="Times New Roman" panose="02020603050405020304" pitchFamily="18" charset="0"/>
                <a:cs typeface="Century Gothic" panose="020B0502020202020204" pitchFamily="34" charset="0"/>
              </a:rPr>
              <a:t>Short term efficiency: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objectives  that </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increase  efficiency</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in the </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short</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term</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 These  objectives  will  include implementation of routines,  processes  and systems, such as a common expense  reports, review of financial data on timely bases, performance evaluation of personnel, etc.</a:t>
            </a:r>
            <a:endParaRPr lang="en-US" altLang="en-US" sz="2200"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3847528" cy="523220"/>
          </a:xfrm>
          <a:prstGeom prst="rect">
            <a:avLst/>
          </a:prstGeom>
        </p:spPr>
        <p:txBody>
          <a:bodyPr wrap="none">
            <a:spAutoFit/>
          </a:bodyPr>
          <a:lstStyle/>
          <a:p>
            <a:r>
              <a:rPr lang="en-US" sz="2800" b="1" dirty="0">
                <a:solidFill>
                  <a:srgbClr val="C00000"/>
                </a:solidFill>
                <a:latin typeface="Comic Sans MS" panose="030F0702030302020204" pitchFamily="66" charset="0"/>
              </a:rPr>
              <a:t>Goals and Objectives</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1671417" y="1413714"/>
            <a:ext cx="704850" cy="1057709"/>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13105801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6"/>
            <a:ext cx="8403771" cy="2585323"/>
          </a:xfrm>
          <a:prstGeom prst="rect">
            <a:avLst/>
          </a:prstGeom>
        </p:spPr>
        <p:txBody>
          <a:bodyPr wrap="square">
            <a:spAutoFit/>
          </a:bodyPr>
          <a:lstStyle/>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ea typeface="Times New Roman" panose="02020603050405020304" pitchFamily="18" charset="0"/>
                <a:cs typeface="Century Gothic" panose="020B0502020202020204" pitchFamily="34" charset="0"/>
              </a:rPr>
              <a:t>Long term effectiveness: </a:t>
            </a:r>
            <a:r>
              <a:rPr lang="en-US" altLang="en-US" dirty="0">
                <a:latin typeface="Comic Sans MS" panose="030F0702030302020204" pitchFamily="66" charset="0"/>
                <a:ea typeface="Times New Roman" panose="02020603050405020304" pitchFamily="18" charset="0"/>
                <a:cs typeface="Calibri" panose="020F0502020204030204" pitchFamily="34" charset="0"/>
              </a:rPr>
              <a:t>Developmental objectives that focus on creating something new or a change.  These  objectives  require creativity and risk taking. objectives will include product development, entering new markets, design  of a new system or process, research, etc.</a:t>
            </a:r>
          </a:p>
          <a:p>
            <a:pPr marL="285750" indent="-285750" eaLnBrk="0" hangingPunct="0">
              <a:buFont typeface="Wingdings" panose="05000000000000000000" pitchFamily="2" charset="2"/>
              <a:buChar char="q"/>
              <a:tabLst>
                <a:tab pos="749300" algn="l"/>
              </a:tabLst>
            </a:pPr>
            <a:endParaRPr lang="en-US" altLang="en-US" dirty="0">
              <a:latin typeface="Comic Sans MS" panose="030F0702030302020204" pitchFamily="66" charset="0"/>
              <a:ea typeface="Times New Roman" panose="02020603050405020304" pitchFamily="18" charset="0"/>
              <a:cs typeface="Calibri" panose="020F0502020204030204" pitchFamily="34" charset="0"/>
            </a:endParaRPr>
          </a:p>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cs typeface="Century Gothic" panose="020B0502020202020204" pitchFamily="34" charset="0"/>
              </a:rPr>
              <a:t>Long term efficiency: </a:t>
            </a:r>
            <a:r>
              <a:rPr lang="en-US" altLang="en-US" dirty="0">
                <a:latin typeface="Comic Sans MS" panose="030F0702030302020204" pitchFamily="66" charset="0"/>
                <a:cs typeface="Calibri" panose="020F0502020204030204" pitchFamily="34" charset="0"/>
              </a:rPr>
              <a:t>Objectives   that  will  promote   team  building  and alignment within the organization. Objectives in this category will include personnel development and training, staff outings, internal promotion of individuals,  etc.</a:t>
            </a:r>
            <a:endParaRPr lang="en-US"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3733714" cy="523220"/>
          </a:xfrm>
          <a:prstGeom prst="rect">
            <a:avLst/>
          </a:prstGeom>
        </p:spPr>
        <p:txBody>
          <a:bodyPr wrap="none">
            <a:spAutoFit/>
          </a:bodyPr>
          <a:lstStyle/>
          <a:p>
            <a:r>
              <a:rPr lang="en-US" sz="2800" b="1" dirty="0">
                <a:solidFill>
                  <a:srgbClr val="C00000"/>
                </a:solidFill>
                <a:latin typeface="Comic Sans MS" panose="030F0702030302020204" pitchFamily="66" charset="0"/>
              </a:rPr>
              <a:t>Types of Objectives</a:t>
            </a:r>
          </a:p>
        </p:txBody>
      </p:sp>
      <p:sp>
        <p:nvSpPr>
          <p:cNvPr id="5" name="Rectangle 2">
            <a:extLst>
              <a:ext uri="{FF2B5EF4-FFF2-40B4-BE49-F238E27FC236}">
                <a16:creationId xmlns:a16="http://schemas.microsoft.com/office/drawing/2014/main" id="{C5A641E8-7007-4036-9F1A-9BAB81B14E95}"/>
              </a:ext>
            </a:extLst>
          </p:cNvPr>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749300" algn="l"/>
              </a:tabLst>
              <a:defRPr>
                <a:solidFill>
                  <a:schemeClr val="tx1"/>
                </a:solidFill>
                <a:latin typeface="Arial" panose="020B0604020202020204" pitchFamily="34" charset="0"/>
              </a:defRPr>
            </a:lvl1pPr>
            <a:lvl2pPr eaLnBrk="0" hangingPunct="0">
              <a:tabLst>
                <a:tab pos="749300" algn="l"/>
              </a:tabLst>
              <a:defRPr>
                <a:solidFill>
                  <a:schemeClr val="tx1"/>
                </a:solidFill>
                <a:latin typeface="Arial" panose="020B0604020202020204" pitchFamily="34" charset="0"/>
              </a:defRPr>
            </a:lvl2pPr>
            <a:lvl3pPr eaLnBrk="0" hangingPunct="0">
              <a:tabLst>
                <a:tab pos="749300" algn="l"/>
              </a:tabLst>
              <a:defRPr>
                <a:solidFill>
                  <a:schemeClr val="tx1"/>
                </a:solidFill>
                <a:latin typeface="Arial" panose="020B0604020202020204" pitchFamily="34" charset="0"/>
              </a:defRPr>
            </a:lvl3pPr>
            <a:lvl4pPr eaLnBrk="0" hangingPunct="0">
              <a:tabLst>
                <a:tab pos="749300" algn="l"/>
              </a:tabLst>
              <a:defRPr>
                <a:solidFill>
                  <a:schemeClr val="tx1"/>
                </a:solidFill>
                <a:latin typeface="Arial" panose="020B0604020202020204" pitchFamily="34" charset="0"/>
              </a:defRPr>
            </a:lvl4pPr>
            <a:lvl5pPr eaLnBrk="0" hangingPunct="0">
              <a:tabLst>
                <a:tab pos="749300" algn="l"/>
              </a:tabLst>
              <a:defRPr>
                <a:solidFill>
                  <a:schemeClr val="tx1"/>
                </a:solidFill>
                <a:latin typeface="Arial" panose="020B0604020202020204" pitchFamily="34" charset="0"/>
              </a:defRPr>
            </a:lvl5pPr>
            <a:lvl6pPr eaLnBrk="0" fontAlgn="base" hangingPunct="0">
              <a:spcBef>
                <a:spcPct val="0"/>
              </a:spcBef>
              <a:spcAft>
                <a:spcPct val="0"/>
              </a:spcAft>
              <a:tabLst>
                <a:tab pos="749300" algn="l"/>
              </a:tabLst>
              <a:defRPr>
                <a:solidFill>
                  <a:schemeClr val="tx1"/>
                </a:solidFill>
                <a:latin typeface="Arial" panose="020B0604020202020204" pitchFamily="34" charset="0"/>
              </a:defRPr>
            </a:lvl6pPr>
            <a:lvl7pPr eaLnBrk="0" fontAlgn="base" hangingPunct="0">
              <a:spcBef>
                <a:spcPct val="0"/>
              </a:spcBef>
              <a:spcAft>
                <a:spcPct val="0"/>
              </a:spcAft>
              <a:tabLst>
                <a:tab pos="749300" algn="l"/>
              </a:tabLst>
              <a:defRPr>
                <a:solidFill>
                  <a:schemeClr val="tx1"/>
                </a:solidFill>
                <a:latin typeface="Arial" panose="020B0604020202020204" pitchFamily="34" charset="0"/>
              </a:defRPr>
            </a:lvl7pPr>
            <a:lvl8pPr eaLnBrk="0" fontAlgn="base" hangingPunct="0">
              <a:spcBef>
                <a:spcPct val="0"/>
              </a:spcBef>
              <a:spcAft>
                <a:spcPct val="0"/>
              </a:spcAft>
              <a:tabLst>
                <a:tab pos="749300" algn="l"/>
              </a:tabLst>
              <a:defRPr>
                <a:solidFill>
                  <a:schemeClr val="tx1"/>
                </a:solidFill>
                <a:latin typeface="Arial" panose="020B0604020202020204" pitchFamily="34" charset="0"/>
              </a:defRPr>
            </a:lvl8pPr>
            <a:lvl9pPr eaLnBrk="0" fontAlgn="base" hangingPunct="0">
              <a:spcBef>
                <a:spcPct val="0"/>
              </a:spcBef>
              <a:spcAft>
                <a:spcPct val="0"/>
              </a:spcAft>
              <a:tabLst>
                <a:tab pos="749300" algn="l"/>
              </a:tabLst>
              <a:defRPr>
                <a:solidFill>
                  <a:schemeClr val="tx1"/>
                </a:solidFill>
                <a:latin typeface="Arial" panose="020B0604020202020204" pitchFamily="34" charset="0"/>
              </a:defRPr>
            </a:lvl9pPr>
          </a:lstStyle>
          <a:p>
            <a:pPr fontAlgn="base">
              <a:spcBef>
                <a:spcPct val="0"/>
              </a:spcBef>
              <a:spcAft>
                <a:spcPct val="0"/>
              </a:spcAft>
            </a:pPr>
            <a:endParaRPr lang="en-US" altLang="en-US" dirty="0"/>
          </a:p>
        </p:txBody>
      </p:sp>
      <p:sp>
        <p:nvSpPr>
          <p:cNvPr id="8" name="Rectangle 3">
            <a:extLst>
              <a:ext uri="{FF2B5EF4-FFF2-40B4-BE49-F238E27FC236}">
                <a16:creationId xmlns:a16="http://schemas.microsoft.com/office/drawing/2014/main" id="{D8E288BE-D52D-4092-92FD-3C8C9D8483E9}"/>
              </a:ext>
            </a:extLst>
          </p:cNvPr>
          <p:cNvSpPr>
            <a:spLocks noChangeArrowheads="1"/>
          </p:cNvSpPr>
          <p:nvPr/>
        </p:nvSpPr>
        <p:spPr bwMode="auto">
          <a:xfrm>
            <a:off x="1524001" y="349478"/>
            <a:ext cx="18473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endParaRPr lang="en-US" altLang="en-US" sz="800" dirty="0">
              <a:cs typeface="Verdana" panose="020B0604030504040204" pitchFamily="34" charset="0"/>
            </a:endParaRPr>
          </a:p>
        </p:txBody>
      </p:sp>
    </p:spTree>
    <p:extLst>
      <p:ext uri="{BB962C8B-B14F-4D97-AF65-F5344CB8AC3E}">
        <p14:creationId xmlns:p14="http://schemas.microsoft.com/office/powerpoint/2010/main" val="7550086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FF14B70-26D9-429C-9547-FE2BC612E5F9}"/>
              </a:ext>
            </a:extLst>
          </p:cNvPr>
          <p:cNvGrpSpPr/>
          <p:nvPr/>
        </p:nvGrpSpPr>
        <p:grpSpPr>
          <a:xfrm>
            <a:off x="320842" y="896976"/>
            <a:ext cx="11871158" cy="2856877"/>
            <a:chOff x="207712" y="2479675"/>
            <a:chExt cx="5546725" cy="949325"/>
          </a:xfrm>
        </p:grpSpPr>
        <p:pic>
          <p:nvPicPr>
            <p:cNvPr id="3" name="Picture 3">
              <a:extLst>
                <a:ext uri="{FF2B5EF4-FFF2-40B4-BE49-F238E27FC236}">
                  <a16:creationId xmlns:a16="http://schemas.microsoft.com/office/drawing/2014/main" id="{E0BFC9D4-E035-4045-8157-F890F7D81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3CA06CD4-4430-436D-AE45-B043E39F9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4">
            <a:extLst>
              <a:ext uri="{FF2B5EF4-FFF2-40B4-BE49-F238E27FC236}">
                <a16:creationId xmlns:a16="http://schemas.microsoft.com/office/drawing/2014/main" id="{24054675-3EEF-4B19-905D-8157680C55C5}"/>
              </a:ext>
            </a:extLst>
          </p:cNvPr>
          <p:cNvSpPr/>
          <p:nvPr/>
        </p:nvSpPr>
        <p:spPr>
          <a:xfrm>
            <a:off x="627321" y="1956391"/>
            <a:ext cx="414670" cy="30834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5D74E6-2C51-49B1-BB8A-2E3F17D41213}"/>
              </a:ext>
            </a:extLst>
          </p:cNvPr>
          <p:cNvSpPr/>
          <p:nvPr/>
        </p:nvSpPr>
        <p:spPr>
          <a:xfrm>
            <a:off x="2044996" y="1417675"/>
            <a:ext cx="411125" cy="24100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0DCE767-D476-4EDA-818C-199E2965A51B}"/>
              </a:ext>
            </a:extLst>
          </p:cNvPr>
          <p:cNvSpPr/>
          <p:nvPr/>
        </p:nvSpPr>
        <p:spPr>
          <a:xfrm>
            <a:off x="3154328" y="1417675"/>
            <a:ext cx="301254" cy="24100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313E37E-94FC-41C1-80CB-8F9D4E41822A}"/>
              </a:ext>
            </a:extLst>
          </p:cNvPr>
          <p:cNvSpPr/>
          <p:nvPr/>
        </p:nvSpPr>
        <p:spPr>
          <a:xfrm>
            <a:off x="3858031" y="1474382"/>
            <a:ext cx="171709" cy="184297"/>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E00DEF1-5B84-4781-9396-90821B2C297B}"/>
              </a:ext>
            </a:extLst>
          </p:cNvPr>
          <p:cNvSpPr/>
          <p:nvPr/>
        </p:nvSpPr>
        <p:spPr>
          <a:xfrm>
            <a:off x="11600120" y="896977"/>
            <a:ext cx="581247" cy="2856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64CB0AD-8381-4D7A-8B65-C3AE2FB5AAA4}"/>
              </a:ext>
            </a:extLst>
          </p:cNvPr>
          <p:cNvSpPr/>
          <p:nvPr/>
        </p:nvSpPr>
        <p:spPr>
          <a:xfrm>
            <a:off x="3673526" y="4609830"/>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Goals &amp; Objectives</a:t>
            </a:r>
          </a:p>
        </p:txBody>
      </p:sp>
    </p:spTree>
    <p:extLst>
      <p:ext uri="{BB962C8B-B14F-4D97-AF65-F5344CB8AC3E}">
        <p14:creationId xmlns:p14="http://schemas.microsoft.com/office/powerpoint/2010/main" val="4282383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7E38E-DDCB-407B-92EC-B18CF1BCF0DC}"/>
              </a:ext>
            </a:extLst>
          </p:cNvPr>
          <p:cNvSpPr txBox="1"/>
          <p:nvPr/>
        </p:nvSpPr>
        <p:spPr>
          <a:xfrm>
            <a:off x="3425227" y="1349188"/>
            <a:ext cx="5325176" cy="2554545"/>
          </a:xfrm>
          <a:prstGeom prst="rect">
            <a:avLst/>
          </a:prstGeom>
          <a:noFill/>
        </p:spPr>
        <p:txBody>
          <a:bodyPr wrap="none" rtlCol="0">
            <a:spAutoFit/>
          </a:bodyPr>
          <a:lstStyle/>
          <a:p>
            <a:pPr algn="ctr"/>
            <a:r>
              <a:rPr lang="en-US" sz="3200" dirty="0"/>
              <a:t>Thank You!</a:t>
            </a:r>
          </a:p>
          <a:p>
            <a:pPr algn="ctr"/>
            <a:endParaRPr lang="en-US" sz="3200" dirty="0"/>
          </a:p>
          <a:p>
            <a:pPr algn="ctr"/>
            <a:r>
              <a:rPr lang="lv-LV" sz="3200" dirty="0"/>
              <a:t>Greg Mathers, senior associate</a:t>
            </a:r>
          </a:p>
          <a:p>
            <a:pPr algn="ctr"/>
            <a:r>
              <a:rPr lang="lv-LV" sz="3200" dirty="0"/>
              <a:t>Adizes Institute</a:t>
            </a:r>
            <a:endParaRPr lang="en-US" sz="2400" dirty="0"/>
          </a:p>
          <a:p>
            <a:pPr algn="ctr"/>
            <a:endParaRPr lang="en-US" sz="3200" dirty="0"/>
          </a:p>
        </p:txBody>
      </p:sp>
    </p:spTree>
    <p:extLst>
      <p:ext uri="{BB962C8B-B14F-4D97-AF65-F5344CB8AC3E}">
        <p14:creationId xmlns:p14="http://schemas.microsoft.com/office/powerpoint/2010/main" val="891525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1778</Words>
  <Application>Microsoft Office PowerPoint</Application>
  <PresentationFormat>Widescreen</PresentationFormat>
  <Paragraphs>344</Paragraphs>
  <Slides>60</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vt:lpstr>
      <vt:lpstr>Calibri</vt:lpstr>
      <vt:lpstr>Calibri Light</vt:lpstr>
      <vt:lpstr>Comic Sans MS</vt:lpstr>
      <vt:lpstr>Times New Roman</vt:lpstr>
      <vt:lpstr>Wingdings</vt:lpstr>
      <vt:lpstr>Office Theme</vt:lpstr>
      <vt:lpstr>Growing Incredible Managers: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Mission Priority Setting  First identify WHAT can be done in CUSTOMER INTERFACE: WHAT are the OPPORTHREATS?  Then analyze HOW it could be done – Do we have the knowledge and capability? TRANSFORMATION  Then analyze WHO could do it- are the HUMAN RESOURCES available?  Next, identify WHEN it could be done and whether the FINANCIAL RESOURCES are available.</vt:lpstr>
      <vt:lpstr>The Black Book</vt:lpstr>
      <vt:lpstr>Select significant KPIs</vt:lpstr>
      <vt:lpstr>PowerPoint Presentation</vt:lpstr>
      <vt:lpstr>KPIs are a must</vt:lpstr>
      <vt:lpstr>The Black Book</vt:lpstr>
      <vt:lpstr>The four Imperatives</vt:lpstr>
      <vt:lpstr>The WHAT and Why</vt:lpstr>
      <vt:lpstr>For what purpose  Explain why you decided to put yourself a objective / sub-objective. What reason? Usually we can refer to the corporate GOALS.  CI - Relationship with the Customer?  T - for Transformation?  HF - for the Human Factor?  FF - for the Financial Factors?  D - for Development and M - for Maintenance</vt:lpstr>
      <vt:lpstr>USE ACTIVE verbs to determine WHAT you want to do: Increase, Decrease, Improve, Create, Develop, Explore, etc.  </vt:lpstr>
      <vt:lpstr>SMARTS</vt:lpstr>
      <vt:lpstr>CATEGORIZING Objectives USING PAEI </vt:lpstr>
      <vt:lpstr>CATEGORIZING Objectives USING PAEI </vt:lpstr>
      <vt:lpstr>CATEGORIZING Objectives USING PAEI </vt:lpstr>
      <vt:lpstr>CATEGORIZING Objectives USING PAEI </vt:lpstr>
      <vt:lpstr>Deterministic &amp; Constraint</vt:lpstr>
      <vt:lpstr>PowerPoint Presentation</vt:lpstr>
      <vt:lpstr>Style Enrichment</vt:lpstr>
      <vt:lpstr>The HOW</vt:lpstr>
      <vt:lpstr>MEASURABLE</vt:lpstr>
      <vt:lpstr>VERIFIABLE</vt:lpstr>
      <vt:lpstr>The WHEN</vt:lpstr>
      <vt:lpstr>Time Bound</vt:lpstr>
      <vt:lpstr>The WHO</vt:lpstr>
      <vt:lpstr>The contract between the employee and manager</vt:lpstr>
      <vt:lpstr>PowerPoint Presentation</vt:lpstr>
      <vt:lpstr>Reality Test   COST of achievement of the objective / subobjective and whether the costs were budgeted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Greg Mathers</dc:creator>
  <cp:lastModifiedBy>Greg Mathers</cp:lastModifiedBy>
  <cp:revision>10</cp:revision>
  <cp:lastPrinted>2019-07-09T05:23:25Z</cp:lastPrinted>
  <dcterms:created xsi:type="dcterms:W3CDTF">2019-07-08T12:17:42Z</dcterms:created>
  <dcterms:modified xsi:type="dcterms:W3CDTF">2019-07-11T10:34:00Z</dcterms:modified>
</cp:coreProperties>
</file>